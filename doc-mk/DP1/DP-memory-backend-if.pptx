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6" r:id="rId2"/>
    <p:sldId id="644" r:id="rId3"/>
    <p:sldId id="639" r:id="rId4"/>
    <p:sldId id="641" r:id="rId5"/>
    <p:sldId id="558" r:id="rId6"/>
    <p:sldId id="624" r:id="rId7"/>
    <p:sldId id="621" r:id="rId8"/>
    <p:sldId id="649" r:id="rId9"/>
    <p:sldId id="645" r:id="rId10"/>
    <p:sldId id="561" r:id="rId11"/>
    <p:sldId id="642" r:id="rId12"/>
    <p:sldId id="640" r:id="rId13"/>
    <p:sldId id="638" r:id="rId14"/>
    <p:sldId id="566" r:id="rId15"/>
    <p:sldId id="643" r:id="rId16"/>
    <p:sldId id="620" r:id="rId17"/>
    <p:sldId id="55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DP1</a:t>
            </a:r>
            <a:r>
              <a:rPr lang="en-US" altLang="ko-KR" b="1" baseline="0" dirty="0"/>
              <a:t> </a:t>
            </a:r>
            <a:r>
              <a:rPr lang="ko-KR" altLang="en-US" b="1" baseline="0" dirty="0" err="1"/>
              <a:t>한줄</a:t>
            </a:r>
            <a:r>
              <a:rPr lang="ko-KR" altLang="en-US" b="1" baseline="0" dirty="0"/>
              <a:t> 정리</a:t>
            </a:r>
            <a:endParaRPr lang="en-US" altLang="ko-KR" b="1" baseline="0" dirty="0"/>
          </a:p>
          <a:p>
            <a:r>
              <a:rPr lang="ko-KR" altLang="en-US" b="1" dirty="0"/>
              <a:t>차세대 메모리의 용량</a:t>
            </a:r>
            <a:r>
              <a:rPr lang="en-US" altLang="ko-KR" b="1" dirty="0"/>
              <a:t>·</a:t>
            </a:r>
            <a:r>
              <a:rPr lang="ko-KR" altLang="en-US" b="1" dirty="0"/>
              <a:t>대역폭</a:t>
            </a:r>
            <a:r>
              <a:rPr lang="en-US" altLang="ko-KR" b="1" dirty="0"/>
              <a:t>·</a:t>
            </a:r>
            <a:r>
              <a:rPr lang="ko-KR" altLang="en-US" b="1" dirty="0"/>
              <a:t>접근 특성 및 연산 기능이 다변화되면서 기존의 고정적인 메모리 계층화만으로 최적 배치를 결정하기 </a:t>
            </a:r>
            <a:r>
              <a:rPr lang="ko-KR" altLang="en-US" b="1" dirty="0" err="1"/>
              <a:t>어려워짐</a:t>
            </a:r>
            <a:endParaRPr lang="ko-KR" altLang="en-US" dirty="0"/>
          </a:p>
          <a:p>
            <a:r>
              <a:rPr lang="ko-KR" altLang="en-US" b="1" dirty="0"/>
              <a:t>→ 데이터의 접근 특성과 스케줄링 정보를 메모리 자원 특성과 매칭하여 </a:t>
            </a:r>
            <a:r>
              <a:rPr lang="en-US" altLang="ko-KR" b="1" dirty="0"/>
              <a:t>Target Memory</a:t>
            </a:r>
            <a:r>
              <a:rPr lang="ko-KR" altLang="en-US" b="1" dirty="0"/>
              <a:t>를 동적으로 결정하는 </a:t>
            </a:r>
            <a:r>
              <a:rPr lang="en-US" altLang="ko-KR" b="1" dirty="0"/>
              <a:t>Placement </a:t>
            </a:r>
            <a:r>
              <a:rPr lang="ko-KR" altLang="en-US" b="1" dirty="0"/>
              <a:t>구조 필요</a:t>
            </a:r>
          </a:p>
          <a:p>
            <a:r>
              <a:rPr lang="en-US" altLang="ko-KR" dirty="0" err="1"/>
              <a:t>Asdf</a:t>
            </a:r>
            <a:r>
              <a:rPr lang="ko-KR" altLang="en-US" dirty="0" err="1"/>
              <a:t>ㄱㅏㄴㅏ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25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[Turn 예시 - 왜 Prefill 실행 위치가 매번 문제가 되는가]</a:t>
            </a:r>
          </a:p>
          <a:p>
            <a:r>
              <a:t>먼저 P 노드와 D 노드는 물리적으로 분리된 서버이고, 그 사이를 넘는 KV 캐시에는 전송 비용이 붙습니다. 그림의 점선이 그 경계입니다.</a:t>
            </a:r>
          </a:p>
          <a:p>
            <a:r>
              <a:t>Turn 1에서는 P 노드가 사용자 질문 2,000 토큰을 Prefill 하고, 만들어진 KV 캐시가 D 노드로 넘어가 Decode가 돕니다. 이 시점부터 History KV는 D 노드에 있습니다.</a:t>
            </a:r>
          </a:p>
          <a:p>
            <a:r>
              <a:t>Turn 2에서 Tool 결과가 도착하면 선택지가 두 개 생깁니다. ① D에서 그대로 Prefill 하면 KV를 옮길 필요가 없어 전송 비용이 0이지만, D가 돌리고 있던 Decode와 GPU 자원을 다투게 되어 진행 중인 응답이 느려집니다. ② History KV를 P로 보내 P에서 Prefill 하면 D의 Decode는 그대로 두고 P의 연산 자원을 쓸 수 있지만, History KV 크기만큼 전송 비용을 새로 냅니다.</a:t>
            </a:r>
          </a:p>
          <a:p>
            <a:r>
              <a:t>핵심은 어느 쪽이 싼지가 고정되어 있지 않다는 점입니다. Tool 결과가 작으면 옮겨봐야 전송비가 연산 이득보다 크므로 ①이 낫고, Tool 결과가 크거나 D가 혼잡하면 전송비를 내더라도 ②가 낫습니다. History KV가 커질수록 ②의 전송 비용도 함께 커지므로 Turn이 진행될수록 판단이 또 달라집니다.</a:t>
            </a:r>
          </a:p>
          <a:p>
            <a:r>
              <a:t>즉 Tool 결과 크기, History KV 크기, P/D 노드 부하가 매 Turn 바뀌기 때문에 고정된 규칙 하나로는 대응할 수 없고, 이것이 아래 설계 쟁점에서 말하는 동적 결정 구조가 필요한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1376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17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DP1</a:t>
            </a:r>
            <a:r>
              <a:rPr lang="en-US" altLang="ko-KR" b="1" baseline="0" dirty="0"/>
              <a:t> </a:t>
            </a:r>
            <a:r>
              <a:rPr lang="ko-KR" altLang="en-US" b="1" baseline="0" dirty="0" err="1"/>
              <a:t>한줄</a:t>
            </a:r>
            <a:r>
              <a:rPr lang="ko-KR" altLang="en-US" b="1" baseline="0" dirty="0"/>
              <a:t> 정리</a:t>
            </a:r>
            <a:endParaRPr lang="en-US" altLang="ko-KR" b="1" baseline="0" dirty="0"/>
          </a:p>
          <a:p>
            <a:r>
              <a:rPr lang="ko-KR" altLang="en-US" b="1" dirty="0"/>
              <a:t>차세대 메모리의 용량</a:t>
            </a:r>
            <a:r>
              <a:rPr lang="en-US" altLang="ko-KR" b="1" dirty="0"/>
              <a:t>·</a:t>
            </a:r>
            <a:r>
              <a:rPr lang="ko-KR" altLang="en-US" b="1" dirty="0"/>
              <a:t>대역폭</a:t>
            </a:r>
            <a:r>
              <a:rPr lang="en-US" altLang="ko-KR" b="1" dirty="0"/>
              <a:t>·</a:t>
            </a:r>
            <a:r>
              <a:rPr lang="ko-KR" altLang="en-US" b="1" dirty="0"/>
              <a:t>접근 특성 및 연산 기능이 다변화되면서 기존의 고정적인 메모리 계층화만으로 최적 배치를 결정하기 </a:t>
            </a:r>
            <a:r>
              <a:rPr lang="ko-KR" altLang="en-US" b="1" dirty="0" err="1"/>
              <a:t>어려워짐</a:t>
            </a:r>
            <a:endParaRPr lang="ko-KR" altLang="en-US" dirty="0"/>
          </a:p>
          <a:p>
            <a:r>
              <a:rPr lang="ko-KR" altLang="en-US" b="1" dirty="0"/>
              <a:t>→ 데이터의 접근 특성과 스케줄링 정보를 메모리 자원 특성과 매칭하여 </a:t>
            </a:r>
            <a:r>
              <a:rPr lang="en-US" altLang="ko-KR" b="1" dirty="0"/>
              <a:t>Target Memory</a:t>
            </a:r>
            <a:r>
              <a:rPr lang="ko-KR" altLang="en-US" b="1" dirty="0"/>
              <a:t>를 동적으로 결정하는 </a:t>
            </a:r>
            <a:r>
              <a:rPr lang="en-US" altLang="ko-KR" b="1" dirty="0"/>
              <a:t>Placement </a:t>
            </a:r>
            <a:r>
              <a:rPr lang="ko-KR" altLang="en-US" b="1" dirty="0"/>
              <a:t>구조 필요</a:t>
            </a:r>
          </a:p>
          <a:p>
            <a:r>
              <a:rPr lang="en-US" altLang="ko-KR" dirty="0" err="1"/>
              <a:t>Asdf</a:t>
            </a:r>
            <a:r>
              <a:rPr lang="ko-KR" altLang="en-US" dirty="0" err="1"/>
              <a:t>ㄱㅏㄴㅏ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58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DP1</a:t>
            </a:r>
            <a:r>
              <a:rPr lang="en-US" altLang="ko-KR" b="1" baseline="0" dirty="0"/>
              <a:t> </a:t>
            </a:r>
            <a:r>
              <a:rPr lang="ko-KR" altLang="en-US" b="1" baseline="0" dirty="0" err="1"/>
              <a:t>한줄</a:t>
            </a:r>
            <a:r>
              <a:rPr lang="ko-KR" altLang="en-US" b="1" baseline="0" dirty="0"/>
              <a:t> 정리</a:t>
            </a:r>
            <a:endParaRPr lang="en-US" altLang="ko-KR" b="1" baseline="0" dirty="0"/>
          </a:p>
          <a:p>
            <a:r>
              <a:rPr lang="ko-KR" altLang="en-US" b="1" dirty="0"/>
              <a:t>차세대 메모리의 용량</a:t>
            </a:r>
            <a:r>
              <a:rPr lang="en-US" altLang="ko-KR" b="1" dirty="0"/>
              <a:t>·</a:t>
            </a:r>
            <a:r>
              <a:rPr lang="ko-KR" altLang="en-US" b="1" dirty="0"/>
              <a:t>대역폭</a:t>
            </a:r>
            <a:r>
              <a:rPr lang="en-US" altLang="ko-KR" b="1" dirty="0"/>
              <a:t>·</a:t>
            </a:r>
            <a:r>
              <a:rPr lang="ko-KR" altLang="en-US" b="1" dirty="0"/>
              <a:t>접근 특성 및 연산 기능이 다변화되면서 기존의 고정적인 메모리 계층화만으로 최적 배치를 결정하기 </a:t>
            </a:r>
            <a:r>
              <a:rPr lang="ko-KR" altLang="en-US" b="1" dirty="0" err="1"/>
              <a:t>어려워짐</a:t>
            </a:r>
            <a:endParaRPr lang="ko-KR" altLang="en-US" dirty="0"/>
          </a:p>
          <a:p>
            <a:r>
              <a:rPr lang="ko-KR" altLang="en-US" b="1" dirty="0"/>
              <a:t>→ 데이터의 접근 특성과 스케줄링 정보를 메모리 자원 특성과 매칭하여 </a:t>
            </a:r>
            <a:r>
              <a:rPr lang="en-US" altLang="ko-KR" b="1" dirty="0"/>
              <a:t>Target Memory</a:t>
            </a:r>
            <a:r>
              <a:rPr lang="ko-KR" altLang="en-US" b="1" dirty="0"/>
              <a:t>를 동적으로 결정하는 </a:t>
            </a:r>
            <a:r>
              <a:rPr lang="en-US" altLang="ko-KR" b="1" dirty="0"/>
              <a:t>Placement </a:t>
            </a:r>
            <a:r>
              <a:rPr lang="ko-KR" altLang="en-US" b="1" dirty="0"/>
              <a:t>구조 필요</a:t>
            </a:r>
          </a:p>
          <a:p>
            <a:r>
              <a:rPr lang="en-US" altLang="ko-KR" dirty="0" err="1"/>
              <a:t>Asdf</a:t>
            </a:r>
            <a:r>
              <a:rPr lang="ko-KR" altLang="en-US" dirty="0" err="1"/>
              <a:t>ㄱㅏㄴㅏ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531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117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150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[사전 지식 - Prefill / Decode와 P/D 분리]</a:t>
            </a:r>
          </a:p>
          <a:p>
            <a:r>
              <a:t>LLM 추론은 두 단계로 나뉩니다. Prefill은 프롬프트 n개 토큰을 한 번에 병렬로 처리해 각 토큰의 Key/Value, 즉 KV 캐시를 만들고 첫 출력 토큰을 냅니다. 여러 토큰을 행렬×행렬(GEMM)로 처리하므로 연산량이 병목인 Compute-bound 단계이고, 첫 응답 시간(TTFT)을 결정합니다.</a:t>
            </a:r>
          </a:p>
          <a:p>
            <a:r>
              <a:t>Decode는 KV 캐시를 참조하며 토큰을 하나씩 생성합니다. step마다 토큰 하나(GEMV)만 처리하지만 매번 가중치와 누적된 KV 캐시 전체를 메모리에서 읽어야 하므로 메모리 대역폭이 병목인 Memory-bound 단계이고, 토큰당 생성 시간(TPOT)을 결정합니다. 왼쪽 그림처럼 GPU 실행 시간의 대부분을 GEMV가 차지하고, 오른쪽 그림처럼 Prefill은 연산이, Decode는 메모리 load/store가 시간을 지배합니다.</a:t>
            </a:r>
          </a:p>
          <a:p>
            <a:r>
              <a:t>두 단계를 한 GPU에서 섞으면 긴 Prefill이 들어올 때 진행 중이던 Decode가 멈춰 TPOT이 튀고, 반대로 Decode batch 때문에 Prefill이 대기해 TTFT가 늘어납니다. 그래서 Prefill 인스턴스와 Decoding 인스턴스를 분리하고, Prefill이 만든 KV 캐시를 Decode 쪽으로 전송하는 것이 P/D 분리 구조입니다. 간섭이 사라지고 두 단계를 독립적으로 scaling·최적화할 수 있습니다.</a:t>
            </a:r>
          </a:p>
          <a:p>
            <a:r>
              <a:t>대신 KV 캐시 이동 비용이 새로 생깁니다. Multi-turn이나 Agent처럼 다음 Turn이 이어지면 History KV는 D 쪽에 쌓여 있으므로, 다음 Prefill을 P에서 할지(KV 전송) D에서 할지(Decode와 간섭) 매번 판단이 필요하고, KV가 여러 Memory Tier에 놓이면 이 판단은 더 복잡해집니다. 이것이 다음 장의 배경입니다.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88801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[Turn 예시 - 왜 Prefill 실행 위치가 매번 문제가 되는가]</a:t>
            </a:r>
          </a:p>
          <a:p>
            <a:r>
              <a:t>먼저 P 노드와 D 노드는 물리적으로 분리된 서버이고, 그 사이를 넘는 KV 캐시에는 전송 비용이 붙습니다. 그림의 점선이 그 경계입니다.</a:t>
            </a:r>
          </a:p>
          <a:p>
            <a:r>
              <a:t>Turn 1에서는 P 노드가 사용자 질문 2,000 토큰을 Prefill 하고, 만들어진 KV 캐시가 D 노드로 넘어가 Decode가 돕니다. 이 시점부터 History KV는 D 노드에 있습니다.</a:t>
            </a:r>
          </a:p>
          <a:p>
            <a:r>
              <a:t>Turn 2에서 Tool 결과가 도착하면 선택지가 두 개 생깁니다. ① D에서 그대로 Prefill 하면 KV를 옮길 필요가 없어 전송 비용이 0이지만, D가 돌리고 있던 Decode와 GPU 자원을 다투게 되어 진행 중인 응답이 느려집니다. ② History KV를 P로 보내 P에서 Prefill 하면 D의 Decode는 그대로 두고 P의 연산 자원을 쓸 수 있지만, History KV 크기만큼 전송 비용을 새로 냅니다.</a:t>
            </a:r>
          </a:p>
          <a:p>
            <a:r>
              <a:t>핵심은 어느 쪽이 싼지가 고정되어 있지 않다는 점입니다. Tool 결과가 작으면 옮겨봐야 전송비가 연산 이득보다 크므로 ①이 낫고, Tool 결과가 크거나 D가 혼잡하면 전송비를 내더라도 ②가 낫습니다. History KV가 커질수록 ②의 전송 비용도 함께 커지므로 Turn이 진행될수록 판단이 또 달라집니다.</a:t>
            </a:r>
          </a:p>
          <a:p>
            <a:r>
              <a:t>즉 Tool 결과 크기, History KV 크기, P/D 노드 부하가 매 Turn 바뀌기 때문에 고정된 규칙 하나로는 대응할 수 없고, 이것이 아래 설계 쟁점에서 말하는 동적 결정 구조가 필요한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8124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306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[Turn 예시 - 왜 Prefill 실행 위치가 매번 문제가 되는가]</a:t>
            </a:r>
          </a:p>
          <a:p>
            <a:r>
              <a:t>먼저 P 노드와 D 노드는 물리적으로 분리된 서버이고, 그 사이를 넘는 KV 캐시에는 전송 비용이 붙습니다. 그림의 점선이 그 경계입니다.</a:t>
            </a:r>
          </a:p>
          <a:p>
            <a:r>
              <a:t>Turn 1에서는 P 노드가 사용자 질문 2,000 토큰을 Prefill 하고, 만들어진 KV 캐시가 D 노드로 넘어가 Decode가 돕니다. 이 시점부터 History KV는 D 노드에 있습니다.</a:t>
            </a:r>
          </a:p>
          <a:p>
            <a:r>
              <a:t>Turn 2에서 Tool 결과가 도착하면 선택지가 두 개 생깁니다. ① D에서 그대로 Prefill 하면 KV를 옮길 필요가 없어 전송 비용이 0이지만, D가 돌리고 있던 Decode와 GPU 자원을 다투게 되어 진행 중인 응답이 느려집니다. ② History KV를 P로 보내 P에서 Prefill 하면 D의 Decode는 그대로 두고 P의 연산 자원을 쓸 수 있지만, History KV 크기만큼 전송 비용을 새로 냅니다.</a:t>
            </a:r>
          </a:p>
          <a:p>
            <a:r>
              <a:t>핵심은 어느 쪽이 싼지가 고정되어 있지 않다는 점입니다. Tool 결과가 작으면 옮겨봐야 전송비가 연산 이득보다 크므로 ①이 낫고, Tool 결과가 크거나 D가 혼잡하면 전송비를 내더라도 ②가 낫습니다. History KV가 커질수록 ②의 전송 비용도 함께 커지므로 Turn이 진행될수록 판단이 또 달라집니다.</a:t>
            </a:r>
          </a:p>
          <a:p>
            <a:r>
              <a:t>즉 Tool 결과 크기, History KV 크기, P/D 노드 부하가 매 Turn 바뀌기 때문에 고정된 규칙 하나로는 대응할 수 없고, 이것이 아래 설계 쟁점에서 말하는 동적 결정 구조가 필요한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4419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R1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Request Type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Latency-Sensitive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무조건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Local </a:t>
            </a:r>
          </a:p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R2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History KV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크고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Class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D-Local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이면 이동 비용을 피해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Local </a:t>
            </a:r>
          </a:p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R3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l-G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작고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Class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D-Local/Shared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Local </a:t>
            </a:r>
          </a:p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R4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Latency-Tolerant + Shared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Remote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오프로드 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R5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외 기본값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Remote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1000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en-US" altLang="ko-KR" dirty="0"/>
              <a:t>DP </a:t>
            </a:r>
            <a:r>
              <a:rPr lang="ko-KR" altLang="en-US" dirty="0"/>
              <a:t>연결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028622"/>
              </p:ext>
            </p:extLst>
          </p:nvPr>
        </p:nvGraphicFramePr>
        <p:xfrm>
          <a:off x="381000" y="823762"/>
          <a:ext cx="11258550" cy="2656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608747143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120680792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3545811721"/>
                    </a:ext>
                  </a:extLst>
                </a:gridCol>
              </a:tblGrid>
              <a:tr h="56792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DP1.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데이터 배치 구조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DP2. 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이기종 메모리 기반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Prefill </a:t>
                      </a:r>
                      <a:r>
                        <a:rPr lang="ko-KR" altLang="en-US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실행 구조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DP3. Long Context</a:t>
                      </a:r>
                      <a:r>
                        <a:rPr lang="ko-KR" altLang="en-US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를 위한</a:t>
                      </a: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strike="noStrike" kern="1200" dirty="0">
                          <a:solidFill>
                            <a:srgbClr val="0066FF"/>
                          </a:solidFill>
                          <a:latin typeface="+mn-lt"/>
                          <a:ea typeface="+mn-ea"/>
                          <a:cs typeface="+mn-cs"/>
                        </a:rPr>
                        <a:t>KV Eviction &amp; Reuse</a:t>
                      </a:r>
                      <a:endParaRPr lang="ko-KR" altLang="en-US" sz="1200" strike="noStrike" kern="120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DP4. Agent Tool-wait KV residency 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QA1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5679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QA2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(Accuracy)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3688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QA3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Utilization?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1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682426"/>
                  </a:ext>
                </a:extLst>
              </a:tr>
              <a:tr h="405660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QA4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445013"/>
                  </a:ext>
                </a:extLst>
              </a:tr>
              <a:tr h="32903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QA5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768170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284771"/>
              </p:ext>
            </p:extLst>
          </p:nvPr>
        </p:nvGraphicFramePr>
        <p:xfrm>
          <a:off x="496950" y="3887523"/>
          <a:ext cx="71319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482">
                  <a:extLst>
                    <a:ext uri="{9D8B030D-6E8A-4147-A177-3AD203B41FA5}">
                      <a16:colId xmlns:a16="http://schemas.microsoft.com/office/drawing/2014/main" val="3186346277"/>
                    </a:ext>
                  </a:extLst>
                </a:gridCol>
                <a:gridCol w="4762499">
                  <a:extLst>
                    <a:ext uri="{9D8B030D-6E8A-4147-A177-3AD203B41FA5}">
                      <a16:colId xmlns:a16="http://schemas.microsoft.com/office/drawing/2014/main" val="39305247"/>
                    </a:ext>
                  </a:extLst>
                </a:gridCol>
              </a:tblGrid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477196"/>
                  </a:ext>
                </a:extLst>
              </a:tr>
              <a:tr h="312604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Throughput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TPS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437173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Performance latency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TTFT + TPOT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55501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Resource Utilization 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76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Functional Correctness 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Accuracy (F1 score)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67397"/>
                  </a:ext>
                </a:extLst>
              </a:tr>
              <a:tr h="253556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b="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Modifiability</a:t>
                      </a:r>
                      <a:endParaRPr lang="ko-KR" altLang="en-US" sz="1200" b="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142955"/>
                  </a:ext>
                </a:extLst>
              </a:tr>
              <a:tr h="437645"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Scalability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Scaling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Efficiency (%)</a:t>
                      </a:r>
                    </a:p>
                    <a:p>
                      <a:pPr marL="0" lvl="0" algn="l" defTabSz="914400" rtl="0" eaLnBrk="1" latinLnBrk="1" hangingPunct="1"/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: GPU/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노드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 늘렸을 때 처리량이 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배의 몇</a:t>
                      </a:r>
                      <a:r>
                        <a:rPr lang="en-US" altLang="ko-KR" sz="1200" strike="noStrike" kern="1200" baseline="0" dirty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%?</a:t>
                      </a:r>
                      <a:endParaRPr lang="ko-KR" altLang="en-US" sz="1200" strike="noStrike" kern="120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70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94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DP0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1271640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/>
              <a:t>DP0. ~~- </a:t>
            </a:r>
            <a:r>
              <a:rPr lang="ko-KR" altLang="en-US" dirty="0"/>
              <a:t>배경</a:t>
            </a:r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3784E02-153A-49F1-A2CD-CE4252048DE7}"/>
              </a:ext>
            </a:extLst>
          </p:cNvPr>
          <p:cNvSpPr/>
          <p:nvPr/>
        </p:nvSpPr>
        <p:spPr>
          <a:xfrm>
            <a:off x="6160372" y="849834"/>
            <a:ext cx="5694021" cy="54996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217">
            <a:extLst>
              <a:ext uri="{FF2B5EF4-FFF2-40B4-BE49-F238E27FC236}">
                <a16:creationId xmlns:a16="http://schemas.microsoft.com/office/drawing/2014/main" id="{63A3E9B0-7066-45A1-BE5D-E8DD4EAEDB03}"/>
              </a:ext>
            </a:extLst>
          </p:cNvPr>
          <p:cNvSpPr/>
          <p:nvPr/>
        </p:nvSpPr>
        <p:spPr>
          <a:xfrm>
            <a:off x="7210115" y="740708"/>
            <a:ext cx="3749552" cy="2850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Rack Scale </a:t>
            </a:r>
            <a:r>
              <a:rPr lang="ko-KR" altLang="en-US" sz="1200" b="1" dirty="0"/>
              <a:t>확장했을 때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A78737F-A253-4CE8-B9A2-72B91FF65732}"/>
              </a:ext>
            </a:extLst>
          </p:cNvPr>
          <p:cNvGrpSpPr/>
          <p:nvPr/>
        </p:nvGrpSpPr>
        <p:grpSpPr>
          <a:xfrm>
            <a:off x="295158" y="731684"/>
            <a:ext cx="5674740" cy="5650065"/>
            <a:chOff x="211958" y="3093998"/>
            <a:chExt cx="6173884" cy="5288499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4E0C7FA-AF01-4522-B324-5D5122403813}"/>
                </a:ext>
              </a:extLst>
            </p:cNvPr>
            <p:cNvSpPr/>
            <p:nvPr/>
          </p:nvSpPr>
          <p:spPr>
            <a:xfrm>
              <a:off x="211958" y="3255024"/>
              <a:ext cx="6173884" cy="5127473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모서리가 둥근 직사각형 212">
              <a:extLst>
                <a:ext uri="{FF2B5EF4-FFF2-40B4-BE49-F238E27FC236}">
                  <a16:creationId xmlns:a16="http://schemas.microsoft.com/office/drawing/2014/main" id="{1104C980-3417-4022-8A1E-A71193CA465E}"/>
                </a:ext>
              </a:extLst>
            </p:cNvPr>
            <p:cNvSpPr/>
            <p:nvPr/>
          </p:nvSpPr>
          <p:spPr>
            <a:xfrm>
              <a:off x="1275530" y="3093998"/>
              <a:ext cx="4046740" cy="2767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이기종 메모리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64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DP0. ~~ - </a:t>
            </a:r>
            <a:r>
              <a:rPr lang="ko-KR" altLang="en-US" dirty="0"/>
              <a:t>배경</a:t>
            </a:r>
            <a:endParaRPr lang="en-US" altLang="ko-KR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3" name="DP2 9013"/>
          <p:cNvSpPr/>
          <p:nvPr/>
        </p:nvSpPr>
        <p:spPr>
          <a:xfrm>
            <a:off x="421320" y="19019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359582" y="670519"/>
            <a:ext cx="11687638" cy="897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설명</a:t>
            </a:r>
            <a:endParaRPr lang="en-US" altLang="ko-KR" sz="1200" dirty="0"/>
          </a:p>
        </p:txBody>
      </p:sp>
      <p:sp>
        <p:nvSpPr>
          <p:cNvPr id="166" name="Text 22"/>
          <p:cNvSpPr/>
          <p:nvPr/>
        </p:nvSpPr>
        <p:spPr>
          <a:xfrm>
            <a:off x="383682" y="6029277"/>
            <a:ext cx="11312059" cy="54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b="1" dirty="0">
                <a:latin typeface="맑은 고딕" panose="020B0503020000020004" pitchFamily="50" charset="-127"/>
              </a:rPr>
              <a:t>1. </a:t>
            </a:r>
            <a:r>
              <a:rPr lang="en-US" altLang="ko-KR" sz="1200" dirty="0">
                <a:latin typeface="맑은 고딕" panose="020B0503020000020004" pitchFamily="50" charset="-127"/>
              </a:rPr>
              <a:t>&lt;QA</a:t>
            </a:r>
            <a:r>
              <a:rPr lang="ko-KR" altLang="en-US" sz="1200" dirty="0">
                <a:latin typeface="맑은 고딕" panose="020B0503020000020004" pitchFamily="50" charset="-127"/>
              </a:rPr>
              <a:t> 관점 어떤 </a:t>
            </a:r>
            <a:r>
              <a:rPr lang="en-US" altLang="ko-KR" sz="1200" dirty="0">
                <a:latin typeface="맑은 고딕" panose="020B0503020000020004" pitchFamily="50" charset="-127"/>
              </a:rPr>
              <a:t>QA</a:t>
            </a:r>
            <a:r>
              <a:rPr lang="ko-KR" altLang="en-US" sz="1200" dirty="0">
                <a:latin typeface="맑은 고딕" panose="020B0503020000020004" pitchFamily="50" charset="-127"/>
              </a:rPr>
              <a:t>를 위한 설계인지</a:t>
            </a:r>
            <a:r>
              <a:rPr lang="en-US" altLang="ko-KR" sz="1200" dirty="0">
                <a:latin typeface="맑은 고딕" panose="020B0503020000020004" pitchFamily="50" charset="-127"/>
              </a:rPr>
              <a:t>&gt;</a:t>
            </a:r>
            <a:endParaRPr lang="en-US" altLang="ko-KR" sz="1200" dirty="0"/>
          </a:p>
          <a:p>
            <a:pPr>
              <a:lnSpc>
                <a:spcPct val="125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b="1" dirty="0">
                <a:latin typeface="맑은 고딕" panose="020B0503020000020004" pitchFamily="50" charset="-127"/>
              </a:rPr>
              <a:t>2. </a:t>
            </a:r>
            <a:r>
              <a:rPr lang="en-US" altLang="ko-KR" sz="1200" dirty="0">
                <a:latin typeface="맑은 고딕" panose="020B0503020000020004" pitchFamily="50" charset="-127"/>
              </a:rPr>
              <a:t>&lt;QA</a:t>
            </a:r>
            <a:r>
              <a:rPr lang="ko-KR" altLang="en-US" sz="1200" dirty="0">
                <a:latin typeface="맑은 고딕" panose="020B0503020000020004" pitchFamily="50" charset="-127"/>
              </a:rPr>
              <a:t> 관점 어떤 </a:t>
            </a:r>
            <a:r>
              <a:rPr lang="en-US" altLang="ko-KR" sz="1200" dirty="0">
                <a:latin typeface="맑은 고딕" panose="020B0503020000020004" pitchFamily="50" charset="-127"/>
              </a:rPr>
              <a:t>QA</a:t>
            </a:r>
            <a:r>
              <a:rPr lang="ko-KR" altLang="en-US" sz="1200" dirty="0">
                <a:latin typeface="맑은 고딕" panose="020B0503020000020004" pitchFamily="50" charset="-127"/>
              </a:rPr>
              <a:t>를 위한 설계인지</a:t>
            </a:r>
            <a:r>
              <a:rPr lang="en-US" altLang="ko-KR" sz="1200" dirty="0">
                <a:latin typeface="맑은 고딕" panose="020B0503020000020004" pitchFamily="50" charset="-127"/>
              </a:rPr>
              <a:t>&gt;</a:t>
            </a:r>
            <a:endParaRPr lang="en-US" altLang="ko-KR" sz="12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454C29-B532-49FE-99CE-60D79E51A037}"/>
              </a:ext>
            </a:extLst>
          </p:cNvPr>
          <p:cNvGrpSpPr/>
          <p:nvPr/>
        </p:nvGrpSpPr>
        <p:grpSpPr>
          <a:xfrm>
            <a:off x="6167674" y="1608313"/>
            <a:ext cx="5533854" cy="3803530"/>
            <a:chOff x="6167674" y="2324995"/>
            <a:chExt cx="5533854" cy="3086847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E3784E02-153A-49F1-A2CD-CE4252048DE7}"/>
                </a:ext>
              </a:extLst>
            </p:cNvPr>
            <p:cNvSpPr/>
            <p:nvPr/>
          </p:nvSpPr>
          <p:spPr>
            <a:xfrm>
              <a:off x="6167674" y="2460335"/>
              <a:ext cx="5533854" cy="2951507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모서리가 둥근 직사각형 217">
              <a:extLst>
                <a:ext uri="{FF2B5EF4-FFF2-40B4-BE49-F238E27FC236}">
                  <a16:creationId xmlns:a16="http://schemas.microsoft.com/office/drawing/2014/main" id="{63A3E9B0-7066-45A1-BE5D-E8DD4EAEDB03}"/>
                </a:ext>
              </a:extLst>
            </p:cNvPr>
            <p:cNvSpPr/>
            <p:nvPr/>
          </p:nvSpPr>
          <p:spPr>
            <a:xfrm>
              <a:off x="6463335" y="2324995"/>
              <a:ext cx="4990654" cy="2850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To-Be: &lt;</a:t>
              </a:r>
              <a:r>
                <a:rPr lang="ko-KR" altLang="en-US" sz="1100" b="1" dirty="0"/>
                <a:t>제안하는 구조</a:t>
              </a:r>
              <a:r>
                <a:rPr lang="en-US" altLang="ko-KR" sz="1100" b="1" dirty="0"/>
                <a:t> </a:t>
              </a:r>
              <a:r>
                <a:rPr lang="ko-KR" altLang="en-US" sz="1100" b="1" dirty="0"/>
                <a:t>추상적 표현</a:t>
              </a:r>
              <a:r>
                <a:rPr lang="en-US" altLang="ko-KR" sz="1100" b="1" dirty="0"/>
                <a:t>&gt;</a:t>
              </a:r>
              <a:endParaRPr lang="ko-KR" altLang="en-US" sz="1100" b="1" dirty="0"/>
            </a:p>
          </p:txBody>
        </p:sp>
      </p:grpSp>
      <p:sp>
        <p:nvSpPr>
          <p:cNvPr id="244" name="DP2 9060">
            <a:extLst>
              <a:ext uri="{FF2B5EF4-FFF2-40B4-BE49-F238E27FC236}">
                <a16:creationId xmlns:a16="http://schemas.microsoft.com/office/drawing/2014/main" id="{EECDFEB7-7302-4965-B64A-4FA0853A126C}"/>
              </a:ext>
            </a:extLst>
          </p:cNvPr>
          <p:cNvSpPr/>
          <p:nvPr/>
        </p:nvSpPr>
        <p:spPr>
          <a:xfrm>
            <a:off x="5632858" y="3663076"/>
            <a:ext cx="438912" cy="457200"/>
          </a:xfrm>
          <a:prstGeom prst="rightArrow">
            <a:avLst/>
          </a:prstGeom>
          <a:solidFill>
            <a:srgbClr val="FFD966"/>
          </a:solidFill>
          <a:ln>
            <a:noFill/>
          </a:ln>
        </p:spPr>
        <p:txBody>
          <a:bodyPr wrap="square" lIns="27432" tIns="7315" rIns="27432" bIns="7315" anchor="ctr">
            <a:normAutofit fontScale="92500" lnSpcReduction="20000"/>
          </a:bodyPr>
          <a:lstStyle/>
          <a:p>
            <a:endParaRPr lang="ko-KR" altLang="en-US"/>
          </a:p>
        </p:txBody>
      </p: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6A78737F-A253-4CE8-B9A2-72B91FF65732}"/>
              </a:ext>
            </a:extLst>
          </p:cNvPr>
          <p:cNvGrpSpPr/>
          <p:nvPr/>
        </p:nvGrpSpPr>
        <p:grpSpPr>
          <a:xfrm>
            <a:off x="347472" y="1624275"/>
            <a:ext cx="5119877" cy="3787568"/>
            <a:chOff x="99695" y="3138920"/>
            <a:chExt cx="5315187" cy="3447912"/>
          </a:xfrm>
        </p:grpSpPr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14E0C7FA-AF01-4522-B324-5D5122403813}"/>
                </a:ext>
              </a:extLst>
            </p:cNvPr>
            <p:cNvSpPr/>
            <p:nvPr/>
          </p:nvSpPr>
          <p:spPr>
            <a:xfrm>
              <a:off x="99695" y="3276197"/>
              <a:ext cx="5315187" cy="3310635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모서리가 둥근 직사각형 212">
              <a:extLst>
                <a:ext uri="{FF2B5EF4-FFF2-40B4-BE49-F238E27FC236}">
                  <a16:creationId xmlns:a16="http://schemas.microsoft.com/office/drawing/2014/main" id="{1104C980-3417-4022-8A1E-A71193CA465E}"/>
                </a:ext>
              </a:extLst>
            </p:cNvPr>
            <p:cNvSpPr/>
            <p:nvPr/>
          </p:nvSpPr>
          <p:spPr>
            <a:xfrm>
              <a:off x="760121" y="3138920"/>
              <a:ext cx="4046740" cy="2906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As-Is: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&lt;</a:t>
              </a:r>
              <a:r>
                <a:rPr lang="ko-KR" altLang="en-US" sz="1100" b="1" dirty="0"/>
                <a:t>기존 </a:t>
              </a:r>
              <a:r>
                <a:rPr lang="en-US" altLang="ko-KR" sz="1100" b="1" dirty="0"/>
                <a:t>SW </a:t>
              </a:r>
              <a:r>
                <a:rPr lang="ko-KR" altLang="en-US" sz="1100" b="1" dirty="0"/>
                <a:t>구조 문제점</a:t>
              </a:r>
              <a:r>
                <a:rPr lang="en-US" altLang="ko-KR" sz="1100" b="1" dirty="0"/>
                <a:t>&gt; </a:t>
              </a:r>
              <a:endParaRPr lang="ko-KR" altLang="en-US" sz="1100" b="1" dirty="0"/>
            </a:p>
          </p:txBody>
        </p:sp>
      </p:grpSp>
      <p:sp>
        <p:nvSpPr>
          <p:cNvPr id="87" name="DP2 9014">
            <a:extLst>
              <a:ext uri="{FF2B5EF4-FFF2-40B4-BE49-F238E27FC236}">
                <a16:creationId xmlns:a16="http://schemas.microsoft.com/office/drawing/2014/main" id="{BAB6A9C5-DE6C-4B40-9E12-B57562177C2D}"/>
              </a:ext>
            </a:extLst>
          </p:cNvPr>
          <p:cNvSpPr/>
          <p:nvPr/>
        </p:nvSpPr>
        <p:spPr>
          <a:xfrm>
            <a:off x="697262" y="5665175"/>
            <a:ext cx="9603535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&lt;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설계 내용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&gt;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오른쪽 화살표 39">
            <a:extLst>
              <a:ext uri="{FF2B5EF4-FFF2-40B4-BE49-F238E27FC236}">
                <a16:creationId xmlns:a16="http://schemas.microsoft.com/office/drawing/2014/main" id="{0C02C4F3-EB01-4664-B739-CF69604C5390}"/>
              </a:ext>
            </a:extLst>
          </p:cNvPr>
          <p:cNvSpPr/>
          <p:nvPr/>
        </p:nvSpPr>
        <p:spPr>
          <a:xfrm>
            <a:off x="284845" y="5625163"/>
            <a:ext cx="412417" cy="276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63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621936"/>
              </p:ext>
            </p:extLst>
          </p:nvPr>
        </p:nvGraphicFramePr>
        <p:xfrm>
          <a:off x="249035" y="1044054"/>
          <a:ext cx="11747501" cy="50487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8666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5693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8331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0285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 err="1"/>
                        <a:t>ㅁㄴㅇㄹ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 err="1"/>
                        <a:t>ㅁㄴㅇㄹ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DP0. ~~-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 err="1">
                <a:solidFill>
                  <a:schemeClr val="bg1"/>
                </a:solidFill>
              </a:rPr>
              <a:t>ㅁㄴㅇㄹ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“&lt;</a:t>
            </a:r>
            <a:r>
              <a:rPr lang="ko-KR" altLang="en-US" sz="1100" dirty="0" err="1"/>
              <a:t>한줄</a:t>
            </a:r>
            <a:r>
              <a:rPr lang="ko-KR" altLang="en-US" sz="1100" dirty="0"/>
              <a:t> 요약</a:t>
            </a:r>
            <a:r>
              <a:rPr lang="en-US" altLang="ko-KR" sz="1100" dirty="0"/>
              <a:t>&gt;“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 err="1"/>
              <a:t>한줄</a:t>
            </a:r>
            <a:r>
              <a:rPr lang="ko-KR" altLang="en-US" sz="1100" dirty="0"/>
              <a:t> 요약</a:t>
            </a:r>
            <a:r>
              <a:rPr lang="en-US" altLang="ko-KR" sz="1100" dirty="0"/>
              <a:t>“</a:t>
            </a:r>
            <a:endParaRPr lang="ko-KR" altLang="en-US" sz="1100" dirty="0"/>
          </a:p>
        </p:txBody>
      </p:sp>
      <p:sp>
        <p:nvSpPr>
          <p:cNvPr id="4" name="직사각형 3"/>
          <p:cNvSpPr/>
          <p:nvPr/>
        </p:nvSpPr>
        <p:spPr>
          <a:xfrm>
            <a:off x="6291415" y="180689"/>
            <a:ext cx="15418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(Where to locate?)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9240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DP1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585930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구조 </a:t>
            </a:r>
            <a:r>
              <a:rPr lang="en-US" altLang="ko-KR" dirty="0"/>
              <a:t>- </a:t>
            </a:r>
            <a:r>
              <a:rPr lang="ko-KR" altLang="en-US" dirty="0"/>
              <a:t>배경</a:t>
            </a:r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3784E02-153A-49F1-A2CD-CE4252048DE7}"/>
              </a:ext>
            </a:extLst>
          </p:cNvPr>
          <p:cNvSpPr/>
          <p:nvPr/>
        </p:nvSpPr>
        <p:spPr>
          <a:xfrm>
            <a:off x="6250329" y="882132"/>
            <a:ext cx="5694021" cy="54996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217">
            <a:extLst>
              <a:ext uri="{FF2B5EF4-FFF2-40B4-BE49-F238E27FC236}">
                <a16:creationId xmlns:a16="http://schemas.microsoft.com/office/drawing/2014/main" id="{63A3E9B0-7066-45A1-BE5D-E8DD4EAEDB03}"/>
              </a:ext>
            </a:extLst>
          </p:cNvPr>
          <p:cNvSpPr/>
          <p:nvPr/>
        </p:nvSpPr>
        <p:spPr>
          <a:xfrm>
            <a:off x="7210115" y="740708"/>
            <a:ext cx="3749552" cy="28501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다양한 메모리 솔루션 등장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A78737F-A253-4CE8-B9A2-72B91FF65732}"/>
              </a:ext>
            </a:extLst>
          </p:cNvPr>
          <p:cNvGrpSpPr/>
          <p:nvPr/>
        </p:nvGrpSpPr>
        <p:grpSpPr>
          <a:xfrm>
            <a:off x="295158" y="731684"/>
            <a:ext cx="5674740" cy="5650065"/>
            <a:chOff x="211958" y="3093998"/>
            <a:chExt cx="6173884" cy="5288499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4E0C7FA-AF01-4522-B324-5D5122403813}"/>
                </a:ext>
              </a:extLst>
            </p:cNvPr>
            <p:cNvSpPr/>
            <p:nvPr/>
          </p:nvSpPr>
          <p:spPr>
            <a:xfrm>
              <a:off x="211958" y="3255024"/>
              <a:ext cx="6173884" cy="5127473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모서리가 둥근 직사각형 212">
              <a:extLst>
                <a:ext uri="{FF2B5EF4-FFF2-40B4-BE49-F238E27FC236}">
                  <a16:creationId xmlns:a16="http://schemas.microsoft.com/office/drawing/2014/main" id="{1104C980-3417-4022-8A1E-A71193CA465E}"/>
                </a:ext>
              </a:extLst>
            </p:cNvPr>
            <p:cNvSpPr/>
            <p:nvPr/>
          </p:nvSpPr>
          <p:spPr>
            <a:xfrm>
              <a:off x="1275530" y="3093998"/>
              <a:ext cx="4046740" cy="27674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Agent</a:t>
              </a:r>
              <a:r>
                <a:rPr lang="ko-KR" altLang="en-US" sz="1200" b="1" dirty="0"/>
                <a:t>의 </a:t>
              </a:r>
              <a:r>
                <a:rPr lang="en-US" altLang="ko-KR" sz="1200" b="1" dirty="0"/>
                <a:t>HBM Pressure </a:t>
              </a:r>
              <a:r>
                <a:rPr lang="ko-KR" altLang="en-US" sz="1200" b="1" dirty="0"/>
                <a:t>가속화</a:t>
              </a:r>
            </a:p>
          </p:txBody>
        </p:sp>
      </p:grpSp>
      <p:sp>
        <p:nvSpPr>
          <p:cNvPr id="198" name="Text 22"/>
          <p:cNvSpPr/>
          <p:nvPr/>
        </p:nvSpPr>
        <p:spPr>
          <a:xfrm>
            <a:off x="347472" y="1094766"/>
            <a:ext cx="4444447" cy="318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ym typeface="Wingdings" panose="05000000000000000000" pitchFamily="2" charset="2"/>
              </a:rPr>
              <a:t>Agent</a:t>
            </a:r>
            <a:r>
              <a:rPr lang="ko-KR" altLang="en-US" sz="1200" dirty="0">
                <a:sym typeface="Wingdings" panose="05000000000000000000" pitchFamily="2" charset="2"/>
              </a:rPr>
              <a:t>의 </a:t>
            </a:r>
            <a:r>
              <a:rPr lang="en-US" altLang="ko-KR" sz="1200" dirty="0">
                <a:sym typeface="Wingdings" panose="05000000000000000000" pitchFamily="2" charset="2"/>
              </a:rPr>
              <a:t>Multi-turn</a:t>
            </a:r>
            <a:r>
              <a:rPr lang="ko-KR" altLang="en-US" sz="1200" dirty="0">
                <a:sym typeface="Wingdings" panose="05000000000000000000" pitchFamily="2" charset="2"/>
              </a:rPr>
              <a:t>으로 인한 </a:t>
            </a:r>
            <a:r>
              <a:rPr lang="en-US" altLang="ko-KR" sz="1200" dirty="0">
                <a:sym typeface="Wingdings" panose="05000000000000000000" pitchFamily="2" charset="2"/>
              </a:rPr>
              <a:t>Context</a:t>
            </a:r>
            <a:r>
              <a:rPr lang="ko-KR" altLang="en-US" sz="1200" dirty="0">
                <a:sym typeface="Wingdings" panose="05000000000000000000" pitchFamily="2" charset="2"/>
              </a:rPr>
              <a:t> 누적 </a:t>
            </a:r>
            <a:r>
              <a:rPr lang="en-US" altLang="ko-KR" sz="1200" dirty="0">
                <a:sym typeface="Wingdings" panose="05000000000000000000" pitchFamily="2" charset="2"/>
              </a:rPr>
              <a:t> KV </a:t>
            </a:r>
            <a:r>
              <a:rPr lang="ko-KR" altLang="en-US" sz="1200" dirty="0">
                <a:sym typeface="Wingdings" panose="05000000000000000000" pitchFamily="2" charset="2"/>
              </a:rPr>
              <a:t>캐시 증가 </a:t>
            </a:r>
            <a:endParaRPr lang="en-US" altLang="ko-KR" sz="1200" dirty="0">
              <a:sym typeface="Wingdings" panose="05000000000000000000" pitchFamily="2" charset="2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347472" y="3752076"/>
            <a:ext cx="5509863" cy="34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sym typeface="Wingdings" panose="05000000000000000000" pitchFamily="2" charset="2"/>
              </a:rPr>
              <a:t>Agent</a:t>
            </a:r>
            <a:r>
              <a:rPr lang="ko-KR" altLang="en-US" sz="1200" dirty="0">
                <a:sym typeface="Wingdings" panose="05000000000000000000" pitchFamily="2" charset="2"/>
              </a:rPr>
              <a:t>는 하나의 요청을 여러 개의 동시 작업으로 증폭시킬 수 있음 </a:t>
            </a:r>
            <a:endParaRPr lang="en-US" altLang="ko-KR" sz="1200" b="1" dirty="0">
              <a:solidFill>
                <a:schemeClr val="accent2">
                  <a:lumMod val="75000"/>
                </a:schemeClr>
              </a:solidFill>
              <a:sym typeface="Wingdings" panose="05000000000000000000" pitchFamily="2" charset="2"/>
            </a:endParaRPr>
          </a:p>
        </p:txBody>
      </p:sp>
      <p:pic>
        <p:nvPicPr>
          <p:cNvPr id="204" name="그림 203"/>
          <p:cNvPicPr>
            <a:picLocks noChangeAspect="1"/>
          </p:cNvPicPr>
          <p:nvPr/>
        </p:nvPicPr>
        <p:blipFill rotWithShape="1">
          <a:blip r:embed="rId3"/>
          <a:srcRect l="2641" t="1749" r="2321" b="11984"/>
          <a:stretch/>
        </p:blipFill>
        <p:spPr>
          <a:xfrm>
            <a:off x="7154211" y="1184229"/>
            <a:ext cx="3823538" cy="2480669"/>
          </a:xfrm>
          <a:prstGeom prst="rect">
            <a:avLst/>
          </a:prstGeom>
        </p:spPr>
      </p:pic>
      <p:sp>
        <p:nvSpPr>
          <p:cNvPr id="299" name="실행 단추: 앞으로 또는 다음 298">
            <a:hlinkClick r:id="" action="ppaction://noaction" highlightClick="1"/>
          </p:cNvPr>
          <p:cNvSpPr/>
          <p:nvPr/>
        </p:nvSpPr>
        <p:spPr>
          <a:xfrm>
            <a:off x="10625465" y="779436"/>
            <a:ext cx="217381" cy="22600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D58FEC0B-5568-4E2A-AF34-EF05147FA88B}"/>
              </a:ext>
            </a:extLst>
          </p:cNvPr>
          <p:cNvCxnSpPr>
            <a:stCxn id="138" idx="3"/>
            <a:endCxn id="166" idx="1"/>
          </p:cNvCxnSpPr>
          <p:nvPr/>
        </p:nvCxnSpPr>
        <p:spPr>
          <a:xfrm flipV="1">
            <a:off x="9517632" y="5199961"/>
            <a:ext cx="509288" cy="39361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/>
          <p:cNvGrpSpPr/>
          <p:nvPr/>
        </p:nvGrpSpPr>
        <p:grpSpPr>
          <a:xfrm>
            <a:off x="6452396" y="4219751"/>
            <a:ext cx="4494180" cy="1993182"/>
            <a:chOff x="6344173" y="3347234"/>
            <a:chExt cx="4494180" cy="1993182"/>
          </a:xfrm>
        </p:grpSpPr>
        <p:grpSp>
          <p:nvGrpSpPr>
            <p:cNvPr id="5" name="그룹 4"/>
            <p:cNvGrpSpPr/>
            <p:nvPr/>
          </p:nvGrpSpPr>
          <p:grpSpPr>
            <a:xfrm>
              <a:off x="6344173" y="3347234"/>
              <a:ext cx="4494180" cy="1896944"/>
              <a:chOff x="6299288" y="3053619"/>
              <a:chExt cx="4428503" cy="2122718"/>
            </a:xfrm>
          </p:grpSpPr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58C3D28F-23EC-4DCC-95AC-37D92DBC27F5}"/>
                  </a:ext>
                </a:extLst>
              </p:cNvPr>
              <p:cNvGrpSpPr/>
              <p:nvPr/>
            </p:nvGrpSpPr>
            <p:grpSpPr>
              <a:xfrm>
                <a:off x="7524431" y="3143351"/>
                <a:ext cx="3101145" cy="2032986"/>
                <a:chOff x="1384719" y="2126980"/>
                <a:chExt cx="3072915" cy="2081864"/>
              </a:xfrm>
            </p:grpSpPr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6F69B73E-FFFC-45E8-BB7B-9B8AB23AB720}"/>
                    </a:ext>
                  </a:extLst>
                </p:cNvPr>
                <p:cNvSpPr/>
                <p:nvPr/>
              </p:nvSpPr>
              <p:spPr>
                <a:xfrm>
                  <a:off x="2442582" y="3481564"/>
                  <a:ext cx="721092" cy="255659"/>
                </a:xfrm>
                <a:prstGeom prst="rect">
                  <a:avLst/>
                </a:prstGeom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/>
                  <a:r>
                    <a:rPr lang="en-US" altLang="ko-KR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CPU</a:t>
                  </a:r>
                  <a:endParaRPr lang="ko-KR" altLang="en-US" sz="11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sp>
              <p:nvSpPr>
                <p:cNvPr id="139" name="모서리가 둥근 직사각형 191">
                  <a:extLst>
                    <a:ext uri="{FF2B5EF4-FFF2-40B4-BE49-F238E27FC236}">
                      <a16:creationId xmlns:a16="http://schemas.microsoft.com/office/drawing/2014/main" id="{2F7BF330-794C-4E29-BF45-B1F8AFFE3312}"/>
                    </a:ext>
                  </a:extLst>
                </p:cNvPr>
                <p:cNvSpPr/>
                <p:nvPr/>
              </p:nvSpPr>
              <p:spPr>
                <a:xfrm>
                  <a:off x="2397566" y="3953185"/>
                  <a:ext cx="804331" cy="255659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/>
                  <a:r>
                    <a:rPr lang="en-US" altLang="ko-KR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SSD-PIM</a:t>
                  </a:r>
                  <a:endParaRPr lang="ko-KR" altLang="en-US" sz="11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sp>
              <p:nvSpPr>
                <p:cNvPr id="140" name="모서리가 둥근 직사각형 192">
                  <a:extLst>
                    <a:ext uri="{FF2B5EF4-FFF2-40B4-BE49-F238E27FC236}">
                      <a16:creationId xmlns:a16="http://schemas.microsoft.com/office/drawing/2014/main" id="{F514312F-4F37-4C23-84C5-02AC423D2309}"/>
                    </a:ext>
                  </a:extLst>
                </p:cNvPr>
                <p:cNvSpPr/>
                <p:nvPr/>
              </p:nvSpPr>
              <p:spPr>
                <a:xfrm>
                  <a:off x="3664432" y="3659517"/>
                  <a:ext cx="793202" cy="255659"/>
                </a:xfrm>
                <a:prstGeom prst="round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/>
                  <a:r>
                    <a:rPr lang="en-US" altLang="ko-KR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DRAM</a:t>
                  </a:r>
                  <a:endParaRPr lang="ko-KR" altLang="en-US" sz="11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cxnSp>
              <p:nvCxnSpPr>
                <p:cNvPr id="142" name="직선 연결선 9">
                  <a:extLst>
                    <a:ext uri="{FF2B5EF4-FFF2-40B4-BE49-F238E27FC236}">
                      <a16:creationId xmlns:a16="http://schemas.microsoft.com/office/drawing/2014/main" id="{FED03D99-C83C-46A5-B2BC-AED0C3F4FE2A}"/>
                    </a:ext>
                  </a:extLst>
                </p:cNvPr>
                <p:cNvCxnSpPr>
                  <a:stCxn id="151" idx="2"/>
                  <a:endCxn id="138" idx="0"/>
                </p:cNvCxnSpPr>
                <p:nvPr/>
              </p:nvCxnSpPr>
              <p:spPr>
                <a:xfrm>
                  <a:off x="2803128" y="3251008"/>
                  <a:ext cx="0" cy="230556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직선 연결선 142">
                  <a:extLst>
                    <a:ext uri="{FF2B5EF4-FFF2-40B4-BE49-F238E27FC236}">
                      <a16:creationId xmlns:a16="http://schemas.microsoft.com/office/drawing/2014/main" id="{E8BD091E-84A4-4AF0-9C69-9D493ED1BE5B}"/>
                    </a:ext>
                  </a:extLst>
                </p:cNvPr>
                <p:cNvCxnSpPr>
                  <a:stCxn id="138" idx="2"/>
                  <a:endCxn id="139" idx="0"/>
                </p:cNvCxnSpPr>
                <p:nvPr/>
              </p:nvCxnSpPr>
              <p:spPr>
                <a:xfrm flipH="1">
                  <a:off x="2799732" y="3737223"/>
                  <a:ext cx="3397" cy="215962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9AB2F484-FCAE-43BA-9424-00EADB4082E4}"/>
                    </a:ext>
                  </a:extLst>
                </p:cNvPr>
                <p:cNvGrpSpPr/>
                <p:nvPr/>
              </p:nvGrpSpPr>
              <p:grpSpPr>
                <a:xfrm>
                  <a:off x="2323241" y="2126980"/>
                  <a:ext cx="959778" cy="1212050"/>
                  <a:chOff x="2993906" y="2126755"/>
                  <a:chExt cx="959778" cy="1212050"/>
                </a:xfrm>
              </p:grpSpPr>
              <p:sp>
                <p:nvSpPr>
                  <p:cNvPr id="151" name="직사각형 150">
                    <a:extLst>
                      <a:ext uri="{FF2B5EF4-FFF2-40B4-BE49-F238E27FC236}">
                        <a16:creationId xmlns:a16="http://schemas.microsoft.com/office/drawing/2014/main" id="{7CF69065-B71D-45B8-A775-D343993857B2}"/>
                      </a:ext>
                    </a:extLst>
                  </p:cNvPr>
                  <p:cNvSpPr/>
                  <p:nvPr/>
                </p:nvSpPr>
                <p:spPr>
                  <a:xfrm>
                    <a:off x="3113248" y="3057580"/>
                    <a:ext cx="721092" cy="281225"/>
                  </a:xfrm>
                  <a:prstGeom prst="rect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1F3864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rPr>
                      <a:t>GPU</a:t>
                    </a:r>
                    <a:endParaRPr lang="ko-KR" altLang="en-US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152" name="모서리가 둥근 직사각형 203">
                    <a:extLst>
                      <a:ext uri="{FF2B5EF4-FFF2-40B4-BE49-F238E27FC236}">
                        <a16:creationId xmlns:a16="http://schemas.microsoft.com/office/drawing/2014/main" id="{640F55E1-7C97-4A3F-B1BA-027109FA6D45}"/>
                      </a:ext>
                    </a:extLst>
                  </p:cNvPr>
                  <p:cNvSpPr/>
                  <p:nvPr/>
                </p:nvSpPr>
                <p:spPr>
                  <a:xfrm>
                    <a:off x="2993908" y="2540807"/>
                    <a:ext cx="959776" cy="281224"/>
                  </a:xfrm>
                  <a:prstGeom prst="round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1F3864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rPr>
                      <a:t>HBM</a:t>
                    </a:r>
                    <a:endParaRPr lang="ko-KR" altLang="en-US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cxnSp>
                <p:nvCxnSpPr>
                  <p:cNvPr id="153" name="직선 연결선 152">
                    <a:extLst>
                      <a:ext uri="{FF2B5EF4-FFF2-40B4-BE49-F238E27FC236}">
                        <a16:creationId xmlns:a16="http://schemas.microsoft.com/office/drawing/2014/main" id="{DF99FE4A-16D5-45BD-8568-257EA845EE4C}"/>
                      </a:ext>
                    </a:extLst>
                  </p:cNvPr>
                  <p:cNvCxnSpPr>
                    <a:stCxn id="152" idx="2"/>
                    <a:endCxn id="151" idx="0"/>
                  </p:cNvCxnSpPr>
                  <p:nvPr/>
                </p:nvCxnSpPr>
                <p:spPr>
                  <a:xfrm flipH="1">
                    <a:off x="3473795" y="2822031"/>
                    <a:ext cx="1" cy="235549"/>
                  </a:xfrm>
                  <a:prstGeom prst="line">
                    <a:avLst/>
                  </a:prstGeom>
                  <a:ln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모서리가 둥근 직사각형 241">
                    <a:extLst>
                      <a:ext uri="{FF2B5EF4-FFF2-40B4-BE49-F238E27FC236}">
                        <a16:creationId xmlns:a16="http://schemas.microsoft.com/office/drawing/2014/main" id="{AC135A3A-CAAB-4A76-A2D5-53B55EB1D318}"/>
                      </a:ext>
                    </a:extLst>
                  </p:cNvPr>
                  <p:cNvSpPr/>
                  <p:nvPr/>
                </p:nvSpPr>
                <p:spPr>
                  <a:xfrm>
                    <a:off x="2993906" y="2126755"/>
                    <a:ext cx="959774" cy="232416"/>
                  </a:xfrm>
                  <a:prstGeom prst="round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/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r>
                      <a:rPr lang="en-US" altLang="ko-KR" sz="1100" b="1" dirty="0">
                        <a:solidFill>
                          <a:srgbClr val="1F3864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rPr>
                      <a:t>HBF</a:t>
                    </a:r>
                    <a:endParaRPr lang="ko-KR" altLang="en-US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</p:grpSp>
            <p:sp>
              <p:nvSpPr>
                <p:cNvPr id="147" name="모서리가 둥근 직사각형 240">
                  <a:extLst>
                    <a:ext uri="{FF2B5EF4-FFF2-40B4-BE49-F238E27FC236}">
                      <a16:creationId xmlns:a16="http://schemas.microsoft.com/office/drawing/2014/main" id="{A8DF8FE3-2660-4ED5-B889-6041AD06E54C}"/>
                    </a:ext>
                  </a:extLst>
                </p:cNvPr>
                <p:cNvSpPr/>
                <p:nvPr/>
              </p:nvSpPr>
              <p:spPr>
                <a:xfrm>
                  <a:off x="1384719" y="3481563"/>
                  <a:ext cx="842359" cy="255659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/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/>
                  <a:r>
                    <a:rPr lang="en-US" altLang="ko-KR" sz="11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CXL-PNM</a:t>
                  </a:r>
                  <a:endParaRPr lang="ko-KR" altLang="en-US" sz="11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</p:grp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D58FEC0B-5568-4E2A-AF34-EF05147FA88B}"/>
                  </a:ext>
                </a:extLst>
              </p:cNvPr>
              <p:cNvCxnSpPr>
                <a:stCxn id="147" idx="3"/>
                <a:endCxn id="138" idx="1"/>
              </p:cNvCxnSpPr>
              <p:nvPr/>
            </p:nvCxnSpPr>
            <p:spPr>
              <a:xfrm>
                <a:off x="8374528" y="4590961"/>
                <a:ext cx="217485" cy="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4BFFC828-99F7-4529-B145-A0106CEEDECA}"/>
                  </a:ext>
                </a:extLst>
              </p:cNvPr>
              <p:cNvCxnSpPr>
                <a:stCxn id="158" idx="2"/>
                <a:endCxn id="152" idx="0"/>
              </p:cNvCxnSpPr>
              <p:nvPr/>
            </p:nvCxnSpPr>
            <p:spPr>
              <a:xfrm>
                <a:off x="8955871" y="3370311"/>
                <a:ext cx="3" cy="177371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8" name="순서도: 자기 디스크 167">
                <a:extLst>
                  <a:ext uri="{FF2B5EF4-FFF2-40B4-BE49-F238E27FC236}">
                    <a16:creationId xmlns:a16="http://schemas.microsoft.com/office/drawing/2014/main" id="{B93D3D46-2EAF-4F46-8D70-4B0856C6C363}"/>
                  </a:ext>
                </a:extLst>
              </p:cNvPr>
              <p:cNvSpPr/>
              <p:nvPr/>
            </p:nvSpPr>
            <p:spPr>
              <a:xfrm>
                <a:off x="8165993" y="3132004"/>
                <a:ext cx="380590" cy="225820"/>
              </a:xfrm>
              <a:prstGeom prst="flowChartMagneticDisk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/>
                  <a:t>KV1</a:t>
                </a:r>
                <a:endParaRPr lang="ko-KR" altLang="en-US" sz="800" b="1" dirty="0"/>
              </a:p>
            </p:txBody>
          </p:sp>
          <p:sp>
            <p:nvSpPr>
              <p:cNvPr id="181" name="대각선 방향의 모서리가 잘린 사각형 180">
                <a:extLst>
                  <a:ext uri="{FF2B5EF4-FFF2-40B4-BE49-F238E27FC236}">
                    <a16:creationId xmlns:a16="http://schemas.microsoft.com/office/drawing/2014/main" id="{66C77D57-A693-44F6-BED9-8013A3D12FE6}"/>
                  </a:ext>
                </a:extLst>
              </p:cNvPr>
              <p:cNvSpPr/>
              <p:nvPr/>
            </p:nvSpPr>
            <p:spPr>
              <a:xfrm>
                <a:off x="8012705" y="3687252"/>
                <a:ext cx="574622" cy="197237"/>
              </a:xfrm>
              <a:prstGeom prst="snip2DiagRect">
                <a:avLst/>
              </a:prstGeom>
              <a:ln>
                <a:solidFill>
                  <a:schemeClr val="accent6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 err="1"/>
                  <a:t>LoRA</a:t>
                </a:r>
                <a:endParaRPr lang="ko-KR" altLang="en-US" sz="1200" dirty="0"/>
              </a:p>
            </p:txBody>
          </p:sp>
          <p:grpSp>
            <p:nvGrpSpPr>
              <p:cNvPr id="259" name="그룹 258">
                <a:extLst>
                  <a:ext uri="{FF2B5EF4-FFF2-40B4-BE49-F238E27FC236}">
                    <a16:creationId xmlns:a16="http://schemas.microsoft.com/office/drawing/2014/main" id="{C2090F15-14C4-48A1-8E7A-3BD6B2016FAF}"/>
                  </a:ext>
                </a:extLst>
              </p:cNvPr>
              <p:cNvGrpSpPr/>
              <p:nvPr/>
            </p:nvGrpSpPr>
            <p:grpSpPr>
              <a:xfrm>
                <a:off x="6299288" y="3057166"/>
                <a:ext cx="1384623" cy="1817828"/>
                <a:chOff x="429779" y="2706833"/>
                <a:chExt cx="1384623" cy="1817828"/>
              </a:xfrm>
            </p:grpSpPr>
            <p:grpSp>
              <p:nvGrpSpPr>
                <p:cNvPr id="260" name="그룹 259">
                  <a:extLst>
                    <a:ext uri="{FF2B5EF4-FFF2-40B4-BE49-F238E27FC236}">
                      <a16:creationId xmlns:a16="http://schemas.microsoft.com/office/drawing/2014/main" id="{4838AC75-63E2-4DB0-866F-B7D40E013EF8}"/>
                    </a:ext>
                  </a:extLst>
                </p:cNvPr>
                <p:cNvGrpSpPr/>
                <p:nvPr/>
              </p:nvGrpSpPr>
              <p:grpSpPr>
                <a:xfrm>
                  <a:off x="489941" y="3237748"/>
                  <a:ext cx="797013" cy="253916"/>
                  <a:chOff x="647355" y="4269583"/>
                  <a:chExt cx="797013" cy="253916"/>
                </a:xfrm>
              </p:grpSpPr>
              <p:sp>
                <p:nvSpPr>
                  <p:cNvPr id="297" name="모서리가 둥근 직사각형 235">
                    <a:extLst>
                      <a:ext uri="{FF2B5EF4-FFF2-40B4-BE49-F238E27FC236}">
                        <a16:creationId xmlns:a16="http://schemas.microsoft.com/office/drawing/2014/main" id="{653D2F71-606D-4B28-9E0A-62FED89E9900}"/>
                      </a:ext>
                    </a:extLst>
                  </p:cNvPr>
                  <p:cNvSpPr/>
                  <p:nvPr/>
                </p:nvSpPr>
                <p:spPr>
                  <a:xfrm>
                    <a:off x="702830" y="4290610"/>
                    <a:ext cx="668748" cy="211863"/>
                  </a:xfrm>
                  <a:prstGeom prst="roundRect">
                    <a:avLst/>
                  </a:prstGeom>
                  <a:solidFill>
                    <a:schemeClr val="bg1"/>
                  </a:solidFill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endParaRPr lang="ko-KR" altLang="en-US" sz="8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298" name="TextBox 297">
                    <a:extLst>
                      <a:ext uri="{FF2B5EF4-FFF2-40B4-BE49-F238E27FC236}">
                        <a16:creationId xmlns:a16="http://schemas.microsoft.com/office/drawing/2014/main" id="{44F47381-B54A-4D02-8BDD-28A19F136EAF}"/>
                      </a:ext>
                    </a:extLst>
                  </p:cNvPr>
                  <p:cNvSpPr txBox="1"/>
                  <p:nvPr/>
                </p:nvSpPr>
                <p:spPr>
                  <a:xfrm>
                    <a:off x="647355" y="4269583"/>
                    <a:ext cx="7970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50" dirty="0"/>
                      <a:t>Request 2</a:t>
                    </a:r>
                    <a:endParaRPr lang="ko-KR" altLang="en-US" sz="1050" dirty="0"/>
                  </a:p>
                </p:txBody>
              </p:sp>
            </p:grpSp>
            <p:sp>
              <p:nvSpPr>
                <p:cNvPr id="261" name="직사각형 260">
                  <a:extLst>
                    <a:ext uri="{FF2B5EF4-FFF2-40B4-BE49-F238E27FC236}">
                      <a16:creationId xmlns:a16="http://schemas.microsoft.com/office/drawing/2014/main" id="{FF91CC32-A2B0-4536-B334-334F143262B8}"/>
                    </a:ext>
                  </a:extLst>
                </p:cNvPr>
                <p:cNvSpPr/>
                <p:nvPr/>
              </p:nvSpPr>
              <p:spPr>
                <a:xfrm>
                  <a:off x="528344" y="2985727"/>
                  <a:ext cx="702893" cy="1538934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/>
                  <a:endParaRPr lang="ko-KR" altLang="en-US" sz="1400" b="1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7B45D556-134F-47A0-8B00-6CAE2426BFA9}"/>
                    </a:ext>
                  </a:extLst>
                </p:cNvPr>
                <p:cNvSpPr txBox="1"/>
                <p:nvPr/>
              </p:nvSpPr>
              <p:spPr>
                <a:xfrm>
                  <a:off x="429779" y="2706833"/>
                  <a:ext cx="910827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50" dirty="0"/>
                    <a:t>work queue</a:t>
                  </a:r>
                  <a:endParaRPr lang="ko-KR" altLang="en-US" sz="1050" dirty="0"/>
                </a:p>
              </p:txBody>
            </p:sp>
            <p:grpSp>
              <p:nvGrpSpPr>
                <p:cNvPr id="264" name="그룹 263">
                  <a:extLst>
                    <a:ext uri="{FF2B5EF4-FFF2-40B4-BE49-F238E27FC236}">
                      <a16:creationId xmlns:a16="http://schemas.microsoft.com/office/drawing/2014/main" id="{7A918029-53A7-4C85-BC4D-3DF0F8C76427}"/>
                    </a:ext>
                  </a:extLst>
                </p:cNvPr>
                <p:cNvGrpSpPr/>
                <p:nvPr/>
              </p:nvGrpSpPr>
              <p:grpSpPr>
                <a:xfrm>
                  <a:off x="489941" y="2997325"/>
                  <a:ext cx="797013" cy="253916"/>
                  <a:chOff x="647355" y="4269583"/>
                  <a:chExt cx="797013" cy="253916"/>
                </a:xfrm>
              </p:grpSpPr>
              <p:sp>
                <p:nvSpPr>
                  <p:cNvPr id="295" name="모서리가 둥근 직사각형 233">
                    <a:extLst>
                      <a:ext uri="{FF2B5EF4-FFF2-40B4-BE49-F238E27FC236}">
                        <a16:creationId xmlns:a16="http://schemas.microsoft.com/office/drawing/2014/main" id="{2A169C89-2300-4622-A185-B9908471B292}"/>
                      </a:ext>
                    </a:extLst>
                  </p:cNvPr>
                  <p:cNvSpPr/>
                  <p:nvPr/>
                </p:nvSpPr>
                <p:spPr>
                  <a:xfrm>
                    <a:off x="702830" y="4290610"/>
                    <a:ext cx="668748" cy="211863"/>
                  </a:xfrm>
                  <a:prstGeom prst="roundRect">
                    <a:avLst/>
                  </a:prstGeom>
                  <a:solidFill>
                    <a:schemeClr val="bg1"/>
                  </a:solidFill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endParaRPr lang="ko-KR" altLang="en-US" sz="8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AC000B18-6351-4F08-9C62-6CB8A658C5D3}"/>
                      </a:ext>
                    </a:extLst>
                  </p:cNvPr>
                  <p:cNvSpPr txBox="1"/>
                  <p:nvPr/>
                </p:nvSpPr>
                <p:spPr>
                  <a:xfrm>
                    <a:off x="647355" y="4269583"/>
                    <a:ext cx="7970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50" dirty="0"/>
                      <a:t>Request 1</a:t>
                    </a:r>
                    <a:endParaRPr lang="ko-KR" altLang="en-US" sz="1050" dirty="0"/>
                  </a:p>
                </p:txBody>
              </p:sp>
            </p:grpSp>
            <p:grpSp>
              <p:nvGrpSpPr>
                <p:cNvPr id="265" name="그룹 264">
                  <a:extLst>
                    <a:ext uri="{FF2B5EF4-FFF2-40B4-BE49-F238E27FC236}">
                      <a16:creationId xmlns:a16="http://schemas.microsoft.com/office/drawing/2014/main" id="{2518B80D-8282-4EEB-956B-679D5958ACE9}"/>
                    </a:ext>
                  </a:extLst>
                </p:cNvPr>
                <p:cNvGrpSpPr/>
                <p:nvPr/>
              </p:nvGrpSpPr>
              <p:grpSpPr>
                <a:xfrm>
                  <a:off x="489941" y="3479840"/>
                  <a:ext cx="797013" cy="253916"/>
                  <a:chOff x="647355" y="4269583"/>
                  <a:chExt cx="797013" cy="253916"/>
                </a:xfrm>
              </p:grpSpPr>
              <p:sp>
                <p:nvSpPr>
                  <p:cNvPr id="293" name="모서리가 둥근 직사각형 231">
                    <a:extLst>
                      <a:ext uri="{FF2B5EF4-FFF2-40B4-BE49-F238E27FC236}">
                        <a16:creationId xmlns:a16="http://schemas.microsoft.com/office/drawing/2014/main" id="{FDE96DDE-B589-4061-8954-023C70252CD9}"/>
                      </a:ext>
                    </a:extLst>
                  </p:cNvPr>
                  <p:cNvSpPr/>
                  <p:nvPr/>
                </p:nvSpPr>
                <p:spPr>
                  <a:xfrm>
                    <a:off x="702830" y="4290610"/>
                    <a:ext cx="668748" cy="211863"/>
                  </a:xfrm>
                  <a:prstGeom prst="roundRect">
                    <a:avLst/>
                  </a:prstGeom>
                  <a:solidFill>
                    <a:schemeClr val="bg1"/>
                  </a:solidFill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endParaRPr lang="ko-KR" altLang="en-US" sz="8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6CE78D1D-B9D4-43B2-AA0D-D95B99927019}"/>
                      </a:ext>
                    </a:extLst>
                  </p:cNvPr>
                  <p:cNvSpPr txBox="1"/>
                  <p:nvPr/>
                </p:nvSpPr>
                <p:spPr>
                  <a:xfrm>
                    <a:off x="647355" y="4269583"/>
                    <a:ext cx="7970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50" dirty="0"/>
                      <a:t>Request 3</a:t>
                    </a:r>
                    <a:endParaRPr lang="ko-KR" altLang="en-US" sz="1050" dirty="0"/>
                  </a:p>
                </p:txBody>
              </p:sp>
            </p:grpSp>
            <p:grpSp>
              <p:nvGrpSpPr>
                <p:cNvPr id="281" name="그룹 280">
                  <a:extLst>
                    <a:ext uri="{FF2B5EF4-FFF2-40B4-BE49-F238E27FC236}">
                      <a16:creationId xmlns:a16="http://schemas.microsoft.com/office/drawing/2014/main" id="{1EEF3E81-2B98-4128-BABA-54443C16F66B}"/>
                    </a:ext>
                  </a:extLst>
                </p:cNvPr>
                <p:cNvGrpSpPr/>
                <p:nvPr/>
              </p:nvGrpSpPr>
              <p:grpSpPr>
                <a:xfrm>
                  <a:off x="489941" y="3734968"/>
                  <a:ext cx="797013" cy="253916"/>
                  <a:chOff x="647355" y="4269583"/>
                  <a:chExt cx="797013" cy="253916"/>
                </a:xfrm>
              </p:grpSpPr>
              <p:sp>
                <p:nvSpPr>
                  <p:cNvPr id="291" name="모서리가 둥근 직사각형 229">
                    <a:extLst>
                      <a:ext uri="{FF2B5EF4-FFF2-40B4-BE49-F238E27FC236}">
                        <a16:creationId xmlns:a16="http://schemas.microsoft.com/office/drawing/2014/main" id="{2438B9E8-A073-4BBB-8948-554830921296}"/>
                      </a:ext>
                    </a:extLst>
                  </p:cNvPr>
                  <p:cNvSpPr/>
                  <p:nvPr/>
                </p:nvSpPr>
                <p:spPr>
                  <a:xfrm>
                    <a:off x="702830" y="4290610"/>
                    <a:ext cx="668748" cy="211863"/>
                  </a:xfrm>
                  <a:prstGeom prst="roundRect">
                    <a:avLst/>
                  </a:prstGeom>
                  <a:solidFill>
                    <a:schemeClr val="bg1"/>
                  </a:solidFill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endParaRPr lang="ko-KR" altLang="en-US" sz="8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8DAB9D6A-E929-4921-B896-2084E5ABD724}"/>
                      </a:ext>
                    </a:extLst>
                  </p:cNvPr>
                  <p:cNvSpPr txBox="1"/>
                  <p:nvPr/>
                </p:nvSpPr>
                <p:spPr>
                  <a:xfrm>
                    <a:off x="647355" y="4269583"/>
                    <a:ext cx="7970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50" dirty="0"/>
                      <a:t>Request 4</a:t>
                    </a:r>
                    <a:endParaRPr lang="ko-KR" altLang="en-US" sz="1050" dirty="0"/>
                  </a:p>
                </p:txBody>
              </p:sp>
            </p:grpSp>
            <p:grpSp>
              <p:nvGrpSpPr>
                <p:cNvPr id="282" name="그룹 281">
                  <a:extLst>
                    <a:ext uri="{FF2B5EF4-FFF2-40B4-BE49-F238E27FC236}">
                      <a16:creationId xmlns:a16="http://schemas.microsoft.com/office/drawing/2014/main" id="{076F11A9-9364-4E6A-A826-5DBCAD01E9A8}"/>
                    </a:ext>
                  </a:extLst>
                </p:cNvPr>
                <p:cNvGrpSpPr/>
                <p:nvPr/>
              </p:nvGrpSpPr>
              <p:grpSpPr>
                <a:xfrm>
                  <a:off x="489941" y="3980247"/>
                  <a:ext cx="797013" cy="253916"/>
                  <a:chOff x="647355" y="4269583"/>
                  <a:chExt cx="797013" cy="253916"/>
                </a:xfrm>
              </p:grpSpPr>
              <p:sp>
                <p:nvSpPr>
                  <p:cNvPr id="287" name="모서리가 둥근 직사각형 227">
                    <a:extLst>
                      <a:ext uri="{FF2B5EF4-FFF2-40B4-BE49-F238E27FC236}">
                        <a16:creationId xmlns:a16="http://schemas.microsoft.com/office/drawing/2014/main" id="{1F09691A-0DBD-4D01-A7EF-05C7A560F54C}"/>
                      </a:ext>
                    </a:extLst>
                  </p:cNvPr>
                  <p:cNvSpPr/>
                  <p:nvPr/>
                </p:nvSpPr>
                <p:spPr>
                  <a:xfrm>
                    <a:off x="702830" y="4290610"/>
                    <a:ext cx="668748" cy="211863"/>
                  </a:xfrm>
                  <a:prstGeom prst="roundRect">
                    <a:avLst/>
                  </a:prstGeom>
                  <a:solidFill>
                    <a:schemeClr val="bg1"/>
                  </a:solidFill>
                  <a:ln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anchor="ctr"/>
                  <a:lstStyle/>
                  <a:p>
                    <a:pPr algn="ctr"/>
                    <a:endParaRPr lang="ko-KR" altLang="en-US" sz="800" b="1" dirty="0">
                      <a:solidFill>
                        <a:srgbClr val="1F3864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endParaRPr>
                  </a:p>
                </p:txBody>
              </p:sp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FA47DEA8-F78E-42DA-9913-02A674D57B3D}"/>
                      </a:ext>
                    </a:extLst>
                  </p:cNvPr>
                  <p:cNvSpPr txBox="1"/>
                  <p:nvPr/>
                </p:nvSpPr>
                <p:spPr>
                  <a:xfrm>
                    <a:off x="647355" y="4269583"/>
                    <a:ext cx="797013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050" dirty="0"/>
                      <a:t>Request 5</a:t>
                    </a:r>
                    <a:endParaRPr lang="ko-KR" altLang="en-US" sz="1050" dirty="0"/>
                  </a:p>
                </p:txBody>
              </p:sp>
            </p:grpSp>
            <p:cxnSp>
              <p:nvCxnSpPr>
                <p:cNvPr id="283" name="직선 화살표 연결선 282">
                  <a:extLst>
                    <a:ext uri="{FF2B5EF4-FFF2-40B4-BE49-F238E27FC236}">
                      <a16:creationId xmlns:a16="http://schemas.microsoft.com/office/drawing/2014/main" id="{3E7D45FE-F6B6-4FF0-A744-100ACFD206A2}"/>
                    </a:ext>
                  </a:extLst>
                </p:cNvPr>
                <p:cNvCxnSpPr/>
                <p:nvPr/>
              </p:nvCxnSpPr>
              <p:spPr>
                <a:xfrm>
                  <a:off x="1286954" y="3602837"/>
                  <a:ext cx="12989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4" name="TextBox 283">
                  <a:extLst>
                    <a:ext uri="{FF2B5EF4-FFF2-40B4-BE49-F238E27FC236}">
                      <a16:creationId xmlns:a16="http://schemas.microsoft.com/office/drawing/2014/main" id="{AD738F9F-DA01-4BBA-B2D6-9B908D779557}"/>
                    </a:ext>
                  </a:extLst>
                </p:cNvPr>
                <p:cNvSpPr txBox="1"/>
                <p:nvPr/>
              </p:nvSpPr>
              <p:spPr>
                <a:xfrm>
                  <a:off x="1359966" y="3472535"/>
                  <a:ext cx="450764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50" dirty="0"/>
                    <a:t>Tool</a:t>
                  </a:r>
                  <a:endParaRPr lang="ko-KR" altLang="en-US" sz="1050" dirty="0"/>
                </a:p>
              </p:txBody>
            </p:sp>
            <p:cxnSp>
              <p:nvCxnSpPr>
                <p:cNvPr id="285" name="직선 화살표 연결선 284">
                  <a:extLst>
                    <a:ext uri="{FF2B5EF4-FFF2-40B4-BE49-F238E27FC236}">
                      <a16:creationId xmlns:a16="http://schemas.microsoft.com/office/drawing/2014/main" id="{6BC863F9-3FB1-4A5A-B154-AB5BF8F8559A}"/>
                    </a:ext>
                  </a:extLst>
                </p:cNvPr>
                <p:cNvCxnSpPr>
                  <a:stCxn id="292" idx="3"/>
                </p:cNvCxnSpPr>
                <p:nvPr/>
              </p:nvCxnSpPr>
              <p:spPr>
                <a:xfrm>
                  <a:off x="1286954" y="3861926"/>
                  <a:ext cx="156084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6" name="TextBox 285">
                  <a:extLst>
                    <a:ext uri="{FF2B5EF4-FFF2-40B4-BE49-F238E27FC236}">
                      <a16:creationId xmlns:a16="http://schemas.microsoft.com/office/drawing/2014/main" id="{7AF2F04B-E68C-4547-A81F-FAE77D1DB23D}"/>
                    </a:ext>
                  </a:extLst>
                </p:cNvPr>
                <p:cNvSpPr txBox="1"/>
                <p:nvPr/>
              </p:nvSpPr>
              <p:spPr>
                <a:xfrm>
                  <a:off x="1363638" y="3736285"/>
                  <a:ext cx="450764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050" dirty="0"/>
                    <a:t>Tool</a:t>
                  </a:r>
                  <a:endParaRPr lang="ko-KR" altLang="en-US" sz="1050" dirty="0"/>
                </a:p>
              </p:txBody>
            </p:sp>
          </p:grpSp>
          <p:sp>
            <p:nvSpPr>
              <p:cNvPr id="166" name="모서리가 둥근 직사각형 262">
                <a:extLst>
                  <a:ext uri="{FF2B5EF4-FFF2-40B4-BE49-F238E27FC236}">
                    <a16:creationId xmlns:a16="http://schemas.microsoft.com/office/drawing/2014/main" id="{9A6C1B79-B67A-4936-907B-4FE927F86E5B}"/>
                  </a:ext>
                </a:extLst>
              </p:cNvPr>
              <p:cNvSpPr/>
              <p:nvPr/>
            </p:nvSpPr>
            <p:spPr>
              <a:xfrm>
                <a:off x="9821575" y="3981487"/>
                <a:ext cx="906216" cy="33801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/>
                <a:r>
                  <a:rPr lang="en-US" altLang="ko-KR" sz="1200" b="1" dirty="0" err="1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ScHBM</a:t>
                </a:r>
                <a:endParaRPr lang="ko-KR" altLang="en-US" sz="1200" b="1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  <p:sp>
            <p:nvSpPr>
              <p:cNvPr id="226" name="순서도: 자기 디스크 225">
                <a:extLst>
                  <a:ext uri="{FF2B5EF4-FFF2-40B4-BE49-F238E27FC236}">
                    <a16:creationId xmlns:a16="http://schemas.microsoft.com/office/drawing/2014/main" id="{B93D3D46-2EAF-4F46-8D70-4B0856C6C363}"/>
                  </a:ext>
                </a:extLst>
              </p:cNvPr>
              <p:cNvSpPr/>
              <p:nvPr/>
            </p:nvSpPr>
            <p:spPr>
              <a:xfrm>
                <a:off x="9312166" y="3053619"/>
                <a:ext cx="380590" cy="225820"/>
              </a:xfrm>
              <a:prstGeom prst="flowChartMagneticDisk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/>
                  <a:t>KV2</a:t>
                </a:r>
                <a:endParaRPr lang="ko-KR" altLang="en-US" sz="800" b="1" dirty="0"/>
              </a:p>
            </p:txBody>
          </p:sp>
          <p:sp>
            <p:nvSpPr>
              <p:cNvPr id="228" name="순서도: 자기 디스크 227">
                <a:extLst>
                  <a:ext uri="{FF2B5EF4-FFF2-40B4-BE49-F238E27FC236}">
                    <a16:creationId xmlns:a16="http://schemas.microsoft.com/office/drawing/2014/main" id="{B93D3D46-2EAF-4F46-8D70-4B0856C6C363}"/>
                  </a:ext>
                </a:extLst>
              </p:cNvPr>
              <p:cNvSpPr/>
              <p:nvPr/>
            </p:nvSpPr>
            <p:spPr>
              <a:xfrm>
                <a:off x="9251802" y="3681533"/>
                <a:ext cx="380590" cy="225820"/>
              </a:xfrm>
              <a:prstGeom prst="flowChartMagneticDisk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/>
                  <a:t>KV5</a:t>
                </a:r>
                <a:endParaRPr lang="ko-KR" altLang="en-US" sz="800" b="1" dirty="0"/>
              </a:p>
            </p:txBody>
          </p:sp>
          <p:sp>
            <p:nvSpPr>
              <p:cNvPr id="229" name="순서도: 자기 디스크 228">
                <a:extLst>
                  <a:ext uri="{FF2B5EF4-FFF2-40B4-BE49-F238E27FC236}">
                    <a16:creationId xmlns:a16="http://schemas.microsoft.com/office/drawing/2014/main" id="{B93D3D46-2EAF-4F46-8D70-4B0856C6C363}"/>
                  </a:ext>
                </a:extLst>
              </p:cNvPr>
              <p:cNvSpPr/>
              <p:nvPr/>
            </p:nvSpPr>
            <p:spPr>
              <a:xfrm>
                <a:off x="7990790" y="4677849"/>
                <a:ext cx="380590" cy="225820"/>
              </a:xfrm>
              <a:prstGeom prst="flowChartMagneticDisk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/>
                  <a:t>KV3</a:t>
                </a:r>
                <a:endParaRPr lang="ko-KR" altLang="en-US" sz="800" b="1" dirty="0"/>
              </a:p>
            </p:txBody>
          </p:sp>
          <p:sp>
            <p:nvSpPr>
              <p:cNvPr id="230" name="순서도: 자기 디스크 229">
                <a:extLst>
                  <a:ext uri="{FF2B5EF4-FFF2-40B4-BE49-F238E27FC236}">
                    <a16:creationId xmlns:a16="http://schemas.microsoft.com/office/drawing/2014/main" id="{B93D3D46-2EAF-4F46-8D70-4B0856C6C363}"/>
                  </a:ext>
                </a:extLst>
              </p:cNvPr>
              <p:cNvSpPr/>
              <p:nvPr/>
            </p:nvSpPr>
            <p:spPr>
              <a:xfrm>
                <a:off x="9752193" y="4261538"/>
                <a:ext cx="380590" cy="225820"/>
              </a:xfrm>
              <a:prstGeom prst="flowChartMagneticDisk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/>
                  <a:t>KV4</a:t>
                </a:r>
                <a:endParaRPr lang="ko-KR" altLang="en-US" sz="800" b="1" dirty="0"/>
              </a:p>
            </p:txBody>
          </p:sp>
          <p:sp>
            <p:nvSpPr>
              <p:cNvPr id="231" name="대각선 방향의 모서리가 잘린 사각형 230">
                <a:extLst>
                  <a:ext uri="{FF2B5EF4-FFF2-40B4-BE49-F238E27FC236}">
                    <a16:creationId xmlns:a16="http://schemas.microsoft.com/office/drawing/2014/main" id="{66C77D57-A693-44F6-BED9-8013A3D12FE6}"/>
                  </a:ext>
                </a:extLst>
              </p:cNvPr>
              <p:cNvSpPr/>
              <p:nvPr/>
            </p:nvSpPr>
            <p:spPr>
              <a:xfrm>
                <a:off x="9312166" y="3290786"/>
                <a:ext cx="574622" cy="197237"/>
              </a:xfrm>
              <a:prstGeom prst="snip2DiagRect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/>
                  <a:t>Expert</a:t>
                </a:r>
                <a:endParaRPr lang="ko-KR" altLang="en-US" sz="900" dirty="0"/>
              </a:p>
            </p:txBody>
          </p:sp>
        </p:grpSp>
        <p:sp>
          <p:nvSpPr>
            <p:cNvPr id="220" name="순서도: 자기 디스크 219">
              <a:extLst>
                <a:ext uri="{FF2B5EF4-FFF2-40B4-BE49-F238E27FC236}">
                  <a16:creationId xmlns:a16="http://schemas.microsoft.com/office/drawing/2014/main" id="{B93D3D46-2EAF-4F46-8D70-4B0856C6C363}"/>
                </a:ext>
              </a:extLst>
            </p:cNvPr>
            <p:cNvSpPr/>
            <p:nvPr/>
          </p:nvSpPr>
          <p:spPr>
            <a:xfrm>
              <a:off x="9349442" y="5048468"/>
              <a:ext cx="754531" cy="291948"/>
            </a:xfrm>
            <a:prstGeom prst="flowChartMagneticDisk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/>
                <a:t>Vector </a:t>
              </a:r>
              <a:r>
                <a:rPr lang="en-US" altLang="ko-KR" sz="800" dirty="0" err="1"/>
                <a:t>Idx</a:t>
              </a:r>
              <a:r>
                <a:rPr lang="en-US" altLang="ko-KR" sz="800" dirty="0"/>
                <a:t> Cache</a:t>
              </a:r>
              <a:endParaRPr lang="ko-KR" altLang="en-US" sz="800" dirty="0"/>
            </a:p>
          </p:txBody>
        </p:sp>
      </p:grp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E8BD091E-84A4-4AF0-9C69-9D493ED1BE5B}"/>
              </a:ext>
            </a:extLst>
          </p:cNvPr>
          <p:cNvCxnSpPr>
            <a:stCxn id="138" idx="3"/>
            <a:endCxn id="140" idx="1"/>
          </p:cNvCxnSpPr>
          <p:nvPr/>
        </p:nvCxnSpPr>
        <p:spPr>
          <a:xfrm>
            <a:off x="9517632" y="5593580"/>
            <a:ext cx="512853" cy="15529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모서리가 둥근 직사각형 192">
            <a:extLst>
              <a:ext uri="{FF2B5EF4-FFF2-40B4-BE49-F238E27FC236}">
                <a16:creationId xmlns:a16="http://schemas.microsoft.com/office/drawing/2014/main" id="{F514312F-4F37-4C23-84C5-02AC423D2309}"/>
              </a:ext>
            </a:extLst>
          </p:cNvPr>
          <p:cNvSpPr/>
          <p:nvPr/>
        </p:nvSpPr>
        <p:spPr>
          <a:xfrm>
            <a:off x="10997939" y="6025681"/>
            <a:ext cx="817052" cy="223103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메모리</a:t>
            </a:r>
          </a:p>
        </p:txBody>
      </p:sp>
      <p:sp>
        <p:nvSpPr>
          <p:cNvPr id="233" name="모서리가 둥근 직사각형 192">
            <a:extLst>
              <a:ext uri="{FF2B5EF4-FFF2-40B4-BE49-F238E27FC236}">
                <a16:creationId xmlns:a16="http://schemas.microsoft.com/office/drawing/2014/main" id="{F514312F-4F37-4C23-84C5-02AC423D2309}"/>
              </a:ext>
            </a:extLst>
          </p:cNvPr>
          <p:cNvSpPr/>
          <p:nvPr/>
        </p:nvSpPr>
        <p:spPr>
          <a:xfrm>
            <a:off x="10997939" y="5765354"/>
            <a:ext cx="817052" cy="2231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ko-KR" altLang="en-US" sz="9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메모리</a:t>
            </a:r>
          </a:p>
        </p:txBody>
      </p:sp>
      <p:sp>
        <p:nvSpPr>
          <p:cNvPr id="234" name="실행 단추: 앞으로 또는 다음 233">
            <a:hlinkClick r:id="" action="ppaction://noaction" highlightClick="1"/>
          </p:cNvPr>
          <p:cNvSpPr/>
          <p:nvPr/>
        </p:nvSpPr>
        <p:spPr>
          <a:xfrm>
            <a:off x="5639954" y="1126338"/>
            <a:ext cx="217381" cy="22600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6357908" y="4019550"/>
            <a:ext cx="5535079" cy="225579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715788" y="3876574"/>
            <a:ext cx="2903360" cy="25391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&lt;</a:t>
            </a:r>
            <a:r>
              <a:rPr lang="ko-KR" altLang="en-US" sz="1050" dirty="0"/>
              <a:t>이기종 메모리 기반 데이터 배치 시나리오</a:t>
            </a:r>
            <a:r>
              <a:rPr lang="en-US" altLang="ko-KR" sz="1050" dirty="0"/>
              <a:t>&gt;</a:t>
            </a:r>
            <a:endParaRPr lang="ko-KR" altLang="en-US" sz="1050" dirty="0"/>
          </a:p>
        </p:txBody>
      </p:sp>
      <p:sp>
        <p:nvSpPr>
          <p:cNvPr id="237" name="Text 22"/>
          <p:cNvSpPr/>
          <p:nvPr/>
        </p:nvSpPr>
        <p:spPr>
          <a:xfrm>
            <a:off x="5181906" y="1154838"/>
            <a:ext cx="458048" cy="158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*KV </a:t>
            </a: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캐시 </a:t>
            </a:r>
            <a:endParaRPr lang="en-US" altLang="ko-KR" sz="800" b="1" dirty="0">
              <a:solidFill>
                <a:schemeClr val="bg1">
                  <a:lumMod val="50000"/>
                </a:schemeClr>
              </a:solidFill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1BC9BB-87A4-44D8-8E2B-13F5A972E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16" y="1382834"/>
            <a:ext cx="4874080" cy="22495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943532-133E-4E8D-B3A2-82832428E8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370"/>
          <a:stretch/>
        </p:blipFill>
        <p:spPr>
          <a:xfrm>
            <a:off x="767447" y="4037881"/>
            <a:ext cx="4703015" cy="23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0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6775451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구조 </a:t>
            </a:r>
            <a:r>
              <a:rPr lang="en-US" altLang="ko-KR" dirty="0"/>
              <a:t>- </a:t>
            </a:r>
            <a:r>
              <a:rPr lang="ko-KR" altLang="en-US" dirty="0"/>
              <a:t>배경</a:t>
            </a:r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 22"/>
          <p:cNvSpPr/>
          <p:nvPr/>
        </p:nvSpPr>
        <p:spPr>
          <a:xfrm>
            <a:off x="383682" y="5989237"/>
            <a:ext cx="8321945" cy="57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ko-KR" altLang="en-US" sz="1200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dirty="0">
                <a:latin typeface="맑은 고딕" panose="020B0503020000020004" pitchFamily="50" charset="-127"/>
              </a:rPr>
              <a:t>1. </a:t>
            </a:r>
            <a:r>
              <a:rPr lang="ko-KR" altLang="en-US" sz="1200" dirty="0">
                <a:latin typeface="맑은 고딕" panose="020B0503020000020004" pitchFamily="50" charset="-127"/>
              </a:rPr>
              <a:t>메모리 특성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데이터 특성을 </a:t>
            </a:r>
            <a:r>
              <a:rPr lang="en-US" altLang="ko-KR" sz="1200" dirty="0">
                <a:latin typeface="맑은 고딕" panose="020B0503020000020004" pitchFamily="50" charset="-127"/>
              </a:rPr>
              <a:t>aware</a:t>
            </a:r>
            <a:r>
              <a:rPr lang="ko-KR" altLang="en-US" sz="1200" dirty="0">
                <a:latin typeface="맑은 고딕" panose="020B0503020000020004" pitchFamily="50" charset="-127"/>
              </a:rPr>
              <a:t>한 데이터 </a:t>
            </a:r>
            <a:r>
              <a:rPr lang="en-US" altLang="ko-KR" sz="1200" dirty="0">
                <a:latin typeface="맑은 고딕" panose="020B0503020000020004" pitchFamily="50" charset="-127"/>
              </a:rPr>
              <a:t>Migration</a:t>
            </a:r>
            <a:r>
              <a:rPr lang="ko-KR" altLang="en-US" sz="1200" dirty="0">
                <a:latin typeface="맑은 고딕" panose="020B0503020000020004" pitchFamily="50" charset="-127"/>
              </a:rPr>
              <a:t>을 통해 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</a:rPr>
              <a:t>추론 성능 최적화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200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dirty="0">
                <a:latin typeface="맑은 고딕" panose="020B0503020000020004" pitchFamily="50" charset="-127"/>
              </a:rPr>
              <a:t>2. </a:t>
            </a:r>
            <a:r>
              <a:rPr lang="ko-KR" altLang="en-US" sz="1200" dirty="0">
                <a:latin typeface="맑은 고딕" panose="020B0503020000020004" pitchFamily="50" charset="-127"/>
              </a:rPr>
              <a:t>신규 메모리 확장 시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</a:rPr>
              <a:t>기존 구조 변경을 최소화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3784E02-153A-49F1-A2CD-CE4252048DE7}"/>
              </a:ext>
            </a:extLst>
          </p:cNvPr>
          <p:cNvSpPr/>
          <p:nvPr/>
        </p:nvSpPr>
        <p:spPr>
          <a:xfrm>
            <a:off x="6250329" y="821729"/>
            <a:ext cx="5694021" cy="466603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모서리가 둥근 직사각형 217">
            <a:extLst>
              <a:ext uri="{FF2B5EF4-FFF2-40B4-BE49-F238E27FC236}">
                <a16:creationId xmlns:a16="http://schemas.microsoft.com/office/drawing/2014/main" id="{63A3E9B0-7066-45A1-BE5D-E8DD4EAEDB03}"/>
              </a:ext>
            </a:extLst>
          </p:cNvPr>
          <p:cNvSpPr/>
          <p:nvPr/>
        </p:nvSpPr>
        <p:spPr>
          <a:xfrm>
            <a:off x="7210115" y="675855"/>
            <a:ext cx="3749552" cy="28501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To-Be: </a:t>
            </a:r>
            <a:r>
              <a:rPr lang="ko-KR" altLang="en-US" sz="1100" b="1" dirty="0"/>
              <a:t>이기종 메모리 기반 </a:t>
            </a:r>
            <a:r>
              <a:rPr lang="en-US" altLang="ko-KR" sz="1100" b="1" dirty="0"/>
              <a:t>Data Migration </a:t>
            </a:r>
            <a:r>
              <a:rPr lang="ko-KR" altLang="en-US" sz="1100" b="1" dirty="0"/>
              <a:t>구조 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A78737F-A253-4CE8-B9A2-72B91FF65732}"/>
              </a:ext>
            </a:extLst>
          </p:cNvPr>
          <p:cNvGrpSpPr/>
          <p:nvPr/>
        </p:nvGrpSpPr>
        <p:grpSpPr>
          <a:xfrm>
            <a:off x="295158" y="692846"/>
            <a:ext cx="5674740" cy="4794919"/>
            <a:chOff x="211958" y="3004152"/>
            <a:chExt cx="6173883" cy="5378345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14E0C7FA-AF01-4522-B324-5D5122403813}"/>
                </a:ext>
              </a:extLst>
            </p:cNvPr>
            <p:cNvSpPr/>
            <p:nvPr/>
          </p:nvSpPr>
          <p:spPr>
            <a:xfrm>
              <a:off x="211958" y="3148717"/>
              <a:ext cx="6173883" cy="5233780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모서리가 둥근 직사각형 212">
              <a:extLst>
                <a:ext uri="{FF2B5EF4-FFF2-40B4-BE49-F238E27FC236}">
                  <a16:creationId xmlns:a16="http://schemas.microsoft.com/office/drawing/2014/main" id="{1104C980-3417-4022-8A1E-A71193CA465E}"/>
                </a:ext>
              </a:extLst>
            </p:cNvPr>
            <p:cNvSpPr/>
            <p:nvPr/>
          </p:nvSpPr>
          <p:spPr>
            <a:xfrm>
              <a:off x="1275530" y="3004152"/>
              <a:ext cx="4046740" cy="33486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/>
                <a:t>As-Is: </a:t>
              </a:r>
              <a:r>
                <a:rPr lang="ko-KR" altLang="en-US" sz="1200" b="1" dirty="0"/>
                <a:t>vLLM 기존 </a:t>
              </a:r>
              <a:r>
                <a:rPr lang="en-US" altLang="ko-KR" sz="1200" b="1" dirty="0"/>
                <a:t>메모리 관리 </a:t>
              </a:r>
              <a:r>
                <a:rPr lang="ko-KR" altLang="en-US" sz="1200" b="1" dirty="0"/>
                <a:t>구조 (타입별 독립)</a:t>
              </a:r>
            </a:p>
          </p:txBody>
        </p:sp>
      </p:grpSp>
      <p:sp>
        <p:nvSpPr>
          <p:cNvPr id="173" name="Text 22"/>
          <p:cNvSpPr/>
          <p:nvPr/>
        </p:nvSpPr>
        <p:spPr>
          <a:xfrm>
            <a:off x="805910" y="5613532"/>
            <a:ext cx="8761226" cy="325343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System-Level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메모리의 효율적 활용을 위해 이기종 메모리 환경 기반 데이터 </a:t>
            </a:r>
            <a:r>
              <a:rPr lang="ko-KR" altLang="en-US" sz="1200" b="1" dirty="0" err="1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이동〮배치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구조 필요 </a:t>
            </a:r>
            <a:endParaRPr lang="en-US" altLang="ko-KR" sz="1200" b="1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40" name="오른쪽 화살표 39"/>
          <p:cNvSpPr/>
          <p:nvPr/>
        </p:nvSpPr>
        <p:spPr>
          <a:xfrm>
            <a:off x="284845" y="5625163"/>
            <a:ext cx="412417" cy="276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Fig_AsIs_vLLM_Native"/>
          <p:cNvGrpSpPr/>
          <p:nvPr/>
        </p:nvGrpSpPr>
        <p:grpSpPr>
          <a:xfrm>
            <a:off x="457200" y="1106043"/>
            <a:ext cx="5349240" cy="4177449"/>
            <a:chOff x="457200" y="1115568"/>
            <a:chExt cx="5349240" cy="4177449"/>
          </a:xfrm>
        </p:grpSpPr>
        <p:sp>
          <p:nvSpPr>
            <p:cNvPr id="501" name="AsIs Engine 501"/>
            <p:cNvSpPr/>
            <p:nvPr/>
          </p:nvSpPr>
          <p:spPr>
            <a:xfrm>
              <a:off x="457200" y="1115568"/>
              <a:ext cx="5349240" cy="5600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endParaRPr sz="800"/>
            </a:p>
          </p:txBody>
        </p:sp>
        <p:sp>
          <p:nvSpPr>
            <p:cNvPr id="502" name="AsIs TextBox 502"/>
            <p:cNvSpPr txBox="1"/>
            <p:nvPr/>
          </p:nvSpPr>
          <p:spPr>
            <a:xfrm>
              <a:off x="512064" y="1160000"/>
              <a:ext cx="5239512" cy="15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lang="ko-KR"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vLLM (Inference Engine)</a:t>
              </a:r>
            </a:p>
          </p:txBody>
        </p:sp>
        <p:sp>
          <p:nvSpPr>
            <p:cNvPr id="506" name="AsIs MissingLayer 506"/>
            <p:cNvSpPr/>
            <p:nvPr/>
          </p:nvSpPr>
          <p:spPr>
            <a:xfrm>
              <a:off x="457200" y="1790000"/>
              <a:ext cx="5349240" cy="11800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C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endParaRPr sz="800"/>
            </a:p>
          </p:txBody>
        </p:sp>
        <p:sp>
          <p:nvSpPr>
            <p:cNvPr id="507" name="AsIs TextBox 507"/>
            <p:cNvSpPr txBox="1"/>
            <p:nvPr/>
          </p:nvSpPr>
          <p:spPr>
            <a:xfrm>
              <a:off x="512064" y="1830000"/>
              <a:ext cx="5239512" cy="17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lang="ko-KR" sz="9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이기종 메모리 aware Migration Layer  —  vLLM에 없음 (부재)</a:t>
              </a:r>
            </a:p>
          </p:txBody>
        </p:sp>
        <p:sp>
          <p:nvSpPr>
            <p:cNvPr id="508" name="AsIs Missing 508"/>
            <p:cNvSpPr/>
            <p:nvPr/>
          </p:nvSpPr>
          <p:spPr>
            <a:xfrm>
              <a:off x="512064" y="2080000"/>
              <a:ext cx="1706504" cy="400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0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Data Object Registry</a:t>
              </a:r>
            </a:p>
          </p:txBody>
        </p:sp>
        <p:sp>
          <p:nvSpPr>
            <p:cNvPr id="509" name="AsIs Missing 509"/>
            <p:cNvSpPr/>
            <p:nvPr/>
          </p:nvSpPr>
          <p:spPr>
            <a:xfrm>
              <a:off x="2278568" y="2080000"/>
              <a:ext cx="1706504" cy="400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0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Migration Scheduler</a:t>
              </a:r>
            </a:p>
            <a:p>
              <a:pPr algn="ctr"/>
              <a:r>
                <a:rPr lang="ko-KR" sz="80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(Monitor·Predict)</a:t>
              </a:r>
            </a:p>
          </p:txBody>
        </p:sp>
        <p:sp>
          <p:nvSpPr>
            <p:cNvPr id="510" name="AsIs Missing 510"/>
            <p:cNvSpPr/>
            <p:nvPr/>
          </p:nvSpPr>
          <p:spPr>
            <a:xfrm>
              <a:off x="4045072" y="2080000"/>
              <a:ext cx="1706504" cy="40000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0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511" name="AsIs TextBox 511"/>
            <p:cNvSpPr txBox="1"/>
            <p:nvPr/>
          </p:nvSpPr>
          <p:spPr>
            <a:xfrm>
              <a:off x="512064" y="2540000"/>
              <a:ext cx="5239512" cy="380000"/>
            </a:xfrm>
            <a:prstGeom prst="rect">
              <a:avLst/>
            </a:prstGeom>
            <a:noFill/>
          </p:spPr>
          <p:txBody>
            <a:bodyPr wrap="square" lIns="0" tIns="0" rIns="0" bIns="0" anchor="t"/>
            <a:lstStyle/>
            <a:p>
              <a:pPr algn="l"/>
              <a:r>
                <a:rPr lang="ko-KR" sz="800" b="0" dirty="0">
                  <a:solidFill>
                    <a:srgbClr val="C00000"/>
                  </a:solidFill>
                  <a:latin typeface="맑은 고딕"/>
                  <a:ea typeface="맑은 고딕"/>
                </a:rPr>
                <a:t>✕ 데이터 타입(KV·Weight·LoRA·Expert) 인지 없음</a:t>
              </a:r>
            </a:p>
            <a:p>
              <a:pPr algn="l"/>
              <a:r>
                <a:rPr lang="ko-KR" sz="800" b="0" dirty="0">
                  <a:solidFill>
                    <a:srgbClr val="C00000"/>
                  </a:solidFill>
                  <a:latin typeface="맑은 고딕"/>
                  <a:ea typeface="맑은 고딕"/>
                </a:rPr>
                <a:t>✕ 메모리 특성(BW·Latency·용량) 기반 배치·사전 이동 없음</a:t>
              </a:r>
            </a:p>
          </p:txBody>
        </p:sp>
        <p:sp>
          <p:nvSpPr>
            <p:cNvPr id="520" name="AsIs Mem 520"/>
            <p:cNvSpPr/>
            <p:nvPr/>
          </p:nvSpPr>
          <p:spPr>
            <a:xfrm>
              <a:off x="1755013" y="3919314"/>
              <a:ext cx="1272378" cy="2800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5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CPU DRAM</a:t>
              </a:r>
            </a:p>
          </p:txBody>
        </p:sp>
        <p:sp>
          <p:nvSpPr>
            <p:cNvPr id="521" name="AsIs Mem 521"/>
            <p:cNvSpPr/>
            <p:nvPr/>
          </p:nvSpPr>
          <p:spPr>
            <a:xfrm>
              <a:off x="3167606" y="3919314"/>
              <a:ext cx="1272378" cy="280000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5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Disk SSD</a:t>
              </a:r>
            </a:p>
          </p:txBody>
        </p:sp>
        <p:sp>
          <p:nvSpPr>
            <p:cNvPr id="522" name="AsIs MemNew 522"/>
            <p:cNvSpPr/>
            <p:nvPr/>
          </p:nvSpPr>
          <p:spPr>
            <a:xfrm>
              <a:off x="4552932" y="3919314"/>
              <a:ext cx="1156707" cy="280000"/>
            </a:xfrm>
            <a:prstGeom prst="rect">
              <a:avLst/>
            </a:prstGeom>
            <a:solidFill>
              <a:srgbClr val="FDECEA"/>
            </a:solidFill>
            <a:ln w="9525">
              <a:solidFill>
                <a:srgbClr val="C00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ko-KR" sz="85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신규 메모리 ✕</a:t>
              </a:r>
            </a:p>
          </p:txBody>
        </p:sp>
        <p:sp>
          <p:nvSpPr>
            <p:cNvPr id="523" name="AsIs TextBox 523"/>
            <p:cNvSpPr txBox="1"/>
            <p:nvPr/>
          </p:nvSpPr>
          <p:spPr>
            <a:xfrm>
              <a:off x="1776161" y="4263766"/>
              <a:ext cx="2782889" cy="150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l"/>
              <a:r>
                <a:rPr lang="ko-KR" sz="75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Tier 고정(HBM·DRAM·SSD) — 신규 메모리 대응 I/</a:t>
              </a:r>
              <a:r>
                <a:rPr lang="ko-KR" sz="750" b="0" dirty="0" err="1">
                  <a:solidFill>
                    <a:srgbClr val="7F7F7F"/>
                  </a:solidFill>
                  <a:latin typeface="맑은 고딕"/>
                  <a:ea typeface="맑은 고딕"/>
                </a:rPr>
                <a:t>F</a:t>
              </a:r>
              <a:r>
                <a:rPr lang="ko-KR" sz="750" b="0" dirty="0">
                  <a:solidFill>
                    <a:srgbClr val="7F7F7F"/>
                  </a:solidFill>
                  <a:latin typeface="맑은 고딕"/>
                  <a:ea typeface="맑은 고딕"/>
                </a:rPr>
                <a:t> 없음</a:t>
              </a:r>
            </a:p>
          </p:txBody>
        </p:sp>
        <p:sp>
          <p:nvSpPr>
            <p:cNvPr id="524" name="AsIs Note 524"/>
            <p:cNvSpPr/>
            <p:nvPr/>
          </p:nvSpPr>
          <p:spPr>
            <a:xfrm>
              <a:off x="457200" y="4523859"/>
              <a:ext cx="5349240" cy="76915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54864" rIns="54864" bIns="54864" rtlCol="0" anchor="ctr"/>
            <a:lstStyle/>
            <a:p>
              <a:pPr algn="l">
                <a:lnSpc>
                  <a:spcPct val="120000"/>
                </a:lnSpc>
              </a:pPr>
              <a:r>
                <a:rPr 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① </a:t>
              </a:r>
              <a:r>
                <a:rPr lang="en-US" alt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Data</a:t>
              </a:r>
              <a:r>
                <a:rPr 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 Migration Layer 부재 → 데이터 특성 무관, 타입별 LRU·고정 정책</a:t>
              </a:r>
            </a:p>
            <a:p>
              <a:pPr algn="l">
                <a:lnSpc>
                  <a:spcPct val="120000"/>
                </a:lnSpc>
              </a:pPr>
              <a:r>
                <a:rPr 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② 메모리 </a:t>
              </a:r>
              <a:r>
                <a:rPr lang="ko-KR" sz="950" b="0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Tier</a:t>
              </a:r>
              <a:r>
                <a:rPr lang="ko-KR" altLang="en-US" sz="950" dirty="0" err="1">
                  <a:solidFill>
                    <a:srgbClr val="3A3A3A"/>
                  </a:solidFill>
                  <a:latin typeface="맑은 고딕"/>
                  <a:ea typeface="맑은 고딕"/>
                </a:rPr>
                <a:t>별</a:t>
              </a:r>
              <a:r>
                <a:rPr lang="ko-KR" altLang="en-US" sz="950" dirty="0">
                  <a:solidFill>
                    <a:srgbClr val="3A3A3A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50" dirty="0">
                  <a:solidFill>
                    <a:srgbClr val="3A3A3A"/>
                  </a:solidFill>
                  <a:latin typeface="맑은 고딕"/>
                  <a:ea typeface="맑은 고딕"/>
                </a:rPr>
                <a:t>Backend</a:t>
              </a:r>
              <a:r>
                <a:rPr 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 고정 → 신규 메모리마다 타입별 코드 수정</a:t>
              </a:r>
            </a:p>
            <a:p>
              <a:pPr algn="l">
                <a:lnSpc>
                  <a:spcPct val="120000"/>
                </a:lnSpc>
              </a:pPr>
              <a:r>
                <a:rPr lang="ko-KR" sz="950" b="0" dirty="0">
                  <a:solidFill>
                    <a:srgbClr val="3A3A3A"/>
                  </a:solidFill>
                  <a:latin typeface="맑은 고딕"/>
                  <a:ea typeface="맑은 고딕"/>
                </a:rPr>
                <a:t>③ 이동은 반응형(부족 시 Evict·Preempt·Miss 조회), 사전 예측 없음</a:t>
              </a:r>
            </a:p>
          </p:txBody>
        </p:sp>
        <p:sp>
          <p:nvSpPr>
            <p:cNvPr id="143" name="AsIs Mem 520">
              <a:extLst>
                <a:ext uri="{FF2B5EF4-FFF2-40B4-BE49-F238E27FC236}">
                  <a16:creationId xmlns:a16="http://schemas.microsoft.com/office/drawing/2014/main" id="{895FA672-34D4-4B38-BAC1-276D775DEDD6}"/>
                </a:ext>
              </a:extLst>
            </p:cNvPr>
            <p:cNvSpPr/>
            <p:nvPr/>
          </p:nvSpPr>
          <p:spPr>
            <a:xfrm>
              <a:off x="1755013" y="3447915"/>
              <a:ext cx="1272378" cy="28000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ko-KR"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LocalCPUBackend</a:t>
              </a:r>
              <a:endParaRPr lang="ko-KR" altLang="en-US" sz="9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4" name="AsIs Mem 521">
              <a:extLst>
                <a:ext uri="{FF2B5EF4-FFF2-40B4-BE49-F238E27FC236}">
                  <a16:creationId xmlns:a16="http://schemas.microsoft.com/office/drawing/2014/main" id="{963741BC-C4FF-49DD-A18B-A2DC84E7EB73}"/>
                </a:ext>
              </a:extLst>
            </p:cNvPr>
            <p:cNvSpPr/>
            <p:nvPr/>
          </p:nvSpPr>
          <p:spPr>
            <a:xfrm>
              <a:off x="3167606" y="3455711"/>
              <a:ext cx="1272378" cy="28000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altLang="ko-KR"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LocalDiskBackend</a:t>
              </a:r>
              <a:endParaRPr lang="ko-KR" altLang="en-US" sz="9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4" name="Fig_ToBe_HeteroMigration"/>
          <p:cNvGrpSpPr/>
          <p:nvPr/>
        </p:nvGrpSpPr>
        <p:grpSpPr>
          <a:xfrm>
            <a:off x="6382512" y="1115568"/>
            <a:ext cx="5498592" cy="4285171"/>
            <a:chOff x="6382512" y="1115568"/>
            <a:chExt cx="5498592" cy="4285171"/>
          </a:xfrm>
        </p:grpSpPr>
        <p:sp>
          <p:nvSpPr>
            <p:cNvPr id="261" name="Rectangle 260"/>
            <p:cNvSpPr/>
            <p:nvPr/>
          </p:nvSpPr>
          <p:spPr>
            <a:xfrm>
              <a:off x="6382512" y="1115568"/>
              <a:ext cx="5458968" cy="64008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6437376" y="1174334"/>
              <a:ext cx="534924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Inference Engine / KV Offload Engine (</a:t>
              </a:r>
              <a:r>
                <a:rPr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기존</a:t>
              </a:r>
              <a:r>
                <a:rPr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 I/F </a:t>
              </a:r>
              <a:r>
                <a:rPr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유지</a:t>
              </a:r>
              <a:r>
                <a:rPr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)</a:t>
              </a:r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473952" y="1371600"/>
              <a:ext cx="987552" cy="27432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Scheduler</a:t>
              </a:r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872984" y="1371600"/>
              <a:ext cx="987552" cy="27432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KV Cache </a:t>
              </a:r>
              <a:r>
                <a:rPr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M</a:t>
              </a:r>
              <a:r>
                <a:rPr lang="en-US" sz="9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gr</a:t>
              </a:r>
              <a:endParaRPr sz="9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9272016" y="1371600"/>
              <a:ext cx="987552" cy="27432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900" b="1">
                  <a:solidFill>
                    <a:srgbClr val="1A1A1A"/>
                  </a:solidFill>
                  <a:latin typeface="맑은 고딕"/>
                  <a:ea typeface="맑은 고딕"/>
                </a:rPr>
                <a:t>KV Connector</a:t>
              </a:r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10671048" y="1371600"/>
              <a:ext cx="1051560" cy="274320"/>
            </a:xfrm>
            <a:prstGeom prst="rect">
              <a:avLst/>
            </a:prstGeom>
            <a:solidFill>
              <a:srgbClr val="DAE3F3"/>
            </a:solidFill>
            <a:ln w="9525">
              <a:solidFill>
                <a:srgbClr val="4472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lang="en-US" sz="9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Model Runner</a:t>
              </a:r>
              <a:endParaRPr sz="9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68" name="Connector 267"/>
            <p:cNvCxnSpPr/>
            <p:nvPr/>
          </p:nvCxnSpPr>
          <p:spPr>
            <a:xfrm>
              <a:off x="8057798" y="1755648"/>
              <a:ext cx="0" cy="256032"/>
            </a:xfrm>
            <a:prstGeom prst="line">
              <a:avLst/>
            </a:prstGeom>
            <a:ln w="15875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8121806" y="1811515"/>
              <a:ext cx="201168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C55A11"/>
                  </a:solidFill>
                  <a:latin typeface="맑은 고딕"/>
                  <a:ea typeface="맑은 고딕"/>
                </a:rPr>
                <a:t>Event push(비동기): 요청·Tool 호출·Access</a:t>
              </a:r>
            </a:p>
          </p:txBody>
        </p:sp>
        <p:cxnSp>
          <p:nvCxnSpPr>
            <p:cNvPr id="270" name="Connector 269"/>
            <p:cNvCxnSpPr/>
            <p:nvPr/>
          </p:nvCxnSpPr>
          <p:spPr>
            <a:xfrm flipV="1">
              <a:off x="11338560" y="1755648"/>
              <a:ext cx="0" cy="256032"/>
            </a:xfrm>
            <a:prstGeom prst="line">
              <a:avLst/>
            </a:prstGeom>
            <a:ln w="15875">
              <a:solidFill>
                <a:srgbClr val="4472C4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TextBox 270"/>
            <p:cNvSpPr txBox="1"/>
            <p:nvPr/>
          </p:nvSpPr>
          <p:spPr>
            <a:xfrm>
              <a:off x="10469880" y="1811515"/>
              <a:ext cx="82296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700" b="0" dirty="0" err="1">
                  <a:solidFill>
                    <a:srgbClr val="4472C4"/>
                  </a:solidFill>
                  <a:latin typeface="맑은 고딕"/>
                  <a:ea typeface="맑은 고딕"/>
                </a:rPr>
                <a:t>위치</a:t>
              </a:r>
              <a:r>
                <a:rPr sz="700" b="0" dirty="0">
                  <a:solidFill>
                    <a:srgbClr val="4472C4"/>
                  </a:solidFill>
                  <a:latin typeface="맑은 고딕"/>
                  <a:ea typeface="맑은 고딕"/>
                </a:rPr>
                <a:t> </a:t>
              </a:r>
              <a:r>
                <a:rPr sz="700" b="0" dirty="0" err="1">
                  <a:solidFill>
                    <a:srgbClr val="4472C4"/>
                  </a:solidFill>
                  <a:latin typeface="맑은 고딕"/>
                  <a:ea typeface="맑은 고딕"/>
                </a:rPr>
                <a:t>조회</a:t>
              </a:r>
              <a:r>
                <a:rPr sz="700" b="0" dirty="0">
                  <a:solidFill>
                    <a:srgbClr val="4472C4"/>
                  </a:solidFill>
                  <a:latin typeface="맑은 고딕"/>
                  <a:ea typeface="맑은 고딕"/>
                </a:rPr>
                <a:t> / Hint</a:t>
              </a: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6422136" y="2012341"/>
              <a:ext cx="5458968" cy="2395728"/>
            </a:xfrm>
            <a:prstGeom prst="rect">
              <a:avLst/>
            </a:prstGeom>
            <a:solidFill>
              <a:srgbClr val="FFFBF8"/>
            </a:solidFill>
            <a:ln w="127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6437376" y="2070446"/>
              <a:ext cx="534924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900" b="1">
                  <a:solidFill>
                    <a:srgbClr val="C55A11"/>
                  </a:solidFill>
                  <a:latin typeface="맑은 고딕"/>
                  <a:ea typeface="맑은 고딕"/>
                </a:rPr>
                <a:t>이기종 메모리 aware Migration Layer (신규)</a:t>
              </a: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6473952" y="2286000"/>
              <a:ext cx="1234440" cy="2011680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6492240" y="2325028"/>
              <a:ext cx="1197864" cy="12311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Data Object Registry</a:t>
              </a: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537960" y="2594584"/>
              <a:ext cx="1106424" cy="25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KV (System Prompt)</a:t>
              </a:r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6537960" y="2919254"/>
              <a:ext cx="1106424" cy="25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KV (Agent Memory)</a:t>
              </a:r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6537960" y="3243924"/>
              <a:ext cx="1106424" cy="25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LoRA Adapter</a:t>
              </a:r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6537960" y="3568594"/>
              <a:ext cx="1106424" cy="2514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MoE</a:t>
              </a:r>
              <a:r>
                <a:rPr sz="8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 Expert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92240" y="3942067"/>
              <a:ext cx="1197864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</a:rPr>
                <a:t>Class별 Metadata</a:t>
              </a: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6492240" y="4097515"/>
              <a:ext cx="1197864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</a:rPr>
                <a:t>(Reuse · Lifetime · Tool)</a:t>
              </a:r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10515600" y="2286000"/>
              <a:ext cx="1234440" cy="201168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10533888" y="2325028"/>
              <a:ext cx="1197864" cy="12311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Resource Manager</a:t>
              </a:r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10579608" y="2542032"/>
              <a:ext cx="1106424" cy="6766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Telemetry </a:t>
              </a:r>
              <a:endParaRPr lang="en-US" sz="10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Collector</a:t>
              </a:r>
              <a:endParaRPr lang="en-US" sz="10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10579608" y="3353892"/>
              <a:ext cx="1106424" cy="685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Memory </a:t>
              </a:r>
              <a:endParaRPr lang="en-US" sz="10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Registry</a:t>
              </a:r>
              <a:endParaRPr lang="en-US" sz="1000" b="1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7882127" y="2286000"/>
              <a:ext cx="2468880" cy="274320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900" b="1">
                  <a:solidFill>
                    <a:srgbClr val="1A1A1A"/>
                  </a:solidFill>
                  <a:latin typeface="맑은 고딕"/>
                  <a:ea typeface="맑은 고딕"/>
                </a:rPr>
                <a:t>Migration Scheduler</a:t>
              </a:r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882127" y="2695887"/>
              <a:ext cx="2468880" cy="349135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Monitor</a:t>
              </a:r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882127" y="3207570"/>
              <a:ext cx="2468880" cy="349135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00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Analyze / Predict</a:t>
              </a:r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7882127" y="3682518"/>
              <a:ext cx="2468880" cy="331927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10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Destination Tier · </a:t>
              </a:r>
              <a:endParaRPr lang="en-US" sz="1000" b="1" dirty="0">
                <a:solidFill>
                  <a:srgbClr val="FFFFFF"/>
                </a:solidFill>
                <a:latin typeface="맑은 고딕"/>
                <a:ea typeface="맑은 고딕"/>
              </a:endParaRPr>
            </a:p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Migration </a:t>
              </a:r>
              <a:r>
                <a:rPr sz="10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Data </a:t>
              </a:r>
              <a:r>
                <a:rPr lang="en-US" sz="10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Selector</a:t>
              </a:r>
              <a:endParaRPr sz="1000" b="1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91" name="Connector 290"/>
            <p:cNvCxnSpPr/>
            <p:nvPr/>
          </p:nvCxnSpPr>
          <p:spPr>
            <a:xfrm>
              <a:off x="9116567" y="2560320"/>
              <a:ext cx="0" cy="137160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onnector 291"/>
            <p:cNvCxnSpPr/>
            <p:nvPr/>
          </p:nvCxnSpPr>
          <p:spPr>
            <a:xfrm>
              <a:off x="9116567" y="3062478"/>
              <a:ext cx="0" cy="137160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onnector 292"/>
            <p:cNvCxnSpPr/>
            <p:nvPr/>
          </p:nvCxnSpPr>
          <p:spPr>
            <a:xfrm>
              <a:off x="9116567" y="3564636"/>
              <a:ext cx="0" cy="137160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angle 293"/>
            <p:cNvSpPr/>
            <p:nvPr/>
          </p:nvSpPr>
          <p:spPr>
            <a:xfrm>
              <a:off x="7882127" y="4096512"/>
              <a:ext cx="2468880" cy="237744"/>
            </a:xfrm>
            <a:prstGeom prst="rect">
              <a:avLst/>
            </a:prstGeom>
            <a:solidFill>
              <a:srgbClr val="F2F2F2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900" b="1">
                  <a:solidFill>
                    <a:srgbClr val="1A1A1A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cxnSp>
          <p:nvCxnSpPr>
            <p:cNvPr id="295" name="Connector 294"/>
            <p:cNvCxnSpPr/>
            <p:nvPr/>
          </p:nvCxnSpPr>
          <p:spPr>
            <a:xfrm>
              <a:off x="9116567" y="4014215"/>
              <a:ext cx="0" cy="82297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onnector 295"/>
            <p:cNvCxnSpPr/>
            <p:nvPr/>
          </p:nvCxnSpPr>
          <p:spPr>
            <a:xfrm>
              <a:off x="7708392" y="2889504"/>
              <a:ext cx="173735" cy="0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or 296"/>
            <p:cNvCxnSpPr/>
            <p:nvPr/>
          </p:nvCxnSpPr>
          <p:spPr>
            <a:xfrm>
              <a:off x="7708392" y="3877056"/>
              <a:ext cx="173735" cy="0"/>
            </a:xfrm>
            <a:prstGeom prst="line">
              <a:avLst/>
            </a:prstGeom>
            <a:ln w="12700">
              <a:solidFill>
                <a:srgbClr val="C55A1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onnector 297"/>
            <p:cNvCxnSpPr/>
            <p:nvPr/>
          </p:nvCxnSpPr>
          <p:spPr>
            <a:xfrm flipH="1">
              <a:off x="10351008" y="2889504"/>
              <a:ext cx="164592" cy="0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nector 298"/>
            <p:cNvCxnSpPr/>
            <p:nvPr/>
          </p:nvCxnSpPr>
          <p:spPr>
            <a:xfrm flipH="1">
              <a:off x="10351008" y="3877056"/>
              <a:ext cx="164592" cy="0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ounded Rectangle 299"/>
            <p:cNvSpPr/>
            <p:nvPr/>
          </p:nvSpPr>
          <p:spPr>
            <a:xfrm>
              <a:off x="11183111" y="2048256"/>
              <a:ext cx="566928" cy="182880"/>
            </a:xfrm>
            <a:prstGeom prst="roundRect">
              <a:avLst>
                <a:gd name="adj" fmla="val 12000"/>
              </a:avLst>
            </a:prstGeom>
            <a:solidFill>
              <a:srgbClr val="006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맑은 고딕"/>
                  <a:ea typeface="맑은 고딕"/>
                </a:rPr>
                <a:t>쟁점 1</a:t>
              </a:r>
            </a:p>
          </p:txBody>
        </p:sp>
        <p:cxnSp>
          <p:nvCxnSpPr>
            <p:cNvPr id="301" name="Connector 300"/>
            <p:cNvCxnSpPr/>
            <p:nvPr/>
          </p:nvCxnSpPr>
          <p:spPr>
            <a:xfrm>
              <a:off x="11132820" y="4297680"/>
              <a:ext cx="0" cy="228600"/>
            </a:xfrm>
            <a:prstGeom prst="line">
              <a:avLst/>
            </a:prstGeom>
            <a:ln w="15875">
              <a:solidFill>
                <a:srgbClr val="C55A1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Rectangle 301"/>
            <p:cNvSpPr/>
            <p:nvPr/>
          </p:nvSpPr>
          <p:spPr>
            <a:xfrm>
              <a:off x="6382512" y="4526280"/>
              <a:ext cx="5458968" cy="274320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 dirty="0" err="1">
                  <a:solidFill>
                    <a:srgbClr val="FFFFFF"/>
                  </a:solidFill>
                  <a:latin typeface="맑은 고딕"/>
                  <a:ea typeface="맑은 고딕"/>
                </a:rPr>
                <a:t>공통</a:t>
              </a:r>
              <a:r>
                <a:rPr sz="80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 Memory Backend I/F (Plug-in)</a:t>
              </a:r>
            </a:p>
          </p:txBody>
        </p:sp>
        <p:sp>
          <p:nvSpPr>
            <p:cNvPr id="303" name="Rounded Rectangle 302"/>
            <p:cNvSpPr/>
            <p:nvPr/>
          </p:nvSpPr>
          <p:spPr>
            <a:xfrm>
              <a:off x="11219688" y="4562856"/>
              <a:ext cx="566928" cy="201168"/>
            </a:xfrm>
            <a:prstGeom prst="roundRect">
              <a:avLst>
                <a:gd name="adj" fmla="val 12000"/>
              </a:avLst>
            </a:prstGeom>
            <a:solidFill>
              <a:srgbClr val="0066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맑은 고딕"/>
                  <a:ea typeface="맑은 고딕"/>
                </a:rPr>
                <a:t>쟁점 2</a:t>
              </a:r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6382512" y="4892040"/>
              <a:ext cx="621792" cy="274320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HBM</a:t>
              </a:r>
            </a:p>
          </p:txBody>
        </p:sp>
        <p:cxnSp>
          <p:nvCxnSpPr>
            <p:cNvPr id="305" name="Connector 304"/>
            <p:cNvCxnSpPr/>
            <p:nvPr/>
          </p:nvCxnSpPr>
          <p:spPr>
            <a:xfrm>
              <a:off x="6693408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7075627" y="4892040"/>
              <a:ext cx="621792" cy="274320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ScHBM</a:t>
              </a:r>
            </a:p>
          </p:txBody>
        </p:sp>
        <p:cxnSp>
          <p:nvCxnSpPr>
            <p:cNvPr id="307" name="Connector 306"/>
            <p:cNvCxnSpPr/>
            <p:nvPr/>
          </p:nvCxnSpPr>
          <p:spPr>
            <a:xfrm>
              <a:off x="7386523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Rectangle 307"/>
            <p:cNvSpPr/>
            <p:nvPr/>
          </p:nvSpPr>
          <p:spPr>
            <a:xfrm>
              <a:off x="7768742" y="4892040"/>
              <a:ext cx="621792" cy="274320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DRAM</a:t>
              </a:r>
            </a:p>
          </p:txBody>
        </p:sp>
        <p:cxnSp>
          <p:nvCxnSpPr>
            <p:cNvPr id="309" name="Connector 308"/>
            <p:cNvCxnSpPr/>
            <p:nvPr/>
          </p:nvCxnSpPr>
          <p:spPr>
            <a:xfrm>
              <a:off x="8079638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Rectangle 309"/>
            <p:cNvSpPr/>
            <p:nvPr/>
          </p:nvSpPr>
          <p:spPr>
            <a:xfrm>
              <a:off x="8461857" y="4892040"/>
              <a:ext cx="621792" cy="274320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CXL-PNM</a:t>
              </a:r>
            </a:p>
          </p:txBody>
        </p:sp>
        <p:cxnSp>
          <p:nvCxnSpPr>
            <p:cNvPr id="311" name="Connector 310"/>
            <p:cNvCxnSpPr/>
            <p:nvPr/>
          </p:nvCxnSpPr>
          <p:spPr>
            <a:xfrm>
              <a:off x="8772753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Rectangle 311"/>
            <p:cNvSpPr/>
            <p:nvPr/>
          </p:nvSpPr>
          <p:spPr>
            <a:xfrm>
              <a:off x="9154972" y="4892040"/>
              <a:ext cx="621792" cy="274320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HBF</a:t>
              </a:r>
            </a:p>
          </p:txBody>
        </p:sp>
        <p:cxnSp>
          <p:nvCxnSpPr>
            <p:cNvPr id="313" name="Connector 312"/>
            <p:cNvCxnSpPr/>
            <p:nvPr/>
          </p:nvCxnSpPr>
          <p:spPr>
            <a:xfrm>
              <a:off x="9465868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Rectangle 313"/>
            <p:cNvSpPr/>
            <p:nvPr/>
          </p:nvSpPr>
          <p:spPr>
            <a:xfrm>
              <a:off x="9848088" y="4892040"/>
              <a:ext cx="621792" cy="274320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SSD</a:t>
              </a:r>
            </a:p>
          </p:txBody>
        </p:sp>
        <p:cxnSp>
          <p:nvCxnSpPr>
            <p:cNvPr id="315" name="Connector 314"/>
            <p:cNvCxnSpPr/>
            <p:nvPr/>
          </p:nvCxnSpPr>
          <p:spPr>
            <a:xfrm>
              <a:off x="10158984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Rectangle 315"/>
            <p:cNvSpPr/>
            <p:nvPr/>
          </p:nvSpPr>
          <p:spPr>
            <a:xfrm>
              <a:off x="10541203" y="4892040"/>
              <a:ext cx="621792" cy="274320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1A1A1A"/>
                  </a:solidFill>
                  <a:latin typeface="맑은 고딕"/>
                  <a:ea typeface="맑은 고딕"/>
                </a:rPr>
                <a:t>SSD-PIM</a:t>
              </a:r>
            </a:p>
          </p:txBody>
        </p:sp>
        <p:cxnSp>
          <p:nvCxnSpPr>
            <p:cNvPr id="317" name="Connector 316"/>
            <p:cNvCxnSpPr/>
            <p:nvPr/>
          </p:nvCxnSpPr>
          <p:spPr>
            <a:xfrm>
              <a:off x="10852099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8" name="Rectangle 317"/>
            <p:cNvSpPr/>
            <p:nvPr/>
          </p:nvSpPr>
          <p:spPr>
            <a:xfrm>
              <a:off x="11234318" y="4892040"/>
              <a:ext cx="621792" cy="274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55A1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/>
              <a:r>
                <a:rPr sz="800" b="1">
                  <a:solidFill>
                    <a:srgbClr val="C55A11"/>
                  </a:solidFill>
                  <a:latin typeface="맑은 고딕"/>
                  <a:ea typeface="맑은 고딕"/>
                </a:rPr>
                <a:t>+ New</a:t>
              </a:r>
            </a:p>
          </p:txBody>
        </p:sp>
        <p:cxnSp>
          <p:nvCxnSpPr>
            <p:cNvPr id="319" name="Connector 318"/>
            <p:cNvCxnSpPr/>
            <p:nvPr/>
          </p:nvCxnSpPr>
          <p:spPr>
            <a:xfrm>
              <a:off x="11545214" y="4800600"/>
              <a:ext cx="0" cy="91440"/>
            </a:xfrm>
            <a:prstGeom prst="line">
              <a:avLst/>
            </a:prstGeom>
            <a:ln w="9525">
              <a:solidFill>
                <a:srgbClr val="7F7F7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0" name="Rectangle 319"/>
            <p:cNvSpPr/>
            <p:nvPr/>
          </p:nvSpPr>
          <p:spPr>
            <a:xfrm>
              <a:off x="9948672" y="5257800"/>
              <a:ext cx="146304" cy="109728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321" name="TextBox 320"/>
            <p:cNvSpPr txBox="1"/>
            <p:nvPr/>
          </p:nvSpPr>
          <p:spPr>
            <a:xfrm>
              <a:off x="10131552" y="5258803"/>
              <a:ext cx="73152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</a:rPr>
                <a:t>신규 메모리</a:t>
              </a:r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10908792" y="5257800"/>
              <a:ext cx="146304" cy="109728"/>
            </a:xfrm>
            <a:prstGeom prst="rect">
              <a:avLst/>
            </a:prstGeom>
            <a:solidFill>
              <a:srgbClr val="E7E6E6"/>
            </a:solidFill>
            <a:ln w="6350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/>
              <a:endParaRPr sz="2000"/>
            </a:p>
          </p:txBody>
        </p:sp>
        <p:sp>
          <p:nvSpPr>
            <p:cNvPr id="323" name="TextBox 322"/>
            <p:cNvSpPr txBox="1"/>
            <p:nvPr/>
          </p:nvSpPr>
          <p:spPr>
            <a:xfrm>
              <a:off x="11091672" y="5258803"/>
              <a:ext cx="73152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</a:rPr>
                <a:t>기존 메모리</a:t>
              </a:r>
            </a:p>
          </p:txBody>
        </p:sp>
        <p:sp>
          <p:nvSpPr>
            <p:cNvPr id="324" name="TextBox 323"/>
            <p:cNvSpPr txBox="1"/>
            <p:nvPr/>
          </p:nvSpPr>
          <p:spPr>
            <a:xfrm>
              <a:off x="6382512" y="5293017"/>
              <a:ext cx="3291840" cy="10772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※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</a:rPr>
                <a:t>추상화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 뷰 —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</a:rPr>
                <a:t>상세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</a:rPr>
                <a:t>구조는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</a:rPr>
                <a:t>설계</a:t>
              </a:r>
              <a:r>
                <a:rPr lang="ko-KR" altLang="en-US" sz="700" dirty="0">
                  <a:solidFill>
                    <a:srgbClr val="595959"/>
                  </a:solidFill>
                  <a:latin typeface="맑은 고딕"/>
                  <a:ea typeface="맑은 고딕"/>
                </a:rPr>
                <a:t>페이지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</a:rPr>
                <a:t>참조</a:t>
              </a:r>
              <a:endParaRPr sz="700" b="0" dirty="0">
                <a:solidFill>
                  <a:srgbClr val="595959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16" name="Rectangle 262">
            <a:extLst>
              <a:ext uri="{FF2B5EF4-FFF2-40B4-BE49-F238E27FC236}">
                <a16:creationId xmlns:a16="http://schemas.microsoft.com/office/drawing/2014/main" id="{5E5E24D5-DD07-4B93-AB37-DDD32A3A2D27}"/>
              </a:ext>
            </a:extLst>
          </p:cNvPr>
          <p:cNvSpPr/>
          <p:nvPr/>
        </p:nvSpPr>
        <p:spPr>
          <a:xfrm>
            <a:off x="502920" y="1345886"/>
            <a:ext cx="987552" cy="274320"/>
          </a:xfrm>
          <a:prstGeom prst="rect">
            <a:avLst/>
          </a:prstGeom>
          <a:solidFill>
            <a:srgbClr val="DAE3F3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dirty="0">
                <a:solidFill>
                  <a:srgbClr val="1A1A1A"/>
                </a:solidFill>
                <a:latin typeface="맑은 고딕"/>
                <a:ea typeface="맑은 고딕"/>
              </a:rPr>
              <a:t>Scheduler</a:t>
            </a:r>
          </a:p>
        </p:txBody>
      </p:sp>
      <p:sp>
        <p:nvSpPr>
          <p:cNvPr id="117" name="Rectangle 263">
            <a:extLst>
              <a:ext uri="{FF2B5EF4-FFF2-40B4-BE49-F238E27FC236}">
                <a16:creationId xmlns:a16="http://schemas.microsoft.com/office/drawing/2014/main" id="{74394127-A72E-4631-A782-D747A9EDD11B}"/>
              </a:ext>
            </a:extLst>
          </p:cNvPr>
          <p:cNvSpPr/>
          <p:nvPr/>
        </p:nvSpPr>
        <p:spPr>
          <a:xfrm>
            <a:off x="1901952" y="1345886"/>
            <a:ext cx="987552" cy="274320"/>
          </a:xfrm>
          <a:prstGeom prst="rect">
            <a:avLst/>
          </a:prstGeom>
          <a:solidFill>
            <a:srgbClr val="DAE3F3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dirty="0">
                <a:solidFill>
                  <a:srgbClr val="1A1A1A"/>
                </a:solidFill>
                <a:latin typeface="맑은 고딕"/>
                <a:ea typeface="맑은 고딕"/>
              </a:rPr>
              <a:t>KV Cache </a:t>
            </a:r>
            <a:r>
              <a:rPr sz="900" b="1" dirty="0" err="1">
                <a:solidFill>
                  <a:srgbClr val="1A1A1A"/>
                </a:solidFill>
                <a:latin typeface="맑은 고딕"/>
                <a:ea typeface="맑은 고딕"/>
              </a:rPr>
              <a:t>M</a:t>
            </a:r>
            <a:r>
              <a:rPr lang="en-US" sz="900" b="1" dirty="0" err="1">
                <a:solidFill>
                  <a:srgbClr val="1A1A1A"/>
                </a:solidFill>
                <a:latin typeface="맑은 고딕"/>
                <a:ea typeface="맑은 고딕"/>
              </a:rPr>
              <a:t>gr</a:t>
            </a:r>
            <a:endParaRPr sz="90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118" name="Rectangle 264">
            <a:extLst>
              <a:ext uri="{FF2B5EF4-FFF2-40B4-BE49-F238E27FC236}">
                <a16:creationId xmlns:a16="http://schemas.microsoft.com/office/drawing/2014/main" id="{0EE1B332-E102-4A40-9243-E6E92E237C41}"/>
              </a:ext>
            </a:extLst>
          </p:cNvPr>
          <p:cNvSpPr/>
          <p:nvPr/>
        </p:nvSpPr>
        <p:spPr>
          <a:xfrm>
            <a:off x="3300984" y="1345886"/>
            <a:ext cx="987552" cy="274320"/>
          </a:xfrm>
          <a:prstGeom prst="rect">
            <a:avLst/>
          </a:prstGeom>
          <a:solidFill>
            <a:srgbClr val="DAE3F3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dirty="0">
                <a:solidFill>
                  <a:srgbClr val="1A1A1A"/>
                </a:solidFill>
                <a:latin typeface="맑은 고딕"/>
                <a:ea typeface="맑은 고딕"/>
              </a:rPr>
              <a:t>KV Connector</a:t>
            </a:r>
          </a:p>
        </p:txBody>
      </p:sp>
      <p:sp>
        <p:nvSpPr>
          <p:cNvPr id="119" name="Rectangle 266">
            <a:extLst>
              <a:ext uri="{FF2B5EF4-FFF2-40B4-BE49-F238E27FC236}">
                <a16:creationId xmlns:a16="http://schemas.microsoft.com/office/drawing/2014/main" id="{A3BC80FB-7FE1-4783-895D-524998D7C601}"/>
              </a:ext>
            </a:extLst>
          </p:cNvPr>
          <p:cNvSpPr/>
          <p:nvPr/>
        </p:nvSpPr>
        <p:spPr>
          <a:xfrm>
            <a:off x="4700016" y="1345886"/>
            <a:ext cx="1051560" cy="274320"/>
          </a:xfrm>
          <a:prstGeom prst="rect">
            <a:avLst/>
          </a:prstGeom>
          <a:solidFill>
            <a:srgbClr val="DAE3F3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lang="en-US" sz="900" b="1" dirty="0">
                <a:solidFill>
                  <a:srgbClr val="1A1A1A"/>
                </a:solidFill>
                <a:latin typeface="맑은 고딕"/>
                <a:ea typeface="맑은 고딕"/>
              </a:rPr>
              <a:t>Model Runner</a:t>
            </a:r>
            <a:endParaRPr sz="90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cxnSp>
        <p:nvCxnSpPr>
          <p:cNvPr id="145" name="직선 화살표 연결선 185">
            <a:extLst>
              <a:ext uri="{FF2B5EF4-FFF2-40B4-BE49-F238E27FC236}">
                <a16:creationId xmlns:a16="http://schemas.microsoft.com/office/drawing/2014/main" id="{52794E2E-8A35-4B3D-B9FE-0291022DBE61}"/>
              </a:ext>
            </a:extLst>
          </p:cNvPr>
          <p:cNvCxnSpPr>
            <a:cxnSpLocks/>
            <a:stCxn id="144" idx="2"/>
            <a:endCxn id="521" idx="0"/>
          </p:cNvCxnSpPr>
          <p:nvPr/>
        </p:nvCxnSpPr>
        <p:spPr>
          <a:xfrm>
            <a:off x="3803795" y="3726186"/>
            <a:ext cx="0" cy="183603"/>
          </a:xfrm>
          <a:prstGeom prst="straightConnector1">
            <a:avLst/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48" name="직선 화살표 연결선 185">
            <a:extLst>
              <a:ext uri="{FF2B5EF4-FFF2-40B4-BE49-F238E27FC236}">
                <a16:creationId xmlns:a16="http://schemas.microsoft.com/office/drawing/2014/main" id="{B0C2E324-ABC2-4754-929A-1C39667AF7FF}"/>
              </a:ext>
            </a:extLst>
          </p:cNvPr>
          <p:cNvCxnSpPr>
            <a:cxnSpLocks/>
            <a:stCxn id="143" idx="2"/>
            <a:endCxn id="520" idx="0"/>
          </p:cNvCxnSpPr>
          <p:nvPr/>
        </p:nvCxnSpPr>
        <p:spPr>
          <a:xfrm>
            <a:off x="2391202" y="3718390"/>
            <a:ext cx="0" cy="191399"/>
          </a:xfrm>
          <a:prstGeom prst="straightConnector1">
            <a:avLst/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8" name="Rectangle 263">
            <a:extLst>
              <a:ext uri="{FF2B5EF4-FFF2-40B4-BE49-F238E27FC236}">
                <a16:creationId xmlns:a16="http://schemas.microsoft.com/office/drawing/2014/main" id="{D8E61BB0-BB8A-47CA-A07F-64799B7615A6}"/>
              </a:ext>
            </a:extLst>
          </p:cNvPr>
          <p:cNvSpPr/>
          <p:nvPr/>
        </p:nvSpPr>
        <p:spPr>
          <a:xfrm>
            <a:off x="512064" y="3139679"/>
            <a:ext cx="987552" cy="274320"/>
          </a:xfrm>
          <a:prstGeom prst="rect">
            <a:avLst/>
          </a:prstGeom>
          <a:solidFill>
            <a:srgbClr val="DAE3F3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 dirty="0">
                <a:solidFill>
                  <a:srgbClr val="1A1A1A"/>
                </a:solidFill>
                <a:latin typeface="맑은 고딕"/>
                <a:ea typeface="맑은 고딕"/>
              </a:rPr>
              <a:t>Cache </a:t>
            </a:r>
            <a:r>
              <a:rPr lang="en-US" sz="900" b="1" dirty="0">
                <a:solidFill>
                  <a:srgbClr val="1A1A1A"/>
                </a:solidFill>
                <a:latin typeface="맑은 고딕"/>
                <a:ea typeface="맑은 고딕"/>
              </a:rPr>
              <a:t>Engine</a:t>
            </a:r>
            <a:endParaRPr sz="900" b="1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cxnSp>
        <p:nvCxnSpPr>
          <p:cNvPr id="163" name="직선 화살표 연결선 185">
            <a:extLst>
              <a:ext uri="{FF2B5EF4-FFF2-40B4-BE49-F238E27FC236}">
                <a16:creationId xmlns:a16="http://schemas.microsoft.com/office/drawing/2014/main" id="{912916EE-EF7D-443E-AE48-769792D8E926}"/>
              </a:ext>
            </a:extLst>
          </p:cNvPr>
          <p:cNvCxnSpPr>
            <a:cxnSpLocks/>
            <a:stCxn id="158" idx="3"/>
            <a:endCxn id="143" idx="0"/>
          </p:cNvCxnSpPr>
          <p:nvPr/>
        </p:nvCxnSpPr>
        <p:spPr>
          <a:xfrm>
            <a:off x="1499616" y="3276839"/>
            <a:ext cx="891586" cy="161551"/>
          </a:xfrm>
          <a:prstGeom prst="bentConnector2">
            <a:avLst/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6" name="직선 화살표 연결선 185">
            <a:extLst>
              <a:ext uri="{FF2B5EF4-FFF2-40B4-BE49-F238E27FC236}">
                <a16:creationId xmlns:a16="http://schemas.microsoft.com/office/drawing/2014/main" id="{BF5F7D7D-B7D1-44A3-B298-E859B9769C8C}"/>
              </a:ext>
            </a:extLst>
          </p:cNvPr>
          <p:cNvCxnSpPr>
            <a:cxnSpLocks/>
            <a:stCxn id="158" idx="3"/>
            <a:endCxn id="144" idx="0"/>
          </p:cNvCxnSpPr>
          <p:nvPr/>
        </p:nvCxnSpPr>
        <p:spPr>
          <a:xfrm>
            <a:off x="1499616" y="3276839"/>
            <a:ext cx="2304179" cy="169347"/>
          </a:xfrm>
          <a:prstGeom prst="bentConnector2">
            <a:avLst/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9762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3315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8666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5693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8331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0285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메모리</a:t>
                      </a:r>
                      <a:r>
                        <a:rPr lang="en-US" altLang="ko-KR" sz="1200" b="1" strike="noStrike" baseline="0" dirty="0"/>
                        <a:t> Resource State driven Migration </a:t>
                      </a:r>
                      <a:r>
                        <a:rPr lang="ko-KR" altLang="en-US" sz="1200" b="1" strike="noStrike" baseline="0" dirty="0"/>
                        <a:t>구조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AI Data </a:t>
                      </a:r>
                      <a:r>
                        <a:rPr lang="en-US" altLang="ko-KR" sz="1200" b="1" strike="noStrike" dirty="0"/>
                        <a:t>Behavior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driven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Migration</a:t>
                      </a:r>
                      <a:r>
                        <a:rPr lang="ko-KR" altLang="en-US" sz="1200" b="1" strike="noStrike" dirty="0"/>
                        <a:t> 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낮은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overhead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state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변화에 즉시 반응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메모리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관리에 유리 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특성에 맞는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배치 가능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고속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(High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tier)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메모리의 불필요한 점유 감소 가능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별 접근 특성 반영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Characterization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예측을 위한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 오류 시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-placement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(throughput)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(latency – TTFT, 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(00TPS)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(00ms, 00ms)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(throughput)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(latency – TTFT, 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(00TPS)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00ms, 00ms)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이기종 메모리 환경의 자원 상태 및 </a:t>
            </a:r>
            <a:r>
              <a:rPr lang="en-US" altLang="ko-KR" sz="1400" b="1" dirty="0">
                <a:solidFill>
                  <a:schemeClr val="bg1"/>
                </a:solidFill>
              </a:rPr>
              <a:t>AI Data </a:t>
            </a:r>
            <a:r>
              <a:rPr lang="ko-KR" altLang="en-US" sz="1400" b="1" dirty="0">
                <a:solidFill>
                  <a:schemeClr val="bg1"/>
                </a:solidFill>
              </a:rPr>
              <a:t>특성을 고려한 </a:t>
            </a:r>
            <a:r>
              <a:rPr lang="en-US" altLang="ko-KR" sz="1400" b="1" dirty="0">
                <a:solidFill>
                  <a:schemeClr val="bg1"/>
                </a:solidFill>
              </a:rPr>
              <a:t>Data Migration </a:t>
            </a:r>
            <a:r>
              <a:rPr lang="ko-KR" altLang="en-US" sz="1400" b="1" dirty="0">
                <a:solidFill>
                  <a:schemeClr val="bg1"/>
                </a:solidFill>
              </a:rPr>
              <a:t>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“Data</a:t>
            </a:r>
            <a:r>
              <a:rPr lang="ko-KR" altLang="en-US" sz="1100" dirty="0"/>
              <a:t>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</a:t>
            </a:r>
            <a:r>
              <a:rPr lang="en-US" altLang="ko-KR" sz="1100" dirty="0">
                <a:solidFill>
                  <a:srgbClr val="0066FF"/>
                </a:solidFill>
              </a:rPr>
              <a:t> </a:t>
            </a:r>
            <a:r>
              <a:rPr lang="ko-KR" altLang="en-US" sz="1100" dirty="0">
                <a:solidFill>
                  <a:srgbClr val="0066FF"/>
                </a:solidFill>
              </a:rPr>
              <a:t>자원 상태</a:t>
            </a:r>
            <a:r>
              <a:rPr lang="en-US" altLang="ko-KR" sz="1100" dirty="0">
                <a:solidFill>
                  <a:srgbClr val="0066FF"/>
                </a:solidFill>
              </a:rPr>
              <a:t>(Capacity/BW/Load)</a:t>
            </a:r>
            <a:r>
              <a:rPr lang="ko-KR" altLang="en-US" sz="1100" dirty="0"/>
              <a:t>에 기반한 </a:t>
            </a:r>
            <a:r>
              <a:rPr lang="en-US" altLang="ko-KR" sz="1100" dirty="0"/>
              <a:t>Migration“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en-US" altLang="ko-KR" sz="1100" dirty="0">
                <a:solidFill>
                  <a:srgbClr val="0066FF"/>
                </a:solidFill>
              </a:rPr>
              <a:t>AI Data</a:t>
            </a:r>
            <a:r>
              <a:rPr lang="ko-KR" altLang="en-US" sz="1100" dirty="0">
                <a:solidFill>
                  <a:srgbClr val="0066FF"/>
                </a:solidFill>
              </a:rPr>
              <a:t> 특성</a:t>
            </a:r>
            <a:r>
              <a:rPr lang="en-US" altLang="ko-KR" sz="1100" dirty="0">
                <a:solidFill>
                  <a:srgbClr val="0066FF"/>
                </a:solidFill>
              </a:rPr>
              <a:t>(Type/Hotness/Lifetime/Agent Tool Info </a:t>
            </a:r>
            <a:r>
              <a:rPr lang="ko-KR" altLang="en-US" sz="1100" dirty="0">
                <a:solidFill>
                  <a:srgbClr val="0066FF"/>
                </a:solidFill>
              </a:rPr>
              <a:t>등</a:t>
            </a:r>
            <a:r>
              <a:rPr lang="en-US" altLang="ko-KR" sz="1100" dirty="0">
                <a:solidFill>
                  <a:srgbClr val="0066FF"/>
                </a:solidFill>
              </a:rPr>
              <a:t>)</a:t>
            </a:r>
            <a:r>
              <a:rPr lang="ko-KR" altLang="en-US" sz="1100" dirty="0"/>
              <a:t>에 기반한 </a:t>
            </a:r>
            <a:r>
              <a:rPr lang="en-US" altLang="ko-KR" sz="1100" dirty="0"/>
              <a:t>Migration“</a:t>
            </a:r>
            <a:endParaRPr lang="ko-KR" altLang="en-US" sz="1100" dirty="0"/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727203" y="381265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5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2538668" y="2963227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Resource-based Trend Analyzer</a:t>
            </a:r>
          </a:p>
        </p:txBody>
      </p:sp>
      <p:sp>
        <p:nvSpPr>
          <p:cNvPr id="157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3210857" y="2280321"/>
            <a:ext cx="1147942" cy="326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Resource State Monitor</a:t>
            </a:r>
          </a:p>
        </p:txBody>
      </p:sp>
      <p:cxnSp>
        <p:nvCxnSpPr>
          <p:cNvPr id="16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7" idx="2"/>
            <a:endCxn id="156" idx="0"/>
          </p:cNvCxnSpPr>
          <p:nvPr/>
        </p:nvCxnSpPr>
        <p:spPr>
          <a:xfrm rot="5400000">
            <a:off x="3271115" y="2449513"/>
            <a:ext cx="355983" cy="67144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4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210114" y="4292156"/>
            <a:ext cx="1149429" cy="23142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Executor</a:t>
            </a:r>
          </a:p>
        </p:txBody>
      </p:sp>
      <p:sp>
        <p:nvSpPr>
          <p:cNvPr id="16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74006" y="3565097"/>
            <a:ext cx="1149430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18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74007" y="2961798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Eviction Manager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89" name="직선 화살표 연결선 185">
            <a:extLst>
              <a:ext uri="{FF2B5EF4-FFF2-40B4-BE49-F238E27FC236}">
                <a16:creationId xmlns:a16="http://schemas.microsoft.com/office/drawing/2014/main" id="{978083D3-9687-40FB-9182-FF0D3D8D7808}"/>
              </a:ext>
            </a:extLst>
          </p:cNvPr>
          <p:cNvCxnSpPr>
            <a:cxnSpLocks/>
            <a:stCxn id="186" idx="2"/>
            <a:endCxn id="166" idx="0"/>
          </p:cNvCxnSpPr>
          <p:nvPr/>
        </p:nvCxnSpPr>
        <p:spPr>
          <a:xfrm flipH="1">
            <a:off x="4448721" y="3300627"/>
            <a:ext cx="1" cy="264470"/>
          </a:xfrm>
          <a:prstGeom prst="straightConnector1">
            <a:avLst/>
          </a:prstGeom>
          <a:noFill/>
          <a:ln w="11430">
            <a:solidFill>
              <a:schemeClr val="accent1"/>
            </a:solidFill>
            <a:prstDash val="solid"/>
            <a:headEnd type="none"/>
            <a:tailEnd type="triangle"/>
          </a:ln>
        </p:spPr>
      </p:cxnSp>
      <p:cxnSp>
        <p:nvCxnSpPr>
          <p:cNvPr id="19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7" idx="2"/>
            <a:endCxn id="186" idx="0"/>
          </p:cNvCxnSpPr>
          <p:nvPr/>
        </p:nvCxnSpPr>
        <p:spPr>
          <a:xfrm rot="16200000" flipH="1">
            <a:off x="3939498" y="2452574"/>
            <a:ext cx="354554" cy="66389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91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2538668" y="3564387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19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6" idx="2"/>
            <a:endCxn id="191" idx="0"/>
          </p:cNvCxnSpPr>
          <p:nvPr/>
        </p:nvCxnSpPr>
        <p:spPr>
          <a:xfrm>
            <a:off x="3113383" y="3302056"/>
            <a:ext cx="0" cy="262331"/>
          </a:xfrm>
          <a:prstGeom prst="straightConnector1">
            <a:avLst/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91" idx="2"/>
            <a:endCxn id="164" idx="0"/>
          </p:cNvCxnSpPr>
          <p:nvPr/>
        </p:nvCxnSpPr>
        <p:spPr>
          <a:xfrm rot="16200000" flipH="1">
            <a:off x="3254636" y="3761963"/>
            <a:ext cx="388940" cy="67144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66" idx="2"/>
            <a:endCxn id="164" idx="0"/>
          </p:cNvCxnSpPr>
          <p:nvPr/>
        </p:nvCxnSpPr>
        <p:spPr>
          <a:xfrm rot="5400000">
            <a:off x="3922660" y="3766095"/>
            <a:ext cx="388230" cy="663892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31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9208179" y="381265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235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2256335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Behavior Monitor</a:t>
            </a:r>
          </a:p>
        </p:txBody>
      </p:sp>
      <p:cxnSp>
        <p:nvCxnSpPr>
          <p:cNvPr id="23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35" idx="2"/>
            <a:endCxn id="414" idx="0"/>
          </p:cNvCxnSpPr>
          <p:nvPr/>
        </p:nvCxnSpPr>
        <p:spPr>
          <a:xfrm>
            <a:off x="9234360" y="2583258"/>
            <a:ext cx="0" cy="161733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237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8667632" y="4305657"/>
            <a:ext cx="1149429" cy="23142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Executor</a:t>
            </a:r>
          </a:p>
        </p:txBody>
      </p:sp>
      <p:cxnSp>
        <p:nvCxnSpPr>
          <p:cNvPr id="24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21" idx="2"/>
            <a:endCxn id="237" idx="0"/>
          </p:cNvCxnSpPr>
          <p:nvPr/>
        </p:nvCxnSpPr>
        <p:spPr>
          <a:xfrm rot="16200000" flipH="1">
            <a:off x="8793027" y="3856337"/>
            <a:ext cx="179352" cy="71928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4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20" idx="2"/>
            <a:endCxn id="237" idx="0"/>
          </p:cNvCxnSpPr>
          <p:nvPr/>
        </p:nvCxnSpPr>
        <p:spPr>
          <a:xfrm rot="5400000">
            <a:off x="9538791" y="3829861"/>
            <a:ext cx="179352" cy="77224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355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705023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lvl="0" algn="ctr"/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</a:t>
            </a:r>
          </a:p>
          <a:p>
            <a:pPr lvl="0" algn="ctr"/>
            <a:r>
              <a:rPr lang="en-US" altLang="ko-KR" sz="600" b="1" dirty="0">
                <a:solidFill>
                  <a:prstClr val="white">
                    <a:lumMod val="65000"/>
                  </a:prst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(Agent Memory)</a:t>
            </a:r>
          </a:p>
        </p:txBody>
      </p:sp>
      <p:sp>
        <p:nvSpPr>
          <p:cNvPr id="378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381847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</a:t>
            </a:r>
          </a:p>
          <a:p>
            <a:pPr algn="ctr"/>
            <a:r>
              <a:rPr lang="en-US" altLang="ko-KR" sz="6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 Prompt)</a:t>
            </a:r>
          </a:p>
        </p:txBody>
      </p:sp>
      <p:sp>
        <p:nvSpPr>
          <p:cNvPr id="379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028199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Adapter </a:t>
            </a:r>
          </a:p>
        </p:txBody>
      </p:sp>
      <p:sp>
        <p:nvSpPr>
          <p:cNvPr id="380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351375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Expert </a:t>
            </a:r>
          </a:p>
        </p:txBody>
      </p:sp>
      <p:sp>
        <p:nvSpPr>
          <p:cNvPr id="381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674552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</a:t>
            </a:r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Idx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Cache</a:t>
            </a:r>
          </a:p>
        </p:txBody>
      </p:sp>
      <p:sp>
        <p:nvSpPr>
          <p:cNvPr id="385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10432876" y="1930379"/>
            <a:ext cx="862466" cy="3596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</a:t>
            </a:r>
          </a:p>
        </p:txBody>
      </p:sp>
      <p:cxnSp>
        <p:nvCxnSpPr>
          <p:cNvPr id="38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35" idx="3"/>
            <a:endCxn id="385" idx="1"/>
          </p:cNvCxnSpPr>
          <p:nvPr/>
        </p:nvCxnSpPr>
        <p:spPr>
          <a:xfrm flipV="1">
            <a:off x="9808331" y="2110187"/>
            <a:ext cx="624545" cy="30961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389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78" idx="1"/>
          </p:cNvCxnSpPr>
          <p:nvPr/>
        </p:nvCxnSpPr>
        <p:spPr>
          <a:xfrm rot="16200000" flipH="1">
            <a:off x="10827202" y="2326901"/>
            <a:ext cx="219137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55" idx="1"/>
          </p:cNvCxnSpPr>
          <p:nvPr/>
        </p:nvCxnSpPr>
        <p:spPr>
          <a:xfrm rot="16200000" flipH="1">
            <a:off x="10665614" y="2488489"/>
            <a:ext cx="542313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79" idx="1"/>
          </p:cNvCxnSpPr>
          <p:nvPr/>
        </p:nvCxnSpPr>
        <p:spPr>
          <a:xfrm rot="16200000" flipH="1">
            <a:off x="10504026" y="2650077"/>
            <a:ext cx="865489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8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80" idx="1"/>
          </p:cNvCxnSpPr>
          <p:nvPr/>
        </p:nvCxnSpPr>
        <p:spPr>
          <a:xfrm rot="16200000" flipH="1">
            <a:off x="10342438" y="2811665"/>
            <a:ext cx="1188665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401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81" idx="1"/>
          </p:cNvCxnSpPr>
          <p:nvPr/>
        </p:nvCxnSpPr>
        <p:spPr>
          <a:xfrm rot="16200000" flipH="1">
            <a:off x="10180849" y="2973254"/>
            <a:ext cx="1511842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sp>
        <p:nvSpPr>
          <p:cNvPr id="414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2744991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Behavior-based Trend Analyzer</a:t>
            </a:r>
          </a:p>
        </p:txBody>
      </p:sp>
      <p:sp>
        <p:nvSpPr>
          <p:cNvPr id="417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3223571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 Predictor</a:t>
            </a:r>
          </a:p>
        </p:txBody>
      </p:sp>
      <p:sp>
        <p:nvSpPr>
          <p:cNvPr id="420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9440616" y="3799382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Data</a:t>
            </a:r>
          </a:p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421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7949089" y="3799382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47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4" idx="2"/>
            <a:endCxn id="417" idx="0"/>
          </p:cNvCxnSpPr>
          <p:nvPr/>
        </p:nvCxnSpPr>
        <p:spPr>
          <a:xfrm>
            <a:off x="9234360" y="3071914"/>
            <a:ext cx="0" cy="151657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47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7" idx="2"/>
            <a:endCxn id="420" idx="0"/>
          </p:cNvCxnSpPr>
          <p:nvPr/>
        </p:nvCxnSpPr>
        <p:spPr>
          <a:xfrm rot="16200000" flipH="1">
            <a:off x="9500029" y="3284824"/>
            <a:ext cx="248888" cy="78022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477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7" idx="2"/>
            <a:endCxn id="421" idx="0"/>
          </p:cNvCxnSpPr>
          <p:nvPr/>
        </p:nvCxnSpPr>
        <p:spPr>
          <a:xfrm rot="5400000">
            <a:off x="8754266" y="3319288"/>
            <a:ext cx="248888" cy="7113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grpSp>
        <p:nvGrpSpPr>
          <p:cNvPr id="525" name="그룹 524"/>
          <p:cNvGrpSpPr/>
          <p:nvPr/>
        </p:nvGrpSpPr>
        <p:grpSpPr>
          <a:xfrm>
            <a:off x="10951822" y="4005409"/>
            <a:ext cx="900294" cy="377838"/>
            <a:chOff x="11040384" y="4137943"/>
            <a:chExt cx="900294" cy="377838"/>
          </a:xfrm>
        </p:grpSpPr>
        <p:grpSp>
          <p:nvGrpSpPr>
            <p:cNvPr id="460" name="그룹 459"/>
            <p:cNvGrpSpPr/>
            <p:nvPr/>
          </p:nvGrpSpPr>
          <p:grpSpPr>
            <a:xfrm>
              <a:off x="11040384" y="4137943"/>
              <a:ext cx="788371" cy="258772"/>
              <a:chOff x="7752318" y="2902314"/>
              <a:chExt cx="686990" cy="258772"/>
            </a:xfrm>
          </p:grpSpPr>
          <p:sp>
            <p:nvSpPr>
              <p:cNvPr id="467" name="모서리가 접힌 도형 466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461" name="그룹 460"/>
            <p:cNvGrpSpPr/>
            <p:nvPr/>
          </p:nvGrpSpPr>
          <p:grpSpPr>
            <a:xfrm>
              <a:off x="11068808" y="4168822"/>
              <a:ext cx="788371" cy="258772"/>
              <a:chOff x="7752318" y="2902314"/>
              <a:chExt cx="686990" cy="258772"/>
            </a:xfrm>
          </p:grpSpPr>
          <p:sp>
            <p:nvSpPr>
              <p:cNvPr id="465" name="모서리가 접힌 도형 464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6" name="직사각형 465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462" name="그룹 461"/>
            <p:cNvGrpSpPr/>
            <p:nvPr/>
          </p:nvGrpSpPr>
          <p:grpSpPr>
            <a:xfrm>
              <a:off x="11099474" y="4196592"/>
              <a:ext cx="788371" cy="258772"/>
              <a:chOff x="7752318" y="2902314"/>
              <a:chExt cx="686990" cy="258772"/>
            </a:xfrm>
          </p:grpSpPr>
          <p:sp>
            <p:nvSpPr>
              <p:cNvPr id="463" name="모서리가 접힌 도형 462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  <p:grpSp>
          <p:nvGrpSpPr>
            <p:cNvPr id="519" name="그룹 518"/>
            <p:cNvGrpSpPr/>
            <p:nvPr/>
          </p:nvGrpSpPr>
          <p:grpSpPr>
            <a:xfrm>
              <a:off x="11124641" y="4226530"/>
              <a:ext cx="788371" cy="258772"/>
              <a:chOff x="7752318" y="2902314"/>
              <a:chExt cx="686990" cy="258772"/>
            </a:xfrm>
          </p:grpSpPr>
          <p:sp>
            <p:nvSpPr>
              <p:cNvPr id="520" name="모서리가 접힌 도형 519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1" name="직사각형 520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  <p:grpSp>
          <p:nvGrpSpPr>
            <p:cNvPr id="522" name="그룹 521"/>
            <p:cNvGrpSpPr/>
            <p:nvPr/>
          </p:nvGrpSpPr>
          <p:grpSpPr>
            <a:xfrm>
              <a:off x="11152307" y="4257009"/>
              <a:ext cx="788371" cy="258772"/>
              <a:chOff x="7752318" y="2902314"/>
              <a:chExt cx="686990" cy="258772"/>
            </a:xfrm>
          </p:grpSpPr>
          <p:sp>
            <p:nvSpPr>
              <p:cNvPr id="523" name="모서리가 접힌 도형 522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4" name="직사각형 523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</p:grpSp>
      <p:grpSp>
        <p:nvGrpSpPr>
          <p:cNvPr id="94" name="그룹 93"/>
          <p:cNvGrpSpPr/>
          <p:nvPr/>
        </p:nvGrpSpPr>
        <p:grpSpPr>
          <a:xfrm>
            <a:off x="6714984" y="2381847"/>
            <a:ext cx="923728" cy="1562691"/>
            <a:chOff x="6714984" y="2178070"/>
            <a:chExt cx="923728" cy="1562691"/>
          </a:xfrm>
        </p:grpSpPr>
        <p:grpSp>
          <p:nvGrpSpPr>
            <p:cNvPr id="487" name="그룹 486"/>
            <p:cNvGrpSpPr/>
            <p:nvPr/>
          </p:nvGrpSpPr>
          <p:grpSpPr>
            <a:xfrm>
              <a:off x="6714984" y="2178070"/>
              <a:ext cx="923728" cy="1562691"/>
              <a:chOff x="5405727" y="1845809"/>
              <a:chExt cx="1016101" cy="1562691"/>
            </a:xfrm>
          </p:grpSpPr>
          <p:sp>
            <p:nvSpPr>
              <p:cNvPr id="488" name="Shape 59">
                <a:extLst>
                  <a:ext uri="{FF2B5EF4-FFF2-40B4-BE49-F238E27FC236}">
                    <a16:creationId xmlns:a16="http://schemas.microsoft.com/office/drawing/2014/main" id="{67748352-D195-48A3-8563-9385B634D68C}"/>
                  </a:ext>
                </a:extLst>
              </p:cNvPr>
              <p:cNvSpPr/>
              <p:nvPr/>
            </p:nvSpPr>
            <p:spPr>
              <a:xfrm>
                <a:off x="5405727" y="1845809"/>
                <a:ext cx="1016101" cy="1562691"/>
              </a:xfrm>
              <a:prstGeom prst="rect">
                <a:avLst/>
              </a:prstGeom>
              <a:solidFill>
                <a:srgbClr val="F0F1F3"/>
              </a:solidFill>
              <a:ln w="12700">
                <a:solidFill>
                  <a:srgbClr val="888C91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en-US" altLang="ko-KR" sz="1000" dirty="0"/>
                  <a:t>Resource Manager</a:t>
                </a:r>
                <a:endParaRPr lang="ko-KR" altLang="en-US" sz="1000" dirty="0"/>
              </a:p>
            </p:txBody>
          </p:sp>
          <p:sp>
            <p:nvSpPr>
              <p:cNvPr id="489" name="Shape 37">
                <a:extLst>
                  <a:ext uri="{FF2B5EF4-FFF2-40B4-BE49-F238E27FC236}">
                    <a16:creationId xmlns:a16="http://schemas.microsoft.com/office/drawing/2014/main" id="{306B7634-9A5E-4F0E-A947-927E7282352F}"/>
                  </a:ext>
                </a:extLst>
              </p:cNvPr>
              <p:cNvSpPr/>
              <p:nvPr/>
            </p:nvSpPr>
            <p:spPr>
              <a:xfrm>
                <a:off x="5542708" y="2375033"/>
                <a:ext cx="761643" cy="297203"/>
              </a:xfrm>
              <a:prstGeom prst="rect">
                <a:avLst/>
              </a:prstGeom>
              <a:solidFill>
                <a:srgbClr val="F0F1F3"/>
              </a:solidFill>
              <a:ln w="12700">
                <a:solidFill>
                  <a:srgbClr val="888C91"/>
                </a:solidFill>
                <a:prstDash val="solid"/>
              </a:ln>
            </p:spPr>
            <p:txBody>
              <a:bodyPr anchor="ctr"/>
              <a:lstStyle/>
              <a:p>
                <a:pPr algn="ctr" latinLnBrk="0"/>
                <a:r>
                  <a:rPr lang="en-US" altLang="ko-KR" sz="8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Telemetry Collector</a:t>
                </a:r>
              </a:p>
            </p:txBody>
          </p:sp>
        </p:grpSp>
        <p:grpSp>
          <p:nvGrpSpPr>
            <p:cNvPr id="605" name="그룹 604"/>
            <p:cNvGrpSpPr/>
            <p:nvPr/>
          </p:nvGrpSpPr>
          <p:grpSpPr>
            <a:xfrm>
              <a:off x="6826503" y="3194948"/>
              <a:ext cx="686996" cy="384167"/>
              <a:chOff x="1394212" y="2799554"/>
              <a:chExt cx="686996" cy="384167"/>
            </a:xfrm>
          </p:grpSpPr>
          <p:sp>
            <p:nvSpPr>
              <p:cNvPr id="606" name="Shape 35">
                <a:extLst>
                  <a:ext uri="{FF2B5EF4-FFF2-40B4-BE49-F238E27FC236}">
                    <a16:creationId xmlns:a16="http://schemas.microsoft.com/office/drawing/2014/main" id="{2AF637AF-E433-47AC-BA4E-9F7E3C334277}"/>
                  </a:ext>
                </a:extLst>
              </p:cNvPr>
              <p:cNvSpPr/>
              <p:nvPr/>
            </p:nvSpPr>
            <p:spPr>
              <a:xfrm>
                <a:off x="1394212" y="2799554"/>
                <a:ext cx="686996" cy="384167"/>
              </a:xfrm>
              <a:prstGeom prst="can">
                <a:avLst/>
              </a:prstGeom>
              <a:solidFill>
                <a:srgbClr val="F0F1F3"/>
              </a:solidFill>
              <a:ln w="12700">
                <a:solidFill>
                  <a:srgbClr val="888C91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607" name="직사각형 606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1439012" y="2874371"/>
                <a:ext cx="611259" cy="269641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Memory</a:t>
                </a:r>
                <a:endParaRPr lang="en-US" altLang="ko-KR" sz="800" dirty="0"/>
              </a:p>
              <a:p>
                <a:pPr algn="ctr"/>
                <a:r>
                  <a:rPr lang="en-US" altLang="ko-KR" sz="8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Registry</a:t>
                </a:r>
                <a:endParaRPr lang="en-US" altLang="ko-KR" sz="800" dirty="0"/>
              </a:p>
            </p:txBody>
          </p:sp>
        </p:grpSp>
      </p:grpSp>
      <p:cxnSp>
        <p:nvCxnSpPr>
          <p:cNvPr id="609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421" idx="1"/>
            <a:endCxn id="606" idx="4"/>
          </p:cNvCxnSpPr>
          <p:nvPr/>
        </p:nvCxnSpPr>
        <p:spPr>
          <a:xfrm rot="10800000">
            <a:off x="7513499" y="3590810"/>
            <a:ext cx="435590" cy="3720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4" name="직사각형 3"/>
          <p:cNvSpPr/>
          <p:nvPr/>
        </p:nvSpPr>
        <p:spPr>
          <a:xfrm>
            <a:off x="6291415" y="180689"/>
            <a:ext cx="15418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(Where to locate?)</a:t>
            </a:r>
            <a:endParaRPr lang="ko-KR" altLang="en-US" sz="1200" dirty="0"/>
          </a:p>
        </p:txBody>
      </p:sp>
      <p:sp>
        <p:nvSpPr>
          <p:cNvPr id="134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5448132" y="2036658"/>
            <a:ext cx="948713" cy="359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Data Object Registry</a:t>
            </a:r>
          </a:p>
        </p:txBody>
      </p:sp>
      <p:cxnSp>
        <p:nvCxnSpPr>
          <p:cNvPr id="135" name="직선 화살표 연결선 185">
            <a:extLst>
              <a:ext uri="{FF2B5EF4-FFF2-40B4-BE49-F238E27FC236}">
                <a16:creationId xmlns:a16="http://schemas.microsoft.com/office/drawing/2014/main" id="{978083D3-9687-40FB-9182-FF0D3D8D7808}"/>
              </a:ext>
            </a:extLst>
          </p:cNvPr>
          <p:cNvCxnSpPr>
            <a:cxnSpLocks/>
            <a:stCxn id="186" idx="3"/>
            <a:endCxn id="134" idx="1"/>
          </p:cNvCxnSpPr>
          <p:nvPr/>
        </p:nvCxnSpPr>
        <p:spPr>
          <a:xfrm flipV="1">
            <a:off x="5023436" y="2216466"/>
            <a:ext cx="424696" cy="914747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/>
            <a:tailEnd type="triangle"/>
          </a:ln>
        </p:spPr>
      </p:cxn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5451058" y="2431582"/>
            <a:ext cx="941068" cy="1867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</a:rPr>
              <a:t>위치∙크기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∙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tier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조회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78" name="그룹 477"/>
          <p:cNvGrpSpPr/>
          <p:nvPr/>
        </p:nvGrpSpPr>
        <p:grpSpPr>
          <a:xfrm>
            <a:off x="1225081" y="2413112"/>
            <a:ext cx="927192" cy="1590324"/>
            <a:chOff x="1235467" y="2693125"/>
            <a:chExt cx="923728" cy="1590324"/>
          </a:xfrm>
        </p:grpSpPr>
        <p:sp>
          <p:nvSpPr>
            <p:cNvPr id="577" name="Shape 59">
              <a:extLst>
                <a:ext uri="{FF2B5EF4-FFF2-40B4-BE49-F238E27FC236}">
                  <a16:creationId xmlns:a16="http://schemas.microsoft.com/office/drawing/2014/main" id="{67748352-D195-48A3-8563-9385B634D68C}"/>
                </a:ext>
              </a:extLst>
            </p:cNvPr>
            <p:cNvSpPr/>
            <p:nvPr/>
          </p:nvSpPr>
          <p:spPr>
            <a:xfrm>
              <a:off x="1235467" y="2693125"/>
              <a:ext cx="923728" cy="1590324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ko-KR" sz="1000" dirty="0"/>
                <a:t>Resource Manager</a:t>
              </a:r>
              <a:endParaRPr lang="ko-KR" altLang="en-US" sz="1000" dirty="0"/>
            </a:p>
          </p:txBody>
        </p:sp>
        <p:grpSp>
          <p:nvGrpSpPr>
            <p:cNvPr id="568" name="그룹 567"/>
            <p:cNvGrpSpPr/>
            <p:nvPr/>
          </p:nvGrpSpPr>
          <p:grpSpPr>
            <a:xfrm>
              <a:off x="1320700" y="3738511"/>
              <a:ext cx="721126" cy="384167"/>
              <a:chOff x="1377148" y="2666713"/>
              <a:chExt cx="721126" cy="384167"/>
            </a:xfrm>
          </p:grpSpPr>
          <p:sp>
            <p:nvSpPr>
              <p:cNvPr id="566" name="Shape 35">
                <a:extLst>
                  <a:ext uri="{FF2B5EF4-FFF2-40B4-BE49-F238E27FC236}">
                    <a16:creationId xmlns:a16="http://schemas.microsoft.com/office/drawing/2014/main" id="{2AF637AF-E433-47AC-BA4E-9F7E3C334277}"/>
                  </a:ext>
                </a:extLst>
              </p:cNvPr>
              <p:cNvSpPr/>
              <p:nvPr/>
            </p:nvSpPr>
            <p:spPr>
              <a:xfrm>
                <a:off x="1394211" y="2666713"/>
                <a:ext cx="686998" cy="384167"/>
              </a:xfrm>
              <a:prstGeom prst="can">
                <a:avLst/>
              </a:prstGeom>
              <a:solidFill>
                <a:srgbClr val="F0F1F3"/>
              </a:solidFill>
              <a:ln w="12700">
                <a:solidFill>
                  <a:srgbClr val="888C91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567" name="직사각형 566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1377148" y="2740537"/>
                <a:ext cx="721126" cy="269641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Memory</a:t>
                </a:r>
                <a:endParaRPr lang="en-US" altLang="ko-KR" sz="800" dirty="0"/>
              </a:p>
              <a:p>
                <a:pPr algn="ctr"/>
                <a:r>
                  <a:rPr lang="en-US" altLang="ko-KR" sz="8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Registry</a:t>
                </a:r>
                <a:endParaRPr lang="en-US" altLang="ko-KR" sz="800" dirty="0"/>
              </a:p>
            </p:txBody>
          </p:sp>
        </p:grpSp>
        <p:sp>
          <p:nvSpPr>
            <p:cNvPr id="195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1307788" y="3277959"/>
              <a:ext cx="761643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Telemetry Collector</a:t>
              </a:r>
            </a:p>
          </p:txBody>
        </p:sp>
      </p:grpSp>
      <p:cxnSp>
        <p:nvCxnSpPr>
          <p:cNvPr id="198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57" idx="1"/>
            <a:endCxn id="195" idx="3"/>
          </p:cNvCxnSpPr>
          <p:nvPr/>
        </p:nvCxnSpPr>
        <p:spPr>
          <a:xfrm rot="10800000" flipV="1">
            <a:off x="2062173" y="2443782"/>
            <a:ext cx="1148685" cy="702765"/>
          </a:xfrm>
          <a:prstGeom prst="bentConnector3">
            <a:avLst>
              <a:gd name="adj1" fmla="val 72018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505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91" idx="1"/>
            <a:endCxn id="566" idx="4"/>
          </p:cNvCxnSpPr>
          <p:nvPr/>
        </p:nvCxnSpPr>
        <p:spPr>
          <a:xfrm rot="10800000">
            <a:off x="2017336" y="3650582"/>
            <a:ext cx="521333" cy="8322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490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421" idx="1"/>
            <a:endCxn id="489" idx="3"/>
          </p:cNvCxnSpPr>
          <p:nvPr/>
        </p:nvCxnSpPr>
        <p:spPr>
          <a:xfrm rot="10800000">
            <a:off x="7531915" y="3059674"/>
            <a:ext cx="417174" cy="903171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grpSp>
        <p:nvGrpSpPr>
          <p:cNvPr id="110" name="그룹 109"/>
          <p:cNvGrpSpPr/>
          <p:nvPr/>
        </p:nvGrpSpPr>
        <p:grpSpPr>
          <a:xfrm>
            <a:off x="7388916" y="1883914"/>
            <a:ext cx="2442530" cy="372421"/>
            <a:chOff x="7388916" y="1883914"/>
            <a:chExt cx="2442530" cy="372421"/>
          </a:xfrm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7388916" y="1901995"/>
              <a:ext cx="994316" cy="18677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txBody>
            <a:bodyPr rtlCol="0" anchor="ctr"/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Event push 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비동기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cxnSp>
          <p:nvCxnSpPr>
            <p:cNvPr id="241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235" idx="0"/>
              <a:endCxn id="259" idx="2"/>
            </p:cNvCxnSpPr>
            <p:nvPr/>
          </p:nvCxnSpPr>
          <p:spPr>
            <a:xfrm flipV="1">
              <a:off x="9234360" y="2102824"/>
              <a:ext cx="1500" cy="153511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247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259" idx="1"/>
              <a:endCxn id="146" idx="3"/>
            </p:cNvCxnSpPr>
            <p:nvPr/>
          </p:nvCxnSpPr>
          <p:spPr>
            <a:xfrm flipH="1">
              <a:off x="8383232" y="1993369"/>
              <a:ext cx="257042" cy="2013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8640274" y="1883914"/>
              <a:ext cx="1191172" cy="218910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cxnSp>
        <p:nvCxnSpPr>
          <p:cNvPr id="271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57" idx="0"/>
            <a:endCxn id="273" idx="2"/>
          </p:cNvCxnSpPr>
          <p:nvPr/>
        </p:nvCxnSpPr>
        <p:spPr>
          <a:xfrm flipH="1" flipV="1">
            <a:off x="3783489" y="2102824"/>
            <a:ext cx="1339" cy="177497"/>
          </a:xfrm>
          <a:prstGeom prst="straightConnector1">
            <a:avLst/>
          </a:prstGeom>
          <a:noFill/>
          <a:ln w="6350">
            <a:solidFill>
              <a:srgbClr val="888C91"/>
            </a:solidFill>
            <a:prstDash val="solid"/>
            <a:headEnd type="triangle" w="med" len="med"/>
            <a:tailEnd type="none" w="med" len="med"/>
          </a:ln>
        </p:spPr>
      </p:cxnSp>
      <p:grpSp>
        <p:nvGrpSpPr>
          <p:cNvPr id="543" name="그룹 542"/>
          <p:cNvGrpSpPr/>
          <p:nvPr/>
        </p:nvGrpSpPr>
        <p:grpSpPr>
          <a:xfrm>
            <a:off x="1960252" y="1883914"/>
            <a:ext cx="2418823" cy="218910"/>
            <a:chOff x="1960252" y="1883914"/>
            <a:chExt cx="2418823" cy="218910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960252" y="1901995"/>
              <a:ext cx="970609" cy="18677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txBody>
            <a:bodyPr rtlCol="0" anchor="ctr"/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Event push 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비동기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cxnSp>
          <p:nvCxnSpPr>
            <p:cNvPr id="272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273" idx="1"/>
              <a:endCxn id="270" idx="3"/>
            </p:cNvCxnSpPr>
            <p:nvPr/>
          </p:nvCxnSpPr>
          <p:spPr>
            <a:xfrm flipH="1">
              <a:off x="2930861" y="1993369"/>
              <a:ext cx="257042" cy="2013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3187903" y="1883914"/>
              <a:ext cx="1191172" cy="218910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sp>
        <p:nvSpPr>
          <p:cNvPr id="610" name="MemIF_C1_bar"/>
          <p:cNvSpPr/>
          <p:nvPr/>
        </p:nvSpPr>
        <p:spPr>
          <a:xfrm>
            <a:off x="1225296" y="4169663"/>
            <a:ext cx="1865376" cy="42976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611" name="MemIF_C1_face1"/>
          <p:cNvSpPr/>
          <p:nvPr/>
        </p:nvSpPr>
        <p:spPr>
          <a:xfrm>
            <a:off x="1252728" y="42976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② Telemetry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RSM: capacity·BW·load</a:t>
            </a:r>
          </a:p>
        </p:txBody>
      </p:sp>
      <p:sp>
        <p:nvSpPr>
          <p:cNvPr id="612" name="MemIF_C1_face2"/>
          <p:cNvSpPr/>
          <p:nvPr/>
        </p:nvSpPr>
        <p:spPr>
          <a:xfrm>
            <a:off x="2171700" y="42976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①③ Desc.·Binding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capability·cost</a:t>
            </a:r>
          </a:p>
        </p:txBody>
      </p:sp>
      <p:cxnSp>
        <p:nvCxnSpPr>
          <p:cNvPr id="613" name="MemIF_C1_link"/>
          <p:cNvCxnSpPr/>
          <p:nvPr/>
        </p:nvCxnSpPr>
        <p:spPr>
          <a:xfrm>
            <a:off x="1691640" y="4023360"/>
            <a:ext cx="0" cy="146303"/>
          </a:xfrm>
          <a:prstGeom prst="line">
            <a:avLst/>
          </a:prstGeom>
          <a:ln w="1270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MemIF_C2_bar"/>
          <p:cNvSpPr/>
          <p:nvPr/>
        </p:nvSpPr>
        <p:spPr>
          <a:xfrm>
            <a:off x="6711696" y="4169663"/>
            <a:ext cx="1865376" cy="42976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615" name="MemIF_C2_face1"/>
          <p:cNvSpPr/>
          <p:nvPr/>
        </p:nvSpPr>
        <p:spPr>
          <a:xfrm>
            <a:off x="6739128" y="42976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② Telemetry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capacity·BW·load</a:t>
            </a:r>
          </a:p>
        </p:txBody>
      </p:sp>
      <p:sp>
        <p:nvSpPr>
          <p:cNvPr id="616" name="MemIF_C2_face2"/>
          <p:cNvSpPr/>
          <p:nvPr/>
        </p:nvSpPr>
        <p:spPr>
          <a:xfrm>
            <a:off x="7658100" y="42976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①③ Desc.·Binding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capability·cost</a:t>
            </a:r>
          </a:p>
        </p:txBody>
      </p:sp>
      <p:cxnSp>
        <p:nvCxnSpPr>
          <p:cNvPr id="617" name="MemIF_C2_link"/>
          <p:cNvCxnSpPr/>
          <p:nvPr/>
        </p:nvCxnSpPr>
        <p:spPr>
          <a:xfrm>
            <a:off x="7178040" y="3959352"/>
            <a:ext cx="0" cy="210311"/>
          </a:xfrm>
          <a:prstGeom prst="line">
            <a:avLst/>
          </a:prstGeom>
          <a:ln w="1270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ag_C1_TC"/>
          <p:cNvSpPr/>
          <p:nvPr/>
        </p:nvSpPr>
        <p:spPr>
          <a:xfrm>
            <a:off x="1984248" y="292608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19" name="tag_C1_MR"/>
          <p:cNvSpPr/>
          <p:nvPr/>
        </p:nvSpPr>
        <p:spPr>
          <a:xfrm>
            <a:off x="1947672" y="3456432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0" name="tag_C1_to_RSM"/>
          <p:cNvSpPr/>
          <p:nvPr/>
        </p:nvSpPr>
        <p:spPr>
          <a:xfrm>
            <a:off x="2569464" y="274320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1" name="tag_C1_to_DTS"/>
          <p:cNvSpPr/>
          <p:nvPr/>
        </p:nvSpPr>
        <p:spPr>
          <a:xfrm>
            <a:off x="2157984" y="3584448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2" name="tag_C2_TC"/>
          <p:cNvSpPr/>
          <p:nvPr/>
        </p:nvSpPr>
        <p:spPr>
          <a:xfrm>
            <a:off x="7452360" y="283464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3" name="tag_C2_MR"/>
          <p:cNvSpPr/>
          <p:nvPr/>
        </p:nvSpPr>
        <p:spPr>
          <a:xfrm>
            <a:off x="7397496" y="3401568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4" name="tag_C2_TC_to_DTS"/>
          <p:cNvSpPr/>
          <p:nvPr/>
        </p:nvSpPr>
        <p:spPr>
          <a:xfrm>
            <a:off x="7644383" y="320040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5" name="tag_C2_MR_to_DTS"/>
          <p:cNvSpPr/>
          <p:nvPr/>
        </p:nvSpPr>
        <p:spPr>
          <a:xfrm>
            <a:off x="7653527" y="3675887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</p:spTree>
    <p:extLst>
      <p:ext uri="{BB962C8B-B14F-4D97-AF65-F5344CB8AC3E}">
        <p14:creationId xmlns:p14="http://schemas.microsoft.com/office/powerpoint/2010/main" val="1872020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9011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79809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63796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7950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64095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메모리 </a:t>
                      </a:r>
                      <a:r>
                        <a:rPr lang="en-US" altLang="ko-KR" sz="1200" b="1" strike="noStrike" baseline="0" dirty="0"/>
                        <a:t>Resource State driven Migration </a:t>
                      </a:r>
                      <a:r>
                        <a:rPr lang="en-US" altLang="ko-KR" sz="1200" b="1" strike="noStrike" baseline="0" dirty="0">
                          <a:solidFill>
                            <a:srgbClr val="FF0000"/>
                          </a:solidFill>
                        </a:rPr>
                        <a:t>+ Data-Memory Affinity</a:t>
                      </a:r>
                      <a:endParaRPr lang="ko-KR" altLang="en-US" sz="1200" b="1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AI Data </a:t>
                      </a:r>
                      <a:r>
                        <a:rPr lang="en-US" altLang="ko-KR" sz="1200" b="1" strike="noStrike" dirty="0"/>
                        <a:t>Behavior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driven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Migration</a:t>
                      </a:r>
                      <a:r>
                        <a:rPr lang="ko-KR" altLang="en-US" sz="1200" b="1" strike="noStrike" dirty="0"/>
                        <a:t> 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6930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낮은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overhead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state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변화에 즉시 반응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메모리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관리에 유리 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특성에 맞는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배치 가능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고속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(High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tier)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메모리의 불필요한 점유 감소 가능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별 접근 특성 반영 한계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대표적인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AI Data/operation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의 특성은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static hint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로 반영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 Agent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aware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한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KV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관리는 데이터 이동 구조가 아닌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Tool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호출 시점의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KV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관리 구조로 보완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(DP3)</a:t>
                      </a:r>
                      <a:endParaRPr lang="en-US" altLang="ko-KR" sz="1200" strike="noStrike" baseline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Characterization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예측을 위한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 오류 시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-placement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(throughput)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(latency – TTFT, 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(00TPS)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ko-KR" altLang="en-US" sz="1200" strike="noStrik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(00ms, 00ms)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(throughput)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(latency – TTFT, 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(00TPS)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00ms, 00ms)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577" name="Shape 59">
            <a:extLst>
              <a:ext uri="{FF2B5EF4-FFF2-40B4-BE49-F238E27FC236}">
                <a16:creationId xmlns:a16="http://schemas.microsoft.com/office/drawing/2014/main" id="{67748352-D195-48A3-8563-9385B634D68C}"/>
              </a:ext>
            </a:extLst>
          </p:cNvPr>
          <p:cNvSpPr/>
          <p:nvPr/>
        </p:nvSpPr>
        <p:spPr>
          <a:xfrm>
            <a:off x="1235467" y="3411858"/>
            <a:ext cx="923728" cy="1022771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/>
          <a:lstStyle/>
          <a:p>
            <a:pPr algn="ctr"/>
            <a:r>
              <a:rPr lang="en-US" altLang="ko-KR" sz="1000" dirty="0"/>
              <a:t>Resource Manager</a:t>
            </a:r>
            <a:endParaRPr lang="ko-KR" altLang="en-US" sz="1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이기종 메모리 환경의 자원 상태 및 </a:t>
            </a:r>
            <a:r>
              <a:rPr lang="en-US" altLang="ko-KR" sz="1400" b="1" dirty="0">
                <a:solidFill>
                  <a:schemeClr val="bg1"/>
                </a:solidFill>
              </a:rPr>
              <a:t>AI Data </a:t>
            </a:r>
            <a:r>
              <a:rPr lang="ko-KR" altLang="en-US" sz="1400" b="1" dirty="0">
                <a:solidFill>
                  <a:schemeClr val="bg1"/>
                </a:solidFill>
              </a:rPr>
              <a:t>특성을 고려한 </a:t>
            </a:r>
            <a:r>
              <a:rPr lang="en-US" altLang="ko-KR" sz="1400" b="1" dirty="0">
                <a:solidFill>
                  <a:schemeClr val="bg1"/>
                </a:solidFill>
              </a:rPr>
              <a:t>Data Migration </a:t>
            </a:r>
            <a:r>
              <a:rPr lang="ko-KR" altLang="en-US" sz="1400" b="1" dirty="0">
                <a:solidFill>
                  <a:schemeClr val="bg1"/>
                </a:solidFill>
              </a:rPr>
              <a:t>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“Data</a:t>
            </a:r>
            <a:r>
              <a:rPr lang="ko-KR" altLang="en-US" sz="1100" dirty="0"/>
              <a:t>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</a:t>
            </a:r>
            <a:r>
              <a:rPr lang="en-US" altLang="ko-KR" sz="1100" dirty="0">
                <a:solidFill>
                  <a:srgbClr val="0066FF"/>
                </a:solidFill>
              </a:rPr>
              <a:t> </a:t>
            </a:r>
            <a:r>
              <a:rPr lang="ko-KR" altLang="en-US" sz="1100" dirty="0">
                <a:solidFill>
                  <a:srgbClr val="0066FF"/>
                </a:solidFill>
              </a:rPr>
              <a:t>자원 상태</a:t>
            </a:r>
            <a:r>
              <a:rPr lang="en-US" altLang="ko-KR" sz="1100" dirty="0">
                <a:solidFill>
                  <a:srgbClr val="0066FF"/>
                </a:solidFill>
              </a:rPr>
              <a:t>(Capacity/BW/Load)</a:t>
            </a:r>
            <a:r>
              <a:rPr lang="ko-KR" altLang="en-US" sz="1100" dirty="0"/>
              <a:t>에 기반한 </a:t>
            </a:r>
            <a:r>
              <a:rPr lang="en-US" altLang="ko-KR" sz="1100" dirty="0"/>
              <a:t>Migration“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en-US" altLang="ko-KR" sz="1100" dirty="0">
                <a:solidFill>
                  <a:srgbClr val="0066FF"/>
                </a:solidFill>
              </a:rPr>
              <a:t>AI Data</a:t>
            </a:r>
            <a:r>
              <a:rPr lang="ko-KR" altLang="en-US" sz="1100" dirty="0">
                <a:solidFill>
                  <a:srgbClr val="0066FF"/>
                </a:solidFill>
              </a:rPr>
              <a:t> 특성</a:t>
            </a:r>
            <a:r>
              <a:rPr lang="en-US" altLang="ko-KR" sz="1100" dirty="0">
                <a:solidFill>
                  <a:srgbClr val="0066FF"/>
                </a:solidFill>
              </a:rPr>
              <a:t>(Reuse pattern/Lifetime/Agent Tool Info </a:t>
            </a:r>
            <a:r>
              <a:rPr lang="ko-KR" altLang="en-US" sz="1100" dirty="0">
                <a:solidFill>
                  <a:srgbClr val="0066FF"/>
                </a:solidFill>
              </a:rPr>
              <a:t>등</a:t>
            </a:r>
            <a:r>
              <a:rPr lang="en-US" altLang="ko-KR" sz="1100" dirty="0">
                <a:solidFill>
                  <a:srgbClr val="0066FF"/>
                </a:solidFill>
              </a:rPr>
              <a:t>)</a:t>
            </a:r>
            <a:r>
              <a:rPr lang="ko-KR" altLang="en-US" sz="1100" dirty="0"/>
              <a:t>에 기반한 </a:t>
            </a:r>
            <a:r>
              <a:rPr lang="en-US" altLang="ko-KR" sz="1100" dirty="0"/>
              <a:t>Migration“</a:t>
            </a:r>
            <a:endParaRPr lang="ko-KR" altLang="en-US" sz="1100" dirty="0"/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727203" y="381265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5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2538668" y="2495666"/>
            <a:ext cx="1149429" cy="372712"/>
          </a:xfrm>
          <a:prstGeom prst="rect">
            <a:avLst/>
          </a:prstGeom>
          <a:solidFill>
            <a:srgbClr val="FFFFFF"/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Resource-based Trend Analyzer</a:t>
            </a:r>
          </a:p>
        </p:txBody>
      </p:sp>
      <p:sp>
        <p:nvSpPr>
          <p:cNvPr id="157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3179413" y="1801608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Resource State Monitor</a:t>
            </a:r>
          </a:p>
        </p:txBody>
      </p:sp>
      <p:cxnSp>
        <p:nvCxnSpPr>
          <p:cNvPr id="16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7" idx="2"/>
            <a:endCxn id="156" idx="0"/>
          </p:cNvCxnSpPr>
          <p:nvPr/>
        </p:nvCxnSpPr>
        <p:spPr>
          <a:xfrm rot="5400000">
            <a:off x="3266163" y="2008444"/>
            <a:ext cx="334443" cy="640001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4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176181" y="4271544"/>
            <a:ext cx="1149429" cy="308026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</a:p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</a:t>
            </a:r>
          </a:p>
        </p:txBody>
      </p:sp>
      <p:sp>
        <p:nvSpPr>
          <p:cNvPr id="16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74006" y="3689791"/>
            <a:ext cx="1149430" cy="372712"/>
          </a:xfrm>
          <a:prstGeom prst="rect">
            <a:avLst/>
          </a:prstGeom>
          <a:solidFill>
            <a:srgbClr val="FFFFFF"/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18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25186" y="2494957"/>
            <a:ext cx="1149429" cy="37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Eviction Manager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89" name="직선 화살표 연결선 185">
            <a:extLst>
              <a:ext uri="{FF2B5EF4-FFF2-40B4-BE49-F238E27FC236}">
                <a16:creationId xmlns:a16="http://schemas.microsoft.com/office/drawing/2014/main" id="{978083D3-9687-40FB-9182-FF0D3D8D7808}"/>
              </a:ext>
            </a:extLst>
          </p:cNvPr>
          <p:cNvCxnSpPr>
            <a:cxnSpLocks/>
            <a:stCxn id="186" idx="2"/>
            <a:endCxn id="129" idx="0"/>
          </p:cNvCxnSpPr>
          <p:nvPr/>
        </p:nvCxnSpPr>
        <p:spPr>
          <a:xfrm rot="5400000">
            <a:off x="3972830" y="2674054"/>
            <a:ext cx="231625" cy="62251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19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7" idx="2"/>
            <a:endCxn id="186" idx="0"/>
          </p:cNvCxnSpPr>
          <p:nvPr/>
        </p:nvCxnSpPr>
        <p:spPr>
          <a:xfrm rot="16200000" flipH="1">
            <a:off x="3909775" y="2004831"/>
            <a:ext cx="333734" cy="646517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91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2538668" y="3689081"/>
            <a:ext cx="1149429" cy="372712"/>
          </a:xfrm>
          <a:prstGeom prst="rect">
            <a:avLst/>
          </a:prstGeom>
          <a:solidFill>
            <a:srgbClr val="FFFFFF"/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19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6" idx="2"/>
            <a:endCxn id="129" idx="0"/>
          </p:cNvCxnSpPr>
          <p:nvPr/>
        </p:nvCxnSpPr>
        <p:spPr>
          <a:xfrm rot="16200000" flipH="1">
            <a:off x="3329008" y="2652752"/>
            <a:ext cx="232748" cy="66399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19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91" idx="2"/>
            <a:endCxn id="164" idx="0"/>
          </p:cNvCxnSpPr>
          <p:nvPr/>
        </p:nvCxnSpPr>
        <p:spPr>
          <a:xfrm rot="16200000" flipH="1">
            <a:off x="3327264" y="3847911"/>
            <a:ext cx="209751" cy="637513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66" idx="2"/>
            <a:endCxn id="164" idx="0"/>
          </p:cNvCxnSpPr>
          <p:nvPr/>
        </p:nvCxnSpPr>
        <p:spPr>
          <a:xfrm rot="5400000">
            <a:off x="3995289" y="3818111"/>
            <a:ext cx="209041" cy="69782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grpSp>
        <p:nvGrpSpPr>
          <p:cNvPr id="277" name="그룹 276"/>
          <p:cNvGrpSpPr/>
          <p:nvPr/>
        </p:nvGrpSpPr>
        <p:grpSpPr>
          <a:xfrm>
            <a:off x="5405727" y="1879542"/>
            <a:ext cx="1016101" cy="1022771"/>
            <a:chOff x="5405727" y="1879542"/>
            <a:chExt cx="1016101" cy="1022771"/>
          </a:xfrm>
        </p:grpSpPr>
        <p:sp>
          <p:nvSpPr>
            <p:cNvPr id="281" name="Shape 59">
              <a:extLst>
                <a:ext uri="{FF2B5EF4-FFF2-40B4-BE49-F238E27FC236}">
                  <a16:creationId xmlns:a16="http://schemas.microsoft.com/office/drawing/2014/main" id="{67748352-D195-48A3-8563-9385B634D68C}"/>
                </a:ext>
              </a:extLst>
            </p:cNvPr>
            <p:cNvSpPr/>
            <p:nvPr/>
          </p:nvSpPr>
          <p:spPr>
            <a:xfrm>
              <a:off x="5405727" y="1879542"/>
              <a:ext cx="1016101" cy="1022771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ko-KR" sz="1000" dirty="0"/>
                <a:t>Resource Manager</a:t>
              </a:r>
              <a:endParaRPr lang="ko-KR" altLang="en-US" sz="1000" dirty="0"/>
            </a:p>
          </p:txBody>
        </p:sp>
        <p:sp>
          <p:nvSpPr>
            <p:cNvPr id="197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5521018" y="2395921"/>
              <a:ext cx="837807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Telemetry Collector</a:t>
              </a:r>
            </a:p>
          </p:txBody>
        </p:sp>
      </p:grpSp>
      <p:sp>
        <p:nvSpPr>
          <p:cNvPr id="231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9208179" y="381265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235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1930379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Behavior Monitor</a:t>
            </a:r>
          </a:p>
        </p:txBody>
      </p:sp>
      <p:cxnSp>
        <p:nvCxnSpPr>
          <p:cNvPr id="23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35" idx="2"/>
            <a:endCxn id="414" idx="0"/>
          </p:cNvCxnSpPr>
          <p:nvPr/>
        </p:nvCxnSpPr>
        <p:spPr>
          <a:xfrm>
            <a:off x="9234360" y="2289994"/>
            <a:ext cx="0" cy="244426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237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8667632" y="4267356"/>
            <a:ext cx="1149429" cy="308026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</a:p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Executor</a:t>
            </a:r>
          </a:p>
        </p:txBody>
      </p:sp>
      <p:cxnSp>
        <p:nvCxnSpPr>
          <p:cNvPr id="24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21" idx="2"/>
            <a:endCxn id="237" idx="0"/>
          </p:cNvCxnSpPr>
          <p:nvPr/>
        </p:nvCxnSpPr>
        <p:spPr>
          <a:xfrm rot="16200000" flipH="1">
            <a:off x="8771263" y="3796272"/>
            <a:ext cx="222880" cy="71928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4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20" idx="2"/>
            <a:endCxn id="237" idx="0"/>
          </p:cNvCxnSpPr>
          <p:nvPr/>
        </p:nvCxnSpPr>
        <p:spPr>
          <a:xfrm rot="5400000">
            <a:off x="9517027" y="3769796"/>
            <a:ext cx="222880" cy="77224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198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57" idx="3"/>
            <a:endCxn id="197" idx="1"/>
          </p:cNvCxnSpPr>
          <p:nvPr/>
        </p:nvCxnSpPr>
        <p:spPr>
          <a:xfrm>
            <a:off x="4327355" y="1981416"/>
            <a:ext cx="1193663" cy="563107"/>
          </a:xfrm>
          <a:prstGeom prst="bentConnector3">
            <a:avLst>
              <a:gd name="adj1" fmla="val 71705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312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43" idx="3"/>
            <a:endCxn id="235" idx="1"/>
          </p:cNvCxnSpPr>
          <p:nvPr/>
        </p:nvCxnSpPr>
        <p:spPr>
          <a:xfrm flipV="1">
            <a:off x="7560911" y="2110187"/>
            <a:ext cx="1099478" cy="30094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274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32" idx="3"/>
            <a:endCxn id="157" idx="1"/>
          </p:cNvCxnSpPr>
          <p:nvPr/>
        </p:nvCxnSpPr>
        <p:spPr>
          <a:xfrm flipV="1">
            <a:off x="2154586" y="1981416"/>
            <a:ext cx="1024827" cy="396912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355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705023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Memory </a:t>
            </a:r>
          </a:p>
        </p:txBody>
      </p:sp>
      <p:sp>
        <p:nvSpPr>
          <p:cNvPr id="378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381847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</a:t>
            </a:r>
          </a:p>
        </p:txBody>
      </p:sp>
      <p:sp>
        <p:nvSpPr>
          <p:cNvPr id="379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028199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Adapter </a:t>
            </a:r>
          </a:p>
        </p:txBody>
      </p:sp>
      <p:sp>
        <p:nvSpPr>
          <p:cNvPr id="380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351375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Expert </a:t>
            </a:r>
          </a:p>
        </p:txBody>
      </p:sp>
      <p:sp>
        <p:nvSpPr>
          <p:cNvPr id="381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674552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Vector </a:t>
            </a:r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Idx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Cache</a:t>
            </a:r>
          </a:p>
        </p:txBody>
      </p:sp>
      <p:sp>
        <p:nvSpPr>
          <p:cNvPr id="385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10432876" y="1930379"/>
            <a:ext cx="862466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</a:t>
            </a:r>
          </a:p>
        </p:txBody>
      </p:sp>
      <p:cxnSp>
        <p:nvCxnSpPr>
          <p:cNvPr id="38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35" idx="3"/>
            <a:endCxn id="385" idx="1"/>
          </p:cNvCxnSpPr>
          <p:nvPr/>
        </p:nvCxnSpPr>
        <p:spPr>
          <a:xfrm>
            <a:off x="9808331" y="2110187"/>
            <a:ext cx="624545" cy="0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389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78" idx="1"/>
          </p:cNvCxnSpPr>
          <p:nvPr/>
        </p:nvCxnSpPr>
        <p:spPr>
          <a:xfrm rot="16200000" flipH="1">
            <a:off x="10827202" y="2326901"/>
            <a:ext cx="219137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55" idx="1"/>
          </p:cNvCxnSpPr>
          <p:nvPr/>
        </p:nvCxnSpPr>
        <p:spPr>
          <a:xfrm rot="16200000" flipH="1">
            <a:off x="10665614" y="2488489"/>
            <a:ext cx="542313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79" idx="1"/>
          </p:cNvCxnSpPr>
          <p:nvPr/>
        </p:nvCxnSpPr>
        <p:spPr>
          <a:xfrm rot="16200000" flipH="1">
            <a:off x="10504026" y="2650077"/>
            <a:ext cx="865489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398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80" idx="1"/>
          </p:cNvCxnSpPr>
          <p:nvPr/>
        </p:nvCxnSpPr>
        <p:spPr>
          <a:xfrm rot="16200000" flipH="1">
            <a:off x="10342438" y="2811665"/>
            <a:ext cx="1188665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401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385" idx="2"/>
            <a:endCxn id="381" idx="1"/>
          </p:cNvCxnSpPr>
          <p:nvPr/>
        </p:nvCxnSpPr>
        <p:spPr>
          <a:xfrm rot="16200000" flipH="1">
            <a:off x="10180849" y="2973254"/>
            <a:ext cx="1511842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sp>
        <p:nvSpPr>
          <p:cNvPr id="414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2534420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Behavior-based Trend Analyzer</a:t>
            </a:r>
          </a:p>
        </p:txBody>
      </p:sp>
      <p:sp>
        <p:nvSpPr>
          <p:cNvPr id="417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660389" y="3065065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Future Behavior Predictor</a:t>
            </a:r>
          </a:p>
        </p:txBody>
      </p:sp>
      <p:sp>
        <p:nvSpPr>
          <p:cNvPr id="420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9440616" y="3684861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Data</a:t>
            </a:r>
          </a:p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421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7949089" y="3684861"/>
            <a:ext cx="1147942" cy="359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47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4" idx="2"/>
            <a:endCxn id="417" idx="0"/>
          </p:cNvCxnSpPr>
          <p:nvPr/>
        </p:nvCxnSpPr>
        <p:spPr>
          <a:xfrm>
            <a:off x="9234360" y="2894035"/>
            <a:ext cx="0" cy="171030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473" name="직사각형 472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9216547" y="2328139"/>
            <a:ext cx="941068" cy="1867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Data Affinity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정보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7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7" idx="2"/>
            <a:endCxn id="420" idx="0"/>
          </p:cNvCxnSpPr>
          <p:nvPr/>
        </p:nvCxnSpPr>
        <p:spPr>
          <a:xfrm rot="16200000" flipH="1">
            <a:off x="9494383" y="3164656"/>
            <a:ext cx="260181" cy="78022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477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417" idx="2"/>
            <a:endCxn id="421" idx="0"/>
          </p:cNvCxnSpPr>
          <p:nvPr/>
        </p:nvCxnSpPr>
        <p:spPr>
          <a:xfrm rot="5400000">
            <a:off x="8748620" y="3199120"/>
            <a:ext cx="260181" cy="7113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grpSp>
        <p:nvGrpSpPr>
          <p:cNvPr id="487" name="그룹 486"/>
          <p:cNvGrpSpPr/>
          <p:nvPr/>
        </p:nvGrpSpPr>
        <p:grpSpPr>
          <a:xfrm>
            <a:off x="6668798" y="3314821"/>
            <a:ext cx="1016101" cy="1260561"/>
            <a:chOff x="5405727" y="1845809"/>
            <a:chExt cx="1016101" cy="1260561"/>
          </a:xfrm>
        </p:grpSpPr>
        <p:sp>
          <p:nvSpPr>
            <p:cNvPr id="488" name="Shape 59">
              <a:extLst>
                <a:ext uri="{FF2B5EF4-FFF2-40B4-BE49-F238E27FC236}">
                  <a16:creationId xmlns:a16="http://schemas.microsoft.com/office/drawing/2014/main" id="{67748352-D195-48A3-8563-9385B634D68C}"/>
                </a:ext>
              </a:extLst>
            </p:cNvPr>
            <p:cNvSpPr/>
            <p:nvPr/>
          </p:nvSpPr>
          <p:spPr>
            <a:xfrm>
              <a:off x="5405727" y="1845809"/>
              <a:ext cx="1016101" cy="1260561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ko-KR" sz="1000" dirty="0"/>
                <a:t>Resource Manager</a:t>
              </a:r>
              <a:endParaRPr lang="ko-KR" altLang="en-US" sz="1000" dirty="0"/>
            </a:p>
          </p:txBody>
        </p:sp>
        <p:sp>
          <p:nvSpPr>
            <p:cNvPr id="489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5504626" y="2284243"/>
              <a:ext cx="837807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Telemetry Collector</a:t>
              </a:r>
            </a:p>
          </p:txBody>
        </p:sp>
      </p:grpSp>
      <p:cxnSp>
        <p:nvCxnSpPr>
          <p:cNvPr id="490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421" idx="1"/>
            <a:endCxn id="489" idx="3"/>
          </p:cNvCxnSpPr>
          <p:nvPr/>
        </p:nvCxnSpPr>
        <p:spPr>
          <a:xfrm rot="10800000" flipV="1">
            <a:off x="7605505" y="3864669"/>
            <a:ext cx="343585" cy="37188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505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91" idx="1"/>
            <a:endCxn id="566" idx="4"/>
          </p:cNvCxnSpPr>
          <p:nvPr/>
        </p:nvCxnSpPr>
        <p:spPr>
          <a:xfrm rot="10800000" flipV="1">
            <a:off x="2059110" y="3875436"/>
            <a:ext cx="479558" cy="18799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grpSp>
        <p:nvGrpSpPr>
          <p:cNvPr id="525" name="그룹 524"/>
          <p:cNvGrpSpPr/>
          <p:nvPr/>
        </p:nvGrpSpPr>
        <p:grpSpPr>
          <a:xfrm>
            <a:off x="10951822" y="4005409"/>
            <a:ext cx="900294" cy="377838"/>
            <a:chOff x="11040384" y="4137943"/>
            <a:chExt cx="900294" cy="377838"/>
          </a:xfrm>
        </p:grpSpPr>
        <p:grpSp>
          <p:nvGrpSpPr>
            <p:cNvPr id="460" name="그룹 459"/>
            <p:cNvGrpSpPr/>
            <p:nvPr/>
          </p:nvGrpSpPr>
          <p:grpSpPr>
            <a:xfrm>
              <a:off x="11040384" y="4137943"/>
              <a:ext cx="788371" cy="258772"/>
              <a:chOff x="7752318" y="2902314"/>
              <a:chExt cx="686990" cy="258772"/>
            </a:xfrm>
          </p:grpSpPr>
          <p:sp>
            <p:nvSpPr>
              <p:cNvPr id="467" name="모서리가 접힌 도형 466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461" name="그룹 460"/>
            <p:cNvGrpSpPr/>
            <p:nvPr/>
          </p:nvGrpSpPr>
          <p:grpSpPr>
            <a:xfrm>
              <a:off x="11068808" y="4168822"/>
              <a:ext cx="788371" cy="258772"/>
              <a:chOff x="7752318" y="2902314"/>
              <a:chExt cx="686990" cy="258772"/>
            </a:xfrm>
          </p:grpSpPr>
          <p:sp>
            <p:nvSpPr>
              <p:cNvPr id="465" name="모서리가 접힌 도형 464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6" name="직사각형 465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462" name="그룹 461"/>
            <p:cNvGrpSpPr/>
            <p:nvPr/>
          </p:nvGrpSpPr>
          <p:grpSpPr>
            <a:xfrm>
              <a:off x="11099474" y="4196592"/>
              <a:ext cx="788371" cy="258772"/>
              <a:chOff x="7752318" y="2902314"/>
              <a:chExt cx="686990" cy="258772"/>
            </a:xfrm>
          </p:grpSpPr>
          <p:sp>
            <p:nvSpPr>
              <p:cNvPr id="463" name="모서리가 접힌 도형 462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  <p:grpSp>
          <p:nvGrpSpPr>
            <p:cNvPr id="519" name="그룹 518"/>
            <p:cNvGrpSpPr/>
            <p:nvPr/>
          </p:nvGrpSpPr>
          <p:grpSpPr>
            <a:xfrm>
              <a:off x="11124641" y="4226530"/>
              <a:ext cx="788371" cy="258772"/>
              <a:chOff x="7752318" y="2902314"/>
              <a:chExt cx="686990" cy="258772"/>
            </a:xfrm>
          </p:grpSpPr>
          <p:sp>
            <p:nvSpPr>
              <p:cNvPr id="520" name="모서리가 접힌 도형 519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1" name="직사각형 520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  <p:grpSp>
          <p:nvGrpSpPr>
            <p:cNvPr id="522" name="그룹 521"/>
            <p:cNvGrpSpPr/>
            <p:nvPr/>
          </p:nvGrpSpPr>
          <p:grpSpPr>
            <a:xfrm>
              <a:off x="11152307" y="4257009"/>
              <a:ext cx="788371" cy="258772"/>
              <a:chOff x="7752318" y="2902314"/>
              <a:chExt cx="686990" cy="258772"/>
            </a:xfrm>
          </p:grpSpPr>
          <p:sp>
            <p:nvSpPr>
              <p:cNvPr id="523" name="모서리가 접힌 도형 522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4" name="직사각형 523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</p:grpSp>
      <p:sp>
        <p:nvSpPr>
          <p:cNvPr id="531" name="원통 530"/>
          <p:cNvSpPr/>
          <p:nvPr/>
        </p:nvSpPr>
        <p:spPr>
          <a:xfrm>
            <a:off x="2247008" y="3046285"/>
            <a:ext cx="520861" cy="254568"/>
          </a:xfrm>
          <a:prstGeom prst="can">
            <a:avLst/>
          </a:prstGeom>
          <a:ln w="6350">
            <a:solidFill>
              <a:srgbClr val="AFCEEB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bg1">
                    <a:lumMod val="75000"/>
                  </a:schemeClr>
                </a:solidFill>
              </a:rPr>
              <a:t>Func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533" name="구부러진 연결선 532"/>
          <p:cNvCxnSpPr>
            <a:stCxn id="156" idx="2"/>
            <a:endCxn id="531" idx="4"/>
          </p:cNvCxnSpPr>
          <p:nvPr/>
        </p:nvCxnSpPr>
        <p:spPr>
          <a:xfrm rot="5400000">
            <a:off x="2788031" y="2848216"/>
            <a:ext cx="305191" cy="345514"/>
          </a:xfrm>
          <a:prstGeom prst="curvedConnector2">
            <a:avLst/>
          </a:prstGeom>
          <a:ln w="6350">
            <a:solidFill>
              <a:srgbClr val="AFCE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원통 533"/>
          <p:cNvSpPr/>
          <p:nvPr/>
        </p:nvSpPr>
        <p:spPr>
          <a:xfrm>
            <a:off x="10029706" y="2807556"/>
            <a:ext cx="520861" cy="254568"/>
          </a:xfrm>
          <a:prstGeom prst="can">
            <a:avLst/>
          </a:prstGeom>
          <a:solidFill>
            <a:srgbClr val="FFFFFF"/>
          </a:solidFill>
          <a:ln w="6350">
            <a:solidFill>
              <a:srgbClr val="E6B99A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Func1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535" name="구부러진 연결선 534"/>
          <p:cNvCxnSpPr>
            <a:stCxn id="414" idx="2"/>
            <a:endCxn id="534" idx="2"/>
          </p:cNvCxnSpPr>
          <p:nvPr/>
        </p:nvCxnSpPr>
        <p:spPr>
          <a:xfrm rot="16200000" flipH="1">
            <a:off x="9611631" y="2516764"/>
            <a:ext cx="40805" cy="795346"/>
          </a:xfrm>
          <a:prstGeom prst="curvedConnector2">
            <a:avLst/>
          </a:prstGeom>
          <a:noFill/>
          <a:ln w="6350">
            <a:solidFill>
              <a:srgbClr val="E6B99A"/>
            </a:solidFill>
            <a:prstDash val="solid"/>
            <a:headEnd type="none"/>
            <a:tailEnd type="triangle"/>
          </a:ln>
        </p:spPr>
      </p:cxnSp>
      <p:sp>
        <p:nvSpPr>
          <p:cNvPr id="541" name="원통 540"/>
          <p:cNvSpPr/>
          <p:nvPr/>
        </p:nvSpPr>
        <p:spPr>
          <a:xfrm>
            <a:off x="10029706" y="3284574"/>
            <a:ext cx="520861" cy="254568"/>
          </a:xfrm>
          <a:prstGeom prst="can">
            <a:avLst/>
          </a:prstGeom>
          <a:solidFill>
            <a:srgbClr val="FFFFFF"/>
          </a:solidFill>
          <a:ln w="6350">
            <a:solidFill>
              <a:srgbClr val="E6B99A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Func2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542" name="구부러진 연결선 541"/>
          <p:cNvCxnSpPr>
            <a:stCxn id="417" idx="2"/>
            <a:endCxn id="541" idx="2"/>
          </p:cNvCxnSpPr>
          <p:nvPr/>
        </p:nvCxnSpPr>
        <p:spPr>
          <a:xfrm rot="5400000" flipH="1" flipV="1">
            <a:off x="9625622" y="3020596"/>
            <a:ext cx="12822" cy="795346"/>
          </a:xfrm>
          <a:prstGeom prst="curvedConnector4">
            <a:avLst>
              <a:gd name="adj1" fmla="val -609336"/>
              <a:gd name="adj2" fmla="val 86083"/>
            </a:avLst>
          </a:prstGeom>
          <a:noFill/>
          <a:ln w="6350">
            <a:solidFill>
              <a:srgbClr val="E6B99A"/>
            </a:solidFill>
            <a:prstDash val="solid"/>
            <a:headEnd type="none"/>
            <a:tailEnd type="triangle"/>
          </a:ln>
        </p:spPr>
      </p:cxnSp>
      <p:grpSp>
        <p:nvGrpSpPr>
          <p:cNvPr id="568" name="그룹 567"/>
          <p:cNvGrpSpPr/>
          <p:nvPr/>
        </p:nvGrpSpPr>
        <p:grpSpPr>
          <a:xfrm>
            <a:off x="1303414" y="3871352"/>
            <a:ext cx="755696" cy="384167"/>
            <a:chOff x="1359862" y="2799554"/>
            <a:chExt cx="755696" cy="384167"/>
          </a:xfrm>
        </p:grpSpPr>
        <p:sp>
          <p:nvSpPr>
            <p:cNvPr id="566" name="Shape 35">
              <a:extLst>
                <a:ext uri="{FF2B5EF4-FFF2-40B4-BE49-F238E27FC236}">
                  <a16:creationId xmlns:a16="http://schemas.microsoft.com/office/drawing/2014/main" id="{2AF637AF-E433-47AC-BA4E-9F7E3C334277}"/>
                </a:ext>
              </a:extLst>
            </p:cNvPr>
            <p:cNvSpPr/>
            <p:nvPr/>
          </p:nvSpPr>
          <p:spPr>
            <a:xfrm>
              <a:off x="1359862" y="2799554"/>
              <a:ext cx="755696" cy="384167"/>
            </a:xfrm>
            <a:prstGeom prst="can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67" name="직사각형 566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439012" y="2874371"/>
              <a:ext cx="611259" cy="269641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Memory</a:t>
              </a:r>
              <a:endParaRPr lang="en-US" altLang="ko-KR" sz="800" dirty="0"/>
            </a:p>
            <a:p>
              <a:pPr algn="ctr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Registry</a:t>
              </a:r>
              <a:endParaRPr lang="en-US" altLang="ko-KR" sz="800" dirty="0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6838341" y="4143967"/>
            <a:ext cx="755696" cy="384167"/>
            <a:chOff x="1359862" y="2799554"/>
            <a:chExt cx="755696" cy="384167"/>
          </a:xfrm>
        </p:grpSpPr>
        <p:sp>
          <p:nvSpPr>
            <p:cNvPr id="606" name="Shape 35">
              <a:extLst>
                <a:ext uri="{FF2B5EF4-FFF2-40B4-BE49-F238E27FC236}">
                  <a16:creationId xmlns:a16="http://schemas.microsoft.com/office/drawing/2014/main" id="{2AF637AF-E433-47AC-BA4E-9F7E3C334277}"/>
                </a:ext>
              </a:extLst>
            </p:cNvPr>
            <p:cNvSpPr/>
            <p:nvPr/>
          </p:nvSpPr>
          <p:spPr>
            <a:xfrm>
              <a:off x="1359862" y="2799554"/>
              <a:ext cx="755696" cy="384167"/>
            </a:xfrm>
            <a:prstGeom prst="can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07" name="직사각형 606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439012" y="2874371"/>
              <a:ext cx="611259" cy="269641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Memory</a:t>
              </a:r>
              <a:endParaRPr lang="en-US" altLang="ko-KR" sz="800" dirty="0"/>
            </a:p>
            <a:p>
              <a:pPr algn="ctr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Registry</a:t>
              </a:r>
              <a:endParaRPr lang="en-US" altLang="ko-KR" sz="800" dirty="0"/>
            </a:p>
          </p:txBody>
        </p:sp>
      </p:grpSp>
      <p:cxnSp>
        <p:nvCxnSpPr>
          <p:cNvPr id="609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421" idx="1"/>
            <a:endCxn id="606" idx="4"/>
          </p:cNvCxnSpPr>
          <p:nvPr/>
        </p:nvCxnSpPr>
        <p:spPr>
          <a:xfrm rot="10800000" flipV="1">
            <a:off x="7594037" y="3864669"/>
            <a:ext cx="355052" cy="471382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29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202667" y="3101126"/>
            <a:ext cx="1149429" cy="372712"/>
          </a:xfrm>
          <a:prstGeom prst="rect">
            <a:avLst/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Data-Memory Affinity Mapper</a:t>
            </a:r>
          </a:p>
        </p:txBody>
      </p:sp>
      <p:cxnSp>
        <p:nvCxnSpPr>
          <p:cNvPr id="13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29" idx="2"/>
            <a:endCxn id="166" idx="0"/>
          </p:cNvCxnSpPr>
          <p:nvPr/>
        </p:nvCxnSpPr>
        <p:spPr>
          <a:xfrm rot="16200000" flipH="1">
            <a:off x="4005075" y="3246144"/>
            <a:ext cx="215953" cy="67133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15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29" idx="2"/>
            <a:endCxn id="191" idx="0"/>
          </p:cNvCxnSpPr>
          <p:nvPr/>
        </p:nvCxnSpPr>
        <p:spPr>
          <a:xfrm rot="5400000">
            <a:off x="3337762" y="3249460"/>
            <a:ext cx="215243" cy="66399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sp>
        <p:nvSpPr>
          <p:cNvPr id="15" name="모서리가 접힌 도형 14"/>
          <p:cNvSpPr/>
          <p:nvPr/>
        </p:nvSpPr>
        <p:spPr>
          <a:xfrm>
            <a:off x="5204224" y="3303037"/>
            <a:ext cx="1375471" cy="111098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자세히</a:t>
            </a:r>
            <a:r>
              <a:rPr lang="en-US" altLang="ko-KR" dirty="0"/>
              <a:t>.</a:t>
            </a:r>
          </a:p>
          <a:p>
            <a:pPr algn="ctr"/>
            <a:r>
              <a:rPr lang="ko-KR" altLang="en-US" dirty="0"/>
              <a:t>페이지 따로 만들기</a:t>
            </a:r>
          </a:p>
        </p:txBody>
      </p:sp>
      <p:sp>
        <p:nvSpPr>
          <p:cNvPr id="130" name="직사각형 129"/>
          <p:cNvSpPr/>
          <p:nvPr/>
        </p:nvSpPr>
        <p:spPr>
          <a:xfrm>
            <a:off x="6291415" y="180689"/>
            <a:ext cx="15418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(Where to locate?)</a:t>
            </a:r>
            <a:endParaRPr lang="ko-KR" altLang="en-US" sz="12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E4708C69-377B-4948-91E1-D9019E177C8B}"/>
              </a:ext>
            </a:extLst>
          </p:cNvPr>
          <p:cNvGrpSpPr/>
          <p:nvPr/>
        </p:nvGrpSpPr>
        <p:grpSpPr>
          <a:xfrm>
            <a:off x="1259641" y="1798432"/>
            <a:ext cx="894945" cy="725580"/>
            <a:chOff x="1249858" y="1739024"/>
            <a:chExt cx="894945" cy="725580"/>
          </a:xfrm>
        </p:grpSpPr>
        <p:sp>
          <p:nvSpPr>
            <p:cNvPr id="124" name="Shape 31">
              <a:extLst>
                <a:ext uri="{FF2B5EF4-FFF2-40B4-BE49-F238E27FC236}">
                  <a16:creationId xmlns:a16="http://schemas.microsoft.com/office/drawing/2014/main" id="{5008A3F3-1B8A-4382-847F-CE66894370DE}"/>
                </a:ext>
              </a:extLst>
            </p:cNvPr>
            <p:cNvSpPr/>
            <p:nvPr/>
          </p:nvSpPr>
          <p:spPr>
            <a:xfrm>
              <a:off x="1368023" y="1739024"/>
              <a:ext cx="658614" cy="185841"/>
            </a:xfrm>
            <a:prstGeom prst="roundRect">
              <a:avLst>
                <a:gd name="adj" fmla="val 50000"/>
              </a:avLst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Event</a:t>
              </a:r>
            </a:p>
          </p:txBody>
        </p:sp>
        <p:cxnSp>
          <p:nvCxnSpPr>
            <p:cNvPr id="125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132" idx="0"/>
              <a:endCxn id="124" idx="2"/>
            </p:cNvCxnSpPr>
            <p:nvPr/>
          </p:nvCxnSpPr>
          <p:spPr>
            <a:xfrm flipH="1" flipV="1">
              <a:off x="1697330" y="1924865"/>
              <a:ext cx="1" cy="248370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249858" y="2173235"/>
              <a:ext cx="894945" cy="291369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E4708C69-377B-4948-91E1-D9019E177C8B}"/>
              </a:ext>
            </a:extLst>
          </p:cNvPr>
          <p:cNvGrpSpPr/>
          <p:nvPr/>
        </p:nvGrpSpPr>
        <p:grpSpPr>
          <a:xfrm>
            <a:off x="6665966" y="1831236"/>
            <a:ext cx="894945" cy="725580"/>
            <a:chOff x="1249858" y="1739024"/>
            <a:chExt cx="894945" cy="725580"/>
          </a:xfrm>
        </p:grpSpPr>
        <p:sp>
          <p:nvSpPr>
            <p:cNvPr id="134" name="Shape 31">
              <a:extLst>
                <a:ext uri="{FF2B5EF4-FFF2-40B4-BE49-F238E27FC236}">
                  <a16:creationId xmlns:a16="http://schemas.microsoft.com/office/drawing/2014/main" id="{5008A3F3-1B8A-4382-847F-CE66894370DE}"/>
                </a:ext>
              </a:extLst>
            </p:cNvPr>
            <p:cNvSpPr/>
            <p:nvPr/>
          </p:nvSpPr>
          <p:spPr>
            <a:xfrm>
              <a:off x="1368023" y="1739024"/>
              <a:ext cx="658614" cy="185841"/>
            </a:xfrm>
            <a:prstGeom prst="roundRect">
              <a:avLst>
                <a:gd name="adj" fmla="val 50000"/>
              </a:avLst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Event</a:t>
              </a:r>
            </a:p>
          </p:txBody>
        </p:sp>
        <p:cxnSp>
          <p:nvCxnSpPr>
            <p:cNvPr id="135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143" idx="0"/>
              <a:endCxn id="134" idx="2"/>
            </p:cNvCxnSpPr>
            <p:nvPr/>
          </p:nvCxnSpPr>
          <p:spPr>
            <a:xfrm flipH="1" flipV="1">
              <a:off x="1697330" y="1924865"/>
              <a:ext cx="1" cy="248370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249858" y="2173235"/>
              <a:ext cx="894945" cy="291369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1805634" y="1984408"/>
            <a:ext cx="1052913" cy="1867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Event push 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비동기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7109032" y="2026116"/>
            <a:ext cx="1052913" cy="1867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Event push (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비동기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10" name="MemIF_C1_TC_bar"/>
          <p:cNvSpPr/>
          <p:nvPr/>
        </p:nvSpPr>
        <p:spPr>
          <a:xfrm>
            <a:off x="5138928" y="2916936"/>
            <a:ext cx="1371600" cy="36576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611" name="MemIF_C1_TC_face1"/>
          <p:cNvSpPr/>
          <p:nvPr/>
        </p:nvSpPr>
        <p:spPr>
          <a:xfrm>
            <a:off x="5166360" y="3044952"/>
            <a:ext cx="1316736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② Telemetry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RSM: capacity·BW·load</a:t>
            </a:r>
          </a:p>
        </p:txBody>
      </p:sp>
      <p:sp>
        <p:nvSpPr>
          <p:cNvPr id="612" name="MemIF_C1_MR_bar"/>
          <p:cNvSpPr/>
          <p:nvPr/>
        </p:nvSpPr>
        <p:spPr>
          <a:xfrm>
            <a:off x="1234440" y="4626864"/>
            <a:ext cx="1371600" cy="42976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613" name="MemIF_C1_MR_face1"/>
          <p:cNvSpPr/>
          <p:nvPr/>
        </p:nvSpPr>
        <p:spPr>
          <a:xfrm>
            <a:off x="1261872" y="4754879"/>
            <a:ext cx="1316736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①③ Desc.·Binding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capability·cost</a:t>
            </a:r>
          </a:p>
        </p:txBody>
      </p:sp>
      <p:cxnSp>
        <p:nvCxnSpPr>
          <p:cNvPr id="614" name="MemIF_C1_MR_link"/>
          <p:cNvCxnSpPr/>
          <p:nvPr/>
        </p:nvCxnSpPr>
        <p:spPr>
          <a:xfrm>
            <a:off x="1691640" y="4453128"/>
            <a:ext cx="0" cy="173736"/>
          </a:xfrm>
          <a:prstGeom prst="line">
            <a:avLst/>
          </a:prstGeom>
          <a:ln w="1270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5" name="MemIF_C2_bar"/>
          <p:cNvSpPr/>
          <p:nvPr/>
        </p:nvSpPr>
        <p:spPr>
          <a:xfrm>
            <a:off x="6665976" y="4626864"/>
            <a:ext cx="1865376" cy="42976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9144" bIns="9144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616" name="MemIF_C2_face1"/>
          <p:cNvSpPr/>
          <p:nvPr/>
        </p:nvSpPr>
        <p:spPr>
          <a:xfrm>
            <a:off x="6693408" y="47548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② Telemetry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capacity·BW·load</a:t>
            </a:r>
          </a:p>
        </p:txBody>
      </p:sp>
      <p:sp>
        <p:nvSpPr>
          <p:cNvPr id="617" name="MemIF_C2_face2"/>
          <p:cNvSpPr/>
          <p:nvPr/>
        </p:nvSpPr>
        <p:spPr>
          <a:xfrm>
            <a:off x="7612379" y="4754879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580" b="1">
                <a:solidFill>
                  <a:srgbClr val="1A1A1A"/>
                </a:solidFill>
                <a:latin typeface="맑은 고딕"/>
                <a:ea typeface="맑은 고딕"/>
              </a:rPr>
              <a:t>①③ Desc.·Binding</a:t>
            </a:r>
          </a:p>
          <a:p>
            <a:pPr algn="ctr"/>
            <a:r>
              <a:rPr sz="580" b="0">
                <a:solidFill>
                  <a:srgbClr val="1A1A1A"/>
                </a:solidFill>
                <a:latin typeface="맑은 고딕"/>
                <a:ea typeface="맑은 고딕"/>
              </a:rPr>
              <a:t>→ DTS: capability·cost</a:t>
            </a:r>
          </a:p>
        </p:txBody>
      </p:sp>
      <p:sp>
        <p:nvSpPr>
          <p:cNvPr id="618" name="tag_C1_TC"/>
          <p:cNvSpPr/>
          <p:nvPr/>
        </p:nvSpPr>
        <p:spPr>
          <a:xfrm>
            <a:off x="6291072" y="2322576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19" name="tag_C1_MR"/>
          <p:cNvSpPr/>
          <p:nvPr/>
        </p:nvSpPr>
        <p:spPr>
          <a:xfrm>
            <a:off x="1920240" y="3877056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0" name="tag_C1_to_RSM"/>
          <p:cNvSpPr/>
          <p:nvPr/>
        </p:nvSpPr>
        <p:spPr>
          <a:xfrm>
            <a:off x="4846320" y="219456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1" name="tag_C1_to_DTS"/>
          <p:cNvSpPr/>
          <p:nvPr/>
        </p:nvSpPr>
        <p:spPr>
          <a:xfrm>
            <a:off x="2157984" y="3785615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2" name="tag_C2_TC"/>
          <p:cNvSpPr/>
          <p:nvPr/>
        </p:nvSpPr>
        <p:spPr>
          <a:xfrm>
            <a:off x="7534656" y="3675887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3" name="tag_C2_MR"/>
          <p:cNvSpPr/>
          <p:nvPr/>
        </p:nvSpPr>
        <p:spPr>
          <a:xfrm>
            <a:off x="7461504" y="4142232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624" name="tag_C2_TC_to_DTS"/>
          <p:cNvSpPr/>
          <p:nvPr/>
        </p:nvSpPr>
        <p:spPr>
          <a:xfrm>
            <a:off x="7699248" y="3794760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625" name="tag_C2_MR_to_DTS"/>
          <p:cNvSpPr/>
          <p:nvPr/>
        </p:nvSpPr>
        <p:spPr>
          <a:xfrm>
            <a:off x="7699248" y="4087368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</p:spTree>
    <p:extLst>
      <p:ext uri="{BB962C8B-B14F-4D97-AF65-F5344CB8AC3E}">
        <p14:creationId xmlns:p14="http://schemas.microsoft.com/office/powerpoint/2010/main" val="4235539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DP2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2177541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146"/>
          <p:cNvSpPr/>
          <p:nvPr/>
        </p:nvSpPr>
        <p:spPr>
          <a:xfrm>
            <a:off x="347472" y="758044"/>
            <a:ext cx="11494008" cy="2506364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6148" name="Rounded Rectangle 6147"/>
          <p:cNvSpPr/>
          <p:nvPr/>
        </p:nvSpPr>
        <p:spPr>
          <a:xfrm>
            <a:off x="4448556" y="630392"/>
            <a:ext cx="3291840" cy="283464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1100" b="1" dirty="0">
                <a:solidFill>
                  <a:srgbClr val="000000"/>
                </a:solidFill>
                <a:latin typeface="맑은 고딕"/>
                <a:ea typeface="맑은 고딕"/>
              </a:rPr>
              <a:t>① 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</a:rPr>
              <a:t>Prefill /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</a:rPr>
              <a:t>Decode란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</a:rPr>
              <a:t>?</a:t>
            </a:r>
          </a:p>
        </p:txBody>
      </p:sp>
      <p:sp>
        <p:nvSpPr>
          <p:cNvPr id="6149" name="Rectangle 6148"/>
          <p:cNvSpPr/>
          <p:nvPr/>
        </p:nvSpPr>
        <p:spPr>
          <a:xfrm>
            <a:off x="347472" y="3547872"/>
            <a:ext cx="11494008" cy="2395728"/>
          </a:xfrm>
          <a:prstGeom prst="rect">
            <a:avLst/>
          </a:prstGeom>
          <a:noFill/>
          <a:ln w="9525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6150" name="Rounded Rectangle 6149"/>
          <p:cNvSpPr/>
          <p:nvPr/>
        </p:nvSpPr>
        <p:spPr>
          <a:xfrm>
            <a:off x="3259836" y="3401568"/>
            <a:ext cx="5669280" cy="283464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ko-KR" altLang="en-US" sz="1100" b="1" dirty="0">
                <a:solidFill>
                  <a:srgbClr val="000000"/>
                </a:solidFill>
                <a:latin typeface="맑은 고딕"/>
                <a:ea typeface="맑은 고딕"/>
              </a:rPr>
              <a:t>② 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</a:rPr>
              <a:t>Prefill-Decode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</a:rPr>
              <a:t>분리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맑은 고딕"/>
                <a:ea typeface="맑은 고딕"/>
              </a:rPr>
              <a:t>실행</a:t>
            </a:r>
            <a:r>
              <a:rPr sz="1100" b="1" dirty="0">
                <a:solidFill>
                  <a:srgbClr val="000000"/>
                </a:solidFill>
                <a:latin typeface="맑은 고딕"/>
                <a:ea typeface="맑은 고딕"/>
              </a:rPr>
              <a:t> (P/D Disaggregation)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이기종 메모리 환경의 </a:t>
            </a:r>
            <a:r>
              <a:rPr lang="en-US" altLang="ko-KR" dirty="0"/>
              <a:t>Prefill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사전 지식</a:t>
            </a:r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/>
          <p:cNvGrpSpPr/>
          <p:nvPr/>
        </p:nvGrpSpPr>
        <p:grpSpPr>
          <a:xfrm>
            <a:off x="5138928" y="1078992"/>
            <a:ext cx="2831427" cy="2019990"/>
            <a:chOff x="7198162" y="2496690"/>
            <a:chExt cx="3839603" cy="3543981"/>
          </a:xfrm>
        </p:grpSpPr>
        <p:sp>
          <p:nvSpPr>
            <p:cNvPr id="165" name="직사각형 164"/>
            <p:cNvSpPr/>
            <p:nvPr/>
          </p:nvSpPr>
          <p:spPr>
            <a:xfrm>
              <a:off x="8392326" y="3596490"/>
              <a:ext cx="2170873" cy="3960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&lt;Prefill&gt;</a:t>
              </a:r>
              <a:endParaRPr kumimoji="0" lang="ko-KR" alt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맑은 고딕"/>
                <a:cs typeface="Samsung Sharp Sans Bold" pitchFamily="2" charset="0"/>
              </a:endParaRPr>
            </a:p>
          </p:txBody>
        </p:sp>
        <p:sp>
          <p:nvSpPr>
            <p:cNvPr id="166" name="직사각형 165"/>
            <p:cNvSpPr/>
            <p:nvPr/>
          </p:nvSpPr>
          <p:spPr>
            <a:xfrm>
              <a:off x="7359095" y="2557171"/>
              <a:ext cx="1180417" cy="297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Computation</a:t>
              </a:r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7311797" y="3139320"/>
              <a:ext cx="1180417" cy="495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Memory Load &amp; Store</a:t>
              </a:r>
            </a:p>
          </p:txBody>
        </p:sp>
        <p:sp>
          <p:nvSpPr>
            <p:cNvPr id="168" name="직사각형 167"/>
            <p:cNvSpPr/>
            <p:nvPr/>
          </p:nvSpPr>
          <p:spPr>
            <a:xfrm flipH="1">
              <a:off x="10238115" y="3129752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69" name="직사각형 168"/>
            <p:cNvSpPr/>
            <p:nvPr/>
          </p:nvSpPr>
          <p:spPr>
            <a:xfrm flipH="1">
              <a:off x="8814939" y="3134318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70" name="직사각형 169"/>
            <p:cNvSpPr/>
            <p:nvPr/>
          </p:nvSpPr>
          <p:spPr>
            <a:xfrm flipH="1">
              <a:off x="9291636" y="3132770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71" name="직사각형 170"/>
            <p:cNvSpPr/>
            <p:nvPr/>
          </p:nvSpPr>
          <p:spPr>
            <a:xfrm flipH="1">
              <a:off x="9721156" y="3152479"/>
              <a:ext cx="191954" cy="444790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cxnSp>
          <p:nvCxnSpPr>
            <p:cNvPr id="172" name="직선 화살표 연결선 171"/>
            <p:cNvCxnSpPr/>
            <p:nvPr/>
          </p:nvCxnSpPr>
          <p:spPr>
            <a:xfrm>
              <a:off x="8482264" y="3020391"/>
              <a:ext cx="20520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73" name="직사각형 172"/>
            <p:cNvSpPr/>
            <p:nvPr/>
          </p:nvSpPr>
          <p:spPr>
            <a:xfrm>
              <a:off x="8480260" y="2496690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Samsung Sharp Sans Bold" pitchFamily="50" charset="0"/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8962170" y="2496690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Samsung Sharp Sans Bold" pitchFamily="50" charset="0"/>
              </a:endParaRPr>
            </a:p>
          </p:txBody>
        </p:sp>
        <p:sp>
          <p:nvSpPr>
            <p:cNvPr id="175" name="직사각형 174"/>
            <p:cNvSpPr/>
            <p:nvPr/>
          </p:nvSpPr>
          <p:spPr>
            <a:xfrm>
              <a:off x="9444080" y="2496690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Samsung Sharp Sans Bold" pitchFamily="50" charset="0"/>
              </a:endParaRP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9925540" y="2496690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Samsung Sharp Sans Bold" pitchFamily="50" charset="0"/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 flipH="1">
              <a:off x="8814939" y="2934416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 flipH="1">
              <a:off x="9288377" y="2934416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 flipH="1">
              <a:off x="9768853" y="2934416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 flipH="1">
              <a:off x="10231672" y="2934416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 flipH="1">
              <a:off x="8762251" y="4381310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 flipH="1">
              <a:off x="9235576" y="4386251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 flipH="1">
              <a:off x="9722281" y="4376683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 flipH="1">
              <a:off x="10187017" y="4376683"/>
              <a:ext cx="144257" cy="462036"/>
            </a:xfrm>
            <a:prstGeom prst="rect">
              <a:avLst/>
            </a:prstGeom>
            <a:gradFill flip="none" rotWithShape="1">
              <a:gsLst>
                <a:gs pos="0">
                  <a:srgbClr val="4472C4">
                    <a:lumMod val="67000"/>
                  </a:srgbClr>
                </a:gs>
                <a:gs pos="48000">
                  <a:srgbClr val="4472C4">
                    <a:lumMod val="97000"/>
                    <a:lumOff val="3000"/>
                  </a:srgbClr>
                </a:gs>
                <a:gs pos="100000">
                  <a:srgbClr val="4472C4">
                    <a:lumMod val="60000"/>
                    <a:lumOff val="40000"/>
                  </a:srgbClr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맑은 고딕"/>
                <a:cs typeface="+mn-cs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7359746" y="4458147"/>
              <a:ext cx="1180417" cy="297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Computation</a:t>
              </a: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7312448" y="5110146"/>
              <a:ext cx="1180417" cy="4951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Memory Load &amp; Store</a:t>
              </a: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5186C55D-E743-AA2E-D8EB-20E11C073C37}"/>
                </a:ext>
              </a:extLst>
            </p:cNvPr>
            <p:cNvSpPr/>
            <p:nvPr/>
          </p:nvSpPr>
          <p:spPr>
            <a:xfrm>
              <a:off x="8279443" y="5512149"/>
              <a:ext cx="2283756" cy="29707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 &lt; D</a:t>
              </a:r>
              <a:r>
                <a:rPr kumimoji="0" lang="en-US" altLang="ko-KR" sz="125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ecode</a:t>
              </a:r>
              <a:r>
                <a:rPr kumimoji="0" lang="en-US" altLang="ko-KR" sz="125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 &gt;</a:t>
              </a:r>
              <a:endParaRPr kumimoji="0" lang="ko-KR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SamsungOneKorean 700" panose="020B0803030303020204" pitchFamily="50" charset="-127"/>
                <a:cs typeface="Samsung Sharp Sans Bold" pitchFamily="2" charset="0"/>
              </a:endParaRPr>
            </a:p>
          </p:txBody>
        </p:sp>
        <p:cxnSp>
          <p:nvCxnSpPr>
            <p:cNvPr id="188" name="직선 화살표 연결선 187"/>
            <p:cNvCxnSpPr/>
            <p:nvPr/>
          </p:nvCxnSpPr>
          <p:spPr>
            <a:xfrm>
              <a:off x="8434567" y="4948035"/>
              <a:ext cx="2052000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2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89" name="직사각형 188"/>
            <p:cNvSpPr/>
            <p:nvPr/>
          </p:nvSpPr>
          <p:spPr>
            <a:xfrm>
              <a:off x="8425325" y="5095223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+mn-cs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8914473" y="5095223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+mn-cs"/>
              </a:endParaRPr>
            </a:p>
          </p:txBody>
        </p:sp>
        <p:sp>
          <p:nvSpPr>
            <p:cNvPr id="191" name="직사각형 190"/>
            <p:cNvSpPr/>
            <p:nvPr/>
          </p:nvSpPr>
          <p:spPr>
            <a:xfrm>
              <a:off x="9396383" y="5095223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+mn-cs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9877843" y="5095223"/>
              <a:ext cx="469513" cy="374284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lumMod val="67000"/>
                  </a:srgbClr>
                </a:gs>
                <a:gs pos="48000">
                  <a:srgbClr val="FFC000">
                    <a:lumMod val="97000"/>
                    <a:lumOff val="3000"/>
                  </a:srgbClr>
                </a:gs>
                <a:gs pos="100000">
                  <a:srgbClr val="FFC000">
                    <a:lumMod val="60000"/>
                    <a:lumOff val="4000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+mn-cs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 flipH="1">
              <a:off x="8767242" y="4890762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 flipH="1">
              <a:off x="9240680" y="4890762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 flipH="1">
              <a:off x="9721156" y="4890762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96" name="직사각형 195"/>
            <p:cNvSpPr/>
            <p:nvPr/>
          </p:nvSpPr>
          <p:spPr>
            <a:xfrm flipH="1">
              <a:off x="10183975" y="4890762"/>
              <a:ext cx="144257" cy="14400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7262871" y="4826847"/>
              <a:ext cx="1282098" cy="297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Memory BW</a:t>
              </a:r>
            </a:p>
          </p:txBody>
        </p:sp>
        <p:sp>
          <p:nvSpPr>
            <p:cNvPr id="200" name="직사각형 199"/>
            <p:cNvSpPr/>
            <p:nvPr/>
          </p:nvSpPr>
          <p:spPr>
            <a:xfrm>
              <a:off x="7198162" y="2890868"/>
              <a:ext cx="1282098" cy="2970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5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Samsung Sharp Sans Bold" pitchFamily="2" charset="0"/>
                  <a:cs typeface="Samsung Sharp Sans Bold" pitchFamily="2" charset="0"/>
                </a:rPr>
                <a:t>Memory BW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9865413" y="5809613"/>
              <a:ext cx="1063447" cy="2310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" b="0" i="0" u="none" strike="noStrike" kern="1200" cap="none" spc="0" normalizeH="0" baseline="0" noProof="0" dirty="0">
                  <a:ln>
                    <a:noFill/>
                  </a:ln>
                  <a:solidFill>
                    <a:srgbClr val="E7E6E6">
                      <a:lumMod val="50000"/>
                    </a:srgb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[source] Naver Clova</a:t>
              </a:r>
              <a:endParaRPr kumimoji="0" lang="ko-KR" alt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10351217" y="2717104"/>
              <a:ext cx="686548" cy="272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Time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10351217" y="4679278"/>
              <a:ext cx="686548" cy="272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5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Time</a:t>
              </a:r>
              <a:endParaRPr kumimoji="0" lang="ko-KR" altLang="en-US" sz="7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384048" y="1097280"/>
            <a:ext cx="4629759" cy="2020007"/>
            <a:chOff x="-45158" y="1369253"/>
            <a:chExt cx="6860940" cy="3465907"/>
          </a:xfrm>
        </p:grpSpPr>
        <p:grpSp>
          <p:nvGrpSpPr>
            <p:cNvPr id="206" name="그룹 205"/>
            <p:cNvGrpSpPr/>
            <p:nvPr/>
          </p:nvGrpSpPr>
          <p:grpSpPr>
            <a:xfrm>
              <a:off x="-45158" y="1369253"/>
              <a:ext cx="6434557" cy="1991894"/>
              <a:chOff x="947012" y="3108733"/>
              <a:chExt cx="5337782" cy="1686548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5186C55D-E743-AA2E-D8EB-20E11C073C37}"/>
                  </a:ext>
                </a:extLst>
              </p:cNvPr>
              <p:cNvSpPr/>
              <p:nvPr/>
            </p:nvSpPr>
            <p:spPr>
              <a:xfrm>
                <a:off x="947012" y="3112929"/>
                <a:ext cx="1975277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Prefill</a:t>
                </a:r>
                <a:endParaRPr kumimoji="0" lang="ko-KR" altLang="en-US" sz="12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SamsungOneKorean 700" panose="020B0803030303020204" pitchFamily="50" charset="-127"/>
                  <a:cs typeface="Samsung Sharp Sans Bold" pitchFamily="2" charset="0"/>
                </a:endParaRPr>
              </a:p>
            </p:txBody>
          </p:sp>
          <p:cxnSp>
            <p:nvCxnSpPr>
              <p:cNvPr id="208" name="직선 연결선 207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09126" y="3531927"/>
                <a:ext cx="150" cy="1191494"/>
              </a:xfrm>
              <a:prstGeom prst="line">
                <a:avLst/>
              </a:prstGeom>
              <a:noFill/>
              <a:ln w="19050" cap="rnd" cmpd="sng" algn="ctr">
                <a:solidFill>
                  <a:srgbClr val="A6A6A6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09" name="그룹 208"/>
              <p:cNvGrpSpPr/>
              <p:nvPr/>
            </p:nvGrpSpPr>
            <p:grpSpPr>
              <a:xfrm>
                <a:off x="5581891" y="3661568"/>
                <a:ext cx="604062" cy="867545"/>
                <a:chOff x="953656" y="2867715"/>
                <a:chExt cx="540000" cy="775540"/>
              </a:xfrm>
            </p:grpSpPr>
            <p:sp>
              <p:nvSpPr>
                <p:cNvPr id="238" name="줄무늬가 있는 오른쪽 화살표 85">
                  <a:extLst>
                    <a:ext uri="{FF2B5EF4-FFF2-40B4-BE49-F238E27FC236}">
                      <a16:creationId xmlns:a16="http://schemas.microsoft.com/office/drawing/2014/main" id="{4FC2A20A-96F0-40E8-FF0B-07159864B259}"/>
                    </a:ext>
                  </a:extLst>
                </p:cNvPr>
                <p:cNvSpPr/>
                <p:nvPr/>
              </p:nvSpPr>
              <p:spPr>
                <a:xfrm rot="5400000">
                  <a:off x="1054632" y="3423064"/>
                  <a:ext cx="337212" cy="103170"/>
                </a:xfrm>
                <a:prstGeom prst="rightArrow">
                  <a:avLst>
                    <a:gd name="adj1" fmla="val 50000"/>
                    <a:gd name="adj2" fmla="val 91203"/>
                  </a:avLst>
                </a:prstGeom>
                <a:gradFill flip="none" rotWithShape="1">
                  <a:gsLst>
                    <a:gs pos="0">
                      <a:srgbClr val="8631DB"/>
                    </a:gs>
                    <a:gs pos="65000">
                      <a:srgbClr val="9E75E7"/>
                    </a:gs>
                    <a:gs pos="100000">
                      <a:srgbClr val="8093DC"/>
                    </a:gs>
                  </a:gsLst>
                  <a:lin ang="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2859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4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맑은 고딕"/>
                    <a:cs typeface="+mn-cs"/>
                  </a:endParaRPr>
                </a:p>
              </p:txBody>
            </p:sp>
            <p:sp>
              <p:nvSpPr>
                <p:cNvPr id="239" name="모서리가 둥근 직사각형 117">
                  <a:extLst>
                    <a:ext uri="{FF2B5EF4-FFF2-40B4-BE49-F238E27FC236}">
                      <a16:creationId xmlns:a16="http://schemas.microsoft.com/office/drawing/2014/main" id="{5544D22D-B6A3-54CB-7E2C-1B269DF5655E}"/>
                    </a:ext>
                  </a:extLst>
                </p:cNvPr>
                <p:cNvSpPr/>
                <p:nvPr/>
              </p:nvSpPr>
              <p:spPr>
                <a:xfrm>
                  <a:off x="953656" y="2867715"/>
                  <a:ext cx="540000" cy="540000"/>
                </a:xfrm>
                <a:prstGeom prst="roundRect">
                  <a:avLst>
                    <a:gd name="adj" fmla="val 7835"/>
                  </a:avLst>
                </a:prstGeom>
                <a:gradFill flip="none" rotWithShape="1">
                  <a:gsLst>
                    <a:gs pos="0">
                      <a:srgbClr val="FFC000">
                        <a:lumMod val="67000"/>
                      </a:srgbClr>
                    </a:gs>
                    <a:gs pos="48000">
                      <a:srgbClr val="FFC000">
                        <a:lumMod val="97000"/>
                        <a:lumOff val="3000"/>
                      </a:srgbClr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108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 pitchFamily="2" charset="0"/>
                      <a:ea typeface="SAMSUNGONE-600C" panose="020B0503030303020204" pitchFamily="34" charset="-127"/>
                      <a:cs typeface="+mn-cs"/>
                    </a:rPr>
                    <a:t>LM</a:t>
                  </a:r>
                  <a:endPara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ONE-600C" panose="020B0503030303020204" pitchFamily="34" charset="-127"/>
                    <a:cs typeface="+mn-cs"/>
                  </a:endParaRPr>
                </a:p>
              </p:txBody>
            </p:sp>
          </p:grpSp>
          <p:grpSp>
            <p:nvGrpSpPr>
              <p:cNvPr id="210" name="그룹 209"/>
              <p:cNvGrpSpPr/>
              <p:nvPr/>
            </p:nvGrpSpPr>
            <p:grpSpPr>
              <a:xfrm>
                <a:off x="5244491" y="3946924"/>
                <a:ext cx="209139" cy="45719"/>
                <a:chOff x="4132147" y="2579292"/>
                <a:chExt cx="312424" cy="68298"/>
              </a:xfrm>
            </p:grpSpPr>
            <p:sp>
              <p:nvSpPr>
                <p:cNvPr id="235" name="타원 234"/>
                <p:cNvSpPr/>
                <p:nvPr/>
              </p:nvSpPr>
              <p:spPr>
                <a:xfrm>
                  <a:off x="4255016" y="2579292"/>
                  <a:ext cx="66687" cy="66687"/>
                </a:xfrm>
                <a:prstGeom prst="ellipse">
                  <a:avLst/>
                </a:prstGeom>
                <a:solidFill>
                  <a:srgbClr val="8093DC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375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ONE-600C" panose="020B0503030303020204" pitchFamily="34" charset="-127"/>
                    <a:cs typeface="Samsung Sharp Sans Bold" pitchFamily="2" charset="0"/>
                  </a:endParaRPr>
                </a:p>
              </p:txBody>
            </p:sp>
            <p:sp>
              <p:nvSpPr>
                <p:cNvPr id="236" name="타원 235"/>
                <p:cNvSpPr/>
                <p:nvPr/>
              </p:nvSpPr>
              <p:spPr>
                <a:xfrm>
                  <a:off x="4377884" y="2580903"/>
                  <a:ext cx="66687" cy="66687"/>
                </a:xfrm>
                <a:prstGeom prst="ellipse">
                  <a:avLst/>
                </a:prstGeom>
                <a:solidFill>
                  <a:srgbClr val="8093DC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375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ONE-600C" panose="020B0503030303020204" pitchFamily="34" charset="-127"/>
                    <a:cs typeface="Samsung Sharp Sans Bold" pitchFamily="2" charset="0"/>
                  </a:endParaRPr>
                </a:p>
              </p:txBody>
            </p:sp>
            <p:sp>
              <p:nvSpPr>
                <p:cNvPr id="237" name="타원 236"/>
                <p:cNvSpPr/>
                <p:nvPr/>
              </p:nvSpPr>
              <p:spPr>
                <a:xfrm>
                  <a:off x="4132147" y="2579292"/>
                  <a:ext cx="66687" cy="66687"/>
                </a:xfrm>
                <a:prstGeom prst="ellipse">
                  <a:avLst/>
                </a:prstGeom>
                <a:solidFill>
                  <a:srgbClr val="8093DC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375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ONE-600C" panose="020B0503030303020204" pitchFamily="34" charset="-127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5186C55D-E743-AA2E-D8EB-20E11C073C37}"/>
                  </a:ext>
                </a:extLst>
              </p:cNvPr>
              <p:cNvSpPr/>
              <p:nvPr/>
            </p:nvSpPr>
            <p:spPr>
              <a:xfrm>
                <a:off x="2504748" y="3108733"/>
                <a:ext cx="3701376" cy="246221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Decode</a:t>
                </a:r>
                <a:endParaRPr kumimoji="0" lang="ko-KR" altLang="en-US" sz="12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SamsungOneKorean 700" panose="020B0803030303020204" pitchFamily="50" charset="-127"/>
                  <a:cs typeface="Samsung Sharp Sans Bold" pitchFamily="2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AF7D9B76-4995-265E-AA04-71E12230B659}"/>
                  </a:ext>
                </a:extLst>
              </p:cNvPr>
              <p:cNvSpPr/>
              <p:nvPr/>
            </p:nvSpPr>
            <p:spPr>
              <a:xfrm>
                <a:off x="1304575" y="3427110"/>
                <a:ext cx="1267849" cy="2964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“Hello, my name”</a:t>
                </a:r>
              </a:p>
            </p:txBody>
          </p:sp>
          <p:sp>
            <p:nvSpPr>
              <p:cNvPr id="213" name="직사각형 212">
                <a:extLst>
                  <a:ext uri="{FF2B5EF4-FFF2-40B4-BE49-F238E27FC236}">
                    <a16:creationId xmlns:a16="http://schemas.microsoft.com/office/drawing/2014/main" id="{BD25430C-0D03-4265-0B88-8E9DB257E2A1}"/>
                  </a:ext>
                </a:extLst>
              </p:cNvPr>
              <p:cNvSpPr/>
              <p:nvPr/>
            </p:nvSpPr>
            <p:spPr>
              <a:xfrm rot="10800000">
                <a:off x="1536432" y="4552915"/>
                <a:ext cx="4748362" cy="193717"/>
              </a:xfrm>
              <a:prstGeom prst="rect">
                <a:avLst/>
              </a:prstGeom>
              <a:gradFill>
                <a:gsLst>
                  <a:gs pos="13000">
                    <a:sysClr val="window" lastClr="FFFFFF">
                      <a:alpha val="0"/>
                    </a:sysClr>
                  </a:gs>
                  <a:gs pos="100000">
                    <a:sysClr val="window" lastClr="FFFFFF">
                      <a:alpha val="5000"/>
                    </a:sysClr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  <a:cs typeface="+mn-cs"/>
                </a:endParaRPr>
              </a:p>
            </p:txBody>
          </p:sp>
          <p:sp>
            <p:nvSpPr>
              <p:cNvPr id="214" name="직사각형 213"/>
              <p:cNvSpPr/>
              <p:nvPr/>
            </p:nvSpPr>
            <p:spPr>
              <a:xfrm>
                <a:off x="1826309" y="4517306"/>
                <a:ext cx="391454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“is”</a:t>
                </a:r>
                <a:endParaRPr kumimoji="0" lang="ko-KR" altLang="en-US" sz="8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15" name="직사각형 214"/>
              <p:cNvSpPr/>
              <p:nvPr/>
            </p:nvSpPr>
            <p:spPr>
              <a:xfrm>
                <a:off x="2655382" y="4533671"/>
                <a:ext cx="692818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“James”</a:t>
                </a:r>
                <a:endParaRPr kumimoji="0" lang="ko-KR" altLang="en-US" sz="8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16" name="직사각형 215"/>
              <p:cNvSpPr/>
              <p:nvPr/>
            </p:nvSpPr>
            <p:spPr>
              <a:xfrm>
                <a:off x="3505046" y="4524486"/>
                <a:ext cx="638316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“Smith”</a:t>
                </a:r>
                <a:endParaRPr kumimoji="0" lang="ko-KR" altLang="en-US" sz="8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17" name="직사각형 216"/>
              <p:cNvSpPr/>
              <p:nvPr/>
            </p:nvSpPr>
            <p:spPr>
              <a:xfrm>
                <a:off x="4398118" y="4515440"/>
                <a:ext cx="513282" cy="2616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“and”</a:t>
                </a:r>
                <a:endParaRPr kumimoji="0" lang="ko-KR" altLang="en-US" sz="8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18" name="직사각형 217"/>
              <p:cNvSpPr/>
              <p:nvPr/>
            </p:nvSpPr>
            <p:spPr>
              <a:xfrm>
                <a:off x="5622815" y="4515440"/>
                <a:ext cx="500683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5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Samsung Sharp Sans Bold" pitchFamily="2" charset="0"/>
                    <a:cs typeface="Samsung Sharp Sans Bold" pitchFamily="2" charset="0"/>
                  </a:rPr>
                  <a:t>“.”</a:t>
                </a:r>
                <a:endParaRPr kumimoji="0" lang="ko-KR" altLang="en-US" sz="8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19" name="줄무늬가 있는 오른쪽 화살표 85">
                <a:extLst>
                  <a:ext uri="{FF2B5EF4-FFF2-40B4-BE49-F238E27FC236}">
                    <a16:creationId xmlns:a16="http://schemas.microsoft.com/office/drawing/2014/main" id="{4FC2A20A-96F0-40E8-FF0B-07159864B259}"/>
                  </a:ext>
                </a:extLst>
              </p:cNvPr>
              <p:cNvSpPr/>
              <p:nvPr/>
            </p:nvSpPr>
            <p:spPr>
              <a:xfrm>
                <a:off x="2282349" y="3928541"/>
                <a:ext cx="392707" cy="115409"/>
              </a:xfrm>
              <a:prstGeom prst="rightArrow">
                <a:avLst>
                  <a:gd name="adj1" fmla="val 50000"/>
                  <a:gd name="adj2" fmla="val 91203"/>
                </a:avLst>
              </a:prstGeom>
              <a:gradFill flip="none" rotWithShape="1">
                <a:gsLst>
                  <a:gs pos="4425">
                    <a:srgbClr val="44546A">
                      <a:lumMod val="75000"/>
                    </a:srgbClr>
                  </a:gs>
                  <a:gs pos="65000">
                    <a:srgbClr val="5B9BD5"/>
                  </a:gs>
                  <a:gs pos="100000">
                    <a:srgbClr val="8093DC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2859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  <a:cs typeface="+mn-cs"/>
                </a:endParaRPr>
              </a:p>
            </p:txBody>
          </p:sp>
          <p:grpSp>
            <p:nvGrpSpPr>
              <p:cNvPr id="220" name="그룹 219"/>
              <p:cNvGrpSpPr/>
              <p:nvPr/>
            </p:nvGrpSpPr>
            <p:grpSpPr>
              <a:xfrm>
                <a:off x="1712026" y="3669221"/>
                <a:ext cx="604062" cy="867545"/>
                <a:chOff x="222043" y="2867715"/>
                <a:chExt cx="540000" cy="775540"/>
              </a:xfrm>
            </p:grpSpPr>
            <p:sp>
              <p:nvSpPr>
                <p:cNvPr id="233" name="줄무늬가 있는 오른쪽 화살표 85">
                  <a:extLst>
                    <a:ext uri="{FF2B5EF4-FFF2-40B4-BE49-F238E27FC236}">
                      <a16:creationId xmlns:a16="http://schemas.microsoft.com/office/drawing/2014/main" id="{4FC2A20A-96F0-40E8-FF0B-07159864B259}"/>
                    </a:ext>
                  </a:extLst>
                </p:cNvPr>
                <p:cNvSpPr/>
                <p:nvPr/>
              </p:nvSpPr>
              <p:spPr>
                <a:xfrm rot="5400000">
                  <a:off x="330490" y="3423064"/>
                  <a:ext cx="337212" cy="103170"/>
                </a:xfrm>
                <a:prstGeom prst="rightArrow">
                  <a:avLst>
                    <a:gd name="adj1" fmla="val 50000"/>
                    <a:gd name="adj2" fmla="val 91203"/>
                  </a:avLst>
                </a:prstGeom>
                <a:gradFill flip="none" rotWithShape="1">
                  <a:gsLst>
                    <a:gs pos="4425">
                      <a:srgbClr val="44546A">
                        <a:lumMod val="75000"/>
                      </a:srgbClr>
                    </a:gs>
                    <a:gs pos="65000">
                      <a:srgbClr val="5B9BD5"/>
                    </a:gs>
                    <a:gs pos="100000">
                      <a:srgbClr val="8093DC"/>
                    </a:gs>
                  </a:gsLst>
                  <a:lin ang="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2859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4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맑은 고딕"/>
                    <a:cs typeface="+mn-cs"/>
                  </a:endParaRPr>
                </a:p>
              </p:txBody>
            </p:sp>
            <p:sp>
              <p:nvSpPr>
                <p:cNvPr id="234" name="모서리가 둥근 직사각형 116">
                  <a:extLst>
                    <a:ext uri="{FF2B5EF4-FFF2-40B4-BE49-F238E27FC236}">
                      <a16:creationId xmlns:a16="http://schemas.microsoft.com/office/drawing/2014/main" id="{B592C16F-9D7E-9F3F-966B-99B420A8A137}"/>
                    </a:ext>
                  </a:extLst>
                </p:cNvPr>
                <p:cNvSpPr/>
                <p:nvPr/>
              </p:nvSpPr>
              <p:spPr>
                <a:xfrm>
                  <a:off x="222043" y="2867715"/>
                  <a:ext cx="540000" cy="540000"/>
                </a:xfrm>
                <a:prstGeom prst="roundRect">
                  <a:avLst>
                    <a:gd name="adj" fmla="val 7835"/>
                  </a:avLst>
                </a:prstGeom>
                <a:gradFill flip="none" rotWithShape="1">
                  <a:gsLst>
                    <a:gs pos="0">
                      <a:srgbClr val="4472C4">
                        <a:lumMod val="67000"/>
                      </a:srgbClr>
                    </a:gs>
                    <a:gs pos="48000">
                      <a:srgbClr val="4472C4">
                        <a:lumMod val="97000"/>
                        <a:lumOff val="3000"/>
                      </a:srgbClr>
                    </a:gs>
                    <a:gs pos="100000">
                      <a:srgbClr val="4472C4">
                        <a:lumMod val="60000"/>
                        <a:lumOff val="40000"/>
                      </a:srgbClr>
                    </a:gs>
                  </a:gsLst>
                  <a:lin ang="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5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/>
                      <a:ea typeface="맑은 고딕"/>
                      <a:cs typeface="+mn-cs"/>
                    </a:rPr>
                    <a:t>LM</a:t>
                  </a:r>
                </a:p>
              </p:txBody>
            </p:sp>
          </p:grpSp>
          <p:sp>
            <p:nvSpPr>
              <p:cNvPr id="221" name="줄무늬가 있는 오른쪽 화살표 85">
                <a:extLst>
                  <a:ext uri="{FF2B5EF4-FFF2-40B4-BE49-F238E27FC236}">
                    <a16:creationId xmlns:a16="http://schemas.microsoft.com/office/drawing/2014/main" id="{4FC2A20A-96F0-40E8-FF0B-07159864B259}"/>
                  </a:ext>
                </a:extLst>
              </p:cNvPr>
              <p:cNvSpPr/>
              <p:nvPr/>
            </p:nvSpPr>
            <p:spPr>
              <a:xfrm>
                <a:off x="3137945" y="3922208"/>
                <a:ext cx="377217" cy="115409"/>
              </a:xfrm>
              <a:prstGeom prst="rightArrow">
                <a:avLst>
                  <a:gd name="adj1" fmla="val 50000"/>
                  <a:gd name="adj2" fmla="val 91203"/>
                </a:avLst>
              </a:prstGeom>
              <a:gradFill flip="none" rotWithShape="1">
                <a:gsLst>
                  <a:gs pos="0">
                    <a:srgbClr val="FFC000"/>
                  </a:gs>
                  <a:gs pos="65000">
                    <a:srgbClr val="FFC000"/>
                  </a:gs>
                  <a:gs pos="100000">
                    <a:srgbClr val="FFC000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2859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  <a:cs typeface="+mn-cs"/>
                </a:endParaRPr>
              </a:p>
            </p:txBody>
          </p:sp>
          <p:grpSp>
            <p:nvGrpSpPr>
              <p:cNvPr id="222" name="그룹 221"/>
              <p:cNvGrpSpPr/>
              <p:nvPr/>
            </p:nvGrpSpPr>
            <p:grpSpPr>
              <a:xfrm>
                <a:off x="2690062" y="3663149"/>
                <a:ext cx="604062" cy="867545"/>
                <a:chOff x="953656" y="2867715"/>
                <a:chExt cx="540000" cy="775540"/>
              </a:xfrm>
            </p:grpSpPr>
            <p:sp>
              <p:nvSpPr>
                <p:cNvPr id="231" name="줄무늬가 있는 오른쪽 화살표 85">
                  <a:extLst>
                    <a:ext uri="{FF2B5EF4-FFF2-40B4-BE49-F238E27FC236}">
                      <a16:creationId xmlns:a16="http://schemas.microsoft.com/office/drawing/2014/main" id="{4FC2A20A-96F0-40E8-FF0B-07159864B259}"/>
                    </a:ext>
                  </a:extLst>
                </p:cNvPr>
                <p:cNvSpPr/>
                <p:nvPr/>
              </p:nvSpPr>
              <p:spPr>
                <a:xfrm rot="5400000">
                  <a:off x="1054632" y="3423064"/>
                  <a:ext cx="337212" cy="103170"/>
                </a:xfrm>
                <a:prstGeom prst="rightArrow">
                  <a:avLst>
                    <a:gd name="adj1" fmla="val 50000"/>
                    <a:gd name="adj2" fmla="val 91203"/>
                  </a:avLst>
                </a:prstGeom>
                <a:gradFill flip="none" rotWithShape="1">
                  <a:gsLst>
                    <a:gs pos="0">
                      <a:srgbClr val="8631DB"/>
                    </a:gs>
                    <a:gs pos="65000">
                      <a:srgbClr val="9E75E7"/>
                    </a:gs>
                    <a:gs pos="100000">
                      <a:srgbClr val="8093DC"/>
                    </a:gs>
                  </a:gsLst>
                  <a:lin ang="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2859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4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맑은 고딕"/>
                    <a:cs typeface="+mn-cs"/>
                  </a:endParaRPr>
                </a:p>
              </p:txBody>
            </p:sp>
            <p:sp>
              <p:nvSpPr>
                <p:cNvPr id="232" name="모서리가 둥근 직사각형 117">
                  <a:extLst>
                    <a:ext uri="{FF2B5EF4-FFF2-40B4-BE49-F238E27FC236}">
                      <a16:creationId xmlns:a16="http://schemas.microsoft.com/office/drawing/2014/main" id="{5544D22D-B6A3-54CB-7E2C-1B269DF5655E}"/>
                    </a:ext>
                  </a:extLst>
                </p:cNvPr>
                <p:cNvSpPr/>
                <p:nvPr/>
              </p:nvSpPr>
              <p:spPr>
                <a:xfrm>
                  <a:off x="953656" y="2867715"/>
                  <a:ext cx="540000" cy="540000"/>
                </a:xfrm>
                <a:prstGeom prst="roundRect">
                  <a:avLst>
                    <a:gd name="adj" fmla="val 7835"/>
                  </a:avLst>
                </a:prstGeom>
                <a:gradFill flip="none" rotWithShape="1">
                  <a:gsLst>
                    <a:gs pos="0">
                      <a:srgbClr val="FFC000">
                        <a:lumMod val="67000"/>
                      </a:srgbClr>
                    </a:gs>
                    <a:gs pos="48000">
                      <a:srgbClr val="FFC000">
                        <a:lumMod val="97000"/>
                        <a:lumOff val="3000"/>
                      </a:srgbClr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108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 pitchFamily="2" charset="0"/>
                      <a:ea typeface="SAMSUNGONE-600C" panose="020B0503030303020204" pitchFamily="34" charset="-127"/>
                      <a:cs typeface="+mn-cs"/>
                    </a:rPr>
                    <a:t>LM</a:t>
                  </a:r>
                  <a:endPara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ONE-600C" panose="020B0503030303020204" pitchFamily="34" charset="-127"/>
                    <a:cs typeface="+mn-cs"/>
                  </a:endParaRPr>
                </a:p>
              </p:txBody>
            </p:sp>
          </p:grpSp>
          <p:sp>
            <p:nvSpPr>
              <p:cNvPr id="223" name="줄무늬가 있는 오른쪽 화살표 85">
                <a:extLst>
                  <a:ext uri="{FF2B5EF4-FFF2-40B4-BE49-F238E27FC236}">
                    <a16:creationId xmlns:a16="http://schemas.microsoft.com/office/drawing/2014/main" id="{4FC2A20A-96F0-40E8-FF0B-07159864B259}"/>
                  </a:ext>
                </a:extLst>
              </p:cNvPr>
              <p:cNvSpPr/>
              <p:nvPr/>
            </p:nvSpPr>
            <p:spPr>
              <a:xfrm>
                <a:off x="3978219" y="3922207"/>
                <a:ext cx="377217" cy="115409"/>
              </a:xfrm>
              <a:prstGeom prst="rightArrow">
                <a:avLst>
                  <a:gd name="adj1" fmla="val 50000"/>
                  <a:gd name="adj2" fmla="val 91203"/>
                </a:avLst>
              </a:prstGeom>
              <a:gradFill flip="none" rotWithShape="1">
                <a:gsLst>
                  <a:gs pos="0">
                    <a:srgbClr val="FFC000"/>
                  </a:gs>
                  <a:gs pos="65000">
                    <a:srgbClr val="FFC000"/>
                  </a:gs>
                  <a:gs pos="100000">
                    <a:srgbClr val="FFC000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2859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  <a:cs typeface="+mn-cs"/>
                </a:endParaRPr>
              </a:p>
            </p:txBody>
          </p:sp>
          <p:sp>
            <p:nvSpPr>
              <p:cNvPr id="224" name="줄무늬가 있는 오른쪽 화살표 85">
                <a:extLst>
                  <a:ext uri="{FF2B5EF4-FFF2-40B4-BE49-F238E27FC236}">
                    <a16:creationId xmlns:a16="http://schemas.microsoft.com/office/drawing/2014/main" id="{4FC2A20A-96F0-40E8-FF0B-07159864B259}"/>
                  </a:ext>
                </a:extLst>
              </p:cNvPr>
              <p:cNvSpPr/>
              <p:nvPr/>
            </p:nvSpPr>
            <p:spPr>
              <a:xfrm>
                <a:off x="4815447" y="3917782"/>
                <a:ext cx="377217" cy="115409"/>
              </a:xfrm>
              <a:prstGeom prst="rightArrow">
                <a:avLst>
                  <a:gd name="adj1" fmla="val 50000"/>
                  <a:gd name="adj2" fmla="val 91203"/>
                </a:avLst>
              </a:prstGeom>
              <a:gradFill flip="none" rotWithShape="1">
                <a:gsLst>
                  <a:gs pos="0">
                    <a:srgbClr val="FFC000"/>
                  </a:gs>
                  <a:gs pos="65000">
                    <a:srgbClr val="FFC000"/>
                  </a:gs>
                  <a:gs pos="100000">
                    <a:srgbClr val="FFC000"/>
                  </a:gs>
                </a:gsLst>
                <a:lin ang="0" scaled="0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28597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2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  <a:cs typeface="+mn-cs"/>
                </a:endParaRPr>
              </a:p>
            </p:txBody>
          </p:sp>
          <p:grpSp>
            <p:nvGrpSpPr>
              <p:cNvPr id="225" name="그룹 224"/>
              <p:cNvGrpSpPr/>
              <p:nvPr/>
            </p:nvGrpSpPr>
            <p:grpSpPr>
              <a:xfrm>
                <a:off x="3530561" y="3663149"/>
                <a:ext cx="604062" cy="867545"/>
                <a:chOff x="953656" y="2867715"/>
                <a:chExt cx="540000" cy="775540"/>
              </a:xfrm>
            </p:grpSpPr>
            <p:sp>
              <p:nvSpPr>
                <p:cNvPr id="229" name="줄무늬가 있는 오른쪽 화살표 85">
                  <a:extLst>
                    <a:ext uri="{FF2B5EF4-FFF2-40B4-BE49-F238E27FC236}">
                      <a16:creationId xmlns:a16="http://schemas.microsoft.com/office/drawing/2014/main" id="{4FC2A20A-96F0-40E8-FF0B-07159864B259}"/>
                    </a:ext>
                  </a:extLst>
                </p:cNvPr>
                <p:cNvSpPr/>
                <p:nvPr/>
              </p:nvSpPr>
              <p:spPr>
                <a:xfrm rot="5400000">
                  <a:off x="1054632" y="3423064"/>
                  <a:ext cx="337212" cy="103170"/>
                </a:xfrm>
                <a:prstGeom prst="rightArrow">
                  <a:avLst>
                    <a:gd name="adj1" fmla="val 50000"/>
                    <a:gd name="adj2" fmla="val 91203"/>
                  </a:avLst>
                </a:prstGeom>
                <a:gradFill flip="none" rotWithShape="1">
                  <a:gsLst>
                    <a:gs pos="0">
                      <a:srgbClr val="8631DB"/>
                    </a:gs>
                    <a:gs pos="65000">
                      <a:srgbClr val="9E75E7"/>
                    </a:gs>
                    <a:gs pos="100000">
                      <a:srgbClr val="8093DC"/>
                    </a:gs>
                  </a:gsLst>
                  <a:lin ang="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2859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4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맑은 고딕"/>
                    <a:cs typeface="+mn-cs"/>
                  </a:endParaRPr>
                </a:p>
              </p:txBody>
            </p:sp>
            <p:sp>
              <p:nvSpPr>
                <p:cNvPr id="230" name="모서리가 둥근 직사각형 117">
                  <a:extLst>
                    <a:ext uri="{FF2B5EF4-FFF2-40B4-BE49-F238E27FC236}">
                      <a16:creationId xmlns:a16="http://schemas.microsoft.com/office/drawing/2014/main" id="{5544D22D-B6A3-54CB-7E2C-1B269DF5655E}"/>
                    </a:ext>
                  </a:extLst>
                </p:cNvPr>
                <p:cNvSpPr/>
                <p:nvPr/>
              </p:nvSpPr>
              <p:spPr>
                <a:xfrm>
                  <a:off x="953656" y="2867715"/>
                  <a:ext cx="540000" cy="540000"/>
                </a:xfrm>
                <a:prstGeom prst="roundRect">
                  <a:avLst>
                    <a:gd name="adj" fmla="val 7835"/>
                  </a:avLst>
                </a:prstGeom>
                <a:gradFill flip="none" rotWithShape="1">
                  <a:gsLst>
                    <a:gs pos="0">
                      <a:srgbClr val="FFC000">
                        <a:lumMod val="67000"/>
                      </a:srgbClr>
                    </a:gs>
                    <a:gs pos="48000">
                      <a:srgbClr val="FFC000">
                        <a:lumMod val="97000"/>
                        <a:lumOff val="3000"/>
                      </a:srgbClr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108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 pitchFamily="2" charset="0"/>
                      <a:ea typeface="SAMSUNGONE-600C" panose="020B0503030303020204" pitchFamily="34" charset="-127"/>
                      <a:cs typeface="+mn-cs"/>
                    </a:rPr>
                    <a:t>LM</a:t>
                  </a:r>
                  <a:endPara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ONE-600C" panose="020B0503030303020204" pitchFamily="34" charset="-127"/>
                    <a:cs typeface="+mn-cs"/>
                  </a:endParaRPr>
                </a:p>
              </p:txBody>
            </p:sp>
          </p:grpSp>
          <p:grpSp>
            <p:nvGrpSpPr>
              <p:cNvPr id="226" name="그룹 225"/>
              <p:cNvGrpSpPr/>
              <p:nvPr/>
            </p:nvGrpSpPr>
            <p:grpSpPr>
              <a:xfrm>
                <a:off x="4372882" y="3663149"/>
                <a:ext cx="604062" cy="867545"/>
                <a:chOff x="953656" y="2867715"/>
                <a:chExt cx="540000" cy="775540"/>
              </a:xfrm>
            </p:grpSpPr>
            <p:sp>
              <p:nvSpPr>
                <p:cNvPr id="227" name="줄무늬가 있는 오른쪽 화살표 85">
                  <a:extLst>
                    <a:ext uri="{FF2B5EF4-FFF2-40B4-BE49-F238E27FC236}">
                      <a16:creationId xmlns:a16="http://schemas.microsoft.com/office/drawing/2014/main" id="{4FC2A20A-96F0-40E8-FF0B-07159864B259}"/>
                    </a:ext>
                  </a:extLst>
                </p:cNvPr>
                <p:cNvSpPr/>
                <p:nvPr/>
              </p:nvSpPr>
              <p:spPr>
                <a:xfrm rot="5400000">
                  <a:off x="1054632" y="3423064"/>
                  <a:ext cx="337212" cy="103170"/>
                </a:xfrm>
                <a:prstGeom prst="rightArrow">
                  <a:avLst>
                    <a:gd name="adj1" fmla="val 50000"/>
                    <a:gd name="adj2" fmla="val 91203"/>
                  </a:avLst>
                </a:prstGeom>
                <a:gradFill flip="none" rotWithShape="1">
                  <a:gsLst>
                    <a:gs pos="0">
                      <a:srgbClr val="8631DB"/>
                    </a:gs>
                    <a:gs pos="65000">
                      <a:srgbClr val="9E75E7"/>
                    </a:gs>
                    <a:gs pos="100000">
                      <a:srgbClr val="8093DC"/>
                    </a:gs>
                  </a:gsLst>
                  <a:lin ang="0" scaled="0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28597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4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/>
                    <a:ea typeface="맑은 고딕"/>
                    <a:cs typeface="+mn-cs"/>
                  </a:endParaRPr>
                </a:p>
              </p:txBody>
            </p:sp>
            <p:sp>
              <p:nvSpPr>
                <p:cNvPr id="228" name="모서리가 둥근 직사각형 117">
                  <a:extLst>
                    <a:ext uri="{FF2B5EF4-FFF2-40B4-BE49-F238E27FC236}">
                      <a16:creationId xmlns:a16="http://schemas.microsoft.com/office/drawing/2014/main" id="{5544D22D-B6A3-54CB-7E2C-1B269DF5655E}"/>
                    </a:ext>
                  </a:extLst>
                </p:cNvPr>
                <p:cNvSpPr/>
                <p:nvPr/>
              </p:nvSpPr>
              <p:spPr>
                <a:xfrm>
                  <a:off x="953656" y="2867715"/>
                  <a:ext cx="540000" cy="540000"/>
                </a:xfrm>
                <a:prstGeom prst="roundRect">
                  <a:avLst>
                    <a:gd name="adj" fmla="val 7835"/>
                  </a:avLst>
                </a:prstGeom>
                <a:gradFill flip="none" rotWithShape="1">
                  <a:gsLst>
                    <a:gs pos="0">
                      <a:srgbClr val="FFC000">
                        <a:lumMod val="67000"/>
                      </a:srgbClr>
                    </a:gs>
                    <a:gs pos="48000">
                      <a:srgbClr val="FFC000">
                        <a:lumMod val="97000"/>
                        <a:lumOff val="3000"/>
                      </a:srgbClr>
                    </a:gs>
                    <a:gs pos="100000">
                      <a:srgbClr val="FFC000">
                        <a:lumMod val="60000"/>
                        <a:lumOff val="40000"/>
                      </a:srgbClr>
                    </a:gs>
                  </a:gsLst>
                  <a:lin ang="10800000" scaled="1"/>
                  <a:tileRect/>
                </a:gra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lIns="0" rIns="0" rtlCol="0" anchor="ctr"/>
                <a:lstStyle/>
                <a:p>
                  <a:pPr marL="0" marR="0" lvl="0" indent="0" algn="ctr" defTabSz="115772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4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 pitchFamily="2" charset="0"/>
                      <a:ea typeface="SAMSUNGONE-600C" panose="020B0503030303020204" pitchFamily="34" charset="-127"/>
                      <a:cs typeface="+mn-cs"/>
                    </a:rPr>
                    <a:t>LM</a:t>
                  </a:r>
                  <a:endPara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ONE-600C" panose="020B0503030303020204" pitchFamily="34" charset="-127"/>
                    <a:cs typeface="+mn-cs"/>
                  </a:endParaRPr>
                </a:p>
              </p:txBody>
            </p:sp>
          </p:grpSp>
        </p:grpSp>
        <p:sp>
          <p:nvSpPr>
            <p:cNvPr id="243" name="자유형 242"/>
            <p:cNvSpPr/>
            <p:nvPr/>
          </p:nvSpPr>
          <p:spPr>
            <a:xfrm>
              <a:off x="1083323" y="2743285"/>
              <a:ext cx="5192408" cy="1285205"/>
            </a:xfrm>
            <a:custGeom>
              <a:avLst/>
              <a:gdLst>
                <a:gd name="connsiteX0" fmla="*/ 838200 w 4320540"/>
                <a:gd name="connsiteY0" fmla="*/ 0 h 1104900"/>
                <a:gd name="connsiteX1" fmla="*/ 0 w 4320540"/>
                <a:gd name="connsiteY1" fmla="*/ 1097280 h 1104900"/>
                <a:gd name="connsiteX2" fmla="*/ 3756660 w 4320540"/>
                <a:gd name="connsiteY2" fmla="*/ 1104900 h 1104900"/>
                <a:gd name="connsiteX3" fmla="*/ 4320540 w 4320540"/>
                <a:gd name="connsiteY3" fmla="*/ 7620 h 1104900"/>
                <a:gd name="connsiteX4" fmla="*/ 838200 w 4320540"/>
                <a:gd name="connsiteY4" fmla="*/ 0 h 1104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0540" h="1104900">
                  <a:moveTo>
                    <a:pt x="838200" y="0"/>
                  </a:moveTo>
                  <a:lnTo>
                    <a:pt x="0" y="1097280"/>
                  </a:lnTo>
                  <a:lnTo>
                    <a:pt x="3756660" y="1104900"/>
                  </a:lnTo>
                  <a:lnTo>
                    <a:pt x="4320540" y="7620"/>
                  </a:lnTo>
                  <a:lnTo>
                    <a:pt x="838200" y="0"/>
                  </a:lnTo>
                  <a:close/>
                </a:path>
              </a:pathLst>
            </a:custGeom>
            <a:gradFill flip="none" rotWithShape="1">
              <a:gsLst>
                <a:gs pos="4425">
                  <a:srgbClr val="1F497D">
                    <a:alpha val="50000"/>
                  </a:srgbClr>
                </a:gs>
                <a:gs pos="65000">
                  <a:srgbClr val="5B9BD5">
                    <a:alpha val="10000"/>
                  </a:srgbClr>
                </a:gs>
                <a:gs pos="100000">
                  <a:srgbClr val="44546A">
                    <a:alpha val="20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11577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375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amsung Sharp Sans Bold" pitchFamily="2" charset="0"/>
                <a:ea typeface="SAMSUNGONE-600C" panose="020B0503030303020204" pitchFamily="34" charset="-127"/>
                <a:cs typeface="Samsung Sharp Sans Bold" pitchFamily="2" charset="0"/>
              </a:endParaRPr>
            </a:p>
          </p:txBody>
        </p:sp>
        <p:sp>
          <p:nvSpPr>
            <p:cNvPr id="241" name="모서리가 둥근 직사각형 117">
              <a:extLst>
                <a:ext uri="{FF2B5EF4-FFF2-40B4-BE49-F238E27FC236}">
                  <a16:creationId xmlns:a16="http://schemas.microsoft.com/office/drawing/2014/main" id="{FA0ECA91-1A8B-EF88-9873-53E434D66C39}"/>
                </a:ext>
              </a:extLst>
            </p:cNvPr>
            <p:cNvSpPr/>
            <p:nvPr/>
          </p:nvSpPr>
          <p:spPr>
            <a:xfrm>
              <a:off x="2020149" y="1842103"/>
              <a:ext cx="4536306" cy="1040798"/>
            </a:xfrm>
            <a:prstGeom prst="roundRect">
              <a:avLst>
                <a:gd name="adj" fmla="val 7835"/>
              </a:avLst>
            </a:prstGeom>
            <a:noFill/>
            <a:ln w="25400" cap="flat" cmpd="sng" algn="ctr">
              <a:solidFill>
                <a:srgbClr val="1F497D"/>
              </a:solidFill>
              <a:prstDash val="sysDash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Samsung Sharp Sans Bold" pitchFamily="50" charset="0"/>
                <a:ea typeface="맑은 고딕"/>
                <a:cs typeface="Samsung Sharp Sans Bold" pitchFamily="50" charset="0"/>
              </a:endParaRPr>
            </a:p>
          </p:txBody>
        </p:sp>
        <p:sp>
          <p:nvSpPr>
            <p:cNvPr id="242" name="직사각형 241"/>
            <p:cNvSpPr/>
            <p:nvPr/>
          </p:nvSpPr>
          <p:spPr>
            <a:xfrm>
              <a:off x="4547450" y="1471586"/>
              <a:ext cx="2268332" cy="3295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 pitchFamily="2" charset="0"/>
                  <a:ea typeface="Samsung Sharp Sans Bold" pitchFamily="2" charset="0"/>
                  <a:cs typeface="Samsung Sharp Sans Bold" pitchFamily="2" charset="0"/>
                </a:rPr>
                <a:t>GEMV Computation dominated</a:t>
              </a:r>
            </a:p>
          </p:txBody>
        </p:sp>
        <p:grpSp>
          <p:nvGrpSpPr>
            <p:cNvPr id="244" name="그룹 243"/>
            <p:cNvGrpSpPr/>
            <p:nvPr/>
          </p:nvGrpSpPr>
          <p:grpSpPr>
            <a:xfrm>
              <a:off x="62279" y="3679710"/>
              <a:ext cx="6608915" cy="1155450"/>
              <a:chOff x="418623" y="5661519"/>
              <a:chExt cx="5482421" cy="978326"/>
            </a:xfrm>
          </p:grpSpPr>
          <p:cxnSp>
            <p:nvCxnSpPr>
              <p:cNvPr id="245" name="직선 연결선 244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1876" y="5842334"/>
                <a:ext cx="3177" cy="468000"/>
              </a:xfrm>
              <a:prstGeom prst="line">
                <a:avLst/>
              </a:prstGeom>
              <a:noFill/>
              <a:ln w="12700" cap="rnd" cmpd="sng" algn="ctr">
                <a:solidFill>
                  <a:srgbClr val="A6A6A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6" name="직선 연결선 245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11790" y="5849352"/>
                <a:ext cx="3177" cy="468000"/>
              </a:xfrm>
              <a:prstGeom prst="line">
                <a:avLst/>
              </a:prstGeom>
              <a:noFill/>
              <a:ln w="12700" cap="rnd" cmpd="sng" algn="ctr">
                <a:solidFill>
                  <a:srgbClr val="A6A6A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7" name="직사각형 246"/>
              <p:cNvSpPr/>
              <p:nvPr/>
            </p:nvSpPr>
            <p:spPr>
              <a:xfrm>
                <a:off x="884174" y="5948122"/>
                <a:ext cx="354409" cy="252535"/>
              </a:xfrm>
              <a:prstGeom prst="rect">
                <a:avLst/>
              </a:prstGeom>
              <a:solidFill>
                <a:srgbClr val="0077C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5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48" name="직사각형 247"/>
              <p:cNvSpPr/>
              <p:nvPr/>
            </p:nvSpPr>
            <p:spPr>
              <a:xfrm>
                <a:off x="898066" y="5957754"/>
                <a:ext cx="360633" cy="195447"/>
              </a:xfrm>
              <a:prstGeom prst="rect">
                <a:avLst/>
              </a:prstGeom>
              <a:gradFill>
                <a:gsLst>
                  <a:gs pos="0">
                    <a:srgbClr val="4472C4">
                      <a:lumMod val="67000"/>
                    </a:srgbClr>
                  </a:gs>
                  <a:gs pos="48000">
                    <a:srgbClr val="4472C4">
                      <a:lumMod val="97000"/>
                      <a:lumOff val="3000"/>
                    </a:srgbClr>
                  </a:gs>
                  <a:gs pos="100000">
                    <a:srgbClr val="4472C4">
                      <a:lumMod val="60000"/>
                      <a:lumOff val="40000"/>
                    </a:srgbClr>
                  </a:gs>
                </a:gsLst>
                <a:lin ang="0" scaled="1"/>
              </a:gradFill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rPr>
                  <a:t>2.1%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49" name="직사각형 248"/>
              <p:cNvSpPr/>
              <p:nvPr/>
            </p:nvSpPr>
            <p:spPr>
              <a:xfrm>
                <a:off x="687379" y="5661519"/>
                <a:ext cx="365806" cy="246221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0%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50" name="직사각형 249"/>
              <p:cNvSpPr/>
              <p:nvPr/>
            </p:nvSpPr>
            <p:spPr>
              <a:xfrm>
                <a:off x="1820922" y="5661520"/>
                <a:ext cx="433132" cy="246221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25%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51" name="직사각형 250"/>
              <p:cNvSpPr/>
              <p:nvPr/>
            </p:nvSpPr>
            <p:spPr>
              <a:xfrm>
                <a:off x="2966029" y="5664154"/>
                <a:ext cx="434734" cy="246221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50%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sp>
            <p:nvSpPr>
              <p:cNvPr id="252" name="직사각형 251"/>
              <p:cNvSpPr/>
              <p:nvPr/>
            </p:nvSpPr>
            <p:spPr>
              <a:xfrm>
                <a:off x="4160137" y="5661519"/>
                <a:ext cx="433132" cy="246221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75%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2246" y="5846970"/>
                <a:ext cx="3177" cy="468000"/>
              </a:xfrm>
              <a:prstGeom prst="line">
                <a:avLst/>
              </a:prstGeom>
              <a:noFill/>
              <a:ln w="12700" cap="rnd" cmpd="sng" algn="ctr">
                <a:solidFill>
                  <a:srgbClr val="A6A6A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92963" y="5851266"/>
                <a:ext cx="3177" cy="468000"/>
              </a:xfrm>
              <a:prstGeom prst="line">
                <a:avLst/>
              </a:prstGeom>
              <a:noFill/>
              <a:ln w="12700" cap="rnd" cmpd="sng" algn="ctr">
                <a:solidFill>
                  <a:srgbClr val="A6A6A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5" name="직사각형 254"/>
              <p:cNvSpPr/>
              <p:nvPr/>
            </p:nvSpPr>
            <p:spPr>
              <a:xfrm>
                <a:off x="1238583" y="5948122"/>
                <a:ext cx="3764389" cy="250248"/>
              </a:xfrm>
              <a:prstGeom prst="rect">
                <a:avLst/>
              </a:prstGeom>
              <a:gradFill>
                <a:gsLst>
                  <a:gs pos="0">
                    <a:srgbClr val="FFC000">
                      <a:lumMod val="67000"/>
                    </a:srgbClr>
                  </a:gs>
                  <a:gs pos="48000">
                    <a:srgbClr val="FFC000">
                      <a:lumMod val="97000"/>
                      <a:lumOff val="3000"/>
                    </a:srgbClr>
                  </a:gs>
                  <a:gs pos="100000">
                    <a:srgbClr val="FFC000">
                      <a:lumMod val="60000"/>
                      <a:lumOff val="40000"/>
                    </a:srgbClr>
                  </a:gs>
                </a:gsLst>
                <a:lin ang="10800000" scaled="1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31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 pitchFamily="2" charset="0"/>
                  <a:ea typeface="SAMSUNGONE-600C" panose="020B0503030303020204" pitchFamily="34" charset="-127"/>
                  <a:cs typeface="+mn-cs"/>
                </a:endParaRPr>
              </a:p>
            </p:txBody>
          </p:sp>
          <p:sp>
            <p:nvSpPr>
              <p:cNvPr id="256" name="직사각형 255"/>
              <p:cNvSpPr/>
              <p:nvPr/>
            </p:nvSpPr>
            <p:spPr>
              <a:xfrm>
                <a:off x="1436066" y="5957755"/>
                <a:ext cx="3288080" cy="2308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rPr>
                  <a:t>GEMV accounts for 82.3% of total computation time (GPU)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57" name="직사각형 256"/>
              <p:cNvSpPr/>
              <p:nvPr/>
            </p:nvSpPr>
            <p:spPr>
              <a:xfrm>
                <a:off x="4998150" y="5948122"/>
                <a:ext cx="334116" cy="250248"/>
              </a:xfrm>
              <a:prstGeom prst="rect">
                <a:avLst/>
              </a:prstGeom>
              <a:solidFill>
                <a:srgbClr val="17375E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58" name="직사각형 257"/>
              <p:cNvSpPr/>
              <p:nvPr/>
            </p:nvSpPr>
            <p:spPr>
              <a:xfrm>
                <a:off x="5332265" y="5948268"/>
                <a:ext cx="347290" cy="250248"/>
              </a:xfrm>
              <a:prstGeom prst="rect">
                <a:avLst/>
              </a:prstGeom>
              <a:solidFill>
                <a:srgbClr val="7030A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9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59" name="직사각형 258"/>
              <p:cNvSpPr/>
              <p:nvPr/>
            </p:nvSpPr>
            <p:spPr>
              <a:xfrm>
                <a:off x="4986405" y="5956486"/>
                <a:ext cx="360633" cy="195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rPr>
                  <a:t>7.8%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60" name="직사각형 259"/>
              <p:cNvSpPr/>
              <p:nvPr/>
            </p:nvSpPr>
            <p:spPr>
              <a:xfrm>
                <a:off x="5337146" y="5956486"/>
                <a:ext cx="360633" cy="195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rPr>
                  <a:t>7.9%</a:t>
                </a:r>
                <a:endPara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  <p:sp>
            <p:nvSpPr>
              <p:cNvPr id="261" name="직사각형 260"/>
              <p:cNvSpPr/>
              <p:nvPr/>
            </p:nvSpPr>
            <p:spPr>
              <a:xfrm>
                <a:off x="5397381" y="5661519"/>
                <a:ext cx="503663" cy="246221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100%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/>
                  <a:ea typeface="맑은 고딕"/>
                </a:endParaRPr>
              </a:p>
            </p:txBody>
          </p:sp>
          <p:grpSp>
            <p:nvGrpSpPr>
              <p:cNvPr id="262" name="그룹 261"/>
              <p:cNvGrpSpPr/>
              <p:nvPr/>
            </p:nvGrpSpPr>
            <p:grpSpPr>
              <a:xfrm>
                <a:off x="3305707" y="6382429"/>
                <a:ext cx="2475083" cy="253171"/>
                <a:chOff x="3311103" y="6381595"/>
                <a:chExt cx="2475083" cy="253171"/>
              </a:xfrm>
            </p:grpSpPr>
            <p:sp>
              <p:nvSpPr>
                <p:cNvPr id="265" name="직사각형 264"/>
                <p:cNvSpPr/>
                <p:nvPr/>
              </p:nvSpPr>
              <p:spPr>
                <a:xfrm>
                  <a:off x="3974527" y="6381596"/>
                  <a:ext cx="537327" cy="246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/>
                      <a:ea typeface="맑은 고딕"/>
                      <a:cs typeface="Arial" panose="020B0604020202020204" pitchFamily="34" charset="0"/>
                    </a:rPr>
                    <a:t>GEMV</a:t>
                  </a:r>
                  <a:endParaRPr kumimoji="0" lang="ko-KR" altLang="en-US" sz="800" b="0" i="0" u="none" strike="noStrike" kern="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6" name="직사각형 265"/>
                <p:cNvSpPr/>
                <p:nvPr/>
              </p:nvSpPr>
              <p:spPr>
                <a:xfrm>
                  <a:off x="3311103" y="6475549"/>
                  <a:ext cx="78516" cy="66384"/>
                </a:xfrm>
                <a:prstGeom prst="rect">
                  <a:avLst/>
                </a:prstGeom>
                <a:solidFill>
                  <a:srgbClr val="0077C8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7" name="직사각형 266"/>
                <p:cNvSpPr/>
                <p:nvPr/>
              </p:nvSpPr>
              <p:spPr>
                <a:xfrm>
                  <a:off x="3345122" y="6388544"/>
                  <a:ext cx="574196" cy="2462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/>
                      <a:ea typeface="맑은 고딕"/>
                      <a:cs typeface="Arial" panose="020B0604020202020204" pitchFamily="34" charset="0"/>
                    </a:rPr>
                    <a:t>GEMM</a:t>
                  </a:r>
                  <a:endParaRPr kumimoji="0" lang="ko-KR" altLang="en-US" sz="800" b="0" i="0" u="none" strike="noStrike" kern="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8" name="직사각형 267"/>
                <p:cNvSpPr/>
                <p:nvPr/>
              </p:nvSpPr>
              <p:spPr>
                <a:xfrm>
                  <a:off x="3927227" y="6475549"/>
                  <a:ext cx="78516" cy="66384"/>
                </a:xfrm>
                <a:prstGeom prst="rect">
                  <a:avLst/>
                </a:prstGeom>
                <a:solidFill>
                  <a:srgbClr val="FFC00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9" name="직사각형 268"/>
                <p:cNvSpPr/>
                <p:nvPr/>
              </p:nvSpPr>
              <p:spPr>
                <a:xfrm>
                  <a:off x="4539939" y="6382051"/>
                  <a:ext cx="833883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/>
                      <a:ea typeface="맑은 고딕"/>
                      <a:cs typeface="Arial" panose="020B0604020202020204" pitchFamily="34" charset="0"/>
                    </a:rPr>
                    <a:t>Non-Linear</a:t>
                  </a:r>
                  <a:endParaRPr kumimoji="0" lang="ko-KR" altLang="en-US" sz="800" b="0" i="0" u="none" strike="noStrike" kern="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0" name="직사각형 269"/>
                <p:cNvSpPr/>
                <p:nvPr/>
              </p:nvSpPr>
              <p:spPr>
                <a:xfrm>
                  <a:off x="4503027" y="6476005"/>
                  <a:ext cx="78516" cy="66384"/>
                </a:xfrm>
                <a:prstGeom prst="rect">
                  <a:avLst/>
                </a:prstGeom>
                <a:solidFill>
                  <a:srgbClr val="17375E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1" name="직사각형 270"/>
                <p:cNvSpPr/>
                <p:nvPr/>
              </p:nvSpPr>
              <p:spPr>
                <a:xfrm>
                  <a:off x="5401144" y="6381595"/>
                  <a:ext cx="385042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Samsung Sharp Sans Bold"/>
                      <a:ea typeface="맑은 고딕"/>
                      <a:cs typeface="Arial" panose="020B0604020202020204" pitchFamily="34" charset="0"/>
                    </a:rPr>
                    <a:t>Etc.</a:t>
                  </a:r>
                  <a:endParaRPr kumimoji="0" lang="ko-KR" altLang="en-US" sz="800" b="0" i="0" u="none" strike="noStrike" kern="0" cap="none" spc="0" normalizeH="0" baseline="-2500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2" name="직사각형 271"/>
                <p:cNvSpPr/>
                <p:nvPr/>
              </p:nvSpPr>
              <p:spPr>
                <a:xfrm>
                  <a:off x="5364233" y="6475549"/>
                  <a:ext cx="78516" cy="66384"/>
                </a:xfrm>
                <a:prstGeom prst="rect">
                  <a:avLst/>
                </a:prstGeom>
                <a:solidFill>
                  <a:srgbClr val="604A7B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맑은 고딕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63" name="직선 연결선 262">
                <a:extLst>
                  <a:ext uri="{FF2B5EF4-FFF2-40B4-BE49-F238E27FC236}">
                    <a16:creationId xmlns:a16="http://schemas.microsoft.com/office/drawing/2014/main" id="{25BB8C04-C31F-470C-9A50-6C4BD57CD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4791" y="5853456"/>
                <a:ext cx="3177" cy="468000"/>
              </a:xfrm>
              <a:prstGeom prst="line">
                <a:avLst/>
              </a:prstGeom>
              <a:noFill/>
              <a:ln w="12700" cap="rnd" cmpd="sng" algn="ctr">
                <a:solidFill>
                  <a:srgbClr val="A6A6A6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4" name="직사각형 263"/>
              <p:cNvSpPr/>
              <p:nvPr/>
            </p:nvSpPr>
            <p:spPr>
              <a:xfrm>
                <a:off x="418623" y="6393624"/>
                <a:ext cx="2741456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Samsung Sharp Sans Bold"/>
                    <a:ea typeface="맑은 고딕"/>
                    <a:cs typeface="Arial" panose="020B0604020202020204" pitchFamily="34" charset="0"/>
                  </a:rPr>
                  <a:t>*GPT-J 6B latency breakdown on A100 GPU</a:t>
                </a:r>
                <a:endParaRPr kumimoji="0" lang="ko-KR" altLang="en-US" sz="800" b="0" i="0" u="none" strike="noStrike" kern="0" cap="none" spc="0" normalizeH="0" baseline="-25000" noProof="0" dirty="0">
                  <a:ln>
                    <a:noFill/>
                  </a:ln>
                  <a:effectLst/>
                  <a:uLnTx/>
                  <a:uFillTx/>
                  <a:latin typeface="Samsung Sharp Sans Bold"/>
                  <a:ea typeface="맑은 고딕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6146" name="Picture 2" descr="논문 리뷰] A Dynamic PD-Disaggregation Architecture for Maximizing Goodput in  LLM Inference Serv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640" y="4041648"/>
            <a:ext cx="3348267" cy="1828800"/>
          </a:xfrm>
          <a:prstGeom prst="rect">
            <a:avLst/>
          </a:prstGeom>
          <a:noFill/>
          <a:ln w="6350">
            <a:solidFill>
              <a:srgbClr val="D9D9D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8" name="오른쪽 화살표 39">
            <a:extLst>
              <a:ext uri="{FF2B5EF4-FFF2-40B4-BE49-F238E27FC236}">
                <a16:creationId xmlns:a16="http://schemas.microsoft.com/office/drawing/2014/main" id="{0C02C4F3-EB01-4664-B739-CF69604C5390}"/>
              </a:ext>
            </a:extLst>
          </p:cNvPr>
          <p:cNvSpPr/>
          <p:nvPr/>
        </p:nvSpPr>
        <p:spPr>
          <a:xfrm>
            <a:off x="284845" y="6089904"/>
            <a:ext cx="412417" cy="276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DP2 9014">
            <a:extLst>
              <a:ext uri="{FF2B5EF4-FFF2-40B4-BE49-F238E27FC236}">
                <a16:creationId xmlns:a16="http://schemas.microsoft.com/office/drawing/2014/main" id="{BAB6A9C5-DE6C-4B40-9E12-B57562177C2D}"/>
              </a:ext>
            </a:extLst>
          </p:cNvPr>
          <p:cNvSpPr/>
          <p:nvPr/>
        </p:nvSpPr>
        <p:spPr>
          <a:xfrm>
            <a:off x="665581" y="610819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P/D 분리는 단계 간 간섭을 없애지만, KV 캐시가 어디(노드·Memory Tier)에 있느냐에 따라 다음 Prefill의 실행 비용이 달라짐 (→ 다음 장)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151" name="Table 6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732280"/>
              </p:ext>
            </p:extLst>
          </p:nvPr>
        </p:nvGraphicFramePr>
        <p:xfrm>
          <a:off x="8000595" y="1097280"/>
          <a:ext cx="3749447" cy="1892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0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9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  <a:endParaRPr sz="1000" b="1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Prefill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Decode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900" b="1" dirty="0">
                        <a:solidFill>
                          <a:srgbClr val="40404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입력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프롬프트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처리</a:t>
                      </a:r>
                      <a:endParaRPr sz="900" b="0" dirty="0">
                        <a:solidFill>
                          <a:srgbClr val="262626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→ 첫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lang="en-US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+</a:t>
                      </a: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KV</a:t>
                      </a:r>
                      <a:r>
                        <a:rPr lang="ko-KR" altLang="en-US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캐시</a:t>
                      </a:r>
                      <a:endParaRPr sz="900" b="0" dirty="0">
                        <a:solidFill>
                          <a:srgbClr val="26262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KV를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참조해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토큰을</a:t>
                      </a:r>
                      <a:endParaRPr sz="900" b="0" dirty="0">
                        <a:solidFill>
                          <a:srgbClr val="262626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1개씩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반복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생성</a:t>
                      </a:r>
                      <a:endParaRPr sz="900" b="0" dirty="0">
                        <a:solidFill>
                          <a:srgbClr val="26262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연산 형태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n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병렬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(GEMM)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step당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1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(GEMV)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병목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Compute-bound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C55A11"/>
                          </a:solidFill>
                          <a:latin typeface="맑은 고딕"/>
                          <a:ea typeface="맑은 고딕"/>
                        </a:rPr>
                        <a:t>Memory-bound</a:t>
                      </a:r>
                    </a:p>
                    <a:p>
                      <a:pPr algn="ctr"/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en-US"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Weight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·KV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반복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읽기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KV 캐시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생성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(Write)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읽기</a:t>
                      </a:r>
                      <a:r>
                        <a:rPr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 + </a:t>
                      </a:r>
                      <a:r>
                        <a:rPr lang="en-US" sz="900" b="0" dirty="0">
                          <a:solidFill>
                            <a:srgbClr val="262626"/>
                          </a:solidFill>
                          <a:latin typeface="맑은 고딕"/>
                          <a:ea typeface="맑은 고딕"/>
                        </a:rPr>
                        <a:t>Append Write</a:t>
                      </a:r>
                      <a:endParaRPr sz="900" b="0" dirty="0">
                        <a:solidFill>
                          <a:srgbClr val="26262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404040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TTFT</a:t>
                      </a:r>
                      <a:endParaRPr lang="en-US" sz="900" b="1" dirty="0">
                        <a:solidFill>
                          <a:srgbClr val="2E75B6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ctr"/>
                      <a:r>
                        <a:rPr lang="en-US" sz="900" b="1" dirty="0">
                          <a:solidFill>
                            <a:srgbClr val="2E75B6"/>
                          </a:solidFill>
                          <a:latin typeface="맑은 고딕"/>
                          <a:ea typeface="맑은 고딕"/>
                        </a:rPr>
                        <a:t>(Time To First Token)</a:t>
                      </a:r>
                      <a:endParaRPr sz="900" b="1" dirty="0">
                        <a:solidFill>
                          <a:srgbClr val="2E75B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C55A11"/>
                          </a:solidFill>
                          <a:latin typeface="맑은 고딕"/>
                          <a:ea typeface="맑은 고딕"/>
                        </a:rPr>
                        <a:t>TPOT</a:t>
                      </a:r>
                      <a:r>
                        <a:rPr lang="en-US" sz="900" b="1" dirty="0">
                          <a:solidFill>
                            <a:srgbClr val="C55A1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  <a:p>
                      <a:pPr algn="ctr"/>
                      <a:r>
                        <a:rPr lang="en-US" sz="900" b="1" dirty="0">
                          <a:solidFill>
                            <a:srgbClr val="C55A11"/>
                          </a:solidFill>
                          <a:latin typeface="맑은 고딕"/>
                          <a:ea typeface="맑은 고딕"/>
                        </a:rPr>
                        <a:t>(Time Per Output Token)</a:t>
                      </a:r>
                      <a:endParaRPr sz="900" b="1" dirty="0">
                        <a:solidFill>
                          <a:srgbClr val="C55A1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27432" marR="27432" marT="9144" marB="9144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52" name="Rectangle 6151"/>
          <p:cNvSpPr/>
          <p:nvPr/>
        </p:nvSpPr>
        <p:spPr>
          <a:xfrm>
            <a:off x="502920" y="3721608"/>
            <a:ext cx="521208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(a) </a:t>
            </a:r>
            <a:r>
              <a:rPr sz="900" b="1" dirty="0" err="1">
                <a:solidFill>
                  <a:srgbClr val="262626"/>
                </a:solidFill>
                <a:latin typeface="맑은 고딕"/>
                <a:ea typeface="맑은 고딕"/>
              </a:rPr>
              <a:t>통합</a:t>
            </a:r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62626"/>
                </a:solidFill>
                <a:latin typeface="맑은 고딕"/>
                <a:ea typeface="맑은 고딕"/>
              </a:rPr>
              <a:t>실행</a:t>
            </a:r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: 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한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GPU에서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Prefill과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Decode를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섞어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실행</a:t>
            </a:r>
            <a:endParaRPr sz="9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173" name="Right Arrow 6172"/>
          <p:cNvSpPr/>
          <p:nvPr/>
        </p:nvSpPr>
        <p:spPr>
          <a:xfrm>
            <a:off x="5700540" y="4773654"/>
            <a:ext cx="292608" cy="329184"/>
          </a:xfrm>
          <a:prstGeom prst="rightArrow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74" name="Rectangle 6173"/>
          <p:cNvSpPr/>
          <p:nvPr/>
        </p:nvSpPr>
        <p:spPr>
          <a:xfrm>
            <a:off x="6263640" y="3738219"/>
            <a:ext cx="54864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(b) P/D </a:t>
            </a:r>
            <a:r>
              <a:rPr sz="900" b="1" dirty="0" err="1">
                <a:solidFill>
                  <a:srgbClr val="262626"/>
                </a:solidFill>
                <a:latin typeface="맑은 고딕"/>
                <a:ea typeface="맑은 고딕"/>
              </a:rPr>
              <a:t>분리</a:t>
            </a:r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262626"/>
                </a:solidFill>
                <a:latin typeface="맑은 고딕"/>
                <a:ea typeface="맑은 고딕"/>
              </a:rPr>
              <a:t>실행</a:t>
            </a:r>
            <a:r>
              <a:rPr sz="900" b="1" dirty="0">
                <a:solidFill>
                  <a:srgbClr val="262626"/>
                </a:solidFill>
                <a:latin typeface="맑은 고딕"/>
                <a:ea typeface="맑은 고딕"/>
              </a:rPr>
              <a:t>: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단계별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전용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인스턴스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+ KV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캐시</a:t>
            </a:r>
            <a:r>
              <a:rPr sz="9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900" b="0" dirty="0" err="1">
                <a:solidFill>
                  <a:srgbClr val="404040"/>
                </a:solidFill>
                <a:latin typeface="맑은 고딕"/>
                <a:ea typeface="맑은 고딕"/>
              </a:rPr>
              <a:t>전송</a:t>
            </a:r>
            <a:endParaRPr sz="9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175" name="Rounded Rectangle 6174"/>
          <p:cNvSpPr/>
          <p:nvPr/>
        </p:nvSpPr>
        <p:spPr>
          <a:xfrm>
            <a:off x="9749067" y="4041648"/>
            <a:ext cx="2000972" cy="512064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l"/>
            <a:r>
              <a:rPr sz="800" b="1" dirty="0">
                <a:solidFill>
                  <a:srgbClr val="2E75B6"/>
                </a:solidFill>
                <a:latin typeface="맑은 고딕"/>
                <a:ea typeface="맑은 고딕"/>
              </a:rPr>
              <a:t>Prefill Instance</a:t>
            </a:r>
          </a:p>
          <a:p>
            <a:pPr algn="l"/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TTFT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최적화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·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연산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중심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자원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/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병렬화</a:t>
            </a:r>
            <a:endParaRPr sz="8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176" name="Rounded Rectangle 6175"/>
          <p:cNvSpPr/>
          <p:nvPr/>
        </p:nvSpPr>
        <p:spPr>
          <a:xfrm>
            <a:off x="9749067" y="4700016"/>
            <a:ext cx="2000972" cy="512064"/>
          </a:xfrm>
          <a:prstGeom prst="roundRect">
            <a:avLst>
              <a:gd name="adj" fmla="val 10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l"/>
            <a:r>
              <a:rPr sz="800" b="1" dirty="0">
                <a:solidFill>
                  <a:srgbClr val="C55A11"/>
                </a:solidFill>
                <a:latin typeface="맑은 고딕"/>
                <a:ea typeface="맑은 고딕"/>
              </a:rPr>
              <a:t>Decoding Instance</a:t>
            </a:r>
          </a:p>
          <a:p>
            <a:pPr algn="l"/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TPOT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최적화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· 큰 batch · </a:t>
            </a:r>
            <a:endParaRPr lang="en-US" sz="800" b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l"/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메모리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BW/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용량</a:t>
            </a:r>
            <a:endParaRPr sz="8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177" name="Rounded Rectangle 6176"/>
          <p:cNvSpPr/>
          <p:nvPr/>
        </p:nvSpPr>
        <p:spPr>
          <a:xfrm>
            <a:off x="9749067" y="5358384"/>
            <a:ext cx="2000972" cy="512064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9144" rIns="64008" bIns="9144" rtlCol="0" anchor="ctr"/>
          <a:lstStyle/>
          <a:p>
            <a:pPr algn="l"/>
            <a:r>
              <a:rPr sz="800" b="1" dirty="0" err="1">
                <a:solidFill>
                  <a:srgbClr val="548235"/>
                </a:solidFill>
                <a:latin typeface="맑은 고딕"/>
                <a:ea typeface="맑은 고딕"/>
              </a:rPr>
              <a:t>효과</a:t>
            </a:r>
            <a:endParaRPr sz="800" b="1" dirty="0">
              <a:solidFill>
                <a:srgbClr val="548235"/>
              </a:solidFill>
              <a:latin typeface="맑은 고딕"/>
              <a:ea typeface="맑은 고딕"/>
            </a:endParaRPr>
          </a:p>
          <a:p>
            <a:pPr algn="l"/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단계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간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간섭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제거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· P:D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독립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scaling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B8A297E-CCEA-4417-8652-FE55EBFDD7FF}"/>
              </a:ext>
            </a:extLst>
          </p:cNvPr>
          <p:cNvGrpSpPr/>
          <p:nvPr/>
        </p:nvGrpSpPr>
        <p:grpSpPr>
          <a:xfrm>
            <a:off x="464838" y="4278125"/>
            <a:ext cx="5043275" cy="1541239"/>
            <a:chOff x="502920" y="4014215"/>
            <a:chExt cx="4700016" cy="1077429"/>
          </a:xfrm>
        </p:grpSpPr>
        <p:sp>
          <p:nvSpPr>
            <p:cNvPr id="155" name="Rectangle 6152">
              <a:extLst>
                <a:ext uri="{FF2B5EF4-FFF2-40B4-BE49-F238E27FC236}">
                  <a16:creationId xmlns:a16="http://schemas.microsoft.com/office/drawing/2014/main" id="{FF2D4AB9-0B43-4658-B6C0-7467620626F3}"/>
                </a:ext>
              </a:extLst>
            </p:cNvPr>
            <p:cNvSpPr/>
            <p:nvPr/>
          </p:nvSpPr>
          <p:spPr>
            <a:xfrm>
              <a:off x="502920" y="4041648"/>
              <a:ext cx="987552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C55A11"/>
                  </a:solidFill>
                  <a:latin typeface="맑은 고딕"/>
                  <a:ea typeface="맑은 고딕"/>
                </a:rPr>
                <a:t>R1 · Decode 중</a:t>
              </a:r>
            </a:p>
          </p:txBody>
        </p:sp>
        <p:sp>
          <p:nvSpPr>
            <p:cNvPr id="156" name="Rectangle 6153">
              <a:extLst>
                <a:ext uri="{FF2B5EF4-FFF2-40B4-BE49-F238E27FC236}">
                  <a16:creationId xmlns:a16="http://schemas.microsoft.com/office/drawing/2014/main" id="{ABAE4728-ABFA-4FDB-B7AC-1E5BA6247FB1}"/>
                </a:ext>
              </a:extLst>
            </p:cNvPr>
            <p:cNvSpPr/>
            <p:nvPr/>
          </p:nvSpPr>
          <p:spPr>
            <a:xfrm>
              <a:off x="502920" y="4215384"/>
              <a:ext cx="987552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C55A11"/>
                  </a:solidFill>
                  <a:latin typeface="맑은 고딕"/>
                  <a:ea typeface="맑은 고딕"/>
                </a:rPr>
                <a:t>R2 · Decode 중</a:t>
              </a:r>
            </a:p>
          </p:txBody>
        </p:sp>
        <p:sp>
          <p:nvSpPr>
            <p:cNvPr id="157" name="Rectangle 6154">
              <a:extLst>
                <a:ext uri="{FF2B5EF4-FFF2-40B4-BE49-F238E27FC236}">
                  <a16:creationId xmlns:a16="http://schemas.microsoft.com/office/drawing/2014/main" id="{EFB63F22-0161-4313-A52F-32F36FA85296}"/>
                </a:ext>
              </a:extLst>
            </p:cNvPr>
            <p:cNvSpPr/>
            <p:nvPr/>
          </p:nvSpPr>
          <p:spPr>
            <a:xfrm>
              <a:off x="502920" y="4389120"/>
              <a:ext cx="987552" cy="146304"/>
            </a:xfrm>
            <a:prstGeom prst="rect">
              <a:avLst/>
            </a:prstGeom>
            <a:solidFill>
              <a:srgbClr val="DEEBF7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2E75B6"/>
                  </a:solidFill>
                  <a:latin typeface="맑은 고딕"/>
                  <a:ea typeface="맑은 고딕"/>
                </a:rPr>
                <a:t>R3 · 신규 Prefill</a:t>
              </a:r>
            </a:p>
          </p:txBody>
        </p:sp>
        <p:sp>
          <p:nvSpPr>
            <p:cNvPr id="158" name="Rectangle 6155">
              <a:extLst>
                <a:ext uri="{FF2B5EF4-FFF2-40B4-BE49-F238E27FC236}">
                  <a16:creationId xmlns:a16="http://schemas.microsoft.com/office/drawing/2014/main" id="{465185A4-B7E7-4398-9D60-5460DA1D8404}"/>
                </a:ext>
              </a:extLst>
            </p:cNvPr>
            <p:cNvSpPr/>
            <p:nvPr/>
          </p:nvSpPr>
          <p:spPr>
            <a:xfrm>
              <a:off x="502920" y="4562856"/>
              <a:ext cx="987552" cy="146304"/>
            </a:xfrm>
            <a:prstGeom prst="rect">
              <a:avLst/>
            </a:prstGeom>
            <a:solidFill>
              <a:srgbClr val="DEEBF7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2E75B6"/>
                  </a:solidFill>
                  <a:latin typeface="맑은 고딕"/>
                  <a:ea typeface="맑은 고딕"/>
                </a:rPr>
                <a:t>R4 · 신규 Prefill</a:t>
              </a:r>
            </a:p>
          </p:txBody>
        </p:sp>
        <p:cxnSp>
          <p:nvCxnSpPr>
            <p:cNvPr id="159" name="Connector 6156">
              <a:extLst>
                <a:ext uri="{FF2B5EF4-FFF2-40B4-BE49-F238E27FC236}">
                  <a16:creationId xmlns:a16="http://schemas.microsoft.com/office/drawing/2014/main" id="{49D0AF00-80D0-4EAD-88CB-3C52C8CC6277}"/>
                </a:ext>
              </a:extLst>
            </p:cNvPr>
            <p:cNvCxnSpPr/>
            <p:nvPr/>
          </p:nvCxnSpPr>
          <p:spPr>
            <a:xfrm>
              <a:off x="1527048" y="4261104"/>
              <a:ext cx="164592" cy="0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tangle 6157">
              <a:extLst>
                <a:ext uri="{FF2B5EF4-FFF2-40B4-BE49-F238E27FC236}">
                  <a16:creationId xmlns:a16="http://schemas.microsoft.com/office/drawing/2014/main" id="{AC8C792D-22C6-40AE-BDCC-299FB23CD875}"/>
                </a:ext>
              </a:extLst>
            </p:cNvPr>
            <p:cNvSpPr/>
            <p:nvPr/>
          </p:nvSpPr>
          <p:spPr>
            <a:xfrm>
              <a:off x="1709928" y="4041648"/>
              <a:ext cx="365760" cy="667512"/>
            </a:xfrm>
            <a:prstGeom prst="rect">
              <a:avLst/>
            </a:prstGeom>
            <a:solidFill>
              <a:srgbClr val="F0F1F3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00" b="1">
                  <a:solidFill>
                    <a:srgbClr val="000000"/>
                  </a:solidFill>
                  <a:latin typeface="맑은 고딕"/>
                  <a:ea typeface="맑은 고딕"/>
                </a:rPr>
                <a:t>GPU</a:t>
              </a:r>
            </a:p>
          </p:txBody>
        </p:sp>
        <p:sp>
          <p:nvSpPr>
            <p:cNvPr id="161" name="Rectangle 6158">
              <a:extLst>
                <a:ext uri="{FF2B5EF4-FFF2-40B4-BE49-F238E27FC236}">
                  <a16:creationId xmlns:a16="http://schemas.microsoft.com/office/drawing/2014/main" id="{BF280A27-50E4-4F2B-A278-BB3FA661D21A}"/>
                </a:ext>
              </a:extLst>
            </p:cNvPr>
            <p:cNvSpPr/>
            <p:nvPr/>
          </p:nvSpPr>
          <p:spPr>
            <a:xfrm>
              <a:off x="2167128" y="4041648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D1</a:t>
              </a:r>
            </a:p>
          </p:txBody>
        </p:sp>
        <p:sp>
          <p:nvSpPr>
            <p:cNvPr id="162" name="Rectangle 6159">
              <a:extLst>
                <a:ext uri="{FF2B5EF4-FFF2-40B4-BE49-F238E27FC236}">
                  <a16:creationId xmlns:a16="http://schemas.microsoft.com/office/drawing/2014/main" id="{2FC09F91-1BDD-45F0-9B76-BE7958A4B6B3}"/>
                </a:ext>
              </a:extLst>
            </p:cNvPr>
            <p:cNvSpPr/>
            <p:nvPr/>
          </p:nvSpPr>
          <p:spPr>
            <a:xfrm>
              <a:off x="2167128" y="4215384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D2</a:t>
              </a:r>
            </a:p>
          </p:txBody>
        </p:sp>
        <p:sp>
          <p:nvSpPr>
            <p:cNvPr id="163" name="Rectangle 6160">
              <a:extLst>
                <a:ext uri="{FF2B5EF4-FFF2-40B4-BE49-F238E27FC236}">
                  <a16:creationId xmlns:a16="http://schemas.microsoft.com/office/drawing/2014/main" id="{EEC437A7-E8BA-4249-9E7C-F17265ADE265}"/>
                </a:ext>
              </a:extLst>
            </p:cNvPr>
            <p:cNvSpPr/>
            <p:nvPr/>
          </p:nvSpPr>
          <p:spPr>
            <a:xfrm>
              <a:off x="2487168" y="4041648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D1</a:t>
              </a:r>
            </a:p>
          </p:txBody>
        </p:sp>
        <p:sp>
          <p:nvSpPr>
            <p:cNvPr id="164" name="Rectangle 6161">
              <a:extLst>
                <a:ext uri="{FF2B5EF4-FFF2-40B4-BE49-F238E27FC236}">
                  <a16:creationId xmlns:a16="http://schemas.microsoft.com/office/drawing/2014/main" id="{2BFCB928-4B9E-4521-8F9B-0EB079BA983C}"/>
                </a:ext>
              </a:extLst>
            </p:cNvPr>
            <p:cNvSpPr/>
            <p:nvPr/>
          </p:nvSpPr>
          <p:spPr>
            <a:xfrm>
              <a:off x="2743200" y="4041648"/>
              <a:ext cx="804671" cy="146304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 sz="2400"/>
            </a:p>
          </p:txBody>
        </p:sp>
        <p:sp>
          <p:nvSpPr>
            <p:cNvPr id="204" name="Rectangle 6162">
              <a:extLst>
                <a:ext uri="{FF2B5EF4-FFF2-40B4-BE49-F238E27FC236}">
                  <a16:creationId xmlns:a16="http://schemas.microsoft.com/office/drawing/2014/main" id="{D9DDD90B-9B09-417D-A222-FDB7E729E36C}"/>
                </a:ext>
              </a:extLst>
            </p:cNvPr>
            <p:cNvSpPr/>
            <p:nvPr/>
          </p:nvSpPr>
          <p:spPr>
            <a:xfrm>
              <a:off x="2487168" y="4215384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D2</a:t>
              </a:r>
            </a:p>
          </p:txBody>
        </p:sp>
        <p:sp>
          <p:nvSpPr>
            <p:cNvPr id="205" name="Rectangle 6163">
              <a:extLst>
                <a:ext uri="{FF2B5EF4-FFF2-40B4-BE49-F238E27FC236}">
                  <a16:creationId xmlns:a16="http://schemas.microsoft.com/office/drawing/2014/main" id="{4D7FE4C2-F14F-4AF0-8A9A-B5F8C6DF1F11}"/>
                </a:ext>
              </a:extLst>
            </p:cNvPr>
            <p:cNvSpPr/>
            <p:nvPr/>
          </p:nvSpPr>
          <p:spPr>
            <a:xfrm>
              <a:off x="2743200" y="4215384"/>
              <a:ext cx="804671" cy="146304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 sz="2400"/>
            </a:p>
          </p:txBody>
        </p:sp>
        <p:sp>
          <p:nvSpPr>
            <p:cNvPr id="240" name="Rectangle 6164">
              <a:extLst>
                <a:ext uri="{FF2B5EF4-FFF2-40B4-BE49-F238E27FC236}">
                  <a16:creationId xmlns:a16="http://schemas.microsoft.com/office/drawing/2014/main" id="{B44BACBA-DF71-4008-95E0-2CDFAC3F9A21}"/>
                </a:ext>
              </a:extLst>
            </p:cNvPr>
            <p:cNvSpPr/>
            <p:nvPr/>
          </p:nvSpPr>
          <p:spPr>
            <a:xfrm>
              <a:off x="2487168" y="4389120"/>
              <a:ext cx="1060704" cy="146304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맑은 고딕"/>
                  <a:ea typeface="맑은 고딕"/>
                </a:rPr>
                <a:t>P3 (긴 프롬프트)</a:t>
              </a:r>
            </a:p>
          </p:txBody>
        </p:sp>
        <p:sp>
          <p:nvSpPr>
            <p:cNvPr id="273" name="Rectangle 6165">
              <a:extLst>
                <a:ext uri="{FF2B5EF4-FFF2-40B4-BE49-F238E27FC236}">
                  <a16:creationId xmlns:a16="http://schemas.microsoft.com/office/drawing/2014/main" id="{08BAC2FC-8327-4996-A348-B641F1D9FD62}"/>
                </a:ext>
              </a:extLst>
            </p:cNvPr>
            <p:cNvSpPr/>
            <p:nvPr/>
          </p:nvSpPr>
          <p:spPr>
            <a:xfrm>
              <a:off x="3621024" y="4041648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D1</a:t>
              </a:r>
            </a:p>
          </p:txBody>
        </p:sp>
        <p:sp>
          <p:nvSpPr>
            <p:cNvPr id="274" name="Rectangle 6166">
              <a:extLst>
                <a:ext uri="{FF2B5EF4-FFF2-40B4-BE49-F238E27FC236}">
                  <a16:creationId xmlns:a16="http://schemas.microsoft.com/office/drawing/2014/main" id="{1AE420FD-892B-45C1-A2B1-32BBB5D1773D}"/>
                </a:ext>
              </a:extLst>
            </p:cNvPr>
            <p:cNvSpPr/>
            <p:nvPr/>
          </p:nvSpPr>
          <p:spPr>
            <a:xfrm>
              <a:off x="3621024" y="4215384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D2</a:t>
              </a:r>
            </a:p>
          </p:txBody>
        </p:sp>
        <p:sp>
          <p:nvSpPr>
            <p:cNvPr id="275" name="Rectangle 6167">
              <a:extLst>
                <a:ext uri="{FF2B5EF4-FFF2-40B4-BE49-F238E27FC236}">
                  <a16:creationId xmlns:a16="http://schemas.microsoft.com/office/drawing/2014/main" id="{2990D454-12DA-4A42-9CF3-AC728D56B8DE}"/>
                </a:ext>
              </a:extLst>
            </p:cNvPr>
            <p:cNvSpPr/>
            <p:nvPr/>
          </p:nvSpPr>
          <p:spPr>
            <a:xfrm>
              <a:off x="3621024" y="4389120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D3</a:t>
              </a:r>
            </a:p>
          </p:txBody>
        </p:sp>
        <p:sp>
          <p:nvSpPr>
            <p:cNvPr id="276" name="Rectangle 6168">
              <a:extLst>
                <a:ext uri="{FF2B5EF4-FFF2-40B4-BE49-F238E27FC236}">
                  <a16:creationId xmlns:a16="http://schemas.microsoft.com/office/drawing/2014/main" id="{27EDFEEA-A838-4303-B208-0FA0416B4C67}"/>
                </a:ext>
              </a:extLst>
            </p:cNvPr>
            <p:cNvSpPr/>
            <p:nvPr/>
          </p:nvSpPr>
          <p:spPr>
            <a:xfrm>
              <a:off x="3941063" y="4041648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D1</a:t>
              </a:r>
            </a:p>
          </p:txBody>
        </p:sp>
        <p:sp>
          <p:nvSpPr>
            <p:cNvPr id="277" name="Rectangle 6169">
              <a:extLst>
                <a:ext uri="{FF2B5EF4-FFF2-40B4-BE49-F238E27FC236}">
                  <a16:creationId xmlns:a16="http://schemas.microsoft.com/office/drawing/2014/main" id="{8A4641AF-C7A1-4DF4-B54B-947039174740}"/>
                </a:ext>
              </a:extLst>
            </p:cNvPr>
            <p:cNvSpPr/>
            <p:nvPr/>
          </p:nvSpPr>
          <p:spPr>
            <a:xfrm>
              <a:off x="4197096" y="4041648"/>
              <a:ext cx="804671" cy="146304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 sz="2400"/>
            </a:p>
          </p:txBody>
        </p:sp>
        <p:sp>
          <p:nvSpPr>
            <p:cNvPr id="278" name="Rectangle 6170">
              <a:extLst>
                <a:ext uri="{FF2B5EF4-FFF2-40B4-BE49-F238E27FC236}">
                  <a16:creationId xmlns:a16="http://schemas.microsoft.com/office/drawing/2014/main" id="{86651360-077B-4956-96B9-92C60C6B1719}"/>
                </a:ext>
              </a:extLst>
            </p:cNvPr>
            <p:cNvSpPr/>
            <p:nvPr/>
          </p:nvSpPr>
          <p:spPr>
            <a:xfrm>
              <a:off x="3941063" y="4215384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D2</a:t>
              </a:r>
            </a:p>
          </p:txBody>
        </p:sp>
        <p:sp>
          <p:nvSpPr>
            <p:cNvPr id="279" name="Rectangle 6171">
              <a:extLst>
                <a:ext uri="{FF2B5EF4-FFF2-40B4-BE49-F238E27FC236}">
                  <a16:creationId xmlns:a16="http://schemas.microsoft.com/office/drawing/2014/main" id="{7D3942C4-82FB-4934-8FCB-4AB9DF48D245}"/>
                </a:ext>
              </a:extLst>
            </p:cNvPr>
            <p:cNvSpPr/>
            <p:nvPr/>
          </p:nvSpPr>
          <p:spPr>
            <a:xfrm>
              <a:off x="4197096" y="4215384"/>
              <a:ext cx="804671" cy="146304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 sz="2400"/>
            </a:p>
          </p:txBody>
        </p:sp>
        <p:sp>
          <p:nvSpPr>
            <p:cNvPr id="280" name="Rectangle 6172">
              <a:extLst>
                <a:ext uri="{FF2B5EF4-FFF2-40B4-BE49-F238E27FC236}">
                  <a16:creationId xmlns:a16="http://schemas.microsoft.com/office/drawing/2014/main" id="{D501D629-6B33-438F-B52B-971D7815A36C}"/>
                </a:ext>
              </a:extLst>
            </p:cNvPr>
            <p:cNvSpPr/>
            <p:nvPr/>
          </p:nvSpPr>
          <p:spPr>
            <a:xfrm>
              <a:off x="3941063" y="4389120"/>
              <a:ext cx="246888" cy="146304"/>
            </a:xfrm>
            <a:prstGeom prst="rect">
              <a:avLst/>
            </a:prstGeom>
            <a:solidFill>
              <a:srgbClr val="FBE5D6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>
                  <a:solidFill>
                    <a:srgbClr val="C55A11"/>
                  </a:solidFill>
                  <a:latin typeface="맑은 고딕"/>
                  <a:ea typeface="맑은 고딕"/>
                </a:rPr>
                <a:t>D3</a:t>
              </a:r>
            </a:p>
          </p:txBody>
        </p:sp>
        <p:sp>
          <p:nvSpPr>
            <p:cNvPr id="281" name="Rectangle 6173">
              <a:extLst>
                <a:ext uri="{FF2B5EF4-FFF2-40B4-BE49-F238E27FC236}">
                  <a16:creationId xmlns:a16="http://schemas.microsoft.com/office/drawing/2014/main" id="{7AB6576A-506F-46EB-9A2D-811BBDCEEC2A}"/>
                </a:ext>
              </a:extLst>
            </p:cNvPr>
            <p:cNvSpPr/>
            <p:nvPr/>
          </p:nvSpPr>
          <p:spPr>
            <a:xfrm>
              <a:off x="4197096" y="4389120"/>
              <a:ext cx="804671" cy="146304"/>
            </a:xfrm>
            <a:prstGeom prst="rect">
              <a:avLst/>
            </a:prstGeom>
            <a:solidFill>
              <a:srgbClr val="F2F2F2"/>
            </a:solidFill>
            <a:ln w="6350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 sz="2400"/>
            </a:p>
          </p:txBody>
        </p:sp>
        <p:sp>
          <p:nvSpPr>
            <p:cNvPr id="282" name="Rectangle 6174">
              <a:extLst>
                <a:ext uri="{FF2B5EF4-FFF2-40B4-BE49-F238E27FC236}">
                  <a16:creationId xmlns:a16="http://schemas.microsoft.com/office/drawing/2014/main" id="{167FCFCD-3172-4654-AFED-F40CFC715162}"/>
                </a:ext>
              </a:extLst>
            </p:cNvPr>
            <p:cNvSpPr/>
            <p:nvPr/>
          </p:nvSpPr>
          <p:spPr>
            <a:xfrm>
              <a:off x="3941063" y="4562856"/>
              <a:ext cx="1060704" cy="146304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FFFFFF"/>
                  </a:solidFill>
                  <a:latin typeface="맑은 고딕"/>
                  <a:ea typeface="맑은 고딕"/>
                </a:rPr>
                <a:t>P4 (긴 프롬프트)</a:t>
              </a:r>
            </a:p>
          </p:txBody>
        </p:sp>
        <p:cxnSp>
          <p:nvCxnSpPr>
            <p:cNvPr id="283" name="Connector 6175">
              <a:extLst>
                <a:ext uri="{FF2B5EF4-FFF2-40B4-BE49-F238E27FC236}">
                  <a16:creationId xmlns:a16="http://schemas.microsoft.com/office/drawing/2014/main" id="{70C43492-E8BB-4E0B-B41E-1AD3157DEDDB}"/>
                </a:ext>
              </a:extLst>
            </p:cNvPr>
            <p:cNvCxnSpPr/>
            <p:nvPr/>
          </p:nvCxnSpPr>
          <p:spPr>
            <a:xfrm>
              <a:off x="2450592" y="4014215"/>
              <a:ext cx="0" cy="722377"/>
            </a:xfrm>
            <a:prstGeom prst="line">
              <a:avLst/>
            </a:prstGeom>
            <a:ln w="6350">
              <a:solidFill>
                <a:srgbClr val="A6A6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6176">
              <a:extLst>
                <a:ext uri="{FF2B5EF4-FFF2-40B4-BE49-F238E27FC236}">
                  <a16:creationId xmlns:a16="http://schemas.microsoft.com/office/drawing/2014/main" id="{1A11478A-047E-4A62-8FA5-3F5DB15F43EF}"/>
                </a:ext>
              </a:extLst>
            </p:cNvPr>
            <p:cNvCxnSpPr/>
            <p:nvPr/>
          </p:nvCxnSpPr>
          <p:spPr>
            <a:xfrm>
              <a:off x="3584448" y="4014215"/>
              <a:ext cx="0" cy="722377"/>
            </a:xfrm>
            <a:prstGeom prst="line">
              <a:avLst/>
            </a:prstGeom>
            <a:ln w="6350">
              <a:solidFill>
                <a:srgbClr val="A6A6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ctor 6177">
              <a:extLst>
                <a:ext uri="{FF2B5EF4-FFF2-40B4-BE49-F238E27FC236}">
                  <a16:creationId xmlns:a16="http://schemas.microsoft.com/office/drawing/2014/main" id="{C3C3B8FC-1C22-4708-840B-4D778CF7E30E}"/>
                </a:ext>
              </a:extLst>
            </p:cNvPr>
            <p:cNvCxnSpPr/>
            <p:nvPr/>
          </p:nvCxnSpPr>
          <p:spPr>
            <a:xfrm>
              <a:off x="3904487" y="4014215"/>
              <a:ext cx="0" cy="722377"/>
            </a:xfrm>
            <a:prstGeom prst="line">
              <a:avLst/>
            </a:prstGeom>
            <a:ln w="6350">
              <a:solidFill>
                <a:srgbClr val="A6A6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onnector 6178">
              <a:extLst>
                <a:ext uri="{FF2B5EF4-FFF2-40B4-BE49-F238E27FC236}">
                  <a16:creationId xmlns:a16="http://schemas.microsoft.com/office/drawing/2014/main" id="{D3C3F233-D8E6-4760-8C29-11C141BA7257}"/>
                </a:ext>
              </a:extLst>
            </p:cNvPr>
            <p:cNvCxnSpPr/>
            <p:nvPr/>
          </p:nvCxnSpPr>
          <p:spPr>
            <a:xfrm>
              <a:off x="5038344" y="4014215"/>
              <a:ext cx="0" cy="722377"/>
            </a:xfrm>
            <a:prstGeom prst="line">
              <a:avLst/>
            </a:prstGeom>
            <a:ln w="6350">
              <a:solidFill>
                <a:srgbClr val="A6A6A6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onnector 6179">
              <a:extLst>
                <a:ext uri="{FF2B5EF4-FFF2-40B4-BE49-F238E27FC236}">
                  <a16:creationId xmlns:a16="http://schemas.microsoft.com/office/drawing/2014/main" id="{19063568-B70A-49AE-BB82-252280050E05}"/>
                </a:ext>
              </a:extLst>
            </p:cNvPr>
            <p:cNvCxnSpPr/>
            <p:nvPr/>
          </p:nvCxnSpPr>
          <p:spPr>
            <a:xfrm>
              <a:off x="4845242" y="4931793"/>
              <a:ext cx="237744" cy="0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Rectangle 6180">
              <a:extLst>
                <a:ext uri="{FF2B5EF4-FFF2-40B4-BE49-F238E27FC236}">
                  <a16:creationId xmlns:a16="http://schemas.microsoft.com/office/drawing/2014/main" id="{C03EBB96-B1CC-4189-9C82-F150FBA31156}"/>
                </a:ext>
              </a:extLst>
            </p:cNvPr>
            <p:cNvSpPr/>
            <p:nvPr/>
          </p:nvSpPr>
          <p:spPr>
            <a:xfrm>
              <a:off x="4764423" y="4927052"/>
              <a:ext cx="36576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시간</a:t>
              </a:r>
              <a:endParaRPr sz="800" b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89" name="Rectangle 6181">
              <a:extLst>
                <a:ext uri="{FF2B5EF4-FFF2-40B4-BE49-F238E27FC236}">
                  <a16:creationId xmlns:a16="http://schemas.microsoft.com/office/drawing/2014/main" id="{52A623D5-B822-4941-BD6E-9F1A62BAC1CF}"/>
                </a:ext>
              </a:extLst>
            </p:cNvPr>
            <p:cNvSpPr/>
            <p:nvPr/>
          </p:nvSpPr>
          <p:spPr>
            <a:xfrm>
              <a:off x="2286000" y="4745736"/>
              <a:ext cx="1463040" cy="1463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C00000"/>
                  </a:solidFill>
                  <a:latin typeface="맑은 고딕"/>
                  <a:ea typeface="맑은 고딕"/>
                </a:rPr>
                <a:t>Prefill이 iteration 시간 지배</a:t>
              </a:r>
            </a:p>
          </p:txBody>
        </p:sp>
        <p:sp>
          <p:nvSpPr>
            <p:cNvPr id="290" name="Rectangle 6182">
              <a:extLst>
                <a:ext uri="{FF2B5EF4-FFF2-40B4-BE49-F238E27FC236}">
                  <a16:creationId xmlns:a16="http://schemas.microsoft.com/office/drawing/2014/main" id="{F0120EE9-A51E-4361-9834-0B42F814F1B6}"/>
                </a:ext>
              </a:extLst>
            </p:cNvPr>
            <p:cNvSpPr/>
            <p:nvPr/>
          </p:nvSpPr>
          <p:spPr>
            <a:xfrm>
              <a:off x="3739896" y="4745736"/>
              <a:ext cx="1463040" cy="1463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 dirty="0" err="1">
                  <a:solidFill>
                    <a:srgbClr val="C00000"/>
                  </a:solidFill>
                  <a:latin typeface="맑은 고딕"/>
                  <a:ea typeface="맑은 고딕"/>
                </a:rPr>
                <a:t>Decode도</a:t>
              </a:r>
              <a:r>
                <a:rPr sz="8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 </a:t>
              </a:r>
              <a:r>
                <a:rPr sz="800" b="1" dirty="0" err="1">
                  <a:solidFill>
                    <a:srgbClr val="C00000"/>
                  </a:solidFill>
                  <a:latin typeface="맑은 고딕"/>
                  <a:ea typeface="맑은 고딕"/>
                </a:rPr>
                <a:t>함께</a:t>
              </a:r>
              <a:r>
                <a:rPr sz="8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 </a:t>
              </a:r>
              <a:r>
                <a:rPr sz="800" b="1" dirty="0" err="1">
                  <a:solidFill>
                    <a:srgbClr val="C00000"/>
                  </a:solidFill>
                  <a:latin typeface="맑은 고딕"/>
                  <a:ea typeface="맑은 고딕"/>
                </a:rPr>
                <a:t>대기</a:t>
              </a:r>
              <a:r>
                <a:rPr sz="800" b="1" dirty="0">
                  <a:solidFill>
                    <a:srgbClr val="C00000"/>
                  </a:solidFill>
                  <a:latin typeface="맑은 고딕"/>
                  <a:ea typeface="맑은 고딕"/>
                </a:rPr>
                <a:t> (TPOT↑)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1452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이기종 메모리 환경의 </a:t>
            </a:r>
            <a:r>
              <a:rPr lang="en-US" altLang="ko-KR" dirty="0"/>
              <a:t>Prefill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배경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3" name="DP2 9013"/>
          <p:cNvSpPr/>
          <p:nvPr/>
        </p:nvSpPr>
        <p:spPr>
          <a:xfrm>
            <a:off x="421320" y="19019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359582" y="670519"/>
            <a:ext cx="11687638" cy="897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이기종 메모리 환경에서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KV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캐시가 배치될 수 있는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Memory Tier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는 다양해짐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기존의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Prefill-Decode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분리 실행 구조는 여러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Memory Tier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간의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KV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캐시 이동 비용을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고려하지 않음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워크로드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, KV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배치 및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Runtime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상태 등을 고려하여 다음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Prefill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을 어디에서 실행하는가에 따라 성능이 달라질 수 있음</a:t>
            </a:r>
            <a:endParaRPr lang="en-US" altLang="ko-KR" sz="1200" dirty="0"/>
          </a:p>
        </p:txBody>
      </p:sp>
      <p:sp>
        <p:nvSpPr>
          <p:cNvPr id="166" name="Text 22"/>
          <p:cNvSpPr/>
          <p:nvPr/>
        </p:nvSpPr>
        <p:spPr>
          <a:xfrm>
            <a:off x="383682" y="6029277"/>
            <a:ext cx="11312059" cy="54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b="1" dirty="0">
                <a:latin typeface="맑은 고딕" panose="020B0503020000020004" pitchFamily="50" charset="-127"/>
              </a:rPr>
              <a:t>1. </a:t>
            </a:r>
            <a:r>
              <a:rPr lang="ko-KR" altLang="en-US" sz="1200" dirty="0">
                <a:latin typeface="맑은 고딕" panose="020B0503020000020004" pitchFamily="50" charset="-127"/>
              </a:rPr>
              <a:t>메모리 이동 및 연산 비용을 고려한 다음 연산 실행 노드 결정을 통해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추론 성능 최적화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200" b="1" dirty="0">
                <a:latin typeface="맑은 고딕" panose="020B0503020000020004" pitchFamily="50" charset="-127"/>
              </a:rPr>
              <a:t>설계 쟁점 </a:t>
            </a:r>
            <a:r>
              <a:rPr lang="en-US" altLang="ko-KR" sz="1200" b="1" dirty="0">
                <a:latin typeface="맑은 고딕" panose="020B0503020000020004" pitchFamily="50" charset="-127"/>
              </a:rPr>
              <a:t>2. </a:t>
            </a:r>
            <a:r>
              <a:rPr lang="ko-KR" altLang="en-US" sz="1200" dirty="0">
                <a:latin typeface="맑은 고딕" panose="020B0503020000020004" pitchFamily="50" charset="-127"/>
              </a:rPr>
              <a:t>신규 메모리 및 </a:t>
            </a:r>
            <a:r>
              <a:rPr lang="en-US" altLang="ko-KR" sz="1200" dirty="0">
                <a:latin typeface="맑은 고딕" panose="020B0503020000020004" pitchFamily="50" charset="-127"/>
              </a:rPr>
              <a:t>Cost </a:t>
            </a:r>
            <a:r>
              <a:rPr lang="ko-KR" altLang="en-US" sz="1200" dirty="0">
                <a:latin typeface="맑은 고딕" panose="020B0503020000020004" pitchFamily="50" charset="-127"/>
              </a:rPr>
              <a:t>모델 확장 시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기존 구조 변경 최소화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25000"/>
              </a:lnSpc>
              <a:buAutoNum type="arabicPeriod"/>
            </a:pPr>
            <a:endParaRPr lang="en-US" altLang="ko-KR" sz="12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8454C29-B532-49FE-99CE-60D79E51A037}"/>
              </a:ext>
            </a:extLst>
          </p:cNvPr>
          <p:cNvGrpSpPr/>
          <p:nvPr/>
        </p:nvGrpSpPr>
        <p:grpSpPr>
          <a:xfrm>
            <a:off x="6167674" y="1608313"/>
            <a:ext cx="5533854" cy="3803530"/>
            <a:chOff x="6167674" y="2324995"/>
            <a:chExt cx="5533854" cy="3086847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E3784E02-153A-49F1-A2CD-CE4252048DE7}"/>
                </a:ext>
              </a:extLst>
            </p:cNvPr>
            <p:cNvSpPr/>
            <p:nvPr/>
          </p:nvSpPr>
          <p:spPr>
            <a:xfrm>
              <a:off x="6167674" y="2460335"/>
              <a:ext cx="5533854" cy="2951507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모서리가 둥근 직사각형 217">
              <a:extLst>
                <a:ext uri="{FF2B5EF4-FFF2-40B4-BE49-F238E27FC236}">
                  <a16:creationId xmlns:a16="http://schemas.microsoft.com/office/drawing/2014/main" id="{63A3E9B0-7066-45A1-BE5D-E8DD4EAEDB03}"/>
                </a:ext>
              </a:extLst>
            </p:cNvPr>
            <p:cNvSpPr/>
            <p:nvPr/>
          </p:nvSpPr>
          <p:spPr>
            <a:xfrm>
              <a:off x="6463335" y="2324995"/>
              <a:ext cx="4990654" cy="2850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To-Be: KV</a:t>
              </a:r>
              <a:r>
                <a:rPr lang="ko-KR" altLang="en-US" sz="1100" b="1" dirty="0"/>
                <a:t> 위치</a:t>
              </a:r>
              <a:r>
                <a:rPr lang="en-US" altLang="ko-KR" sz="1100" b="1" dirty="0"/>
                <a:t>, </a:t>
              </a:r>
              <a:r>
                <a:rPr lang="ko-KR" altLang="en-US" sz="1100" b="1" dirty="0"/>
                <a:t>워크로드</a:t>
              </a:r>
              <a:r>
                <a:rPr lang="en-US" altLang="ko-KR" sz="1100" b="1" dirty="0"/>
                <a:t>, </a:t>
              </a:r>
              <a:r>
                <a:rPr lang="ko-KR" altLang="en-US" sz="1100" b="1" dirty="0"/>
                <a:t>자원 상태 등을 고려한 </a:t>
              </a:r>
              <a:r>
                <a:rPr lang="en-US" altLang="ko-KR" sz="1100" b="1" dirty="0"/>
                <a:t>Prefill-Decode</a:t>
              </a:r>
              <a:r>
                <a:rPr lang="ko-KR" altLang="en-US" sz="1100" b="1" dirty="0"/>
                <a:t> 실행 구조</a:t>
              </a:r>
            </a:p>
          </p:txBody>
        </p:sp>
      </p:grpSp>
      <p:sp>
        <p:nvSpPr>
          <p:cNvPr id="244" name="DP2 9060">
            <a:extLst>
              <a:ext uri="{FF2B5EF4-FFF2-40B4-BE49-F238E27FC236}">
                <a16:creationId xmlns:a16="http://schemas.microsoft.com/office/drawing/2014/main" id="{EECDFEB7-7302-4965-B64A-4FA0853A126C}"/>
              </a:ext>
            </a:extLst>
          </p:cNvPr>
          <p:cNvSpPr/>
          <p:nvPr/>
        </p:nvSpPr>
        <p:spPr>
          <a:xfrm>
            <a:off x="5631940" y="3331478"/>
            <a:ext cx="438912" cy="457200"/>
          </a:xfrm>
          <a:prstGeom prst="rightArrow">
            <a:avLst/>
          </a:prstGeom>
          <a:solidFill>
            <a:srgbClr val="FFD966"/>
          </a:solidFill>
          <a:ln>
            <a:noFill/>
          </a:ln>
        </p:spPr>
        <p:txBody>
          <a:bodyPr wrap="square" lIns="27432" tIns="7315" rIns="27432" bIns="7315" anchor="ctr">
            <a:normAutofit fontScale="92500" lnSpcReduction="20000"/>
          </a:bodyPr>
          <a:lstStyle/>
          <a:p>
            <a:endParaRPr lang="ko-KR" altLang="en-US"/>
          </a:p>
        </p:txBody>
      </p: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6A78737F-A253-4CE8-B9A2-72B91FF65732}"/>
              </a:ext>
            </a:extLst>
          </p:cNvPr>
          <p:cNvGrpSpPr/>
          <p:nvPr/>
        </p:nvGrpSpPr>
        <p:grpSpPr>
          <a:xfrm>
            <a:off x="347472" y="1624275"/>
            <a:ext cx="5119877" cy="3787568"/>
            <a:chOff x="99695" y="3138920"/>
            <a:chExt cx="5315187" cy="3447912"/>
          </a:xfrm>
        </p:grpSpPr>
        <p:sp>
          <p:nvSpPr>
            <p:cNvPr id="350" name="직사각형 349">
              <a:extLst>
                <a:ext uri="{FF2B5EF4-FFF2-40B4-BE49-F238E27FC236}">
                  <a16:creationId xmlns:a16="http://schemas.microsoft.com/office/drawing/2014/main" id="{14E0C7FA-AF01-4522-B324-5D5122403813}"/>
                </a:ext>
              </a:extLst>
            </p:cNvPr>
            <p:cNvSpPr/>
            <p:nvPr/>
          </p:nvSpPr>
          <p:spPr>
            <a:xfrm>
              <a:off x="99695" y="3276197"/>
              <a:ext cx="5315187" cy="3310635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" name="모서리가 둥근 직사각형 212">
              <a:extLst>
                <a:ext uri="{FF2B5EF4-FFF2-40B4-BE49-F238E27FC236}">
                  <a16:creationId xmlns:a16="http://schemas.microsoft.com/office/drawing/2014/main" id="{1104C980-3417-4022-8A1E-A71193CA465E}"/>
                </a:ext>
              </a:extLst>
            </p:cNvPr>
            <p:cNvSpPr/>
            <p:nvPr/>
          </p:nvSpPr>
          <p:spPr>
            <a:xfrm>
              <a:off x="760121" y="3138920"/>
              <a:ext cx="4046740" cy="29063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As-Is:</a:t>
              </a:r>
              <a:r>
                <a:rPr lang="ko-KR" altLang="en-US" sz="1100" b="1" dirty="0"/>
                <a:t> 기존 </a:t>
              </a:r>
              <a:r>
                <a:rPr lang="en-US" altLang="ko-KR" sz="1100" b="1" dirty="0"/>
                <a:t>Prefill-Decode </a:t>
              </a:r>
              <a:r>
                <a:rPr lang="ko-KR" altLang="en-US" sz="1100" b="1" dirty="0"/>
                <a:t>분리 실행 구조</a:t>
              </a:r>
            </a:p>
          </p:txBody>
        </p:sp>
      </p:grpSp>
      <p:sp>
        <p:nvSpPr>
          <p:cNvPr id="87" name="DP2 9014">
            <a:extLst>
              <a:ext uri="{FF2B5EF4-FFF2-40B4-BE49-F238E27FC236}">
                <a16:creationId xmlns:a16="http://schemas.microsoft.com/office/drawing/2014/main" id="{BAB6A9C5-DE6C-4B40-9E12-B57562177C2D}"/>
              </a:ext>
            </a:extLst>
          </p:cNvPr>
          <p:cNvSpPr/>
          <p:nvPr/>
        </p:nvSpPr>
        <p:spPr>
          <a:xfrm>
            <a:off x="665581" y="5665175"/>
            <a:ext cx="9603535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워크로드</a:t>
            </a:r>
            <a:r>
              <a:rPr lang="en-US" altLang="ko-KR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KV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배치 및 </a:t>
            </a:r>
            <a:r>
              <a:rPr lang="en-US" altLang="ko-KR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Runtime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상태 등을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고려한 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Cost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기반의 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Prefill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 실행 위치를 동적으로 결정하는 구조 설계 필요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오른쪽 화살표 39">
            <a:extLst>
              <a:ext uri="{FF2B5EF4-FFF2-40B4-BE49-F238E27FC236}">
                <a16:creationId xmlns:a16="http://schemas.microsoft.com/office/drawing/2014/main" id="{0C02C4F3-EB01-4664-B739-CF69604C5390}"/>
              </a:ext>
            </a:extLst>
          </p:cNvPr>
          <p:cNvSpPr/>
          <p:nvPr/>
        </p:nvSpPr>
        <p:spPr>
          <a:xfrm>
            <a:off x="284845" y="5625163"/>
            <a:ext cx="412417" cy="276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38" name="Rounded Rectangle 9037"/>
          <p:cNvSpPr/>
          <p:nvPr/>
        </p:nvSpPr>
        <p:spPr>
          <a:xfrm>
            <a:off x="1993392" y="2270760"/>
            <a:ext cx="15087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0" dirty="0">
                <a:solidFill>
                  <a:srgbClr val="000000"/>
                </a:solidFill>
                <a:latin typeface="맑은 고딕"/>
                <a:ea typeface="맑은 고딕"/>
              </a:rPr>
              <a:t>Request (Turn N)</a:t>
            </a:r>
          </a:p>
        </p:txBody>
      </p:sp>
      <p:cxnSp>
        <p:nvCxnSpPr>
          <p:cNvPr id="9039" name="Connector 9038"/>
          <p:cNvCxnSpPr>
            <a:cxnSpLocks/>
          </p:cNvCxnSpPr>
          <p:nvPr/>
        </p:nvCxnSpPr>
        <p:spPr>
          <a:xfrm>
            <a:off x="2743200" y="2490216"/>
            <a:ext cx="0" cy="9144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40" name="Rectangle 9039"/>
          <p:cNvSpPr/>
          <p:nvPr/>
        </p:nvSpPr>
        <p:spPr>
          <a:xfrm>
            <a:off x="1536192" y="2581656"/>
            <a:ext cx="2423160" cy="329184"/>
          </a:xfrm>
          <a:prstGeom prst="rect">
            <a:avLst/>
          </a:prstGeom>
          <a:solidFill>
            <a:srgbClr val="F0F1F3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</a:rPr>
              <a:t>Request Scheduler / Router</a:t>
            </a:r>
          </a:p>
        </p:txBody>
      </p:sp>
      <p:sp>
        <p:nvSpPr>
          <p:cNvPr id="9041" name="Rectangle 9040"/>
          <p:cNvSpPr/>
          <p:nvPr/>
        </p:nvSpPr>
        <p:spPr>
          <a:xfrm>
            <a:off x="566928" y="3071276"/>
            <a:ext cx="1463040" cy="465513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42" name="Rectangle 9041"/>
          <p:cNvSpPr/>
          <p:nvPr/>
        </p:nvSpPr>
        <p:spPr>
          <a:xfrm>
            <a:off x="566928" y="306628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2E75B6"/>
                </a:solidFill>
                <a:latin typeface="맑은 고딕"/>
                <a:ea typeface="맑은 고딕"/>
              </a:rPr>
              <a:t>Prefill Node (P)</a:t>
            </a:r>
          </a:p>
        </p:txBody>
      </p:sp>
      <p:sp>
        <p:nvSpPr>
          <p:cNvPr id="9043" name="Rectangle 9042"/>
          <p:cNvSpPr/>
          <p:nvPr/>
        </p:nvSpPr>
        <p:spPr>
          <a:xfrm>
            <a:off x="676656" y="32766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Input</a:t>
            </a:r>
            <a:r>
              <a:rPr lang="ko-KR" alt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altLang="ko-KR" sz="700" dirty="0">
                <a:solidFill>
                  <a:srgbClr val="000000"/>
                </a:solidFill>
                <a:latin typeface="맑은 고딕"/>
                <a:ea typeface="맑은 고딕"/>
              </a:rPr>
              <a:t>Prompt</a:t>
            </a:r>
            <a:r>
              <a:rPr lang="ko-KR" alt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의 </a:t>
            </a:r>
            <a:r>
              <a:rPr sz="700" b="0" dirty="0">
                <a:solidFill>
                  <a:srgbClr val="000000"/>
                </a:solidFill>
                <a:latin typeface="맑은 고딕"/>
                <a:ea typeface="맑은 고딕"/>
              </a:rPr>
              <a:t>KV </a:t>
            </a:r>
            <a:r>
              <a:rPr sz="700" b="0" dirty="0" err="1">
                <a:solidFill>
                  <a:srgbClr val="000000"/>
                </a:solidFill>
                <a:latin typeface="맑은 고딕"/>
                <a:ea typeface="맑은 고딕"/>
              </a:rPr>
              <a:t>생성</a:t>
            </a:r>
            <a:endParaRPr sz="7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9044" name="Rectangle 9043"/>
          <p:cNvSpPr/>
          <p:nvPr/>
        </p:nvSpPr>
        <p:spPr>
          <a:xfrm>
            <a:off x="3456432" y="3071276"/>
            <a:ext cx="1463040" cy="465513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45" name="Rectangle 9044"/>
          <p:cNvSpPr/>
          <p:nvPr/>
        </p:nvSpPr>
        <p:spPr>
          <a:xfrm>
            <a:off x="3456432" y="306628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1">
                <a:solidFill>
                  <a:srgbClr val="C55A11"/>
                </a:solidFill>
                <a:latin typeface="맑은 고딕"/>
                <a:ea typeface="맑은 고딕"/>
              </a:rPr>
              <a:t>Decode Node (D)</a:t>
            </a:r>
          </a:p>
        </p:txBody>
      </p:sp>
      <p:sp>
        <p:nvSpPr>
          <p:cNvPr id="9046" name="Rectangle 9045"/>
          <p:cNvSpPr/>
          <p:nvPr/>
        </p:nvSpPr>
        <p:spPr>
          <a:xfrm>
            <a:off x="3566160" y="3276600"/>
            <a:ext cx="124358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altLang="ko-KR" sz="700" dirty="0">
                <a:solidFill>
                  <a:srgbClr val="000000"/>
                </a:solidFill>
                <a:latin typeface="맑은 고딕"/>
                <a:ea typeface="맑은 고딕"/>
              </a:rPr>
              <a:t>Output</a:t>
            </a:r>
            <a:r>
              <a:rPr lang="ko-KR" altLang="en-US" sz="700" dirty="0">
                <a:solidFill>
                  <a:srgbClr val="000000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700" b="0" dirty="0">
                <a:solidFill>
                  <a:srgbClr val="000000"/>
                </a:solidFill>
                <a:latin typeface="맑은 고딕"/>
                <a:ea typeface="맑은 고딕"/>
              </a:rPr>
              <a:t>KV </a:t>
            </a:r>
            <a:r>
              <a:rPr lang="ko-KR" altLang="en-US" sz="700" b="0" dirty="0">
                <a:solidFill>
                  <a:srgbClr val="000000"/>
                </a:solidFill>
                <a:latin typeface="맑은 고딕"/>
                <a:ea typeface="맑은 고딕"/>
              </a:rPr>
              <a:t>누적</a:t>
            </a:r>
          </a:p>
        </p:txBody>
      </p:sp>
      <p:cxnSp>
        <p:nvCxnSpPr>
          <p:cNvPr id="9047" name="Connector 9046"/>
          <p:cNvCxnSpPr>
            <a:cxnSpLocks/>
          </p:cNvCxnSpPr>
          <p:nvPr/>
        </p:nvCxnSpPr>
        <p:spPr>
          <a:xfrm flipH="1">
            <a:off x="1298448" y="2910840"/>
            <a:ext cx="713232" cy="13716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8" name="Connector 9047"/>
          <p:cNvCxnSpPr>
            <a:cxnSpLocks/>
          </p:cNvCxnSpPr>
          <p:nvPr/>
        </p:nvCxnSpPr>
        <p:spPr>
          <a:xfrm>
            <a:off x="3474720" y="2910840"/>
            <a:ext cx="713232" cy="13716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49" name="Connector 9048"/>
          <p:cNvCxnSpPr>
            <a:cxnSpLocks/>
          </p:cNvCxnSpPr>
          <p:nvPr/>
        </p:nvCxnSpPr>
        <p:spPr>
          <a:xfrm>
            <a:off x="2029968" y="3176016"/>
            <a:ext cx="1426464" cy="0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0" name="Rectangle 9049"/>
          <p:cNvSpPr/>
          <p:nvPr/>
        </p:nvSpPr>
        <p:spPr>
          <a:xfrm>
            <a:off x="2029968" y="2974848"/>
            <a:ext cx="142646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 dirty="0">
                <a:solidFill>
                  <a:srgbClr val="2E75B6"/>
                </a:solidFill>
                <a:latin typeface="맑은 고딕"/>
                <a:ea typeface="맑은 고딕"/>
              </a:rPr>
              <a:t>KV </a:t>
            </a:r>
            <a:r>
              <a:rPr sz="650" b="0" dirty="0" err="1">
                <a:solidFill>
                  <a:srgbClr val="2E75B6"/>
                </a:solidFill>
                <a:latin typeface="맑은 고딕"/>
                <a:ea typeface="맑은 고딕"/>
              </a:rPr>
              <a:t>전송</a:t>
            </a:r>
            <a:r>
              <a:rPr sz="650" b="0" dirty="0">
                <a:solidFill>
                  <a:srgbClr val="2E75B6"/>
                </a:solidFill>
                <a:latin typeface="맑은 고딕"/>
                <a:ea typeface="맑은 고딕"/>
              </a:rPr>
              <a:t> (</a:t>
            </a:r>
            <a:r>
              <a:rPr lang="en-US" sz="650" dirty="0">
                <a:solidFill>
                  <a:srgbClr val="2E75B6"/>
                </a:solidFill>
                <a:latin typeface="맑은 고딕"/>
                <a:ea typeface="맑은 고딕"/>
              </a:rPr>
              <a:t>N-</a:t>
            </a:r>
            <a:r>
              <a:rPr lang="en-US" sz="650" dirty="0" err="1">
                <a:solidFill>
                  <a:srgbClr val="2E75B6"/>
                </a:solidFill>
                <a:latin typeface="맑은 고딕"/>
                <a:ea typeface="맑은 고딕"/>
              </a:rPr>
              <a:t>th</a:t>
            </a:r>
            <a:r>
              <a:rPr lang="en-US" sz="650" dirty="0">
                <a:solidFill>
                  <a:srgbClr val="2E75B6"/>
                </a:solidFill>
                <a:latin typeface="맑은 고딕"/>
                <a:ea typeface="맑은 고딕"/>
              </a:rPr>
              <a:t> Turn</a:t>
            </a:r>
            <a:r>
              <a:rPr sz="650" b="0" dirty="0">
                <a:solidFill>
                  <a:srgbClr val="2E75B6"/>
                </a:solidFill>
                <a:latin typeface="맑은 고딕"/>
                <a:ea typeface="맑은 고딕"/>
              </a:rPr>
              <a:t>)</a:t>
            </a:r>
          </a:p>
        </p:txBody>
      </p:sp>
      <p:cxnSp>
        <p:nvCxnSpPr>
          <p:cNvPr id="9051" name="Connector 9050"/>
          <p:cNvCxnSpPr>
            <a:cxnSpLocks/>
          </p:cNvCxnSpPr>
          <p:nvPr/>
        </p:nvCxnSpPr>
        <p:spPr>
          <a:xfrm flipH="1">
            <a:off x="2029968" y="3413760"/>
            <a:ext cx="1426464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2" name="Rectangle 9051"/>
          <p:cNvSpPr/>
          <p:nvPr/>
        </p:nvSpPr>
        <p:spPr>
          <a:xfrm>
            <a:off x="2029968" y="3413760"/>
            <a:ext cx="1426464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1" dirty="0">
                <a:solidFill>
                  <a:srgbClr val="C00000"/>
                </a:solidFill>
                <a:latin typeface="맑은 고딕"/>
                <a:ea typeface="맑은 고딕"/>
              </a:rPr>
              <a:t>KV </a:t>
            </a:r>
            <a:r>
              <a:rPr sz="650" b="1" dirty="0" err="1">
                <a:solidFill>
                  <a:srgbClr val="C00000"/>
                </a:solidFill>
                <a:latin typeface="맑은 고딕"/>
                <a:ea typeface="맑은 고딕"/>
              </a:rPr>
              <a:t>전송</a:t>
            </a:r>
            <a:r>
              <a:rPr sz="650" b="1" dirty="0">
                <a:solidFill>
                  <a:srgbClr val="C00000"/>
                </a:solidFill>
                <a:latin typeface="맑은 고딕"/>
                <a:ea typeface="맑은 고딕"/>
              </a:rPr>
              <a:t> (</a:t>
            </a:r>
            <a:r>
              <a:rPr lang="en-US" sz="650" b="1" dirty="0">
                <a:solidFill>
                  <a:srgbClr val="C00000"/>
                </a:solidFill>
                <a:latin typeface="맑은 고딕"/>
                <a:ea typeface="맑은 고딕"/>
              </a:rPr>
              <a:t>N+1-th Turn</a:t>
            </a:r>
            <a:r>
              <a:rPr sz="650" b="1" dirty="0">
                <a:solidFill>
                  <a:srgbClr val="C0000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9054" name="Rectangle 9053"/>
          <p:cNvSpPr/>
          <p:nvPr/>
        </p:nvSpPr>
        <p:spPr>
          <a:xfrm>
            <a:off x="900684" y="5457562"/>
            <a:ext cx="42976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>
                <a:solidFill>
                  <a:srgbClr val="595959"/>
                </a:solidFill>
                <a:latin typeface="맑은 고딕"/>
                <a:ea typeface="맑은 고딕"/>
              </a:rPr>
              <a:t>Host DRAM · CXL Memory · SSD 등 KV 저장 Tier</a:t>
            </a:r>
            <a:r>
              <a:rPr sz="650" b="1">
                <a:solidFill>
                  <a:srgbClr val="C00000"/>
                </a:solidFill>
                <a:latin typeface="맑은 고딕"/>
                <a:ea typeface="맑은 고딕"/>
              </a:rPr>
              <a:t>  →  실행 위치 결정에 미반영</a:t>
            </a:r>
          </a:p>
        </p:txBody>
      </p:sp>
      <p:sp>
        <p:nvSpPr>
          <p:cNvPr id="9055" name="Rounded Rectangle 9054"/>
          <p:cNvSpPr/>
          <p:nvPr/>
        </p:nvSpPr>
        <p:spPr>
          <a:xfrm>
            <a:off x="7635240" y="2075688"/>
            <a:ext cx="260604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000000"/>
                </a:solidFill>
                <a:latin typeface="맑은 고딕"/>
                <a:ea typeface="맑은 고딕"/>
              </a:rPr>
              <a:t>Request (Turn N: 신규 입력 / Tool 결과)</a:t>
            </a:r>
          </a:p>
        </p:txBody>
      </p:sp>
      <p:cxnSp>
        <p:nvCxnSpPr>
          <p:cNvPr id="9056" name="Connector 9055"/>
          <p:cNvCxnSpPr/>
          <p:nvPr/>
        </p:nvCxnSpPr>
        <p:spPr>
          <a:xfrm>
            <a:off x="8942832" y="2304288"/>
            <a:ext cx="0" cy="73152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7" name="Rectangle 9056"/>
          <p:cNvSpPr/>
          <p:nvPr/>
        </p:nvSpPr>
        <p:spPr>
          <a:xfrm>
            <a:off x="8028431" y="2377440"/>
            <a:ext cx="1828800" cy="237744"/>
          </a:xfrm>
          <a:prstGeom prst="rect">
            <a:avLst/>
          </a:prstGeom>
          <a:solidFill>
            <a:srgbClr val="F0F1F3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Request Scheduler</a:t>
            </a:r>
          </a:p>
        </p:txBody>
      </p:sp>
      <p:cxnSp>
        <p:nvCxnSpPr>
          <p:cNvPr id="9058" name="Connector 9057"/>
          <p:cNvCxnSpPr/>
          <p:nvPr/>
        </p:nvCxnSpPr>
        <p:spPr>
          <a:xfrm>
            <a:off x="8942832" y="2615184"/>
            <a:ext cx="0" cy="100584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59" name="Rectangle 9058"/>
          <p:cNvSpPr/>
          <p:nvPr/>
        </p:nvSpPr>
        <p:spPr>
          <a:xfrm>
            <a:off x="6537960" y="2715768"/>
            <a:ext cx="5029200" cy="137160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60" name="Rectangle 9059"/>
          <p:cNvSpPr/>
          <p:nvPr/>
        </p:nvSpPr>
        <p:spPr>
          <a:xfrm>
            <a:off x="6537960" y="2715768"/>
            <a:ext cx="5029200" cy="219456"/>
          </a:xfrm>
          <a:prstGeom prst="rect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</a:rPr>
              <a:t>Prefill Execution Planner  —  Cost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</a:rPr>
              <a:t>기반</a:t>
            </a: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</a:rPr>
              <a:t> Prefill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</a:rPr>
              <a:t>실행</a:t>
            </a: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</a:rPr>
              <a:t>위치</a:t>
            </a:r>
            <a:r>
              <a:rPr sz="900" b="1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맑은 고딕"/>
                <a:ea typeface="맑은 고딕"/>
              </a:rPr>
              <a:t>결정</a:t>
            </a:r>
            <a:endParaRPr sz="900" b="1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061" name="Rectangle 9060"/>
          <p:cNvSpPr/>
          <p:nvPr/>
        </p:nvSpPr>
        <p:spPr>
          <a:xfrm>
            <a:off x="6647688" y="3017520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</a:rPr>
              <a:t>KV State Monitor</a:t>
            </a:r>
          </a:p>
          <a:p>
            <a:pPr algn="ctr"/>
            <a:r>
              <a:rPr sz="650" b="0" dirty="0">
                <a:solidFill>
                  <a:srgbClr val="404040"/>
                </a:solidFill>
                <a:latin typeface="맑은 고딕"/>
                <a:ea typeface="맑은 고딕"/>
              </a:rPr>
              <a:t>KV </a:t>
            </a:r>
            <a:r>
              <a:rPr sz="650" b="0" dirty="0" err="1">
                <a:solidFill>
                  <a:srgbClr val="404040"/>
                </a:solidFill>
                <a:latin typeface="맑은 고딕"/>
                <a:ea typeface="맑은 고딕"/>
              </a:rPr>
              <a:t>위치</a:t>
            </a:r>
            <a:r>
              <a:rPr sz="650" b="0" dirty="0">
                <a:solidFill>
                  <a:srgbClr val="404040"/>
                </a:solidFill>
                <a:latin typeface="맑은 고딕"/>
                <a:ea typeface="맑은 고딕"/>
              </a:rPr>
              <a:t> · Tier · </a:t>
            </a:r>
            <a:r>
              <a:rPr sz="650" b="0" dirty="0" err="1">
                <a:solidFill>
                  <a:srgbClr val="404040"/>
                </a:solidFill>
                <a:latin typeface="맑은 고딕"/>
                <a:ea typeface="맑은 고딕"/>
              </a:rPr>
              <a:t>크기</a:t>
            </a:r>
            <a:endParaRPr sz="6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9062" name="Rectangle 9061"/>
          <p:cNvSpPr/>
          <p:nvPr/>
        </p:nvSpPr>
        <p:spPr>
          <a:xfrm>
            <a:off x="6647688" y="3547872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</a:rPr>
              <a:t>Resource State Monitor</a:t>
            </a:r>
          </a:p>
          <a:p>
            <a:pPr algn="ctr"/>
            <a:r>
              <a:rPr sz="650" b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6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dirty="0" err="1">
                <a:solidFill>
                  <a:srgbClr val="404040"/>
                </a:solidFill>
                <a:latin typeface="맑은 고딕"/>
                <a:ea typeface="맑은 고딕"/>
              </a:rPr>
              <a:t>부하</a:t>
            </a:r>
            <a:r>
              <a:rPr sz="650" b="0" dirty="0">
                <a:solidFill>
                  <a:srgbClr val="404040"/>
                </a:solidFill>
                <a:latin typeface="맑은 고딕"/>
                <a:ea typeface="맑은 고딕"/>
              </a:rPr>
              <a:t> · Queue · </a:t>
            </a:r>
            <a:r>
              <a:rPr sz="650" b="0" dirty="0" err="1">
                <a:solidFill>
                  <a:srgbClr val="404040"/>
                </a:solidFill>
                <a:latin typeface="맑은 고딕"/>
                <a:ea typeface="맑은 고딕"/>
              </a:rPr>
              <a:t>간섭</a:t>
            </a:r>
            <a:endParaRPr sz="6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cxnSp>
        <p:nvCxnSpPr>
          <p:cNvPr id="9063" name="Connector 9062"/>
          <p:cNvCxnSpPr/>
          <p:nvPr/>
        </p:nvCxnSpPr>
        <p:spPr>
          <a:xfrm>
            <a:off x="8019288" y="3246120"/>
            <a:ext cx="164591" cy="155448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4" name="Connector 9063"/>
          <p:cNvCxnSpPr/>
          <p:nvPr/>
        </p:nvCxnSpPr>
        <p:spPr>
          <a:xfrm flipV="1">
            <a:off x="8019288" y="3639312"/>
            <a:ext cx="164591" cy="137160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5" name="Rectangle 9064"/>
          <p:cNvSpPr/>
          <p:nvPr/>
        </p:nvSpPr>
        <p:spPr>
          <a:xfrm>
            <a:off x="8183879" y="3017520"/>
            <a:ext cx="196596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 dirty="0">
                <a:solidFill>
                  <a:srgbClr val="000000"/>
                </a:solidFill>
                <a:latin typeface="맑은 고딕"/>
                <a:ea typeface="맑은 고딕"/>
              </a:rPr>
              <a:t>Cost Evaluator</a:t>
            </a:r>
            <a:endParaRPr lang="ko-KR" altLang="en-US" sz="10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/>
            <a:r>
              <a:rPr lang="ko-KR" alt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후보 </a:t>
            </a:r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n ∈ {P, D, …} </a:t>
            </a:r>
            <a:r>
              <a:rPr lang="ko-KR" alt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별</a:t>
            </a:r>
          </a:p>
          <a:p>
            <a:pPr algn="ctr"/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Cost(n) = </a:t>
            </a:r>
            <a:r>
              <a:rPr lang="en-US"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T</a:t>
            </a:r>
            <a:r>
              <a:rPr lang="en-US" sz="550" b="0" dirty="0" err="1">
                <a:solidFill>
                  <a:srgbClr val="000000"/>
                </a:solidFill>
                <a:latin typeface="맑은 고딕"/>
                <a:ea typeface="맑은 고딕"/>
              </a:rPr>
              <a:t>move</a:t>
            </a:r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(KV </a:t>
            </a:r>
            <a:r>
              <a:rPr lang="en-US"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Tier→n</a:t>
            </a:r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)</a:t>
            </a:r>
          </a:p>
          <a:p>
            <a:pPr algn="ctr"/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+ </a:t>
            </a:r>
            <a:r>
              <a:rPr lang="en-US"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T</a:t>
            </a:r>
            <a:r>
              <a:rPr lang="en-US" sz="550" b="0" dirty="0" err="1">
                <a:solidFill>
                  <a:srgbClr val="000000"/>
                </a:solidFill>
                <a:latin typeface="맑은 고딕"/>
                <a:ea typeface="맑은 고딕"/>
              </a:rPr>
              <a:t>prefill</a:t>
            </a:r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(n) + </a:t>
            </a:r>
            <a:r>
              <a:rPr lang="en-US" sz="650" b="0" dirty="0" err="1">
                <a:solidFill>
                  <a:srgbClr val="000000"/>
                </a:solidFill>
                <a:latin typeface="맑은 고딕"/>
                <a:ea typeface="맑은 고딕"/>
              </a:rPr>
              <a:t>T</a:t>
            </a:r>
            <a:r>
              <a:rPr lang="en-US" sz="550" b="0" dirty="0" err="1">
                <a:solidFill>
                  <a:srgbClr val="000000"/>
                </a:solidFill>
                <a:latin typeface="맑은 고딕"/>
                <a:ea typeface="맑은 고딕"/>
              </a:rPr>
              <a:t>queue</a:t>
            </a:r>
            <a:r>
              <a:rPr lang="en-US" sz="550" b="0" dirty="0">
                <a:solidFill>
                  <a:srgbClr val="000000"/>
                </a:solidFill>
                <a:latin typeface="맑은 고딕"/>
                <a:ea typeface="맑은 고딕"/>
              </a:rPr>
              <a:t>/</a:t>
            </a:r>
            <a:r>
              <a:rPr lang="ko-KR" altLang="en-US" sz="550" b="0" dirty="0">
                <a:solidFill>
                  <a:srgbClr val="000000"/>
                </a:solidFill>
                <a:latin typeface="맑은 고딕"/>
                <a:ea typeface="맑은 고딕"/>
              </a:rPr>
              <a:t>간섭</a:t>
            </a:r>
            <a:r>
              <a:rPr lang="en-US" altLang="ko-KR" sz="650" b="0" dirty="0">
                <a:solidFill>
                  <a:srgbClr val="000000"/>
                </a:solidFill>
                <a:latin typeface="맑은 고딕"/>
                <a:ea typeface="맑은 고딕"/>
              </a:rPr>
              <a:t>(</a:t>
            </a:r>
            <a:r>
              <a:rPr lang="en-US" sz="650" b="0" dirty="0">
                <a:solidFill>
                  <a:srgbClr val="000000"/>
                </a:solidFill>
                <a:latin typeface="맑은 고딕"/>
                <a:ea typeface="맑은 고딕"/>
              </a:rPr>
              <a:t>n)</a:t>
            </a:r>
          </a:p>
          <a:p>
            <a:pPr algn="ctr"/>
            <a:r>
              <a:rPr lang="en-US" sz="650" b="1" dirty="0">
                <a:solidFill>
                  <a:srgbClr val="2E75B6"/>
                </a:solidFill>
                <a:latin typeface="맑은 고딕"/>
                <a:ea typeface="맑은 고딕"/>
              </a:rPr>
              <a:t>→ </a:t>
            </a:r>
            <a:r>
              <a:rPr lang="en-US" sz="650" b="1" dirty="0" err="1">
                <a:solidFill>
                  <a:srgbClr val="2E75B6"/>
                </a:solidFill>
                <a:latin typeface="맑은 고딕"/>
                <a:ea typeface="맑은 고딕"/>
              </a:rPr>
              <a:t>argmin</a:t>
            </a:r>
            <a:r>
              <a:rPr lang="en-US" sz="650" b="1" dirty="0">
                <a:solidFill>
                  <a:srgbClr val="2E75B6"/>
                </a:solidFill>
                <a:latin typeface="맑은 고딕"/>
                <a:ea typeface="맑은 고딕"/>
              </a:rPr>
              <a:t> Cost </a:t>
            </a:r>
            <a:r>
              <a:rPr lang="ko-KR" altLang="en-US" sz="650" b="1" dirty="0">
                <a:solidFill>
                  <a:srgbClr val="2E75B6"/>
                </a:solidFill>
                <a:latin typeface="맑은 고딕"/>
                <a:ea typeface="맑은 고딕"/>
              </a:rPr>
              <a:t>노드 선택</a:t>
            </a:r>
          </a:p>
        </p:txBody>
      </p:sp>
      <p:sp>
        <p:nvSpPr>
          <p:cNvPr id="9066" name="Rectangle 9065"/>
          <p:cNvSpPr/>
          <p:nvPr/>
        </p:nvSpPr>
        <p:spPr>
          <a:xfrm>
            <a:off x="10287000" y="3017520"/>
            <a:ext cx="11887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5482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 dirty="0">
                <a:solidFill>
                  <a:srgbClr val="548235"/>
                </a:solidFill>
                <a:latin typeface="맑은 고딕"/>
                <a:ea typeface="맑은 고딕"/>
              </a:rPr>
              <a:t>Pluggable</a:t>
            </a:r>
          </a:p>
          <a:p>
            <a:pPr algn="ctr"/>
            <a:r>
              <a:rPr sz="900" b="1" dirty="0">
                <a:solidFill>
                  <a:srgbClr val="548235"/>
                </a:solidFill>
                <a:latin typeface="맑은 고딕"/>
                <a:ea typeface="맑은 고딕"/>
              </a:rPr>
              <a:t>Cost Model /</a:t>
            </a:r>
          </a:p>
          <a:p>
            <a:pPr algn="ctr"/>
            <a:r>
              <a:rPr sz="900" b="1" dirty="0">
                <a:solidFill>
                  <a:srgbClr val="548235"/>
                </a:solidFill>
                <a:latin typeface="맑은 고딕"/>
                <a:ea typeface="맑은 고딕"/>
              </a:rPr>
              <a:t>Memory Tier I/F</a:t>
            </a:r>
          </a:p>
          <a:p>
            <a:pPr algn="ctr"/>
            <a:r>
              <a:rPr lang="ko-KR" altLang="en-US" sz="620" b="0" dirty="0">
                <a:solidFill>
                  <a:srgbClr val="548235"/>
                </a:solidFill>
                <a:latin typeface="맑은 고딕"/>
                <a:ea typeface="맑은 고딕"/>
              </a:rPr>
              <a:t>신규 메모리</a:t>
            </a:r>
            <a:r>
              <a:rPr lang="en-US" altLang="ko-KR" sz="620" b="0" dirty="0">
                <a:solidFill>
                  <a:srgbClr val="548235"/>
                </a:solidFill>
                <a:latin typeface="맑은 고딕"/>
                <a:ea typeface="맑은 고딕"/>
              </a:rPr>
              <a:t>·Cost</a:t>
            </a:r>
            <a:r>
              <a:rPr lang="ko-KR" altLang="en-US" sz="620" b="0" dirty="0">
                <a:solidFill>
                  <a:srgbClr val="548235"/>
                </a:solidFill>
                <a:latin typeface="맑은 고딕"/>
                <a:ea typeface="맑은 고딕"/>
              </a:rPr>
              <a:t> 모델</a:t>
            </a:r>
          </a:p>
          <a:p>
            <a:pPr algn="ctr"/>
            <a:r>
              <a:rPr lang="ko-KR" altLang="en-US" sz="620" b="0" dirty="0">
                <a:solidFill>
                  <a:srgbClr val="548235"/>
                </a:solidFill>
                <a:latin typeface="맑은 고딕"/>
                <a:ea typeface="맑은 고딕"/>
              </a:rPr>
              <a:t>확장 시 구조 변경 최소화</a:t>
            </a:r>
          </a:p>
        </p:txBody>
      </p:sp>
      <p:cxnSp>
        <p:nvCxnSpPr>
          <p:cNvPr id="9067" name="Connector 9066"/>
          <p:cNvCxnSpPr/>
          <p:nvPr/>
        </p:nvCxnSpPr>
        <p:spPr>
          <a:xfrm flipH="1">
            <a:off x="10149840" y="3511296"/>
            <a:ext cx="137160" cy="0"/>
          </a:xfrm>
          <a:prstGeom prst="line">
            <a:avLst/>
          </a:prstGeom>
          <a:ln w="12700">
            <a:solidFill>
              <a:srgbClr val="54823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8" name="Rectangle 9067"/>
          <p:cNvSpPr/>
          <p:nvPr/>
        </p:nvSpPr>
        <p:spPr>
          <a:xfrm>
            <a:off x="6812280" y="2377440"/>
            <a:ext cx="9144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>
                <a:solidFill>
                  <a:srgbClr val="595959"/>
                </a:solidFill>
                <a:latin typeface="맑은 고딕"/>
                <a:ea typeface="맑은 고딕"/>
              </a:rPr>
              <a:t>워크로드 정보</a:t>
            </a:r>
          </a:p>
        </p:txBody>
      </p:sp>
      <p:cxnSp>
        <p:nvCxnSpPr>
          <p:cNvPr id="9069" name="Connector 9068"/>
          <p:cNvCxnSpPr/>
          <p:nvPr/>
        </p:nvCxnSpPr>
        <p:spPr>
          <a:xfrm flipH="1">
            <a:off x="7790688" y="2496312"/>
            <a:ext cx="237743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0" name="Connector 9069"/>
          <p:cNvCxnSpPr/>
          <p:nvPr/>
        </p:nvCxnSpPr>
        <p:spPr>
          <a:xfrm>
            <a:off x="7790688" y="2496312"/>
            <a:ext cx="0" cy="246888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1" name="Connector 9070"/>
          <p:cNvCxnSpPr/>
          <p:nvPr/>
        </p:nvCxnSpPr>
        <p:spPr>
          <a:xfrm>
            <a:off x="8942832" y="4087368"/>
            <a:ext cx="0" cy="73152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72" name="Rectangle 9071"/>
          <p:cNvSpPr/>
          <p:nvPr/>
        </p:nvSpPr>
        <p:spPr>
          <a:xfrm>
            <a:off x="8028431" y="4160520"/>
            <a:ext cx="1828800" cy="237744"/>
          </a:xfrm>
          <a:prstGeom prst="rect">
            <a:avLst/>
          </a:prstGeom>
          <a:solidFill>
            <a:srgbClr val="F0F1F3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Execution Router</a:t>
            </a:r>
          </a:p>
        </p:txBody>
      </p:sp>
      <p:sp>
        <p:nvSpPr>
          <p:cNvPr id="9073" name="Rectangle 9072"/>
          <p:cNvSpPr/>
          <p:nvPr/>
        </p:nvSpPr>
        <p:spPr>
          <a:xfrm>
            <a:off x="6675120" y="4572000"/>
            <a:ext cx="1508760" cy="475488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74" name="Rectangle 9073"/>
          <p:cNvSpPr/>
          <p:nvPr/>
        </p:nvSpPr>
        <p:spPr>
          <a:xfrm>
            <a:off x="6675120" y="4590288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1" dirty="0">
                <a:solidFill>
                  <a:srgbClr val="2E75B6"/>
                </a:solidFill>
                <a:latin typeface="맑은 고딕"/>
                <a:ea typeface="맑은 고딕"/>
              </a:rPr>
              <a:t>Prefill</a:t>
            </a:r>
            <a:r>
              <a:rPr lang="en-US" sz="750" b="1" dirty="0">
                <a:solidFill>
                  <a:srgbClr val="2E75B6"/>
                </a:solidFill>
                <a:latin typeface="맑은 고딕"/>
                <a:ea typeface="맑은 고딕"/>
              </a:rPr>
              <a:t>-centric </a:t>
            </a:r>
            <a:r>
              <a:rPr sz="750" b="1" dirty="0">
                <a:solidFill>
                  <a:srgbClr val="2E75B6"/>
                </a:solidFill>
                <a:latin typeface="맑은 고딕"/>
                <a:ea typeface="맑은 고딕"/>
              </a:rPr>
              <a:t>Node</a:t>
            </a:r>
          </a:p>
        </p:txBody>
      </p:sp>
      <p:sp>
        <p:nvSpPr>
          <p:cNvPr id="9075" name="Rectangle 9074"/>
          <p:cNvSpPr/>
          <p:nvPr/>
        </p:nvSpPr>
        <p:spPr>
          <a:xfrm>
            <a:off x="6766559" y="4791456"/>
            <a:ext cx="13258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  <a:ea typeface="맑은 고딕"/>
              </a:rPr>
              <a:t>HBM / DRAM</a:t>
            </a:r>
          </a:p>
        </p:txBody>
      </p:sp>
      <p:sp>
        <p:nvSpPr>
          <p:cNvPr id="9076" name="Rectangle 9075"/>
          <p:cNvSpPr/>
          <p:nvPr/>
        </p:nvSpPr>
        <p:spPr>
          <a:xfrm>
            <a:off x="8458200" y="4572000"/>
            <a:ext cx="1508760" cy="475488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77" name="Rectangle 9076"/>
          <p:cNvSpPr/>
          <p:nvPr/>
        </p:nvSpPr>
        <p:spPr>
          <a:xfrm>
            <a:off x="8458200" y="4590288"/>
            <a:ext cx="1508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1" dirty="0">
                <a:solidFill>
                  <a:srgbClr val="C55A11"/>
                </a:solidFill>
                <a:latin typeface="맑은 고딕"/>
                <a:ea typeface="맑은 고딕"/>
              </a:rPr>
              <a:t>Decode</a:t>
            </a:r>
            <a:r>
              <a:rPr lang="en-US" sz="750" b="1" dirty="0">
                <a:solidFill>
                  <a:srgbClr val="C55A11"/>
                </a:solidFill>
                <a:latin typeface="맑은 고딕"/>
                <a:ea typeface="맑은 고딕"/>
              </a:rPr>
              <a:t>-centric</a:t>
            </a:r>
            <a:r>
              <a:rPr sz="750" b="1" dirty="0">
                <a:solidFill>
                  <a:srgbClr val="C55A11"/>
                </a:solidFill>
                <a:latin typeface="맑은 고딕"/>
                <a:ea typeface="맑은 고딕"/>
              </a:rPr>
              <a:t> Node</a:t>
            </a:r>
          </a:p>
        </p:txBody>
      </p:sp>
      <p:sp>
        <p:nvSpPr>
          <p:cNvPr id="9078" name="Rectangle 9077"/>
          <p:cNvSpPr/>
          <p:nvPr/>
        </p:nvSpPr>
        <p:spPr>
          <a:xfrm>
            <a:off x="8549640" y="4791456"/>
            <a:ext cx="13258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  <a:ea typeface="맑은 고딕"/>
              </a:rPr>
              <a:t>HBM / DRAM</a:t>
            </a:r>
          </a:p>
        </p:txBody>
      </p:sp>
      <p:sp>
        <p:nvSpPr>
          <p:cNvPr id="9079" name="Rectangle 9078"/>
          <p:cNvSpPr/>
          <p:nvPr/>
        </p:nvSpPr>
        <p:spPr>
          <a:xfrm>
            <a:off x="10241280" y="4572000"/>
            <a:ext cx="1280160" cy="475488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80" name="Rectangle 9079"/>
          <p:cNvSpPr/>
          <p:nvPr/>
        </p:nvSpPr>
        <p:spPr>
          <a:xfrm>
            <a:off x="10241280" y="4590288"/>
            <a:ext cx="12801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1">
                <a:solidFill>
                  <a:srgbClr val="548235"/>
                </a:solidFill>
                <a:latin typeface="맑은 고딕"/>
                <a:ea typeface="맑은 고딕"/>
              </a:rPr>
              <a:t>Memory Pool</a:t>
            </a:r>
          </a:p>
        </p:txBody>
      </p:sp>
      <p:sp>
        <p:nvSpPr>
          <p:cNvPr id="9081" name="Rectangle 9080"/>
          <p:cNvSpPr/>
          <p:nvPr/>
        </p:nvSpPr>
        <p:spPr>
          <a:xfrm>
            <a:off x="10332719" y="4791456"/>
            <a:ext cx="10972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50" b="0">
                <a:solidFill>
                  <a:srgbClr val="000000"/>
                </a:solidFill>
                <a:latin typeface="맑은 고딕"/>
                <a:ea typeface="맑은 고딕"/>
              </a:rPr>
              <a:t>CXL · SSD</a:t>
            </a:r>
          </a:p>
        </p:txBody>
      </p:sp>
      <p:cxnSp>
        <p:nvCxnSpPr>
          <p:cNvPr id="9082" name="Connector 9081"/>
          <p:cNvCxnSpPr>
            <a:cxnSpLocks/>
            <a:stCxn id="9072" idx="2"/>
          </p:cNvCxnSpPr>
          <p:nvPr/>
        </p:nvCxnSpPr>
        <p:spPr>
          <a:xfrm flipH="1">
            <a:off x="7424927" y="4398264"/>
            <a:ext cx="1517904" cy="173736"/>
          </a:xfrm>
          <a:prstGeom prst="line">
            <a:avLst/>
          </a:prstGeom>
          <a:ln w="15875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3" name="Connector 9082"/>
          <p:cNvCxnSpPr>
            <a:cxnSpLocks/>
            <a:stCxn id="9072" idx="2"/>
          </p:cNvCxnSpPr>
          <p:nvPr/>
        </p:nvCxnSpPr>
        <p:spPr>
          <a:xfrm>
            <a:off x="8942831" y="4398264"/>
            <a:ext cx="274321" cy="173736"/>
          </a:xfrm>
          <a:prstGeom prst="line">
            <a:avLst/>
          </a:prstGeom>
          <a:ln w="1587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6" name="Connector 9085"/>
          <p:cNvCxnSpPr/>
          <p:nvPr/>
        </p:nvCxnSpPr>
        <p:spPr>
          <a:xfrm>
            <a:off x="8183879" y="4809744"/>
            <a:ext cx="274321" cy="0"/>
          </a:xfrm>
          <a:prstGeom prst="line">
            <a:avLst/>
          </a:prstGeom>
          <a:ln w="12700">
            <a:solidFill>
              <a:srgbClr val="7F7F7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7" name="Connector 9086"/>
          <p:cNvCxnSpPr/>
          <p:nvPr/>
        </p:nvCxnSpPr>
        <p:spPr>
          <a:xfrm>
            <a:off x="9966960" y="4809744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8" name="Connector 9087"/>
          <p:cNvCxnSpPr/>
          <p:nvPr/>
        </p:nvCxnSpPr>
        <p:spPr>
          <a:xfrm flipH="1">
            <a:off x="6400800" y="4937760"/>
            <a:ext cx="27432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89" name="Connector 9088"/>
          <p:cNvCxnSpPr/>
          <p:nvPr/>
        </p:nvCxnSpPr>
        <p:spPr>
          <a:xfrm flipV="1">
            <a:off x="6400800" y="3246120"/>
            <a:ext cx="0" cy="1691640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0" name="Connector 9089"/>
          <p:cNvCxnSpPr/>
          <p:nvPr/>
        </p:nvCxnSpPr>
        <p:spPr>
          <a:xfrm>
            <a:off x="6400800" y="3246120"/>
            <a:ext cx="246888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91" name="Connector 9090"/>
          <p:cNvCxnSpPr/>
          <p:nvPr/>
        </p:nvCxnSpPr>
        <p:spPr>
          <a:xfrm>
            <a:off x="6400800" y="3776472"/>
            <a:ext cx="246888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92" name="Rectangle 9091"/>
          <p:cNvSpPr/>
          <p:nvPr/>
        </p:nvSpPr>
        <p:spPr>
          <a:xfrm>
            <a:off x="6400800" y="5102352"/>
            <a:ext cx="512064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9093" name="Rectangle 9092"/>
          <p:cNvSpPr/>
          <p:nvPr/>
        </p:nvSpPr>
        <p:spPr>
          <a:xfrm>
            <a:off x="6446520" y="5102352"/>
            <a:ext cx="5029200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630" b="0">
                <a:solidFill>
                  <a:srgbClr val="595959"/>
                </a:solidFill>
                <a:latin typeface="맑은 고딕"/>
                <a:ea typeface="맑은 고딕"/>
              </a:rPr>
              <a:t>점선: KV 위치·노드 상태 수집 (Monitor)   </a:t>
            </a:r>
            <a:r>
              <a:rPr sz="630" b="1">
                <a:solidFill>
                  <a:srgbClr val="2E75B6"/>
                </a:solidFill>
                <a:latin typeface="맑은 고딕"/>
                <a:ea typeface="맑은 고딕"/>
              </a:rPr>
              <a:t>매 Turn 이동 비용 vs 연산/간섭 비용을 비교해 실행 위치 동적 결정</a:t>
            </a:r>
          </a:p>
        </p:txBody>
      </p:sp>
      <p:sp>
        <p:nvSpPr>
          <p:cNvPr id="106" name="Rectangle 9049">
            <a:extLst>
              <a:ext uri="{FF2B5EF4-FFF2-40B4-BE49-F238E27FC236}">
                <a16:creationId xmlns:a16="http://schemas.microsoft.com/office/drawing/2014/main" id="{24AB32EA-46C2-4BE3-AE82-9502480B74DB}"/>
              </a:ext>
            </a:extLst>
          </p:cNvPr>
          <p:cNvSpPr/>
          <p:nvPr/>
        </p:nvSpPr>
        <p:spPr>
          <a:xfrm>
            <a:off x="1170432" y="2827715"/>
            <a:ext cx="412397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sz="650" dirty="0">
                <a:solidFill>
                  <a:srgbClr val="FF0000"/>
                </a:solidFill>
                <a:latin typeface="맑은 고딕"/>
                <a:ea typeface="맑은 고딕"/>
              </a:rPr>
              <a:t>Prefill</a:t>
            </a:r>
            <a:endParaRPr sz="650" b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sp>
        <p:nvSpPr>
          <p:cNvPr id="107" name="Rectangle 9049">
            <a:extLst>
              <a:ext uri="{FF2B5EF4-FFF2-40B4-BE49-F238E27FC236}">
                <a16:creationId xmlns:a16="http://schemas.microsoft.com/office/drawing/2014/main" id="{6490E1FA-A347-415B-A5EF-AE633B6E48A6}"/>
              </a:ext>
            </a:extLst>
          </p:cNvPr>
          <p:cNvSpPr/>
          <p:nvPr/>
        </p:nvSpPr>
        <p:spPr>
          <a:xfrm>
            <a:off x="3945177" y="2827715"/>
            <a:ext cx="412397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sz="650" dirty="0">
                <a:solidFill>
                  <a:srgbClr val="FF0000"/>
                </a:solidFill>
                <a:latin typeface="맑은 고딕"/>
                <a:ea typeface="맑은 고딕"/>
              </a:rPr>
              <a:t>Decode</a:t>
            </a:r>
            <a:endParaRPr sz="650" b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sp>
        <p:nvSpPr>
          <p:cNvPr id="108" name="Rectangle 9049">
            <a:extLst>
              <a:ext uri="{FF2B5EF4-FFF2-40B4-BE49-F238E27FC236}">
                <a16:creationId xmlns:a16="http://schemas.microsoft.com/office/drawing/2014/main" id="{984AD03E-E3D5-4FFA-9E24-34730A8C0327}"/>
              </a:ext>
            </a:extLst>
          </p:cNvPr>
          <p:cNvSpPr/>
          <p:nvPr/>
        </p:nvSpPr>
        <p:spPr>
          <a:xfrm>
            <a:off x="7260337" y="4379976"/>
            <a:ext cx="64922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sz="650" dirty="0">
                <a:solidFill>
                  <a:srgbClr val="FF0000"/>
                </a:solidFill>
                <a:latin typeface="맑은 고딕"/>
                <a:ea typeface="맑은 고딕"/>
              </a:rPr>
              <a:t>Prefill/Decode</a:t>
            </a:r>
            <a:endParaRPr sz="650" b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sp>
        <p:nvSpPr>
          <p:cNvPr id="109" name="Rectangle 9049">
            <a:extLst>
              <a:ext uri="{FF2B5EF4-FFF2-40B4-BE49-F238E27FC236}">
                <a16:creationId xmlns:a16="http://schemas.microsoft.com/office/drawing/2014/main" id="{D91ECC5E-AED1-4F3E-BE6D-203AAF4EF601}"/>
              </a:ext>
            </a:extLst>
          </p:cNvPr>
          <p:cNvSpPr/>
          <p:nvPr/>
        </p:nvSpPr>
        <p:spPr>
          <a:xfrm>
            <a:off x="9303913" y="4379976"/>
            <a:ext cx="64922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lang="en-US" sz="650" dirty="0">
                <a:solidFill>
                  <a:srgbClr val="FF0000"/>
                </a:solidFill>
                <a:latin typeface="맑은 고딕"/>
                <a:ea typeface="맑은 고딕"/>
              </a:rPr>
              <a:t>Prefill/Decode</a:t>
            </a:r>
            <a:endParaRPr sz="650" b="0" dirty="0">
              <a:solidFill>
                <a:srgbClr val="FF0000"/>
              </a:solidFill>
              <a:latin typeface="맑은 고딕"/>
              <a:ea typeface="맑은 고딕"/>
            </a:endParaRPr>
          </a:p>
        </p:txBody>
      </p:sp>
      <p:sp>
        <p:nvSpPr>
          <p:cNvPr id="135" name="Rectangle 9036">
            <a:extLst>
              <a:ext uri="{FF2B5EF4-FFF2-40B4-BE49-F238E27FC236}">
                <a16:creationId xmlns:a16="http://schemas.microsoft.com/office/drawing/2014/main" id="{83F7E8CB-D64F-4EA7-8588-A99671ADF46B}"/>
              </a:ext>
            </a:extLst>
          </p:cNvPr>
          <p:cNvSpPr/>
          <p:nvPr/>
        </p:nvSpPr>
        <p:spPr>
          <a:xfrm>
            <a:off x="530352" y="2013010"/>
            <a:ext cx="365760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①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기존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P/D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분리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실행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: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단계별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전용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노드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+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고정</a:t>
            </a:r>
            <a:r>
              <a:rPr sz="850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50" b="1" dirty="0" err="1">
                <a:solidFill>
                  <a:srgbClr val="262626"/>
                </a:solidFill>
                <a:latin typeface="맑은 고딕"/>
                <a:ea typeface="맑은 고딕"/>
              </a:rPr>
              <a:t>규칙</a:t>
            </a:r>
            <a:endParaRPr sz="850" b="1" dirty="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59" name="Rectangle 9093">
            <a:extLst>
              <a:ext uri="{FF2B5EF4-FFF2-40B4-BE49-F238E27FC236}">
                <a16:creationId xmlns:a16="http://schemas.microsoft.com/office/drawing/2014/main" id="{EDC28825-F82B-4E41-87C3-44B0E82D3575}"/>
              </a:ext>
            </a:extLst>
          </p:cNvPr>
          <p:cNvSpPr/>
          <p:nvPr/>
        </p:nvSpPr>
        <p:spPr>
          <a:xfrm>
            <a:off x="530352" y="3753626"/>
            <a:ext cx="48463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l"/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②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분리의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대가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: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Turn마다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P↔D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사이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KV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왕복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전송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→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Turn이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늘수록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비용</a:t>
            </a:r>
            <a:r>
              <a:rPr sz="819" b="1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819" b="1" dirty="0" err="1">
                <a:solidFill>
                  <a:srgbClr val="262626"/>
                </a:solidFill>
                <a:latin typeface="맑은 고딕"/>
                <a:ea typeface="맑은 고딕"/>
              </a:rPr>
              <a:t>누적</a:t>
            </a:r>
            <a:endParaRPr sz="819" b="1" dirty="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7006970-D8FE-4368-8E9E-448048FC8FC8}"/>
              </a:ext>
            </a:extLst>
          </p:cNvPr>
          <p:cNvGrpSpPr/>
          <p:nvPr/>
        </p:nvGrpSpPr>
        <p:grpSpPr>
          <a:xfrm>
            <a:off x="431143" y="3953647"/>
            <a:ext cx="4634118" cy="1362799"/>
            <a:chOff x="384048" y="4000208"/>
            <a:chExt cx="3904488" cy="1207008"/>
          </a:xfrm>
        </p:grpSpPr>
        <p:sp>
          <p:nvSpPr>
            <p:cNvPr id="160" name="Rectangle 9094">
              <a:extLst>
                <a:ext uri="{FF2B5EF4-FFF2-40B4-BE49-F238E27FC236}">
                  <a16:creationId xmlns:a16="http://schemas.microsoft.com/office/drawing/2014/main" id="{CC10489B-5A0C-4696-9282-23880C16D030}"/>
                </a:ext>
              </a:extLst>
            </p:cNvPr>
            <p:cNvSpPr/>
            <p:nvPr/>
          </p:nvSpPr>
          <p:spPr>
            <a:xfrm>
              <a:off x="859536" y="4183088"/>
              <a:ext cx="3200400" cy="1645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61" name="Rectangle 9095">
              <a:extLst>
                <a:ext uri="{FF2B5EF4-FFF2-40B4-BE49-F238E27FC236}">
                  <a16:creationId xmlns:a16="http://schemas.microsoft.com/office/drawing/2014/main" id="{0F68933E-90ED-4B38-9EEC-1A4FC7552700}"/>
                </a:ext>
              </a:extLst>
            </p:cNvPr>
            <p:cNvSpPr/>
            <p:nvPr/>
          </p:nvSpPr>
          <p:spPr>
            <a:xfrm>
              <a:off x="859536" y="4475696"/>
              <a:ext cx="3200400" cy="164592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62" name="Rectangle 9096">
              <a:extLst>
                <a:ext uri="{FF2B5EF4-FFF2-40B4-BE49-F238E27FC236}">
                  <a16:creationId xmlns:a16="http://schemas.microsoft.com/office/drawing/2014/main" id="{1147A97B-6AC2-4CA7-93B7-5BAEE9CA6DF2}"/>
                </a:ext>
              </a:extLst>
            </p:cNvPr>
            <p:cNvSpPr/>
            <p:nvPr/>
          </p:nvSpPr>
          <p:spPr>
            <a:xfrm>
              <a:off x="457200" y="4183088"/>
              <a:ext cx="384048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r"/>
              <a:r>
                <a:rPr sz="800" b="1">
                  <a:solidFill>
                    <a:srgbClr val="2E75B6"/>
                  </a:solidFill>
                  <a:latin typeface="맑은 고딕"/>
                  <a:ea typeface="맑은 고딕"/>
                </a:rPr>
                <a:t>P</a:t>
              </a:r>
            </a:p>
          </p:txBody>
        </p:sp>
        <p:sp>
          <p:nvSpPr>
            <p:cNvPr id="163" name="Rectangle 9097">
              <a:extLst>
                <a:ext uri="{FF2B5EF4-FFF2-40B4-BE49-F238E27FC236}">
                  <a16:creationId xmlns:a16="http://schemas.microsoft.com/office/drawing/2014/main" id="{CEFCE80E-D439-4100-B68E-A784FFE389A7}"/>
                </a:ext>
              </a:extLst>
            </p:cNvPr>
            <p:cNvSpPr/>
            <p:nvPr/>
          </p:nvSpPr>
          <p:spPr>
            <a:xfrm>
              <a:off x="457200" y="4475696"/>
              <a:ext cx="384048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r"/>
              <a:r>
                <a:rPr sz="800" b="1">
                  <a:solidFill>
                    <a:srgbClr val="C55A11"/>
                  </a:solidFill>
                  <a:latin typeface="맑은 고딕"/>
                  <a:ea typeface="맑은 고딕"/>
                </a:rPr>
                <a:t>D</a:t>
              </a:r>
            </a:p>
          </p:txBody>
        </p:sp>
        <p:sp>
          <p:nvSpPr>
            <p:cNvPr id="164" name="Rectangle 9098">
              <a:extLst>
                <a:ext uri="{FF2B5EF4-FFF2-40B4-BE49-F238E27FC236}">
                  <a16:creationId xmlns:a16="http://schemas.microsoft.com/office/drawing/2014/main" id="{1CDEDA28-A62B-4ED0-B58C-25A9F48831E6}"/>
                </a:ext>
              </a:extLst>
            </p:cNvPr>
            <p:cNvSpPr/>
            <p:nvPr/>
          </p:nvSpPr>
          <p:spPr>
            <a:xfrm>
              <a:off x="896112" y="4000208"/>
              <a:ext cx="82296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l"/>
              <a:r>
                <a:rPr sz="650" b="1">
                  <a:solidFill>
                    <a:srgbClr val="404040"/>
                  </a:solidFill>
                  <a:latin typeface="맑은 고딕"/>
                  <a:ea typeface="맑은 고딕"/>
                </a:rPr>
                <a:t>Turn 1</a:t>
              </a:r>
            </a:p>
          </p:txBody>
        </p:sp>
        <p:sp>
          <p:nvSpPr>
            <p:cNvPr id="165" name="Rectangle 9099">
              <a:extLst>
                <a:ext uri="{FF2B5EF4-FFF2-40B4-BE49-F238E27FC236}">
                  <a16:creationId xmlns:a16="http://schemas.microsoft.com/office/drawing/2014/main" id="{8A8D1464-A4F8-4ABF-9AE7-85DAB2FF853F}"/>
                </a:ext>
              </a:extLst>
            </p:cNvPr>
            <p:cNvSpPr/>
            <p:nvPr/>
          </p:nvSpPr>
          <p:spPr>
            <a:xfrm>
              <a:off x="896112" y="4183088"/>
              <a:ext cx="365760" cy="164592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Prefill</a:t>
              </a:r>
            </a:p>
          </p:txBody>
        </p:sp>
        <p:cxnSp>
          <p:nvCxnSpPr>
            <p:cNvPr id="167" name="Connector 9100">
              <a:extLst>
                <a:ext uri="{FF2B5EF4-FFF2-40B4-BE49-F238E27FC236}">
                  <a16:creationId xmlns:a16="http://schemas.microsoft.com/office/drawing/2014/main" id="{0E8291C3-1819-4BB0-8F7B-344242B1E99D}"/>
                </a:ext>
              </a:extLst>
            </p:cNvPr>
            <p:cNvCxnSpPr/>
            <p:nvPr/>
          </p:nvCxnSpPr>
          <p:spPr>
            <a:xfrm>
              <a:off x="1261872" y="4347680"/>
              <a:ext cx="109728" cy="128016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Rectangle 9101">
              <a:extLst>
                <a:ext uri="{FF2B5EF4-FFF2-40B4-BE49-F238E27FC236}">
                  <a16:creationId xmlns:a16="http://schemas.microsoft.com/office/drawing/2014/main" id="{7EA791E2-0973-4F27-80EB-8D118C005BEF}"/>
                </a:ext>
              </a:extLst>
            </p:cNvPr>
            <p:cNvSpPr/>
            <p:nvPr/>
          </p:nvSpPr>
          <p:spPr>
            <a:xfrm>
              <a:off x="1371600" y="4475696"/>
              <a:ext cx="384048" cy="164592"/>
            </a:xfrm>
            <a:prstGeom prst="rect">
              <a:avLst/>
            </a:prstGeom>
            <a:solidFill>
              <a:srgbClr val="C55A11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Decode</a:t>
              </a:r>
            </a:p>
          </p:txBody>
        </p:sp>
        <p:cxnSp>
          <p:nvCxnSpPr>
            <p:cNvPr id="169" name="Connector 9102">
              <a:extLst>
                <a:ext uri="{FF2B5EF4-FFF2-40B4-BE49-F238E27FC236}">
                  <a16:creationId xmlns:a16="http://schemas.microsoft.com/office/drawing/2014/main" id="{8027F6E8-3B53-47C8-BE64-0F7249A2B9B4}"/>
                </a:ext>
              </a:extLst>
            </p:cNvPr>
            <p:cNvCxnSpPr/>
            <p:nvPr/>
          </p:nvCxnSpPr>
          <p:spPr>
            <a:xfrm flipV="1">
              <a:off x="1755648" y="4347680"/>
              <a:ext cx="173736" cy="128016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Rectangle 9103">
              <a:extLst>
                <a:ext uri="{FF2B5EF4-FFF2-40B4-BE49-F238E27FC236}">
                  <a16:creationId xmlns:a16="http://schemas.microsoft.com/office/drawing/2014/main" id="{749A7C7A-3EB5-4E7F-A799-2F8EDE831E66}"/>
                </a:ext>
              </a:extLst>
            </p:cNvPr>
            <p:cNvSpPr/>
            <p:nvPr/>
          </p:nvSpPr>
          <p:spPr>
            <a:xfrm>
              <a:off x="1929384" y="4000208"/>
              <a:ext cx="82296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l"/>
              <a:r>
                <a:rPr sz="650" b="1">
                  <a:solidFill>
                    <a:srgbClr val="404040"/>
                  </a:solidFill>
                  <a:latin typeface="맑은 고딕"/>
                  <a:ea typeface="맑은 고딕"/>
                </a:rPr>
                <a:t>Turn 2</a:t>
              </a:r>
            </a:p>
          </p:txBody>
        </p:sp>
        <p:sp>
          <p:nvSpPr>
            <p:cNvPr id="171" name="Rectangle 9104">
              <a:extLst>
                <a:ext uri="{FF2B5EF4-FFF2-40B4-BE49-F238E27FC236}">
                  <a16:creationId xmlns:a16="http://schemas.microsoft.com/office/drawing/2014/main" id="{5C4D96B7-4025-42DE-80A2-B02807EE9F6A}"/>
                </a:ext>
              </a:extLst>
            </p:cNvPr>
            <p:cNvSpPr/>
            <p:nvPr/>
          </p:nvSpPr>
          <p:spPr>
            <a:xfrm>
              <a:off x="1929384" y="4183088"/>
              <a:ext cx="365760" cy="164592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Prefill</a:t>
              </a:r>
            </a:p>
          </p:txBody>
        </p:sp>
        <p:cxnSp>
          <p:nvCxnSpPr>
            <p:cNvPr id="172" name="Connector 9105">
              <a:extLst>
                <a:ext uri="{FF2B5EF4-FFF2-40B4-BE49-F238E27FC236}">
                  <a16:creationId xmlns:a16="http://schemas.microsoft.com/office/drawing/2014/main" id="{7B72B064-6608-413A-89C0-A7F4A929CA8B}"/>
                </a:ext>
              </a:extLst>
            </p:cNvPr>
            <p:cNvCxnSpPr/>
            <p:nvPr/>
          </p:nvCxnSpPr>
          <p:spPr>
            <a:xfrm>
              <a:off x="2295144" y="4347680"/>
              <a:ext cx="109728" cy="128016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Rectangle 9106">
              <a:extLst>
                <a:ext uri="{FF2B5EF4-FFF2-40B4-BE49-F238E27FC236}">
                  <a16:creationId xmlns:a16="http://schemas.microsoft.com/office/drawing/2014/main" id="{C3BBDE95-8353-4335-8A36-F48999229C5C}"/>
                </a:ext>
              </a:extLst>
            </p:cNvPr>
            <p:cNvSpPr/>
            <p:nvPr/>
          </p:nvSpPr>
          <p:spPr>
            <a:xfrm>
              <a:off x="2404872" y="4475696"/>
              <a:ext cx="384048" cy="164592"/>
            </a:xfrm>
            <a:prstGeom prst="rect">
              <a:avLst/>
            </a:prstGeom>
            <a:solidFill>
              <a:srgbClr val="C55A11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Decode</a:t>
              </a:r>
            </a:p>
          </p:txBody>
        </p:sp>
        <p:cxnSp>
          <p:nvCxnSpPr>
            <p:cNvPr id="174" name="Connector 9107">
              <a:extLst>
                <a:ext uri="{FF2B5EF4-FFF2-40B4-BE49-F238E27FC236}">
                  <a16:creationId xmlns:a16="http://schemas.microsoft.com/office/drawing/2014/main" id="{E6224BB4-2573-49C8-977D-F135C79475C2}"/>
                </a:ext>
              </a:extLst>
            </p:cNvPr>
            <p:cNvCxnSpPr/>
            <p:nvPr/>
          </p:nvCxnSpPr>
          <p:spPr>
            <a:xfrm flipV="1">
              <a:off x="2788920" y="4347680"/>
              <a:ext cx="173736" cy="128016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Rectangle 9108">
              <a:extLst>
                <a:ext uri="{FF2B5EF4-FFF2-40B4-BE49-F238E27FC236}">
                  <a16:creationId xmlns:a16="http://schemas.microsoft.com/office/drawing/2014/main" id="{44CDC3FA-52AA-4728-9BAA-4D8BA771FA7E}"/>
                </a:ext>
              </a:extLst>
            </p:cNvPr>
            <p:cNvSpPr/>
            <p:nvPr/>
          </p:nvSpPr>
          <p:spPr>
            <a:xfrm>
              <a:off x="2962656" y="4000208"/>
              <a:ext cx="82296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l"/>
              <a:r>
                <a:rPr sz="650" b="1">
                  <a:solidFill>
                    <a:srgbClr val="404040"/>
                  </a:solidFill>
                  <a:latin typeface="맑은 고딕"/>
                  <a:ea typeface="맑은 고딕"/>
                </a:rPr>
                <a:t>Turn 3</a:t>
              </a:r>
            </a:p>
          </p:txBody>
        </p:sp>
        <p:sp>
          <p:nvSpPr>
            <p:cNvPr id="176" name="Rectangle 9109">
              <a:extLst>
                <a:ext uri="{FF2B5EF4-FFF2-40B4-BE49-F238E27FC236}">
                  <a16:creationId xmlns:a16="http://schemas.microsoft.com/office/drawing/2014/main" id="{BE401744-473D-4D13-B846-042221E760FA}"/>
                </a:ext>
              </a:extLst>
            </p:cNvPr>
            <p:cNvSpPr/>
            <p:nvPr/>
          </p:nvSpPr>
          <p:spPr>
            <a:xfrm>
              <a:off x="2962656" y="4183088"/>
              <a:ext cx="365760" cy="164592"/>
            </a:xfrm>
            <a:prstGeom prst="rect">
              <a:avLst/>
            </a:prstGeom>
            <a:solidFill>
              <a:srgbClr val="2E75B6"/>
            </a:solidFill>
            <a:ln w="635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Prefill</a:t>
              </a:r>
            </a:p>
          </p:txBody>
        </p:sp>
        <p:cxnSp>
          <p:nvCxnSpPr>
            <p:cNvPr id="177" name="Connector 9110">
              <a:extLst>
                <a:ext uri="{FF2B5EF4-FFF2-40B4-BE49-F238E27FC236}">
                  <a16:creationId xmlns:a16="http://schemas.microsoft.com/office/drawing/2014/main" id="{450EDE42-F269-4CF9-8706-C25382F28C87}"/>
                </a:ext>
              </a:extLst>
            </p:cNvPr>
            <p:cNvCxnSpPr/>
            <p:nvPr/>
          </p:nvCxnSpPr>
          <p:spPr>
            <a:xfrm>
              <a:off x="3328415" y="4347680"/>
              <a:ext cx="109729" cy="128016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ectangle 9111">
              <a:extLst>
                <a:ext uri="{FF2B5EF4-FFF2-40B4-BE49-F238E27FC236}">
                  <a16:creationId xmlns:a16="http://schemas.microsoft.com/office/drawing/2014/main" id="{40C355EE-606E-4C02-BE92-E6A5CCBF1B69}"/>
                </a:ext>
              </a:extLst>
            </p:cNvPr>
            <p:cNvSpPr/>
            <p:nvPr/>
          </p:nvSpPr>
          <p:spPr>
            <a:xfrm>
              <a:off x="3438144" y="4475696"/>
              <a:ext cx="384048" cy="164592"/>
            </a:xfrm>
            <a:prstGeom prst="rect">
              <a:avLst/>
            </a:prstGeom>
            <a:solidFill>
              <a:srgbClr val="C55A11"/>
            </a:solidFill>
            <a:ln w="635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550" b="1">
                  <a:solidFill>
                    <a:srgbClr val="FFFFFF"/>
                  </a:solidFill>
                  <a:latin typeface="맑은 고딕"/>
                  <a:ea typeface="맑은 고딕"/>
                </a:rPr>
                <a:t>Decode</a:t>
              </a:r>
            </a:p>
          </p:txBody>
        </p:sp>
        <p:cxnSp>
          <p:nvCxnSpPr>
            <p:cNvPr id="179" name="Connector 9112">
              <a:extLst>
                <a:ext uri="{FF2B5EF4-FFF2-40B4-BE49-F238E27FC236}">
                  <a16:creationId xmlns:a16="http://schemas.microsoft.com/office/drawing/2014/main" id="{F9458609-EC4F-4B26-8CD9-E92A6311738D}"/>
                </a:ext>
              </a:extLst>
            </p:cNvPr>
            <p:cNvCxnSpPr/>
            <p:nvPr/>
          </p:nvCxnSpPr>
          <p:spPr>
            <a:xfrm flipV="1">
              <a:off x="3822191" y="4347680"/>
              <a:ext cx="128017" cy="128016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Rectangle 9113">
              <a:extLst>
                <a:ext uri="{FF2B5EF4-FFF2-40B4-BE49-F238E27FC236}">
                  <a16:creationId xmlns:a16="http://schemas.microsoft.com/office/drawing/2014/main" id="{3091194A-9B3F-44AB-B533-33F35DDFBF01}"/>
                </a:ext>
              </a:extLst>
            </p:cNvPr>
            <p:cNvSpPr/>
            <p:nvPr/>
          </p:nvSpPr>
          <p:spPr>
            <a:xfrm>
              <a:off x="3941063" y="4183088"/>
              <a:ext cx="27432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>
                  <a:solidFill>
                    <a:srgbClr val="7F7F7F"/>
                  </a:solidFill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81" name="Rectangle 9114">
              <a:extLst>
                <a:ext uri="{FF2B5EF4-FFF2-40B4-BE49-F238E27FC236}">
                  <a16:creationId xmlns:a16="http://schemas.microsoft.com/office/drawing/2014/main" id="{4D8D52B3-BFE2-4384-BD2B-B00A262F6441}"/>
                </a:ext>
              </a:extLst>
            </p:cNvPr>
            <p:cNvSpPr/>
            <p:nvPr/>
          </p:nvSpPr>
          <p:spPr>
            <a:xfrm>
              <a:off x="3648456" y="4000208"/>
              <a:ext cx="640080" cy="16459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82" name="Rectangle 9115">
              <a:extLst>
                <a:ext uri="{FF2B5EF4-FFF2-40B4-BE49-F238E27FC236}">
                  <a16:creationId xmlns:a16="http://schemas.microsoft.com/office/drawing/2014/main" id="{CAF9C5FB-D647-47D4-B616-E8CC27C44844}"/>
                </a:ext>
              </a:extLst>
            </p:cNvPr>
            <p:cNvSpPr/>
            <p:nvPr/>
          </p:nvSpPr>
          <p:spPr>
            <a:xfrm>
              <a:off x="896112" y="5010620"/>
              <a:ext cx="987551" cy="50292"/>
            </a:xfrm>
            <a:prstGeom prst="rect">
              <a:avLst/>
            </a:prstGeom>
            <a:solidFill>
              <a:srgbClr val="F4B6B6"/>
            </a:solidFill>
            <a:ln w="63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83" name="Rectangle 9116">
              <a:extLst>
                <a:ext uri="{FF2B5EF4-FFF2-40B4-BE49-F238E27FC236}">
                  <a16:creationId xmlns:a16="http://schemas.microsoft.com/office/drawing/2014/main" id="{74054A5D-A1D1-46C4-A7C5-4462CD3A5CF3}"/>
                </a:ext>
              </a:extLst>
            </p:cNvPr>
            <p:cNvSpPr/>
            <p:nvPr/>
          </p:nvSpPr>
          <p:spPr>
            <a:xfrm>
              <a:off x="896112" y="4873460"/>
              <a:ext cx="987551" cy="1371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</a:rPr>
                <a:t>누적 1회</a:t>
              </a:r>
            </a:p>
          </p:txBody>
        </p:sp>
        <p:sp>
          <p:nvSpPr>
            <p:cNvPr id="184" name="Rectangle 9117">
              <a:extLst>
                <a:ext uri="{FF2B5EF4-FFF2-40B4-BE49-F238E27FC236}">
                  <a16:creationId xmlns:a16="http://schemas.microsoft.com/office/drawing/2014/main" id="{73B6A22B-5C2F-4000-B547-4E36ECF65BC6}"/>
                </a:ext>
              </a:extLst>
            </p:cNvPr>
            <p:cNvSpPr/>
            <p:nvPr/>
          </p:nvSpPr>
          <p:spPr>
            <a:xfrm>
              <a:off x="1929384" y="4910036"/>
              <a:ext cx="987551" cy="150876"/>
            </a:xfrm>
            <a:prstGeom prst="rect">
              <a:avLst/>
            </a:prstGeom>
            <a:solidFill>
              <a:srgbClr val="F4B6B6"/>
            </a:solidFill>
            <a:ln w="63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85" name="Rectangle 9118">
              <a:extLst>
                <a:ext uri="{FF2B5EF4-FFF2-40B4-BE49-F238E27FC236}">
                  <a16:creationId xmlns:a16="http://schemas.microsoft.com/office/drawing/2014/main" id="{13C2CBC1-9E42-4E82-BC46-A87EAAB01069}"/>
                </a:ext>
              </a:extLst>
            </p:cNvPr>
            <p:cNvSpPr/>
            <p:nvPr/>
          </p:nvSpPr>
          <p:spPr>
            <a:xfrm>
              <a:off x="1929384" y="4772876"/>
              <a:ext cx="987551" cy="1371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</a:rPr>
                <a:t>누적 3회</a:t>
              </a:r>
            </a:p>
          </p:txBody>
        </p:sp>
        <p:sp>
          <p:nvSpPr>
            <p:cNvPr id="186" name="Rectangle 9119">
              <a:extLst>
                <a:ext uri="{FF2B5EF4-FFF2-40B4-BE49-F238E27FC236}">
                  <a16:creationId xmlns:a16="http://schemas.microsoft.com/office/drawing/2014/main" id="{3473FBB2-3456-4063-B92D-A5D17DA1A4B1}"/>
                </a:ext>
              </a:extLst>
            </p:cNvPr>
            <p:cNvSpPr/>
            <p:nvPr/>
          </p:nvSpPr>
          <p:spPr>
            <a:xfrm>
              <a:off x="2962656" y="4809452"/>
              <a:ext cx="987551" cy="251460"/>
            </a:xfrm>
            <a:prstGeom prst="rect">
              <a:avLst/>
            </a:prstGeom>
            <a:solidFill>
              <a:srgbClr val="F4B6B6"/>
            </a:solidFill>
            <a:ln w="635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endParaRPr/>
            </a:p>
          </p:txBody>
        </p:sp>
        <p:sp>
          <p:nvSpPr>
            <p:cNvPr id="187" name="Rectangle 9120">
              <a:extLst>
                <a:ext uri="{FF2B5EF4-FFF2-40B4-BE49-F238E27FC236}">
                  <a16:creationId xmlns:a16="http://schemas.microsoft.com/office/drawing/2014/main" id="{99604C09-2A66-4C1F-8283-01C30BDC7EBF}"/>
                </a:ext>
              </a:extLst>
            </p:cNvPr>
            <p:cNvSpPr/>
            <p:nvPr/>
          </p:nvSpPr>
          <p:spPr>
            <a:xfrm>
              <a:off x="2962656" y="4672291"/>
              <a:ext cx="987551" cy="13716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600" b="1">
                  <a:solidFill>
                    <a:srgbClr val="C00000"/>
                  </a:solidFill>
                  <a:latin typeface="맑은 고딕"/>
                  <a:ea typeface="맑은 고딕"/>
                </a:rPr>
                <a:t>누적 5회</a:t>
              </a:r>
            </a:p>
          </p:txBody>
        </p:sp>
        <p:sp>
          <p:nvSpPr>
            <p:cNvPr id="188" name="Rectangle 9121">
              <a:extLst>
                <a:ext uri="{FF2B5EF4-FFF2-40B4-BE49-F238E27FC236}">
                  <a16:creationId xmlns:a16="http://schemas.microsoft.com/office/drawing/2014/main" id="{330F0E49-5634-4152-83F3-68D96A575B3D}"/>
                </a:ext>
              </a:extLst>
            </p:cNvPr>
            <p:cNvSpPr/>
            <p:nvPr/>
          </p:nvSpPr>
          <p:spPr>
            <a:xfrm>
              <a:off x="384048" y="4750016"/>
              <a:ext cx="502920" cy="2743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r"/>
              <a:r>
                <a:rPr sz="620" b="1">
                  <a:solidFill>
                    <a:srgbClr val="C00000"/>
                  </a:solidFill>
                  <a:latin typeface="맑은 고딕"/>
                  <a:ea typeface="맑은 고딕"/>
                </a:rPr>
                <a:t>누적</a:t>
              </a:r>
            </a:p>
            <a:p>
              <a:pPr algn="r"/>
              <a:r>
                <a:rPr sz="620" b="1">
                  <a:solidFill>
                    <a:srgbClr val="C00000"/>
                  </a:solidFill>
                  <a:latin typeface="맑은 고딕"/>
                  <a:ea typeface="맑은 고딕"/>
                </a:rPr>
                <a:t>전송</a:t>
              </a:r>
            </a:p>
          </p:txBody>
        </p:sp>
        <p:cxnSp>
          <p:nvCxnSpPr>
            <p:cNvPr id="189" name="Connector 9122">
              <a:extLst>
                <a:ext uri="{FF2B5EF4-FFF2-40B4-BE49-F238E27FC236}">
                  <a16:creationId xmlns:a16="http://schemas.microsoft.com/office/drawing/2014/main" id="{3AFE2A9E-6539-4D6B-B851-56DB87D67A11}"/>
                </a:ext>
              </a:extLst>
            </p:cNvPr>
            <p:cNvCxnSpPr/>
            <p:nvPr/>
          </p:nvCxnSpPr>
          <p:spPr>
            <a:xfrm>
              <a:off x="859536" y="5060912"/>
              <a:ext cx="3273551" cy="0"/>
            </a:xfrm>
            <a:prstGeom prst="line">
              <a:avLst/>
            </a:prstGeom>
            <a:ln w="9525">
              <a:solidFill>
                <a:srgbClr val="7F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ctor 9123">
              <a:extLst>
                <a:ext uri="{FF2B5EF4-FFF2-40B4-BE49-F238E27FC236}">
                  <a16:creationId xmlns:a16="http://schemas.microsoft.com/office/drawing/2014/main" id="{7F727C80-7E1D-4DE0-A9D7-2E6A299B3CAC}"/>
                </a:ext>
              </a:extLst>
            </p:cNvPr>
            <p:cNvCxnSpPr/>
            <p:nvPr/>
          </p:nvCxnSpPr>
          <p:spPr>
            <a:xfrm>
              <a:off x="896112" y="5134064"/>
              <a:ext cx="201168" cy="0"/>
            </a:xfrm>
            <a:prstGeom prst="line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tangle 9124">
              <a:extLst>
                <a:ext uri="{FF2B5EF4-FFF2-40B4-BE49-F238E27FC236}">
                  <a16:creationId xmlns:a16="http://schemas.microsoft.com/office/drawing/2014/main" id="{6FCA7085-B33F-4F4D-9327-B72D484DED74}"/>
                </a:ext>
              </a:extLst>
            </p:cNvPr>
            <p:cNvSpPr/>
            <p:nvPr/>
          </p:nvSpPr>
          <p:spPr>
            <a:xfrm>
              <a:off x="1124712" y="5060912"/>
              <a:ext cx="685800" cy="1463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l"/>
              <a:r>
                <a:rPr sz="600" b="0">
                  <a:solidFill>
                    <a:srgbClr val="404040"/>
                  </a:solidFill>
                  <a:latin typeface="맑은 고딕"/>
                  <a:ea typeface="맑은 고딕"/>
                </a:rPr>
                <a:t>P→D 전송</a:t>
              </a:r>
            </a:p>
          </p:txBody>
        </p:sp>
        <p:cxnSp>
          <p:nvCxnSpPr>
            <p:cNvPr id="192" name="Connector 9125">
              <a:extLst>
                <a:ext uri="{FF2B5EF4-FFF2-40B4-BE49-F238E27FC236}">
                  <a16:creationId xmlns:a16="http://schemas.microsoft.com/office/drawing/2014/main" id="{8D817333-9560-4336-989B-3445301E3DE8}"/>
                </a:ext>
              </a:extLst>
            </p:cNvPr>
            <p:cNvCxnSpPr/>
            <p:nvPr/>
          </p:nvCxnSpPr>
          <p:spPr>
            <a:xfrm>
              <a:off x="1810512" y="5134064"/>
              <a:ext cx="201168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Rectangle 9126">
              <a:extLst>
                <a:ext uri="{FF2B5EF4-FFF2-40B4-BE49-F238E27FC236}">
                  <a16:creationId xmlns:a16="http://schemas.microsoft.com/office/drawing/2014/main" id="{2203517C-71AB-44B5-B672-AB598B279E97}"/>
                </a:ext>
              </a:extLst>
            </p:cNvPr>
            <p:cNvSpPr/>
            <p:nvPr/>
          </p:nvSpPr>
          <p:spPr>
            <a:xfrm>
              <a:off x="2039112" y="5060912"/>
              <a:ext cx="1463040" cy="146304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l"/>
              <a:r>
                <a:rPr sz="600" b="0">
                  <a:solidFill>
                    <a:srgbClr val="404040"/>
                  </a:solidFill>
                  <a:latin typeface="맑은 고딕"/>
                  <a:ea typeface="맑은 고딕"/>
                </a:rPr>
                <a:t>D→P 전송 (다음 Turn용)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1217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7887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20171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34338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432550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11054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구조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구조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최신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상태와 실제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batch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반영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Queue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이동 시간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(TTFT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포함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 가능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Latest load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반영하여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유리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Prefill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위치를 위한 계산을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Prefill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가능 자원 증가 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복잡도 증가 시 유리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Scheduler 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포함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Prefill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가능 자원 증가 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Cost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계산 복잡도 증가 시 처리량 저하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계획 시점과 실행 시점 상태 차이로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validation/re-planning 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-selection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데이터 이동 시간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 가능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en-US" altLang="ko-KR" sz="1050" b="0" strike="noStrike" dirty="0">
                          <a:solidFill>
                            <a:schemeClr val="tx1"/>
                          </a:solidFill>
                        </a:rPr>
                        <a:t>(throughput) 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en-US" altLang="ko-KR" sz="1050" b="0" strike="noStrike" dirty="0">
                          <a:solidFill>
                            <a:schemeClr val="tx1"/>
                          </a:solidFill>
                        </a:rPr>
                        <a:t>(latency – TTFT) </a:t>
                      </a:r>
                      <a:r>
                        <a:rPr lang="en-US" altLang="ko-KR" sz="700" b="0" strike="noStrike" dirty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ko-KR" altLang="en-US" sz="700" b="0" strike="noStrike" dirty="0">
                          <a:solidFill>
                            <a:schemeClr val="tx1"/>
                          </a:solidFill>
                        </a:rPr>
                        <a:t>큐</a:t>
                      </a:r>
                      <a:r>
                        <a:rPr lang="en-US" altLang="ko-KR" sz="700" b="0" strike="noStrike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700" b="0" strike="noStrike" dirty="0">
                          <a:solidFill>
                            <a:schemeClr val="tx1"/>
                          </a:solidFill>
                        </a:rPr>
                        <a:t>데이터 이동시간 절감 </a:t>
                      </a:r>
                      <a:r>
                        <a:rPr lang="en-US" altLang="ko-KR" sz="700" b="0" strike="noStrike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700" b="0" strike="noStrike" dirty="0">
                          <a:solidFill>
                            <a:schemeClr val="tx1"/>
                          </a:solidFill>
                        </a:rPr>
                        <a:t>결정 시간 증가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</a:t>
                      </a:r>
                      <a:r>
                        <a:rPr lang="en-US" altLang="ko-KR" sz="700" b="0" strike="noStrike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US" altLang="ko-KR" sz="700" b="0" strike="noStrike" baseline="0" dirty="0">
                          <a:solidFill>
                            <a:schemeClr val="tx1"/>
                          </a:solidFill>
                        </a:rPr>
                        <a:t> latest load </a:t>
                      </a:r>
                      <a:r>
                        <a:rPr lang="ko-KR" altLang="en-US" sz="700" b="0" strike="noStrike" baseline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7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Scalability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en-US" altLang="ko-KR" sz="1050" b="0" strike="noStrike" dirty="0">
                          <a:solidFill>
                            <a:schemeClr val="tx1"/>
                          </a:solidFill>
                        </a:rPr>
                        <a:t>(throughput)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strike="noStrike" dirty="0">
                          <a:solidFill>
                            <a:schemeClr val="tx1"/>
                          </a:solidFill>
                        </a:rPr>
                        <a:t>– critical path </a:t>
                      </a:r>
                      <a:r>
                        <a:rPr lang="ko-KR" altLang="en-US" sz="700" b="0" strike="noStrike" dirty="0">
                          <a:solidFill>
                            <a:schemeClr val="tx1"/>
                          </a:solidFill>
                        </a:rPr>
                        <a:t>밖에서</a:t>
                      </a:r>
                      <a:r>
                        <a:rPr lang="ko-KR" altLang="en-US" sz="7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b="0" strike="noStrike" baseline="0" dirty="0">
                          <a:solidFill>
                            <a:schemeClr val="tx1"/>
                          </a:solidFill>
                        </a:rPr>
                        <a:t>Cost </a:t>
                      </a:r>
                      <a:r>
                        <a:rPr lang="ko-KR" altLang="en-US" sz="700" b="0" strike="noStrike" baseline="0" dirty="0">
                          <a:solidFill>
                            <a:schemeClr val="tx1"/>
                          </a:solidFill>
                        </a:rPr>
                        <a:t>계산</a:t>
                      </a:r>
                      <a:endParaRPr lang="en-US" altLang="ko-KR" sz="7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en-US" altLang="ko-KR" sz="1050" b="0" strike="noStrike" dirty="0">
                          <a:solidFill>
                            <a:schemeClr val="tx1"/>
                          </a:solidFill>
                        </a:rPr>
                        <a:t>(latency – TTFT)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</a:t>
                      </a:r>
                      <a:r>
                        <a:rPr lang="en-US" altLang="ko-KR" sz="800" b="0" strike="noStrike" dirty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US" altLang="ko-KR" sz="800" b="0" strike="noStrike" baseline="0" dirty="0">
                          <a:solidFill>
                            <a:schemeClr val="tx1"/>
                          </a:solidFill>
                        </a:rPr>
                        <a:t> stale plan/herding </a:t>
                      </a:r>
                      <a:r>
                        <a:rPr lang="ko-KR" altLang="en-US" sz="800" b="0" strike="noStrike" baseline="0" dirty="0">
                          <a:solidFill>
                            <a:schemeClr val="tx1"/>
                          </a:solidFill>
                        </a:rPr>
                        <a:t>으로 </a:t>
                      </a:r>
                      <a:r>
                        <a:rPr lang="en-US" altLang="ko-KR" sz="800" b="0" strike="noStrike" baseline="0" dirty="0">
                          <a:solidFill>
                            <a:schemeClr val="tx1"/>
                          </a:solidFill>
                        </a:rPr>
                        <a:t>load imbalance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Scalability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이기종 메모리 환경의 </a:t>
            </a:r>
            <a:r>
              <a:rPr lang="en-US" altLang="ko-KR" dirty="0"/>
              <a:t>Prefill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연산 가능 메모리 후보에 대해 </a:t>
            </a:r>
            <a:r>
              <a:rPr lang="en-US" altLang="ko-KR" sz="1400" b="1" dirty="0">
                <a:solidFill>
                  <a:schemeClr val="bg1"/>
                </a:solidFill>
              </a:rPr>
              <a:t>Prefill </a:t>
            </a:r>
            <a:r>
              <a:rPr lang="ko-KR" altLang="en-US" sz="1400" b="1" dirty="0">
                <a:solidFill>
                  <a:schemeClr val="bg1"/>
                </a:solidFill>
              </a:rPr>
              <a:t>실행 </a:t>
            </a:r>
            <a:r>
              <a:rPr lang="en-US" altLang="ko-KR" sz="1400" b="1" dirty="0">
                <a:solidFill>
                  <a:schemeClr val="bg1"/>
                </a:solidFill>
              </a:rPr>
              <a:t>Cost</a:t>
            </a:r>
            <a:r>
              <a:rPr lang="ko-KR" altLang="en-US" sz="1400" b="1" dirty="0">
                <a:solidFill>
                  <a:schemeClr val="bg1"/>
                </a:solidFill>
              </a:rPr>
              <a:t>를 계산하고 연산 위치를 결정하는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</a:t>
            </a:r>
            <a:r>
              <a:rPr lang="en-US" altLang="ko-KR" sz="1100" dirty="0"/>
              <a:t>Cost</a:t>
            </a:r>
            <a:r>
              <a:rPr lang="ko-KR" altLang="en-US" sz="1100" dirty="0"/>
              <a:t>를 계산하여 </a:t>
            </a:r>
            <a:r>
              <a:rPr lang="en-US" altLang="ko-KR" sz="1100" dirty="0"/>
              <a:t>Prefill </a:t>
            </a:r>
            <a:r>
              <a:rPr lang="ko-KR" altLang="en-US" sz="1100" dirty="0"/>
              <a:t>실행 위치 결정 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“Request</a:t>
            </a:r>
            <a:r>
              <a:rPr lang="ko-KR" altLang="en-US" sz="1100" dirty="0"/>
              <a:t>가 </a:t>
            </a:r>
            <a:r>
              <a:rPr lang="en-US" altLang="ko-KR" sz="1100" dirty="0"/>
              <a:t>waiting </a:t>
            </a:r>
            <a:r>
              <a:rPr lang="ko-KR" altLang="en-US" sz="1100" dirty="0"/>
              <a:t>상태에 있을 때 </a:t>
            </a:r>
            <a:r>
              <a:rPr lang="en-US" altLang="ko-KR" sz="1100" dirty="0"/>
              <a:t>Cost</a:t>
            </a:r>
            <a:r>
              <a:rPr lang="ko-KR" altLang="en-US" sz="1100" dirty="0"/>
              <a:t>를 미리 계산하여 </a:t>
            </a:r>
            <a:r>
              <a:rPr lang="en-US" altLang="ko-KR" sz="1100" dirty="0"/>
              <a:t>Prefill </a:t>
            </a:r>
            <a:r>
              <a:rPr lang="ko-KR" altLang="en-US" sz="1100" dirty="0"/>
              <a:t>위치 결정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720FB538-39AD-4DFE-A22C-165BAB71ACE9}"/>
              </a:ext>
            </a:extLst>
          </p:cNvPr>
          <p:cNvGrpSpPr/>
          <p:nvPr/>
        </p:nvGrpSpPr>
        <p:grpSpPr>
          <a:xfrm>
            <a:off x="1769157" y="1653568"/>
            <a:ext cx="3850923" cy="2840274"/>
            <a:chOff x="2540917" y="1891482"/>
            <a:chExt cx="3850923" cy="2840274"/>
          </a:xfrm>
        </p:grpSpPr>
        <p:sp>
          <p:nvSpPr>
            <p:cNvPr id="112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721280" y="1891482"/>
              <a:ext cx="1411795" cy="292607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Request Scheduler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123D65B1-2DBC-45BA-89D9-DF8AE2802551}"/>
                </a:ext>
              </a:extLst>
            </p:cNvPr>
            <p:cNvGrpSpPr/>
            <p:nvPr/>
          </p:nvGrpSpPr>
          <p:grpSpPr>
            <a:xfrm>
              <a:off x="3012045" y="2342737"/>
              <a:ext cx="2830275" cy="1425805"/>
              <a:chOff x="1371273" y="2785393"/>
              <a:chExt cx="2572977" cy="1178351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55E86E1C-7256-4E05-BD39-53AA3DC3041A}"/>
                  </a:ext>
                </a:extLst>
              </p:cNvPr>
              <p:cNvGrpSpPr/>
              <p:nvPr/>
            </p:nvGrpSpPr>
            <p:grpSpPr>
              <a:xfrm>
                <a:off x="1371281" y="2985575"/>
                <a:ext cx="2572969" cy="978169"/>
                <a:chOff x="2866277" y="1960495"/>
                <a:chExt cx="1933110" cy="978169"/>
              </a:xfrm>
            </p:grpSpPr>
            <p:sp>
              <p:nvSpPr>
                <p:cNvPr id="115" name="Shape 39">
                  <a:extLst>
                    <a:ext uri="{FF2B5EF4-FFF2-40B4-BE49-F238E27FC236}">
                      <a16:creationId xmlns:a16="http://schemas.microsoft.com/office/drawing/2014/main" id="{6868F6CD-24B6-42CB-9385-562D6F007FDF}"/>
                    </a:ext>
                  </a:extLst>
                </p:cNvPr>
                <p:cNvSpPr/>
                <p:nvPr/>
              </p:nvSpPr>
              <p:spPr>
                <a:xfrm>
                  <a:off x="2866277" y="1960495"/>
                  <a:ext cx="1933110" cy="978169"/>
                </a:xfrm>
                <a:prstGeom prst="rect">
                  <a:avLst/>
                </a:prstGeom>
                <a:solidFill>
                  <a:srgbClr val="D9EAF7">
                    <a:alpha val="98000"/>
                  </a:srgbClr>
                </a:solidFill>
                <a:ln w="15240">
                  <a:solidFill>
                    <a:srgbClr val="2F75B5"/>
                  </a:solidFill>
                  <a:prstDash val="solid"/>
                </a:ln>
              </p:spPr>
            </p:sp>
            <p:sp>
              <p:nvSpPr>
                <p:cNvPr id="116" name="Shape 39">
                  <a:extLst>
                    <a:ext uri="{FF2B5EF4-FFF2-40B4-BE49-F238E27FC236}">
                      <a16:creationId xmlns:a16="http://schemas.microsoft.com/office/drawing/2014/main" id="{F7D82DE9-0B6E-4CB1-A5F0-9E4D7591B816}"/>
                    </a:ext>
                  </a:extLst>
                </p:cNvPr>
                <p:cNvSpPr/>
                <p:nvPr/>
              </p:nvSpPr>
              <p:spPr>
                <a:xfrm>
                  <a:off x="3300960" y="2609060"/>
                  <a:ext cx="1044935" cy="231426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  <a:cs typeface="Malgun Gothic" pitchFamily="34" charset="-120"/>
                    </a:rPr>
                    <a:t>Cost Evaluator</a:t>
                  </a:r>
                </a:p>
              </p:txBody>
            </p:sp>
            <p:sp>
              <p:nvSpPr>
                <p:cNvPr id="117" name="Shape 37">
                  <a:extLst>
                    <a:ext uri="{FF2B5EF4-FFF2-40B4-BE49-F238E27FC236}">
                      <a16:creationId xmlns:a16="http://schemas.microsoft.com/office/drawing/2014/main" id="{306B7634-9A5E-4F0E-A947-927E7282352F}"/>
                    </a:ext>
                  </a:extLst>
                </p:cNvPr>
                <p:cNvSpPr/>
                <p:nvPr/>
              </p:nvSpPr>
              <p:spPr>
                <a:xfrm>
                  <a:off x="3924097" y="2058739"/>
                  <a:ext cx="784060" cy="27018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Resource State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Monitor</a:t>
                  </a:r>
                  <a:endPara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  <p:cxnSp>
              <p:nvCxnSpPr>
                <p:cNvPr id="118" name="직선 화살표 연결선 185">
                  <a:extLst>
                    <a:ext uri="{FF2B5EF4-FFF2-40B4-BE49-F238E27FC236}">
                      <a16:creationId xmlns:a16="http://schemas.microsoft.com/office/drawing/2014/main" id="{63055888-A989-4681-8232-E5AD42EA4D88}"/>
                    </a:ext>
                  </a:extLst>
                </p:cNvPr>
                <p:cNvCxnSpPr>
                  <a:cxnSpLocks/>
                  <a:stCxn id="116" idx="0"/>
                  <a:endCxn id="117" idx="2"/>
                </p:cNvCxnSpPr>
                <p:nvPr/>
              </p:nvCxnSpPr>
              <p:spPr>
                <a:xfrm rot="5400000" flipH="1" flipV="1">
                  <a:off x="3929710" y="2222643"/>
                  <a:ext cx="280134" cy="492699"/>
                </a:xfrm>
                <a:prstGeom prst="bentConnector3">
                  <a:avLst>
                    <a:gd name="adj1" fmla="val 50000"/>
                  </a:avLst>
                </a:prstGeom>
                <a:noFill/>
                <a:ln w="11430">
                  <a:solidFill>
                    <a:schemeClr val="accent1"/>
                  </a:solidFill>
                  <a:prstDash val="solid"/>
                  <a:headEnd type="triangle" w="med" len="med"/>
                  <a:tailEnd type="none" w="med" len="med"/>
                </a:ln>
              </p:spPr>
            </p:cxnSp>
            <p:sp>
              <p:nvSpPr>
                <p:cNvPr id="71" name="Shape 37">
                  <a:extLst>
                    <a:ext uri="{FF2B5EF4-FFF2-40B4-BE49-F238E27FC236}">
                      <a16:creationId xmlns:a16="http://schemas.microsoft.com/office/drawing/2014/main" id="{306B7634-9A5E-4F0E-A947-927E7282352F}"/>
                    </a:ext>
                  </a:extLst>
                </p:cNvPr>
                <p:cNvSpPr/>
                <p:nvPr/>
              </p:nvSpPr>
              <p:spPr>
                <a:xfrm>
                  <a:off x="3039367" y="2058739"/>
                  <a:ext cx="784060" cy="270187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4D7EA8"/>
                  </a:solidFill>
                  <a:prstDash val="solid"/>
                </a:ln>
              </p:spPr>
              <p:txBody>
                <a:bodyPr anchor="ctr"/>
                <a:lstStyle/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KV State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1A1A1A"/>
                      </a:solidFill>
                      <a:latin typeface="Malgun Gothic" pitchFamily="34" charset="0"/>
                      <a:ea typeface="Malgun Gothic" pitchFamily="34" charset="-122"/>
                    </a:rPr>
                    <a:t>Monitor</a:t>
                  </a:r>
                  <a:endParaRPr kumimoji="0" lang="en-US" altLang="ko-KR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A1A1A"/>
                    </a:solidFill>
                    <a:effectLst/>
                    <a:uLnTx/>
                    <a:uFillTx/>
                    <a:latin typeface="Malgun Gothic" pitchFamily="34" charset="0"/>
                    <a:ea typeface="Malgun Gothic" pitchFamily="34" charset="-122"/>
                    <a:cs typeface="Malgun Gothic" pitchFamily="34" charset="-120"/>
                  </a:endParaRPr>
                </a:p>
              </p:txBody>
            </p:sp>
          </p:grpSp>
          <p:sp>
            <p:nvSpPr>
              <p:cNvPr id="119" name="Shape 40">
                <a:extLst>
                  <a:ext uri="{FF2B5EF4-FFF2-40B4-BE49-F238E27FC236}">
                    <a16:creationId xmlns:a16="http://schemas.microsoft.com/office/drawing/2014/main" id="{23DF7C3D-B06F-4B81-8EBA-A450F264EFE2}"/>
                  </a:ext>
                </a:extLst>
              </p:cNvPr>
              <p:cNvSpPr/>
              <p:nvPr/>
            </p:nvSpPr>
            <p:spPr>
              <a:xfrm>
                <a:off x="1371273" y="2785393"/>
                <a:ext cx="2572975" cy="200098"/>
              </a:xfrm>
              <a:prstGeom prst="rect">
                <a:avLst/>
              </a:prstGeom>
              <a:solidFill>
                <a:srgbClr val="2F75B5">
                  <a:alpha val="92000"/>
                </a:srgbClr>
              </a:solidFill>
              <a:ln w="12700">
                <a:solidFill>
                  <a:srgbClr val="2F75B5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</a:rPr>
                  <a:t>Prefill Execution Planner</a:t>
                </a:r>
                <a:endParaRPr lang="ko-KR" altLang="en-US" sz="1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0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672697" y="3905530"/>
              <a:ext cx="1508969" cy="292295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Router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9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12" idx="2"/>
              <a:endCxn id="119" idx="0"/>
            </p:cNvCxnSpPr>
            <p:nvPr/>
          </p:nvCxnSpPr>
          <p:spPr>
            <a:xfrm>
              <a:off x="4427178" y="2184089"/>
              <a:ext cx="4" cy="15864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97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15" idx="2"/>
              <a:endCxn id="120" idx="0"/>
            </p:cNvCxnSpPr>
            <p:nvPr/>
          </p:nvCxnSpPr>
          <p:spPr>
            <a:xfrm flipH="1">
              <a:off x="4427182" y="3768542"/>
              <a:ext cx="4" cy="13698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2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4" idx="0"/>
            </p:cNvCxnSpPr>
            <p:nvPr/>
          </p:nvCxnSpPr>
          <p:spPr>
            <a:xfrm flipH="1">
              <a:off x="4427177" y="4197825"/>
              <a:ext cx="5" cy="292365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24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844564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Prefill Node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25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2540917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Prefill Node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26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5226615" y="4490190"/>
              <a:ext cx="1165225" cy="24156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Decode Node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2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5" idx="0"/>
            </p:cNvCxnSpPr>
            <p:nvPr/>
          </p:nvCxnSpPr>
          <p:spPr>
            <a:xfrm rot="5400000">
              <a:off x="3629174" y="3692181"/>
              <a:ext cx="292365" cy="1303652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3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0" idx="2"/>
              <a:endCxn id="126" idx="0"/>
            </p:cNvCxnSpPr>
            <p:nvPr/>
          </p:nvCxnSpPr>
          <p:spPr>
            <a:xfrm rot="16200000" flipH="1">
              <a:off x="4972023" y="3652984"/>
              <a:ext cx="292365" cy="1382046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</p:grpSp>
      <p:sp>
        <p:nvSpPr>
          <p:cNvPr id="122" name="Shape 31">
            <a:extLst>
              <a:ext uri="{FF2B5EF4-FFF2-40B4-BE49-F238E27FC236}">
                <a16:creationId xmlns:a16="http://schemas.microsoft.com/office/drawing/2014/main" id="{2CB8AAFC-DFAB-4056-A6EA-BB95D28E11E9}"/>
              </a:ext>
            </a:extLst>
          </p:cNvPr>
          <p:cNvSpPr/>
          <p:nvPr/>
        </p:nvSpPr>
        <p:spPr>
          <a:xfrm>
            <a:off x="7168437" y="1818035"/>
            <a:ext cx="1332516" cy="292607"/>
          </a:xfrm>
          <a:prstGeom prst="roundRect">
            <a:avLst>
              <a:gd name="adj" fmla="val 37674"/>
            </a:avLst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Request  Arrival/</a:t>
            </a:r>
          </a:p>
          <a:p>
            <a:pPr algn="ctr" latinLnBrk="0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Waiting Queue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원통 5"/>
          <p:cNvSpPr/>
          <p:nvPr/>
        </p:nvSpPr>
        <p:spPr>
          <a:xfrm>
            <a:off x="7377470" y="4022512"/>
            <a:ext cx="914450" cy="301105"/>
          </a:xfrm>
          <a:prstGeom prst="can">
            <a:avLst/>
          </a:prstGeom>
          <a:solidFill>
            <a:srgbClr val="FFFFFF"/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Cache</a:t>
            </a:r>
            <a:endParaRPr lang="ko-KR" altLang="en-US" sz="1000" b="1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64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6" idx="2"/>
            <a:endCxn id="6" idx="1"/>
          </p:cNvCxnSpPr>
          <p:nvPr/>
        </p:nvCxnSpPr>
        <p:spPr>
          <a:xfrm flipH="1">
            <a:off x="7834695" y="3748062"/>
            <a:ext cx="127" cy="274450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6827002" y="3762641"/>
            <a:ext cx="991013" cy="224346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Execution Plan</a:t>
            </a:r>
          </a:p>
        </p:txBody>
      </p:sp>
      <p:cxnSp>
        <p:nvCxnSpPr>
          <p:cNvPr id="190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6" idx="4"/>
            <a:endCxn id="187" idx="1"/>
          </p:cNvCxnSpPr>
          <p:nvPr/>
        </p:nvCxnSpPr>
        <p:spPr>
          <a:xfrm flipV="1">
            <a:off x="8291920" y="2618601"/>
            <a:ext cx="2030576" cy="1554464"/>
          </a:xfrm>
          <a:prstGeom prst="bentConnector3">
            <a:avLst>
              <a:gd name="adj1" fmla="val 60539"/>
            </a:avLst>
          </a:prstGeom>
          <a:noFill/>
          <a:ln w="12700">
            <a:solidFill>
              <a:srgbClr val="C76E31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9296709" y="2366783"/>
            <a:ext cx="1104499" cy="271459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 err="1">
                <a:solidFill>
                  <a:schemeClr val="bg1">
                    <a:lumMod val="50000"/>
                  </a:schemeClr>
                </a:solidFill>
              </a:rPr>
              <a:t>Aysnc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 planning</a:t>
            </a:r>
          </a:p>
        </p:txBody>
      </p:sp>
      <p:cxnSp>
        <p:nvCxnSpPr>
          <p:cNvPr id="20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6" idx="2"/>
            <a:endCxn id="187" idx="0"/>
          </p:cNvCxnSpPr>
          <p:nvPr/>
        </p:nvCxnSpPr>
        <p:spPr>
          <a:xfrm>
            <a:off x="10804634" y="2230344"/>
            <a:ext cx="0" cy="241953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6913623" y="4354284"/>
            <a:ext cx="2152357" cy="271459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Planning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은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Critical path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밖에서 수행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F768021-5962-4FEE-86A6-9A65D654BAE1}"/>
              </a:ext>
            </a:extLst>
          </p:cNvPr>
          <p:cNvGrpSpPr/>
          <p:nvPr/>
        </p:nvGrpSpPr>
        <p:grpSpPr>
          <a:xfrm>
            <a:off x="10098736" y="1964338"/>
            <a:ext cx="1411795" cy="1928766"/>
            <a:chOff x="13094537" y="2120843"/>
            <a:chExt cx="1411795" cy="1928766"/>
          </a:xfrm>
        </p:grpSpPr>
        <p:sp>
          <p:nvSpPr>
            <p:cNvPr id="186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094537" y="2120843"/>
              <a:ext cx="1411795" cy="26600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Request Scheduler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87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318297" y="2628802"/>
              <a:ext cx="964275" cy="29260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Lookup</a:t>
              </a:r>
              <a:endParaRPr lang="ko-KR" alt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sp>
          <p:nvSpPr>
            <p:cNvPr id="188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158709" y="3783603"/>
              <a:ext cx="1283450" cy="266006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>
                <a:defRPr/>
              </a:pPr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Router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241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13270083" y="3242701"/>
              <a:ext cx="1060703" cy="26600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Late </a:t>
              </a:r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Validator</a:t>
              </a:r>
              <a:endParaRPr lang="ko-KR" alt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</p:grpSp>
      <p:cxnSp>
        <p:nvCxnSpPr>
          <p:cNvPr id="246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241" idx="2"/>
            <a:endCxn id="188" idx="0"/>
          </p:cNvCxnSpPr>
          <p:nvPr/>
        </p:nvCxnSpPr>
        <p:spPr>
          <a:xfrm flipH="1">
            <a:off x="10804633" y="3352202"/>
            <a:ext cx="1" cy="274896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00" name="직선 화살표 연결선 185">
            <a:extLst>
              <a:ext uri="{FF2B5EF4-FFF2-40B4-BE49-F238E27FC236}">
                <a16:creationId xmlns:a16="http://schemas.microsoft.com/office/drawing/2014/main" id="{56498C45-0D93-4C3F-B12A-A34B786B2E88}"/>
              </a:ext>
            </a:extLst>
          </p:cNvPr>
          <p:cNvCxnSpPr>
            <a:cxnSpLocks/>
            <a:stCxn id="187" idx="2"/>
            <a:endCxn id="241" idx="0"/>
          </p:cNvCxnSpPr>
          <p:nvPr/>
        </p:nvCxnSpPr>
        <p:spPr>
          <a:xfrm>
            <a:off x="10804634" y="2764904"/>
            <a:ext cx="0" cy="321292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7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16" idx="0"/>
            <a:endCxn id="71" idx="2"/>
          </p:cNvCxnSpPr>
          <p:nvPr/>
        </p:nvCxnSpPr>
        <p:spPr>
          <a:xfrm rot="16200000" flipV="1">
            <a:off x="3185192" y="2675340"/>
            <a:ext cx="338963" cy="573972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triangle" w="med" len="med"/>
            <a:tailEnd type="none" w="med" len="med"/>
          </a:ln>
        </p:spPr>
      </p:cxnSp>
      <p:grpSp>
        <p:nvGrpSpPr>
          <p:cNvPr id="35" name="그룹 34"/>
          <p:cNvGrpSpPr/>
          <p:nvPr/>
        </p:nvGrpSpPr>
        <p:grpSpPr>
          <a:xfrm>
            <a:off x="6665290" y="2342177"/>
            <a:ext cx="2341529" cy="1405885"/>
            <a:chOff x="6670800" y="2204623"/>
            <a:chExt cx="2575682" cy="1405885"/>
          </a:xfrm>
        </p:grpSpPr>
        <p:sp>
          <p:nvSpPr>
            <p:cNvPr id="156" name="Shape 39">
              <a:extLst>
                <a:ext uri="{FF2B5EF4-FFF2-40B4-BE49-F238E27FC236}">
                  <a16:creationId xmlns:a16="http://schemas.microsoft.com/office/drawing/2014/main" id="{6868F6CD-24B6-42CB-9385-562D6F007FDF}"/>
                </a:ext>
              </a:extLst>
            </p:cNvPr>
            <p:cNvSpPr/>
            <p:nvPr/>
          </p:nvSpPr>
          <p:spPr>
            <a:xfrm>
              <a:off x="6670800" y="2453287"/>
              <a:ext cx="2572970" cy="1157221"/>
            </a:xfrm>
            <a:prstGeom prst="rect">
              <a:avLst/>
            </a:prstGeom>
            <a:solidFill>
              <a:srgbClr val="FCE4D6">
                <a:alpha val="98000"/>
              </a:srgbClr>
            </a:solidFill>
            <a:ln w="15240">
              <a:solidFill>
                <a:srgbClr val="C65911"/>
              </a:solidFill>
              <a:prstDash val="solid"/>
            </a:ln>
          </p:spPr>
        </p:sp>
        <p:sp>
          <p:nvSpPr>
            <p:cNvPr id="162" name="Shape 40">
              <a:extLst>
                <a:ext uri="{FF2B5EF4-FFF2-40B4-BE49-F238E27FC236}">
                  <a16:creationId xmlns:a16="http://schemas.microsoft.com/office/drawing/2014/main" id="{23DF7C3D-B06F-4B81-8EBA-A450F264EFE2}"/>
                </a:ext>
              </a:extLst>
            </p:cNvPr>
            <p:cNvSpPr/>
            <p:nvPr/>
          </p:nvSpPr>
          <p:spPr>
            <a:xfrm>
              <a:off x="6670800" y="2204623"/>
              <a:ext cx="2575682" cy="250430"/>
            </a:xfrm>
            <a:prstGeom prst="rect">
              <a:avLst/>
            </a:prstGeom>
            <a:solidFill>
              <a:srgbClr val="C65911">
                <a:alpha val="92000"/>
              </a:srgbClr>
            </a:solidFill>
            <a:ln w="12700">
              <a:solidFill>
                <a:srgbClr val="C6591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Prefill Execution Planner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Shape 39">
              <a:extLst>
                <a:ext uri="{FF2B5EF4-FFF2-40B4-BE49-F238E27FC236}">
                  <a16:creationId xmlns:a16="http://schemas.microsoft.com/office/drawing/2014/main" id="{F7D82DE9-0B6E-4CB1-A5F0-9E4D7591B816}"/>
                </a:ext>
              </a:extLst>
            </p:cNvPr>
            <p:cNvSpPr/>
            <p:nvPr/>
          </p:nvSpPr>
          <p:spPr>
            <a:xfrm>
              <a:off x="7247100" y="3265513"/>
              <a:ext cx="1529889" cy="2800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Cost Evaluator</a:t>
              </a:r>
            </a:p>
          </p:txBody>
        </p:sp>
        <p:sp>
          <p:nvSpPr>
            <p:cNvPr id="82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7923536" y="2574326"/>
              <a:ext cx="1262735" cy="35961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Resource State</a:t>
              </a:r>
            </a:p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Monitor</a:t>
              </a:r>
            </a:p>
          </p:txBody>
        </p:sp>
        <p:sp>
          <p:nvSpPr>
            <p:cNvPr id="83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6770378" y="2574326"/>
              <a:ext cx="1043584" cy="35961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KV State</a:t>
              </a:r>
            </a:p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Monitor</a:t>
              </a:r>
            </a:p>
          </p:txBody>
        </p:sp>
        <p:cxnSp>
          <p:nvCxnSpPr>
            <p:cNvPr id="85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82" idx="2"/>
              <a:endCxn id="80" idx="0"/>
            </p:cNvCxnSpPr>
            <p:nvPr/>
          </p:nvCxnSpPr>
          <p:spPr>
            <a:xfrm rot="5400000">
              <a:off x="8117691" y="2828300"/>
              <a:ext cx="331568" cy="542860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86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83" idx="2"/>
              <a:endCxn id="80" idx="0"/>
            </p:cNvCxnSpPr>
            <p:nvPr/>
          </p:nvCxnSpPr>
          <p:spPr>
            <a:xfrm rot="16200000" flipH="1">
              <a:off x="7486323" y="2739791"/>
              <a:ext cx="331568" cy="719874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</p:grpSp>
      <p:cxnSp>
        <p:nvCxnSpPr>
          <p:cNvPr id="99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241" idx="1"/>
            <a:endCxn id="162" idx="3"/>
          </p:cNvCxnSpPr>
          <p:nvPr/>
        </p:nvCxnSpPr>
        <p:spPr>
          <a:xfrm rot="10800000">
            <a:off x="9006820" y="2467393"/>
            <a:ext cx="1267463" cy="751807"/>
          </a:xfrm>
          <a:prstGeom prst="bentConnector3">
            <a:avLst>
              <a:gd name="adj1" fmla="val 79165"/>
            </a:avLst>
          </a:prstGeom>
          <a:noFill/>
          <a:ln w="12700">
            <a:solidFill>
              <a:srgbClr val="C76E31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37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0406704" y="4226437"/>
            <a:ext cx="657739" cy="353678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Prefill Node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8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9645372" y="4226437"/>
            <a:ext cx="657739" cy="353678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Prefill Node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9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1187529" y="4226437"/>
            <a:ext cx="657739" cy="353678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Decode Node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40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8" idx="0"/>
          </p:cNvCxnSpPr>
          <p:nvPr/>
        </p:nvCxnSpPr>
        <p:spPr>
          <a:xfrm rot="5400000">
            <a:off x="10222772" y="3644575"/>
            <a:ext cx="333333" cy="830391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41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9" idx="0"/>
          </p:cNvCxnSpPr>
          <p:nvPr/>
        </p:nvCxnSpPr>
        <p:spPr>
          <a:xfrm rot="16200000" flipH="1">
            <a:off x="10993850" y="3703887"/>
            <a:ext cx="333333" cy="71176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48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88" idx="2"/>
            <a:endCxn id="137" idx="0"/>
          </p:cNvCxnSpPr>
          <p:nvPr/>
        </p:nvCxnSpPr>
        <p:spPr>
          <a:xfrm rot="5400000">
            <a:off x="10603438" y="4025241"/>
            <a:ext cx="333333" cy="6905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6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22" idx="2"/>
            <a:endCxn id="162" idx="0"/>
          </p:cNvCxnSpPr>
          <p:nvPr/>
        </p:nvCxnSpPr>
        <p:spPr>
          <a:xfrm>
            <a:off x="7834695" y="2110642"/>
            <a:ext cx="1360" cy="231535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27073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600" b="1" dirty="0"/>
              <a:t>DP3</a:t>
            </a:r>
            <a:endParaRPr lang="ko-KR" altLang="en-US" sz="16600" b="1" dirty="0"/>
          </a:p>
        </p:txBody>
      </p:sp>
    </p:spTree>
    <p:extLst>
      <p:ext uri="{BB962C8B-B14F-4D97-AF65-F5344CB8AC3E}">
        <p14:creationId xmlns:p14="http://schemas.microsoft.com/office/powerpoint/2010/main" val="4219947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8128859" cy="365125"/>
          </a:xfrm>
        </p:spPr>
        <p:txBody>
          <a:bodyPr/>
          <a:lstStyle/>
          <a:p>
            <a:r>
              <a:rPr lang="en-US" altLang="ko-KR" dirty="0"/>
              <a:t>DP3. Long Context</a:t>
            </a:r>
            <a:r>
              <a:rPr lang="ko-KR" altLang="en-US" dirty="0"/>
              <a:t>를 위한 </a:t>
            </a:r>
            <a:r>
              <a:rPr lang="en-US" altLang="ko-KR" dirty="0"/>
              <a:t>KV </a:t>
            </a:r>
            <a:r>
              <a:rPr lang="ko-KR" altLang="en-US" dirty="0"/>
              <a:t>캐시 압축 및 재사용 구조 </a:t>
            </a:r>
            <a:r>
              <a:rPr lang="en-US" altLang="ko-KR" dirty="0"/>
              <a:t>– </a:t>
            </a:r>
            <a:r>
              <a:rPr lang="ko-KR" altLang="en-US" dirty="0"/>
              <a:t>배경 </a:t>
            </a:r>
            <a:endParaRPr lang="en-US" altLang="ko-KR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DP2 9001"/>
          <p:cNvSpPr/>
          <p:nvPr/>
        </p:nvSpPr>
        <p:spPr>
          <a:xfrm>
            <a:off x="347472" y="629107"/>
            <a:ext cx="1179576" cy="301752"/>
          </a:xfrm>
          <a:prstGeom prst="roundRect">
            <a:avLst/>
          </a:prstGeom>
          <a:solidFill>
            <a:srgbClr val="A8C6E8"/>
          </a:solidFill>
          <a:ln w="9525">
            <a:solidFill>
              <a:srgbClr val="2E75B6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정의</a:t>
            </a:r>
          </a:p>
        </p:txBody>
      </p:sp>
      <p:sp>
        <p:nvSpPr>
          <p:cNvPr id="9013" name="DP2 9013"/>
          <p:cNvSpPr/>
          <p:nvPr/>
        </p:nvSpPr>
        <p:spPr>
          <a:xfrm>
            <a:off x="421320" y="19019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rmAutofit/>
          </a:bodyPr>
          <a:lstStyle/>
          <a:p>
            <a:pPr algn="l">
              <a:lnSpc>
                <a:spcPct val="90000"/>
              </a:lnSpc>
            </a:pP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14" name="DP2 9014"/>
          <p:cNvSpPr/>
          <p:nvPr/>
        </p:nvSpPr>
        <p:spPr>
          <a:xfrm>
            <a:off x="347472" y="2218210"/>
            <a:ext cx="9603535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7315" rIns="9144" bIns="7315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워크로드</a:t>
            </a:r>
            <a:r>
              <a:rPr lang="en-US" altLang="ko-KR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KV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배치 및 </a:t>
            </a:r>
            <a:r>
              <a:rPr lang="en-US" altLang="ko-KR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Runtime </a:t>
            </a:r>
            <a:r>
              <a:rPr lang="ko-KR" altLang="en-US" sz="1200" b="1" i="0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상태 등을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고려한 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Cost 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기반의 </a:t>
            </a:r>
            <a:r>
              <a:rPr lang="en-US" altLang="ko-KR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Prefill</a:t>
            </a:r>
            <a:r>
              <a:rPr lang="ko-KR" altLang="en-US" sz="1200" b="1" dirty="0">
                <a:solidFill>
                  <a:srgbClr val="0066FF"/>
                </a:solidFill>
                <a:latin typeface="맑은 고딕" panose="020B0503020000020004" pitchFamily="50" charset="-127"/>
                <a:sym typeface="Wingdings" panose="05000000000000000000" pitchFamily="2" charset="2"/>
              </a:rPr>
              <a:t> 실행 위치를 동적으로 결정하는 구조 설계 필요</a:t>
            </a:r>
            <a:endParaRPr lang="ko-KR" altLang="en-US" sz="1200" b="1" i="0" dirty="0">
              <a:solidFill>
                <a:srgbClr val="006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61" name="DP2 9061"/>
          <p:cNvSpPr/>
          <p:nvPr/>
        </p:nvSpPr>
        <p:spPr>
          <a:xfrm>
            <a:off x="347472" y="5667299"/>
            <a:ext cx="1179576" cy="301752"/>
          </a:xfrm>
          <a:prstGeom prst="roundRect">
            <a:avLst/>
          </a:prstGeom>
          <a:solidFill>
            <a:srgbClr val="FFD966"/>
          </a:solidFill>
          <a:ln w="9525">
            <a:solidFill>
              <a:srgbClr val="BF8F00"/>
            </a:solidFill>
            <a:prstDash val="solid"/>
          </a:ln>
        </p:spPr>
        <p:txBody>
          <a:bodyPr wrap="square" lIns="27432" tIns="7315" rIns="27432" bIns="7315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ko-KR" altLang="en-US" sz="1150" b="1" i="0" dirty="0">
                <a:solidFill>
                  <a:srgbClr val="1F386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쟁점</a:t>
            </a:r>
          </a:p>
        </p:txBody>
      </p:sp>
      <p:sp>
        <p:nvSpPr>
          <p:cNvPr id="79" name="Text 22"/>
          <p:cNvSpPr/>
          <p:nvPr/>
        </p:nvSpPr>
        <p:spPr>
          <a:xfrm>
            <a:off x="359582" y="1016673"/>
            <a:ext cx="11687638" cy="894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Agent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Reasoning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및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Tool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호출 반복에 따른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Context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누적 증가 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Long Context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환경에서는 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기존의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Prefill-Decode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분리 실행 구조는 여러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Memory Tier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의 데이터 접근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이동 비용이 고려되지 않음</a:t>
            </a:r>
            <a:endParaRPr lang="en-US" altLang="ko-KR" sz="1200" dirty="0">
              <a:solidFill>
                <a:srgbClr val="404040"/>
              </a:solidFill>
              <a:latin typeface="맑은 고딕" panose="020B0503020000020004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워크로드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, KV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배치 및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Runtime 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상태 등을 고려하여 다음 </a:t>
            </a:r>
            <a:r>
              <a:rPr lang="en-US" altLang="ko-KR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Prefill</a:t>
            </a:r>
            <a:r>
              <a:rPr lang="ko-KR" altLang="en-US" sz="1200" dirty="0">
                <a:solidFill>
                  <a:srgbClr val="404040"/>
                </a:solidFill>
                <a:latin typeface="맑은 고딕" panose="020B0503020000020004" pitchFamily="50" charset="-127"/>
              </a:rPr>
              <a:t>을 어디에서 실행하는가에 따라 성능이 달라질 수 있음</a:t>
            </a:r>
            <a:endParaRPr lang="en-US" altLang="ko-KR" sz="1200" dirty="0"/>
          </a:p>
        </p:txBody>
      </p:sp>
      <p:sp>
        <p:nvSpPr>
          <p:cNvPr id="166" name="Text 22"/>
          <p:cNvSpPr/>
          <p:nvPr/>
        </p:nvSpPr>
        <p:spPr>
          <a:xfrm>
            <a:off x="383682" y="6029277"/>
            <a:ext cx="11312059" cy="54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altLang="en-US" sz="1200" dirty="0">
                <a:latin typeface="맑은 고딕" panose="020B0503020000020004" pitchFamily="50" charset="-127"/>
              </a:rPr>
              <a:t>이기종 메모리 환경에서 </a:t>
            </a:r>
            <a:r>
              <a:rPr lang="en-US" altLang="ko-KR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Agent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성능 최적화</a:t>
            </a:r>
            <a:r>
              <a:rPr lang="ko-KR" altLang="en-US" sz="1200" dirty="0">
                <a:latin typeface="맑은 고딕" panose="020B0503020000020004" pitchFamily="50" charset="-127"/>
              </a:rPr>
              <a:t>를 위한 구조 설계 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25000"/>
              </a:lnSpc>
              <a:buAutoNum type="arabicPeriod"/>
            </a:pPr>
            <a:r>
              <a:rPr lang="ko-KR" altLang="en-US" sz="1200" b="1" dirty="0">
                <a:solidFill>
                  <a:schemeClr val="accent2"/>
                </a:solidFill>
                <a:latin typeface="맑은 고딕" panose="020B0503020000020004" pitchFamily="50" charset="-127"/>
              </a:rPr>
              <a:t>신규 메모리 및 </a:t>
            </a:r>
            <a:r>
              <a:rPr lang="en-US" altLang="ko-KR" sz="1200" b="1" dirty="0">
                <a:solidFill>
                  <a:schemeClr val="accent2"/>
                </a:solidFill>
                <a:latin typeface="맑은 고딕" panose="020B0503020000020004" pitchFamily="50" charset="-127"/>
              </a:rPr>
              <a:t>Cost </a:t>
            </a:r>
            <a:r>
              <a:rPr lang="ko-KR" altLang="en-US" sz="1200" b="1" dirty="0">
                <a:solidFill>
                  <a:schemeClr val="accent2"/>
                </a:solidFill>
                <a:latin typeface="맑은 고딕" panose="020B0503020000020004" pitchFamily="50" charset="-127"/>
              </a:rPr>
              <a:t>모델 확장</a:t>
            </a:r>
            <a:r>
              <a:rPr lang="ko-KR" altLang="en-US" sz="1200" dirty="0">
                <a:latin typeface="맑은 고딕" panose="020B0503020000020004" pitchFamily="50" charset="-127"/>
              </a:rPr>
              <a:t> 시 </a:t>
            </a:r>
            <a:r>
              <a:rPr lang="ko-KR" altLang="en-US" sz="12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기존 구조 변경을 최소화</a:t>
            </a:r>
            <a:r>
              <a:rPr lang="ko-KR" altLang="en-US" sz="1200" dirty="0">
                <a:latin typeface="맑은 고딕" panose="020B0503020000020004" pitchFamily="50" charset="-127"/>
              </a:rPr>
              <a:t>하는 구조 설계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25000"/>
              </a:lnSpc>
              <a:buAutoNum type="arabicPeriod"/>
            </a:pP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143087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38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사용자 </a:t>
                      </a:r>
                      <a:r>
                        <a:rPr lang="en-US" altLang="ko-KR" sz="1200" b="1" dirty="0"/>
                        <a:t>Query </a:t>
                      </a:r>
                      <a:r>
                        <a:rPr lang="en-US" altLang="ko-KR" sz="1200" b="1" baseline="0" dirty="0"/>
                        <a:t>Agnostic </a:t>
                      </a:r>
                      <a:r>
                        <a:rPr lang="ko-KR" altLang="en-US" sz="1200" b="1" baseline="0" dirty="0"/>
                        <a:t>압축 및 재사용 구조 </a:t>
                      </a:r>
                      <a:r>
                        <a:rPr lang="en-US" altLang="ko-KR" sz="1200" b="1" baseline="0" dirty="0"/>
                        <a:t>(Offline)</a:t>
                      </a:r>
                      <a:r>
                        <a:rPr lang="ko-KR" altLang="en-US" sz="1200" b="1" baseline="0" dirty="0"/>
                        <a:t> </a:t>
                      </a:r>
                      <a:endParaRPr lang="ko-KR" altLang="en-US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사용자 </a:t>
                      </a:r>
                      <a:r>
                        <a:rPr lang="en-US" altLang="ko-KR" sz="1200" b="1" dirty="0"/>
                        <a:t>Query Aware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압축 및 재사용 구조 </a:t>
                      </a:r>
                      <a:r>
                        <a:rPr lang="en-US" altLang="ko-KR" sz="1200" b="1" baseline="0" dirty="0"/>
                        <a:t>(Online)</a:t>
                      </a:r>
                      <a:endParaRPr lang="en-US" altLang="ko-KR" sz="12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605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사전에 압축을 진행하는 것으로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TTFT </a:t>
                      </a:r>
                      <a:r>
                        <a:rPr lang="ko-KR" altLang="en-US" sz="1200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절감률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높음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사전 압축된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KV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캐시를 읽어와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I/O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절감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 aware</a:t>
                      </a:r>
                      <a:r>
                        <a:rPr lang="ko-KR" altLang="en-US" sz="1200" strike="noStrike" baseline="0" dirty="0">
                          <a:effectLst/>
                        </a:rPr>
                        <a:t>한 압축으로 정확도 높음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사용자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가 아닌 대표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로 압축한 것이므로 정확도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온라인으로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와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Context</a:t>
                      </a:r>
                      <a:r>
                        <a:rPr lang="ko-KR" altLang="en-US" sz="1200" strike="noStrike" baseline="0" dirty="0">
                          <a:effectLst/>
                        </a:rPr>
                        <a:t>간의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Attention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연산에 기반한 압축으로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TTFT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절감률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낮음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Performance Latency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/>
                        <a:t>Functional Correctness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endParaRPr lang="ko-KR" altLang="en-US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282267" y="3326574"/>
            <a:ext cx="2454799" cy="74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  <a:prstDash val="dash"/>
          </a:ln>
        </p:spPr>
        <p:txBody>
          <a:bodyPr anchor="t"/>
          <a:lstStyle/>
          <a:p>
            <a:pPr algn="ctr"/>
            <a:r>
              <a:rPr lang="ko-KR" altLang="en-US" sz="9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및 재사용 구조</a:t>
            </a:r>
            <a:endParaRPr lang="en-US" altLang="ko-KR" sz="900" b="1" dirty="0">
              <a:solidFill>
                <a:schemeClr val="accent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453146" y="1935310"/>
            <a:ext cx="720879" cy="347887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</a:t>
            </a:r>
          </a:p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Sampler</a:t>
            </a:r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2704511" y="1935140"/>
            <a:ext cx="882258" cy="347887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Query </a:t>
            </a:r>
          </a:p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</a:t>
            </a: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287093" y="2456822"/>
            <a:ext cx="2452770" cy="7390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  <a:prstDash val="dash"/>
          </a:ln>
        </p:spPr>
        <p:txBody>
          <a:bodyPr anchor="t"/>
          <a:lstStyle/>
          <a:p>
            <a:pPr algn="ctr"/>
            <a:r>
              <a:rPr lang="en-US" altLang="ko-KR" sz="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</a:t>
            </a:r>
            <a:r>
              <a:rPr lang="ko-KR" altLang="en-US" sz="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구조</a:t>
            </a:r>
            <a:endParaRPr lang="en-US" altLang="ko-KR" sz="900" b="1" dirty="0">
              <a:solidFill>
                <a:schemeClr val="accent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375281" y="2709301"/>
            <a:ext cx="881437" cy="347887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</a:p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</a:t>
            </a:r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2658856" y="2708211"/>
            <a:ext cx="971806" cy="347887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Selective </a:t>
            </a:r>
            <a:r>
              <a:rPr lang="en-US" altLang="ko-KR" sz="10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Recomputer</a:t>
            </a:r>
            <a:endParaRPr lang="en-US" altLang="ko-KR" sz="1000" b="1" dirty="0">
              <a:solidFill>
                <a:srgbClr val="1F3864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254" name="직선 화살표 연결선 253"/>
          <p:cNvCxnSpPr>
            <a:stCxn id="246" idx="2"/>
            <a:endCxn id="249" idx="0"/>
          </p:cNvCxnSpPr>
          <p:nvPr/>
        </p:nvCxnSpPr>
        <p:spPr>
          <a:xfrm>
            <a:off x="1813586" y="2283197"/>
            <a:ext cx="2414" cy="42610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/>
          <p:cNvCxnSpPr>
            <a:stCxn id="249" idx="2"/>
            <a:endCxn id="250" idx="0"/>
          </p:cNvCxnSpPr>
          <p:nvPr/>
        </p:nvCxnSpPr>
        <p:spPr>
          <a:xfrm flipH="1">
            <a:off x="1813586" y="3057188"/>
            <a:ext cx="2412" cy="58594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직선 화살표 연결선 267"/>
          <p:cNvCxnSpPr>
            <a:stCxn id="250" idx="3"/>
            <a:endCxn id="253" idx="1"/>
          </p:cNvCxnSpPr>
          <p:nvPr/>
        </p:nvCxnSpPr>
        <p:spPr>
          <a:xfrm flipV="1">
            <a:off x="2300788" y="3814221"/>
            <a:ext cx="398759" cy="285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326384" y="3643136"/>
            <a:ext cx="974406" cy="347887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Compressor</a:t>
            </a:r>
          </a:p>
        </p:txBody>
      </p:sp>
      <p:sp>
        <p:nvSpPr>
          <p:cNvPr id="253" name="직사각형 252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2699547" y="3580105"/>
            <a:ext cx="908992" cy="46823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 err="1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Recompute</a:t>
            </a:r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Token </a:t>
            </a:r>
          </a:p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cxnSp>
        <p:nvCxnSpPr>
          <p:cNvPr id="281" name="직선 화살표 연결선 280"/>
          <p:cNvCxnSpPr>
            <a:stCxn id="247" idx="2"/>
            <a:endCxn id="252" idx="0"/>
          </p:cNvCxnSpPr>
          <p:nvPr/>
        </p:nvCxnSpPr>
        <p:spPr>
          <a:xfrm flipH="1">
            <a:off x="3144759" y="2283027"/>
            <a:ext cx="881" cy="4251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화살표 연결선 410"/>
          <p:cNvCxnSpPr>
            <a:stCxn id="253" idx="0"/>
            <a:endCxn id="252" idx="2"/>
          </p:cNvCxnSpPr>
          <p:nvPr/>
        </p:nvCxnSpPr>
        <p:spPr>
          <a:xfrm flipH="1" flipV="1">
            <a:off x="3144759" y="3056098"/>
            <a:ext cx="9285" cy="5240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1982496" y="4219422"/>
            <a:ext cx="914639" cy="23761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Sampler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8" y="137379"/>
            <a:ext cx="7016242" cy="365125"/>
          </a:xfrm>
        </p:spPr>
        <p:txBody>
          <a:bodyPr/>
          <a:lstStyle/>
          <a:p>
            <a:r>
              <a:rPr lang="en-US" altLang="ko-KR" dirty="0"/>
              <a:t>DP3. Long Context</a:t>
            </a:r>
            <a:r>
              <a:rPr lang="ko-KR" altLang="en-US" dirty="0"/>
              <a:t>를 위한 </a:t>
            </a:r>
            <a:r>
              <a:rPr lang="en-US" altLang="ko-KR" dirty="0"/>
              <a:t>KV </a:t>
            </a:r>
            <a:r>
              <a:rPr lang="ko-KR" altLang="en-US" dirty="0"/>
              <a:t>캐시 압축 및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6540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Long Context</a:t>
            </a:r>
            <a:r>
              <a:rPr lang="ko-KR" altLang="en-US" sz="1400" b="1" dirty="0">
                <a:solidFill>
                  <a:schemeClr val="bg1"/>
                </a:solidFill>
              </a:rPr>
              <a:t>에서 </a:t>
            </a:r>
            <a:r>
              <a:rPr lang="en-US" altLang="ko-KR" sz="1400" b="1" dirty="0">
                <a:solidFill>
                  <a:schemeClr val="bg1"/>
                </a:solidFill>
              </a:rPr>
              <a:t>Accuracy</a:t>
            </a:r>
            <a:r>
              <a:rPr lang="ko-KR" altLang="en-US" sz="1400" b="1" dirty="0">
                <a:solidFill>
                  <a:schemeClr val="bg1"/>
                </a:solidFill>
              </a:rPr>
              <a:t>를 유지하며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캐시와 </a:t>
            </a:r>
            <a:r>
              <a:rPr lang="en-US" altLang="ko-KR" sz="1400" b="1" dirty="0">
                <a:solidFill>
                  <a:schemeClr val="bg1"/>
                </a:solidFill>
              </a:rPr>
              <a:t>Latency </a:t>
            </a:r>
            <a:r>
              <a:rPr lang="ko-KR" altLang="en-US" sz="1400" b="1" dirty="0">
                <a:solidFill>
                  <a:schemeClr val="bg1"/>
                </a:solidFill>
              </a:rPr>
              <a:t>를 줄이는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 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7251190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 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67003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“W/L</a:t>
            </a:r>
            <a:r>
              <a:rPr lang="ko-KR" altLang="en-US" sz="1100" dirty="0"/>
              <a:t>별 대표 </a:t>
            </a:r>
            <a:r>
              <a:rPr lang="en-US" altLang="ko-KR" sz="1100" dirty="0"/>
              <a:t>Query</a:t>
            </a:r>
            <a:r>
              <a:rPr lang="ko-KR" altLang="en-US" sz="1100" dirty="0"/>
              <a:t>와 </a:t>
            </a:r>
            <a:r>
              <a:rPr lang="en-US" altLang="ko-KR" sz="1100" dirty="0"/>
              <a:t>KV </a:t>
            </a:r>
            <a:r>
              <a:rPr lang="ko-KR" altLang="en-US" sz="1100" dirty="0"/>
              <a:t>캐시 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"</a:t>
            </a:r>
            <a:r>
              <a:rPr lang="ko-KR" altLang="en-US" sz="1100" dirty="0"/>
              <a:t>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와의 </a:t>
            </a:r>
            <a:r>
              <a:rPr lang="en-US" altLang="ko-KR" sz="1100" dirty="0"/>
              <a:t>KV </a:t>
            </a:r>
            <a:r>
              <a:rPr lang="ko-KR" altLang="en-US" sz="1100" dirty="0"/>
              <a:t>간 </a:t>
            </a:r>
            <a:r>
              <a:rPr lang="en-US" altLang="ko-KR" sz="1100" dirty="0"/>
              <a:t>Attention</a:t>
            </a:r>
            <a:r>
              <a:rPr lang="ko-KR" altLang="en-US" sz="1100" dirty="0"/>
              <a:t>을 활용하여 압축 및 재계산 토큰 선정</a:t>
            </a:r>
            <a:r>
              <a:rPr lang="en-US" altLang="ko-KR" sz="1100" dirty="0"/>
              <a:t>“</a:t>
            </a:r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537074" y="6217803"/>
            <a:ext cx="234199" cy="23477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pSp>
        <p:nvGrpSpPr>
          <p:cNvPr id="362" name="그룹 361"/>
          <p:cNvGrpSpPr/>
          <p:nvPr/>
        </p:nvGrpSpPr>
        <p:grpSpPr>
          <a:xfrm>
            <a:off x="6717429" y="2091746"/>
            <a:ext cx="2335498" cy="2206980"/>
            <a:chOff x="6659977" y="2474661"/>
            <a:chExt cx="1978105" cy="2206980"/>
          </a:xfrm>
        </p:grpSpPr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84AD227C-41E7-4D5B-B6DE-C8804D2E6632}"/>
                </a:ext>
              </a:extLst>
            </p:cNvPr>
            <p:cNvSpPr/>
            <p:nvPr/>
          </p:nvSpPr>
          <p:spPr>
            <a:xfrm>
              <a:off x="6767285" y="2474661"/>
              <a:ext cx="772741" cy="347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User Query </a:t>
              </a:r>
            </a:p>
            <a:p>
              <a:pPr algn="ctr"/>
              <a:r>
                <a:rPr lang="en-US" altLang="ko-KR" sz="1000" b="1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Manager</a:t>
              </a:r>
            </a:p>
          </p:txBody>
        </p:sp>
        <p:grpSp>
          <p:nvGrpSpPr>
            <p:cNvPr id="302" name="그룹 301"/>
            <p:cNvGrpSpPr/>
            <p:nvPr/>
          </p:nvGrpSpPr>
          <p:grpSpPr>
            <a:xfrm>
              <a:off x="6666741" y="2973235"/>
              <a:ext cx="1971341" cy="872679"/>
              <a:chOff x="1780643" y="2830282"/>
              <a:chExt cx="2207090" cy="872679"/>
            </a:xfrm>
          </p:grpSpPr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1780643" y="2830282"/>
                <a:ext cx="2207090" cy="87267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accent1"/>
                </a:solidFill>
                <a:prstDash val="dash"/>
              </a:ln>
            </p:spPr>
            <p:txBody>
              <a:bodyPr anchor="t"/>
              <a:lstStyle/>
              <a:p>
                <a:pPr algn="ctr"/>
                <a:r>
                  <a:rPr lang="en-US" altLang="ko-KR" sz="900" b="1" dirty="0">
                    <a:solidFill>
                      <a:schemeClr val="accent1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LLM 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생성 구조</a:t>
                </a:r>
                <a:endParaRPr lang="en-US" altLang="ko-KR" sz="900" b="1" dirty="0">
                  <a:solidFill>
                    <a:schemeClr val="accent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1927716" y="3067060"/>
                <a:ext cx="796157" cy="3478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A6A6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Attention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Manager</a:t>
                </a:r>
              </a:p>
            </p:txBody>
          </p:sp>
          <p:sp>
            <p:nvSpPr>
              <p:cNvPr id="305" name="직사각형 304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2989244" y="3067059"/>
                <a:ext cx="930235" cy="3478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A6A6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Selective </a:t>
                </a:r>
                <a:r>
                  <a:rPr lang="en-US" altLang="ko-KR" sz="1000" b="1" dirty="0" err="1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Recomputer</a:t>
                </a:r>
                <a:endParaRPr lang="en-US" altLang="ko-KR" sz="1000" b="1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</p:grpSp>
        <p:cxnSp>
          <p:nvCxnSpPr>
            <p:cNvPr id="306" name="직선 화살표 연결선 305"/>
            <p:cNvCxnSpPr>
              <a:stCxn id="299" idx="2"/>
              <a:endCxn id="304" idx="0"/>
            </p:cNvCxnSpPr>
            <p:nvPr/>
          </p:nvCxnSpPr>
          <p:spPr>
            <a:xfrm>
              <a:off x="7153656" y="2822548"/>
              <a:ext cx="7" cy="38746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0" name="그룹 309"/>
            <p:cNvGrpSpPr/>
            <p:nvPr/>
          </p:nvGrpSpPr>
          <p:grpSpPr>
            <a:xfrm>
              <a:off x="6659977" y="3962543"/>
              <a:ext cx="1978105" cy="719098"/>
              <a:chOff x="3766978" y="2909027"/>
              <a:chExt cx="1978105" cy="719098"/>
            </a:xfrm>
          </p:grpSpPr>
          <p:sp>
            <p:nvSpPr>
              <p:cNvPr id="313" name="직사각형 312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3766978" y="2909027"/>
                <a:ext cx="1978105" cy="7190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/>
                </a:solidFill>
                <a:prstDash val="dash"/>
              </a:ln>
            </p:spPr>
            <p:txBody>
              <a:bodyPr anchor="t"/>
              <a:lstStyle/>
              <a:p>
                <a:pPr algn="ctr"/>
                <a:r>
                  <a:rPr lang="ko-KR" altLang="en-US" sz="900" b="1" dirty="0">
                    <a:solidFill>
                      <a:schemeClr val="accent2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압축 및 재사용 구조</a:t>
                </a:r>
                <a:endParaRPr lang="en-US" altLang="ko-KR" sz="900" b="1" dirty="0">
                  <a:solidFill>
                    <a:schemeClr val="accent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  <p:sp>
            <p:nvSpPr>
              <p:cNvPr id="311" name="직사각형 310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3864299" y="3207038"/>
                <a:ext cx="787480" cy="3478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A6A6A6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KV Cache Compressor</a:t>
                </a:r>
              </a:p>
            </p:txBody>
          </p:sp>
        </p:grpSp>
        <p:cxnSp>
          <p:nvCxnSpPr>
            <p:cNvPr id="332" name="직선 화살표 연결선 331"/>
            <p:cNvCxnSpPr>
              <a:stCxn id="304" idx="3"/>
              <a:endCxn id="305" idx="1"/>
            </p:cNvCxnSpPr>
            <p:nvPr/>
          </p:nvCxnSpPr>
          <p:spPr>
            <a:xfrm flipV="1">
              <a:off x="7509220" y="3383956"/>
              <a:ext cx="237026" cy="1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화살표 연결선 307"/>
            <p:cNvCxnSpPr>
              <a:stCxn id="311" idx="3"/>
              <a:endCxn id="305" idx="2"/>
            </p:cNvCxnSpPr>
            <p:nvPr/>
          </p:nvCxnSpPr>
          <p:spPr>
            <a:xfrm flipV="1">
              <a:off x="7544778" y="3557899"/>
              <a:ext cx="616904" cy="876599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화살표 연결선 306"/>
            <p:cNvCxnSpPr>
              <a:stCxn id="304" idx="2"/>
              <a:endCxn id="311" idx="0"/>
            </p:cNvCxnSpPr>
            <p:nvPr/>
          </p:nvCxnSpPr>
          <p:spPr>
            <a:xfrm flipH="1">
              <a:off x="7151038" y="3557900"/>
              <a:ext cx="2625" cy="70265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3" name="그룹 392"/>
          <p:cNvGrpSpPr/>
          <p:nvPr/>
        </p:nvGrpSpPr>
        <p:grpSpPr>
          <a:xfrm>
            <a:off x="1161241" y="2384137"/>
            <a:ext cx="469167" cy="238975"/>
            <a:chOff x="1178284" y="2905002"/>
            <a:chExt cx="388658" cy="238975"/>
          </a:xfrm>
        </p:grpSpPr>
        <p:sp>
          <p:nvSpPr>
            <p:cNvPr id="528" name="원통 527">
              <a:extLst>
                <a:ext uri="{FF2B5EF4-FFF2-40B4-BE49-F238E27FC236}">
                  <a16:creationId xmlns:a16="http://schemas.microsoft.com/office/drawing/2014/main" id="{84AD227C-41E7-4D5B-B6DE-C8804D2E6632}"/>
                </a:ext>
              </a:extLst>
            </p:cNvPr>
            <p:cNvSpPr/>
            <p:nvPr/>
          </p:nvSpPr>
          <p:spPr>
            <a:xfrm>
              <a:off x="1178284" y="2905002"/>
              <a:ext cx="388658" cy="234358"/>
            </a:xfrm>
            <a:prstGeom prst="can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sp>
          <p:nvSpPr>
            <p:cNvPr id="530" name="TextBox 529"/>
            <p:cNvSpPr txBox="1"/>
            <p:nvPr/>
          </p:nvSpPr>
          <p:spPr>
            <a:xfrm>
              <a:off x="1196859" y="2913145"/>
              <a:ext cx="3694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KV $</a:t>
              </a:r>
            </a:p>
          </p:txBody>
        </p:sp>
      </p:grpSp>
      <p:cxnSp>
        <p:nvCxnSpPr>
          <p:cNvPr id="391" name="구부러진 연결선 390"/>
          <p:cNvCxnSpPr>
            <a:stCxn id="530" idx="3"/>
            <a:endCxn id="249" idx="0"/>
          </p:cNvCxnSpPr>
          <p:nvPr/>
        </p:nvCxnSpPr>
        <p:spPr>
          <a:xfrm>
            <a:off x="1629669" y="2507696"/>
            <a:ext cx="186330" cy="20160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7564742" y="3165218"/>
            <a:ext cx="855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b="1" dirty="0">
                <a:solidFill>
                  <a:schemeClr val="accent1"/>
                </a:solidFill>
              </a:rPr>
              <a:t>Tokens to be </a:t>
            </a:r>
          </a:p>
          <a:p>
            <a:r>
              <a:rPr lang="en-US" altLang="ko-KR" sz="700" b="1" dirty="0">
                <a:solidFill>
                  <a:schemeClr val="accent1"/>
                </a:solidFill>
              </a:rPr>
              <a:t>recomputed</a:t>
            </a:r>
          </a:p>
        </p:txBody>
      </p:sp>
      <p:grpSp>
        <p:nvGrpSpPr>
          <p:cNvPr id="545" name="그룹 544"/>
          <p:cNvGrpSpPr/>
          <p:nvPr/>
        </p:nvGrpSpPr>
        <p:grpSpPr>
          <a:xfrm>
            <a:off x="6621830" y="2567083"/>
            <a:ext cx="469167" cy="238975"/>
            <a:chOff x="1178284" y="2905002"/>
            <a:chExt cx="388658" cy="238975"/>
          </a:xfrm>
        </p:grpSpPr>
        <p:sp>
          <p:nvSpPr>
            <p:cNvPr id="546" name="원통 545">
              <a:extLst>
                <a:ext uri="{FF2B5EF4-FFF2-40B4-BE49-F238E27FC236}">
                  <a16:creationId xmlns:a16="http://schemas.microsoft.com/office/drawing/2014/main" id="{84AD227C-41E7-4D5B-B6DE-C8804D2E6632}"/>
                </a:ext>
              </a:extLst>
            </p:cNvPr>
            <p:cNvSpPr/>
            <p:nvPr/>
          </p:nvSpPr>
          <p:spPr>
            <a:xfrm>
              <a:off x="1178284" y="2905002"/>
              <a:ext cx="388658" cy="234358"/>
            </a:xfrm>
            <a:prstGeom prst="can">
              <a:avLst/>
            </a:prstGeom>
            <a:solidFill>
              <a:srgbClr val="FFFFFF"/>
            </a:solidFill>
            <a:ln w="9525">
              <a:solidFill>
                <a:srgbClr val="A6A6A6"/>
              </a:solidFill>
              <a:prstDash val="solid"/>
            </a:ln>
          </p:spPr>
          <p:txBody>
            <a:bodyPr anchor="ctr"/>
            <a:lstStyle/>
            <a:p>
              <a:pPr algn="ctr"/>
              <a:endParaRPr lang="en-US" altLang="ko-KR" sz="1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sp>
          <p:nvSpPr>
            <p:cNvPr id="547" name="TextBox 546"/>
            <p:cNvSpPr txBox="1"/>
            <p:nvPr/>
          </p:nvSpPr>
          <p:spPr>
            <a:xfrm>
              <a:off x="1196859" y="2913145"/>
              <a:ext cx="3694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KV $</a:t>
              </a:r>
            </a:p>
          </p:txBody>
        </p:sp>
      </p:grpSp>
      <p:cxnSp>
        <p:nvCxnSpPr>
          <p:cNvPr id="548" name="구부러진 연결선 547"/>
          <p:cNvCxnSpPr>
            <a:stCxn id="547" idx="3"/>
            <a:endCxn id="304" idx="0"/>
          </p:cNvCxnSpPr>
          <p:nvPr/>
        </p:nvCxnSpPr>
        <p:spPr>
          <a:xfrm>
            <a:off x="7090258" y="2690642"/>
            <a:ext cx="210053" cy="13645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0460" y="2229013"/>
            <a:ext cx="285667" cy="298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…</a:t>
            </a:r>
          </a:p>
        </p:txBody>
      </p:sp>
      <p:sp>
        <p:nvSpPr>
          <p:cNvPr id="82" name="정육면체 81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4271614" y="2337045"/>
            <a:ext cx="374341" cy="209629"/>
          </a:xfrm>
          <a:prstGeom prst="cub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</a:t>
            </a:r>
          </a:p>
        </p:txBody>
      </p:sp>
      <p:cxnSp>
        <p:nvCxnSpPr>
          <p:cNvPr id="83" name="직선 연결선 82"/>
          <p:cNvCxnSpPr>
            <a:stCxn id="82" idx="3"/>
            <a:endCxn id="124" idx="0"/>
          </p:cNvCxnSpPr>
          <p:nvPr/>
        </p:nvCxnSpPr>
        <p:spPr>
          <a:xfrm>
            <a:off x="4432581" y="2546674"/>
            <a:ext cx="120470" cy="284703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149" idx="3"/>
            <a:endCxn id="124" idx="0"/>
          </p:cNvCxnSpPr>
          <p:nvPr/>
        </p:nvCxnSpPr>
        <p:spPr>
          <a:xfrm flipH="1">
            <a:off x="4553051" y="2546674"/>
            <a:ext cx="235043" cy="284703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>
            <a:stCxn id="150" idx="3"/>
            <a:endCxn id="124" idx="0"/>
          </p:cNvCxnSpPr>
          <p:nvPr/>
        </p:nvCxnSpPr>
        <p:spPr>
          <a:xfrm flipH="1">
            <a:off x="4553051" y="2546674"/>
            <a:ext cx="897238" cy="284703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/>
          <p:cNvCxnSpPr>
            <a:stCxn id="124" idx="3"/>
            <a:endCxn id="126" idx="0"/>
          </p:cNvCxnSpPr>
          <p:nvPr/>
        </p:nvCxnSpPr>
        <p:spPr>
          <a:xfrm flipH="1">
            <a:off x="4448494" y="3099872"/>
            <a:ext cx="37433" cy="262528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stCxn id="126" idx="3"/>
            <a:endCxn id="103" idx="0"/>
          </p:cNvCxnSpPr>
          <p:nvPr/>
        </p:nvCxnSpPr>
        <p:spPr>
          <a:xfrm>
            <a:off x="4381371" y="3630895"/>
            <a:ext cx="682770" cy="400090"/>
          </a:xfrm>
          <a:prstGeom prst="line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>
            <a:stCxn id="82" idx="3"/>
            <a:endCxn id="125" idx="0"/>
          </p:cNvCxnSpPr>
          <p:nvPr/>
        </p:nvCxnSpPr>
        <p:spPr>
          <a:xfrm>
            <a:off x="4432581" y="2546674"/>
            <a:ext cx="1059027" cy="284703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>
            <a:stCxn id="149" idx="3"/>
            <a:endCxn id="125" idx="0"/>
          </p:cNvCxnSpPr>
          <p:nvPr/>
        </p:nvCxnSpPr>
        <p:spPr>
          <a:xfrm>
            <a:off x="4788094" y="2546674"/>
            <a:ext cx="703514" cy="284703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150" idx="3"/>
            <a:endCxn id="125" idx="0"/>
          </p:cNvCxnSpPr>
          <p:nvPr/>
        </p:nvCxnSpPr>
        <p:spPr>
          <a:xfrm>
            <a:off x="5450289" y="2546674"/>
            <a:ext cx="41319" cy="284703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stCxn id="125" idx="3"/>
            <a:endCxn id="127" idx="0"/>
          </p:cNvCxnSpPr>
          <p:nvPr/>
        </p:nvCxnSpPr>
        <p:spPr>
          <a:xfrm flipH="1">
            <a:off x="5046761" y="3099872"/>
            <a:ext cx="377723" cy="262528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stCxn id="514" idx="2"/>
            <a:endCxn id="114" idx="0"/>
          </p:cNvCxnSpPr>
          <p:nvPr/>
        </p:nvCxnSpPr>
        <p:spPr>
          <a:xfrm>
            <a:off x="4979195" y="3630793"/>
            <a:ext cx="540468" cy="399749"/>
          </a:xfrm>
          <a:prstGeom prst="line">
            <a:avLst/>
          </a:prstGeom>
          <a:ln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855123" y="3829335"/>
            <a:ext cx="815939" cy="210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Prefill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1751" y="2283631"/>
            <a:ext cx="5104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Query </a:t>
            </a:r>
          </a:p>
          <a:p>
            <a:r>
              <a:rPr lang="en-US" altLang="ko-KR" sz="700" dirty="0"/>
              <a:t>Sample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4145978" y="3362400"/>
            <a:ext cx="537909" cy="268495"/>
            <a:chOff x="4285990" y="3495046"/>
            <a:chExt cx="537909" cy="268495"/>
          </a:xfrm>
        </p:grpSpPr>
        <p:sp>
          <p:nvSpPr>
            <p:cNvPr id="126" name="정육면체 125">
              <a:extLst>
                <a:ext uri="{FF2B5EF4-FFF2-40B4-BE49-F238E27FC236}">
                  <a16:creationId xmlns:a16="http://schemas.microsoft.com/office/drawing/2014/main" id="{D8A2C4AC-5603-4FC0-923C-423CDABE561C}"/>
                </a:ext>
              </a:extLst>
            </p:cNvPr>
            <p:cNvSpPr/>
            <p:nvPr/>
          </p:nvSpPr>
          <p:spPr>
            <a:xfrm>
              <a:off x="4285990" y="3495046"/>
              <a:ext cx="537909" cy="268495"/>
            </a:xfrm>
            <a:prstGeom prst="cub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22" name="직사각형 521">
              <a:extLst>
                <a:ext uri="{FF2B5EF4-FFF2-40B4-BE49-F238E27FC236}">
                  <a16:creationId xmlns:a16="http://schemas.microsoft.com/office/drawing/2014/main" id="{F7143A21-8ED8-4AC5-A6A4-96D0FBC8C3E9}"/>
                </a:ext>
              </a:extLst>
            </p:cNvPr>
            <p:cNvSpPr/>
            <p:nvPr/>
          </p:nvSpPr>
          <p:spPr>
            <a:xfrm>
              <a:off x="4584255" y="3559259"/>
              <a:ext cx="71604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23" name="평행 사변형 522">
              <a:extLst>
                <a:ext uri="{FF2B5EF4-FFF2-40B4-BE49-F238E27FC236}">
                  <a16:creationId xmlns:a16="http://schemas.microsoft.com/office/drawing/2014/main" id="{368C060F-6490-4EBA-BA02-AE74F5262BD4}"/>
                </a:ext>
              </a:extLst>
            </p:cNvPr>
            <p:cNvSpPr/>
            <p:nvPr/>
          </p:nvSpPr>
          <p:spPr>
            <a:xfrm>
              <a:off x="4586349" y="3496381"/>
              <a:ext cx="128871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24" name="직사각형 523">
              <a:extLst>
                <a:ext uri="{FF2B5EF4-FFF2-40B4-BE49-F238E27FC236}">
                  <a16:creationId xmlns:a16="http://schemas.microsoft.com/office/drawing/2014/main" id="{A63EB10E-1583-4496-9BFA-4DA8AFEB9710}"/>
                </a:ext>
              </a:extLst>
            </p:cNvPr>
            <p:cNvSpPr/>
            <p:nvPr/>
          </p:nvSpPr>
          <p:spPr>
            <a:xfrm>
              <a:off x="4337640" y="3559259"/>
              <a:ext cx="40039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25" name="평행 사변형 524">
              <a:extLst>
                <a:ext uri="{FF2B5EF4-FFF2-40B4-BE49-F238E27FC236}">
                  <a16:creationId xmlns:a16="http://schemas.microsoft.com/office/drawing/2014/main" id="{7FCE73C2-CA7D-487F-A907-6026692D4589}"/>
                </a:ext>
              </a:extLst>
            </p:cNvPr>
            <p:cNvSpPr/>
            <p:nvPr/>
          </p:nvSpPr>
          <p:spPr>
            <a:xfrm>
              <a:off x="4339137" y="3496381"/>
              <a:ext cx="87574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26" name="직사각형 525">
              <a:extLst>
                <a:ext uri="{FF2B5EF4-FFF2-40B4-BE49-F238E27FC236}">
                  <a16:creationId xmlns:a16="http://schemas.microsoft.com/office/drawing/2014/main" id="{45C4EE14-F23E-4895-A260-8843342F6ACE}"/>
                </a:ext>
              </a:extLst>
            </p:cNvPr>
            <p:cNvSpPr/>
            <p:nvPr/>
          </p:nvSpPr>
          <p:spPr>
            <a:xfrm>
              <a:off x="4393528" y="3559259"/>
              <a:ext cx="28115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527" name="평행 사변형 526">
              <a:extLst>
                <a:ext uri="{FF2B5EF4-FFF2-40B4-BE49-F238E27FC236}">
                  <a16:creationId xmlns:a16="http://schemas.microsoft.com/office/drawing/2014/main" id="{032BA945-0559-4A7E-A5FB-00F359C8B926}"/>
                </a:ext>
              </a:extLst>
            </p:cNvPr>
            <p:cNvSpPr/>
            <p:nvPr/>
          </p:nvSpPr>
          <p:spPr>
            <a:xfrm>
              <a:off x="4394653" y="3496381"/>
              <a:ext cx="85205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124" name="정육면체 123">
            <a:extLst>
              <a:ext uri="{FF2B5EF4-FFF2-40B4-BE49-F238E27FC236}">
                <a16:creationId xmlns:a16="http://schemas.microsoft.com/office/drawing/2014/main" id="{D8A2C4AC-5603-4FC0-923C-423CDABE561C}"/>
              </a:ext>
            </a:extLst>
          </p:cNvPr>
          <p:cNvSpPr/>
          <p:nvPr/>
        </p:nvSpPr>
        <p:spPr>
          <a:xfrm>
            <a:off x="4067164" y="2831377"/>
            <a:ext cx="904650" cy="268495"/>
          </a:xfrm>
          <a:prstGeom prst="cub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Context1 KV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5" name="정육면체 124">
            <a:extLst>
              <a:ext uri="{FF2B5EF4-FFF2-40B4-BE49-F238E27FC236}">
                <a16:creationId xmlns:a16="http://schemas.microsoft.com/office/drawing/2014/main" id="{D8A2C4AC-5603-4FC0-923C-423CDABE561C}"/>
              </a:ext>
            </a:extLst>
          </p:cNvPr>
          <p:cNvSpPr/>
          <p:nvPr/>
        </p:nvSpPr>
        <p:spPr>
          <a:xfrm>
            <a:off x="5005721" y="2831377"/>
            <a:ext cx="904650" cy="268495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Context2 KV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529" name="그룹 528"/>
          <p:cNvGrpSpPr/>
          <p:nvPr/>
        </p:nvGrpSpPr>
        <p:grpSpPr>
          <a:xfrm>
            <a:off x="3862321" y="4025250"/>
            <a:ext cx="2593077" cy="274230"/>
            <a:chOff x="3862321" y="4089279"/>
            <a:chExt cx="2593077" cy="274230"/>
          </a:xfrm>
        </p:grpSpPr>
        <p:sp>
          <p:nvSpPr>
            <p:cNvPr id="129" name="정육면체 128">
              <a:extLst>
                <a:ext uri="{FF2B5EF4-FFF2-40B4-BE49-F238E27FC236}">
                  <a16:creationId xmlns:a16="http://schemas.microsoft.com/office/drawing/2014/main" id="{D8A2C4AC-5603-4FC0-923C-423CDABE561C}"/>
                </a:ext>
              </a:extLst>
            </p:cNvPr>
            <p:cNvSpPr/>
            <p:nvPr/>
          </p:nvSpPr>
          <p:spPr>
            <a:xfrm>
              <a:off x="3862321" y="4089279"/>
              <a:ext cx="954787" cy="265836"/>
            </a:xfrm>
            <a:prstGeom prst="cub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System Prompt </a:t>
              </a:r>
            </a:p>
            <a:p>
              <a:pPr algn="ctr"/>
              <a:r>
                <a:rPr lang="en-US" altLang="ko-KR" sz="800" dirty="0">
                  <a:solidFill>
                    <a:srgbClr val="1F386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(or Prefix)</a:t>
              </a:r>
            </a:p>
          </p:txBody>
        </p:sp>
        <p:sp>
          <p:nvSpPr>
            <p:cNvPr id="103" name="정육면체 102">
              <a:extLst>
                <a:ext uri="{FF2B5EF4-FFF2-40B4-BE49-F238E27FC236}">
                  <a16:creationId xmlns:a16="http://schemas.microsoft.com/office/drawing/2014/main" id="{D8A2C4AC-5603-4FC0-923C-423CDABE561C}"/>
                </a:ext>
              </a:extLst>
            </p:cNvPr>
            <p:cNvSpPr/>
            <p:nvPr/>
          </p:nvSpPr>
          <p:spPr>
            <a:xfrm>
              <a:off x="4793938" y="4095014"/>
              <a:ext cx="473283" cy="268495"/>
            </a:xfrm>
            <a:prstGeom prst="cub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solidFill>
                  <a:schemeClr val="tx1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7143A21-8ED8-4AC5-A6A4-96D0FBC8C3E9}"/>
                </a:ext>
              </a:extLst>
            </p:cNvPr>
            <p:cNvSpPr/>
            <p:nvPr/>
          </p:nvSpPr>
          <p:spPr>
            <a:xfrm>
              <a:off x="5098064" y="4159886"/>
              <a:ext cx="71604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12" name="평행 사변형 111">
              <a:extLst>
                <a:ext uri="{FF2B5EF4-FFF2-40B4-BE49-F238E27FC236}">
                  <a16:creationId xmlns:a16="http://schemas.microsoft.com/office/drawing/2014/main" id="{368C060F-6490-4EBA-BA02-AE74F5262BD4}"/>
                </a:ext>
              </a:extLst>
            </p:cNvPr>
            <p:cNvSpPr/>
            <p:nvPr/>
          </p:nvSpPr>
          <p:spPr>
            <a:xfrm>
              <a:off x="5100156" y="4097008"/>
              <a:ext cx="118257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A63EB10E-1583-4496-9BFA-4DA8AFEB9710}"/>
                </a:ext>
              </a:extLst>
            </p:cNvPr>
            <p:cNvSpPr/>
            <p:nvPr/>
          </p:nvSpPr>
          <p:spPr>
            <a:xfrm>
              <a:off x="4851445" y="4159886"/>
              <a:ext cx="40039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10" name="평행 사변형 109">
              <a:extLst>
                <a:ext uri="{FF2B5EF4-FFF2-40B4-BE49-F238E27FC236}">
                  <a16:creationId xmlns:a16="http://schemas.microsoft.com/office/drawing/2014/main" id="{7FCE73C2-CA7D-487F-A907-6026692D4589}"/>
                </a:ext>
              </a:extLst>
            </p:cNvPr>
            <p:cNvSpPr/>
            <p:nvPr/>
          </p:nvSpPr>
          <p:spPr>
            <a:xfrm>
              <a:off x="4852944" y="4097008"/>
              <a:ext cx="87574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45C4EE14-F23E-4895-A260-8843342F6ACE}"/>
                </a:ext>
              </a:extLst>
            </p:cNvPr>
            <p:cNvSpPr/>
            <p:nvPr/>
          </p:nvSpPr>
          <p:spPr>
            <a:xfrm>
              <a:off x="4907332" y="4159886"/>
              <a:ext cx="28115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108" name="평행 사변형 107">
              <a:extLst>
                <a:ext uri="{FF2B5EF4-FFF2-40B4-BE49-F238E27FC236}">
                  <a16:creationId xmlns:a16="http://schemas.microsoft.com/office/drawing/2014/main" id="{032BA945-0559-4A7E-A5FB-00F359C8B926}"/>
                </a:ext>
              </a:extLst>
            </p:cNvPr>
            <p:cNvSpPr/>
            <p:nvPr/>
          </p:nvSpPr>
          <p:spPr>
            <a:xfrm>
              <a:off x="4908460" y="4097008"/>
              <a:ext cx="73469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3E9CFB8D-AC91-41FB-8F16-46729CDA8BC5}"/>
                </a:ext>
              </a:extLst>
            </p:cNvPr>
            <p:cNvGrpSpPr/>
            <p:nvPr/>
          </p:nvGrpSpPr>
          <p:grpSpPr>
            <a:xfrm>
              <a:off x="5249460" y="4094571"/>
              <a:ext cx="473283" cy="268498"/>
              <a:chOff x="5641559" y="3066298"/>
              <a:chExt cx="769620" cy="288912"/>
            </a:xfrm>
          </p:grpSpPr>
          <p:sp>
            <p:nvSpPr>
              <p:cNvPr id="114" name="정육면체 113">
                <a:extLst>
                  <a:ext uri="{FF2B5EF4-FFF2-40B4-BE49-F238E27FC236}">
                    <a16:creationId xmlns:a16="http://schemas.microsoft.com/office/drawing/2014/main" id="{18DD8ABD-522D-4B13-8E2D-73B036FED5E2}"/>
                  </a:ext>
                </a:extLst>
              </p:cNvPr>
              <p:cNvSpPr/>
              <p:nvPr/>
            </p:nvSpPr>
            <p:spPr>
              <a:xfrm>
                <a:off x="5641559" y="3066298"/>
                <a:ext cx="769620" cy="288909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058AACF9-7845-463C-834E-B729C6D403BD}"/>
                  </a:ext>
                </a:extLst>
              </p:cNvPr>
              <p:cNvGrpSpPr/>
              <p:nvPr/>
            </p:nvGrpSpPr>
            <p:grpSpPr>
              <a:xfrm>
                <a:off x="5965815" y="3068447"/>
                <a:ext cx="140421" cy="286763"/>
                <a:chOff x="5965815" y="3068447"/>
                <a:chExt cx="140421" cy="286763"/>
              </a:xfrm>
            </p:grpSpPr>
            <p:sp>
              <p:nvSpPr>
                <p:cNvPr id="122" name="직사각형 121">
                  <a:extLst>
                    <a:ext uri="{FF2B5EF4-FFF2-40B4-BE49-F238E27FC236}">
                      <a16:creationId xmlns:a16="http://schemas.microsoft.com/office/drawing/2014/main" id="{7F3017A2-63F4-4CEB-99FF-DE8D3CE5DE0B}"/>
                    </a:ext>
                  </a:extLst>
                </p:cNvPr>
                <p:cNvSpPr/>
                <p:nvPr/>
              </p:nvSpPr>
              <p:spPr>
                <a:xfrm>
                  <a:off x="5965815" y="3136106"/>
                  <a:ext cx="65108" cy="21910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23" name="평행 사변형 122">
                  <a:extLst>
                    <a:ext uri="{FF2B5EF4-FFF2-40B4-BE49-F238E27FC236}">
                      <a16:creationId xmlns:a16="http://schemas.microsoft.com/office/drawing/2014/main" id="{610C6AE8-9660-49A6-82AF-6BF73575817D}"/>
                    </a:ext>
                  </a:extLst>
                </p:cNvPr>
                <p:cNvSpPr/>
                <p:nvPr/>
              </p:nvSpPr>
              <p:spPr>
                <a:xfrm>
                  <a:off x="5968252" y="3068447"/>
                  <a:ext cx="137984" cy="65892"/>
                </a:xfrm>
                <a:prstGeom prst="parallelogram">
                  <a:avLst>
                    <a:gd name="adj" fmla="val 86824"/>
                  </a:avLst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0D5CC3C0-3743-4B11-8A30-91C492EFA778}"/>
                  </a:ext>
                </a:extLst>
              </p:cNvPr>
              <p:cNvGrpSpPr/>
              <p:nvPr/>
            </p:nvGrpSpPr>
            <p:grpSpPr>
              <a:xfrm>
                <a:off x="5726404" y="3068447"/>
                <a:ext cx="142313" cy="286763"/>
                <a:chOff x="5965815" y="3068447"/>
                <a:chExt cx="142313" cy="286763"/>
              </a:xfrm>
            </p:grpSpPr>
            <p:sp>
              <p:nvSpPr>
                <p:cNvPr id="120" name="직사각형 119">
                  <a:extLst>
                    <a:ext uri="{FF2B5EF4-FFF2-40B4-BE49-F238E27FC236}">
                      <a16:creationId xmlns:a16="http://schemas.microsoft.com/office/drawing/2014/main" id="{3AC86B5C-AD2E-4387-AA3C-F4E84A2FCB7E}"/>
                    </a:ext>
                  </a:extLst>
                </p:cNvPr>
                <p:cNvSpPr/>
                <p:nvPr/>
              </p:nvSpPr>
              <p:spPr>
                <a:xfrm>
                  <a:off x="5965815" y="3136106"/>
                  <a:ext cx="65108" cy="21910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sp>
              <p:nvSpPr>
                <p:cNvPr id="121" name="평행 사변형 120">
                  <a:extLst>
                    <a:ext uri="{FF2B5EF4-FFF2-40B4-BE49-F238E27FC236}">
                      <a16:creationId xmlns:a16="http://schemas.microsoft.com/office/drawing/2014/main" id="{B3765626-2883-4C43-8A39-8C822D03B0F6}"/>
                    </a:ext>
                  </a:extLst>
                </p:cNvPr>
                <p:cNvSpPr/>
                <p:nvPr/>
              </p:nvSpPr>
              <p:spPr>
                <a:xfrm>
                  <a:off x="5968252" y="3068447"/>
                  <a:ext cx="139876" cy="65892"/>
                </a:xfrm>
                <a:prstGeom prst="parallelogram">
                  <a:avLst>
                    <a:gd name="adj" fmla="val 86824"/>
                  </a:avLst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510050EA-F0C2-420A-B3AD-C6B6D6BCB49B}"/>
                  </a:ext>
                </a:extLst>
              </p:cNvPr>
              <p:cNvGrpSpPr/>
              <p:nvPr/>
            </p:nvGrpSpPr>
            <p:grpSpPr>
              <a:xfrm>
                <a:off x="6142241" y="3068447"/>
                <a:ext cx="127339" cy="286763"/>
                <a:chOff x="5965815" y="3068447"/>
                <a:chExt cx="169257" cy="286763"/>
              </a:xfrm>
            </p:grpSpPr>
            <p:sp>
              <p:nvSpPr>
                <p:cNvPr id="118" name="직사각형 117">
                  <a:extLst>
                    <a:ext uri="{FF2B5EF4-FFF2-40B4-BE49-F238E27FC236}">
                      <a16:creationId xmlns:a16="http://schemas.microsoft.com/office/drawing/2014/main" id="{39086A5E-21D2-42F5-9D94-1155FFC4ABF4}"/>
                    </a:ext>
                  </a:extLst>
                </p:cNvPr>
                <p:cNvSpPr/>
                <p:nvPr/>
              </p:nvSpPr>
              <p:spPr>
                <a:xfrm>
                  <a:off x="5965815" y="3136106"/>
                  <a:ext cx="60769" cy="219104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/>
                </a:p>
              </p:txBody>
            </p:sp>
            <p:sp>
              <p:nvSpPr>
                <p:cNvPr id="119" name="평행 사변형 118">
                  <a:extLst>
                    <a:ext uri="{FF2B5EF4-FFF2-40B4-BE49-F238E27FC236}">
                      <a16:creationId xmlns:a16="http://schemas.microsoft.com/office/drawing/2014/main" id="{953A130F-66E7-4221-8AEC-4A4BB47B537C}"/>
                    </a:ext>
                  </a:extLst>
                </p:cNvPr>
                <p:cNvSpPr/>
                <p:nvPr/>
              </p:nvSpPr>
              <p:spPr>
                <a:xfrm>
                  <a:off x="5968237" y="3068447"/>
                  <a:ext cx="166835" cy="65892"/>
                </a:xfrm>
                <a:prstGeom prst="parallelogram">
                  <a:avLst>
                    <a:gd name="adj" fmla="val 86824"/>
                  </a:avLst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</p:grpSp>
        </p:grpSp>
        <p:sp>
          <p:nvSpPr>
            <p:cNvPr id="128" name="정육면체 127">
              <a:extLst>
                <a:ext uri="{FF2B5EF4-FFF2-40B4-BE49-F238E27FC236}">
                  <a16:creationId xmlns:a16="http://schemas.microsoft.com/office/drawing/2014/main" id="{D8A2C4AC-5603-4FC0-923C-423CDABE561C}"/>
                </a:ext>
              </a:extLst>
            </p:cNvPr>
            <p:cNvSpPr/>
            <p:nvPr/>
          </p:nvSpPr>
          <p:spPr>
            <a:xfrm>
              <a:off x="5678858" y="4089279"/>
              <a:ext cx="776540" cy="265836"/>
            </a:xfrm>
            <a:prstGeom prst="cub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User Query 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9" name="정육면체 148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4627127" y="2337045"/>
            <a:ext cx="374341" cy="209629"/>
          </a:xfrm>
          <a:prstGeom prst="cub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</a:t>
            </a:r>
          </a:p>
        </p:txBody>
      </p:sp>
      <p:sp>
        <p:nvSpPr>
          <p:cNvPr id="150" name="정육면체 149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5285602" y="2337045"/>
            <a:ext cx="381781" cy="209629"/>
          </a:xfrm>
          <a:prstGeom prst="cub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#n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4660905" y="3639569"/>
            <a:ext cx="699119" cy="1242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700" dirty="0"/>
              <a:t>Comp. KV 2</a:t>
            </a:r>
            <a:endParaRPr lang="ko-KR" altLang="en-US" sz="700" dirty="0"/>
          </a:p>
        </p:txBody>
      </p:sp>
      <p:sp>
        <p:nvSpPr>
          <p:cNvPr id="521" name="TextBox 520"/>
          <p:cNvSpPr txBox="1"/>
          <p:nvPr/>
        </p:nvSpPr>
        <p:spPr>
          <a:xfrm>
            <a:off x="4037377" y="3601651"/>
            <a:ext cx="699119" cy="20005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700" dirty="0"/>
              <a:t>Comp. KV 1</a:t>
            </a:r>
            <a:endParaRPr lang="ko-KR" altLang="en-US" sz="700" dirty="0"/>
          </a:p>
        </p:txBody>
      </p:sp>
      <p:grpSp>
        <p:nvGrpSpPr>
          <p:cNvPr id="19" name="그룹 18"/>
          <p:cNvGrpSpPr/>
          <p:nvPr/>
        </p:nvGrpSpPr>
        <p:grpSpPr>
          <a:xfrm>
            <a:off x="4744245" y="3362400"/>
            <a:ext cx="537909" cy="268495"/>
            <a:chOff x="4911738" y="3495046"/>
            <a:chExt cx="537909" cy="268495"/>
          </a:xfrm>
        </p:grpSpPr>
        <p:sp>
          <p:nvSpPr>
            <p:cNvPr id="127" name="정육면체 126">
              <a:extLst>
                <a:ext uri="{FF2B5EF4-FFF2-40B4-BE49-F238E27FC236}">
                  <a16:creationId xmlns:a16="http://schemas.microsoft.com/office/drawing/2014/main" id="{D8A2C4AC-5603-4FC0-923C-423CDABE561C}"/>
                </a:ext>
              </a:extLst>
            </p:cNvPr>
            <p:cNvSpPr/>
            <p:nvPr/>
          </p:nvSpPr>
          <p:spPr>
            <a:xfrm>
              <a:off x="4911738" y="3495046"/>
              <a:ext cx="537909" cy="268495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514" name="직사각형 513">
              <a:extLst>
                <a:ext uri="{FF2B5EF4-FFF2-40B4-BE49-F238E27FC236}">
                  <a16:creationId xmlns:a16="http://schemas.microsoft.com/office/drawing/2014/main" id="{7F3017A2-63F4-4CEB-99FF-DE8D3CE5DE0B}"/>
                </a:ext>
              </a:extLst>
            </p:cNvPr>
            <p:cNvSpPr/>
            <p:nvPr/>
          </p:nvSpPr>
          <p:spPr>
            <a:xfrm>
              <a:off x="5126668" y="3559816"/>
              <a:ext cx="40039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5" name="평행 사변형 514">
              <a:extLst>
                <a:ext uri="{FF2B5EF4-FFF2-40B4-BE49-F238E27FC236}">
                  <a16:creationId xmlns:a16="http://schemas.microsoft.com/office/drawing/2014/main" id="{610C6AE8-9660-49A6-82AF-6BF73575817D}"/>
                </a:ext>
              </a:extLst>
            </p:cNvPr>
            <p:cNvSpPr/>
            <p:nvPr/>
          </p:nvSpPr>
          <p:spPr>
            <a:xfrm>
              <a:off x="5128167" y="3496938"/>
              <a:ext cx="84854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6" name="직사각형 515">
              <a:extLst>
                <a:ext uri="{FF2B5EF4-FFF2-40B4-BE49-F238E27FC236}">
                  <a16:creationId xmlns:a16="http://schemas.microsoft.com/office/drawing/2014/main" id="{3AC86B5C-AD2E-4387-AA3C-F4E84A2FCB7E}"/>
                </a:ext>
              </a:extLst>
            </p:cNvPr>
            <p:cNvSpPr/>
            <p:nvPr/>
          </p:nvSpPr>
          <p:spPr>
            <a:xfrm>
              <a:off x="4979441" y="3559816"/>
              <a:ext cx="40038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7" name="평행 사변형 516">
              <a:extLst>
                <a:ext uri="{FF2B5EF4-FFF2-40B4-BE49-F238E27FC236}">
                  <a16:creationId xmlns:a16="http://schemas.microsoft.com/office/drawing/2014/main" id="{B3765626-2883-4C43-8A39-8C822D03B0F6}"/>
                </a:ext>
              </a:extLst>
            </p:cNvPr>
            <p:cNvSpPr/>
            <p:nvPr/>
          </p:nvSpPr>
          <p:spPr>
            <a:xfrm>
              <a:off x="4980940" y="3496938"/>
              <a:ext cx="86017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518" name="직사각형 517">
              <a:extLst>
                <a:ext uri="{FF2B5EF4-FFF2-40B4-BE49-F238E27FC236}">
                  <a16:creationId xmlns:a16="http://schemas.microsoft.com/office/drawing/2014/main" id="{39086A5E-21D2-42F5-9D94-1155FFC4ABF4}"/>
                </a:ext>
              </a:extLst>
            </p:cNvPr>
            <p:cNvSpPr/>
            <p:nvPr/>
          </p:nvSpPr>
          <p:spPr>
            <a:xfrm>
              <a:off x="5235163" y="3559816"/>
              <a:ext cx="28115" cy="20362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519" name="평행 사변형 518">
              <a:extLst>
                <a:ext uri="{FF2B5EF4-FFF2-40B4-BE49-F238E27FC236}">
                  <a16:creationId xmlns:a16="http://schemas.microsoft.com/office/drawing/2014/main" id="{953A130F-66E7-4221-8AEC-4A4BB47B537C}"/>
                </a:ext>
              </a:extLst>
            </p:cNvPr>
            <p:cNvSpPr/>
            <p:nvPr/>
          </p:nvSpPr>
          <p:spPr>
            <a:xfrm>
              <a:off x="5236284" y="3496938"/>
              <a:ext cx="77187" cy="61236"/>
            </a:xfrm>
            <a:prstGeom prst="parallelogram">
              <a:avLst>
                <a:gd name="adj" fmla="val 86824"/>
              </a:avLst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227" name="정육면체 226">
            <a:extLst>
              <a:ext uri="{FF2B5EF4-FFF2-40B4-BE49-F238E27FC236}">
                <a16:creationId xmlns:a16="http://schemas.microsoft.com/office/drawing/2014/main" id="{84AD227C-41E7-4D5B-B6DE-C8804D2E6632}"/>
              </a:ext>
            </a:extLst>
          </p:cNvPr>
          <p:cNvSpPr/>
          <p:nvPr/>
        </p:nvSpPr>
        <p:spPr>
          <a:xfrm>
            <a:off x="5308325" y="3358396"/>
            <a:ext cx="587415" cy="271425"/>
          </a:xfrm>
          <a:prstGeom prst="cube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800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KV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844632" y="3336389"/>
            <a:ext cx="499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KV </a:t>
            </a:r>
          </a:p>
          <a:p>
            <a:pPr algn="ctr"/>
            <a:r>
              <a:rPr lang="en-US" altLang="ko-KR" sz="700" dirty="0"/>
              <a:t>Sample</a:t>
            </a:r>
          </a:p>
        </p:txBody>
      </p:sp>
      <p:grpSp>
        <p:nvGrpSpPr>
          <p:cNvPr id="79" name="그룹 78"/>
          <p:cNvGrpSpPr/>
          <p:nvPr/>
        </p:nvGrpSpPr>
        <p:grpSpPr>
          <a:xfrm>
            <a:off x="3839968" y="1998105"/>
            <a:ext cx="2671828" cy="2452566"/>
            <a:chOff x="3839968" y="2177307"/>
            <a:chExt cx="2671828" cy="2452566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3839968" y="2292215"/>
              <a:ext cx="2671828" cy="2337658"/>
            </a:xfrm>
            <a:prstGeom prst="roundRect">
              <a:avLst>
                <a:gd name="adj" fmla="val 379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4642188" y="2177307"/>
              <a:ext cx="949110" cy="2341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&lt;</a:t>
              </a:r>
              <a:r>
                <a:rPr lang="ko-KR" altLang="en-US" sz="1050" dirty="0">
                  <a:solidFill>
                    <a:schemeClr val="tx1"/>
                  </a:solidFill>
                </a:rPr>
                <a:t>시나리오</a:t>
              </a:r>
              <a:r>
                <a:rPr lang="en-US" altLang="ko-KR" sz="1050" dirty="0">
                  <a:solidFill>
                    <a:schemeClr val="tx1"/>
                  </a:solidFill>
                </a:rPr>
                <a:t>&gt; 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2" name="그룹 531"/>
          <p:cNvGrpSpPr/>
          <p:nvPr/>
        </p:nvGrpSpPr>
        <p:grpSpPr>
          <a:xfrm>
            <a:off x="9141264" y="1998105"/>
            <a:ext cx="2751725" cy="2452566"/>
            <a:chOff x="9141264" y="2177307"/>
            <a:chExt cx="2751725" cy="2452566"/>
          </a:xfrm>
        </p:grpSpPr>
        <p:grpSp>
          <p:nvGrpSpPr>
            <p:cNvPr id="10" name="그룹 9"/>
            <p:cNvGrpSpPr/>
            <p:nvPr/>
          </p:nvGrpSpPr>
          <p:grpSpPr>
            <a:xfrm>
              <a:off x="9192241" y="2522814"/>
              <a:ext cx="2631913" cy="1950987"/>
              <a:chOff x="9201224" y="2229331"/>
              <a:chExt cx="2631913" cy="1950987"/>
            </a:xfrm>
          </p:grpSpPr>
          <p:sp>
            <p:nvSpPr>
              <p:cNvPr id="223" name="정육면체 222">
                <a:extLst>
                  <a:ext uri="{FF2B5EF4-FFF2-40B4-BE49-F238E27FC236}">
                    <a16:creationId xmlns:a16="http://schemas.microsoft.com/office/drawing/2014/main" id="{D8A2C4AC-5603-4FC0-923C-423CDABE561C}"/>
                  </a:ext>
                </a:extLst>
              </p:cNvPr>
              <p:cNvSpPr/>
              <p:nvPr/>
            </p:nvSpPr>
            <p:spPr>
              <a:xfrm>
                <a:off x="9201224" y="3888348"/>
                <a:ext cx="959436" cy="283037"/>
              </a:xfrm>
              <a:prstGeom prst="cub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System Prompt </a:t>
                </a:r>
              </a:p>
              <a:p>
                <a:pPr algn="ctr"/>
                <a:r>
                  <a:rPr lang="en-US" altLang="ko-KR" sz="800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(Prefix Cache)</a:t>
                </a:r>
              </a:p>
            </p:txBody>
          </p:sp>
          <p:cxnSp>
            <p:nvCxnSpPr>
              <p:cNvPr id="131" name="직선 연결선 130"/>
              <p:cNvCxnSpPr>
                <a:stCxn id="151" idx="3"/>
                <a:endCxn id="147" idx="0"/>
              </p:cNvCxnSpPr>
              <p:nvPr/>
            </p:nvCxnSpPr>
            <p:spPr>
              <a:xfrm flipH="1">
                <a:off x="9864115" y="2452524"/>
                <a:ext cx="376499" cy="192122"/>
              </a:xfrm>
              <a:prstGeom prst="line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직선 연결선 132"/>
              <p:cNvCxnSpPr>
                <a:stCxn id="176" idx="3"/>
                <a:endCxn id="201" idx="0"/>
              </p:cNvCxnSpPr>
              <p:nvPr/>
            </p:nvCxnSpPr>
            <p:spPr>
              <a:xfrm>
                <a:off x="9683928" y="3518931"/>
                <a:ext cx="724112" cy="375520"/>
              </a:xfrm>
              <a:prstGeom prst="line">
                <a:avLst/>
              </a:prstGeom>
              <a:ln>
                <a:solidFill>
                  <a:schemeClr val="accent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/>
              <p:cNvCxnSpPr>
                <a:stCxn id="151" idx="3"/>
                <a:endCxn id="148" idx="0"/>
              </p:cNvCxnSpPr>
              <p:nvPr/>
            </p:nvCxnSpPr>
            <p:spPr>
              <a:xfrm>
                <a:off x="10240614" y="2452524"/>
                <a:ext cx="562680" cy="192122"/>
              </a:xfrm>
              <a:prstGeom prst="line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/>
              <p:cNvCxnSpPr>
                <a:stCxn id="166" idx="3"/>
                <a:endCxn id="212" idx="0"/>
              </p:cNvCxnSpPr>
              <p:nvPr/>
            </p:nvCxnSpPr>
            <p:spPr>
              <a:xfrm>
                <a:off x="10626066" y="3518931"/>
                <a:ext cx="243822" cy="375051"/>
              </a:xfrm>
              <a:prstGeom prst="line">
                <a:avLst/>
              </a:prstGeom>
              <a:ln>
                <a:solidFill>
                  <a:schemeClr val="accent6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정육면체 146">
                <a:extLst>
                  <a:ext uri="{FF2B5EF4-FFF2-40B4-BE49-F238E27FC236}">
                    <a16:creationId xmlns:a16="http://schemas.microsoft.com/office/drawing/2014/main" id="{D8A2C4AC-5603-4FC0-923C-423CDABE561C}"/>
                  </a:ext>
                </a:extLst>
              </p:cNvPr>
              <p:cNvSpPr/>
              <p:nvPr/>
            </p:nvSpPr>
            <p:spPr>
              <a:xfrm>
                <a:off x="9375756" y="2644646"/>
                <a:ext cx="905251" cy="285867"/>
              </a:xfrm>
              <a:prstGeom prst="cub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/>
                    </a:solidFill>
                  </a:rPr>
                  <a:t>Context1 KV</a:t>
                </a:r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정육면체 147">
                <a:extLst>
                  <a:ext uri="{FF2B5EF4-FFF2-40B4-BE49-F238E27FC236}">
                    <a16:creationId xmlns:a16="http://schemas.microsoft.com/office/drawing/2014/main" id="{D8A2C4AC-5603-4FC0-923C-423CDABE561C}"/>
                  </a:ext>
                </a:extLst>
              </p:cNvPr>
              <p:cNvSpPr/>
              <p:nvPr/>
            </p:nvSpPr>
            <p:spPr>
              <a:xfrm>
                <a:off x="10314935" y="2644646"/>
                <a:ext cx="905251" cy="285867"/>
              </a:xfrm>
              <a:prstGeom prst="cub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solidFill>
                      <a:schemeClr val="tx1"/>
                    </a:solidFill>
                  </a:rPr>
                  <a:t>Context2 KV</a:t>
                </a:r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1" name="정육면체 150">
                <a:extLst>
                  <a:ext uri="{FF2B5EF4-FFF2-40B4-BE49-F238E27FC236}">
                    <a16:creationId xmlns:a16="http://schemas.microsoft.com/office/drawing/2014/main" id="{84AD227C-41E7-4D5B-B6DE-C8804D2E6632}"/>
                  </a:ext>
                </a:extLst>
              </p:cNvPr>
              <p:cNvSpPr/>
              <p:nvPr/>
            </p:nvSpPr>
            <p:spPr>
              <a:xfrm>
                <a:off x="9835517" y="2229331"/>
                <a:ext cx="865992" cy="223193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A6A6A6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900" dirty="0">
                    <a:solidFill>
                      <a:srgbClr val="1F3864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User Query</a:t>
                </a:r>
              </a:p>
            </p:txBody>
          </p:sp>
          <p:grpSp>
            <p:nvGrpSpPr>
              <p:cNvPr id="152" name="그룹 151"/>
              <p:cNvGrpSpPr/>
              <p:nvPr/>
            </p:nvGrpSpPr>
            <p:grpSpPr>
              <a:xfrm>
                <a:off x="9268851" y="3233063"/>
                <a:ext cx="1844353" cy="285869"/>
                <a:chOff x="8667143" y="3152628"/>
                <a:chExt cx="2332139" cy="304338"/>
              </a:xfrm>
            </p:grpSpPr>
            <p:grpSp>
              <p:nvGrpSpPr>
                <p:cNvPr id="153" name="그룹 152">
                  <a:extLst>
                    <a:ext uri="{FF2B5EF4-FFF2-40B4-BE49-F238E27FC236}">
                      <a16:creationId xmlns:a16="http://schemas.microsoft.com/office/drawing/2014/main" id="{3E9CFB8D-AC91-41FB-8F16-46729CDA8BC5}"/>
                    </a:ext>
                  </a:extLst>
                </p:cNvPr>
                <p:cNvGrpSpPr/>
                <p:nvPr/>
              </p:nvGrpSpPr>
              <p:grpSpPr>
                <a:xfrm>
                  <a:off x="8667143" y="3152628"/>
                  <a:ext cx="1140078" cy="304338"/>
                  <a:chOff x="4990624" y="3066300"/>
                  <a:chExt cx="769620" cy="288910"/>
                </a:xfrm>
              </p:grpSpPr>
              <p:sp>
                <p:nvSpPr>
                  <p:cNvPr id="176" name="정육면체 175">
                    <a:extLst>
                      <a:ext uri="{FF2B5EF4-FFF2-40B4-BE49-F238E27FC236}">
                        <a16:creationId xmlns:a16="http://schemas.microsoft.com/office/drawing/2014/main" id="{D8A2C4AC-5603-4FC0-923C-423CDABE561C}"/>
                      </a:ext>
                    </a:extLst>
                  </p:cNvPr>
                  <p:cNvSpPr/>
                  <p:nvPr/>
                </p:nvSpPr>
                <p:spPr>
                  <a:xfrm>
                    <a:off x="4990624" y="3066300"/>
                    <a:ext cx="769620" cy="288909"/>
                  </a:xfrm>
                  <a:prstGeom prst="cub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77" name="그룹 176">
                    <a:extLst>
                      <a:ext uri="{FF2B5EF4-FFF2-40B4-BE49-F238E27FC236}">
                        <a16:creationId xmlns:a16="http://schemas.microsoft.com/office/drawing/2014/main" id="{30B6DB89-CCC7-4B6C-B78B-382C4DD16D00}"/>
                      </a:ext>
                    </a:extLst>
                  </p:cNvPr>
                  <p:cNvGrpSpPr/>
                  <p:nvPr/>
                </p:nvGrpSpPr>
                <p:grpSpPr>
                  <a:xfrm>
                    <a:off x="5009519" y="3068447"/>
                    <a:ext cx="718215" cy="286763"/>
                    <a:chOff x="5624930" y="3068447"/>
                    <a:chExt cx="514672" cy="286763"/>
                  </a:xfrm>
                </p:grpSpPr>
                <p:sp>
                  <p:nvSpPr>
                    <p:cNvPr id="184" name="직사각형 183">
                      <a:extLst>
                        <a:ext uri="{FF2B5EF4-FFF2-40B4-BE49-F238E27FC236}">
                          <a16:creationId xmlns:a16="http://schemas.microsoft.com/office/drawing/2014/main" id="{F7143A21-8ED8-4AC5-A6A4-96D0FBC8C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5815" y="3136106"/>
                      <a:ext cx="83440" cy="219104"/>
                    </a:xfrm>
                    <a:prstGeom prst="rect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5" name="평행 사변형 184">
                      <a:extLst>
                        <a:ext uri="{FF2B5EF4-FFF2-40B4-BE49-F238E27FC236}">
                          <a16:creationId xmlns:a16="http://schemas.microsoft.com/office/drawing/2014/main" id="{368C060F-6490-4EBA-BA02-AE74F526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253" y="3068447"/>
                      <a:ext cx="111523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6" name="직사각형 185">
                      <a:extLst>
                        <a:ext uri="{FF2B5EF4-FFF2-40B4-BE49-F238E27FC236}">
                          <a16:creationId xmlns:a16="http://schemas.microsoft.com/office/drawing/2014/main" id="{F7143A21-8ED8-4AC5-A6A4-96D0FBC8C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6880" y="3136106"/>
                      <a:ext cx="37739" cy="2191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7" name="평행 사변형 186">
                      <a:extLst>
                        <a:ext uri="{FF2B5EF4-FFF2-40B4-BE49-F238E27FC236}">
                          <a16:creationId xmlns:a16="http://schemas.microsoft.com/office/drawing/2014/main" id="{368C060F-6490-4EBA-BA02-AE74F526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09318" y="3068447"/>
                      <a:ext cx="64739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8" name="직사각형 187">
                      <a:extLst>
                        <a:ext uri="{FF2B5EF4-FFF2-40B4-BE49-F238E27FC236}">
                          <a16:creationId xmlns:a16="http://schemas.microsoft.com/office/drawing/2014/main" id="{F7143A21-8ED8-4AC5-A6A4-96D0FBC8C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28889" y="3136106"/>
                      <a:ext cx="37739" cy="2191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9" name="평행 사변형 188">
                      <a:extLst>
                        <a:ext uri="{FF2B5EF4-FFF2-40B4-BE49-F238E27FC236}">
                          <a16:creationId xmlns:a16="http://schemas.microsoft.com/office/drawing/2014/main" id="{368C060F-6490-4EBA-BA02-AE74F526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31328" y="3068447"/>
                      <a:ext cx="64739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0" name="직사각형 189">
                      <a:extLst>
                        <a:ext uri="{FF2B5EF4-FFF2-40B4-BE49-F238E27FC236}">
                          <a16:creationId xmlns:a16="http://schemas.microsoft.com/office/drawing/2014/main" id="{F7143A21-8ED8-4AC5-A6A4-96D0FBC8C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4930" y="3136106"/>
                      <a:ext cx="37739" cy="2191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1" name="평행 사변형 190">
                      <a:extLst>
                        <a:ext uri="{FF2B5EF4-FFF2-40B4-BE49-F238E27FC236}">
                          <a16:creationId xmlns:a16="http://schemas.microsoft.com/office/drawing/2014/main" id="{368C060F-6490-4EBA-BA02-AE74F526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7369" y="3068447"/>
                      <a:ext cx="64739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F7143A21-8ED8-4AC5-A6A4-96D0FBC8C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2424" y="3136106"/>
                      <a:ext cx="37739" cy="219104"/>
                    </a:xfrm>
                    <a:prstGeom prst="rect">
                      <a:avLst/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93" name="평행 사변형 192">
                      <a:extLst>
                        <a:ext uri="{FF2B5EF4-FFF2-40B4-BE49-F238E27FC236}">
                          <a16:creationId xmlns:a16="http://schemas.microsoft.com/office/drawing/2014/main" id="{368C060F-6490-4EBA-BA02-AE74F5262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74863" y="3068447"/>
                      <a:ext cx="64739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rgbClr val="FFFF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78" name="그룹 177">
                    <a:extLst>
                      <a:ext uri="{FF2B5EF4-FFF2-40B4-BE49-F238E27FC236}">
                        <a16:creationId xmlns:a16="http://schemas.microsoft.com/office/drawing/2014/main" id="{80A761AC-783D-427D-BF0E-80EB21468F4B}"/>
                      </a:ext>
                    </a:extLst>
                  </p:cNvPr>
                  <p:cNvGrpSpPr/>
                  <p:nvPr/>
                </p:nvGrpSpPr>
                <p:grpSpPr>
                  <a:xfrm>
                    <a:off x="5085792" y="3068447"/>
                    <a:ext cx="94172" cy="286763"/>
                    <a:chOff x="5967469" y="3068447"/>
                    <a:chExt cx="94172" cy="286763"/>
                  </a:xfrm>
                </p:grpSpPr>
                <p:sp>
                  <p:nvSpPr>
                    <p:cNvPr id="182" name="직사각형 181">
                      <a:extLst>
                        <a:ext uri="{FF2B5EF4-FFF2-40B4-BE49-F238E27FC236}">
                          <a16:creationId xmlns:a16="http://schemas.microsoft.com/office/drawing/2014/main" id="{A63EB10E-1583-4496-9BFA-4DA8AFEB97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7469" y="3136106"/>
                      <a:ext cx="51504" cy="219104"/>
                    </a:xfrm>
                    <a:prstGeom prst="rect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sp>
                  <p:nvSpPr>
                    <p:cNvPr id="183" name="평행 사변형 182">
                      <a:extLst>
                        <a:ext uri="{FF2B5EF4-FFF2-40B4-BE49-F238E27FC236}">
                          <a16:creationId xmlns:a16="http://schemas.microsoft.com/office/drawing/2014/main" id="{7FCE73C2-CA7D-487F-A907-6026692D45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253" y="3068447"/>
                      <a:ext cx="93388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  <p:grpSp>
                <p:nvGrpSpPr>
                  <p:cNvPr id="179" name="그룹 178">
                    <a:extLst>
                      <a:ext uri="{FF2B5EF4-FFF2-40B4-BE49-F238E27FC236}">
                        <a16:creationId xmlns:a16="http://schemas.microsoft.com/office/drawing/2014/main" id="{FAFDDF61-4920-43E4-976E-4556AD73AA53}"/>
                      </a:ext>
                    </a:extLst>
                  </p:cNvPr>
                  <p:cNvGrpSpPr/>
                  <p:nvPr/>
                </p:nvGrpSpPr>
                <p:grpSpPr>
                  <a:xfrm>
                    <a:off x="5175021" y="3068447"/>
                    <a:ext cx="121304" cy="286763"/>
                    <a:chOff x="5965815" y="3068447"/>
                    <a:chExt cx="161236" cy="286763"/>
                  </a:xfrm>
                </p:grpSpPr>
                <p:sp>
                  <p:nvSpPr>
                    <p:cNvPr id="180" name="직사각형 179">
                      <a:extLst>
                        <a:ext uri="{FF2B5EF4-FFF2-40B4-BE49-F238E27FC236}">
                          <a16:creationId xmlns:a16="http://schemas.microsoft.com/office/drawing/2014/main" id="{45C4EE14-F23E-4895-A260-8843342F6A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5815" y="3136106"/>
                      <a:ext cx="108422" cy="219104"/>
                    </a:xfrm>
                    <a:prstGeom prst="rect">
                      <a:avLst/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 dirty="0"/>
                    </a:p>
                  </p:txBody>
                </p:sp>
                <p:sp>
                  <p:nvSpPr>
                    <p:cNvPr id="181" name="평행 사변형 180">
                      <a:extLst>
                        <a:ext uri="{FF2B5EF4-FFF2-40B4-BE49-F238E27FC236}">
                          <a16:creationId xmlns:a16="http://schemas.microsoft.com/office/drawing/2014/main" id="{032BA945-0559-4A7E-A5FB-00F359C8B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68253" y="3068447"/>
                      <a:ext cx="158798" cy="65892"/>
                    </a:xfrm>
                    <a:prstGeom prst="parallelogram">
                      <a:avLst>
                        <a:gd name="adj" fmla="val 86824"/>
                      </a:avLst>
                    </a:prstGeom>
                    <a:solidFill>
                      <a:schemeClr val="accent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</p:grpSp>
            </p:grpSp>
            <p:grpSp>
              <p:nvGrpSpPr>
                <p:cNvPr id="154" name="그룹 153"/>
                <p:cNvGrpSpPr/>
                <p:nvPr/>
              </p:nvGrpSpPr>
              <p:grpSpPr>
                <a:xfrm>
                  <a:off x="9857701" y="3152629"/>
                  <a:ext cx="1141581" cy="304336"/>
                  <a:chOff x="9857701" y="3160554"/>
                  <a:chExt cx="1141581" cy="304336"/>
                </a:xfrm>
              </p:grpSpPr>
              <p:grpSp>
                <p:nvGrpSpPr>
                  <p:cNvPr id="155" name="그룹 154">
                    <a:extLst>
                      <a:ext uri="{FF2B5EF4-FFF2-40B4-BE49-F238E27FC236}">
                        <a16:creationId xmlns:a16="http://schemas.microsoft.com/office/drawing/2014/main" id="{3E9CFB8D-AC91-41FB-8F16-46729CDA8BC5}"/>
                      </a:ext>
                    </a:extLst>
                  </p:cNvPr>
                  <p:cNvGrpSpPr/>
                  <p:nvPr/>
                </p:nvGrpSpPr>
                <p:grpSpPr>
                  <a:xfrm>
                    <a:off x="9857701" y="3160554"/>
                    <a:ext cx="1141581" cy="304336"/>
                    <a:chOff x="5682297" y="3066301"/>
                    <a:chExt cx="769620" cy="288909"/>
                  </a:xfrm>
                </p:grpSpPr>
                <p:sp>
                  <p:nvSpPr>
                    <p:cNvPr id="166" name="정육면체 165">
                      <a:extLst>
                        <a:ext uri="{FF2B5EF4-FFF2-40B4-BE49-F238E27FC236}">
                          <a16:creationId xmlns:a16="http://schemas.microsoft.com/office/drawing/2014/main" id="{18DD8ABD-522D-4B13-8E2D-73B036FED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82297" y="3066301"/>
                      <a:ext cx="769620" cy="288909"/>
                    </a:xfrm>
                    <a:prstGeom prst="cube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600"/>
                    </a:p>
                  </p:txBody>
                </p:sp>
                <p:grpSp>
                  <p:nvGrpSpPr>
                    <p:cNvPr id="167" name="그룹 166">
                      <a:extLst>
                        <a:ext uri="{FF2B5EF4-FFF2-40B4-BE49-F238E27FC236}">
                          <a16:creationId xmlns:a16="http://schemas.microsoft.com/office/drawing/2014/main" id="{058AACF9-7845-463C-834E-B729C6D403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65815" y="3068447"/>
                      <a:ext cx="112614" cy="286763"/>
                      <a:chOff x="5965815" y="3068447"/>
                      <a:chExt cx="112614" cy="286763"/>
                    </a:xfrm>
                  </p:grpSpPr>
                  <p:sp>
                    <p:nvSpPr>
                      <p:cNvPr id="174" name="직사각형 173">
                        <a:extLst>
                          <a:ext uri="{FF2B5EF4-FFF2-40B4-BE49-F238E27FC236}">
                            <a16:creationId xmlns:a16="http://schemas.microsoft.com/office/drawing/2014/main" id="{7F3017A2-63F4-4CEB-99FF-DE8D3CE5DE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5815" y="3136106"/>
                        <a:ext cx="65108" cy="21910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75" name="평행 사변형 174">
                        <a:extLst>
                          <a:ext uri="{FF2B5EF4-FFF2-40B4-BE49-F238E27FC236}">
                            <a16:creationId xmlns:a16="http://schemas.microsoft.com/office/drawing/2014/main" id="{610C6AE8-9660-49A6-82AF-6BF7357581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252" y="3068447"/>
                        <a:ext cx="110177" cy="65892"/>
                      </a:xfrm>
                      <a:prstGeom prst="parallelogram">
                        <a:avLst>
                          <a:gd name="adj" fmla="val 86824"/>
                        </a:avLst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168" name="그룹 167">
                      <a:extLst>
                        <a:ext uri="{FF2B5EF4-FFF2-40B4-BE49-F238E27FC236}">
                          <a16:creationId xmlns:a16="http://schemas.microsoft.com/office/drawing/2014/main" id="{0D5CC3C0-3743-4B11-8A30-91C492EFA7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26404" y="3068447"/>
                      <a:ext cx="107847" cy="286763"/>
                      <a:chOff x="5965815" y="3068447"/>
                      <a:chExt cx="107847" cy="286763"/>
                    </a:xfrm>
                  </p:grpSpPr>
                  <p:sp>
                    <p:nvSpPr>
                      <p:cNvPr id="172" name="직사각형 171">
                        <a:extLst>
                          <a:ext uri="{FF2B5EF4-FFF2-40B4-BE49-F238E27FC236}">
                            <a16:creationId xmlns:a16="http://schemas.microsoft.com/office/drawing/2014/main" id="{3AC86B5C-AD2E-4387-AA3C-F4E84A2FCB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5815" y="3136106"/>
                        <a:ext cx="65108" cy="21910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  <p:sp>
                    <p:nvSpPr>
                      <p:cNvPr id="173" name="평행 사변형 172">
                        <a:extLst>
                          <a:ext uri="{FF2B5EF4-FFF2-40B4-BE49-F238E27FC236}">
                            <a16:creationId xmlns:a16="http://schemas.microsoft.com/office/drawing/2014/main" id="{B3765626-2883-4C43-8A39-8C822D03B0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252" y="3068447"/>
                        <a:ext cx="105410" cy="65892"/>
                      </a:xfrm>
                      <a:prstGeom prst="parallelogram">
                        <a:avLst>
                          <a:gd name="adj" fmla="val 86824"/>
                        </a:avLst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  <p:grpSp>
                  <p:nvGrpSpPr>
                    <p:cNvPr id="169" name="그룹 168">
                      <a:extLst>
                        <a:ext uri="{FF2B5EF4-FFF2-40B4-BE49-F238E27FC236}">
                          <a16:creationId xmlns:a16="http://schemas.microsoft.com/office/drawing/2014/main" id="{510050EA-F0C2-420A-B3AD-C6B6D6BCB4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142229" y="3068447"/>
                      <a:ext cx="88688" cy="286763"/>
                      <a:chOff x="5965815" y="3068447"/>
                      <a:chExt cx="117883" cy="286763"/>
                    </a:xfrm>
                  </p:grpSpPr>
                  <p:sp>
                    <p:nvSpPr>
                      <p:cNvPr id="170" name="직사각형 169">
                        <a:extLst>
                          <a:ext uri="{FF2B5EF4-FFF2-40B4-BE49-F238E27FC236}">
                            <a16:creationId xmlns:a16="http://schemas.microsoft.com/office/drawing/2014/main" id="{39086A5E-21D2-42F5-9D94-1155FFC4AB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5815" y="3136106"/>
                        <a:ext cx="60769" cy="219104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 dirty="0"/>
                      </a:p>
                    </p:txBody>
                  </p:sp>
                  <p:sp>
                    <p:nvSpPr>
                      <p:cNvPr id="171" name="평행 사변형 170">
                        <a:extLst>
                          <a:ext uri="{FF2B5EF4-FFF2-40B4-BE49-F238E27FC236}">
                            <a16:creationId xmlns:a16="http://schemas.microsoft.com/office/drawing/2014/main" id="{953A130F-66E7-4221-8AEC-4A4BB47B53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968237" y="3068447"/>
                        <a:ext cx="115461" cy="65892"/>
                      </a:xfrm>
                      <a:prstGeom prst="parallelogram">
                        <a:avLst>
                          <a:gd name="adj" fmla="val 86824"/>
                        </a:avLst>
                      </a:prstGeom>
                      <a:solidFill>
                        <a:schemeClr val="accent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600"/>
                      </a:p>
                    </p:txBody>
                  </p:sp>
                </p:grpSp>
              </p:grpSp>
              <p:sp>
                <p:nvSpPr>
                  <p:cNvPr id="156" name="직사각형 155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10061008" y="3233330"/>
                    <a:ext cx="78014" cy="230804"/>
                  </a:xfrm>
                  <a:prstGeom prst="rect">
                    <a:avLst/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57" name="평행 사변형 156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10066047" y="3162058"/>
                    <a:ext cx="133828" cy="69411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58" name="직사각형 157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9882815" y="3233330"/>
                    <a:ext cx="45719" cy="230804"/>
                  </a:xfrm>
                  <a:prstGeom prst="rect">
                    <a:avLst/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59" name="평행 사변형 158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9887854" y="3162058"/>
                    <a:ext cx="89237" cy="69411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10170428" y="3233330"/>
                    <a:ext cx="78014" cy="230804"/>
                  </a:xfrm>
                  <a:prstGeom prst="rect">
                    <a:avLst/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1" name="평행 사변형 160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10175467" y="3162058"/>
                    <a:ext cx="133828" cy="69411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2" name="직사각형 161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10439697" y="3233330"/>
                    <a:ext cx="78014" cy="230804"/>
                  </a:xfrm>
                  <a:prstGeom prst="rect">
                    <a:avLst/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3" name="평행 사변형 162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10444736" y="3162058"/>
                    <a:ext cx="133828" cy="69411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4" name="직사각형 163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10759922" y="3233330"/>
                    <a:ext cx="135563" cy="230804"/>
                  </a:xfrm>
                  <a:prstGeom prst="rect">
                    <a:avLst/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165" name="평행 사변형 164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10759922" y="3162058"/>
                    <a:ext cx="196416" cy="69411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rgbClr val="FFFF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cxnSp>
            <p:nvCxnSpPr>
              <p:cNvPr id="194" name="직선 연결선 193"/>
              <p:cNvCxnSpPr>
                <a:stCxn id="147" idx="3"/>
                <a:endCxn id="176" idx="0"/>
              </p:cNvCxnSpPr>
              <p:nvPr/>
            </p:nvCxnSpPr>
            <p:spPr>
              <a:xfrm flipH="1">
                <a:off x="9749747" y="2930513"/>
                <a:ext cx="48548" cy="302550"/>
              </a:xfrm>
              <a:prstGeom prst="line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직선 연결선 194"/>
              <p:cNvCxnSpPr>
                <a:stCxn id="148" idx="3"/>
                <a:endCxn id="166" idx="0"/>
              </p:cNvCxnSpPr>
              <p:nvPr/>
            </p:nvCxnSpPr>
            <p:spPr>
              <a:xfrm flipH="1">
                <a:off x="10691885" y="2930513"/>
                <a:ext cx="45591" cy="302551"/>
              </a:xfrm>
              <a:prstGeom prst="line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F7143A21-8ED8-4AC5-A6A4-96D0FBC8C3E9}"/>
                  </a:ext>
                </a:extLst>
              </p:cNvPr>
              <p:cNvSpPr/>
              <p:nvPr/>
            </p:nvSpPr>
            <p:spPr>
              <a:xfrm>
                <a:off x="11231667" y="3126780"/>
                <a:ext cx="596110" cy="1865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</a:rPr>
                  <a:t>Importance Score </a:t>
                </a:r>
                <a:r>
                  <a:rPr lang="ko-KR" altLang="en-US" sz="600" b="1" dirty="0">
                    <a:solidFill>
                      <a:schemeClr val="tx1"/>
                    </a:solidFill>
                  </a:rPr>
                  <a:t>↓</a:t>
                </a:r>
                <a:r>
                  <a:rPr lang="en-US" altLang="ko-KR" sz="600" b="1" dirty="0">
                    <a:solidFill>
                      <a:schemeClr val="tx1"/>
                    </a:solidFill>
                  </a:rPr>
                  <a:t> </a:t>
                </a:r>
                <a:endParaRPr lang="ko-KR" altLang="en-US" sz="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7143A21-8ED8-4AC5-A6A4-96D0FBC8C3E9}"/>
                  </a:ext>
                </a:extLst>
              </p:cNvPr>
              <p:cNvSpPr/>
              <p:nvPr/>
            </p:nvSpPr>
            <p:spPr>
              <a:xfrm>
                <a:off x="11237027" y="3365786"/>
                <a:ext cx="596110" cy="192511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b="1" dirty="0">
                    <a:solidFill>
                      <a:schemeClr val="bg1"/>
                    </a:solidFill>
                  </a:rPr>
                  <a:t>Importance Score </a:t>
                </a:r>
                <a:r>
                  <a:rPr lang="ko-KR" altLang="en-US" sz="600" b="1" dirty="0">
                    <a:solidFill>
                      <a:schemeClr val="bg1"/>
                    </a:solidFill>
                  </a:rPr>
                  <a:t>↑</a:t>
                </a: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9265905" y="3715347"/>
                <a:ext cx="816481" cy="221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/>
                  <a:t>Prefill</a:t>
                </a:r>
              </a:p>
            </p:txBody>
          </p:sp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3E9CFB8D-AC91-41FB-8F16-46729CDA8BC5}"/>
                  </a:ext>
                </a:extLst>
              </p:cNvPr>
              <p:cNvGrpSpPr/>
              <p:nvPr/>
            </p:nvGrpSpPr>
            <p:grpSpPr>
              <a:xfrm>
                <a:off x="10135508" y="3894451"/>
                <a:ext cx="473597" cy="285867"/>
                <a:chOff x="4990624" y="3066301"/>
                <a:chExt cx="769620" cy="288909"/>
              </a:xfrm>
            </p:grpSpPr>
            <p:sp>
              <p:nvSpPr>
                <p:cNvPr id="201" name="정육면체 200">
                  <a:extLst>
                    <a:ext uri="{FF2B5EF4-FFF2-40B4-BE49-F238E27FC236}">
                      <a16:creationId xmlns:a16="http://schemas.microsoft.com/office/drawing/2014/main" id="{D8A2C4AC-5603-4FC0-923C-423CDABE561C}"/>
                    </a:ext>
                  </a:extLst>
                </p:cNvPr>
                <p:cNvSpPr/>
                <p:nvPr/>
              </p:nvSpPr>
              <p:spPr>
                <a:xfrm>
                  <a:off x="4990624" y="3066301"/>
                  <a:ext cx="769620" cy="288909"/>
                </a:xfrm>
                <a:prstGeom prst="cub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90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02" name="그룹 201">
                  <a:extLst>
                    <a:ext uri="{FF2B5EF4-FFF2-40B4-BE49-F238E27FC236}">
                      <a16:creationId xmlns:a16="http://schemas.microsoft.com/office/drawing/2014/main" id="{30B6DB89-CCC7-4B6C-B78B-382C4DD16D00}"/>
                    </a:ext>
                  </a:extLst>
                </p:cNvPr>
                <p:cNvGrpSpPr/>
                <p:nvPr/>
              </p:nvGrpSpPr>
              <p:grpSpPr>
                <a:xfrm>
                  <a:off x="5485173" y="3068447"/>
                  <a:ext cx="195704" cy="286763"/>
                  <a:chOff x="5965815" y="3068447"/>
                  <a:chExt cx="140242" cy="286763"/>
                </a:xfrm>
              </p:grpSpPr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F7143A21-8ED8-4AC5-A6A4-96D0FBC8C3E9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83440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210" name="평행 사변형 209">
                    <a:extLst>
                      <a:ext uri="{FF2B5EF4-FFF2-40B4-BE49-F238E27FC236}">
                        <a16:creationId xmlns:a16="http://schemas.microsoft.com/office/drawing/2014/main" id="{368C060F-6490-4EBA-BA02-AE74F5262BD4}"/>
                      </a:ext>
                    </a:extLst>
                  </p:cNvPr>
                  <p:cNvSpPr/>
                  <p:nvPr/>
                </p:nvSpPr>
                <p:spPr>
                  <a:xfrm>
                    <a:off x="5968253" y="3068447"/>
                    <a:ext cx="137804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203" name="그룹 202">
                  <a:extLst>
                    <a:ext uri="{FF2B5EF4-FFF2-40B4-BE49-F238E27FC236}">
                      <a16:creationId xmlns:a16="http://schemas.microsoft.com/office/drawing/2014/main" id="{80A761AC-783D-427D-BF0E-80EB21468F4B}"/>
                    </a:ext>
                  </a:extLst>
                </p:cNvPr>
                <p:cNvGrpSpPr/>
                <p:nvPr/>
              </p:nvGrpSpPr>
              <p:grpSpPr>
                <a:xfrm>
                  <a:off x="5084138" y="3068447"/>
                  <a:ext cx="144844" cy="286763"/>
                  <a:chOff x="5965815" y="3068447"/>
                  <a:chExt cx="144844" cy="286763"/>
                </a:xfrm>
              </p:grpSpPr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A63EB10E-1583-4496-9BFA-4DA8AFEB9710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65108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208" name="평행 사변형 207">
                    <a:extLst>
                      <a:ext uri="{FF2B5EF4-FFF2-40B4-BE49-F238E27FC236}">
                        <a16:creationId xmlns:a16="http://schemas.microsoft.com/office/drawing/2014/main" id="{7FCE73C2-CA7D-487F-A907-6026692D4589}"/>
                      </a:ext>
                    </a:extLst>
                  </p:cNvPr>
                  <p:cNvSpPr/>
                  <p:nvPr/>
                </p:nvSpPr>
                <p:spPr>
                  <a:xfrm>
                    <a:off x="5968252" y="3068447"/>
                    <a:ext cx="142407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204" name="그룹 203">
                  <a:extLst>
                    <a:ext uri="{FF2B5EF4-FFF2-40B4-BE49-F238E27FC236}">
                      <a16:creationId xmlns:a16="http://schemas.microsoft.com/office/drawing/2014/main" id="{FAFDDF61-4920-43E4-976E-4556AD73AA53}"/>
                    </a:ext>
                  </a:extLst>
                </p:cNvPr>
                <p:cNvGrpSpPr/>
                <p:nvPr/>
              </p:nvGrpSpPr>
              <p:grpSpPr>
                <a:xfrm>
                  <a:off x="5175021" y="3068447"/>
                  <a:ext cx="121304" cy="286763"/>
                  <a:chOff x="5965815" y="3068447"/>
                  <a:chExt cx="161236" cy="286763"/>
                </a:xfrm>
              </p:grpSpPr>
              <p:sp>
                <p:nvSpPr>
                  <p:cNvPr id="205" name="직사각형 204">
                    <a:extLst>
                      <a:ext uri="{FF2B5EF4-FFF2-40B4-BE49-F238E27FC236}">
                        <a16:creationId xmlns:a16="http://schemas.microsoft.com/office/drawing/2014/main" id="{45C4EE14-F23E-4895-A260-8843342F6ACE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60769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 dirty="0"/>
                  </a:p>
                </p:txBody>
              </p:sp>
              <p:sp>
                <p:nvSpPr>
                  <p:cNvPr id="206" name="평행 사변형 205">
                    <a:extLst>
                      <a:ext uri="{FF2B5EF4-FFF2-40B4-BE49-F238E27FC236}">
                        <a16:creationId xmlns:a16="http://schemas.microsoft.com/office/drawing/2014/main" id="{032BA945-0559-4A7E-A5FB-00F359C8B926}"/>
                      </a:ext>
                    </a:extLst>
                  </p:cNvPr>
                  <p:cNvSpPr/>
                  <p:nvPr/>
                </p:nvSpPr>
                <p:spPr>
                  <a:xfrm>
                    <a:off x="5968253" y="3068447"/>
                    <a:ext cx="158798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3E9CFB8D-AC91-41FB-8F16-46729CDA8BC5}"/>
                  </a:ext>
                </a:extLst>
              </p:cNvPr>
              <p:cNvGrpSpPr/>
              <p:nvPr/>
            </p:nvGrpSpPr>
            <p:grpSpPr>
              <a:xfrm>
                <a:off x="10597356" y="3893982"/>
                <a:ext cx="473597" cy="285867"/>
                <a:chOff x="5651343" y="3066301"/>
                <a:chExt cx="769620" cy="288909"/>
              </a:xfrm>
            </p:grpSpPr>
            <p:sp>
              <p:nvSpPr>
                <p:cNvPr id="212" name="정육면체 211">
                  <a:extLst>
                    <a:ext uri="{FF2B5EF4-FFF2-40B4-BE49-F238E27FC236}">
                      <a16:creationId xmlns:a16="http://schemas.microsoft.com/office/drawing/2014/main" id="{18DD8ABD-522D-4B13-8E2D-73B036FED5E2}"/>
                    </a:ext>
                  </a:extLst>
                </p:cNvPr>
                <p:cNvSpPr/>
                <p:nvPr/>
              </p:nvSpPr>
              <p:spPr>
                <a:xfrm>
                  <a:off x="5651343" y="3066301"/>
                  <a:ext cx="769620" cy="288909"/>
                </a:xfrm>
                <a:prstGeom prst="cub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/>
                </a:p>
              </p:txBody>
            </p:sp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058AACF9-7845-463C-834E-B729C6D403BD}"/>
                    </a:ext>
                  </a:extLst>
                </p:cNvPr>
                <p:cNvGrpSpPr/>
                <p:nvPr/>
              </p:nvGrpSpPr>
              <p:grpSpPr>
                <a:xfrm>
                  <a:off x="5965815" y="3068447"/>
                  <a:ext cx="140421" cy="286763"/>
                  <a:chOff x="5965815" y="3068447"/>
                  <a:chExt cx="140421" cy="286763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7F3017A2-63F4-4CEB-99FF-DE8D3CE5DE0B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65108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221" name="평행 사변형 220">
                    <a:extLst>
                      <a:ext uri="{FF2B5EF4-FFF2-40B4-BE49-F238E27FC236}">
                        <a16:creationId xmlns:a16="http://schemas.microsoft.com/office/drawing/2014/main" id="{610C6AE8-9660-49A6-82AF-6BF73575817D}"/>
                      </a:ext>
                    </a:extLst>
                  </p:cNvPr>
                  <p:cNvSpPr/>
                  <p:nvPr/>
                </p:nvSpPr>
                <p:spPr>
                  <a:xfrm>
                    <a:off x="5968252" y="3068447"/>
                    <a:ext cx="137984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214" name="그룹 213">
                  <a:extLst>
                    <a:ext uri="{FF2B5EF4-FFF2-40B4-BE49-F238E27FC236}">
                      <a16:creationId xmlns:a16="http://schemas.microsoft.com/office/drawing/2014/main" id="{0D5CC3C0-3743-4B11-8A30-91C492EFA778}"/>
                    </a:ext>
                  </a:extLst>
                </p:cNvPr>
                <p:cNvGrpSpPr/>
                <p:nvPr/>
              </p:nvGrpSpPr>
              <p:grpSpPr>
                <a:xfrm>
                  <a:off x="5726404" y="3068447"/>
                  <a:ext cx="142313" cy="286763"/>
                  <a:chOff x="5965815" y="3068447"/>
                  <a:chExt cx="142313" cy="286763"/>
                </a:xfrm>
              </p:grpSpPr>
              <p:sp>
                <p:nvSpPr>
                  <p:cNvPr id="218" name="직사각형 217">
                    <a:extLst>
                      <a:ext uri="{FF2B5EF4-FFF2-40B4-BE49-F238E27FC236}">
                        <a16:creationId xmlns:a16="http://schemas.microsoft.com/office/drawing/2014/main" id="{3AC86B5C-AD2E-4387-AA3C-F4E84A2FCB7E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65108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  <p:sp>
                <p:nvSpPr>
                  <p:cNvPr id="219" name="평행 사변형 218">
                    <a:extLst>
                      <a:ext uri="{FF2B5EF4-FFF2-40B4-BE49-F238E27FC236}">
                        <a16:creationId xmlns:a16="http://schemas.microsoft.com/office/drawing/2014/main" id="{B3765626-2883-4C43-8A39-8C822D03B0F6}"/>
                      </a:ext>
                    </a:extLst>
                  </p:cNvPr>
                  <p:cNvSpPr/>
                  <p:nvPr/>
                </p:nvSpPr>
                <p:spPr>
                  <a:xfrm>
                    <a:off x="5968252" y="3068447"/>
                    <a:ext cx="139876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  <p:grpSp>
              <p:nvGrpSpPr>
                <p:cNvPr id="215" name="그룹 214">
                  <a:extLst>
                    <a:ext uri="{FF2B5EF4-FFF2-40B4-BE49-F238E27FC236}">
                      <a16:creationId xmlns:a16="http://schemas.microsoft.com/office/drawing/2014/main" id="{510050EA-F0C2-420A-B3AD-C6B6D6BCB49B}"/>
                    </a:ext>
                  </a:extLst>
                </p:cNvPr>
                <p:cNvGrpSpPr/>
                <p:nvPr/>
              </p:nvGrpSpPr>
              <p:grpSpPr>
                <a:xfrm>
                  <a:off x="6142241" y="3068447"/>
                  <a:ext cx="127339" cy="286763"/>
                  <a:chOff x="5965815" y="3068447"/>
                  <a:chExt cx="169257" cy="286763"/>
                </a:xfrm>
              </p:grpSpPr>
              <p:sp>
                <p:nvSpPr>
                  <p:cNvPr id="216" name="직사각형 215">
                    <a:extLst>
                      <a:ext uri="{FF2B5EF4-FFF2-40B4-BE49-F238E27FC236}">
                        <a16:creationId xmlns:a16="http://schemas.microsoft.com/office/drawing/2014/main" id="{39086A5E-21D2-42F5-9D94-1155FFC4ABF4}"/>
                      </a:ext>
                    </a:extLst>
                  </p:cNvPr>
                  <p:cNvSpPr/>
                  <p:nvPr/>
                </p:nvSpPr>
                <p:spPr>
                  <a:xfrm>
                    <a:off x="5965815" y="3136106"/>
                    <a:ext cx="60769" cy="219104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 dirty="0"/>
                  </a:p>
                </p:txBody>
              </p:sp>
              <p:sp>
                <p:nvSpPr>
                  <p:cNvPr id="217" name="평행 사변형 216">
                    <a:extLst>
                      <a:ext uri="{FF2B5EF4-FFF2-40B4-BE49-F238E27FC236}">
                        <a16:creationId xmlns:a16="http://schemas.microsoft.com/office/drawing/2014/main" id="{953A130F-66E7-4221-8AEC-4A4BB47B537C}"/>
                      </a:ext>
                    </a:extLst>
                  </p:cNvPr>
                  <p:cNvSpPr/>
                  <p:nvPr/>
                </p:nvSpPr>
                <p:spPr>
                  <a:xfrm>
                    <a:off x="5968237" y="3068447"/>
                    <a:ext cx="166835" cy="65892"/>
                  </a:xfrm>
                  <a:prstGeom prst="parallelogram">
                    <a:avLst>
                      <a:gd name="adj" fmla="val 86824"/>
                    </a:avLst>
                  </a:prstGeom>
                  <a:solidFill>
                    <a:schemeClr val="accent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600"/>
                  </a:p>
                </p:txBody>
              </p:sp>
            </p:grpSp>
          </p:grpSp>
          <p:sp>
            <p:nvSpPr>
              <p:cNvPr id="222" name="정육면체 221">
                <a:extLst>
                  <a:ext uri="{FF2B5EF4-FFF2-40B4-BE49-F238E27FC236}">
                    <a16:creationId xmlns:a16="http://schemas.microsoft.com/office/drawing/2014/main" id="{D8A2C4AC-5603-4FC0-923C-423CDABE561C}"/>
                  </a:ext>
                </a:extLst>
              </p:cNvPr>
              <p:cNvSpPr/>
              <p:nvPr/>
            </p:nvSpPr>
            <p:spPr>
              <a:xfrm>
                <a:off x="11033793" y="3888347"/>
                <a:ext cx="777055" cy="283037"/>
              </a:xfrm>
              <a:prstGeom prst="cub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</a:rPr>
                  <a:t>User Query 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9" name="그룹 278"/>
            <p:cNvGrpSpPr/>
            <p:nvPr/>
          </p:nvGrpSpPr>
          <p:grpSpPr>
            <a:xfrm>
              <a:off x="9141264" y="2177307"/>
              <a:ext cx="2751725" cy="2452566"/>
              <a:chOff x="3799458" y="2177307"/>
              <a:chExt cx="2751725" cy="2452566"/>
            </a:xfrm>
          </p:grpSpPr>
          <p:sp>
            <p:nvSpPr>
              <p:cNvPr id="280" name="모서리가 둥근 직사각형 279"/>
              <p:cNvSpPr/>
              <p:nvPr/>
            </p:nvSpPr>
            <p:spPr>
              <a:xfrm>
                <a:off x="3799458" y="2292215"/>
                <a:ext cx="2751725" cy="2337658"/>
              </a:xfrm>
              <a:prstGeom prst="roundRect">
                <a:avLst>
                  <a:gd name="adj" fmla="val 3793"/>
                </a:avLst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직사각형 281"/>
              <p:cNvSpPr/>
              <p:nvPr/>
            </p:nvSpPr>
            <p:spPr>
              <a:xfrm>
                <a:off x="4642188" y="2177307"/>
                <a:ext cx="949110" cy="2341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 dirty="0">
                    <a:solidFill>
                      <a:schemeClr val="tx1"/>
                    </a:solidFill>
                  </a:rPr>
                  <a:t>&lt;</a:t>
                </a:r>
                <a:r>
                  <a:rPr lang="ko-KR" altLang="en-US" sz="1050" dirty="0">
                    <a:solidFill>
                      <a:schemeClr val="tx1"/>
                    </a:solidFill>
                  </a:rPr>
                  <a:t>시나리오</a:t>
                </a:r>
                <a:r>
                  <a:rPr lang="en-US" altLang="ko-KR" sz="1050" dirty="0">
                    <a:solidFill>
                      <a:schemeClr val="tx1"/>
                    </a:solidFill>
                  </a:rPr>
                  <a:t>&gt; </a:t>
                </a:r>
                <a:endParaRPr lang="ko-KR" altLang="en-US" sz="10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0" name="TextBox 289"/>
          <p:cNvSpPr txBox="1"/>
          <p:nvPr/>
        </p:nvSpPr>
        <p:spPr>
          <a:xfrm>
            <a:off x="1300984" y="2696989"/>
            <a:ext cx="2915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66FF"/>
                </a:solidFill>
              </a:rPr>
              <a:t>①</a:t>
            </a:r>
            <a:endParaRPr lang="ko-KR" altLang="en-US" sz="1000" b="1" dirty="0">
              <a:solidFill>
                <a:srgbClr val="0066FF"/>
              </a:solidFill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1257791" y="3586729"/>
            <a:ext cx="290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66FF"/>
                </a:solidFill>
              </a:rPr>
              <a:t>②</a:t>
            </a:r>
            <a:endParaRPr lang="ko-KR" altLang="en-US" sz="1000" b="1" dirty="0">
              <a:solidFill>
                <a:srgbClr val="0066FF"/>
              </a:solidFill>
            </a:endParaRPr>
          </a:p>
        </p:txBody>
      </p:sp>
      <p:sp>
        <p:nvSpPr>
          <p:cNvPr id="293" name="TextBox 292"/>
          <p:cNvSpPr txBox="1"/>
          <p:nvPr/>
        </p:nvSpPr>
        <p:spPr>
          <a:xfrm>
            <a:off x="3978082" y="3093650"/>
            <a:ext cx="548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①→②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294" name="TextBox 293"/>
          <p:cNvSpPr txBox="1"/>
          <p:nvPr/>
        </p:nvSpPr>
        <p:spPr>
          <a:xfrm>
            <a:off x="6787970" y="2801441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①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9467542" y="3003399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①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6765422" y="3862943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②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337" name="TextBox 336"/>
          <p:cNvSpPr txBox="1"/>
          <p:nvPr/>
        </p:nvSpPr>
        <p:spPr>
          <a:xfrm>
            <a:off x="9683633" y="3689264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②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338" name="TextBox 337"/>
          <p:cNvSpPr txBox="1"/>
          <p:nvPr/>
        </p:nvSpPr>
        <p:spPr>
          <a:xfrm>
            <a:off x="7975277" y="2786676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③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339" name="TextBox 338"/>
          <p:cNvSpPr txBox="1"/>
          <p:nvPr/>
        </p:nvSpPr>
        <p:spPr>
          <a:xfrm>
            <a:off x="10630139" y="4244814"/>
            <a:ext cx="291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③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cxnSp>
        <p:nvCxnSpPr>
          <p:cNvPr id="340" name="직선 화살표 연결선 339"/>
          <p:cNvCxnSpPr>
            <a:stCxn id="225" idx="0"/>
            <a:endCxn id="253" idx="1"/>
          </p:cNvCxnSpPr>
          <p:nvPr/>
        </p:nvCxnSpPr>
        <p:spPr>
          <a:xfrm rot="5400000" flipH="1" flipV="1">
            <a:off x="2367081" y="3886957"/>
            <a:ext cx="405201" cy="259731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2432507" y="3778891"/>
            <a:ext cx="290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66FF"/>
                </a:solidFill>
              </a:rPr>
              <a:t>③</a:t>
            </a:r>
            <a:endParaRPr lang="ko-KR" altLang="en-US" sz="1000" b="1" dirty="0">
              <a:solidFill>
                <a:srgbClr val="0066FF"/>
              </a:solidFill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5297870" y="3594683"/>
            <a:ext cx="2901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③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343" name="TextBox 342"/>
          <p:cNvSpPr txBox="1"/>
          <p:nvPr/>
        </p:nvSpPr>
        <p:spPr>
          <a:xfrm>
            <a:off x="5378372" y="4272637"/>
            <a:ext cx="2901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rgbClr val="0066FF"/>
                </a:solidFill>
              </a:rPr>
              <a:t>④</a:t>
            </a:r>
            <a:endParaRPr lang="ko-KR" altLang="en-US" sz="900" b="1" dirty="0">
              <a:solidFill>
                <a:srgbClr val="0066FF"/>
              </a:solidFill>
            </a:endParaRPr>
          </a:p>
        </p:txBody>
      </p:sp>
      <p:sp>
        <p:nvSpPr>
          <p:cNvPr id="345" name="TextBox 344"/>
          <p:cNvSpPr txBox="1"/>
          <p:nvPr/>
        </p:nvSpPr>
        <p:spPr>
          <a:xfrm>
            <a:off x="2599294" y="2651750"/>
            <a:ext cx="2901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66FF"/>
                </a:solidFill>
              </a:rPr>
              <a:t>④</a:t>
            </a:r>
            <a:endParaRPr lang="ko-KR" altLang="en-US" sz="10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816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
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516" r:id="rId2"/>
    <p:sldId id="644" r:id="rId3"/>
    <p:sldId id="639" r:id="rId4"/>
    <p:sldId id="641" r:id="rId5"/>
    <p:sldId id="558" r:id="rId6"/>
    <p:sldId id="624" r:id="rId7"/>
    <p:sldId id="621" r:id="rId8"/>
    <p:sldId id="649" r:id="rId9"/>
    <p:sldId id="645" r:id="rId10"/>
    <p:sldId id="650" r:id="rId24"/>
    <p:sldId id="561" r:id="rId11"/>
    <p:sldId id="651" r:id="rId25"/>
    <p:sldId id="642" r:id="rId12"/>
    <p:sldId id="640" r:id="rId13"/>
    <p:sldId id="638" r:id="rId14"/>
    <p:sldId id="566" r:id="rId15"/>
    <p:sldId id="643" r:id="rId16"/>
    <p:sldId id="620" r:id="rId17"/>
    <p:sldId id="556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1254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13769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86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53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150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[사전 지식 - Prefill / Decode와 P/D 분리]</a:t>
            </a:r>
          </a:p>
          <a:p>
            <a:r>
              <a:t>LLM 추론은 두 단계로 나뉩니다. Prefill은 프롬프트 n개 토큰을 한 번에 병렬로 처리해 각 토큰의 Key/Value, 즉 KV 캐시를 만들고 첫 출력 토큰을 냅니다. 여러 토큰을 행렬×행렬(GEMM)로 처리하므로 연산량이 병목인 Compute-bound 단계이고, 첫 응답 시간(TTFT)을 결정합니다.</a:t>
            </a:r>
          </a:p>
          <a:p>
            <a:r>
              <a:t>Decode는 KV 캐시를 참조하며 토큰을 하나씩 생성합니다. step마다 토큰 하나(GEMV)만 처리하지만 매번 가중치와 누적된 KV 캐시 전체를 메모리에서 읽어야 하므로 메모리 대역폭이 병목인 Memory-bound 단계이고, 토큰당 생성 시간(TPOT)을 결정합니다. 왼쪽 그림처럼 GPU 실행 시간의 대부분을 GEMV가 차지하고, 오른쪽 그림처럼 Prefill은 연산이, Decode는 메모리 load/store가 시간을 지배합니다.</a:t>
            </a:r>
          </a:p>
          <a:p>
            <a:r>
              <a:t>두 단계를 한 GPU에서 섞으면 긴 Prefill이 들어올 때 진행 중이던 Decode가 멈춰 TPOT이 튀고, 반대로 Decode batch 때문에 Prefill이 대기해 TTFT가 늘어납니다. 그래서 Prefill 인스턴스와 Decoding 인스턴스를 분리하고, Prefill이 만든 KV 캐시를 Decode 쪽으로 전송하는 것이 P/D 분리 구조입니다. 간섭이 사라지고 두 단계를 독립적으로 scaling·최적화할 수 있습니다.</a:t>
            </a:r>
          </a:p>
          <a:p>
            <a:r>
              <a:t>대신 KV 캐시 이동 비용이 새로 생깁니다. Multi-turn이나 Agent처럼 다음 Turn이 이어지면 History KV는 D 쪽에 쌓여 있으므로, 다음 Prefill을 P에서 할지(KV 전송) D에서 할지(Decode와 간섭) 매번 판단이 필요하고, KV가 여러 Memory Tier에 놓이면 이 판단은 더 복잡해집니다. 이것이 다음 장의 배경입니다.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888019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8124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4192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R1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Request Type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Latency-Sensitive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무조건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R2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History KV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이면 이동 비용을 피해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R3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l-G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작고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D-Local/Shared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R4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Latency-Tolerant + 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오프로드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R5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외 기본값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연결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028622"/>
              </p:ext>
            </p:extLst>
          </p:nvPr>
        </p:nvGraphicFramePr>
        <p:xfrm>
          <a:off x="381000" y="823762"/>
          <a:ext cx="11258550" cy="26567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545811721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Prefill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Agent Tool-wait KV residency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Utilization?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1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84771"/>
              </p:ext>
            </p:extLst>
          </p:nvPr>
        </p:nvGraphicFramePr>
        <p:xfrm>
          <a:off x="496950" y="3887523"/>
          <a:ext cx="71319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482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4762499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</a:tblGrid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Metric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31260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TPS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TTFT + TPOT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7455501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176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Accuracy (F1 score)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367397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142955"/>
                  </a:ext>
                </a:extLst>
              </a:tr>
              <a:tr h="43764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Scaling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Efficiency (%)</a:t>
                      </a:r>
                    </a:p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: GPU/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노드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 늘렸을 때 처리량이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배의 몇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%?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700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694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DP0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71640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160372" y="849834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Rack Scale </a:t>
            </a:r>
            <a:r>
              <a:rPr lang="ko-KR" altLang="en-US" sz="1200" b="1" dirty="0"/>
              <a:t>확장했을 때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이기종 메모리 환경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5647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DP0. ~~ - </a:t>
            </a:r>
            <a:r>
              <a:rPr lang="ko-KR" altLang="en-US" dirty="0"/>
              <a:t>배경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설명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&lt;</a:t>
              </a:r>
              <a:r>
                <a:rPr lang="ko-KR" altLang="en-US" sz="1100" b="1" dirty="0"/>
                <a:t>제안하는 구조</a:t>
              </a:r>
              <a:r>
                <a:rPr lang="en-US" altLang="ko-KR" sz="1100" b="1" dirty="0"/>
                <a:t> </a:t>
              </a:r>
              <a:r>
                <a:rPr lang="ko-KR" altLang="en-US" sz="1100" b="1" dirty="0"/>
                <a:t>추상적 표현</a:t>
              </a:r>
              <a:r>
                <a:rPr lang="en-US" altLang="ko-KR" sz="1100" b="1" dirty="0"/>
                <a:t>&gt;</a:t>
              </a:r>
              <a:endParaRPr lang="ko-KR" altLang="en-US" sz="1100" b="1" dirty="0"/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2858" y="3663076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</a:t>
              </a:r>
              <a:r>
                <a:rPr lang="en-US" altLang="ko-KR" sz="1100" b="1" dirty="0"/>
                <a:t>&lt;</a:t>
              </a:r>
              <a:r>
                <a:rPr lang="ko-KR" altLang="en-US" sz="1100" b="1" dirty="0"/>
                <a:t>기존 </a:t>
              </a:r>
              <a:r>
                <a:rPr lang="en-US" altLang="ko-KR" sz="1100" b="1" dirty="0"/>
                <a:t>SW </a:t>
              </a:r>
              <a:r>
                <a:rPr lang="ko-KR" altLang="en-US" sz="1100" b="1" dirty="0"/>
                <a:t>구조 문제점</a:t>
              </a:r>
              <a:r>
                <a:rPr lang="en-US" altLang="ko-KR" sz="1100" b="1" dirty="0"/>
                <a:t>&gt; </a:t>
              </a:r>
              <a:endParaRPr lang="ko-KR" altLang="en-US" sz="1100" b="1" dirty="0"/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97262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&lt;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설계 내용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&gt;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638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621936"/>
              </p:ext>
            </p:extLst>
          </p:nvPr>
        </p:nvGraphicFramePr>
        <p:xfrm>
          <a:off x="249035" y="1044054"/>
          <a:ext cx="11747501" cy="5048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ko-KR" altLang="en-US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 err="1">
                <a:solidFill>
                  <a:schemeClr val="bg1"/>
                </a:solidFill>
              </a:rPr>
              <a:t>ㅁㄴㅇㄹ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“&lt;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&gt;“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“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2401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82132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다양한 메모리 솔루션 등장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Agent</a:t>
              </a:r>
              <a:r>
                <a:rPr lang="ko-KR" altLang="en-US" sz="1200" b="1" dirty="0"/>
                <a:t>의 </a:t>
              </a:r>
              <a:r>
                <a:rPr lang="en-US" altLang="ko-KR" sz="1200" b="1" dirty="0"/>
                <a:t>HBM Pressure </a:t>
              </a:r>
              <a:r>
                <a:rPr lang="ko-KR" altLang="en-US" sz="1200" b="1" dirty="0"/>
                <a:t>가속화</a:t>
              </a:r>
            </a:p>
          </p:txBody>
        </p:sp>
      </p:grpSp>
      <p:sp>
        <p:nvSpPr>
          <p:cNvPr id="198" name="Text 22"/>
          <p:cNvSpPr/>
          <p:nvPr/>
        </p:nvSpPr>
        <p:spPr>
          <a:xfrm>
            <a:off x="347472" y="1094766"/>
            <a:ext cx="4444447" cy="318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의 </a:t>
            </a:r>
            <a:r>
              <a:rPr lang="en-US" altLang="ko-KR" sz="1200" dirty="0">
                <a:sym typeface="Wingdings" panose="05000000000000000000" pitchFamily="2" charset="2"/>
              </a:rPr>
              <a:t>Multi-turn</a:t>
            </a:r>
            <a:r>
              <a:rPr lang="ko-KR" altLang="en-US" sz="1200" dirty="0">
                <a:sym typeface="Wingdings" panose="05000000000000000000" pitchFamily="2" charset="2"/>
              </a:rPr>
              <a:t>으로 인한 </a:t>
            </a:r>
            <a:r>
              <a:rPr lang="en-US" altLang="ko-KR" sz="1200" dirty="0">
                <a:sym typeface="Wingdings" panose="05000000000000000000" pitchFamily="2" charset="2"/>
              </a:rPr>
              <a:t>Context</a:t>
            </a:r>
            <a:r>
              <a:rPr lang="ko-KR" altLang="en-US" sz="1200" dirty="0">
                <a:sym typeface="Wingdings" panose="05000000000000000000" pitchFamily="2" charset="2"/>
              </a:rPr>
              <a:t> 누적 </a:t>
            </a:r>
            <a:r>
              <a:rPr lang="en-US" altLang="ko-KR" sz="1200" dirty="0">
                <a:sym typeface="Wingdings" panose="05000000000000000000" pitchFamily="2" charset="2"/>
              </a:rPr>
              <a:t> KV </a:t>
            </a:r>
            <a:r>
              <a:rPr lang="ko-KR" altLang="en-US" sz="1200" dirty="0">
                <a:sym typeface="Wingdings" panose="05000000000000000000" pitchFamily="2" charset="2"/>
              </a:rPr>
              <a:t>캐시 증가 </a:t>
            </a:r>
            <a:endParaRPr lang="en-US" altLang="ko-KR" sz="1200" dirty="0">
              <a:sym typeface="Wingdings" panose="05000000000000000000" pitchFamily="2" charset="2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347472" y="3752076"/>
            <a:ext cx="5509863" cy="34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는 하나의 요청을 여러 개의 동시 작업으로 증폭시킬 수 있음 </a:t>
            </a:r>
            <a:endParaRPr lang="en-US" altLang="ko-KR" sz="1200" b="1" dirty="0">
              <a:solidFill>
                <a:schemeClr val="accent2">
                  <a:lumMod val="75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204" name="그림 203"/>
          <p:cNvPicPr>
            <a:picLocks noChangeAspect="1"/>
          </p:cNvPicPr>
          <p:nvPr/>
        </p:nvPicPr>
        <p:blipFill rotWithShape="1">
          <a:blip r:embed="rId3"/>
          <a:srcRect l="2641" t="1749" r="2321" b="11984"/>
          <a:stretch/>
        </p:blipFill>
        <p:spPr>
          <a:xfrm>
            <a:off x="7154211" y="1184229"/>
            <a:ext cx="3823538" cy="2480669"/>
          </a:xfrm>
          <a:prstGeom prst="rect">
            <a:avLst/>
          </a:prstGeom>
        </p:spPr>
      </p:pic>
      <p:sp>
        <p:nvSpPr>
          <p:cNvPr id="299" name="실행 단추: 앞으로 또는 다음 298">
            <a:hlinkClick r:id="" action="ppaction://noaction" highlightClick="1"/>
          </p:cNvPr>
          <p:cNvSpPr/>
          <p:nvPr/>
        </p:nvSpPr>
        <p:spPr>
          <a:xfrm>
            <a:off x="10625465" y="779436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D58FEC0B-5568-4E2A-AF34-EF05147FA88B}"/>
              </a:ext>
            </a:extLst>
          </p:cNvPr>
          <p:cNvCxnSpPr>
            <a:stCxn id="138" idx="3"/>
            <a:endCxn id="166" idx="1"/>
          </p:cNvCxnSpPr>
          <p:nvPr/>
        </p:nvCxnSpPr>
        <p:spPr>
          <a:xfrm flipV="1">
            <a:off x="9517632" y="5199961"/>
            <a:ext cx="509288" cy="39361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그룹 36"/>
          <p:cNvGrpSpPr/>
          <p:nvPr/>
        </p:nvGrpSpPr>
        <p:grpSpPr>
          <a:xfrm>
            <a:off x="6452396" y="4219751"/>
            <a:ext cx="4494180" cy="1993182"/>
            <a:chOff x="6344173" y="3347234"/>
            <a:chExt cx="4494180" cy="1993182"/>
          </a:xfrm>
        </p:grpSpPr>
        <p:grpSp>
          <p:nvGrpSpPr>
            <p:cNvPr id="5" name="그룹 4"/>
            <p:cNvGrpSpPr/>
            <p:nvPr/>
          </p:nvGrpSpPr>
          <p:grpSpPr>
            <a:xfrm>
              <a:off x="6344173" y="3347234"/>
              <a:ext cx="4494180" cy="1896944"/>
              <a:chOff x="6299288" y="3053619"/>
              <a:chExt cx="4428503" cy="2122718"/>
            </a:xfrm>
          </p:grpSpPr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58C3D28F-23EC-4DCC-95AC-37D92DBC27F5}"/>
                  </a:ext>
                </a:extLst>
              </p:cNvPr>
              <p:cNvGrpSpPr/>
              <p:nvPr/>
            </p:nvGrpSpPr>
            <p:grpSpPr>
              <a:xfrm>
                <a:off x="7524431" y="3143351"/>
                <a:ext cx="3101145" cy="2032986"/>
                <a:chOff x="1384719" y="2126980"/>
                <a:chExt cx="3072915" cy="2081864"/>
              </a:xfrm>
            </p:grpSpPr>
            <p:sp>
              <p:nvSpPr>
                <p:cNvPr id="138" name="직사각형 137">
                  <a:extLst>
                    <a:ext uri="{FF2B5EF4-FFF2-40B4-BE49-F238E27FC236}">
                      <a16:creationId xmlns:a16="http://schemas.microsoft.com/office/drawing/2014/main" id="{6F69B73E-FFFC-45E8-BB7B-9B8AB23AB720}"/>
                    </a:ext>
                  </a:extLst>
                </p:cNvPr>
                <p:cNvSpPr/>
                <p:nvPr/>
              </p:nvSpPr>
              <p:spPr>
                <a:xfrm>
                  <a:off x="2442582" y="3481564"/>
                  <a:ext cx="721092" cy="255659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CPU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39" name="모서리가 둥근 직사각형 191">
                  <a:extLst>
                    <a:ext uri="{FF2B5EF4-FFF2-40B4-BE49-F238E27FC236}">
                      <a16:creationId xmlns:a16="http://schemas.microsoft.com/office/drawing/2014/main" id="{2F7BF330-794C-4E29-BF45-B1F8AFFE3312}"/>
                    </a:ext>
                  </a:extLst>
                </p:cNvPr>
                <p:cNvSpPr/>
                <p:nvPr/>
              </p:nvSpPr>
              <p:spPr>
                <a:xfrm>
                  <a:off x="2397566" y="3953185"/>
                  <a:ext cx="804331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SSD-PIM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40" name="모서리가 둥근 직사각형 192">
                  <a:extLst>
                    <a:ext uri="{FF2B5EF4-FFF2-40B4-BE49-F238E27FC236}">
                      <a16:creationId xmlns:a16="http://schemas.microsoft.com/office/drawing/2014/main" id="{F514312F-4F37-4C23-84C5-02AC423D2309}"/>
                    </a:ext>
                  </a:extLst>
                </p:cNvPr>
                <p:cNvSpPr/>
                <p:nvPr/>
              </p:nvSpPr>
              <p:spPr>
                <a:xfrm>
                  <a:off x="3664432" y="3659517"/>
                  <a:ext cx="793202" cy="255659"/>
                </a:xfrm>
                <a:prstGeom prst="roundRect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DRAM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42" name="직선 연결선 9">
                  <a:extLst>
                    <a:ext uri="{FF2B5EF4-FFF2-40B4-BE49-F238E27FC236}">
                      <a16:creationId xmlns:a16="http://schemas.microsoft.com/office/drawing/2014/main" id="{FED03D99-C83C-46A5-B2BC-AED0C3F4FE2A}"/>
                    </a:ext>
                  </a:extLst>
                </p:cNvPr>
                <p:cNvCxnSpPr>
                  <a:stCxn id="151" idx="2"/>
                  <a:endCxn id="138" idx="0"/>
                </p:cNvCxnSpPr>
                <p:nvPr/>
              </p:nvCxnSpPr>
              <p:spPr>
                <a:xfrm>
                  <a:off x="2803128" y="3251008"/>
                  <a:ext cx="0" cy="230556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직선 연결선 142">
                  <a:extLst>
                    <a:ext uri="{FF2B5EF4-FFF2-40B4-BE49-F238E27FC236}">
                      <a16:creationId xmlns:a16="http://schemas.microsoft.com/office/drawing/2014/main" id="{E8BD091E-84A4-4AF0-9C69-9D493ED1BE5B}"/>
                    </a:ext>
                  </a:extLst>
                </p:cNvPr>
                <p:cNvCxnSpPr>
                  <a:stCxn id="138" idx="2"/>
                  <a:endCxn id="139" idx="0"/>
                </p:cNvCxnSpPr>
                <p:nvPr/>
              </p:nvCxnSpPr>
              <p:spPr>
                <a:xfrm flipH="1">
                  <a:off x="2799732" y="3737223"/>
                  <a:ext cx="3397" cy="215962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9AB2F484-FCAE-43BA-9424-00EADB4082E4}"/>
                    </a:ext>
                  </a:extLst>
                </p:cNvPr>
                <p:cNvGrpSpPr/>
                <p:nvPr/>
              </p:nvGrpSpPr>
              <p:grpSpPr>
                <a:xfrm>
                  <a:off x="2323241" y="2126980"/>
                  <a:ext cx="959778" cy="1212050"/>
                  <a:chOff x="2993906" y="2126755"/>
                  <a:chExt cx="959778" cy="1212050"/>
                </a:xfrm>
              </p:grpSpPr>
              <p:sp>
                <p:nvSpPr>
                  <p:cNvPr id="151" name="직사각형 150">
                    <a:extLst>
                      <a:ext uri="{FF2B5EF4-FFF2-40B4-BE49-F238E27FC236}">
                        <a16:creationId xmlns:a16="http://schemas.microsoft.com/office/drawing/2014/main" id="{7CF69065-B71D-45B8-A775-D343993857B2}"/>
                      </a:ext>
                    </a:extLst>
                  </p:cNvPr>
                  <p:cNvSpPr/>
                  <p:nvPr/>
                </p:nvSpPr>
                <p:spPr>
                  <a:xfrm>
                    <a:off x="3113248" y="3057580"/>
                    <a:ext cx="721092" cy="281225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GPU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152" name="모서리가 둥근 직사각형 203">
                    <a:extLst>
                      <a:ext uri="{FF2B5EF4-FFF2-40B4-BE49-F238E27FC236}">
                        <a16:creationId xmlns:a16="http://schemas.microsoft.com/office/drawing/2014/main" id="{640F55E1-7C97-4A3F-B1BA-027109FA6D45}"/>
                      </a:ext>
                    </a:extLst>
                  </p:cNvPr>
                  <p:cNvSpPr/>
                  <p:nvPr/>
                </p:nvSpPr>
                <p:spPr>
                  <a:xfrm>
                    <a:off x="2993908" y="2540807"/>
                    <a:ext cx="959776" cy="281224"/>
                  </a:xfrm>
                  <a:prstGeom prst="round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HBM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cxnSp>
                <p:nvCxnSpPr>
                  <p:cNvPr id="153" name="직선 연결선 152">
                    <a:extLst>
                      <a:ext uri="{FF2B5EF4-FFF2-40B4-BE49-F238E27FC236}">
                        <a16:creationId xmlns:a16="http://schemas.microsoft.com/office/drawing/2014/main" id="{DF99FE4A-16D5-45BD-8568-257EA845EE4C}"/>
                      </a:ext>
                    </a:extLst>
                  </p:cNvPr>
                  <p:cNvCxnSpPr>
                    <a:stCxn id="152" idx="2"/>
                    <a:endCxn id="151" idx="0"/>
                  </p:cNvCxnSpPr>
                  <p:nvPr/>
                </p:nvCxnSpPr>
                <p:spPr>
                  <a:xfrm flipH="1">
                    <a:off x="3473795" y="2822031"/>
                    <a:ext cx="1" cy="235549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모서리가 둥근 직사각형 241">
                    <a:extLst>
                      <a:ext uri="{FF2B5EF4-FFF2-40B4-BE49-F238E27FC236}">
                        <a16:creationId xmlns:a16="http://schemas.microsoft.com/office/drawing/2014/main" id="{AC135A3A-CAAB-4A76-A2D5-53B55EB1D318}"/>
                      </a:ext>
                    </a:extLst>
                  </p:cNvPr>
                  <p:cNvSpPr/>
                  <p:nvPr/>
                </p:nvSpPr>
                <p:spPr>
                  <a:xfrm>
                    <a:off x="2993906" y="2126755"/>
                    <a:ext cx="959774" cy="232416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/>
                </p:spPr>
                <p:style>
                  <a:lnRef idx="2">
                    <a:schemeClr val="accent2"/>
                  </a:lnRef>
                  <a:fillRef idx="1">
                    <a:schemeClr val="lt1"/>
                  </a:fillRef>
                  <a:effectRef idx="0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HBF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</p:grpSp>
            <p:sp>
              <p:nvSpPr>
                <p:cNvPr id="147" name="모서리가 둥근 직사각형 240">
                  <a:extLst>
                    <a:ext uri="{FF2B5EF4-FFF2-40B4-BE49-F238E27FC236}">
                      <a16:creationId xmlns:a16="http://schemas.microsoft.com/office/drawing/2014/main" id="{A8DF8FE3-2660-4ED5-B889-6041AD06E54C}"/>
                    </a:ext>
                  </a:extLst>
                </p:cNvPr>
                <p:cNvSpPr/>
                <p:nvPr/>
              </p:nvSpPr>
              <p:spPr>
                <a:xfrm>
                  <a:off x="1384719" y="3481563"/>
                  <a:ext cx="842359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CXL-PNM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58FEC0B-5568-4E2A-AF34-EF05147FA88B}"/>
                  </a:ext>
                </a:extLst>
              </p:cNvPr>
              <p:cNvCxnSpPr>
                <a:stCxn id="147" idx="3"/>
                <a:endCxn id="138" idx="1"/>
              </p:cNvCxnSpPr>
              <p:nvPr/>
            </p:nvCxnSpPr>
            <p:spPr>
              <a:xfrm>
                <a:off x="8374528" y="4590961"/>
                <a:ext cx="217485" cy="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>
                <a:extLst>
                  <a:ext uri="{FF2B5EF4-FFF2-40B4-BE49-F238E27FC236}">
                    <a16:creationId xmlns:a16="http://schemas.microsoft.com/office/drawing/2014/main" id="{4BFFC828-99F7-4529-B145-A0106CEEDECA}"/>
                  </a:ext>
                </a:extLst>
              </p:cNvPr>
              <p:cNvCxnSpPr>
                <a:stCxn id="158" idx="2"/>
                <a:endCxn id="152" idx="0"/>
              </p:cNvCxnSpPr>
              <p:nvPr/>
            </p:nvCxnSpPr>
            <p:spPr>
              <a:xfrm>
                <a:off x="8955871" y="3370311"/>
                <a:ext cx="3" cy="17737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8" name="순서도: 자기 디스크 16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8165993" y="3132004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KV1</a:t>
                </a:r>
                <a:endParaRPr lang="ko-KR" altLang="en-US" sz="800" b="1" dirty="0"/>
              </a:p>
            </p:txBody>
          </p:sp>
          <p:sp>
            <p:nvSpPr>
              <p:cNvPr id="181" name="대각선 방향의 모서리가 잘린 사각형 18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8012705" y="3687252"/>
                <a:ext cx="574622" cy="197237"/>
              </a:xfrm>
              <a:prstGeom prst="snip2DiagRect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/>
                  <a:t>LoRA</a:t>
                </a:r>
                <a:endParaRPr lang="ko-KR" altLang="en-US" sz="1200" dirty="0"/>
              </a:p>
            </p:txBody>
          </p:sp>
          <p:grpSp>
            <p:nvGrpSpPr>
              <p:cNvPr id="259" name="그룹 258">
                <a:extLst>
                  <a:ext uri="{FF2B5EF4-FFF2-40B4-BE49-F238E27FC236}">
                    <a16:creationId xmlns:a16="http://schemas.microsoft.com/office/drawing/2014/main" id="{C2090F15-14C4-48A1-8E7A-3BD6B2016FAF}"/>
                  </a:ext>
                </a:extLst>
              </p:cNvPr>
              <p:cNvGrpSpPr/>
              <p:nvPr/>
            </p:nvGrpSpPr>
            <p:grpSpPr>
              <a:xfrm>
                <a:off x="6299288" y="3057166"/>
                <a:ext cx="1384623" cy="1817828"/>
                <a:chOff x="429779" y="2706833"/>
                <a:chExt cx="1384623" cy="1817828"/>
              </a:xfrm>
            </p:grpSpPr>
            <p:grpSp>
              <p:nvGrpSpPr>
                <p:cNvPr id="260" name="그룹 259">
                  <a:extLst>
                    <a:ext uri="{FF2B5EF4-FFF2-40B4-BE49-F238E27FC236}">
                      <a16:creationId xmlns:a16="http://schemas.microsoft.com/office/drawing/2014/main" id="{4838AC75-63E2-4DB0-866F-B7D40E013EF8}"/>
                    </a:ext>
                  </a:extLst>
                </p:cNvPr>
                <p:cNvGrpSpPr/>
                <p:nvPr/>
              </p:nvGrpSpPr>
              <p:grpSpPr>
                <a:xfrm>
                  <a:off x="489941" y="323774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7" name="모서리가 둥근 직사각형 235">
                    <a:extLst>
                      <a:ext uri="{FF2B5EF4-FFF2-40B4-BE49-F238E27FC236}">
                        <a16:creationId xmlns:a16="http://schemas.microsoft.com/office/drawing/2014/main" id="{653D2F71-606D-4B28-9E0A-62FED89E9900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44F47381-B54A-4D02-8BDD-28A19F136EAF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2</a:t>
                    </a:r>
                    <a:endParaRPr lang="ko-KR" altLang="en-US" sz="1050" dirty="0"/>
                  </a:p>
                </p:txBody>
              </p:sp>
            </p:grpSp>
            <p:sp>
              <p:nvSpPr>
                <p:cNvPr id="261" name="직사각형 260">
                  <a:extLst>
                    <a:ext uri="{FF2B5EF4-FFF2-40B4-BE49-F238E27FC236}">
                      <a16:creationId xmlns:a16="http://schemas.microsoft.com/office/drawing/2014/main" id="{FF91CC32-A2B0-4536-B334-334F143262B8}"/>
                    </a:ext>
                  </a:extLst>
                </p:cNvPr>
                <p:cNvSpPr/>
                <p:nvPr/>
              </p:nvSpPr>
              <p:spPr>
                <a:xfrm>
                  <a:off x="528344" y="2985727"/>
                  <a:ext cx="702893" cy="1538934"/>
                </a:xfrm>
                <a:prstGeom prst="rect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endParaRPr lang="ko-KR" altLang="en-US" sz="1400" b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7B45D556-134F-47A0-8B00-6CAE2426BFA9}"/>
                    </a:ext>
                  </a:extLst>
                </p:cNvPr>
                <p:cNvSpPr txBox="1"/>
                <p:nvPr/>
              </p:nvSpPr>
              <p:spPr>
                <a:xfrm>
                  <a:off x="429779" y="2706833"/>
                  <a:ext cx="910827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work queue</a:t>
                  </a:r>
                  <a:endParaRPr lang="ko-KR" altLang="en-US" sz="1050" dirty="0"/>
                </a:p>
              </p:txBody>
            </p:sp>
            <p:grpSp>
              <p:nvGrpSpPr>
                <p:cNvPr id="264" name="그룹 263">
                  <a:extLst>
                    <a:ext uri="{FF2B5EF4-FFF2-40B4-BE49-F238E27FC236}">
                      <a16:creationId xmlns:a16="http://schemas.microsoft.com/office/drawing/2014/main" id="{7A918029-53A7-4C85-BC4D-3DF0F8C76427}"/>
                    </a:ext>
                  </a:extLst>
                </p:cNvPr>
                <p:cNvGrpSpPr/>
                <p:nvPr/>
              </p:nvGrpSpPr>
              <p:grpSpPr>
                <a:xfrm>
                  <a:off x="489941" y="2997325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5" name="모서리가 둥근 직사각형 233">
                    <a:extLst>
                      <a:ext uri="{FF2B5EF4-FFF2-40B4-BE49-F238E27FC236}">
                        <a16:creationId xmlns:a16="http://schemas.microsoft.com/office/drawing/2014/main" id="{2A169C89-2300-4622-A185-B9908471B292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AC000B18-6351-4F08-9C62-6CB8A658C5D3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1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65" name="그룹 264">
                  <a:extLst>
                    <a:ext uri="{FF2B5EF4-FFF2-40B4-BE49-F238E27FC236}">
                      <a16:creationId xmlns:a16="http://schemas.microsoft.com/office/drawing/2014/main" id="{2518B80D-8282-4EEB-956B-679D5958ACE9}"/>
                    </a:ext>
                  </a:extLst>
                </p:cNvPr>
                <p:cNvGrpSpPr/>
                <p:nvPr/>
              </p:nvGrpSpPr>
              <p:grpSpPr>
                <a:xfrm>
                  <a:off x="489941" y="3479840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3" name="모서리가 둥근 직사각형 231">
                    <a:extLst>
                      <a:ext uri="{FF2B5EF4-FFF2-40B4-BE49-F238E27FC236}">
                        <a16:creationId xmlns:a16="http://schemas.microsoft.com/office/drawing/2014/main" id="{FDE96DDE-B589-4061-8954-023C70252CD9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6CE78D1D-B9D4-43B2-AA0D-D95B9992701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3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1EEF3E81-2B98-4128-BABA-54443C16F66B}"/>
                    </a:ext>
                  </a:extLst>
                </p:cNvPr>
                <p:cNvGrpSpPr/>
                <p:nvPr/>
              </p:nvGrpSpPr>
              <p:grpSpPr>
                <a:xfrm>
                  <a:off x="489941" y="373496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1" name="모서리가 둥근 직사각형 229">
                    <a:extLst>
                      <a:ext uri="{FF2B5EF4-FFF2-40B4-BE49-F238E27FC236}">
                        <a16:creationId xmlns:a16="http://schemas.microsoft.com/office/drawing/2014/main" id="{2438B9E8-A073-4BBB-8948-554830921296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DAB9D6A-E929-4921-B896-2084E5ABD724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4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2" name="그룹 281">
                  <a:extLst>
                    <a:ext uri="{FF2B5EF4-FFF2-40B4-BE49-F238E27FC236}">
                      <a16:creationId xmlns:a16="http://schemas.microsoft.com/office/drawing/2014/main" id="{076F11A9-9364-4E6A-A826-5DBCAD01E9A8}"/>
                    </a:ext>
                  </a:extLst>
                </p:cNvPr>
                <p:cNvGrpSpPr/>
                <p:nvPr/>
              </p:nvGrpSpPr>
              <p:grpSpPr>
                <a:xfrm>
                  <a:off x="489941" y="3980247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87" name="모서리가 둥근 직사각형 227">
                    <a:extLst>
                      <a:ext uri="{FF2B5EF4-FFF2-40B4-BE49-F238E27FC236}">
                        <a16:creationId xmlns:a16="http://schemas.microsoft.com/office/drawing/2014/main" id="{1F09691A-0DBD-4D01-A7EF-05C7A560F54C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FA47DEA8-F78E-42DA-9913-02A674D57B3D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5</a:t>
                    </a:r>
                    <a:endParaRPr lang="ko-KR" altLang="en-US" sz="1050" dirty="0"/>
                  </a:p>
                </p:txBody>
              </p:sp>
            </p:grpSp>
            <p:cxnSp>
              <p:nvCxnSpPr>
                <p:cNvPr id="283" name="직선 화살표 연결선 282">
                  <a:extLst>
                    <a:ext uri="{FF2B5EF4-FFF2-40B4-BE49-F238E27FC236}">
                      <a16:creationId xmlns:a16="http://schemas.microsoft.com/office/drawing/2014/main" id="{3E7D45FE-F6B6-4FF0-A744-100ACFD206A2}"/>
                    </a:ext>
                  </a:extLst>
                </p:cNvPr>
                <p:cNvCxnSpPr/>
                <p:nvPr/>
              </p:nvCxnSpPr>
              <p:spPr>
                <a:xfrm>
                  <a:off x="1286954" y="3602837"/>
                  <a:ext cx="12989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AD738F9F-DA01-4BBA-B2D6-9B908D779557}"/>
                    </a:ext>
                  </a:extLst>
                </p:cNvPr>
                <p:cNvSpPr txBox="1"/>
                <p:nvPr/>
              </p:nvSpPr>
              <p:spPr>
                <a:xfrm>
                  <a:off x="1359966" y="347253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  <p:cxnSp>
              <p:nvCxnSpPr>
                <p:cNvPr id="285" name="직선 화살표 연결선 284">
                  <a:extLst>
                    <a:ext uri="{FF2B5EF4-FFF2-40B4-BE49-F238E27FC236}">
                      <a16:creationId xmlns:a16="http://schemas.microsoft.com/office/drawing/2014/main" id="{6BC863F9-3FB1-4A5A-B154-AB5BF8F8559A}"/>
                    </a:ext>
                  </a:extLst>
                </p:cNvPr>
                <p:cNvCxnSpPr>
                  <a:stCxn id="292" idx="3"/>
                </p:cNvCxnSpPr>
                <p:nvPr/>
              </p:nvCxnSpPr>
              <p:spPr>
                <a:xfrm>
                  <a:off x="1286954" y="3861926"/>
                  <a:ext cx="15608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7AF2F04B-E68C-4547-A81F-FAE77D1DB23D}"/>
                    </a:ext>
                  </a:extLst>
                </p:cNvPr>
                <p:cNvSpPr txBox="1"/>
                <p:nvPr/>
              </p:nvSpPr>
              <p:spPr>
                <a:xfrm>
                  <a:off x="1363638" y="373628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</p:grpSp>
          <p:sp>
            <p:nvSpPr>
              <p:cNvPr id="166" name="모서리가 둥근 직사각형 262">
                <a:extLst>
                  <a:ext uri="{FF2B5EF4-FFF2-40B4-BE49-F238E27FC236}">
                    <a16:creationId xmlns:a16="http://schemas.microsoft.com/office/drawing/2014/main" id="{9A6C1B79-B67A-4936-907B-4FE927F86E5B}"/>
                  </a:ext>
                </a:extLst>
              </p:cNvPr>
              <p:cNvSpPr/>
              <p:nvPr/>
            </p:nvSpPr>
            <p:spPr>
              <a:xfrm>
                <a:off x="9821575" y="3981487"/>
                <a:ext cx="906216" cy="338012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/>
                <a:r>
                  <a:rPr lang="en-US" altLang="ko-KR" sz="12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ScHBM</a:t>
                </a:r>
                <a:endParaRPr lang="ko-KR" altLang="en-US" sz="12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226" name="순서도: 자기 디스크 225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312166" y="305361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KV2</a:t>
                </a:r>
                <a:endParaRPr lang="ko-KR" altLang="en-US" sz="800" b="1" dirty="0"/>
              </a:p>
            </p:txBody>
          </p:sp>
          <p:sp>
            <p:nvSpPr>
              <p:cNvPr id="228" name="순서도: 자기 디스크 22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251802" y="3681533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KV5</a:t>
                </a:r>
                <a:endParaRPr lang="ko-KR" altLang="en-US" sz="800" b="1" dirty="0"/>
              </a:p>
            </p:txBody>
          </p:sp>
          <p:sp>
            <p:nvSpPr>
              <p:cNvPr id="229" name="순서도: 자기 디스크 228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7990790" y="467784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KV3</a:t>
                </a:r>
                <a:endParaRPr lang="ko-KR" altLang="en-US" sz="800" b="1" dirty="0"/>
              </a:p>
            </p:txBody>
          </p:sp>
          <p:sp>
            <p:nvSpPr>
              <p:cNvPr id="230" name="순서도: 자기 디스크 229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752193" y="4261538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KV4</a:t>
                </a:r>
                <a:endParaRPr lang="ko-KR" altLang="en-US" sz="800" b="1" dirty="0"/>
              </a:p>
            </p:txBody>
          </p:sp>
          <p:sp>
            <p:nvSpPr>
              <p:cNvPr id="231" name="대각선 방향의 모서리가 잘린 사각형 23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9312166" y="3290786"/>
                <a:ext cx="574622" cy="197237"/>
              </a:xfrm>
              <a:prstGeom prst="snip2DiagRect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Expert</a:t>
                </a:r>
                <a:endParaRPr lang="ko-KR" altLang="en-US" sz="900" dirty="0"/>
              </a:p>
            </p:txBody>
          </p:sp>
        </p:grpSp>
        <p:sp>
          <p:nvSpPr>
            <p:cNvPr id="220" name="순서도: 자기 디스크 219">
              <a:extLst>
                <a:ext uri="{FF2B5EF4-FFF2-40B4-BE49-F238E27FC236}">
                  <a16:creationId xmlns:a16="http://schemas.microsoft.com/office/drawing/2014/main" id="{B93D3D46-2EAF-4F46-8D70-4B0856C6C363}"/>
                </a:ext>
              </a:extLst>
            </p:cNvPr>
            <p:cNvSpPr/>
            <p:nvPr/>
          </p:nvSpPr>
          <p:spPr>
            <a:xfrm>
              <a:off x="9349442" y="5048468"/>
              <a:ext cx="754531" cy="291948"/>
            </a:xfrm>
            <a:prstGeom prst="flowChartMagneticDisk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Vector </a:t>
              </a:r>
              <a:r>
                <a:rPr lang="en-US" altLang="ko-KR" sz="800" dirty="0" err="1"/>
                <a:t>Idx</a:t>
              </a:r>
              <a:r>
                <a:rPr lang="en-US" altLang="ko-KR" sz="800" dirty="0"/>
                <a:t> Cache</a:t>
              </a:r>
              <a:endParaRPr lang="ko-KR" altLang="en-US" sz="800" dirty="0"/>
            </a:p>
          </p:txBody>
        </p:sp>
      </p:grp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8BD091E-84A4-4AF0-9C69-9D493ED1BE5B}"/>
              </a:ext>
            </a:extLst>
          </p:cNvPr>
          <p:cNvCxnSpPr>
            <a:stCxn id="138" idx="3"/>
            <a:endCxn id="140" idx="1"/>
          </p:cNvCxnSpPr>
          <p:nvPr/>
        </p:nvCxnSpPr>
        <p:spPr>
          <a:xfrm>
            <a:off x="9517632" y="5593580"/>
            <a:ext cx="512853" cy="15529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6025681"/>
            <a:ext cx="817052" cy="22310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메모리</a:t>
            </a:r>
          </a:p>
        </p:txBody>
      </p:sp>
      <p:sp>
        <p:nvSpPr>
          <p:cNvPr id="233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5765354"/>
            <a:ext cx="817052" cy="2231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</a:t>
            </a:r>
          </a:p>
        </p:txBody>
      </p:sp>
      <p:sp>
        <p:nvSpPr>
          <p:cNvPr id="234" name="실행 단추: 앞으로 또는 다음 233">
            <a:hlinkClick r:id="" action="ppaction://noaction" highlightClick="1"/>
          </p:cNvPr>
          <p:cNvSpPr/>
          <p:nvPr/>
        </p:nvSpPr>
        <p:spPr>
          <a:xfrm>
            <a:off x="5639954" y="1126338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/>
          <p:cNvSpPr/>
          <p:nvPr/>
        </p:nvSpPr>
        <p:spPr>
          <a:xfrm>
            <a:off x="6357908" y="4019550"/>
            <a:ext cx="5535079" cy="22557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7715788" y="3876574"/>
            <a:ext cx="2903360" cy="253916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/>
              <a:t>&lt;</a:t>
            </a:r>
            <a:r>
              <a:rPr lang="ko-KR" altLang="en-US" sz="1050" dirty="0"/>
              <a:t>이기종 메모리 기반 데이터 배치 시나리오</a:t>
            </a:r>
            <a:r>
              <a:rPr lang="en-US" altLang="ko-KR" sz="1050" dirty="0"/>
              <a:t>&gt;</a:t>
            </a:r>
            <a:endParaRPr lang="ko-KR" altLang="en-US" sz="1050" dirty="0"/>
          </a:p>
        </p:txBody>
      </p:sp>
      <p:sp>
        <p:nvSpPr>
          <p:cNvPr id="237" name="Text 22"/>
          <p:cNvSpPr/>
          <p:nvPr/>
        </p:nvSpPr>
        <p:spPr>
          <a:xfrm>
            <a:off x="5181906" y="1154838"/>
            <a:ext cx="458048" cy="158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*KV </a:t>
            </a:r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캐시 </a:t>
            </a:r>
            <a:endParaRPr lang="en-US" altLang="ko-KR" sz="800" b="1" dirty="0">
              <a:solidFill>
                <a:schemeClr val="bg1">
                  <a:lumMod val="50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1BC9BB-87A4-44D8-8E2B-13F5A972E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16" y="1382834"/>
            <a:ext cx="4874080" cy="22495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A943532-133E-4E8D-B3A2-82832428E82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370"/>
          <a:stretch/>
        </p:blipFill>
        <p:spPr>
          <a:xfrm>
            <a:off x="767447" y="4037881"/>
            <a:ext cx="4703015" cy="2394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0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 22"/>
          <p:cNvSpPr/>
          <p:nvPr/>
        </p:nvSpPr>
        <p:spPr>
          <a:xfrm>
            <a:off x="383682" y="5989237"/>
            <a:ext cx="8321945" cy="57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특성</a:t>
            </a:r>
            <a:r>
              <a:rPr lang="en-US" altLang="ko-KR" sz="1200" dirty="0">
                <a:latin typeface="맑은 고딕" panose="020B0503020000020004" pitchFamily="50" charset="-127"/>
              </a:rPr>
              <a:t>, </a:t>
            </a:r>
            <a:r>
              <a:rPr lang="ko-KR" altLang="en-US" sz="1200" dirty="0">
                <a:latin typeface="맑은 고딕" panose="020B0503020000020004" pitchFamily="50" charset="-127"/>
              </a:rPr>
              <a:t>데이터 특성을 </a:t>
            </a:r>
            <a:r>
              <a:rPr lang="en-US" altLang="ko-KR" sz="1200" dirty="0">
                <a:latin typeface="맑은 고딕" panose="020B0503020000020004" pitchFamily="50" charset="-127"/>
              </a:rPr>
              <a:t>aware</a:t>
            </a:r>
            <a:r>
              <a:rPr lang="ko-KR" altLang="en-US" sz="1200" dirty="0">
                <a:latin typeface="맑은 고딕" panose="020B0503020000020004" pitchFamily="50" charset="-127"/>
              </a:rPr>
              <a:t>한 데이터 </a:t>
            </a:r>
            <a:r>
              <a:rPr lang="en-US" altLang="ko-KR" sz="1200" dirty="0">
                <a:latin typeface="맑은 고딕" panose="020B0503020000020004" pitchFamily="50" charset="-127"/>
              </a:rPr>
              <a:t>Migration</a:t>
            </a:r>
            <a:r>
              <a:rPr lang="ko-KR" altLang="en-US" sz="1200" dirty="0">
                <a:latin typeface="맑은 고딕" panose="020B0503020000020004" pitchFamily="50" charset="-127"/>
              </a:rPr>
              <a:t>을 통해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AI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확장 시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기존 구조 변경을 최소화</a:t>
            </a:r>
            <a:endParaRPr lang="en-US" altLang="ko-KR" sz="1200" dirty="0">
              <a:latin typeface="맑은 고딕" panose="020B0503020000020004" pitchFamily="50" charset="-127"/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21729"/>
            <a:ext cx="5694021" cy="4666036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675855"/>
            <a:ext cx="3749552" cy="28501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To-Be: </a:t>
            </a:r>
            <a:r>
              <a:rPr lang="ko-KR" altLang="en-US" sz="1100" b="1" dirty="0"/>
              <a:t>이기종 메모리 기반 </a:t>
            </a:r>
            <a:r>
              <a:rPr lang="en-US" altLang="ko-KR" sz="1100" b="1" dirty="0"/>
              <a:t>Data Migration </a:t>
            </a:r>
            <a:r>
              <a:rPr lang="ko-KR" altLang="en-US" sz="1100" b="1" dirty="0"/>
              <a:t>구조 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692846"/>
            <a:ext cx="5674740" cy="4794919"/>
            <a:chOff x="211958" y="3004152"/>
            <a:chExt cx="6173883" cy="5378345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148717"/>
              <a:ext cx="6173883" cy="5233780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04152"/>
              <a:ext cx="4046740" cy="33486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As-Is: </a:t>
              </a:r>
              <a:r>
                <a:rPr lang="ko-KR" altLang="en-US" sz="1200" b="1" dirty="0"/>
                <a:t>vLLM 기존 </a:t>
              </a:r>
              <a:r>
                <a:rPr lang="en-US" altLang="ko-KR" sz="1200" b="1" dirty="0"/>
                <a:t>메모리 관리 </a:t>
              </a:r>
              <a:r>
                <a:rPr lang="ko-KR" altLang="en-US" sz="1200" b="1" dirty="0"/>
                <a:t>구조 (타입별 독립)</a:t>
              </a:r>
            </a:p>
          </p:txBody>
        </p:sp>
      </p:grpSp>
      <p:sp>
        <p:nvSpPr>
          <p:cNvPr id="173" name="Text 22"/>
          <p:cNvSpPr/>
          <p:nvPr/>
        </p:nvSpPr>
        <p:spPr>
          <a:xfrm>
            <a:off x="805910" y="5613532"/>
            <a:ext cx="8761226" cy="325343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System-Level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메모리의 효율적 활용을 위해 이기종 메모리 환경 기반 데이터 </a:t>
            </a:r>
            <a:r>
              <a:rPr lang="ko-KR" altLang="en-US" sz="1200" b="1" dirty="0" err="1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이동〮배치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구조 필요 </a:t>
            </a:r>
            <a:endParaRPr lang="en-US" altLang="ko-KR" sz="1200" b="1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  <a:sym typeface="Wingdings" panose="05000000000000000000" pitchFamily="2" charset="2"/>
            </a:endParaRPr>
          </a:p>
        </p:txBody>
      </p:sp>
      <p:sp>
        <p:nvSpPr>
          <p:cNvPr id="40" name="오른쪽 화살표 39"/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Fig_AsIs_vLLM_Native"/>
          <p:cNvGrpSpPr/>
          <p:nvPr/>
        </p:nvGrpSpPr>
        <p:grpSpPr>
          <a:xfrm>
            <a:off x="457200" y="1106043"/>
            <a:ext cx="5349240" cy="4177449"/>
            <a:chOff x="457200" y="1115568"/>
            <a:chExt cx="5349240" cy="4177449"/>
          </a:xfrm>
        </p:grpSpPr>
        <p:sp>
          <p:nvSpPr>
            <p:cNvPr id="501" name="AsIs Engine 501"/>
            <p:cNvSpPr/>
            <p:nvPr/>
          </p:nvSpPr>
          <p:spPr>
            <a:xfrm>
              <a:off x="457200" y="1115568"/>
              <a:ext cx="5349240" cy="560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2" name="AsIs TextBox 502"/>
            <p:cNvSpPr txBox="1"/>
            <p:nvPr/>
          </p:nvSpPr>
          <p:spPr>
            <a:xfrm>
              <a:off x="512064" y="1160000"/>
              <a:ext cx="5239512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vLLM (Inference Engine)</a:t>
              </a:r>
            </a:p>
          </p:txBody>
        </p:sp>
        <p:sp>
          <p:nvSpPr>
            <p:cNvPr id="506" name="AsIs MissingLayer 506"/>
            <p:cNvSpPr/>
            <p:nvPr/>
          </p:nvSpPr>
          <p:spPr>
            <a:xfrm>
              <a:off x="457200" y="1790000"/>
              <a:ext cx="5349240" cy="11800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7" name="AsIs TextBox 507"/>
            <p:cNvSpPr txBox="1"/>
            <p:nvPr/>
          </p:nvSpPr>
          <p:spPr>
            <a:xfrm>
              <a:off x="512064" y="1830000"/>
              <a:ext cx="5239512" cy="17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이기종 메모리 aware Migration Layer  —  vLLM에 없음 (부재)</a:t>
              </a:r>
            </a:p>
          </p:txBody>
        </p:sp>
        <p:sp>
          <p:nvSpPr>
            <p:cNvPr id="508" name="AsIs Missing 508"/>
            <p:cNvSpPr/>
            <p:nvPr/>
          </p:nvSpPr>
          <p:spPr>
            <a:xfrm>
              <a:off x="512064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509" name="AsIs Missing 509"/>
            <p:cNvSpPr/>
            <p:nvPr/>
          </p:nvSpPr>
          <p:spPr>
            <a:xfrm>
              <a:off x="2278568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Scheduler</a:t>
              </a:r>
            </a:p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(Monitor·Predict)</a:t>
              </a:r>
            </a:p>
          </p:txBody>
        </p:sp>
        <p:sp>
          <p:nvSpPr>
            <p:cNvPr id="510" name="AsIs Missing 510"/>
            <p:cNvSpPr/>
            <p:nvPr/>
          </p:nvSpPr>
          <p:spPr>
            <a:xfrm>
              <a:off x="4045072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511" name="AsIs TextBox 511"/>
            <p:cNvSpPr txBox="1"/>
            <p:nvPr/>
          </p:nvSpPr>
          <p:spPr>
            <a:xfrm>
              <a:off x="512064" y="2540000"/>
              <a:ext cx="5239512" cy="38000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데이터 타입(KV·Weight·LoRA·Expert) 인지 없음</a:t>
              </a:r>
            </a:p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메모리 특성(BW·Latency·용량) 기반 배치·사전 이동 없음</a:t>
              </a:r>
            </a:p>
          </p:txBody>
        </p:sp>
        <p:sp>
          <p:nvSpPr>
            <p:cNvPr id="520" name="AsIs Mem 520"/>
            <p:cNvSpPr/>
            <p:nvPr/>
          </p:nvSpPr>
          <p:spPr>
            <a:xfrm>
              <a:off x="1755013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CPU DRAM</a:t>
              </a:r>
            </a:p>
          </p:txBody>
        </p:sp>
        <p:sp>
          <p:nvSpPr>
            <p:cNvPr id="521" name="AsIs Mem 521"/>
            <p:cNvSpPr/>
            <p:nvPr/>
          </p:nvSpPr>
          <p:spPr>
            <a:xfrm>
              <a:off x="3167606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Disk SSD</a:t>
              </a:r>
            </a:p>
          </p:txBody>
        </p:sp>
        <p:sp>
          <p:nvSpPr>
            <p:cNvPr id="522" name="AsIs MemNew 522"/>
            <p:cNvSpPr/>
            <p:nvPr/>
          </p:nvSpPr>
          <p:spPr>
            <a:xfrm>
              <a:off x="4552932" y="3919314"/>
              <a:ext cx="1156707" cy="280000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신규 메모리 ✕</a:t>
              </a:r>
            </a:p>
          </p:txBody>
        </p:sp>
        <p:sp>
          <p:nvSpPr>
            <p:cNvPr id="523" name="AsIs TextBox 523"/>
            <p:cNvSpPr txBox="1"/>
            <p:nvPr/>
          </p:nvSpPr>
          <p:spPr>
            <a:xfrm>
              <a:off x="1776161" y="4263766"/>
              <a:ext cx="2782889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Tier 고정(HBM·DRAM·SSD) — 신규 메모리 대응 I/</a:t>
              </a:r>
              <a:r>
                <a:rPr lang="ko-KR" sz="750" b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F</a:t>
              </a:r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 없음</a:t>
              </a:r>
            </a:p>
          </p:txBody>
        </p:sp>
        <p:sp>
          <p:nvSpPr>
            <p:cNvPr id="524" name="AsIs Note 524"/>
            <p:cNvSpPr/>
            <p:nvPr/>
          </p:nvSpPr>
          <p:spPr>
            <a:xfrm>
              <a:off x="457200" y="4523859"/>
              <a:ext cx="5349240" cy="76915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54864" rIns="54864" bIns="54864" rtlCol="0" anchor="ctr"/>
            <a:lstStyle/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① </a:t>
              </a:r>
              <a:r>
                <a:rPr lang="en-US" alt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Data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Migration Layer 부재 → 데이터 특성 무관, 타입별 LRU·고정 정책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② 메모리 </a:t>
              </a:r>
              <a:r>
                <a:rPr lang="ko-KR" sz="950" b="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Tier</a:t>
              </a:r>
              <a:r>
                <a:rPr lang="ko-KR" altLang="en-US" sz="95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별</a:t>
              </a:r>
              <a:r>
                <a:rPr lang="ko-KR" altLang="en-US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Backend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고정 → 신규 메모리마다 타입별 코드 수정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③ 이동은 반응형(부족 시 Evict·Preempt·Miss 조회), 사전 예측 없음</a:t>
              </a:r>
            </a:p>
          </p:txBody>
        </p:sp>
        <p:sp>
          <p:nvSpPr>
            <p:cNvPr id="143" name="AsIs Mem 520">
              <a:extLst>
                <a:ext uri="{FF2B5EF4-FFF2-40B4-BE49-F238E27FC236}">
                  <a16:creationId xmlns:a16="http://schemas.microsoft.com/office/drawing/2014/main" id="{895FA672-34D4-4B38-BAC1-276D775DEDD6}"/>
                </a:ext>
              </a:extLst>
            </p:cNvPr>
            <p:cNvSpPr/>
            <p:nvPr/>
          </p:nvSpPr>
          <p:spPr>
            <a:xfrm>
              <a:off x="1755013" y="3447915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LocalCPUBackend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4" name="AsIs Mem 521">
              <a:extLst>
                <a:ext uri="{FF2B5EF4-FFF2-40B4-BE49-F238E27FC236}">
                  <a16:creationId xmlns:a16="http://schemas.microsoft.com/office/drawing/2014/main" id="{963741BC-C4FF-49DD-A18B-A2DC84E7EB73}"/>
                </a:ext>
              </a:extLst>
            </p:cNvPr>
            <p:cNvSpPr/>
            <p:nvPr/>
          </p:nvSpPr>
          <p:spPr>
            <a:xfrm>
              <a:off x="3167606" y="3455711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LocalDiskBackend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4" name="Fig_ToBe_HeteroMigration"/>
          <p:cNvGrpSpPr/>
          <p:nvPr/>
        </p:nvGrpSpPr>
        <p:grpSpPr>
          <a:xfrm>
            <a:off x="6382512" y="1115568"/>
            <a:ext cx="5498592" cy="4285171"/>
            <a:chOff x="6382512" y="1115568"/>
            <a:chExt cx="5498592" cy="4285171"/>
          </a:xfrm>
        </p:grpSpPr>
        <p:sp>
          <p:nvSpPr>
            <p:cNvPr id="261" name="Rectangle 260"/>
            <p:cNvSpPr/>
            <p:nvPr/>
          </p:nvSpPr>
          <p:spPr>
            <a:xfrm>
              <a:off x="6382512" y="1115568"/>
              <a:ext cx="5458968" cy="6400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6437376" y="1174334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Inference Engine / KV Offload Engine (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기존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I/F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유지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)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473952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Scheduler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872984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Cache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gr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9272016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KV Connector</a:t>
              </a:r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0671048" y="1371600"/>
              <a:ext cx="1051560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Model Runner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8057798" y="1755648"/>
              <a:ext cx="0" cy="256032"/>
            </a:xfrm>
            <a:prstGeom prst="line">
              <a:avLst/>
            </a:prstGeom>
            <a:ln w="15875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8121806" y="1811515"/>
              <a:ext cx="201168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</a:rPr>
                <a:t>Event push(비동기): 요청·Tool 호출·Access</a:t>
              </a:r>
            </a:p>
          </p:txBody>
        </p:sp>
        <p:cxnSp>
          <p:nvCxnSpPr>
            <p:cNvPr id="270" name="Connector 269"/>
            <p:cNvCxnSpPr/>
            <p:nvPr/>
          </p:nvCxnSpPr>
          <p:spPr>
            <a:xfrm flipV="1">
              <a:off x="11338560" y="1755648"/>
              <a:ext cx="0" cy="256032"/>
            </a:xfrm>
            <a:prstGeom prst="line">
              <a:avLst/>
            </a:prstGeom>
            <a:ln w="15875">
              <a:solidFill>
                <a:srgbClr val="4472C4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TextBox 270"/>
            <p:cNvSpPr txBox="1"/>
            <p:nvPr/>
          </p:nvSpPr>
          <p:spPr>
            <a:xfrm>
              <a:off x="10469880" y="1811515"/>
              <a:ext cx="82296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r"/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위치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조회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/ Hint</a:t>
              </a: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6422136" y="2012341"/>
              <a:ext cx="5458968" cy="2395728"/>
            </a:xfrm>
            <a:prstGeom prst="rect">
              <a:avLst/>
            </a:prstGeom>
            <a:solidFill>
              <a:srgbClr val="FFFBF8"/>
            </a:solidFill>
            <a:ln w="1270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3" name="TextBox 272"/>
            <p:cNvSpPr txBox="1"/>
            <p:nvPr/>
          </p:nvSpPr>
          <p:spPr>
            <a:xfrm>
              <a:off x="6437376" y="2070446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>
                  <a:solidFill>
                    <a:srgbClr val="C55A11"/>
                  </a:solidFill>
                  <a:latin typeface="맑은 고딕"/>
                  <a:ea typeface="맑은 고딕"/>
                </a:rPr>
                <a:t>이기종 메모리 aware Migration Layer (신규)</a:t>
              </a: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6473952" y="2286000"/>
              <a:ext cx="1234440" cy="201168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5" name="TextBox 274"/>
            <p:cNvSpPr txBox="1"/>
            <p:nvPr/>
          </p:nvSpPr>
          <p:spPr>
            <a:xfrm>
              <a:off x="6492240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537960" y="259458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(System Prompt)</a:t>
              </a:r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6537960" y="291925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(Agent Memory)</a:t>
              </a:r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6537960" y="324392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LoRA Adapter</a:t>
              </a: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6537960" y="356859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MoE</a:t>
              </a:r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Expert</a:t>
              </a:r>
            </a:p>
          </p:txBody>
        </p:sp>
        <p:sp>
          <p:nvSpPr>
            <p:cNvPr id="281" name="TextBox 280"/>
            <p:cNvSpPr txBox="1"/>
            <p:nvPr/>
          </p:nvSpPr>
          <p:spPr>
            <a:xfrm>
              <a:off x="6492240" y="3942067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Class별 Metadata</a:t>
              </a:r>
            </a:p>
          </p:txBody>
        </p:sp>
        <p:sp>
          <p:nvSpPr>
            <p:cNvPr id="282" name="TextBox 281"/>
            <p:cNvSpPr txBox="1"/>
            <p:nvPr/>
          </p:nvSpPr>
          <p:spPr>
            <a:xfrm>
              <a:off x="6492240" y="4097515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(Reuse · Lifetime · Tool)</a:t>
              </a: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0515600" y="2286000"/>
              <a:ext cx="1234440" cy="20116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84" name="TextBox 283"/>
            <p:cNvSpPr txBox="1"/>
            <p:nvPr/>
          </p:nvSpPr>
          <p:spPr>
            <a:xfrm>
              <a:off x="10533888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Resource Manager</a:t>
              </a:r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0579608" y="2542032"/>
              <a:ext cx="1106424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Telemetry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Collector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579608" y="3353892"/>
              <a:ext cx="1106424" cy="685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Memory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Registry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7882127" y="2286000"/>
              <a:ext cx="2468880" cy="27432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Scheduler</a:t>
              </a:r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882127" y="2695887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Monitor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882127" y="3207570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Analyze / Predict</a:t>
              </a: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7882127" y="3682518"/>
              <a:ext cx="2468880" cy="331927"/>
            </a:xfrm>
            <a:prstGeom prst="rect">
              <a:avLst/>
            </a:prstGeom>
            <a:solidFill>
              <a:srgbClr val="C55A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Destination Tier · </a:t>
              </a:r>
              <a:endParaRPr lang="en-US"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Migration </a:t>
              </a:r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Data </a:t>
              </a:r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Selector</a:t>
              </a:r>
              <a:endParaRPr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91" name="Connector 290"/>
            <p:cNvCxnSpPr/>
            <p:nvPr/>
          </p:nvCxnSpPr>
          <p:spPr>
            <a:xfrm>
              <a:off x="9116567" y="2560320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Connector 291"/>
            <p:cNvCxnSpPr/>
            <p:nvPr/>
          </p:nvCxnSpPr>
          <p:spPr>
            <a:xfrm>
              <a:off x="9116567" y="3062478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Connector 292"/>
            <p:cNvCxnSpPr/>
            <p:nvPr/>
          </p:nvCxnSpPr>
          <p:spPr>
            <a:xfrm>
              <a:off x="9116567" y="3564636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Rectangle 293"/>
            <p:cNvSpPr/>
            <p:nvPr/>
          </p:nvSpPr>
          <p:spPr>
            <a:xfrm>
              <a:off x="7882127" y="4096512"/>
              <a:ext cx="2468880" cy="23774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cxnSp>
          <p:nvCxnSpPr>
            <p:cNvPr id="295" name="Connector 294"/>
            <p:cNvCxnSpPr/>
            <p:nvPr/>
          </p:nvCxnSpPr>
          <p:spPr>
            <a:xfrm>
              <a:off x="9116567" y="4014215"/>
              <a:ext cx="0" cy="82297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Connector 295"/>
            <p:cNvCxnSpPr/>
            <p:nvPr/>
          </p:nvCxnSpPr>
          <p:spPr>
            <a:xfrm>
              <a:off x="7708392" y="2889504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Connector 296"/>
            <p:cNvCxnSpPr/>
            <p:nvPr/>
          </p:nvCxnSpPr>
          <p:spPr>
            <a:xfrm>
              <a:off x="7708392" y="3877056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or 297"/>
            <p:cNvCxnSpPr/>
            <p:nvPr/>
          </p:nvCxnSpPr>
          <p:spPr>
            <a:xfrm flipH="1">
              <a:off x="10351008" y="28895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or 298"/>
            <p:cNvCxnSpPr/>
            <p:nvPr/>
          </p:nvCxnSpPr>
          <p:spPr>
            <a:xfrm flipH="1">
              <a:off x="10351008" y="3877056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ounded Rectangle 299"/>
            <p:cNvSpPr/>
            <p:nvPr/>
          </p:nvSpPr>
          <p:spPr>
            <a:xfrm>
              <a:off x="11183111" y="2048256"/>
              <a:ext cx="566928" cy="182880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1</a:t>
              </a:r>
            </a:p>
          </p:txBody>
        </p:sp>
        <p:cxnSp>
          <p:nvCxnSpPr>
            <p:cNvPr id="301" name="Connector 300"/>
            <p:cNvCxnSpPr/>
            <p:nvPr/>
          </p:nvCxnSpPr>
          <p:spPr>
            <a:xfrm>
              <a:off x="9116567" y="4334256"/>
              <a:ext cx="0" cy="192024"/>
            </a:xfrm>
            <a:prstGeom prst="line">
              <a:avLst/>
            </a:prstGeom>
            <a:ln w="15875">
              <a:solidFill>
                <a:srgbClr val="C55A1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Rectangle 301"/>
            <p:cNvSpPr/>
            <p:nvPr/>
          </p:nvSpPr>
          <p:spPr>
            <a:xfrm>
              <a:off x="6382512" y="4526280"/>
              <a:ext cx="5458968" cy="27432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공통</a:t>
              </a:r>
              <a:r>
                <a:rPr sz="8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 Memory Backend I/F (Plug-in)</a:t>
              </a:r>
            </a:p>
          </p:txBody>
        </p:sp>
        <p:sp>
          <p:nvSpPr>
            <p:cNvPr id="303" name="Rounded Rectangle 302"/>
            <p:cNvSpPr/>
            <p:nvPr/>
          </p:nvSpPr>
          <p:spPr>
            <a:xfrm>
              <a:off x="11219688" y="4562856"/>
              <a:ext cx="566928" cy="201168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2</a:t>
              </a: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638251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HBM</a:t>
              </a:r>
            </a:p>
          </p:txBody>
        </p:sp>
        <p:cxnSp>
          <p:nvCxnSpPr>
            <p:cNvPr id="305" name="Connector 304"/>
            <p:cNvCxnSpPr/>
            <p:nvPr/>
          </p:nvCxnSpPr>
          <p:spPr>
            <a:xfrm>
              <a:off x="669340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707562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ScHBM</a:t>
              </a:r>
            </a:p>
          </p:txBody>
        </p:sp>
        <p:cxnSp>
          <p:nvCxnSpPr>
            <p:cNvPr id="307" name="Connector 306"/>
            <p:cNvCxnSpPr/>
            <p:nvPr/>
          </p:nvCxnSpPr>
          <p:spPr>
            <a:xfrm>
              <a:off x="738652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8" name="Rectangle 307"/>
            <p:cNvSpPr/>
            <p:nvPr/>
          </p:nvSpPr>
          <p:spPr>
            <a:xfrm>
              <a:off x="776874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DRAM</a:t>
              </a:r>
            </a:p>
          </p:txBody>
        </p:sp>
        <p:cxnSp>
          <p:nvCxnSpPr>
            <p:cNvPr id="309" name="Connector 308"/>
            <p:cNvCxnSpPr/>
            <p:nvPr/>
          </p:nvCxnSpPr>
          <p:spPr>
            <a:xfrm>
              <a:off x="807963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Rectangle 309"/>
            <p:cNvSpPr/>
            <p:nvPr/>
          </p:nvSpPr>
          <p:spPr>
            <a:xfrm>
              <a:off x="846185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CXL-PNM</a:t>
              </a:r>
            </a:p>
          </p:txBody>
        </p:sp>
        <p:cxnSp>
          <p:nvCxnSpPr>
            <p:cNvPr id="311" name="Connector 310"/>
            <p:cNvCxnSpPr/>
            <p:nvPr/>
          </p:nvCxnSpPr>
          <p:spPr>
            <a:xfrm>
              <a:off x="877275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Rectangle 311"/>
            <p:cNvSpPr/>
            <p:nvPr/>
          </p:nvSpPr>
          <p:spPr>
            <a:xfrm>
              <a:off x="9154972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HBF</a:t>
              </a:r>
            </a:p>
          </p:txBody>
        </p:sp>
        <p:cxnSp>
          <p:nvCxnSpPr>
            <p:cNvPr id="313" name="Connector 312"/>
            <p:cNvCxnSpPr/>
            <p:nvPr/>
          </p:nvCxnSpPr>
          <p:spPr>
            <a:xfrm>
              <a:off x="946586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Rectangle 313"/>
            <p:cNvSpPr/>
            <p:nvPr/>
          </p:nvSpPr>
          <p:spPr>
            <a:xfrm>
              <a:off x="9848088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</a:t>
              </a:r>
            </a:p>
          </p:txBody>
        </p:sp>
        <p:cxnSp>
          <p:nvCxnSpPr>
            <p:cNvPr id="315" name="Connector 314"/>
            <p:cNvCxnSpPr/>
            <p:nvPr/>
          </p:nvCxnSpPr>
          <p:spPr>
            <a:xfrm>
              <a:off x="1015898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Rectangle 315"/>
            <p:cNvSpPr/>
            <p:nvPr/>
          </p:nvSpPr>
          <p:spPr>
            <a:xfrm>
              <a:off x="10541203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SSD-PIM</a:t>
              </a:r>
            </a:p>
          </p:txBody>
        </p:sp>
        <p:cxnSp>
          <p:nvCxnSpPr>
            <p:cNvPr id="317" name="Connector 316"/>
            <p:cNvCxnSpPr/>
            <p:nvPr/>
          </p:nvCxnSpPr>
          <p:spPr>
            <a:xfrm>
              <a:off x="10852099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8" name="Rectangle 317"/>
            <p:cNvSpPr/>
            <p:nvPr/>
          </p:nvSpPr>
          <p:spPr>
            <a:xfrm>
              <a:off x="11234318" y="4892040"/>
              <a:ext cx="621792" cy="2743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+ New</a:t>
              </a:r>
            </a:p>
          </p:txBody>
        </p:sp>
        <p:cxnSp>
          <p:nvCxnSpPr>
            <p:cNvPr id="319" name="Connector 318"/>
            <p:cNvCxnSpPr/>
            <p:nvPr/>
          </p:nvCxnSpPr>
          <p:spPr>
            <a:xfrm>
              <a:off x="1154521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Rectangle 319"/>
            <p:cNvSpPr/>
            <p:nvPr/>
          </p:nvSpPr>
          <p:spPr>
            <a:xfrm>
              <a:off x="9948672" y="5257800"/>
              <a:ext cx="146304" cy="109728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1" name="TextBox 320"/>
            <p:cNvSpPr txBox="1"/>
            <p:nvPr/>
          </p:nvSpPr>
          <p:spPr>
            <a:xfrm>
              <a:off x="1013155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신규 메모리</a:t>
              </a:r>
            </a:p>
          </p:txBody>
        </p:sp>
        <p:sp>
          <p:nvSpPr>
            <p:cNvPr id="322" name="Rectangle 321"/>
            <p:cNvSpPr/>
            <p:nvPr/>
          </p:nvSpPr>
          <p:spPr>
            <a:xfrm>
              <a:off x="10908792" y="5257800"/>
              <a:ext cx="146304" cy="109728"/>
            </a:xfrm>
            <a:prstGeom prst="rect">
              <a:avLst/>
            </a:prstGeom>
            <a:solidFill>
              <a:srgbClr val="E7E6E6"/>
            </a:solidFill>
            <a:ln w="635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1109167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기존 메모리</a:t>
              </a:r>
            </a:p>
          </p:txBody>
        </p:sp>
        <p:sp>
          <p:nvSpPr>
            <p:cNvPr id="324" name="TextBox 323"/>
            <p:cNvSpPr txBox="1"/>
            <p:nvPr/>
          </p:nvSpPr>
          <p:spPr>
            <a:xfrm>
              <a:off x="6382512" y="5293017"/>
              <a:ext cx="329184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※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추상화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뷰 —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상세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구조는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설계</a:t>
              </a:r>
              <a:r>
                <a:rPr lang="ko-KR" altLang="en-US" sz="700" dirty="0">
                  <a:solidFill>
                    <a:srgbClr val="595959"/>
                  </a:solidFill>
                  <a:latin typeface="맑은 고딕"/>
                  <a:ea typeface="맑은 고딕"/>
                </a:rPr>
                <a:t>페이지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참조</a:t>
              </a:r>
              <a:endParaRPr sz="700" b="0" dirty="0">
                <a:solidFill>
                  <a:srgbClr val="595959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16" name="Rectangle 262">
            <a:extLst>
              <a:ext uri="{FF2B5EF4-FFF2-40B4-BE49-F238E27FC236}">
                <a16:creationId xmlns:a16="http://schemas.microsoft.com/office/drawing/2014/main" id="{5E5E24D5-DD07-4B93-AB37-DDD32A3A2D27}"/>
              </a:ext>
            </a:extLst>
          </p:cNvPr>
          <p:cNvSpPr/>
          <p:nvPr/>
        </p:nvSpPr>
        <p:spPr>
          <a:xfrm>
            <a:off x="502920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17" name="Rectangle 263">
            <a:extLst>
              <a:ext uri="{FF2B5EF4-FFF2-40B4-BE49-F238E27FC236}">
                <a16:creationId xmlns:a16="http://schemas.microsoft.com/office/drawing/2014/main" id="{74394127-A72E-4631-A782-D747A9EDD11B}"/>
              </a:ext>
            </a:extLst>
          </p:cNvPr>
          <p:cNvSpPr/>
          <p:nvPr/>
        </p:nvSpPr>
        <p:spPr>
          <a:xfrm>
            <a:off x="1901952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Cache </a:t>
            </a:r>
            <a:r>
              <a:rPr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M</a:t>
            </a:r>
            <a:r>
              <a:rPr lang="en-US"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gr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sp>
        <p:nvSpPr>
          <p:cNvPr id="118" name="Rectangle 264">
            <a:extLst>
              <a:ext uri="{FF2B5EF4-FFF2-40B4-BE49-F238E27FC236}">
                <a16:creationId xmlns:a16="http://schemas.microsoft.com/office/drawing/2014/main" id="{0EE1B332-E102-4A40-9243-E6E92E237C41}"/>
              </a:ext>
            </a:extLst>
          </p:cNvPr>
          <p:cNvSpPr/>
          <p:nvPr/>
        </p:nvSpPr>
        <p:spPr>
          <a:xfrm>
            <a:off x="3300984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Connector</a:t>
            </a:r>
          </a:p>
        </p:txBody>
      </p:sp>
      <p:sp>
        <p:nvSpPr>
          <p:cNvPr id="119" name="Rectangle 266">
            <a:extLst>
              <a:ext uri="{FF2B5EF4-FFF2-40B4-BE49-F238E27FC236}">
                <a16:creationId xmlns:a16="http://schemas.microsoft.com/office/drawing/2014/main" id="{A3BC80FB-7FE1-4783-895D-524998D7C601}"/>
              </a:ext>
            </a:extLst>
          </p:cNvPr>
          <p:cNvSpPr/>
          <p:nvPr/>
        </p:nvSpPr>
        <p:spPr>
          <a:xfrm>
            <a:off x="4700016" y="1345886"/>
            <a:ext cx="1051560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Model Runner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45" name="직선 화살표 연결선 185">
            <a:extLst>
              <a:ext uri="{FF2B5EF4-FFF2-40B4-BE49-F238E27FC236}">
                <a16:creationId xmlns:a16="http://schemas.microsoft.com/office/drawing/2014/main" id="{52794E2E-8A35-4B3D-B9FE-0291022DBE61}"/>
              </a:ext>
            </a:extLst>
          </p:cNvPr>
          <p:cNvCxnSpPr>
            <a:cxnSpLocks/>
            <a:stCxn id="144" idx="2"/>
            <a:endCxn id="521" idx="0"/>
          </p:cNvCxnSpPr>
          <p:nvPr/>
        </p:nvCxnSpPr>
        <p:spPr>
          <a:xfrm>
            <a:off x="3803795" y="3726186"/>
            <a:ext cx="0" cy="183603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B0C2E324-ABC2-4754-929A-1C39667AF7FF}"/>
              </a:ext>
            </a:extLst>
          </p:cNvPr>
          <p:cNvCxnSpPr>
            <a:cxnSpLocks/>
            <a:stCxn id="143" idx="2"/>
            <a:endCxn id="520" idx="0"/>
          </p:cNvCxnSpPr>
          <p:nvPr/>
        </p:nvCxnSpPr>
        <p:spPr>
          <a:xfrm>
            <a:off x="2391202" y="3718390"/>
            <a:ext cx="0" cy="191399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8" name="Rectangle 263">
            <a:extLst>
              <a:ext uri="{FF2B5EF4-FFF2-40B4-BE49-F238E27FC236}">
                <a16:creationId xmlns:a16="http://schemas.microsoft.com/office/drawing/2014/main" id="{D8E61BB0-BB8A-47CA-A07F-64799B7615A6}"/>
              </a:ext>
            </a:extLst>
          </p:cNvPr>
          <p:cNvSpPr/>
          <p:nvPr/>
        </p:nvSpPr>
        <p:spPr>
          <a:xfrm>
            <a:off x="512064" y="3139679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Cache </a:t>
            </a:r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Engine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912916EE-EF7D-443E-AE48-769792D8E926}"/>
              </a:ext>
            </a:extLst>
          </p:cNvPr>
          <p:cNvCxnSpPr>
            <a:cxnSpLocks/>
            <a:stCxn id="158" idx="3"/>
            <a:endCxn id="143" idx="0"/>
          </p:cNvCxnSpPr>
          <p:nvPr/>
        </p:nvCxnSpPr>
        <p:spPr>
          <a:xfrm>
            <a:off x="1499616" y="3276839"/>
            <a:ext cx="891586" cy="161551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66" name="직선 화살표 연결선 185">
            <a:extLst>
              <a:ext uri="{FF2B5EF4-FFF2-40B4-BE49-F238E27FC236}">
                <a16:creationId xmlns:a16="http://schemas.microsoft.com/office/drawing/2014/main" id="{BF5F7D7D-B7D1-44A3-B298-E859B9769C8C}"/>
              </a:ext>
            </a:extLst>
          </p:cNvPr>
          <p:cNvCxnSpPr>
            <a:cxnSpLocks/>
            <a:stCxn id="158" idx="3"/>
            <a:endCxn id="144" idx="0"/>
          </p:cNvCxnSpPr>
          <p:nvPr/>
        </p:nvCxnSpPr>
        <p:spPr>
          <a:xfrm>
            <a:off x="1499616" y="3276839"/>
            <a:ext cx="2304179" cy="169347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597622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Resource State driven Migration </a:t>
                      </a:r>
                      <a:r>
                        <a:rPr lang="ko-KR" altLang="en-US" sz="1200" b="1" strike="noStrike" baseline="0" dirty="0"/>
                        <a:t>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44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96322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210857" y="2280321"/>
            <a:ext cx="1147942" cy="3269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71115" y="2449513"/>
            <a:ext cx="355983" cy="67144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10114" y="4292156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565097"/>
            <a:ext cx="1149430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7" y="2961798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66" idx="0"/>
          </p:cNvCxnSpPr>
          <p:nvPr/>
        </p:nvCxnSpPr>
        <p:spPr>
          <a:xfrm flipH="1">
            <a:off x="4448721" y="3300627"/>
            <a:ext cx="1" cy="264470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39498" y="2452574"/>
            <a:ext cx="354554" cy="66389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56438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91" idx="0"/>
          </p:cNvCxnSpPr>
          <p:nvPr/>
        </p:nvCxnSpPr>
        <p:spPr>
          <a:xfrm>
            <a:off x="3113383" y="3302056"/>
            <a:ext cx="0" cy="262331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254636" y="3761963"/>
            <a:ext cx="388940" cy="67144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22660" y="3766095"/>
            <a:ext cx="388230" cy="66389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256335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583258"/>
            <a:ext cx="0" cy="1617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305657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93027" y="3856337"/>
            <a:ext cx="179352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38791" y="3829861"/>
            <a:ext cx="179352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lvl="0" algn="ctr"/>
            <a:r>
              <a:rPr lang="en-US" altLang="ko-KR" sz="9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lvl="0" algn="ctr"/>
            <a:r>
              <a:rPr lang="en-US" altLang="ko-KR" sz="6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(Agent Memory)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algn="ctr"/>
            <a:r>
              <a:rPr lang="en-US" altLang="ko-KR" sz="6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Prompt)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 flipV="1">
            <a:off x="9808331" y="2110187"/>
            <a:ext cx="624545" cy="3096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74499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22357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3071914"/>
            <a:ext cx="0" cy="151657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500029" y="3284824"/>
            <a:ext cx="248888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54266" y="3319288"/>
            <a:ext cx="248888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grpSp>
        <p:nvGrpSpPr>
          <p:cNvPr id="94" name="그룹 93"/>
          <p:cNvGrpSpPr/>
          <p:nvPr/>
        </p:nvGrpSpPr>
        <p:grpSpPr>
          <a:xfrm>
            <a:off x="6714984" y="2381847"/>
            <a:ext cx="923728" cy="1562691"/>
            <a:chOff x="6714984" y="2178070"/>
            <a:chExt cx="923728" cy="1562691"/>
          </a:xfrm>
        </p:grpSpPr>
        <p:grpSp>
          <p:nvGrpSpPr>
            <p:cNvPr id="487" name="그룹 486"/>
            <p:cNvGrpSpPr/>
            <p:nvPr/>
          </p:nvGrpSpPr>
          <p:grpSpPr>
            <a:xfrm>
              <a:off x="6714984" y="2178070"/>
              <a:ext cx="923728" cy="1562691"/>
              <a:chOff x="5405727" y="1845809"/>
              <a:chExt cx="1016101" cy="1562691"/>
            </a:xfrm>
          </p:grpSpPr>
          <p:sp>
            <p:nvSpPr>
              <p:cNvPr id="488" name="Shape 59">
                <a:extLst>
                  <a:ext uri="{FF2B5EF4-FFF2-40B4-BE49-F238E27FC236}">
                    <a16:creationId xmlns:a16="http://schemas.microsoft.com/office/drawing/2014/main" id="{67748352-D195-48A3-8563-9385B634D68C}"/>
                  </a:ext>
                </a:extLst>
              </p:cNvPr>
              <p:cNvSpPr/>
              <p:nvPr/>
            </p:nvSpPr>
            <p:spPr>
              <a:xfrm>
                <a:off x="5405727" y="1845809"/>
                <a:ext cx="1016101" cy="1562691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altLang="ko-KR" sz="1000" dirty="0"/>
                  <a:t>Resource Manager</a:t>
                </a:r>
                <a:endParaRPr lang="ko-KR" altLang="en-US" sz="1000" dirty="0"/>
              </a:p>
            </p:txBody>
          </p:sp>
          <p:sp>
            <p:nvSpPr>
              <p:cNvPr id="489" name="Shape 37">
                <a:extLst>
                  <a:ext uri="{FF2B5EF4-FFF2-40B4-BE49-F238E27FC236}">
                    <a16:creationId xmlns:a16="http://schemas.microsoft.com/office/drawing/2014/main" id="{306B7634-9A5E-4F0E-A947-927E7282352F}"/>
                  </a:ext>
                </a:extLst>
              </p:cNvPr>
              <p:cNvSpPr/>
              <p:nvPr/>
            </p:nvSpPr>
            <p:spPr>
              <a:xfrm>
                <a:off x="5542708" y="2375033"/>
                <a:ext cx="761643" cy="297203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 anchor="ctr"/>
              <a:lstStyle/>
              <a:p>
                <a:pPr algn="ctr" latinLnBrk="0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Telemetry Collector</a:t>
                </a:r>
              </a:p>
            </p:txBody>
          </p:sp>
        </p:grpSp>
        <p:grpSp>
          <p:nvGrpSpPr>
            <p:cNvPr id="605" name="그룹 604"/>
            <p:cNvGrpSpPr/>
            <p:nvPr/>
          </p:nvGrpSpPr>
          <p:grpSpPr>
            <a:xfrm>
              <a:off x="6826503" y="3194948"/>
              <a:ext cx="686996" cy="384167"/>
              <a:chOff x="1394212" y="2799554"/>
              <a:chExt cx="686996" cy="384167"/>
            </a:xfrm>
          </p:grpSpPr>
          <p:sp>
            <p:nvSpPr>
              <p:cNvPr id="60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2" y="2799554"/>
                <a:ext cx="686996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607" name="직사각형 60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439012" y="2874371"/>
                <a:ext cx="611259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>
            <a:off x="7513499" y="3590810"/>
            <a:ext cx="435590" cy="37203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sp>
        <p:nvSpPr>
          <p:cNvPr id="13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5448132" y="2036658"/>
            <a:ext cx="948713" cy="3596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Data Object Registry</a:t>
            </a:r>
          </a:p>
        </p:txBody>
      </p:sp>
      <p:cxnSp>
        <p:nvCxnSpPr>
          <p:cNvPr id="135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3"/>
            <a:endCxn id="134" idx="1"/>
          </p:cNvCxnSpPr>
          <p:nvPr/>
        </p:nvCxnSpPr>
        <p:spPr>
          <a:xfrm flipV="1">
            <a:off x="5023436" y="2216466"/>
            <a:ext cx="424696" cy="91474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5451058" y="2431582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ko-KR" altLang="en-US" sz="700" dirty="0" err="1">
                <a:solidFill>
                  <a:schemeClr val="bg1">
                    <a:lumMod val="50000"/>
                  </a:schemeClr>
                </a:solidFill>
              </a:rPr>
              <a:t>위치∙크기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∙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tier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조회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8" name="그룹 477"/>
          <p:cNvGrpSpPr/>
          <p:nvPr/>
        </p:nvGrpSpPr>
        <p:grpSpPr>
          <a:xfrm>
            <a:off x="1225081" y="2413112"/>
            <a:ext cx="927192" cy="1590324"/>
            <a:chOff x="1235467" y="2693125"/>
            <a:chExt cx="923728" cy="1590324"/>
          </a:xfrm>
        </p:grpSpPr>
        <p:sp>
          <p:nvSpPr>
            <p:cNvPr id="577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1235467" y="2693125"/>
              <a:ext cx="923728" cy="1590324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grpSp>
          <p:nvGrpSpPr>
            <p:cNvPr id="568" name="그룹 567"/>
            <p:cNvGrpSpPr/>
            <p:nvPr/>
          </p:nvGrpSpPr>
          <p:grpSpPr>
            <a:xfrm>
              <a:off x="1320700" y="3738511"/>
              <a:ext cx="721126" cy="384167"/>
              <a:chOff x="1377148" y="2666713"/>
              <a:chExt cx="721126" cy="384167"/>
            </a:xfrm>
          </p:grpSpPr>
          <p:sp>
            <p:nvSpPr>
              <p:cNvPr id="56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1" y="2666713"/>
                <a:ext cx="686998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67" name="직사각형 56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377148" y="2740537"/>
                <a:ext cx="721126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  <p:sp>
          <p:nvSpPr>
            <p:cNvPr id="195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1307788" y="3277959"/>
              <a:ext cx="761643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1"/>
            <a:endCxn id="195" idx="3"/>
          </p:cNvCxnSpPr>
          <p:nvPr/>
        </p:nvCxnSpPr>
        <p:spPr>
          <a:xfrm rot="10800000" flipV="1">
            <a:off x="2062173" y="2443782"/>
            <a:ext cx="1148685" cy="702765"/>
          </a:xfrm>
          <a:prstGeom prst="bentConnector3">
            <a:avLst>
              <a:gd name="adj1" fmla="val 72018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>
            <a:off x="2017336" y="3650582"/>
            <a:ext cx="521333" cy="83220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>
            <a:off x="7531915" y="3059674"/>
            <a:ext cx="417174" cy="903171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110" name="그룹 109"/>
          <p:cNvGrpSpPr/>
          <p:nvPr/>
        </p:nvGrpSpPr>
        <p:grpSpPr>
          <a:xfrm>
            <a:off x="7388916" y="1883914"/>
            <a:ext cx="2442530" cy="372421"/>
            <a:chOff x="7388916" y="1883914"/>
            <a:chExt cx="2442530" cy="372421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7388916" y="1901995"/>
              <a:ext cx="994316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41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35" idx="0"/>
              <a:endCxn id="259" idx="2"/>
            </p:cNvCxnSpPr>
            <p:nvPr/>
          </p:nvCxnSpPr>
          <p:spPr>
            <a:xfrm flipV="1">
              <a:off x="9234360" y="2102824"/>
              <a:ext cx="1500" cy="153511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cxnSp>
          <p:nvCxnSpPr>
            <p:cNvPr id="247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59" idx="1"/>
              <a:endCxn id="146" idx="3"/>
            </p:cNvCxnSpPr>
            <p:nvPr/>
          </p:nvCxnSpPr>
          <p:spPr>
            <a:xfrm flipH="1">
              <a:off x="8383232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8640274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cxnSp>
        <p:nvCxnSpPr>
          <p:cNvPr id="271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0"/>
            <a:endCxn id="273" idx="2"/>
          </p:cNvCxnSpPr>
          <p:nvPr/>
        </p:nvCxnSpPr>
        <p:spPr>
          <a:xfrm flipH="1" flipV="1">
            <a:off x="3783489" y="2102824"/>
            <a:ext cx="1339" cy="177497"/>
          </a:xfrm>
          <a:prstGeom prst="straightConnector1">
            <a:avLst/>
          </a:prstGeom>
          <a:noFill/>
          <a:ln w="6350">
            <a:solidFill>
              <a:srgbClr val="888C9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543" name="그룹 542"/>
          <p:cNvGrpSpPr/>
          <p:nvPr/>
        </p:nvGrpSpPr>
        <p:grpSpPr>
          <a:xfrm>
            <a:off x="1960252" y="1883914"/>
            <a:ext cx="2418823" cy="218910"/>
            <a:chOff x="1960252" y="1883914"/>
            <a:chExt cx="2418823" cy="218910"/>
          </a:xfrm>
        </p:grpSpPr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960252" y="1901995"/>
              <a:ext cx="970609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72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73" idx="1"/>
              <a:endCxn id="270" idx="3"/>
            </p:cNvCxnSpPr>
            <p:nvPr/>
          </p:nvCxnSpPr>
          <p:spPr>
            <a:xfrm flipH="1">
              <a:off x="2930861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3187903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9001" name="MemBackendIF_C1"/>
          <p:cNvSpPr/>
          <p:nvPr/>
        </p:nvSpPr>
        <p:spPr>
          <a:xfrm>
            <a:off x="1234440" y="4562856"/>
            <a:ext cx="521208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9002" name="MemBackendIF_C2"/>
          <p:cNvSpPr/>
          <p:nvPr/>
        </p:nvSpPr>
        <p:spPr>
          <a:xfrm>
            <a:off x="6675120" y="4562856"/>
            <a:ext cx="525780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cxnSp>
        <p:nvCxnSpPr>
          <p:cNvPr id="9003" name="MemBackendIF_link0"/>
          <p:cNvCxnSpPr/>
          <p:nvPr/>
        </p:nvCxnSpPr>
        <p:spPr>
          <a:xfrm>
            <a:off x="1691640" y="4023360"/>
            <a:ext cx="0" cy="539495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9004" name="MemBackendIF_link1"/>
          <p:cNvCxnSpPr/>
          <p:nvPr/>
        </p:nvCxnSpPr>
        <p:spPr>
          <a:xfrm>
            <a:off x="7178040" y="3959352"/>
            <a:ext cx="0" cy="603504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872020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901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79809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3796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7950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409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427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 </a:t>
                      </a:r>
                      <a:r>
                        <a:rPr lang="en-US" altLang="ko-KR" sz="1200" b="1" strike="noStrike" baseline="0" dirty="0"/>
                        <a:t>Resource State driven Migration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0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대표적인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Agent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aware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관리는 데이터 이동 구조가 아닌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Tool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호출 시점의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 구조로 보완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(DP3)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ko-KR" altLang="en-US" sz="1200" strike="noStrike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7" name="Shape 59">
            <a:extLst>
              <a:ext uri="{FF2B5EF4-FFF2-40B4-BE49-F238E27FC236}">
                <a16:creationId xmlns:a16="http://schemas.microsoft.com/office/drawing/2014/main" id="{67748352-D195-48A3-8563-9385B634D68C}"/>
              </a:ext>
            </a:extLst>
          </p:cNvPr>
          <p:cNvSpPr/>
          <p:nvPr/>
        </p:nvSpPr>
        <p:spPr>
          <a:xfrm>
            <a:off x="1235467" y="3411858"/>
            <a:ext cx="923728" cy="1022771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sz="1000" dirty="0"/>
              <a:t>Resource Manager</a:t>
            </a:r>
            <a:endParaRPr lang="ko-KR" altLang="en-US" sz="1000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(Reuse pattern/Lifetime/Agent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495666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179413" y="1801608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66163" y="2008444"/>
            <a:ext cx="334443" cy="64000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176181" y="4271544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689791"/>
            <a:ext cx="1149430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25186" y="2494957"/>
            <a:ext cx="1149429" cy="37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29" idx="0"/>
          </p:cNvCxnSpPr>
          <p:nvPr/>
        </p:nvCxnSpPr>
        <p:spPr>
          <a:xfrm rot="5400000">
            <a:off x="3972830" y="2674054"/>
            <a:ext cx="231625" cy="62251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09775" y="2004831"/>
            <a:ext cx="333734" cy="64651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689081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29" idx="0"/>
          </p:cNvCxnSpPr>
          <p:nvPr/>
        </p:nvCxnSpPr>
        <p:spPr>
          <a:xfrm rot="16200000" flipH="1">
            <a:off x="3329008" y="2652752"/>
            <a:ext cx="232748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327264" y="3847911"/>
            <a:ext cx="209751" cy="637513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95289" y="3818111"/>
            <a:ext cx="209041" cy="69782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grpSp>
        <p:nvGrpSpPr>
          <p:cNvPr id="277" name="그룹 276"/>
          <p:cNvGrpSpPr/>
          <p:nvPr/>
        </p:nvGrpSpPr>
        <p:grpSpPr>
          <a:xfrm>
            <a:off x="5405727" y="1879542"/>
            <a:ext cx="1016101" cy="1022771"/>
            <a:chOff x="5405727" y="1879542"/>
            <a:chExt cx="1016101" cy="1022771"/>
          </a:xfrm>
        </p:grpSpPr>
        <p:sp>
          <p:nvSpPr>
            <p:cNvPr id="281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79542"/>
              <a:ext cx="1016101" cy="102277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197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21018" y="2395921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1930379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289994"/>
            <a:ext cx="0" cy="244426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267356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71263" y="3796272"/>
            <a:ext cx="222880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17027" y="3769796"/>
            <a:ext cx="222880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3"/>
            <a:endCxn id="197" idx="1"/>
          </p:cNvCxnSpPr>
          <p:nvPr/>
        </p:nvCxnSpPr>
        <p:spPr>
          <a:xfrm>
            <a:off x="4327355" y="1981416"/>
            <a:ext cx="1193663" cy="563107"/>
          </a:xfrm>
          <a:prstGeom prst="bentConnector3">
            <a:avLst>
              <a:gd name="adj1" fmla="val 71705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312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43" idx="3"/>
            <a:endCxn id="235" idx="1"/>
          </p:cNvCxnSpPr>
          <p:nvPr/>
        </p:nvCxnSpPr>
        <p:spPr>
          <a:xfrm flipV="1">
            <a:off x="7560911" y="2110187"/>
            <a:ext cx="1099478" cy="30094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274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32" idx="3"/>
            <a:endCxn id="157" idx="1"/>
          </p:cNvCxnSpPr>
          <p:nvPr/>
        </p:nvCxnSpPr>
        <p:spPr>
          <a:xfrm flipV="1">
            <a:off x="2154586" y="1981416"/>
            <a:ext cx="1024827" cy="39691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Memory 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>
            <a:off x="9808331" y="2110187"/>
            <a:ext cx="624545" cy="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534420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065065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 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2894035"/>
            <a:ext cx="0" cy="17103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473" name="직사각형 472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16547" y="2328139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Affinity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정보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494383" y="3164656"/>
            <a:ext cx="260181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48620" y="3199120"/>
            <a:ext cx="260181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487" name="그룹 486"/>
          <p:cNvGrpSpPr/>
          <p:nvPr/>
        </p:nvGrpSpPr>
        <p:grpSpPr>
          <a:xfrm>
            <a:off x="6668798" y="3314821"/>
            <a:ext cx="1016101" cy="1260561"/>
            <a:chOff x="5405727" y="1845809"/>
            <a:chExt cx="1016101" cy="1260561"/>
          </a:xfrm>
        </p:grpSpPr>
        <p:sp>
          <p:nvSpPr>
            <p:cNvPr id="488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45809"/>
              <a:ext cx="1016101" cy="126056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489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04626" y="2284243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 flipV="1">
            <a:off x="7605505" y="3864669"/>
            <a:ext cx="343585" cy="37188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 flipV="1">
            <a:off x="2059110" y="3875436"/>
            <a:ext cx="479558" cy="187999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sp>
        <p:nvSpPr>
          <p:cNvPr id="531" name="원통 530"/>
          <p:cNvSpPr/>
          <p:nvPr/>
        </p:nvSpPr>
        <p:spPr>
          <a:xfrm>
            <a:off x="2247008" y="3046285"/>
            <a:ext cx="520861" cy="254568"/>
          </a:xfrm>
          <a:prstGeom prst="can">
            <a:avLst/>
          </a:prstGeom>
          <a:ln w="6350">
            <a:solidFill>
              <a:srgbClr val="AFCEEB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75000"/>
                  </a:schemeClr>
                </a:solidFill>
              </a:rPr>
              <a:t>Func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533" name="구부러진 연결선 532"/>
          <p:cNvCxnSpPr>
            <a:stCxn id="156" idx="2"/>
            <a:endCxn id="531" idx="4"/>
          </p:cNvCxnSpPr>
          <p:nvPr/>
        </p:nvCxnSpPr>
        <p:spPr>
          <a:xfrm rot="5400000">
            <a:off x="2788031" y="2848216"/>
            <a:ext cx="305191" cy="345514"/>
          </a:xfrm>
          <a:prstGeom prst="curvedConnector2">
            <a:avLst/>
          </a:prstGeom>
          <a:ln w="6350">
            <a:solidFill>
              <a:srgbClr val="AFCE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4" name="원통 533"/>
          <p:cNvSpPr/>
          <p:nvPr/>
        </p:nvSpPr>
        <p:spPr>
          <a:xfrm>
            <a:off x="10029706" y="2807556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Func1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35" name="구부러진 연결선 534"/>
          <p:cNvCxnSpPr>
            <a:stCxn id="414" idx="2"/>
            <a:endCxn id="534" idx="2"/>
          </p:cNvCxnSpPr>
          <p:nvPr/>
        </p:nvCxnSpPr>
        <p:spPr>
          <a:xfrm rot="16200000" flipH="1">
            <a:off x="9611631" y="2516764"/>
            <a:ext cx="40805" cy="795346"/>
          </a:xfrm>
          <a:prstGeom prst="curvedConnector2">
            <a:avLst/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sp>
        <p:nvSpPr>
          <p:cNvPr id="541" name="원통 540"/>
          <p:cNvSpPr/>
          <p:nvPr/>
        </p:nvSpPr>
        <p:spPr>
          <a:xfrm>
            <a:off x="10029706" y="3284574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Func2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42" name="구부러진 연결선 541"/>
          <p:cNvCxnSpPr>
            <a:stCxn id="417" idx="2"/>
            <a:endCxn id="541" idx="2"/>
          </p:cNvCxnSpPr>
          <p:nvPr/>
        </p:nvCxnSpPr>
        <p:spPr>
          <a:xfrm rot="5400000" flipH="1" flipV="1">
            <a:off x="9625622" y="3020596"/>
            <a:ext cx="12822" cy="795346"/>
          </a:xfrm>
          <a:prstGeom prst="curvedConnector4">
            <a:avLst>
              <a:gd name="adj1" fmla="val -609336"/>
              <a:gd name="adj2" fmla="val 86083"/>
            </a:avLst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grpSp>
        <p:nvGrpSpPr>
          <p:cNvPr id="568" name="그룹 567"/>
          <p:cNvGrpSpPr/>
          <p:nvPr/>
        </p:nvGrpSpPr>
        <p:grpSpPr>
          <a:xfrm>
            <a:off x="1303414" y="3871352"/>
            <a:ext cx="755696" cy="384167"/>
            <a:chOff x="1359862" y="2799554"/>
            <a:chExt cx="755696" cy="384167"/>
          </a:xfrm>
        </p:grpSpPr>
        <p:sp>
          <p:nvSpPr>
            <p:cNvPr id="56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67" name="직사각형 56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grpSp>
        <p:nvGrpSpPr>
          <p:cNvPr id="605" name="그룹 604"/>
          <p:cNvGrpSpPr/>
          <p:nvPr/>
        </p:nvGrpSpPr>
        <p:grpSpPr>
          <a:xfrm>
            <a:off x="6838341" y="4143967"/>
            <a:ext cx="755696" cy="384167"/>
            <a:chOff x="1359862" y="2799554"/>
            <a:chExt cx="755696" cy="384167"/>
          </a:xfrm>
        </p:grpSpPr>
        <p:sp>
          <p:nvSpPr>
            <p:cNvPr id="60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07" name="직사각형 60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 flipV="1">
            <a:off x="7594037" y="3864669"/>
            <a:ext cx="355052" cy="47138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02667" y="3101126"/>
            <a:ext cx="1149429" cy="372712"/>
          </a:xfrm>
          <a:prstGeom prst="rect">
            <a:avLst/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Data-Memory Affinity Mapper</a:t>
            </a:r>
          </a:p>
        </p:txBody>
      </p:sp>
      <p:cxnSp>
        <p:nvCxnSpPr>
          <p:cNvPr id="1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66" idx="0"/>
          </p:cNvCxnSpPr>
          <p:nvPr/>
        </p:nvCxnSpPr>
        <p:spPr>
          <a:xfrm rot="16200000" flipH="1">
            <a:off x="4005075" y="3246144"/>
            <a:ext cx="215953" cy="67133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91" idx="0"/>
          </p:cNvCxnSpPr>
          <p:nvPr/>
        </p:nvCxnSpPr>
        <p:spPr>
          <a:xfrm rot="5400000">
            <a:off x="3337762" y="3249460"/>
            <a:ext cx="215243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sp>
        <p:nvSpPr>
          <p:cNvPr id="15" name="모서리가 접힌 도형 14"/>
          <p:cNvSpPr/>
          <p:nvPr/>
        </p:nvSpPr>
        <p:spPr>
          <a:xfrm>
            <a:off x="5204224" y="3303037"/>
            <a:ext cx="1375471" cy="111098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자세히</a:t>
            </a:r>
            <a:r>
              <a:rPr lang="en-US" altLang="ko-KR" dirty="0"/>
              <a:t>.</a:t>
            </a:r>
          </a:p>
          <a:p>
            <a:pPr algn="ctr"/>
            <a:r>
              <a:rPr lang="ko-KR" altLang="en-US" dirty="0"/>
              <a:t>페이지 따로 만들기</a:t>
            </a:r>
          </a:p>
        </p:txBody>
      </p:sp>
      <p:sp>
        <p:nvSpPr>
          <p:cNvPr id="130" name="직사각형 129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1259641" y="1798432"/>
            <a:ext cx="894945" cy="725580"/>
            <a:chOff x="1249858" y="1739024"/>
            <a:chExt cx="894945" cy="725580"/>
          </a:xfrm>
        </p:grpSpPr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2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32" idx="0"/>
              <a:endCxn id="12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6665966" y="1831236"/>
            <a:ext cx="894945" cy="725580"/>
            <a:chOff x="1249858" y="1739024"/>
            <a:chExt cx="894945" cy="725580"/>
          </a:xfrm>
        </p:grpSpPr>
        <p:sp>
          <p:nvSpPr>
            <p:cNvPr id="13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3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43" idx="0"/>
              <a:endCxn id="13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1805634" y="1984408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7109032" y="2026116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001" name="MemBackendIF_C1"/>
          <p:cNvSpPr/>
          <p:nvPr/>
        </p:nvSpPr>
        <p:spPr>
          <a:xfrm>
            <a:off x="1234440" y="4626864"/>
            <a:ext cx="521208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9002" name="MemBackendIF_C2"/>
          <p:cNvSpPr/>
          <p:nvPr/>
        </p:nvSpPr>
        <p:spPr>
          <a:xfrm>
            <a:off x="6675120" y="4626864"/>
            <a:ext cx="525780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cxnSp>
        <p:nvCxnSpPr>
          <p:cNvPr id="9003" name="MemBackendIF_link0"/>
          <p:cNvCxnSpPr/>
          <p:nvPr/>
        </p:nvCxnSpPr>
        <p:spPr>
          <a:xfrm>
            <a:off x="1691640" y="4453128"/>
            <a:ext cx="0" cy="173735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235539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6146"/>
          <p:cNvSpPr/>
          <p:nvPr/>
        </p:nvSpPr>
        <p:spPr>
          <a:xfrm>
            <a:off x="347472" y="758044"/>
            <a:ext cx="11494008" cy="2506364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48" name="Rounded Rectangle 6147"/>
          <p:cNvSpPr/>
          <p:nvPr/>
        </p:nvSpPr>
        <p:spPr>
          <a:xfrm>
            <a:off x="4448556" y="630392"/>
            <a:ext cx="329184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 /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Decode란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6149" name="Rectangle 6148"/>
          <p:cNvSpPr/>
          <p:nvPr/>
        </p:nvSpPr>
        <p:spPr>
          <a:xfrm>
            <a:off x="347472" y="3547872"/>
            <a:ext cx="11494008" cy="2395728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50" name="Rounded Rectangle 6149"/>
          <p:cNvSpPr/>
          <p:nvPr/>
        </p:nvSpPr>
        <p:spPr>
          <a:xfrm>
            <a:off x="3259836" y="3401568"/>
            <a:ext cx="566928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②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Prefill-Decode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분리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(P/D Disaggregation)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사전 지식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그룹 4"/>
          <p:cNvGrpSpPr/>
          <p:nvPr/>
        </p:nvGrpSpPr>
        <p:grpSpPr>
          <a:xfrm>
            <a:off x="5138928" y="1078992"/>
            <a:ext cx="2831427" cy="2019990"/>
            <a:chOff x="7198162" y="2496690"/>
            <a:chExt cx="3839603" cy="3543981"/>
          </a:xfrm>
        </p:grpSpPr>
        <p:sp>
          <p:nvSpPr>
            <p:cNvPr id="165" name="직사각형 164"/>
            <p:cNvSpPr/>
            <p:nvPr/>
          </p:nvSpPr>
          <p:spPr>
            <a:xfrm>
              <a:off x="8392326" y="3596490"/>
              <a:ext cx="2170873" cy="3960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&lt;Prefill&gt;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맑은 고딕"/>
                <a:cs typeface="Samsung Sharp Sans Bold" pitchFamily="2" charset="0"/>
              </a:endParaRP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7359095" y="2557171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67" name="직사각형 166"/>
            <p:cNvSpPr/>
            <p:nvPr/>
          </p:nvSpPr>
          <p:spPr>
            <a:xfrm>
              <a:off x="7311797" y="3139320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68" name="직사각형 167"/>
            <p:cNvSpPr/>
            <p:nvPr/>
          </p:nvSpPr>
          <p:spPr>
            <a:xfrm flipH="1">
              <a:off x="10238115" y="3129752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69" name="직사각형 168"/>
            <p:cNvSpPr/>
            <p:nvPr/>
          </p:nvSpPr>
          <p:spPr>
            <a:xfrm flipH="1">
              <a:off x="8814939" y="3134318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0" name="직사각형 169"/>
            <p:cNvSpPr/>
            <p:nvPr/>
          </p:nvSpPr>
          <p:spPr>
            <a:xfrm flipH="1">
              <a:off x="9291636" y="313277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1" name="직사각형 170"/>
            <p:cNvSpPr/>
            <p:nvPr/>
          </p:nvSpPr>
          <p:spPr>
            <a:xfrm flipH="1">
              <a:off x="9721156" y="3152479"/>
              <a:ext cx="191954" cy="444790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cxnSp>
          <p:nvCxnSpPr>
            <p:cNvPr id="172" name="직선 화살표 연결선 171"/>
            <p:cNvCxnSpPr/>
            <p:nvPr/>
          </p:nvCxnSpPr>
          <p:spPr>
            <a:xfrm>
              <a:off x="8482264" y="3020391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73" name="직사각형 172"/>
            <p:cNvSpPr/>
            <p:nvPr/>
          </p:nvSpPr>
          <p:spPr>
            <a:xfrm>
              <a:off x="848026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4" name="직사각형 173"/>
            <p:cNvSpPr/>
            <p:nvPr/>
          </p:nvSpPr>
          <p:spPr>
            <a:xfrm>
              <a:off x="896217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944408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6" name="직사각형 175"/>
            <p:cNvSpPr/>
            <p:nvPr/>
          </p:nvSpPr>
          <p:spPr>
            <a:xfrm>
              <a:off x="992554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7" name="직사각형 176"/>
            <p:cNvSpPr/>
            <p:nvPr/>
          </p:nvSpPr>
          <p:spPr>
            <a:xfrm flipH="1">
              <a:off x="8814939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8" name="직사각형 177"/>
            <p:cNvSpPr/>
            <p:nvPr/>
          </p:nvSpPr>
          <p:spPr>
            <a:xfrm flipH="1">
              <a:off x="9288377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 flipH="1">
              <a:off x="9768853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 flipH="1">
              <a:off x="10231672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 flipH="1">
              <a:off x="8762251" y="438131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 flipH="1">
              <a:off x="9235576" y="4386251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 flipH="1">
              <a:off x="9722281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 flipH="1">
              <a:off x="10187017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7359746" y="4458147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7312448" y="5110146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5186C55D-E743-AA2E-D8EB-20E11C073C37}"/>
                </a:ext>
              </a:extLst>
            </p:cNvPr>
            <p:cNvSpPr/>
            <p:nvPr/>
          </p:nvSpPr>
          <p:spPr>
            <a:xfrm>
              <a:off x="8279443" y="5512149"/>
              <a:ext cx="2283756" cy="297074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&lt; D</a:t>
              </a:r>
              <a:r>
                <a:rPr kumimoji="0" lang="en-US" altLang="ko-KR" sz="125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ecode</a:t>
              </a: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&gt;</a:t>
              </a:r>
              <a:endParaRPr kumimoji="0" lang="ko-KR" altLang="en-US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SamsungOneKorean 700" panose="020B0803030303020204" pitchFamily="50" charset="-127"/>
                <a:cs typeface="Samsung Sharp Sans Bold" pitchFamily="2" charset="0"/>
              </a:endParaRPr>
            </a:p>
          </p:txBody>
        </p:sp>
        <p:cxnSp>
          <p:nvCxnSpPr>
            <p:cNvPr id="188" name="직선 화살표 연결선 187"/>
            <p:cNvCxnSpPr/>
            <p:nvPr/>
          </p:nvCxnSpPr>
          <p:spPr>
            <a:xfrm>
              <a:off x="8434567" y="4948035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89" name="직사각형 188"/>
            <p:cNvSpPr/>
            <p:nvPr/>
          </p:nvSpPr>
          <p:spPr>
            <a:xfrm>
              <a:off x="8425325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891447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1" name="직사각형 190"/>
            <p:cNvSpPr/>
            <p:nvPr/>
          </p:nvSpPr>
          <p:spPr>
            <a:xfrm>
              <a:off x="939638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987784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 flipH="1">
              <a:off x="8767242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 flipH="1">
              <a:off x="9240680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 flipH="1">
              <a:off x="9721156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 flipH="1">
              <a:off x="10183975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7262871" y="4826847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7198162" y="2890868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9865413" y="5809613"/>
              <a:ext cx="1063447" cy="231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55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50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[source] Naver Clova</a:t>
              </a:r>
              <a:endParaRPr kumimoji="0" lang="ko-KR" altLang="en-US" sz="55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2" name="TextBox 201"/>
            <p:cNvSpPr txBox="1"/>
            <p:nvPr/>
          </p:nvSpPr>
          <p:spPr>
            <a:xfrm>
              <a:off x="10351217" y="2717104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203" name="TextBox 202"/>
            <p:cNvSpPr txBox="1"/>
            <p:nvPr/>
          </p:nvSpPr>
          <p:spPr>
            <a:xfrm>
              <a:off x="10351217" y="4679278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384048" y="1097280"/>
            <a:ext cx="4629759" cy="2020007"/>
            <a:chOff x="-45158" y="1369253"/>
            <a:chExt cx="6860940" cy="3465907"/>
          </a:xfrm>
        </p:grpSpPr>
        <p:grpSp>
          <p:nvGrpSpPr>
            <p:cNvPr id="206" name="그룹 205"/>
            <p:cNvGrpSpPr/>
            <p:nvPr/>
          </p:nvGrpSpPr>
          <p:grpSpPr>
            <a:xfrm>
              <a:off x="-45158" y="1369253"/>
              <a:ext cx="6434557" cy="1991894"/>
              <a:chOff x="947012" y="3108733"/>
              <a:chExt cx="5337782" cy="1686548"/>
            </a:xfrm>
          </p:grpSpPr>
          <p:sp>
            <p:nvSpPr>
              <p:cNvPr id="207" name="직사각형 206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947012" y="3112929"/>
                <a:ext cx="1975277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Prefill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cxnSp>
            <p:nvCxnSpPr>
              <p:cNvPr id="208" name="직선 연결선 207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9126" y="3531927"/>
                <a:ext cx="150" cy="1191494"/>
              </a:xfrm>
              <a:prstGeom prst="line">
                <a:avLst/>
              </a:prstGeom>
              <a:noFill/>
              <a:ln w="19050" cap="rnd" cmpd="sng" algn="ctr">
                <a:solidFill>
                  <a:srgbClr val="A6A6A6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209" name="그룹 208"/>
              <p:cNvGrpSpPr/>
              <p:nvPr/>
            </p:nvGrpSpPr>
            <p:grpSpPr>
              <a:xfrm>
                <a:off x="5581891" y="3661568"/>
                <a:ext cx="604062" cy="867545"/>
                <a:chOff x="953656" y="2867715"/>
                <a:chExt cx="540000" cy="775540"/>
              </a:xfrm>
            </p:grpSpPr>
            <p:sp>
              <p:nvSpPr>
                <p:cNvPr id="238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9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10" name="그룹 209"/>
              <p:cNvGrpSpPr/>
              <p:nvPr/>
            </p:nvGrpSpPr>
            <p:grpSpPr>
              <a:xfrm>
                <a:off x="5244491" y="3946924"/>
                <a:ext cx="209139" cy="45719"/>
                <a:chOff x="4132147" y="2579292"/>
                <a:chExt cx="312424" cy="68298"/>
              </a:xfrm>
            </p:grpSpPr>
            <p:sp>
              <p:nvSpPr>
                <p:cNvPr id="235" name="타원 234"/>
                <p:cNvSpPr/>
                <p:nvPr/>
              </p:nvSpPr>
              <p:spPr>
                <a:xfrm>
                  <a:off x="4255016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6" name="타원 235"/>
                <p:cNvSpPr/>
                <p:nvPr/>
              </p:nvSpPr>
              <p:spPr>
                <a:xfrm>
                  <a:off x="4377884" y="2580903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7" name="타원 236"/>
                <p:cNvSpPr/>
                <p:nvPr/>
              </p:nvSpPr>
              <p:spPr>
                <a:xfrm>
                  <a:off x="4132147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</p:grpSp>
          <p:sp>
            <p:nvSpPr>
              <p:cNvPr id="211" name="직사각형 210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2504748" y="3108733"/>
                <a:ext cx="3701376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Decode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sp>
            <p:nvSpPr>
              <p:cNvPr id="212" name="직사각형 211">
                <a:extLst>
                  <a:ext uri="{FF2B5EF4-FFF2-40B4-BE49-F238E27FC236}">
                    <a16:creationId xmlns:a16="http://schemas.microsoft.com/office/drawing/2014/main" id="{AF7D9B76-4995-265E-AA04-71E12230B659}"/>
                  </a:ext>
                </a:extLst>
              </p:cNvPr>
              <p:cNvSpPr/>
              <p:nvPr/>
            </p:nvSpPr>
            <p:spPr>
              <a:xfrm>
                <a:off x="1304575" y="3427110"/>
                <a:ext cx="1267849" cy="2964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“Hello, my name”</a:t>
                </a:r>
              </a:p>
            </p:txBody>
          </p:sp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BD25430C-0D03-4265-0B88-8E9DB257E2A1}"/>
                  </a:ext>
                </a:extLst>
              </p:cNvPr>
              <p:cNvSpPr/>
              <p:nvPr/>
            </p:nvSpPr>
            <p:spPr>
              <a:xfrm rot="10800000">
                <a:off x="1536432" y="4552915"/>
                <a:ext cx="4748362" cy="193717"/>
              </a:xfrm>
              <a:prstGeom prst="rect">
                <a:avLst/>
              </a:prstGeom>
              <a:gradFill>
                <a:gsLst>
                  <a:gs pos="13000">
                    <a:sysClr val="window" lastClr="FFFFFF">
                      <a:alpha val="0"/>
                    </a:sysClr>
                  </a:gs>
                  <a:gs pos="100000">
                    <a:sysClr val="window" lastClr="FFFFFF">
                      <a:alpha val="5000"/>
                    </a:sysClr>
                  </a:gs>
                </a:gsLst>
                <a:lin ang="5400000" scaled="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14" name="직사각형 213"/>
              <p:cNvSpPr/>
              <p:nvPr/>
            </p:nvSpPr>
            <p:spPr>
              <a:xfrm>
                <a:off x="1826309" y="4517306"/>
                <a:ext cx="391454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“is”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5" name="직사각형 214"/>
              <p:cNvSpPr/>
              <p:nvPr/>
            </p:nvSpPr>
            <p:spPr>
              <a:xfrm>
                <a:off x="2655382" y="4533671"/>
                <a:ext cx="692818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“James”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6" name="직사각형 215"/>
              <p:cNvSpPr/>
              <p:nvPr/>
            </p:nvSpPr>
            <p:spPr>
              <a:xfrm>
                <a:off x="3505046" y="4524486"/>
                <a:ext cx="638316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“Smith”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7" name="직사각형 216"/>
              <p:cNvSpPr/>
              <p:nvPr/>
            </p:nvSpPr>
            <p:spPr>
              <a:xfrm>
                <a:off x="4398118" y="4515440"/>
                <a:ext cx="513282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“and”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8" name="직사각형 217"/>
              <p:cNvSpPr/>
              <p:nvPr/>
            </p:nvSpPr>
            <p:spPr>
              <a:xfrm>
                <a:off x="5622815" y="4515440"/>
                <a:ext cx="500683" cy="2616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“.”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9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2282349" y="3928541"/>
                <a:ext cx="39270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4425">
                    <a:srgbClr val="44546A">
                      <a:lumMod val="75000"/>
                    </a:srgbClr>
                  </a:gs>
                  <a:gs pos="65000">
                    <a:srgbClr val="5B9BD5"/>
                  </a:gs>
                  <a:gs pos="100000">
                    <a:srgbClr val="8093DC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0" name="그룹 219"/>
              <p:cNvGrpSpPr/>
              <p:nvPr/>
            </p:nvGrpSpPr>
            <p:grpSpPr>
              <a:xfrm>
                <a:off x="1712026" y="3669221"/>
                <a:ext cx="604062" cy="867545"/>
                <a:chOff x="222043" y="2867715"/>
                <a:chExt cx="540000" cy="775540"/>
              </a:xfrm>
            </p:grpSpPr>
            <p:sp>
              <p:nvSpPr>
                <p:cNvPr id="233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330490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4425">
                      <a:srgbClr val="44546A">
                        <a:lumMod val="75000"/>
                      </a:srgbClr>
                    </a:gs>
                    <a:gs pos="65000">
                      <a:srgbClr val="5B9BD5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4" name="모서리가 둥근 직사각형 116">
                  <a:extLst>
                    <a:ext uri="{FF2B5EF4-FFF2-40B4-BE49-F238E27FC236}">
                      <a16:creationId xmlns:a16="http://schemas.microsoft.com/office/drawing/2014/main" id="{B592C16F-9D7E-9F3F-966B-99B420A8A137}"/>
                    </a:ext>
                  </a:extLst>
                </p:cNvPr>
                <p:cNvSpPr/>
                <p:nvPr/>
              </p:nvSpPr>
              <p:spPr>
                <a:xfrm>
                  <a:off x="222043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4472C4">
                        <a:lumMod val="67000"/>
                      </a:srgbClr>
                    </a:gs>
                    <a:gs pos="48000">
                      <a:srgbClr val="4472C4">
                        <a:lumMod val="97000"/>
                        <a:lumOff val="3000"/>
                      </a:srgbClr>
                    </a:gs>
                    <a:gs pos="100000">
                      <a:srgbClr val="4472C4">
                        <a:lumMod val="60000"/>
                        <a:lumOff val="40000"/>
                      </a:srgbClr>
                    </a:gs>
                  </a:gsLst>
                  <a:lin ang="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5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맑은 고딕"/>
                      <a:cs typeface="+mn-cs"/>
                    </a:rPr>
                    <a:t>LM</a:t>
                  </a:r>
                </a:p>
              </p:txBody>
            </p:sp>
          </p:grpSp>
          <p:sp>
            <p:nvSpPr>
              <p:cNvPr id="221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137945" y="3922208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2" name="그룹 221"/>
              <p:cNvGrpSpPr/>
              <p:nvPr/>
            </p:nvGrpSpPr>
            <p:grpSpPr>
              <a:xfrm>
                <a:off x="269006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31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2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sp>
            <p:nvSpPr>
              <p:cNvPr id="223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978219" y="3922207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24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4815447" y="3917782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5" name="그룹 224"/>
              <p:cNvGrpSpPr/>
              <p:nvPr/>
            </p:nvGrpSpPr>
            <p:grpSpPr>
              <a:xfrm>
                <a:off x="3530561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9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0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26" name="그룹 225"/>
              <p:cNvGrpSpPr/>
              <p:nvPr/>
            </p:nvGrpSpPr>
            <p:grpSpPr>
              <a:xfrm>
                <a:off x="437288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7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28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</p:grpSp>
        <p:sp>
          <p:nvSpPr>
            <p:cNvPr id="243" name="자유형 242"/>
            <p:cNvSpPr/>
            <p:nvPr/>
          </p:nvSpPr>
          <p:spPr>
            <a:xfrm>
              <a:off x="1083323" y="2743285"/>
              <a:ext cx="5192408" cy="1285205"/>
            </a:xfrm>
            <a:custGeom>
              <a:avLst/>
              <a:gdLst>
                <a:gd name="connsiteX0" fmla="*/ 838200 w 4320540"/>
                <a:gd name="connsiteY0" fmla="*/ 0 h 1104900"/>
                <a:gd name="connsiteX1" fmla="*/ 0 w 4320540"/>
                <a:gd name="connsiteY1" fmla="*/ 1097280 h 1104900"/>
                <a:gd name="connsiteX2" fmla="*/ 3756660 w 4320540"/>
                <a:gd name="connsiteY2" fmla="*/ 1104900 h 1104900"/>
                <a:gd name="connsiteX3" fmla="*/ 4320540 w 4320540"/>
                <a:gd name="connsiteY3" fmla="*/ 7620 h 1104900"/>
                <a:gd name="connsiteX4" fmla="*/ 838200 w 4320540"/>
                <a:gd name="connsiteY4" fmla="*/ 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540" h="1104900">
                  <a:moveTo>
                    <a:pt x="838200" y="0"/>
                  </a:moveTo>
                  <a:lnTo>
                    <a:pt x="0" y="1097280"/>
                  </a:lnTo>
                  <a:lnTo>
                    <a:pt x="3756660" y="1104900"/>
                  </a:lnTo>
                  <a:lnTo>
                    <a:pt x="4320540" y="7620"/>
                  </a:lnTo>
                  <a:lnTo>
                    <a:pt x="838200" y="0"/>
                  </a:lnTo>
                  <a:close/>
                </a:path>
              </a:pathLst>
            </a:custGeom>
            <a:gradFill flip="none" rotWithShape="1">
              <a:gsLst>
                <a:gs pos="4425">
                  <a:srgbClr val="1F497D">
                    <a:alpha val="50000"/>
                  </a:srgbClr>
                </a:gs>
                <a:gs pos="65000">
                  <a:srgbClr val="5B9BD5">
                    <a:alpha val="10000"/>
                  </a:srgbClr>
                </a:gs>
                <a:gs pos="100000">
                  <a:srgbClr val="44546A">
                    <a:alpha val="20000"/>
                  </a:srgbClr>
                </a:gs>
              </a:gsLst>
              <a:lin ang="162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75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241" name="모서리가 둥근 직사각형 117">
              <a:extLst>
                <a:ext uri="{FF2B5EF4-FFF2-40B4-BE49-F238E27FC236}">
                  <a16:creationId xmlns:a16="http://schemas.microsoft.com/office/drawing/2014/main" id="{FA0ECA91-1A8B-EF88-9873-53E434D66C39}"/>
                </a:ext>
              </a:extLst>
            </p:cNvPr>
            <p:cNvSpPr/>
            <p:nvPr/>
          </p:nvSpPr>
          <p:spPr>
            <a:xfrm>
              <a:off x="2020149" y="1842103"/>
              <a:ext cx="4536306" cy="1040798"/>
            </a:xfrm>
            <a:prstGeom prst="roundRect">
              <a:avLst>
                <a:gd name="adj" fmla="val 7835"/>
              </a:avLst>
            </a:prstGeom>
            <a:noFill/>
            <a:ln w="25400" cap="flat" cmpd="sng" algn="ctr">
              <a:solidFill>
                <a:srgbClr val="1F497D"/>
              </a:solidFill>
              <a:prstDash val="sysDash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50" charset="0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242" name="직사각형 241"/>
            <p:cNvSpPr/>
            <p:nvPr/>
          </p:nvSpPr>
          <p:spPr>
            <a:xfrm>
              <a:off x="4547450" y="1471586"/>
              <a:ext cx="2268332" cy="3295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 Sharp Sans Bold" pitchFamily="2" charset="0"/>
                  <a:cs typeface="Samsung Sharp Sans Bold" pitchFamily="2" charset="0"/>
                </a:rPr>
                <a:t>GEMV Computation dominated</a:t>
              </a:r>
            </a:p>
          </p:txBody>
        </p:sp>
        <p:grpSp>
          <p:nvGrpSpPr>
            <p:cNvPr id="244" name="그룹 243"/>
            <p:cNvGrpSpPr/>
            <p:nvPr/>
          </p:nvGrpSpPr>
          <p:grpSpPr>
            <a:xfrm>
              <a:off x="62279" y="3679710"/>
              <a:ext cx="6608915" cy="1155450"/>
              <a:chOff x="418623" y="5661519"/>
              <a:chExt cx="5482421" cy="978326"/>
            </a:xfrm>
          </p:grpSpPr>
          <p:cxnSp>
            <p:nvCxnSpPr>
              <p:cNvPr id="245" name="직선 연결선 244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876" y="5842334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11790" y="5849352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47" name="직사각형 246"/>
              <p:cNvSpPr/>
              <p:nvPr/>
            </p:nvSpPr>
            <p:spPr>
              <a:xfrm>
                <a:off x="884174" y="5948122"/>
                <a:ext cx="354409" cy="252535"/>
              </a:xfrm>
              <a:prstGeom prst="rect">
                <a:avLst/>
              </a:prstGeom>
              <a:solidFill>
                <a:srgbClr val="0077C8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5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8" name="직사각형 247"/>
              <p:cNvSpPr/>
              <p:nvPr/>
            </p:nvSpPr>
            <p:spPr>
              <a:xfrm>
                <a:off x="898066" y="5957754"/>
                <a:ext cx="360633" cy="195447"/>
              </a:xfrm>
              <a:prstGeom prst="rect">
                <a:avLst/>
              </a:prstGeom>
              <a:gradFill>
                <a:gsLst>
                  <a:gs pos="0">
                    <a:srgbClr val="4472C4">
                      <a:lumMod val="67000"/>
                    </a:srgbClr>
                  </a:gs>
                  <a:gs pos="48000">
                    <a:srgbClr val="4472C4">
                      <a:lumMod val="97000"/>
                      <a:lumOff val="3000"/>
                    </a:srgbClr>
                  </a:gs>
                  <a:gs pos="100000">
                    <a:srgbClr val="4472C4">
                      <a:lumMod val="60000"/>
                      <a:lumOff val="40000"/>
                    </a:srgbClr>
                  </a:gs>
                </a:gsLst>
                <a:lin ang="0" scaled="1"/>
              </a:gradFill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2.1%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9" name="직사각형 248"/>
              <p:cNvSpPr/>
              <p:nvPr/>
            </p:nvSpPr>
            <p:spPr>
              <a:xfrm>
                <a:off x="687379" y="5661519"/>
                <a:ext cx="365806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0" name="직사각형 249"/>
              <p:cNvSpPr/>
              <p:nvPr/>
            </p:nvSpPr>
            <p:spPr>
              <a:xfrm>
                <a:off x="1820922" y="5661520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25%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1" name="직사각형 250"/>
              <p:cNvSpPr/>
              <p:nvPr/>
            </p:nvSpPr>
            <p:spPr>
              <a:xfrm>
                <a:off x="2966029" y="5664154"/>
                <a:ext cx="434734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50%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2" name="직사각형 251"/>
              <p:cNvSpPr/>
              <p:nvPr/>
            </p:nvSpPr>
            <p:spPr>
              <a:xfrm>
                <a:off x="4160137" y="5661519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75%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246" y="5846970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92963" y="585126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55" name="직사각형 254"/>
              <p:cNvSpPr/>
              <p:nvPr/>
            </p:nvSpPr>
            <p:spPr>
              <a:xfrm>
                <a:off x="1238583" y="5948122"/>
                <a:ext cx="3764389" cy="250248"/>
              </a:xfrm>
              <a:prstGeom prst="rect">
                <a:avLst/>
              </a:prstGeom>
              <a:gradFill>
                <a:gsLst>
                  <a:gs pos="0">
                    <a:srgbClr val="FFC000">
                      <a:lumMod val="67000"/>
                    </a:srgbClr>
                  </a:gs>
                  <a:gs pos="48000">
                    <a:srgbClr val="FFC000">
                      <a:lumMod val="97000"/>
                      <a:lumOff val="3000"/>
                    </a:srgbClr>
                  </a:gs>
                  <a:gs pos="100000">
                    <a:srgbClr val="FFC000">
                      <a:lumMod val="60000"/>
                      <a:lumOff val="40000"/>
                    </a:srgbClr>
                  </a:gs>
                </a:gsLst>
                <a:lin ang="10800000" scaled="1"/>
              </a:gra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315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ONE-600C" panose="020B0503030303020204" pitchFamily="34" charset="-127"/>
                  <a:cs typeface="+mn-cs"/>
                </a:endParaRPr>
              </a:p>
            </p:txBody>
          </p:sp>
          <p:sp>
            <p:nvSpPr>
              <p:cNvPr id="256" name="직사각형 255"/>
              <p:cNvSpPr/>
              <p:nvPr/>
            </p:nvSpPr>
            <p:spPr>
              <a:xfrm>
                <a:off x="1436066" y="5957755"/>
                <a:ext cx="3288080" cy="2308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GEMV accounts for 82.3% of total computation time (GPU)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7" name="직사각형 256"/>
              <p:cNvSpPr/>
              <p:nvPr/>
            </p:nvSpPr>
            <p:spPr>
              <a:xfrm>
                <a:off x="4998150" y="5948122"/>
                <a:ext cx="334116" cy="250248"/>
              </a:xfrm>
              <a:prstGeom prst="rect">
                <a:avLst/>
              </a:prstGeom>
              <a:solidFill>
                <a:srgbClr val="17375E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8" name="직사각형 257"/>
              <p:cNvSpPr/>
              <p:nvPr/>
            </p:nvSpPr>
            <p:spPr>
              <a:xfrm>
                <a:off x="5332265" y="5948268"/>
                <a:ext cx="347290" cy="250248"/>
              </a:xfrm>
              <a:prstGeom prst="rect">
                <a:avLst/>
              </a:prstGeom>
              <a:solidFill>
                <a:srgbClr val="7030A0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9" name="직사각형 258"/>
              <p:cNvSpPr/>
              <p:nvPr/>
            </p:nvSpPr>
            <p:spPr>
              <a:xfrm>
                <a:off x="4986405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7.8%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0" name="직사각형 259"/>
              <p:cNvSpPr/>
              <p:nvPr/>
            </p:nvSpPr>
            <p:spPr>
              <a:xfrm>
                <a:off x="5337146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7.9%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1" name="직사각형 260"/>
              <p:cNvSpPr/>
              <p:nvPr/>
            </p:nvSpPr>
            <p:spPr>
              <a:xfrm>
                <a:off x="5397381" y="5661519"/>
                <a:ext cx="503663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100%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grpSp>
            <p:nvGrpSpPr>
              <p:cNvPr id="262" name="그룹 261"/>
              <p:cNvGrpSpPr/>
              <p:nvPr/>
            </p:nvGrpSpPr>
            <p:grpSpPr>
              <a:xfrm>
                <a:off x="3305707" y="6382429"/>
                <a:ext cx="2475083" cy="253171"/>
                <a:chOff x="3311103" y="6381595"/>
                <a:chExt cx="2475083" cy="253171"/>
              </a:xfrm>
            </p:grpSpPr>
            <p:sp>
              <p:nvSpPr>
                <p:cNvPr id="265" name="직사각형 264"/>
                <p:cNvSpPr/>
                <p:nvPr/>
              </p:nvSpPr>
              <p:spPr>
                <a:xfrm>
                  <a:off x="3974527" y="6381596"/>
                  <a:ext cx="537327" cy="246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GEMV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6" name="직사각형 265"/>
                <p:cNvSpPr/>
                <p:nvPr/>
              </p:nvSpPr>
              <p:spPr>
                <a:xfrm>
                  <a:off x="3311103" y="6475549"/>
                  <a:ext cx="78516" cy="66384"/>
                </a:xfrm>
                <a:prstGeom prst="rect">
                  <a:avLst/>
                </a:prstGeom>
                <a:solidFill>
                  <a:srgbClr val="0077C8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7" name="직사각형 266"/>
                <p:cNvSpPr/>
                <p:nvPr/>
              </p:nvSpPr>
              <p:spPr>
                <a:xfrm>
                  <a:off x="3345122" y="6388544"/>
                  <a:ext cx="574196" cy="2462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GEMM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8" name="직사각형 267"/>
                <p:cNvSpPr/>
                <p:nvPr/>
              </p:nvSpPr>
              <p:spPr>
                <a:xfrm>
                  <a:off x="3927227" y="6475549"/>
                  <a:ext cx="78516" cy="66384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9" name="직사각형 268"/>
                <p:cNvSpPr/>
                <p:nvPr/>
              </p:nvSpPr>
              <p:spPr>
                <a:xfrm>
                  <a:off x="4539939" y="6382051"/>
                  <a:ext cx="833883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Non-Linear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0" name="직사각형 269"/>
                <p:cNvSpPr/>
                <p:nvPr/>
              </p:nvSpPr>
              <p:spPr>
                <a:xfrm>
                  <a:off x="4503027" y="6476005"/>
                  <a:ext cx="78516" cy="66384"/>
                </a:xfrm>
                <a:prstGeom prst="rect">
                  <a:avLst/>
                </a:prstGeom>
                <a:solidFill>
                  <a:srgbClr val="17375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1" name="직사각형 270"/>
                <p:cNvSpPr/>
                <p:nvPr/>
              </p:nvSpPr>
              <p:spPr>
                <a:xfrm>
                  <a:off x="5401144" y="6381595"/>
                  <a:ext cx="385042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Etc.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2" name="직사각형 271"/>
                <p:cNvSpPr/>
                <p:nvPr/>
              </p:nvSpPr>
              <p:spPr>
                <a:xfrm>
                  <a:off x="5364233" y="6475549"/>
                  <a:ext cx="78516" cy="66384"/>
                </a:xfrm>
                <a:prstGeom prst="rect">
                  <a:avLst/>
                </a:prstGeom>
                <a:solidFill>
                  <a:srgbClr val="604A7B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63" name="직선 연결선 26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4791" y="585345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4" name="직사각형 263"/>
              <p:cNvSpPr/>
              <p:nvPr/>
            </p:nvSpPr>
            <p:spPr>
              <a:xfrm>
                <a:off x="418623" y="6393624"/>
                <a:ext cx="2741456" cy="2462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*GPT-J 6B latency breakdown on A100 GPU</a:t>
                </a:r>
                <a:endParaRPr kumimoji="0" lang="ko-KR" altLang="en-US" sz="800" b="0" i="0" u="none" strike="noStrike" kern="0" cap="none" spc="0" normalizeH="0" baseline="-2500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6146" name="Picture 2" descr="논문 리뷰] A Dynamic PD-Disaggregation Architecture for Maximizing Goodput in  LLM Inference Servi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3640" y="4041648"/>
            <a:ext cx="3348267" cy="1828800"/>
          </a:xfrm>
          <a:prstGeom prst="rect">
            <a:avLst/>
          </a:prstGeom>
          <a:noFill/>
          <a:ln w="6350">
            <a:solidFill>
              <a:srgbClr val="D9D9D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6089904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6108192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P/D 분리는 단계 간 간섭을 없애지만, KV 캐시가 어디(노드·Memory Tier)에 있느냐에 따라 다음 Prefill의 실행 비용이 달라짐 (→ 다음 장)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6151" name="Table 6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732280"/>
              </p:ext>
            </p:extLst>
          </p:nvPr>
        </p:nvGraphicFramePr>
        <p:xfrm>
          <a:off x="8000595" y="1097280"/>
          <a:ext cx="3749447" cy="18928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0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  <a:endParaRPr sz="1000" b="1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Prefill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Decode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900" b="1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입력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첫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+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캐시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KV를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참조해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토큰을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1개씩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연산 형태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(GEMM)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step당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1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(GEMV)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Compute-bound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Memory-bound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lang="en-US"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Weight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·KV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KV 캐시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(Write)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Append Write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TTFT</a:t>
                      </a:r>
                      <a:endParaRPr lang="en-US"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(Time To First Token)</a:t>
                      </a:r>
                      <a:endParaRPr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TPOT</a:t>
                      </a:r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(Time Per Output Token)</a:t>
                      </a:r>
                      <a:endParaRPr sz="900" b="1" dirty="0">
                        <a:solidFill>
                          <a:srgbClr val="C55A1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152" name="Rectangle 6151"/>
          <p:cNvSpPr/>
          <p:nvPr/>
        </p:nvSpPr>
        <p:spPr>
          <a:xfrm>
            <a:off x="502920" y="3721608"/>
            <a:ext cx="521208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(a)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통합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한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GPU에서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Prefill과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Decode를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섞어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실행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3" name="Right Arrow 6172"/>
          <p:cNvSpPr/>
          <p:nvPr/>
        </p:nvSpPr>
        <p:spPr>
          <a:xfrm>
            <a:off x="5700540" y="4773654"/>
            <a:ext cx="292608" cy="329184"/>
          </a:xfrm>
          <a:prstGeom prst="rightArrow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74" name="Rectangle 6173"/>
          <p:cNvSpPr/>
          <p:nvPr/>
        </p:nvSpPr>
        <p:spPr>
          <a:xfrm>
            <a:off x="6263640" y="3738219"/>
            <a:ext cx="548640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(b) P/D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단계별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인스턴스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+ KV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캐시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전송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5" name="Rounded Rectangle 6174"/>
          <p:cNvSpPr/>
          <p:nvPr/>
        </p:nvSpPr>
        <p:spPr>
          <a:xfrm>
            <a:off x="9749067" y="4041648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2E75B6"/>
                </a:solidFill>
                <a:latin typeface="맑은 고딕"/>
                <a:ea typeface="맑은 고딕"/>
              </a:rPr>
              <a:t>Prefill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TTFT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연산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중심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자원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병렬화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6" name="Rounded Rectangle 6175"/>
          <p:cNvSpPr/>
          <p:nvPr/>
        </p:nvSpPr>
        <p:spPr>
          <a:xfrm>
            <a:off x="9749067" y="4700016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C55A11"/>
                </a:solidFill>
                <a:latin typeface="맑은 고딕"/>
                <a:ea typeface="맑은 고딕"/>
              </a:rPr>
              <a:t>Decoding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TPOT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큰 batch · </a:t>
            </a:r>
            <a:endParaRPr lang="en-US" sz="800" b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BW/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용량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7" name="Rounded Rectangle 6176"/>
          <p:cNvSpPr/>
          <p:nvPr/>
        </p:nvSpPr>
        <p:spPr>
          <a:xfrm>
            <a:off x="9749067" y="5358384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 err="1">
                <a:solidFill>
                  <a:srgbClr val="548235"/>
                </a:solidFill>
                <a:latin typeface="맑은 고딕"/>
                <a:ea typeface="맑은 고딕"/>
              </a:rPr>
              <a:t>효과</a:t>
            </a:r>
            <a:endParaRPr sz="800" b="1" dirty="0">
              <a:solidFill>
                <a:srgbClr val="548235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간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P:D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독립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scaling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B8A297E-CCEA-4417-8652-FE55EBFDD7FF}"/>
              </a:ext>
            </a:extLst>
          </p:cNvPr>
          <p:cNvGrpSpPr/>
          <p:nvPr/>
        </p:nvGrpSpPr>
        <p:grpSpPr>
          <a:xfrm>
            <a:off x="464838" y="4278125"/>
            <a:ext cx="5043275" cy="1541239"/>
            <a:chOff x="502920" y="4014215"/>
            <a:chExt cx="4700016" cy="1077429"/>
          </a:xfrm>
        </p:grpSpPr>
        <p:sp>
          <p:nvSpPr>
            <p:cNvPr id="155" name="Rectangle 6152">
              <a:extLst>
                <a:ext uri="{FF2B5EF4-FFF2-40B4-BE49-F238E27FC236}">
                  <a16:creationId xmlns:a16="http://schemas.microsoft.com/office/drawing/2014/main" id="{FF2D4AB9-0B43-4658-B6C0-7467620626F3}"/>
                </a:ext>
              </a:extLst>
            </p:cNvPr>
            <p:cNvSpPr/>
            <p:nvPr/>
          </p:nvSpPr>
          <p:spPr>
            <a:xfrm>
              <a:off x="502920" y="4041648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R1 · Decode 중</a:t>
              </a:r>
            </a:p>
          </p:txBody>
        </p:sp>
        <p:sp>
          <p:nvSpPr>
            <p:cNvPr id="156" name="Rectangle 6153">
              <a:extLst>
                <a:ext uri="{FF2B5EF4-FFF2-40B4-BE49-F238E27FC236}">
                  <a16:creationId xmlns:a16="http://schemas.microsoft.com/office/drawing/2014/main" id="{ABAE4728-ABFA-4FDB-B7AC-1E5BA6247FB1}"/>
                </a:ext>
              </a:extLst>
            </p:cNvPr>
            <p:cNvSpPr/>
            <p:nvPr/>
          </p:nvSpPr>
          <p:spPr>
            <a:xfrm>
              <a:off x="502920" y="4215384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R2 · Decode 중</a:t>
              </a:r>
            </a:p>
          </p:txBody>
        </p:sp>
        <p:sp>
          <p:nvSpPr>
            <p:cNvPr id="157" name="Rectangle 6154">
              <a:extLst>
                <a:ext uri="{FF2B5EF4-FFF2-40B4-BE49-F238E27FC236}">
                  <a16:creationId xmlns:a16="http://schemas.microsoft.com/office/drawing/2014/main" id="{EFB63F22-0161-4313-A52F-32F36FA85296}"/>
                </a:ext>
              </a:extLst>
            </p:cNvPr>
            <p:cNvSpPr/>
            <p:nvPr/>
          </p:nvSpPr>
          <p:spPr>
            <a:xfrm>
              <a:off x="502920" y="4389120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R3 · 신규 Prefill</a:t>
              </a:r>
            </a:p>
          </p:txBody>
        </p:sp>
        <p:sp>
          <p:nvSpPr>
            <p:cNvPr id="158" name="Rectangle 6155">
              <a:extLst>
                <a:ext uri="{FF2B5EF4-FFF2-40B4-BE49-F238E27FC236}">
                  <a16:creationId xmlns:a16="http://schemas.microsoft.com/office/drawing/2014/main" id="{465185A4-B7E7-4398-9D60-5460DA1D8404}"/>
                </a:ext>
              </a:extLst>
            </p:cNvPr>
            <p:cNvSpPr/>
            <p:nvPr/>
          </p:nvSpPr>
          <p:spPr>
            <a:xfrm>
              <a:off x="502920" y="4562856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R4 · 신규 Prefill</a:t>
              </a:r>
            </a:p>
          </p:txBody>
        </p:sp>
        <p:cxnSp>
          <p:nvCxnSpPr>
            <p:cNvPr id="159" name="Connector 6156">
              <a:extLst>
                <a:ext uri="{FF2B5EF4-FFF2-40B4-BE49-F238E27FC236}">
                  <a16:creationId xmlns:a16="http://schemas.microsoft.com/office/drawing/2014/main" id="{49D0AF00-80D0-4EAD-88CB-3C52C8CC6277}"/>
                </a:ext>
              </a:extLst>
            </p:cNvPr>
            <p:cNvCxnSpPr/>
            <p:nvPr/>
          </p:nvCxnSpPr>
          <p:spPr>
            <a:xfrm>
              <a:off x="1527048" y="42611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6157">
              <a:extLst>
                <a:ext uri="{FF2B5EF4-FFF2-40B4-BE49-F238E27FC236}">
                  <a16:creationId xmlns:a16="http://schemas.microsoft.com/office/drawing/2014/main" id="{AC8C792D-22C6-40AE-BDCC-299FB23CD875}"/>
                </a:ext>
              </a:extLst>
            </p:cNvPr>
            <p:cNvSpPr/>
            <p:nvPr/>
          </p:nvSpPr>
          <p:spPr>
            <a:xfrm>
              <a:off x="1709928" y="4041648"/>
              <a:ext cx="365760" cy="667512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맑은 고딕"/>
                  <a:ea typeface="맑은 고딕"/>
                </a:rPr>
                <a:t>GPU</a:t>
              </a:r>
            </a:p>
          </p:txBody>
        </p:sp>
        <p:sp>
          <p:nvSpPr>
            <p:cNvPr id="161" name="Rectangle 6158">
              <a:extLst>
                <a:ext uri="{FF2B5EF4-FFF2-40B4-BE49-F238E27FC236}">
                  <a16:creationId xmlns:a16="http://schemas.microsoft.com/office/drawing/2014/main" id="{BF280A27-50E4-4F2B-A278-BB3FA661D21A}"/>
                </a:ext>
              </a:extLst>
            </p:cNvPr>
            <p:cNvSpPr/>
            <p:nvPr/>
          </p:nvSpPr>
          <p:spPr>
            <a:xfrm>
              <a:off x="216712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2" name="Rectangle 6159">
              <a:extLst>
                <a:ext uri="{FF2B5EF4-FFF2-40B4-BE49-F238E27FC236}">
                  <a16:creationId xmlns:a16="http://schemas.microsoft.com/office/drawing/2014/main" id="{2FC09F91-1BDD-45F0-9B76-BE7958A4B6B3}"/>
                </a:ext>
              </a:extLst>
            </p:cNvPr>
            <p:cNvSpPr/>
            <p:nvPr/>
          </p:nvSpPr>
          <p:spPr>
            <a:xfrm>
              <a:off x="216712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163" name="Rectangle 6160">
              <a:extLst>
                <a:ext uri="{FF2B5EF4-FFF2-40B4-BE49-F238E27FC236}">
                  <a16:creationId xmlns:a16="http://schemas.microsoft.com/office/drawing/2014/main" id="{EEC437A7-E8BA-4249-9E7C-F17265ADE265}"/>
                </a:ext>
              </a:extLst>
            </p:cNvPr>
            <p:cNvSpPr/>
            <p:nvPr/>
          </p:nvSpPr>
          <p:spPr>
            <a:xfrm>
              <a:off x="248716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4" name="Rectangle 6161">
              <a:extLst>
                <a:ext uri="{FF2B5EF4-FFF2-40B4-BE49-F238E27FC236}">
                  <a16:creationId xmlns:a16="http://schemas.microsoft.com/office/drawing/2014/main" id="{2BFCB928-4B9E-4521-8F9B-0EB079BA983C}"/>
                </a:ext>
              </a:extLst>
            </p:cNvPr>
            <p:cNvSpPr/>
            <p:nvPr/>
          </p:nvSpPr>
          <p:spPr>
            <a:xfrm>
              <a:off x="2743200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04" name="Rectangle 6162">
              <a:extLst>
                <a:ext uri="{FF2B5EF4-FFF2-40B4-BE49-F238E27FC236}">
                  <a16:creationId xmlns:a16="http://schemas.microsoft.com/office/drawing/2014/main" id="{D9DDD90B-9B09-417D-A222-FDB7E729E36C}"/>
                </a:ext>
              </a:extLst>
            </p:cNvPr>
            <p:cNvSpPr/>
            <p:nvPr/>
          </p:nvSpPr>
          <p:spPr>
            <a:xfrm>
              <a:off x="248716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05" name="Rectangle 6163">
              <a:extLst>
                <a:ext uri="{FF2B5EF4-FFF2-40B4-BE49-F238E27FC236}">
                  <a16:creationId xmlns:a16="http://schemas.microsoft.com/office/drawing/2014/main" id="{4D7FE4C2-F14F-4AF0-8A9A-B5F8C6DF1F11}"/>
                </a:ext>
              </a:extLst>
            </p:cNvPr>
            <p:cNvSpPr/>
            <p:nvPr/>
          </p:nvSpPr>
          <p:spPr>
            <a:xfrm>
              <a:off x="2743200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40" name="Rectangle 6164">
              <a:extLst>
                <a:ext uri="{FF2B5EF4-FFF2-40B4-BE49-F238E27FC236}">
                  <a16:creationId xmlns:a16="http://schemas.microsoft.com/office/drawing/2014/main" id="{B44BACBA-DF71-4008-95E0-2CDFAC3F9A21}"/>
                </a:ext>
              </a:extLst>
            </p:cNvPr>
            <p:cNvSpPr/>
            <p:nvPr/>
          </p:nvSpPr>
          <p:spPr>
            <a:xfrm>
              <a:off x="2487168" y="4389120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P3 (긴 프롬프트)</a:t>
              </a:r>
            </a:p>
          </p:txBody>
        </p:sp>
        <p:sp>
          <p:nvSpPr>
            <p:cNvPr id="273" name="Rectangle 6165">
              <a:extLst>
                <a:ext uri="{FF2B5EF4-FFF2-40B4-BE49-F238E27FC236}">
                  <a16:creationId xmlns:a16="http://schemas.microsoft.com/office/drawing/2014/main" id="{08BAC2FC-8327-4996-A348-B641F1D9FD62}"/>
                </a:ext>
              </a:extLst>
            </p:cNvPr>
            <p:cNvSpPr/>
            <p:nvPr/>
          </p:nvSpPr>
          <p:spPr>
            <a:xfrm>
              <a:off x="3621024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4" name="Rectangle 6166">
              <a:extLst>
                <a:ext uri="{FF2B5EF4-FFF2-40B4-BE49-F238E27FC236}">
                  <a16:creationId xmlns:a16="http://schemas.microsoft.com/office/drawing/2014/main" id="{1AE420FD-892B-45C1-A2B1-32BBB5D1773D}"/>
                </a:ext>
              </a:extLst>
            </p:cNvPr>
            <p:cNvSpPr/>
            <p:nvPr/>
          </p:nvSpPr>
          <p:spPr>
            <a:xfrm>
              <a:off x="3621024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5" name="Rectangle 6167">
              <a:extLst>
                <a:ext uri="{FF2B5EF4-FFF2-40B4-BE49-F238E27FC236}">
                  <a16:creationId xmlns:a16="http://schemas.microsoft.com/office/drawing/2014/main" id="{2990D454-12DA-4A42-9CF3-AC728D56B8DE}"/>
                </a:ext>
              </a:extLst>
            </p:cNvPr>
            <p:cNvSpPr/>
            <p:nvPr/>
          </p:nvSpPr>
          <p:spPr>
            <a:xfrm>
              <a:off x="3621024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76" name="Rectangle 6168">
              <a:extLst>
                <a:ext uri="{FF2B5EF4-FFF2-40B4-BE49-F238E27FC236}">
                  <a16:creationId xmlns:a16="http://schemas.microsoft.com/office/drawing/2014/main" id="{27EDFEEA-A838-4303-B208-0FA0416B4C67}"/>
                </a:ext>
              </a:extLst>
            </p:cNvPr>
            <p:cNvSpPr/>
            <p:nvPr/>
          </p:nvSpPr>
          <p:spPr>
            <a:xfrm>
              <a:off x="3941063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7" name="Rectangle 6169">
              <a:extLst>
                <a:ext uri="{FF2B5EF4-FFF2-40B4-BE49-F238E27FC236}">
                  <a16:creationId xmlns:a16="http://schemas.microsoft.com/office/drawing/2014/main" id="{8A4641AF-C7A1-4DF4-B54B-947039174740}"/>
                </a:ext>
              </a:extLst>
            </p:cNvPr>
            <p:cNvSpPr/>
            <p:nvPr/>
          </p:nvSpPr>
          <p:spPr>
            <a:xfrm>
              <a:off x="4197096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78" name="Rectangle 6170">
              <a:extLst>
                <a:ext uri="{FF2B5EF4-FFF2-40B4-BE49-F238E27FC236}">
                  <a16:creationId xmlns:a16="http://schemas.microsoft.com/office/drawing/2014/main" id="{86651360-077B-4956-96B9-92C60C6B1719}"/>
                </a:ext>
              </a:extLst>
            </p:cNvPr>
            <p:cNvSpPr/>
            <p:nvPr/>
          </p:nvSpPr>
          <p:spPr>
            <a:xfrm>
              <a:off x="3941063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9" name="Rectangle 6171">
              <a:extLst>
                <a:ext uri="{FF2B5EF4-FFF2-40B4-BE49-F238E27FC236}">
                  <a16:creationId xmlns:a16="http://schemas.microsoft.com/office/drawing/2014/main" id="{7D3942C4-82FB-4934-8FCB-4AB9DF48D245}"/>
                </a:ext>
              </a:extLst>
            </p:cNvPr>
            <p:cNvSpPr/>
            <p:nvPr/>
          </p:nvSpPr>
          <p:spPr>
            <a:xfrm>
              <a:off x="4197096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0" name="Rectangle 6172">
              <a:extLst>
                <a:ext uri="{FF2B5EF4-FFF2-40B4-BE49-F238E27FC236}">
                  <a16:creationId xmlns:a16="http://schemas.microsoft.com/office/drawing/2014/main" id="{D501D629-6B33-438F-B52B-971D7815A36C}"/>
                </a:ext>
              </a:extLst>
            </p:cNvPr>
            <p:cNvSpPr/>
            <p:nvPr/>
          </p:nvSpPr>
          <p:spPr>
            <a:xfrm>
              <a:off x="3941063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81" name="Rectangle 6173">
              <a:extLst>
                <a:ext uri="{FF2B5EF4-FFF2-40B4-BE49-F238E27FC236}">
                  <a16:creationId xmlns:a16="http://schemas.microsoft.com/office/drawing/2014/main" id="{7AB6576A-506F-46EB-9A2D-811BBDCEEC2A}"/>
                </a:ext>
              </a:extLst>
            </p:cNvPr>
            <p:cNvSpPr/>
            <p:nvPr/>
          </p:nvSpPr>
          <p:spPr>
            <a:xfrm>
              <a:off x="4197096" y="4389120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2" name="Rectangle 6174">
              <a:extLst>
                <a:ext uri="{FF2B5EF4-FFF2-40B4-BE49-F238E27FC236}">
                  <a16:creationId xmlns:a16="http://schemas.microsoft.com/office/drawing/2014/main" id="{167FCFCD-3172-4654-AFED-F40CFC715162}"/>
                </a:ext>
              </a:extLst>
            </p:cNvPr>
            <p:cNvSpPr/>
            <p:nvPr/>
          </p:nvSpPr>
          <p:spPr>
            <a:xfrm>
              <a:off x="3941063" y="4562856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P4 (긴 프롬프트)</a:t>
              </a:r>
            </a:p>
          </p:txBody>
        </p:sp>
        <p:cxnSp>
          <p:nvCxnSpPr>
            <p:cNvPr id="283" name="Connector 6175">
              <a:extLst>
                <a:ext uri="{FF2B5EF4-FFF2-40B4-BE49-F238E27FC236}">
                  <a16:creationId xmlns:a16="http://schemas.microsoft.com/office/drawing/2014/main" id="{70C43492-E8BB-4E0B-B41E-1AD3157DEDDB}"/>
                </a:ext>
              </a:extLst>
            </p:cNvPr>
            <p:cNvCxnSpPr/>
            <p:nvPr/>
          </p:nvCxnSpPr>
          <p:spPr>
            <a:xfrm>
              <a:off x="2450592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ctor 6176">
              <a:extLst>
                <a:ext uri="{FF2B5EF4-FFF2-40B4-BE49-F238E27FC236}">
                  <a16:creationId xmlns:a16="http://schemas.microsoft.com/office/drawing/2014/main" id="{1A11478A-047E-4A62-8FA5-3F5DB15F43EF}"/>
                </a:ext>
              </a:extLst>
            </p:cNvPr>
            <p:cNvCxnSpPr/>
            <p:nvPr/>
          </p:nvCxnSpPr>
          <p:spPr>
            <a:xfrm>
              <a:off x="3584448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or 6177">
              <a:extLst>
                <a:ext uri="{FF2B5EF4-FFF2-40B4-BE49-F238E27FC236}">
                  <a16:creationId xmlns:a16="http://schemas.microsoft.com/office/drawing/2014/main" id="{C3C3B8FC-1C22-4708-840B-4D778CF7E30E}"/>
                </a:ext>
              </a:extLst>
            </p:cNvPr>
            <p:cNvCxnSpPr/>
            <p:nvPr/>
          </p:nvCxnSpPr>
          <p:spPr>
            <a:xfrm>
              <a:off x="3904487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ctor 6178">
              <a:extLst>
                <a:ext uri="{FF2B5EF4-FFF2-40B4-BE49-F238E27FC236}">
                  <a16:creationId xmlns:a16="http://schemas.microsoft.com/office/drawing/2014/main" id="{D3C3F233-D8E6-4760-8C29-11C141BA7257}"/>
                </a:ext>
              </a:extLst>
            </p:cNvPr>
            <p:cNvCxnSpPr/>
            <p:nvPr/>
          </p:nvCxnSpPr>
          <p:spPr>
            <a:xfrm>
              <a:off x="5038344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ctor 6179">
              <a:extLst>
                <a:ext uri="{FF2B5EF4-FFF2-40B4-BE49-F238E27FC236}">
                  <a16:creationId xmlns:a16="http://schemas.microsoft.com/office/drawing/2014/main" id="{19063568-B70A-49AE-BB82-252280050E05}"/>
                </a:ext>
              </a:extLst>
            </p:cNvPr>
            <p:cNvCxnSpPr/>
            <p:nvPr/>
          </p:nvCxnSpPr>
          <p:spPr>
            <a:xfrm>
              <a:off x="4845242" y="4931793"/>
              <a:ext cx="237744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8" name="Rectangle 6180">
              <a:extLst>
                <a:ext uri="{FF2B5EF4-FFF2-40B4-BE49-F238E27FC236}">
                  <a16:creationId xmlns:a16="http://schemas.microsoft.com/office/drawing/2014/main" id="{C03EBB96-B1CC-4189-9C82-F150FBA31156}"/>
                </a:ext>
              </a:extLst>
            </p:cNvPr>
            <p:cNvSpPr/>
            <p:nvPr/>
          </p:nvSpPr>
          <p:spPr>
            <a:xfrm>
              <a:off x="4764423" y="4927052"/>
              <a:ext cx="3657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시간</a:t>
              </a:r>
              <a:endParaRPr sz="800" b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9" name="Rectangle 6181">
              <a:extLst>
                <a:ext uri="{FF2B5EF4-FFF2-40B4-BE49-F238E27FC236}">
                  <a16:creationId xmlns:a16="http://schemas.microsoft.com/office/drawing/2014/main" id="{52A623D5-B822-4941-BD6E-9F1A62BAC1CF}"/>
                </a:ext>
              </a:extLst>
            </p:cNvPr>
            <p:cNvSpPr/>
            <p:nvPr/>
          </p:nvSpPr>
          <p:spPr>
            <a:xfrm>
              <a:off x="2286000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00000"/>
                  </a:solidFill>
                  <a:latin typeface="맑은 고딕"/>
                  <a:ea typeface="맑은 고딕"/>
                </a:rPr>
                <a:t>Prefill이 iteration 시간 지배</a:t>
              </a:r>
            </a:p>
          </p:txBody>
        </p:sp>
        <p:sp>
          <p:nvSpPr>
            <p:cNvPr id="290" name="Rectangle 6182">
              <a:extLst>
                <a:ext uri="{FF2B5EF4-FFF2-40B4-BE49-F238E27FC236}">
                  <a16:creationId xmlns:a16="http://schemas.microsoft.com/office/drawing/2014/main" id="{F0120EE9-A51E-4361-9834-0B42F814F1B6}"/>
                </a:ext>
              </a:extLst>
            </p:cNvPr>
            <p:cNvSpPr/>
            <p:nvPr/>
          </p:nvSpPr>
          <p:spPr>
            <a:xfrm>
              <a:off x="3739896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Decode도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함께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대기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(TPOT↑)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145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배경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캐시가 배치될 수 있는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는 다양해짐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간의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 이동 비용을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고려하지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이동 및 연산 비용을 고려한 다음 연산 실행 노드 결정을 통해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dirty="0">
                <a:latin typeface="맑은 고딕" panose="020B0503020000020004" pitchFamily="50" charset="-127"/>
              </a:rPr>
              <a:t>Cost </a:t>
            </a:r>
            <a:r>
              <a:rPr lang="ko-KR" altLang="en-US" sz="1200" dirty="0">
                <a:latin typeface="맑은 고딕" panose="020B0503020000020004" pitchFamily="50" charset="-127"/>
              </a:rPr>
              <a:t>모델 확장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 최소화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KV</a:t>
              </a:r>
              <a:r>
                <a:rPr lang="ko-KR" altLang="en-US" sz="1100" b="1" dirty="0"/>
                <a:t> 위치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워크로드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자원 상태 등을 고려한 </a:t>
              </a:r>
              <a:r>
                <a:rPr lang="en-US" altLang="ko-KR" sz="1100" b="1" dirty="0"/>
                <a:t>Prefill-Decode</a:t>
              </a:r>
              <a:r>
                <a:rPr lang="ko-KR" altLang="en-US" sz="1100" b="1" dirty="0"/>
                <a:t> 실행 구조</a:t>
              </a:r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1940" y="3331478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기존 </a:t>
              </a:r>
              <a:r>
                <a:rPr lang="en-US" altLang="ko-KR" sz="1100" b="1" dirty="0"/>
                <a:t>Prefill-Decode </a:t>
              </a:r>
              <a:r>
                <a:rPr lang="ko-KR" altLang="en-US" sz="1100" b="1" dirty="0"/>
                <a:t>분리 실행 구조</a:t>
              </a:r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38" name="Rounded Rectangle 9037"/>
          <p:cNvSpPr/>
          <p:nvPr/>
        </p:nvSpPr>
        <p:spPr>
          <a:xfrm>
            <a:off x="1993392" y="2270760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 dirty="0">
                <a:solidFill>
                  <a:srgbClr val="000000"/>
                </a:solidFill>
                <a:latin typeface="맑은 고딕"/>
                <a:ea typeface="맑은 고딕"/>
              </a:rPr>
              <a:t>Request (Turn N)</a:t>
            </a:r>
          </a:p>
        </p:txBody>
      </p:sp>
      <p:cxnSp>
        <p:nvCxnSpPr>
          <p:cNvPr id="9039" name="Connector 9038"/>
          <p:cNvCxnSpPr>
            <a:cxnSpLocks/>
          </p:cNvCxnSpPr>
          <p:nvPr/>
        </p:nvCxnSpPr>
        <p:spPr>
          <a:xfrm>
            <a:off x="2743200" y="2490216"/>
            <a:ext cx="0" cy="9144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0" name="Rectangle 9039"/>
          <p:cNvSpPr/>
          <p:nvPr/>
        </p:nvSpPr>
        <p:spPr>
          <a:xfrm>
            <a:off x="1536192" y="2581656"/>
            <a:ext cx="2423160" cy="32918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Request Scheduler / Router</a:t>
            </a:r>
          </a:p>
        </p:txBody>
      </p:sp>
      <p:sp>
        <p:nvSpPr>
          <p:cNvPr id="9041" name="Rectangle 9040"/>
          <p:cNvSpPr/>
          <p:nvPr/>
        </p:nvSpPr>
        <p:spPr>
          <a:xfrm>
            <a:off x="566928" y="3071276"/>
            <a:ext cx="1463040" cy="465513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2" name="Rectangle 9041"/>
          <p:cNvSpPr/>
          <p:nvPr/>
        </p:nvSpPr>
        <p:spPr>
          <a:xfrm>
            <a:off x="566928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2E75B6"/>
                </a:solidFill>
                <a:latin typeface="맑은 고딕"/>
                <a:ea typeface="맑은 고딕"/>
              </a:rPr>
              <a:t>Prefill Node (P)</a:t>
            </a:r>
          </a:p>
        </p:txBody>
      </p:sp>
      <p:sp>
        <p:nvSpPr>
          <p:cNvPr id="9043" name="Rectangle 9042"/>
          <p:cNvSpPr/>
          <p:nvPr/>
        </p:nvSpPr>
        <p:spPr>
          <a:xfrm>
            <a:off x="676656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Input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Prompt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sz="7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044" name="Rectangle 9043"/>
          <p:cNvSpPr/>
          <p:nvPr/>
        </p:nvSpPr>
        <p:spPr>
          <a:xfrm>
            <a:off x="3456432" y="3071276"/>
            <a:ext cx="1463040" cy="465513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5" name="Rectangle 9044"/>
          <p:cNvSpPr/>
          <p:nvPr/>
        </p:nvSpPr>
        <p:spPr>
          <a:xfrm>
            <a:off x="3456432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C55A11"/>
                </a:solidFill>
                <a:latin typeface="맑은 고딕"/>
                <a:ea typeface="맑은 고딕"/>
              </a:rPr>
              <a:t>Decode Node (D)</a:t>
            </a:r>
          </a:p>
        </p:txBody>
      </p:sp>
      <p:sp>
        <p:nvSpPr>
          <p:cNvPr id="9046" name="Rectangle 9045"/>
          <p:cNvSpPr/>
          <p:nvPr/>
        </p:nvSpPr>
        <p:spPr>
          <a:xfrm>
            <a:off x="3566160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Output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lang="en-US" altLang="ko-KR"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00" b="0" dirty="0">
                <a:solidFill>
                  <a:srgbClr val="000000"/>
                </a:solidFill>
                <a:latin typeface="맑은 고딕"/>
                <a:ea typeface="맑은 고딕"/>
              </a:rPr>
              <a:t>누적</a:t>
            </a:r>
          </a:p>
        </p:txBody>
      </p:sp>
      <p:cxnSp>
        <p:nvCxnSpPr>
          <p:cNvPr id="9047" name="Connector 9046"/>
          <p:cNvCxnSpPr>
            <a:cxnSpLocks/>
          </p:cNvCxnSpPr>
          <p:nvPr/>
        </p:nvCxnSpPr>
        <p:spPr>
          <a:xfrm flipH="1">
            <a:off x="1298448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cxnSpLocks/>
          </p:cNvCxnSpPr>
          <p:nvPr/>
        </p:nvCxnSpPr>
        <p:spPr>
          <a:xfrm>
            <a:off x="3474720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cxnSpLocks/>
          </p:cNvCxnSpPr>
          <p:nvPr/>
        </p:nvCxnSpPr>
        <p:spPr>
          <a:xfrm>
            <a:off x="2029968" y="3176016"/>
            <a:ext cx="1426464" cy="0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0" name="Rectangle 9049"/>
          <p:cNvSpPr/>
          <p:nvPr/>
        </p:nvSpPr>
        <p:spPr>
          <a:xfrm>
            <a:off x="2029968" y="2974848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2E75B6"/>
                </a:solidFill>
                <a:latin typeface="맑은 고딕"/>
                <a:ea typeface="맑은 고딕"/>
              </a:rPr>
              <a:t>전송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 (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N-</a:t>
            </a:r>
            <a:r>
              <a:rPr lang="en-US" sz="650" dirty="0" err="1">
                <a:solidFill>
                  <a:srgbClr val="2E75B6"/>
                </a:solidFill>
                <a:latin typeface="맑은 고딕"/>
                <a:ea typeface="맑은 고딕"/>
              </a:rPr>
              <a:t>th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 Turn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9051" name="Connector 9050"/>
          <p:cNvCxnSpPr>
            <a:cxnSpLocks/>
          </p:cNvCxnSpPr>
          <p:nvPr/>
        </p:nvCxnSpPr>
        <p:spPr>
          <a:xfrm flipH="1">
            <a:off x="2029968" y="3413760"/>
            <a:ext cx="1426464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2" name="Rectangle 9051"/>
          <p:cNvSpPr/>
          <p:nvPr/>
        </p:nvSpPr>
        <p:spPr>
          <a:xfrm>
            <a:off x="2029968" y="3413760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KV </a:t>
            </a:r>
            <a:r>
              <a:rPr sz="650" b="1" dirty="0" err="1">
                <a:solidFill>
                  <a:srgbClr val="C00000"/>
                </a:solidFill>
                <a:latin typeface="맑은 고딕"/>
                <a:ea typeface="맑은 고딕"/>
              </a:rPr>
              <a:t>전송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 (</a:t>
            </a:r>
            <a:r>
              <a:rPr lang="en-US" sz="650" b="1" dirty="0">
                <a:solidFill>
                  <a:srgbClr val="C00000"/>
                </a:solidFill>
                <a:latin typeface="맑은 고딕"/>
                <a:ea typeface="맑은 고딕"/>
              </a:rPr>
              <a:t>N+1-th Turn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054" name="Rectangle 9053"/>
          <p:cNvSpPr/>
          <p:nvPr/>
        </p:nvSpPr>
        <p:spPr>
          <a:xfrm>
            <a:off x="900684" y="5457562"/>
            <a:ext cx="4297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Host DRAM · CXL Memory · SSD 등 KV 저장 Tier</a:t>
            </a:r>
            <a:r>
              <a:rPr sz="650" b="1">
                <a:solidFill>
                  <a:srgbClr val="C00000"/>
                </a:solidFill>
                <a:latin typeface="맑은 고딕"/>
                <a:ea typeface="맑은 고딕"/>
              </a:rPr>
              <a:t>  →  실행 위치 결정에 미반영</a:t>
            </a:r>
          </a:p>
        </p:txBody>
      </p:sp>
      <p:sp>
        <p:nvSpPr>
          <p:cNvPr id="9055" name="Rounded Rectangle 9054"/>
          <p:cNvSpPr/>
          <p:nvPr/>
        </p:nvSpPr>
        <p:spPr>
          <a:xfrm>
            <a:off x="7635240" y="2075688"/>
            <a:ext cx="26060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0">
                <a:solidFill>
                  <a:srgbClr val="000000"/>
                </a:solidFill>
                <a:latin typeface="맑은 고딕"/>
                <a:ea typeface="맑은 고딕"/>
              </a:rPr>
              <a:t>Request (Turn N: 신규 입력 / Tool 결과)</a:t>
            </a:r>
          </a:p>
        </p:txBody>
      </p:sp>
      <p:cxnSp>
        <p:nvCxnSpPr>
          <p:cNvPr id="9056" name="Connector 9055"/>
          <p:cNvCxnSpPr/>
          <p:nvPr/>
        </p:nvCxnSpPr>
        <p:spPr>
          <a:xfrm>
            <a:off x="8942832" y="230428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7" name="Rectangle 9056"/>
          <p:cNvSpPr/>
          <p:nvPr/>
        </p:nvSpPr>
        <p:spPr>
          <a:xfrm>
            <a:off x="8028431" y="237744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Request Scheduler</a:t>
            </a:r>
          </a:p>
        </p:txBody>
      </p:sp>
      <p:cxnSp>
        <p:nvCxnSpPr>
          <p:cNvPr id="9058" name="Connector 9057"/>
          <p:cNvCxnSpPr/>
          <p:nvPr/>
        </p:nvCxnSpPr>
        <p:spPr>
          <a:xfrm>
            <a:off x="8942832" y="2615184"/>
            <a:ext cx="0" cy="100584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Rectangle 9058"/>
          <p:cNvSpPr/>
          <p:nvPr/>
        </p:nvSpPr>
        <p:spPr>
          <a:xfrm>
            <a:off x="6537960" y="2715768"/>
            <a:ext cx="5029200" cy="1371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60" name="Rectangle 9059"/>
          <p:cNvSpPr/>
          <p:nvPr/>
        </p:nvSpPr>
        <p:spPr>
          <a:xfrm>
            <a:off x="6537960" y="2715768"/>
            <a:ext cx="5029200" cy="219456"/>
          </a:xfrm>
          <a:prstGeom prst="rect">
            <a:avLst/>
          </a:prstGeom>
          <a:solidFill>
            <a:srgbClr val="2E75B6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Prefill Execution Planner  —  Cost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Prefill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위치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결정</a:t>
            </a:r>
            <a:endParaRPr sz="9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061" name="Rectangle 9060"/>
          <p:cNvSpPr/>
          <p:nvPr/>
        </p:nvSpPr>
        <p:spPr>
          <a:xfrm>
            <a:off x="6647688" y="301752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KV State Monitor</a:t>
            </a:r>
          </a:p>
          <a:p>
            <a:pPr algn="ctr"/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Tier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크기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062" name="Rectangle 9061"/>
          <p:cNvSpPr/>
          <p:nvPr/>
        </p:nvSpPr>
        <p:spPr>
          <a:xfrm>
            <a:off x="6647688" y="3547872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Resource State Monitor</a:t>
            </a:r>
          </a:p>
          <a:p>
            <a:pPr algn="ctr"/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부하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Queue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9063" name="Connector 9062"/>
          <p:cNvCxnSpPr/>
          <p:nvPr/>
        </p:nvCxnSpPr>
        <p:spPr>
          <a:xfrm>
            <a:off x="8019288" y="3246120"/>
            <a:ext cx="164591" cy="155448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4" name="Connector 9063"/>
          <p:cNvCxnSpPr/>
          <p:nvPr/>
        </p:nvCxnSpPr>
        <p:spPr>
          <a:xfrm flipV="1">
            <a:off x="8019288" y="3639312"/>
            <a:ext cx="164591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5" name="Rectangle 9064"/>
          <p:cNvSpPr/>
          <p:nvPr/>
        </p:nvSpPr>
        <p:spPr>
          <a:xfrm>
            <a:off x="8183879" y="3017520"/>
            <a:ext cx="196596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Cost Evaluator</a:t>
            </a:r>
            <a:endParaRPr lang="ko-KR" altLang="en-US"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후보 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 ∈ {P, D, …} </a:t>
            </a:r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별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Cost(n) =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move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(KV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Tier→n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prefill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(n) 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queue</a:t>
            </a:r>
            <a:r>
              <a:rPr 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간섭</a:t>
            </a:r>
            <a:r>
              <a:rPr lang="en-US" altLang="ko-KR" sz="6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n)</a:t>
            </a:r>
          </a:p>
          <a:p>
            <a:pPr algn="ctr"/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→ </a:t>
            </a:r>
            <a:r>
              <a:rPr lang="en-US" sz="650" b="1" dirty="0" err="1">
                <a:solidFill>
                  <a:srgbClr val="2E75B6"/>
                </a:solidFill>
                <a:latin typeface="맑은 고딕"/>
                <a:ea typeface="맑은 고딕"/>
              </a:rPr>
              <a:t>argmin</a:t>
            </a:r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 Cost </a:t>
            </a:r>
            <a:r>
              <a:rPr lang="ko-KR" alt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노드 선택</a:t>
            </a:r>
          </a:p>
        </p:txBody>
      </p:sp>
      <p:sp>
        <p:nvSpPr>
          <p:cNvPr id="9066" name="Rectangle 9065"/>
          <p:cNvSpPr/>
          <p:nvPr/>
        </p:nvSpPr>
        <p:spPr>
          <a:xfrm>
            <a:off x="10287000" y="3017520"/>
            <a:ext cx="11887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482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Pluggable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Cost Model /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Memory Tier I/F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신규 메모리</a:t>
            </a:r>
            <a:r>
              <a:rPr lang="en-US" altLang="ko-KR" sz="620" b="0" dirty="0">
                <a:solidFill>
                  <a:srgbClr val="548235"/>
                </a:solidFill>
                <a:latin typeface="맑은 고딕"/>
                <a:ea typeface="맑은 고딕"/>
              </a:rPr>
              <a:t>·Cost</a:t>
            </a:r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 모델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확장 시 구조 변경 최소화</a:t>
            </a:r>
          </a:p>
        </p:txBody>
      </p:sp>
      <p:cxnSp>
        <p:nvCxnSpPr>
          <p:cNvPr id="9067" name="Connector 9066"/>
          <p:cNvCxnSpPr/>
          <p:nvPr/>
        </p:nvCxnSpPr>
        <p:spPr>
          <a:xfrm flipH="1">
            <a:off x="10149840" y="3511296"/>
            <a:ext cx="137160" cy="0"/>
          </a:xfrm>
          <a:prstGeom prst="line">
            <a:avLst/>
          </a:prstGeom>
          <a:ln w="12700">
            <a:solidFill>
              <a:srgbClr val="5482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8" name="Rectangle 9067"/>
          <p:cNvSpPr/>
          <p:nvPr/>
        </p:nvSpPr>
        <p:spPr>
          <a:xfrm>
            <a:off x="6812280" y="2377440"/>
            <a:ext cx="9144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워크로드 정보</a:t>
            </a:r>
          </a:p>
        </p:txBody>
      </p:sp>
      <p:cxnSp>
        <p:nvCxnSpPr>
          <p:cNvPr id="9069" name="Connector 9068"/>
          <p:cNvCxnSpPr/>
          <p:nvPr/>
        </p:nvCxnSpPr>
        <p:spPr>
          <a:xfrm flipH="1">
            <a:off x="7790688" y="2496312"/>
            <a:ext cx="237743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0" name="Connector 9069"/>
          <p:cNvCxnSpPr/>
          <p:nvPr/>
        </p:nvCxnSpPr>
        <p:spPr>
          <a:xfrm>
            <a:off x="7790688" y="2496312"/>
            <a:ext cx="0" cy="246888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1" name="Connector 9070"/>
          <p:cNvCxnSpPr/>
          <p:nvPr/>
        </p:nvCxnSpPr>
        <p:spPr>
          <a:xfrm>
            <a:off x="8942832" y="408736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2" name="Rectangle 9071"/>
          <p:cNvSpPr/>
          <p:nvPr/>
        </p:nvSpPr>
        <p:spPr>
          <a:xfrm>
            <a:off x="8028431" y="416052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Execution Router</a:t>
            </a:r>
          </a:p>
        </p:txBody>
      </p:sp>
      <p:sp>
        <p:nvSpPr>
          <p:cNvPr id="9073" name="Rectangle 9072"/>
          <p:cNvSpPr/>
          <p:nvPr/>
        </p:nvSpPr>
        <p:spPr>
          <a:xfrm>
            <a:off x="6675120" y="4572000"/>
            <a:ext cx="1508760" cy="475488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4" name="Rectangle 9073"/>
          <p:cNvSpPr/>
          <p:nvPr/>
        </p:nvSpPr>
        <p:spPr>
          <a:xfrm>
            <a:off x="667512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Prefill</a:t>
            </a:r>
            <a:r>
              <a:rPr lang="en-US" sz="750" b="1" dirty="0">
                <a:solidFill>
                  <a:srgbClr val="2E75B6"/>
                </a:solidFill>
                <a:latin typeface="맑은 고딕"/>
                <a:ea typeface="맑은 고딕"/>
              </a:rPr>
              <a:t>-centric </a:t>
            </a:r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Node</a:t>
            </a:r>
          </a:p>
        </p:txBody>
      </p:sp>
      <p:sp>
        <p:nvSpPr>
          <p:cNvPr id="9075" name="Rectangle 9074"/>
          <p:cNvSpPr/>
          <p:nvPr/>
        </p:nvSpPr>
        <p:spPr>
          <a:xfrm>
            <a:off x="6766559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6" name="Rectangle 9075"/>
          <p:cNvSpPr/>
          <p:nvPr/>
        </p:nvSpPr>
        <p:spPr>
          <a:xfrm>
            <a:off x="8458200" y="4572000"/>
            <a:ext cx="1508760" cy="4754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7" name="Rectangle 9076"/>
          <p:cNvSpPr/>
          <p:nvPr/>
        </p:nvSpPr>
        <p:spPr>
          <a:xfrm>
            <a:off x="845820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Decode</a:t>
            </a:r>
            <a:r>
              <a:rPr lang="en-US" sz="750" b="1" dirty="0">
                <a:solidFill>
                  <a:srgbClr val="C55A11"/>
                </a:solidFill>
                <a:latin typeface="맑은 고딕"/>
                <a:ea typeface="맑은 고딕"/>
              </a:rPr>
              <a:t>-centric</a:t>
            </a:r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 Node</a:t>
            </a:r>
          </a:p>
        </p:txBody>
      </p:sp>
      <p:sp>
        <p:nvSpPr>
          <p:cNvPr id="9078" name="Rectangle 9077"/>
          <p:cNvSpPr/>
          <p:nvPr/>
        </p:nvSpPr>
        <p:spPr>
          <a:xfrm>
            <a:off x="8549640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9" name="Rectangle 9078"/>
          <p:cNvSpPr/>
          <p:nvPr/>
        </p:nvSpPr>
        <p:spPr>
          <a:xfrm>
            <a:off x="10241280" y="4572000"/>
            <a:ext cx="1280160" cy="475488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80" name="Rectangle 9079"/>
          <p:cNvSpPr/>
          <p:nvPr/>
        </p:nvSpPr>
        <p:spPr>
          <a:xfrm>
            <a:off x="10241280" y="4590288"/>
            <a:ext cx="12801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>
                <a:solidFill>
                  <a:srgbClr val="548235"/>
                </a:solidFill>
                <a:latin typeface="맑은 고딕"/>
                <a:ea typeface="맑은 고딕"/>
              </a:rPr>
              <a:t>Memory Pool</a:t>
            </a:r>
          </a:p>
        </p:txBody>
      </p:sp>
      <p:sp>
        <p:nvSpPr>
          <p:cNvPr id="9081" name="Rectangle 9080"/>
          <p:cNvSpPr/>
          <p:nvPr/>
        </p:nvSpPr>
        <p:spPr>
          <a:xfrm>
            <a:off x="10332719" y="4791456"/>
            <a:ext cx="10972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CXL · SSD</a:t>
            </a:r>
          </a:p>
        </p:txBody>
      </p:sp>
      <p:cxnSp>
        <p:nvCxnSpPr>
          <p:cNvPr id="9082" name="Connector 9081"/>
          <p:cNvCxnSpPr>
            <a:cxnSpLocks/>
            <a:stCxn id="9072" idx="2"/>
          </p:cNvCxnSpPr>
          <p:nvPr/>
        </p:nvCxnSpPr>
        <p:spPr>
          <a:xfrm flipH="1">
            <a:off x="7424927" y="4398264"/>
            <a:ext cx="1517904" cy="173736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3" name="Connector 9082"/>
          <p:cNvCxnSpPr>
            <a:cxnSpLocks/>
            <a:stCxn id="9072" idx="2"/>
          </p:cNvCxnSpPr>
          <p:nvPr/>
        </p:nvCxnSpPr>
        <p:spPr>
          <a:xfrm>
            <a:off x="8942831" y="4398264"/>
            <a:ext cx="274321" cy="173736"/>
          </a:xfrm>
          <a:prstGeom prst="line">
            <a:avLst/>
          </a:prstGeom>
          <a:ln w="15875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6" name="Connector 9085"/>
          <p:cNvCxnSpPr/>
          <p:nvPr/>
        </p:nvCxnSpPr>
        <p:spPr>
          <a:xfrm>
            <a:off x="8183879" y="4809744"/>
            <a:ext cx="274321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7" name="Connector 9086"/>
          <p:cNvCxnSpPr/>
          <p:nvPr/>
        </p:nvCxnSpPr>
        <p:spPr>
          <a:xfrm>
            <a:off x="9966960" y="4809744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8" name="Connector 9087"/>
          <p:cNvCxnSpPr/>
          <p:nvPr/>
        </p:nvCxnSpPr>
        <p:spPr>
          <a:xfrm flipH="1">
            <a:off x="6400800" y="4937760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9" name="Connector 9088"/>
          <p:cNvCxnSpPr/>
          <p:nvPr/>
        </p:nvCxnSpPr>
        <p:spPr>
          <a:xfrm flipV="1">
            <a:off x="6400800" y="3246120"/>
            <a:ext cx="0" cy="169164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0" name="Connector 9089"/>
          <p:cNvCxnSpPr/>
          <p:nvPr/>
        </p:nvCxnSpPr>
        <p:spPr>
          <a:xfrm>
            <a:off x="6400800" y="3246120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1" name="Connector 9090"/>
          <p:cNvCxnSpPr/>
          <p:nvPr/>
        </p:nvCxnSpPr>
        <p:spPr>
          <a:xfrm>
            <a:off x="6400800" y="3776472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2" name="Rectangle 9091"/>
          <p:cNvSpPr/>
          <p:nvPr/>
        </p:nvSpPr>
        <p:spPr>
          <a:xfrm>
            <a:off x="6400800" y="5102352"/>
            <a:ext cx="512064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93" name="Rectangle 9092"/>
          <p:cNvSpPr/>
          <p:nvPr/>
        </p:nvSpPr>
        <p:spPr>
          <a:xfrm>
            <a:off x="6446520" y="5102352"/>
            <a:ext cx="50292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점선: KV 위치·노드 상태 수집 (Monitor)   </a:t>
            </a:r>
            <a:r>
              <a:rPr sz="630" b="1">
                <a:solidFill>
                  <a:srgbClr val="2E75B6"/>
                </a:solidFill>
                <a:latin typeface="맑은 고딕"/>
                <a:ea typeface="맑은 고딕"/>
              </a:rPr>
              <a:t>매 Turn 이동 비용 vs 연산/간섭 비용을 비교해 실행 위치 동적 결정</a:t>
            </a:r>
          </a:p>
        </p:txBody>
      </p:sp>
      <p:sp>
        <p:nvSpPr>
          <p:cNvPr id="106" name="Rectangle 9049">
            <a:extLst>
              <a:ext uri="{FF2B5EF4-FFF2-40B4-BE49-F238E27FC236}">
                <a16:creationId xmlns:a16="http://schemas.microsoft.com/office/drawing/2014/main" id="{24AB32EA-46C2-4BE3-AE82-9502480B74DB}"/>
              </a:ext>
            </a:extLst>
          </p:cNvPr>
          <p:cNvSpPr/>
          <p:nvPr/>
        </p:nvSpPr>
        <p:spPr>
          <a:xfrm>
            <a:off x="1170432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7" name="Rectangle 9049">
            <a:extLst>
              <a:ext uri="{FF2B5EF4-FFF2-40B4-BE49-F238E27FC236}">
                <a16:creationId xmlns:a16="http://schemas.microsoft.com/office/drawing/2014/main" id="{6490E1FA-A347-415B-A5EF-AE633B6E48A6}"/>
              </a:ext>
            </a:extLst>
          </p:cNvPr>
          <p:cNvSpPr/>
          <p:nvPr/>
        </p:nvSpPr>
        <p:spPr>
          <a:xfrm>
            <a:off x="3945177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9049">
            <a:extLst>
              <a:ext uri="{FF2B5EF4-FFF2-40B4-BE49-F238E27FC236}">
                <a16:creationId xmlns:a16="http://schemas.microsoft.com/office/drawing/2014/main" id="{984AD03E-E3D5-4FFA-9E24-34730A8C0327}"/>
              </a:ext>
            </a:extLst>
          </p:cNvPr>
          <p:cNvSpPr/>
          <p:nvPr/>
        </p:nvSpPr>
        <p:spPr>
          <a:xfrm>
            <a:off x="7260337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9" name="Rectangle 9049">
            <a:extLst>
              <a:ext uri="{FF2B5EF4-FFF2-40B4-BE49-F238E27FC236}">
                <a16:creationId xmlns:a16="http://schemas.microsoft.com/office/drawing/2014/main" id="{D91ECC5E-AED1-4F3E-BE6D-203AAF4EF601}"/>
              </a:ext>
            </a:extLst>
          </p:cNvPr>
          <p:cNvSpPr/>
          <p:nvPr/>
        </p:nvSpPr>
        <p:spPr>
          <a:xfrm>
            <a:off x="9303913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35" name="Rectangle 9036">
            <a:extLst>
              <a:ext uri="{FF2B5EF4-FFF2-40B4-BE49-F238E27FC236}">
                <a16:creationId xmlns:a16="http://schemas.microsoft.com/office/drawing/2014/main" id="{83F7E8CB-D64F-4EA7-8588-A99671ADF46B}"/>
              </a:ext>
            </a:extLst>
          </p:cNvPr>
          <p:cNvSpPr/>
          <p:nvPr/>
        </p:nvSpPr>
        <p:spPr>
          <a:xfrm>
            <a:off x="530352" y="2013010"/>
            <a:ext cx="365760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①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기존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P/D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단계별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전용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+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고정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규칙</a:t>
            </a:r>
            <a:endParaRPr sz="850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59" name="Rectangle 9093">
            <a:extLst>
              <a:ext uri="{FF2B5EF4-FFF2-40B4-BE49-F238E27FC236}">
                <a16:creationId xmlns:a16="http://schemas.microsoft.com/office/drawing/2014/main" id="{EDC28825-F82B-4E41-87C3-44B0E82D3575}"/>
              </a:ext>
            </a:extLst>
          </p:cNvPr>
          <p:cNvSpPr/>
          <p:nvPr/>
        </p:nvSpPr>
        <p:spPr>
          <a:xfrm>
            <a:off x="530352" y="3753626"/>
            <a:ext cx="484632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②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분리의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대가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Turn마다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P↔D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사이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KV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왕복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전송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→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늘수록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비용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누적</a:t>
            </a:r>
            <a:endParaRPr sz="819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006970-D8FE-4368-8E9E-448048FC8FC8}"/>
              </a:ext>
            </a:extLst>
          </p:cNvPr>
          <p:cNvGrpSpPr/>
          <p:nvPr/>
        </p:nvGrpSpPr>
        <p:grpSpPr>
          <a:xfrm>
            <a:off x="431143" y="3953647"/>
            <a:ext cx="4634118" cy="1362799"/>
            <a:chOff x="384048" y="4000208"/>
            <a:chExt cx="3904488" cy="1207008"/>
          </a:xfrm>
        </p:grpSpPr>
        <p:sp>
          <p:nvSpPr>
            <p:cNvPr id="160" name="Rectangle 9094">
              <a:extLst>
                <a:ext uri="{FF2B5EF4-FFF2-40B4-BE49-F238E27FC236}">
                  <a16:creationId xmlns:a16="http://schemas.microsoft.com/office/drawing/2014/main" id="{CC10489B-5A0C-4696-9282-23880C16D030}"/>
                </a:ext>
              </a:extLst>
            </p:cNvPr>
            <p:cNvSpPr/>
            <p:nvPr/>
          </p:nvSpPr>
          <p:spPr>
            <a:xfrm>
              <a:off x="859536" y="4183088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1" name="Rectangle 9095">
              <a:extLst>
                <a:ext uri="{FF2B5EF4-FFF2-40B4-BE49-F238E27FC236}">
                  <a16:creationId xmlns:a16="http://schemas.microsoft.com/office/drawing/2014/main" id="{0F68933E-90ED-4B38-9EEC-1A4FC7552700}"/>
                </a:ext>
              </a:extLst>
            </p:cNvPr>
            <p:cNvSpPr/>
            <p:nvPr/>
          </p:nvSpPr>
          <p:spPr>
            <a:xfrm>
              <a:off x="859536" y="4475696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2" name="Rectangle 9096">
              <a:extLst>
                <a:ext uri="{FF2B5EF4-FFF2-40B4-BE49-F238E27FC236}">
                  <a16:creationId xmlns:a16="http://schemas.microsoft.com/office/drawing/2014/main" id="{1147A97B-6AC2-4CA7-93B7-5BAEE9CA6DF2}"/>
                </a:ext>
              </a:extLst>
            </p:cNvPr>
            <p:cNvSpPr/>
            <p:nvPr/>
          </p:nvSpPr>
          <p:spPr>
            <a:xfrm>
              <a:off x="457200" y="4183088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P</a:t>
              </a:r>
            </a:p>
          </p:txBody>
        </p:sp>
        <p:sp>
          <p:nvSpPr>
            <p:cNvPr id="163" name="Rectangle 9097">
              <a:extLst>
                <a:ext uri="{FF2B5EF4-FFF2-40B4-BE49-F238E27FC236}">
                  <a16:creationId xmlns:a16="http://schemas.microsoft.com/office/drawing/2014/main" id="{CEFCE80E-D439-4100-B68E-A784FFE389A7}"/>
                </a:ext>
              </a:extLst>
            </p:cNvPr>
            <p:cNvSpPr/>
            <p:nvPr/>
          </p:nvSpPr>
          <p:spPr>
            <a:xfrm>
              <a:off x="457200" y="4475696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D</a:t>
              </a:r>
            </a:p>
          </p:txBody>
        </p:sp>
        <p:sp>
          <p:nvSpPr>
            <p:cNvPr id="164" name="Rectangle 9098">
              <a:extLst>
                <a:ext uri="{FF2B5EF4-FFF2-40B4-BE49-F238E27FC236}">
                  <a16:creationId xmlns:a16="http://schemas.microsoft.com/office/drawing/2014/main" id="{1CDEDA28-A62B-4ED0-B58C-25A9F48831E6}"/>
                </a:ext>
              </a:extLst>
            </p:cNvPr>
            <p:cNvSpPr/>
            <p:nvPr/>
          </p:nvSpPr>
          <p:spPr>
            <a:xfrm>
              <a:off x="896112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1</a:t>
              </a:r>
            </a:p>
          </p:txBody>
        </p:sp>
        <p:sp>
          <p:nvSpPr>
            <p:cNvPr id="165" name="Rectangle 9099">
              <a:extLst>
                <a:ext uri="{FF2B5EF4-FFF2-40B4-BE49-F238E27FC236}">
                  <a16:creationId xmlns:a16="http://schemas.microsoft.com/office/drawing/2014/main" id="{8A8D1464-A4F8-4ABF-9AE7-85DAB2FF853F}"/>
                </a:ext>
              </a:extLst>
            </p:cNvPr>
            <p:cNvSpPr/>
            <p:nvPr/>
          </p:nvSpPr>
          <p:spPr>
            <a:xfrm>
              <a:off x="896112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67" name="Connector 9100">
              <a:extLst>
                <a:ext uri="{FF2B5EF4-FFF2-40B4-BE49-F238E27FC236}">
                  <a16:creationId xmlns:a16="http://schemas.microsoft.com/office/drawing/2014/main" id="{0E8291C3-1819-4BB0-8F7B-344242B1E99D}"/>
                </a:ext>
              </a:extLst>
            </p:cNvPr>
            <p:cNvCxnSpPr/>
            <p:nvPr/>
          </p:nvCxnSpPr>
          <p:spPr>
            <a:xfrm>
              <a:off x="1261872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Rectangle 9101">
              <a:extLst>
                <a:ext uri="{FF2B5EF4-FFF2-40B4-BE49-F238E27FC236}">
                  <a16:creationId xmlns:a16="http://schemas.microsoft.com/office/drawing/2014/main" id="{7EA791E2-0973-4F27-80EB-8D118C005BEF}"/>
                </a:ext>
              </a:extLst>
            </p:cNvPr>
            <p:cNvSpPr/>
            <p:nvPr/>
          </p:nvSpPr>
          <p:spPr>
            <a:xfrm>
              <a:off x="1371600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69" name="Connector 9102">
              <a:extLst>
                <a:ext uri="{FF2B5EF4-FFF2-40B4-BE49-F238E27FC236}">
                  <a16:creationId xmlns:a16="http://schemas.microsoft.com/office/drawing/2014/main" id="{8027F6E8-3B53-47C8-BE64-0F7249A2B9B4}"/>
                </a:ext>
              </a:extLst>
            </p:cNvPr>
            <p:cNvCxnSpPr/>
            <p:nvPr/>
          </p:nvCxnSpPr>
          <p:spPr>
            <a:xfrm flipV="1">
              <a:off x="1755648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Rectangle 9103">
              <a:extLst>
                <a:ext uri="{FF2B5EF4-FFF2-40B4-BE49-F238E27FC236}">
                  <a16:creationId xmlns:a16="http://schemas.microsoft.com/office/drawing/2014/main" id="{749A7C7A-3EB5-4E7F-A799-2F8EDE831E66}"/>
                </a:ext>
              </a:extLst>
            </p:cNvPr>
            <p:cNvSpPr/>
            <p:nvPr/>
          </p:nvSpPr>
          <p:spPr>
            <a:xfrm>
              <a:off x="1929384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2</a:t>
              </a:r>
            </a:p>
          </p:txBody>
        </p:sp>
        <p:sp>
          <p:nvSpPr>
            <p:cNvPr id="171" name="Rectangle 9104">
              <a:extLst>
                <a:ext uri="{FF2B5EF4-FFF2-40B4-BE49-F238E27FC236}">
                  <a16:creationId xmlns:a16="http://schemas.microsoft.com/office/drawing/2014/main" id="{5C4D96B7-4025-42DE-80A2-B02807EE9F6A}"/>
                </a:ext>
              </a:extLst>
            </p:cNvPr>
            <p:cNvSpPr/>
            <p:nvPr/>
          </p:nvSpPr>
          <p:spPr>
            <a:xfrm>
              <a:off x="1929384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2" name="Connector 9105">
              <a:extLst>
                <a:ext uri="{FF2B5EF4-FFF2-40B4-BE49-F238E27FC236}">
                  <a16:creationId xmlns:a16="http://schemas.microsoft.com/office/drawing/2014/main" id="{7B72B064-6608-413A-89C0-A7F4A929CA8B}"/>
                </a:ext>
              </a:extLst>
            </p:cNvPr>
            <p:cNvCxnSpPr/>
            <p:nvPr/>
          </p:nvCxnSpPr>
          <p:spPr>
            <a:xfrm>
              <a:off x="2295144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Rectangle 9106">
              <a:extLst>
                <a:ext uri="{FF2B5EF4-FFF2-40B4-BE49-F238E27FC236}">
                  <a16:creationId xmlns:a16="http://schemas.microsoft.com/office/drawing/2014/main" id="{C3BBDE95-8353-4335-8A36-F48999229C5C}"/>
                </a:ext>
              </a:extLst>
            </p:cNvPr>
            <p:cNvSpPr/>
            <p:nvPr/>
          </p:nvSpPr>
          <p:spPr>
            <a:xfrm>
              <a:off x="2404872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4" name="Connector 9107">
              <a:extLst>
                <a:ext uri="{FF2B5EF4-FFF2-40B4-BE49-F238E27FC236}">
                  <a16:creationId xmlns:a16="http://schemas.microsoft.com/office/drawing/2014/main" id="{E6224BB4-2573-49C8-977D-F135C79475C2}"/>
                </a:ext>
              </a:extLst>
            </p:cNvPr>
            <p:cNvCxnSpPr/>
            <p:nvPr/>
          </p:nvCxnSpPr>
          <p:spPr>
            <a:xfrm flipV="1">
              <a:off x="2788920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Rectangle 9108">
              <a:extLst>
                <a:ext uri="{FF2B5EF4-FFF2-40B4-BE49-F238E27FC236}">
                  <a16:creationId xmlns:a16="http://schemas.microsoft.com/office/drawing/2014/main" id="{44CDC3FA-52AA-4728-9BAA-4D8BA771FA7E}"/>
                </a:ext>
              </a:extLst>
            </p:cNvPr>
            <p:cNvSpPr/>
            <p:nvPr/>
          </p:nvSpPr>
          <p:spPr>
            <a:xfrm>
              <a:off x="2962656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3</a:t>
              </a:r>
            </a:p>
          </p:txBody>
        </p:sp>
        <p:sp>
          <p:nvSpPr>
            <p:cNvPr id="176" name="Rectangle 9109">
              <a:extLst>
                <a:ext uri="{FF2B5EF4-FFF2-40B4-BE49-F238E27FC236}">
                  <a16:creationId xmlns:a16="http://schemas.microsoft.com/office/drawing/2014/main" id="{BE401744-473D-4D13-B846-042221E760FA}"/>
                </a:ext>
              </a:extLst>
            </p:cNvPr>
            <p:cNvSpPr/>
            <p:nvPr/>
          </p:nvSpPr>
          <p:spPr>
            <a:xfrm>
              <a:off x="2962656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7" name="Connector 9110">
              <a:extLst>
                <a:ext uri="{FF2B5EF4-FFF2-40B4-BE49-F238E27FC236}">
                  <a16:creationId xmlns:a16="http://schemas.microsoft.com/office/drawing/2014/main" id="{450EDE42-F269-4CF9-8706-C25382F28C87}"/>
                </a:ext>
              </a:extLst>
            </p:cNvPr>
            <p:cNvCxnSpPr/>
            <p:nvPr/>
          </p:nvCxnSpPr>
          <p:spPr>
            <a:xfrm>
              <a:off x="3328415" y="4347680"/>
              <a:ext cx="109729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ectangle 9111">
              <a:extLst>
                <a:ext uri="{FF2B5EF4-FFF2-40B4-BE49-F238E27FC236}">
                  <a16:creationId xmlns:a16="http://schemas.microsoft.com/office/drawing/2014/main" id="{40C355EE-606E-4C02-BE92-E6A5CCBF1B69}"/>
                </a:ext>
              </a:extLst>
            </p:cNvPr>
            <p:cNvSpPr/>
            <p:nvPr/>
          </p:nvSpPr>
          <p:spPr>
            <a:xfrm>
              <a:off x="3438144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9" name="Connector 9112">
              <a:extLst>
                <a:ext uri="{FF2B5EF4-FFF2-40B4-BE49-F238E27FC236}">
                  <a16:creationId xmlns:a16="http://schemas.microsoft.com/office/drawing/2014/main" id="{F9458609-EC4F-4B26-8CD9-E92A6311738D}"/>
                </a:ext>
              </a:extLst>
            </p:cNvPr>
            <p:cNvCxnSpPr/>
            <p:nvPr/>
          </p:nvCxnSpPr>
          <p:spPr>
            <a:xfrm flipV="1">
              <a:off x="3822191" y="4347680"/>
              <a:ext cx="128017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Rectangle 9113">
              <a:extLst>
                <a:ext uri="{FF2B5EF4-FFF2-40B4-BE49-F238E27FC236}">
                  <a16:creationId xmlns:a16="http://schemas.microsoft.com/office/drawing/2014/main" id="{3091194A-9B3F-44AB-B533-33F35DDFBF01}"/>
                </a:ext>
              </a:extLst>
            </p:cNvPr>
            <p:cNvSpPr/>
            <p:nvPr/>
          </p:nvSpPr>
          <p:spPr>
            <a:xfrm>
              <a:off x="3941063" y="4183088"/>
              <a:ext cx="27432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7F7F7F"/>
                  </a:solidFill>
                  <a:latin typeface="맑은 고딕"/>
                  <a:ea typeface="맑은 고딕"/>
                </a:rPr>
                <a:t>…</a:t>
              </a:r>
            </a:p>
          </p:txBody>
        </p:sp>
        <p:sp>
          <p:nvSpPr>
            <p:cNvPr id="181" name="Rectangle 9114">
              <a:extLst>
                <a:ext uri="{FF2B5EF4-FFF2-40B4-BE49-F238E27FC236}">
                  <a16:creationId xmlns:a16="http://schemas.microsoft.com/office/drawing/2014/main" id="{4D8D52B3-BFE2-4384-BD2B-B00A262F6441}"/>
                </a:ext>
              </a:extLst>
            </p:cNvPr>
            <p:cNvSpPr/>
            <p:nvPr/>
          </p:nvSpPr>
          <p:spPr>
            <a:xfrm>
              <a:off x="3648456" y="4000208"/>
              <a:ext cx="64008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2" name="Rectangle 9115">
              <a:extLst>
                <a:ext uri="{FF2B5EF4-FFF2-40B4-BE49-F238E27FC236}">
                  <a16:creationId xmlns:a16="http://schemas.microsoft.com/office/drawing/2014/main" id="{CAF9C5FB-D647-47D4-B616-E8CC27C44844}"/>
                </a:ext>
              </a:extLst>
            </p:cNvPr>
            <p:cNvSpPr/>
            <p:nvPr/>
          </p:nvSpPr>
          <p:spPr>
            <a:xfrm>
              <a:off x="896112" y="5010620"/>
              <a:ext cx="987551" cy="50292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3" name="Rectangle 9116">
              <a:extLst>
                <a:ext uri="{FF2B5EF4-FFF2-40B4-BE49-F238E27FC236}">
                  <a16:creationId xmlns:a16="http://schemas.microsoft.com/office/drawing/2014/main" id="{74054A5D-A1D1-46C4-A7C5-4462CD3A5CF3}"/>
                </a:ext>
              </a:extLst>
            </p:cNvPr>
            <p:cNvSpPr/>
            <p:nvPr/>
          </p:nvSpPr>
          <p:spPr>
            <a:xfrm>
              <a:off x="896112" y="4873460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1회</a:t>
              </a:r>
            </a:p>
          </p:txBody>
        </p:sp>
        <p:sp>
          <p:nvSpPr>
            <p:cNvPr id="184" name="Rectangle 9117">
              <a:extLst>
                <a:ext uri="{FF2B5EF4-FFF2-40B4-BE49-F238E27FC236}">
                  <a16:creationId xmlns:a16="http://schemas.microsoft.com/office/drawing/2014/main" id="{73B6A22B-5C2F-4000-B547-4E36ECF65BC6}"/>
                </a:ext>
              </a:extLst>
            </p:cNvPr>
            <p:cNvSpPr/>
            <p:nvPr/>
          </p:nvSpPr>
          <p:spPr>
            <a:xfrm>
              <a:off x="1929384" y="4910036"/>
              <a:ext cx="987551" cy="150876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5" name="Rectangle 9118">
              <a:extLst>
                <a:ext uri="{FF2B5EF4-FFF2-40B4-BE49-F238E27FC236}">
                  <a16:creationId xmlns:a16="http://schemas.microsoft.com/office/drawing/2014/main" id="{13C2CBC1-9E42-4E82-BC46-A87EAAB01069}"/>
                </a:ext>
              </a:extLst>
            </p:cNvPr>
            <p:cNvSpPr/>
            <p:nvPr/>
          </p:nvSpPr>
          <p:spPr>
            <a:xfrm>
              <a:off x="1929384" y="4772876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3회</a:t>
              </a:r>
            </a:p>
          </p:txBody>
        </p:sp>
        <p:sp>
          <p:nvSpPr>
            <p:cNvPr id="186" name="Rectangle 9119">
              <a:extLst>
                <a:ext uri="{FF2B5EF4-FFF2-40B4-BE49-F238E27FC236}">
                  <a16:creationId xmlns:a16="http://schemas.microsoft.com/office/drawing/2014/main" id="{3473FBB2-3456-4063-B92D-A5D17DA1A4B1}"/>
                </a:ext>
              </a:extLst>
            </p:cNvPr>
            <p:cNvSpPr/>
            <p:nvPr/>
          </p:nvSpPr>
          <p:spPr>
            <a:xfrm>
              <a:off x="2962656" y="4809452"/>
              <a:ext cx="987551" cy="251460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7" name="Rectangle 9120">
              <a:extLst>
                <a:ext uri="{FF2B5EF4-FFF2-40B4-BE49-F238E27FC236}">
                  <a16:creationId xmlns:a16="http://schemas.microsoft.com/office/drawing/2014/main" id="{99604C09-2A66-4C1F-8283-01C30BDC7EBF}"/>
                </a:ext>
              </a:extLst>
            </p:cNvPr>
            <p:cNvSpPr/>
            <p:nvPr/>
          </p:nvSpPr>
          <p:spPr>
            <a:xfrm>
              <a:off x="2962656" y="4672291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5회</a:t>
              </a:r>
            </a:p>
          </p:txBody>
        </p:sp>
        <p:sp>
          <p:nvSpPr>
            <p:cNvPr id="188" name="Rectangle 9121">
              <a:extLst>
                <a:ext uri="{FF2B5EF4-FFF2-40B4-BE49-F238E27FC236}">
                  <a16:creationId xmlns:a16="http://schemas.microsoft.com/office/drawing/2014/main" id="{330F0E49-5634-4152-83F3-68D96A575B3D}"/>
                </a:ext>
              </a:extLst>
            </p:cNvPr>
            <p:cNvSpPr/>
            <p:nvPr/>
          </p:nvSpPr>
          <p:spPr>
            <a:xfrm>
              <a:off x="384048" y="4750016"/>
              <a:ext cx="502920" cy="2743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누적</a:t>
              </a:r>
            </a:p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전송</a:t>
              </a:r>
            </a:p>
          </p:txBody>
        </p:sp>
        <p:cxnSp>
          <p:nvCxnSpPr>
            <p:cNvPr id="189" name="Connector 9122">
              <a:extLst>
                <a:ext uri="{FF2B5EF4-FFF2-40B4-BE49-F238E27FC236}">
                  <a16:creationId xmlns:a16="http://schemas.microsoft.com/office/drawing/2014/main" id="{3AFE2A9E-6539-4D6B-B851-56DB87D67A11}"/>
                </a:ext>
              </a:extLst>
            </p:cNvPr>
            <p:cNvCxnSpPr/>
            <p:nvPr/>
          </p:nvCxnSpPr>
          <p:spPr>
            <a:xfrm>
              <a:off x="859536" y="5060912"/>
              <a:ext cx="3273551" cy="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9123">
              <a:extLst>
                <a:ext uri="{FF2B5EF4-FFF2-40B4-BE49-F238E27FC236}">
                  <a16:creationId xmlns:a16="http://schemas.microsoft.com/office/drawing/2014/main" id="{7F727C80-7E1D-4DE0-A9D7-2E6A299B3CAC}"/>
                </a:ext>
              </a:extLst>
            </p:cNvPr>
            <p:cNvCxnSpPr/>
            <p:nvPr/>
          </p:nvCxnSpPr>
          <p:spPr>
            <a:xfrm>
              <a:off x="8961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9124">
              <a:extLst>
                <a:ext uri="{FF2B5EF4-FFF2-40B4-BE49-F238E27FC236}">
                  <a16:creationId xmlns:a16="http://schemas.microsoft.com/office/drawing/2014/main" id="{6FCA7085-B33F-4F4D-9327-B72D484DED74}"/>
                </a:ext>
              </a:extLst>
            </p:cNvPr>
            <p:cNvSpPr/>
            <p:nvPr/>
          </p:nvSpPr>
          <p:spPr>
            <a:xfrm>
              <a:off x="1124712" y="5060912"/>
              <a:ext cx="68580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P→D 전송</a:t>
              </a:r>
            </a:p>
          </p:txBody>
        </p:sp>
        <p:cxnSp>
          <p:nvCxnSpPr>
            <p:cNvPr id="192" name="Connector 9125">
              <a:extLst>
                <a:ext uri="{FF2B5EF4-FFF2-40B4-BE49-F238E27FC236}">
                  <a16:creationId xmlns:a16="http://schemas.microsoft.com/office/drawing/2014/main" id="{8D817333-9560-4336-989B-3445301E3DE8}"/>
                </a:ext>
              </a:extLst>
            </p:cNvPr>
            <p:cNvCxnSpPr/>
            <p:nvPr/>
          </p:nvCxnSpPr>
          <p:spPr>
            <a:xfrm>
              <a:off x="18105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Rectangle 9126">
              <a:extLst>
                <a:ext uri="{FF2B5EF4-FFF2-40B4-BE49-F238E27FC236}">
                  <a16:creationId xmlns:a16="http://schemas.microsoft.com/office/drawing/2014/main" id="{2203517C-71AB-44B5-B672-AB598B279E97}"/>
                </a:ext>
              </a:extLst>
            </p:cNvPr>
            <p:cNvSpPr/>
            <p:nvPr/>
          </p:nvSpPr>
          <p:spPr>
            <a:xfrm>
              <a:off x="2039112" y="5060912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D→P 전송 (다음 Turn용)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12179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7887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171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34338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32550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1054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구조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Queue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이동 시간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(TTFT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포함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 가능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위치를 위한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처리량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데이터 이동 시간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 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 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큐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데이터 이동시간 절감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결정 시간 증가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 latest load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critical path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밖에서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Cost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계산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8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 stale plan/herding </a:t>
                      </a:r>
                      <a:r>
                        <a:rPr lang="ko-KR" altLang="en-US" sz="800" b="0" strike="noStrike" baseline="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load imbalance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메모리 후보에 대해 </a:t>
            </a:r>
            <a:r>
              <a:rPr lang="en-US" altLang="ko-KR" sz="1400" b="1" dirty="0">
                <a:solidFill>
                  <a:schemeClr val="bg1"/>
                </a:solidFill>
              </a:rPr>
              <a:t>Prefill </a:t>
            </a:r>
            <a:r>
              <a:rPr lang="ko-KR" altLang="en-US" sz="1400" b="1" dirty="0">
                <a:solidFill>
                  <a:schemeClr val="bg1"/>
                </a:solidFill>
              </a:rPr>
              <a:t>실행 </a:t>
            </a:r>
            <a:r>
              <a:rPr lang="en-US" altLang="ko-KR" sz="1400" b="1" dirty="0">
                <a:solidFill>
                  <a:schemeClr val="bg1"/>
                </a:solidFill>
              </a:rPr>
              <a:t>Cost</a:t>
            </a:r>
            <a:r>
              <a:rPr lang="ko-KR" altLang="en-US" sz="1400" b="1" dirty="0">
                <a:solidFill>
                  <a:schemeClr val="bg1"/>
                </a:solidFill>
              </a:rPr>
              <a:t>를 계산하고 연산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Prefill 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Decode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1818035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377470" y="4022512"/>
            <a:ext cx="914450" cy="301105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748062"/>
            <a:ext cx="127" cy="27445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762641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291920" y="2618601"/>
            <a:ext cx="2030576" cy="1554464"/>
          </a:xfrm>
          <a:prstGeom prst="bentConnector3">
            <a:avLst>
              <a:gd name="adj1" fmla="val 60539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96709" y="2366783"/>
            <a:ext cx="1104499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50000"/>
                  </a:schemeClr>
                </a:solidFill>
              </a:rPr>
              <a:t>Aysnc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 planning</a:t>
            </a:r>
          </a:p>
        </p:txBody>
      </p: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804634" y="2230344"/>
            <a:ext cx="0" cy="24195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913623" y="4354284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은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밖에서 수행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10098736" y="1964338"/>
            <a:ext cx="1411795" cy="1928766"/>
            <a:chOff x="13094537" y="2120843"/>
            <a:chExt cx="1411795" cy="1928766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120843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628802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242701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</a:t>
              </a:r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804633" y="3352202"/>
            <a:ext cx="1" cy="27489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804634" y="2764904"/>
            <a:ext cx="0" cy="32129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342177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Prefill 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467393"/>
            <a:ext cx="1267463" cy="751807"/>
          </a:xfrm>
          <a:prstGeom prst="bentConnector3">
            <a:avLst>
              <a:gd name="adj1" fmla="val 79165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406704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645372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187529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Decode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222772" y="3644575"/>
            <a:ext cx="333333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93850" y="3703887"/>
            <a:ext cx="333333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603438" y="4025241"/>
            <a:ext cx="333333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110642"/>
            <a:ext cx="1360" cy="23153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1270737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배경 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DP2 9001"/>
          <p:cNvSpPr/>
          <p:nvPr/>
        </p:nvSpPr>
        <p:spPr>
          <a:xfrm>
            <a:off x="347472" y="629107"/>
            <a:ext cx="1179576" cy="301752"/>
          </a:xfrm>
          <a:prstGeom prst="roundRect">
            <a:avLst/>
          </a:prstGeom>
          <a:solidFill>
            <a:srgbClr val="A8C6E8"/>
          </a:solidFill>
          <a:ln w="9525">
            <a:solidFill>
              <a:srgbClr val="2E75B6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 정의</a:t>
            </a:r>
          </a:p>
        </p:txBody>
      </p: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14" name="DP2 9014"/>
          <p:cNvSpPr/>
          <p:nvPr/>
        </p:nvSpPr>
        <p:spPr>
          <a:xfrm>
            <a:off x="347472" y="2218210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61" name="DP2 9061"/>
          <p:cNvSpPr/>
          <p:nvPr/>
        </p:nvSpPr>
        <p:spPr>
          <a:xfrm>
            <a:off x="347472" y="5667299"/>
            <a:ext cx="1179576" cy="301752"/>
          </a:xfrm>
          <a:prstGeom prst="roundRect">
            <a:avLst/>
          </a:prstGeom>
          <a:solidFill>
            <a:srgbClr val="FFD966"/>
          </a:solidFill>
          <a:ln w="9525">
            <a:solidFill>
              <a:srgbClr val="BF8F00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설계 쟁점</a:t>
            </a:r>
          </a:p>
        </p:txBody>
      </p:sp>
      <p:sp>
        <p:nvSpPr>
          <p:cNvPr id="79" name="Text 22"/>
          <p:cNvSpPr/>
          <p:nvPr/>
        </p:nvSpPr>
        <p:spPr>
          <a:xfrm>
            <a:off x="359582" y="1016673"/>
            <a:ext cx="11687638" cy="894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Agent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Reasoning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Tool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호출 반복에 따른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누적 증가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Long 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환경에서는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데이터 접근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이동 비용이 고려되지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Agent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성능 최적화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구조 설계 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Cost </a:t>
            </a: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모델 확장</a:t>
            </a:r>
            <a:r>
              <a:rPr lang="ko-KR" altLang="en-US" sz="1200" dirty="0">
                <a:latin typeface="맑은 고딕" panose="020B0503020000020004" pitchFamily="50" charset="-127"/>
              </a:rPr>
              <a:t>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변경을 최소화</a:t>
            </a:r>
            <a:r>
              <a:rPr lang="ko-KR" altLang="en-US" sz="1200" dirty="0">
                <a:latin typeface="맑은 고딕" panose="020B0503020000020004" pitchFamily="50" charset="-127"/>
              </a:rPr>
              <a:t>하는 구조 설계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143087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38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endParaRPr lang="ko-KR" altLang="en-US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(Online)</a:t>
                      </a:r>
                      <a:endParaRPr lang="en-US" altLang="ko-KR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2267" y="3326574"/>
            <a:ext cx="2454799" cy="7490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  <a:prstDash val="dash"/>
          </a:ln>
        </p:spPr>
        <p:txBody>
          <a:bodyPr anchor="t"/>
          <a:lstStyle/>
          <a:p>
            <a:pPr algn="ctr"/>
            <a:r>
              <a:rPr lang="ko-KR" altLang="en-US" sz="9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및 재사용 구조</a:t>
            </a:r>
            <a:endParaRPr lang="en-US" altLang="ko-KR" sz="900" b="1" dirty="0">
              <a:solidFill>
                <a:schemeClr val="accent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453146" y="1935310"/>
            <a:ext cx="720879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Sampler</a:t>
            </a: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704511" y="1935140"/>
            <a:ext cx="882258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 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7093" y="2456822"/>
            <a:ext cx="2452770" cy="73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  <a:prstDash val="dash"/>
          </a:ln>
        </p:spPr>
        <p:txBody>
          <a:bodyPr anchor="t"/>
          <a:lstStyle/>
          <a:p>
            <a:pPr algn="ctr"/>
            <a:r>
              <a:rPr lang="en-US" altLang="ko-KR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ko-KR" altLang="en-US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구조</a:t>
            </a:r>
            <a:endParaRPr lang="en-US" altLang="ko-KR" sz="900" b="1" dirty="0">
              <a:solidFill>
                <a:schemeClr val="accent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75281" y="2709301"/>
            <a:ext cx="881437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58856" y="2708211"/>
            <a:ext cx="9718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Selective </a:t>
            </a:r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Recomputer</a:t>
            </a:r>
            <a:endParaRPr lang="en-US" altLang="ko-KR" sz="1000" b="1" dirty="0">
              <a:solidFill>
                <a:srgbClr val="1F3864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254" name="직선 화살표 연결선 253"/>
          <p:cNvCxnSpPr>
            <a:stCxn id="246" idx="2"/>
            <a:endCxn id="249" idx="0"/>
          </p:cNvCxnSpPr>
          <p:nvPr/>
        </p:nvCxnSpPr>
        <p:spPr>
          <a:xfrm>
            <a:off x="1813586" y="2283197"/>
            <a:ext cx="2414" cy="42610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/>
          <p:cNvCxnSpPr>
            <a:stCxn id="249" idx="2"/>
            <a:endCxn id="250" idx="0"/>
          </p:cNvCxnSpPr>
          <p:nvPr/>
        </p:nvCxnSpPr>
        <p:spPr>
          <a:xfrm flipH="1">
            <a:off x="1813586" y="3057188"/>
            <a:ext cx="2412" cy="58594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직선 화살표 연결선 267"/>
          <p:cNvCxnSpPr>
            <a:stCxn id="250" idx="3"/>
            <a:endCxn id="253" idx="1"/>
          </p:cNvCxnSpPr>
          <p:nvPr/>
        </p:nvCxnSpPr>
        <p:spPr>
          <a:xfrm flipV="1">
            <a:off x="2300788" y="3814221"/>
            <a:ext cx="398759" cy="285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26384" y="3643136"/>
            <a:ext cx="9744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Compressor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99547" y="3580105"/>
            <a:ext cx="908992" cy="46823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</a:t>
            </a:r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Token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cxnSp>
        <p:nvCxnSpPr>
          <p:cNvPr id="281" name="직선 화살표 연결선 280"/>
          <p:cNvCxnSpPr>
            <a:stCxn id="247" idx="2"/>
            <a:endCxn id="252" idx="0"/>
          </p:cNvCxnSpPr>
          <p:nvPr/>
        </p:nvCxnSpPr>
        <p:spPr>
          <a:xfrm flipH="1">
            <a:off x="3144759" y="2283027"/>
            <a:ext cx="881" cy="42518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직선 화살표 연결선 410"/>
          <p:cNvCxnSpPr>
            <a:stCxn id="253" idx="0"/>
            <a:endCxn id="252" idx="2"/>
          </p:cNvCxnSpPr>
          <p:nvPr/>
        </p:nvCxnSpPr>
        <p:spPr>
          <a:xfrm flipH="1" flipV="1">
            <a:off x="3144759" y="3056098"/>
            <a:ext cx="9285" cy="52400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982496" y="4219422"/>
            <a:ext cx="914639" cy="23761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Sampler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 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251190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grpSp>
        <p:nvGrpSpPr>
          <p:cNvPr id="362" name="그룹 361"/>
          <p:cNvGrpSpPr/>
          <p:nvPr/>
        </p:nvGrpSpPr>
        <p:grpSpPr>
          <a:xfrm>
            <a:off x="6717429" y="2091746"/>
            <a:ext cx="2335498" cy="2206980"/>
            <a:chOff x="6659977" y="2474661"/>
            <a:chExt cx="1978105" cy="2206980"/>
          </a:xfrm>
        </p:grpSpPr>
        <p:sp>
          <p:nvSpPr>
            <p:cNvPr id="299" name="직사각형 298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6767285" y="2474661"/>
              <a:ext cx="772741" cy="34788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User Query </a:t>
              </a:r>
            </a:p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Manager</a:t>
              </a:r>
            </a:p>
          </p:txBody>
        </p:sp>
        <p:grpSp>
          <p:nvGrpSpPr>
            <p:cNvPr id="302" name="그룹 301"/>
            <p:cNvGrpSpPr/>
            <p:nvPr/>
          </p:nvGrpSpPr>
          <p:grpSpPr>
            <a:xfrm>
              <a:off x="6666741" y="2973235"/>
              <a:ext cx="1971341" cy="872679"/>
              <a:chOff x="1780643" y="2830282"/>
              <a:chExt cx="2207090" cy="872679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780643" y="2830282"/>
                <a:ext cx="2207090" cy="872679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accent1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LLM </a:t>
                </a:r>
                <a:r>
                  <a:rPr lang="ko-KR" altLang="en-US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생성 구조</a:t>
                </a:r>
                <a:endParaRPr lang="en-US" altLang="ko-KR" sz="900" b="1" dirty="0">
                  <a:solidFill>
                    <a:schemeClr val="accent1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04" name="직사각형 303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927716" y="3067060"/>
                <a:ext cx="796157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Attention</a:t>
                </a:r>
              </a:p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Manager</a:t>
                </a:r>
              </a:p>
            </p:txBody>
          </p:sp>
          <p:sp>
            <p:nvSpPr>
              <p:cNvPr id="305" name="직사각형 304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2989244" y="3067059"/>
                <a:ext cx="930235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Selective </a:t>
                </a:r>
                <a:r>
                  <a:rPr lang="en-US" altLang="ko-KR" sz="10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Recomputer</a:t>
                </a:r>
                <a:endPara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306" name="직선 화살표 연결선 305"/>
            <p:cNvCxnSpPr>
              <a:stCxn id="299" idx="2"/>
              <a:endCxn id="304" idx="0"/>
            </p:cNvCxnSpPr>
            <p:nvPr/>
          </p:nvCxnSpPr>
          <p:spPr>
            <a:xfrm>
              <a:off x="7153656" y="2822548"/>
              <a:ext cx="7" cy="387465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0" name="그룹 309"/>
            <p:cNvGrpSpPr/>
            <p:nvPr/>
          </p:nvGrpSpPr>
          <p:grpSpPr>
            <a:xfrm>
              <a:off x="6659977" y="3962543"/>
              <a:ext cx="1978105" cy="719098"/>
              <a:chOff x="3766978" y="2909027"/>
              <a:chExt cx="1978105" cy="719098"/>
            </a:xfrm>
          </p:grpSpPr>
          <p:sp>
            <p:nvSpPr>
              <p:cNvPr id="313" name="직사각형 31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766978" y="2909027"/>
                <a:ext cx="1978105" cy="7190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ko-KR" altLang="en-US" sz="900" b="1" dirty="0">
                    <a:solidFill>
                      <a:schemeClr val="accent2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압축 및 재사용 구조</a:t>
                </a:r>
                <a:endParaRPr lang="en-US" altLang="ko-KR" sz="900" b="1" dirty="0">
                  <a:solidFill>
                    <a:schemeClr val="accent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11" name="직사각형 31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864299" y="3207038"/>
                <a:ext cx="787480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Cache Compressor</a:t>
                </a:r>
              </a:p>
            </p:txBody>
          </p:sp>
        </p:grpSp>
        <p:cxnSp>
          <p:nvCxnSpPr>
            <p:cNvPr id="332" name="직선 화살표 연결선 331"/>
            <p:cNvCxnSpPr>
              <a:stCxn id="304" idx="3"/>
              <a:endCxn id="305" idx="1"/>
            </p:cNvCxnSpPr>
            <p:nvPr/>
          </p:nvCxnSpPr>
          <p:spPr>
            <a:xfrm flipV="1">
              <a:off x="7509220" y="3383956"/>
              <a:ext cx="237026" cy="1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화살표 연결선 307"/>
            <p:cNvCxnSpPr>
              <a:stCxn id="311" idx="3"/>
              <a:endCxn id="305" idx="2"/>
            </p:cNvCxnSpPr>
            <p:nvPr/>
          </p:nvCxnSpPr>
          <p:spPr>
            <a:xfrm flipV="1">
              <a:off x="7544778" y="3557899"/>
              <a:ext cx="616904" cy="876599"/>
            </a:xfrm>
            <a:prstGeom prst="bentConnector2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화살표 연결선 306"/>
            <p:cNvCxnSpPr>
              <a:stCxn id="304" idx="2"/>
              <a:endCxn id="311" idx="0"/>
            </p:cNvCxnSpPr>
            <p:nvPr/>
          </p:nvCxnSpPr>
          <p:spPr>
            <a:xfrm flipH="1">
              <a:off x="7151038" y="3557900"/>
              <a:ext cx="2625" cy="702654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3" name="그룹 392"/>
          <p:cNvGrpSpPr/>
          <p:nvPr/>
        </p:nvGrpSpPr>
        <p:grpSpPr>
          <a:xfrm>
            <a:off x="1161241" y="2384137"/>
            <a:ext cx="469167" cy="238975"/>
            <a:chOff x="1178284" y="2905002"/>
            <a:chExt cx="388658" cy="238975"/>
          </a:xfrm>
        </p:grpSpPr>
        <p:sp>
          <p:nvSpPr>
            <p:cNvPr id="528" name="원통 527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391" name="구부러진 연결선 390"/>
          <p:cNvCxnSpPr>
            <a:stCxn id="530" idx="3"/>
            <a:endCxn id="249" idx="0"/>
          </p:cNvCxnSpPr>
          <p:nvPr/>
        </p:nvCxnSpPr>
        <p:spPr>
          <a:xfrm>
            <a:off x="1629669" y="2507696"/>
            <a:ext cx="186330" cy="20160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7564742" y="3165218"/>
            <a:ext cx="855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solidFill>
                  <a:schemeClr val="accent1"/>
                </a:solidFill>
              </a:rPr>
              <a:t>Tokens to be </a:t>
            </a:r>
          </a:p>
          <a:p>
            <a:r>
              <a:rPr lang="en-US" altLang="ko-KR" sz="700" b="1" dirty="0">
                <a:solidFill>
                  <a:schemeClr val="accent1"/>
                </a:solidFill>
              </a:rPr>
              <a:t>recomputed</a:t>
            </a:r>
          </a:p>
        </p:txBody>
      </p:sp>
      <p:grpSp>
        <p:nvGrpSpPr>
          <p:cNvPr id="545" name="그룹 544"/>
          <p:cNvGrpSpPr/>
          <p:nvPr/>
        </p:nvGrpSpPr>
        <p:grpSpPr>
          <a:xfrm>
            <a:off x="6621830" y="2567083"/>
            <a:ext cx="469167" cy="238975"/>
            <a:chOff x="1178284" y="2905002"/>
            <a:chExt cx="388658" cy="238975"/>
          </a:xfrm>
        </p:grpSpPr>
        <p:sp>
          <p:nvSpPr>
            <p:cNvPr id="546" name="원통 545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47" name="TextBox 546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548" name="구부러진 연결선 547"/>
          <p:cNvCxnSpPr>
            <a:stCxn id="547" idx="3"/>
            <a:endCxn id="304" idx="0"/>
          </p:cNvCxnSpPr>
          <p:nvPr/>
        </p:nvCxnSpPr>
        <p:spPr>
          <a:xfrm>
            <a:off x="7090258" y="2690642"/>
            <a:ext cx="210053" cy="1364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0460" y="2229013"/>
            <a:ext cx="285667" cy="298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…</a:t>
            </a:r>
          </a:p>
        </p:txBody>
      </p:sp>
      <p:sp>
        <p:nvSpPr>
          <p:cNvPr id="82" name="정육면체 8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271614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</a:p>
        </p:txBody>
      </p:sp>
      <p:cxnSp>
        <p:nvCxnSpPr>
          <p:cNvPr id="83" name="직선 연결선 82"/>
          <p:cNvCxnSpPr>
            <a:stCxn id="82" idx="3"/>
            <a:endCxn id="124" idx="0"/>
          </p:cNvCxnSpPr>
          <p:nvPr/>
        </p:nvCxnSpPr>
        <p:spPr>
          <a:xfrm>
            <a:off x="4432581" y="2546674"/>
            <a:ext cx="120470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/>
          <p:cNvCxnSpPr>
            <a:stCxn id="149" idx="3"/>
            <a:endCxn id="124" idx="0"/>
          </p:cNvCxnSpPr>
          <p:nvPr/>
        </p:nvCxnSpPr>
        <p:spPr>
          <a:xfrm flipH="1">
            <a:off x="4553051" y="2546674"/>
            <a:ext cx="235043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/>
          <p:cNvCxnSpPr>
            <a:stCxn id="150" idx="3"/>
            <a:endCxn id="124" idx="0"/>
          </p:cNvCxnSpPr>
          <p:nvPr/>
        </p:nvCxnSpPr>
        <p:spPr>
          <a:xfrm flipH="1">
            <a:off x="4553051" y="2546674"/>
            <a:ext cx="897238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/>
          <p:cNvCxnSpPr>
            <a:stCxn id="124" idx="3"/>
            <a:endCxn id="126" idx="0"/>
          </p:cNvCxnSpPr>
          <p:nvPr/>
        </p:nvCxnSpPr>
        <p:spPr>
          <a:xfrm flipH="1">
            <a:off x="4448494" y="3099872"/>
            <a:ext cx="37433" cy="262528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/>
          <p:cNvCxnSpPr>
            <a:stCxn id="126" idx="3"/>
            <a:endCxn id="103" idx="0"/>
          </p:cNvCxnSpPr>
          <p:nvPr/>
        </p:nvCxnSpPr>
        <p:spPr>
          <a:xfrm>
            <a:off x="4381371" y="3630895"/>
            <a:ext cx="682770" cy="400090"/>
          </a:xfrm>
          <a:prstGeom prst="line">
            <a:avLst/>
          </a:prstGeom>
          <a:ln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/>
          <p:cNvCxnSpPr>
            <a:stCxn id="82" idx="3"/>
            <a:endCxn id="125" idx="0"/>
          </p:cNvCxnSpPr>
          <p:nvPr/>
        </p:nvCxnSpPr>
        <p:spPr>
          <a:xfrm>
            <a:off x="4432581" y="2546674"/>
            <a:ext cx="1059027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>
            <a:stCxn id="149" idx="3"/>
            <a:endCxn id="125" idx="0"/>
          </p:cNvCxnSpPr>
          <p:nvPr/>
        </p:nvCxnSpPr>
        <p:spPr>
          <a:xfrm>
            <a:off x="4788094" y="2546674"/>
            <a:ext cx="703514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>
            <a:stCxn id="150" idx="3"/>
            <a:endCxn id="125" idx="0"/>
          </p:cNvCxnSpPr>
          <p:nvPr/>
        </p:nvCxnSpPr>
        <p:spPr>
          <a:xfrm>
            <a:off x="5450289" y="2546674"/>
            <a:ext cx="41319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>
            <a:stCxn id="125" idx="3"/>
            <a:endCxn id="127" idx="0"/>
          </p:cNvCxnSpPr>
          <p:nvPr/>
        </p:nvCxnSpPr>
        <p:spPr>
          <a:xfrm flipH="1">
            <a:off x="5046761" y="3099872"/>
            <a:ext cx="377723" cy="262528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>
            <a:stCxn id="514" idx="2"/>
            <a:endCxn id="114" idx="0"/>
          </p:cNvCxnSpPr>
          <p:nvPr/>
        </p:nvCxnSpPr>
        <p:spPr>
          <a:xfrm>
            <a:off x="4979195" y="3630793"/>
            <a:ext cx="540468" cy="399749"/>
          </a:xfrm>
          <a:prstGeom prst="line">
            <a:avLst/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855123" y="3829335"/>
            <a:ext cx="815939" cy="210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Prefill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1751" y="2283631"/>
            <a:ext cx="510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Query </a:t>
            </a:r>
          </a:p>
          <a:p>
            <a:r>
              <a:rPr lang="en-US" altLang="ko-KR" sz="700" dirty="0"/>
              <a:t>Sample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4145978" y="3362400"/>
            <a:ext cx="537909" cy="268495"/>
            <a:chOff x="4285990" y="3495046"/>
            <a:chExt cx="537909" cy="268495"/>
          </a:xfrm>
        </p:grpSpPr>
        <p:sp>
          <p:nvSpPr>
            <p:cNvPr id="126" name="정육면체 125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285990" y="3495046"/>
              <a:ext cx="537909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4584255" y="3559259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3" name="평행 사변형 522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4586349" y="3496381"/>
              <a:ext cx="128871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337640" y="3559259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5" name="평행 사변형 524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339137" y="3496381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393528" y="3559259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27" name="평행 사변형 526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394653" y="3496381"/>
              <a:ext cx="85205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124" name="정육면체 123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4067164" y="2831377"/>
            <a:ext cx="904650" cy="268495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Context1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125" name="정육면체 124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5005721" y="2831377"/>
            <a:ext cx="904650" cy="268495"/>
          </a:xfrm>
          <a:prstGeom prst="cube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Context2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grpSp>
        <p:nvGrpSpPr>
          <p:cNvPr id="529" name="그룹 528"/>
          <p:cNvGrpSpPr/>
          <p:nvPr/>
        </p:nvGrpSpPr>
        <p:grpSpPr>
          <a:xfrm>
            <a:off x="3862321" y="4025250"/>
            <a:ext cx="2593077" cy="274230"/>
            <a:chOff x="3862321" y="4089279"/>
            <a:chExt cx="2593077" cy="274230"/>
          </a:xfrm>
        </p:grpSpPr>
        <p:sp>
          <p:nvSpPr>
            <p:cNvPr id="129" name="정육면체 128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3862321" y="4089279"/>
              <a:ext cx="954787" cy="265836"/>
            </a:xfrm>
            <a:prstGeom prst="cub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System Prompt </a:t>
              </a:r>
            </a:p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(or Prefix)</a:t>
              </a: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793938" y="4095014"/>
              <a:ext cx="473283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5098064" y="4159886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2" name="평행 사변형 111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5100156" y="4097008"/>
              <a:ext cx="11825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851445" y="415988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0" name="평행 사변형 109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852944" y="4097008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907332" y="415988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108" name="평행 사변형 107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908460" y="4097008"/>
              <a:ext cx="73469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3E9CFB8D-AC91-41FB-8F16-46729CDA8BC5}"/>
                </a:ext>
              </a:extLst>
            </p:cNvPr>
            <p:cNvGrpSpPr/>
            <p:nvPr/>
          </p:nvGrpSpPr>
          <p:grpSpPr>
            <a:xfrm>
              <a:off x="5249460" y="4094571"/>
              <a:ext cx="473283" cy="268498"/>
              <a:chOff x="5641559" y="3066298"/>
              <a:chExt cx="769620" cy="288912"/>
            </a:xfrm>
          </p:grpSpPr>
          <p:sp>
            <p:nvSpPr>
              <p:cNvPr id="114" name="정육면체 113">
                <a:extLst>
                  <a:ext uri="{FF2B5EF4-FFF2-40B4-BE49-F238E27FC236}">
                    <a16:creationId xmlns:a16="http://schemas.microsoft.com/office/drawing/2014/main" id="{18DD8ABD-522D-4B13-8E2D-73B036FED5E2}"/>
                  </a:ext>
                </a:extLst>
              </p:cNvPr>
              <p:cNvSpPr/>
              <p:nvPr/>
            </p:nvSpPr>
            <p:spPr>
              <a:xfrm>
                <a:off x="5641559" y="3066298"/>
                <a:ext cx="769620" cy="288909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058AACF9-7845-463C-834E-B729C6D403BD}"/>
                  </a:ext>
                </a:extLst>
              </p:cNvPr>
              <p:cNvGrpSpPr/>
              <p:nvPr/>
            </p:nvGrpSpPr>
            <p:grpSpPr>
              <a:xfrm>
                <a:off x="5965815" y="3068447"/>
                <a:ext cx="140421" cy="286763"/>
                <a:chOff x="5965815" y="3068447"/>
                <a:chExt cx="140421" cy="286763"/>
              </a:xfrm>
            </p:grpSpPr>
            <p:sp>
              <p:nvSpPr>
                <p:cNvPr id="122" name="직사각형 121">
                  <a:extLst>
                    <a:ext uri="{FF2B5EF4-FFF2-40B4-BE49-F238E27FC236}">
                      <a16:creationId xmlns:a16="http://schemas.microsoft.com/office/drawing/2014/main" id="{7F3017A2-63F4-4CEB-99FF-DE8D3CE5DE0B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3" name="평행 사변형 122">
                  <a:extLst>
                    <a:ext uri="{FF2B5EF4-FFF2-40B4-BE49-F238E27FC236}">
                      <a16:creationId xmlns:a16="http://schemas.microsoft.com/office/drawing/2014/main" id="{610C6AE8-9660-49A6-82AF-6BF73575817D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7984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0D5CC3C0-3743-4B11-8A30-91C492EFA778}"/>
                  </a:ext>
                </a:extLst>
              </p:cNvPr>
              <p:cNvGrpSpPr/>
              <p:nvPr/>
            </p:nvGrpSpPr>
            <p:grpSpPr>
              <a:xfrm>
                <a:off x="5726404" y="3068447"/>
                <a:ext cx="142313" cy="286763"/>
                <a:chOff x="5965815" y="3068447"/>
                <a:chExt cx="142313" cy="286763"/>
              </a:xfrm>
            </p:grpSpPr>
            <p:sp>
              <p:nvSpPr>
                <p:cNvPr id="120" name="직사각형 119">
                  <a:extLst>
                    <a:ext uri="{FF2B5EF4-FFF2-40B4-BE49-F238E27FC236}">
                      <a16:creationId xmlns:a16="http://schemas.microsoft.com/office/drawing/2014/main" id="{3AC86B5C-AD2E-4387-AA3C-F4E84A2FCB7E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1" name="평행 사변형 120">
                  <a:extLst>
                    <a:ext uri="{FF2B5EF4-FFF2-40B4-BE49-F238E27FC236}">
                      <a16:creationId xmlns:a16="http://schemas.microsoft.com/office/drawing/2014/main" id="{B3765626-2883-4C43-8A39-8C822D03B0F6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9876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510050EA-F0C2-420A-B3AD-C6B6D6BCB49B}"/>
                  </a:ext>
                </a:extLst>
              </p:cNvPr>
              <p:cNvGrpSpPr/>
              <p:nvPr/>
            </p:nvGrpSpPr>
            <p:grpSpPr>
              <a:xfrm>
                <a:off x="6142241" y="3068447"/>
                <a:ext cx="127339" cy="286763"/>
                <a:chOff x="5965815" y="3068447"/>
                <a:chExt cx="169257" cy="286763"/>
              </a:xfrm>
            </p:grpSpPr>
            <p:sp>
              <p:nvSpPr>
                <p:cNvPr id="118" name="직사각형 117">
                  <a:extLst>
                    <a:ext uri="{FF2B5EF4-FFF2-40B4-BE49-F238E27FC236}">
                      <a16:creationId xmlns:a16="http://schemas.microsoft.com/office/drawing/2014/main" id="{39086A5E-21D2-42F5-9D94-1155FFC4ABF4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0769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/>
                </a:p>
              </p:txBody>
            </p:sp>
            <p:sp>
              <p:nvSpPr>
                <p:cNvPr id="119" name="평행 사변형 118">
                  <a:extLst>
                    <a:ext uri="{FF2B5EF4-FFF2-40B4-BE49-F238E27FC236}">
                      <a16:creationId xmlns:a16="http://schemas.microsoft.com/office/drawing/2014/main" id="{953A130F-66E7-4221-8AEC-4A4BB47B537C}"/>
                    </a:ext>
                  </a:extLst>
                </p:cNvPr>
                <p:cNvSpPr/>
                <p:nvPr/>
              </p:nvSpPr>
              <p:spPr>
                <a:xfrm>
                  <a:off x="5968237" y="3068447"/>
                  <a:ext cx="166835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sp>
          <p:nvSpPr>
            <p:cNvPr id="128" name="정육면체 127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5678858" y="4089279"/>
              <a:ext cx="776540" cy="265836"/>
            </a:xfrm>
            <a:prstGeom prst="cub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User Query 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정육면체 1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627127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</a:p>
        </p:txBody>
      </p:sp>
      <p:sp>
        <p:nvSpPr>
          <p:cNvPr id="150" name="정육면체 1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285602" y="2337045"/>
            <a:ext cx="38178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#n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4660905" y="3639569"/>
            <a:ext cx="699119" cy="12421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2</a:t>
            </a:r>
            <a:endParaRPr lang="ko-KR" altLang="en-US" sz="700" dirty="0"/>
          </a:p>
        </p:txBody>
      </p:sp>
      <p:sp>
        <p:nvSpPr>
          <p:cNvPr id="521" name="TextBox 520"/>
          <p:cNvSpPr txBox="1"/>
          <p:nvPr/>
        </p:nvSpPr>
        <p:spPr>
          <a:xfrm>
            <a:off x="4037377" y="3601651"/>
            <a:ext cx="699119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1</a:t>
            </a:r>
            <a:endParaRPr lang="ko-KR" altLang="en-US" sz="700" dirty="0"/>
          </a:p>
        </p:txBody>
      </p:sp>
      <p:grpSp>
        <p:nvGrpSpPr>
          <p:cNvPr id="19" name="그룹 18"/>
          <p:cNvGrpSpPr/>
          <p:nvPr/>
        </p:nvGrpSpPr>
        <p:grpSpPr>
          <a:xfrm>
            <a:off x="4744245" y="3362400"/>
            <a:ext cx="537909" cy="268495"/>
            <a:chOff x="4911738" y="3495046"/>
            <a:chExt cx="537909" cy="268495"/>
          </a:xfrm>
        </p:grpSpPr>
        <p:sp>
          <p:nvSpPr>
            <p:cNvPr id="127" name="정육면체 126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911738" y="3495046"/>
              <a:ext cx="537909" cy="268495"/>
            </a:xfrm>
            <a:prstGeom prst="cub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7F3017A2-63F4-4CEB-99FF-DE8D3CE5DE0B}"/>
                </a:ext>
              </a:extLst>
            </p:cNvPr>
            <p:cNvSpPr/>
            <p:nvPr/>
          </p:nvSpPr>
          <p:spPr>
            <a:xfrm>
              <a:off x="5126668" y="355981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5" name="평행 사변형 514">
              <a:extLst>
                <a:ext uri="{FF2B5EF4-FFF2-40B4-BE49-F238E27FC236}">
                  <a16:creationId xmlns:a16="http://schemas.microsoft.com/office/drawing/2014/main" id="{610C6AE8-9660-49A6-82AF-6BF73575817D}"/>
                </a:ext>
              </a:extLst>
            </p:cNvPr>
            <p:cNvSpPr/>
            <p:nvPr/>
          </p:nvSpPr>
          <p:spPr>
            <a:xfrm>
              <a:off x="5128167" y="3496938"/>
              <a:ext cx="8485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6" name="직사각형 515">
              <a:extLst>
                <a:ext uri="{FF2B5EF4-FFF2-40B4-BE49-F238E27FC236}">
                  <a16:creationId xmlns:a16="http://schemas.microsoft.com/office/drawing/2014/main" id="{3AC86B5C-AD2E-4387-AA3C-F4E84A2FCB7E}"/>
                </a:ext>
              </a:extLst>
            </p:cNvPr>
            <p:cNvSpPr/>
            <p:nvPr/>
          </p:nvSpPr>
          <p:spPr>
            <a:xfrm>
              <a:off x="4979441" y="3559816"/>
              <a:ext cx="40038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7" name="평행 사변형 516">
              <a:extLst>
                <a:ext uri="{FF2B5EF4-FFF2-40B4-BE49-F238E27FC236}">
                  <a16:creationId xmlns:a16="http://schemas.microsoft.com/office/drawing/2014/main" id="{B3765626-2883-4C43-8A39-8C822D03B0F6}"/>
                </a:ext>
              </a:extLst>
            </p:cNvPr>
            <p:cNvSpPr/>
            <p:nvPr/>
          </p:nvSpPr>
          <p:spPr>
            <a:xfrm>
              <a:off x="4980940" y="3496938"/>
              <a:ext cx="8601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39086A5E-21D2-42F5-9D94-1155FFC4ABF4}"/>
                </a:ext>
              </a:extLst>
            </p:cNvPr>
            <p:cNvSpPr/>
            <p:nvPr/>
          </p:nvSpPr>
          <p:spPr>
            <a:xfrm>
              <a:off x="5235163" y="355981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19" name="평행 사변형 518">
              <a:extLst>
                <a:ext uri="{FF2B5EF4-FFF2-40B4-BE49-F238E27FC236}">
                  <a16:creationId xmlns:a16="http://schemas.microsoft.com/office/drawing/2014/main" id="{953A130F-66E7-4221-8AEC-4A4BB47B537C}"/>
                </a:ext>
              </a:extLst>
            </p:cNvPr>
            <p:cNvSpPr/>
            <p:nvPr/>
          </p:nvSpPr>
          <p:spPr>
            <a:xfrm>
              <a:off x="5236284" y="3496938"/>
              <a:ext cx="7718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227" name="정육면체 22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308325" y="3358396"/>
            <a:ext cx="587415" cy="271425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KV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844632" y="3336389"/>
            <a:ext cx="4990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/>
              <a:t>KV </a:t>
            </a:r>
          </a:p>
          <a:p>
            <a:pPr algn="ctr"/>
            <a:r>
              <a:rPr lang="en-US" altLang="ko-KR" sz="700" dirty="0"/>
              <a:t>Sample</a:t>
            </a:r>
          </a:p>
        </p:txBody>
      </p:sp>
      <p:grpSp>
        <p:nvGrpSpPr>
          <p:cNvPr id="79" name="그룹 78"/>
          <p:cNvGrpSpPr/>
          <p:nvPr/>
        </p:nvGrpSpPr>
        <p:grpSpPr>
          <a:xfrm>
            <a:off x="3839968" y="1998105"/>
            <a:ext cx="2671828" cy="2452566"/>
            <a:chOff x="3839968" y="2177307"/>
            <a:chExt cx="2671828" cy="2452566"/>
          </a:xfrm>
        </p:grpSpPr>
        <p:sp>
          <p:nvSpPr>
            <p:cNvPr id="76" name="모서리가 둥근 직사각형 75"/>
            <p:cNvSpPr/>
            <p:nvPr/>
          </p:nvSpPr>
          <p:spPr>
            <a:xfrm>
              <a:off x="3839968" y="2292215"/>
              <a:ext cx="2671828" cy="2337658"/>
            </a:xfrm>
            <a:prstGeom prst="roundRect">
              <a:avLst>
                <a:gd name="adj" fmla="val 379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642188" y="2177307"/>
              <a:ext cx="949110" cy="234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</a:rPr>
                <a:t>&lt;</a:t>
              </a:r>
              <a:r>
                <a:rPr lang="ko-KR" altLang="en-US" sz="1050" dirty="0">
                  <a:solidFill>
                    <a:schemeClr val="tx1"/>
                  </a:solidFill>
                </a:rPr>
                <a:t>시나리오</a:t>
              </a:r>
              <a:r>
                <a:rPr lang="en-US" altLang="ko-KR" sz="1050" dirty="0">
                  <a:solidFill>
                    <a:schemeClr val="tx1"/>
                  </a:solidFill>
                </a:rPr>
                <a:t>&gt; 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32" name="그룹 531"/>
          <p:cNvGrpSpPr/>
          <p:nvPr/>
        </p:nvGrpSpPr>
        <p:grpSpPr>
          <a:xfrm>
            <a:off x="9141264" y="1998105"/>
            <a:ext cx="2751725" cy="2452566"/>
            <a:chOff x="9141264" y="2177307"/>
            <a:chExt cx="2751725" cy="2452566"/>
          </a:xfrm>
        </p:grpSpPr>
        <p:grpSp>
          <p:nvGrpSpPr>
            <p:cNvPr id="10" name="그룹 9"/>
            <p:cNvGrpSpPr/>
            <p:nvPr/>
          </p:nvGrpSpPr>
          <p:grpSpPr>
            <a:xfrm>
              <a:off x="9192241" y="2522814"/>
              <a:ext cx="2631913" cy="1950987"/>
              <a:chOff x="9201224" y="2229331"/>
              <a:chExt cx="2631913" cy="1950987"/>
            </a:xfrm>
          </p:grpSpPr>
          <p:sp>
            <p:nvSpPr>
              <p:cNvPr id="223" name="정육면체 222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201224" y="3888348"/>
                <a:ext cx="959436" cy="283037"/>
              </a:xfrm>
              <a:prstGeom prst="cub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System Prompt </a:t>
                </a:r>
              </a:p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(Prefix Cache)</a:t>
                </a:r>
              </a:p>
            </p:txBody>
          </p:sp>
          <p:cxnSp>
            <p:nvCxnSpPr>
              <p:cNvPr id="131" name="직선 연결선 130"/>
              <p:cNvCxnSpPr>
                <a:stCxn id="151" idx="3"/>
                <a:endCxn id="147" idx="0"/>
              </p:cNvCxnSpPr>
              <p:nvPr/>
            </p:nvCxnSpPr>
            <p:spPr>
              <a:xfrm flipH="1">
                <a:off x="9864115" y="2452524"/>
                <a:ext cx="376499" cy="192122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직선 연결선 132"/>
              <p:cNvCxnSpPr>
                <a:stCxn id="176" idx="3"/>
                <a:endCxn id="201" idx="0"/>
              </p:cNvCxnSpPr>
              <p:nvPr/>
            </p:nvCxnSpPr>
            <p:spPr>
              <a:xfrm>
                <a:off x="9683928" y="3518931"/>
                <a:ext cx="724112" cy="375520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>
                <a:stCxn id="151" idx="3"/>
                <a:endCxn id="148" idx="0"/>
              </p:cNvCxnSpPr>
              <p:nvPr/>
            </p:nvCxnSpPr>
            <p:spPr>
              <a:xfrm>
                <a:off x="10240614" y="2452524"/>
                <a:ext cx="562680" cy="192122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>
                <a:stCxn id="166" idx="3"/>
                <a:endCxn id="212" idx="0"/>
              </p:cNvCxnSpPr>
              <p:nvPr/>
            </p:nvCxnSpPr>
            <p:spPr>
              <a:xfrm>
                <a:off x="10626066" y="3518931"/>
                <a:ext cx="243822" cy="375051"/>
              </a:xfrm>
              <a:prstGeom prst="line">
                <a:avLst/>
              </a:prstGeom>
              <a:ln>
                <a:solidFill>
                  <a:schemeClr val="accent6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정육면체 146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375756" y="2644646"/>
                <a:ext cx="905251" cy="285867"/>
              </a:xfrm>
              <a:prstGeom prst="cub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Context1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정육면체 147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0314935" y="2644646"/>
                <a:ext cx="905251" cy="285867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Context2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정육면체 15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9835517" y="2229331"/>
                <a:ext cx="865992" cy="223193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User Query</a:t>
                </a:r>
              </a:p>
            </p:txBody>
          </p:sp>
          <p:grpSp>
            <p:nvGrpSpPr>
              <p:cNvPr id="152" name="그룹 151"/>
              <p:cNvGrpSpPr/>
              <p:nvPr/>
            </p:nvGrpSpPr>
            <p:grpSpPr>
              <a:xfrm>
                <a:off x="9268851" y="3233063"/>
                <a:ext cx="1844353" cy="285869"/>
                <a:chOff x="8667143" y="3152628"/>
                <a:chExt cx="2332139" cy="304338"/>
              </a:xfrm>
            </p:grpSpPr>
            <p:grpSp>
              <p:nvGrpSpPr>
                <p:cNvPr id="153" name="그룹 152">
                  <a:extLst>
                    <a:ext uri="{FF2B5EF4-FFF2-40B4-BE49-F238E27FC236}">
                      <a16:creationId xmlns:a16="http://schemas.microsoft.com/office/drawing/2014/main" id="{3E9CFB8D-AC91-41FB-8F16-46729CDA8BC5}"/>
                    </a:ext>
                  </a:extLst>
                </p:cNvPr>
                <p:cNvGrpSpPr/>
                <p:nvPr/>
              </p:nvGrpSpPr>
              <p:grpSpPr>
                <a:xfrm>
                  <a:off x="8667143" y="3152628"/>
                  <a:ext cx="1140078" cy="304338"/>
                  <a:chOff x="4990624" y="3066300"/>
                  <a:chExt cx="769620" cy="288910"/>
                </a:xfrm>
              </p:grpSpPr>
              <p:sp>
                <p:nvSpPr>
                  <p:cNvPr id="176" name="정육면체 175">
                    <a:extLst>
                      <a:ext uri="{FF2B5EF4-FFF2-40B4-BE49-F238E27FC236}">
                        <a16:creationId xmlns:a16="http://schemas.microsoft.com/office/drawing/2014/main" id="{D8A2C4AC-5603-4FC0-923C-423CDABE561C}"/>
                      </a:ext>
                    </a:extLst>
                  </p:cNvPr>
                  <p:cNvSpPr/>
                  <p:nvPr/>
                </p:nvSpPr>
                <p:spPr>
                  <a:xfrm>
                    <a:off x="4990624" y="3066300"/>
                    <a:ext cx="769620" cy="288909"/>
                  </a:xfrm>
                  <a:prstGeom prst="cube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90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30B6DB89-CCC7-4B6C-B78B-382C4DD16D00}"/>
                      </a:ext>
                    </a:extLst>
                  </p:cNvPr>
                  <p:cNvGrpSpPr/>
                  <p:nvPr/>
                </p:nvGrpSpPr>
                <p:grpSpPr>
                  <a:xfrm>
                    <a:off x="5009519" y="3068447"/>
                    <a:ext cx="718215" cy="286763"/>
                    <a:chOff x="5624930" y="3068447"/>
                    <a:chExt cx="514672" cy="286763"/>
                  </a:xfrm>
                </p:grpSpPr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83440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평행 사변형 184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11523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6" name="직사각형 185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688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7" name="평행 사변형 186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931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8" name="직사각형 187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28889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9" name="평행 사변형 188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3132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493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평행 사변형 190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7369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2424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평행 사변형 192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863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8" name="그룹 177">
                    <a:extLst>
                      <a:ext uri="{FF2B5EF4-FFF2-40B4-BE49-F238E27FC236}">
                        <a16:creationId xmlns:a16="http://schemas.microsoft.com/office/drawing/2014/main" id="{80A761AC-783D-427D-BF0E-80EB21468F4B}"/>
                      </a:ext>
                    </a:extLst>
                  </p:cNvPr>
                  <p:cNvGrpSpPr/>
                  <p:nvPr/>
                </p:nvGrpSpPr>
                <p:grpSpPr>
                  <a:xfrm>
                    <a:off x="5085792" y="3068447"/>
                    <a:ext cx="94172" cy="286763"/>
                    <a:chOff x="5967469" y="3068447"/>
                    <a:chExt cx="94172" cy="286763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A63EB10E-1583-4496-9BFA-4DA8AFEB97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7469" y="3136106"/>
                      <a:ext cx="51504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평행 사변형 182">
                      <a:extLst>
                        <a:ext uri="{FF2B5EF4-FFF2-40B4-BE49-F238E27FC236}">
                          <a16:creationId xmlns:a16="http://schemas.microsoft.com/office/drawing/2014/main" id="{7FCE73C2-CA7D-487F-A907-6026692D45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9338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9" name="그룹 178">
                    <a:extLst>
                      <a:ext uri="{FF2B5EF4-FFF2-40B4-BE49-F238E27FC236}">
                        <a16:creationId xmlns:a16="http://schemas.microsoft.com/office/drawing/2014/main" id="{FAFDDF61-4920-43E4-976E-4556AD73AA53}"/>
                      </a:ext>
                    </a:extLst>
                  </p:cNvPr>
                  <p:cNvGrpSpPr/>
                  <p:nvPr/>
                </p:nvGrpSpPr>
                <p:grpSpPr>
                  <a:xfrm>
                    <a:off x="5175021" y="3068447"/>
                    <a:ext cx="121304" cy="286763"/>
                    <a:chOff x="5965815" y="3068447"/>
                    <a:chExt cx="161236" cy="286763"/>
                  </a:xfrm>
                </p:grpSpPr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45C4EE14-F23E-4895-A260-8843342F6A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108422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 dirty="0"/>
                    </a:p>
                  </p:txBody>
                </p:sp>
                <p:sp>
                  <p:nvSpPr>
                    <p:cNvPr id="181" name="평행 사변형 180">
                      <a:extLst>
                        <a:ext uri="{FF2B5EF4-FFF2-40B4-BE49-F238E27FC236}">
                          <a16:creationId xmlns:a16="http://schemas.microsoft.com/office/drawing/2014/main" id="{032BA945-0559-4A7E-A5FB-00F359C8B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5879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grpSp>
              <p:nvGrpSpPr>
                <p:cNvPr id="154" name="그룹 153"/>
                <p:cNvGrpSpPr/>
                <p:nvPr/>
              </p:nvGrpSpPr>
              <p:grpSpPr>
                <a:xfrm>
                  <a:off x="9857701" y="3152629"/>
                  <a:ext cx="1141581" cy="304336"/>
                  <a:chOff x="9857701" y="3160554"/>
                  <a:chExt cx="1141581" cy="304336"/>
                </a:xfrm>
              </p:grpSpPr>
              <p:grpSp>
                <p:nvGrpSpPr>
                  <p:cNvPr id="155" name="그룹 154">
                    <a:extLst>
                      <a:ext uri="{FF2B5EF4-FFF2-40B4-BE49-F238E27FC236}">
                        <a16:creationId xmlns:a16="http://schemas.microsoft.com/office/drawing/2014/main" id="{3E9CFB8D-AC91-41FB-8F16-46729CDA8BC5}"/>
                      </a:ext>
                    </a:extLst>
                  </p:cNvPr>
                  <p:cNvGrpSpPr/>
                  <p:nvPr/>
                </p:nvGrpSpPr>
                <p:grpSpPr>
                  <a:xfrm>
                    <a:off x="9857701" y="3160554"/>
                    <a:ext cx="1141581" cy="304336"/>
                    <a:chOff x="5682297" y="3066301"/>
                    <a:chExt cx="769620" cy="288909"/>
                  </a:xfrm>
                </p:grpSpPr>
                <p:sp>
                  <p:nvSpPr>
                    <p:cNvPr id="166" name="정육면체 165">
                      <a:extLst>
                        <a:ext uri="{FF2B5EF4-FFF2-40B4-BE49-F238E27FC236}">
                          <a16:creationId xmlns:a16="http://schemas.microsoft.com/office/drawing/2014/main" id="{18DD8ABD-522D-4B13-8E2D-73B036FED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82297" y="3066301"/>
                      <a:ext cx="769620" cy="288909"/>
                    </a:xfrm>
                    <a:prstGeom prst="cube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grpSp>
                  <p:nvGrpSpPr>
                    <p:cNvPr id="167" name="그룹 166">
                      <a:extLst>
                        <a:ext uri="{FF2B5EF4-FFF2-40B4-BE49-F238E27FC236}">
                          <a16:creationId xmlns:a16="http://schemas.microsoft.com/office/drawing/2014/main" id="{058AACF9-7845-463C-834E-B729C6D403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5815" y="3068447"/>
                      <a:ext cx="112614" cy="286763"/>
                      <a:chOff x="5965815" y="3068447"/>
                      <a:chExt cx="112614" cy="286763"/>
                    </a:xfrm>
                  </p:grpSpPr>
                  <p:sp>
                    <p:nvSpPr>
                      <p:cNvPr id="174" name="직사각형 173">
                        <a:extLst>
                          <a:ext uri="{FF2B5EF4-FFF2-40B4-BE49-F238E27FC236}">
                            <a16:creationId xmlns:a16="http://schemas.microsoft.com/office/drawing/2014/main" id="{7F3017A2-63F4-4CEB-99FF-DE8D3CE5DE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5" name="평행 사변형 174">
                        <a:extLst>
                          <a:ext uri="{FF2B5EF4-FFF2-40B4-BE49-F238E27FC236}">
                            <a16:creationId xmlns:a16="http://schemas.microsoft.com/office/drawing/2014/main" id="{610C6AE8-9660-49A6-82AF-6BF7357581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10177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8" name="그룹 167">
                      <a:extLst>
                        <a:ext uri="{FF2B5EF4-FFF2-40B4-BE49-F238E27FC236}">
                          <a16:creationId xmlns:a16="http://schemas.microsoft.com/office/drawing/2014/main" id="{0D5CC3C0-3743-4B11-8A30-91C492EFA7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26404" y="3068447"/>
                      <a:ext cx="107847" cy="286763"/>
                      <a:chOff x="5965815" y="3068447"/>
                      <a:chExt cx="107847" cy="286763"/>
                    </a:xfrm>
                  </p:grpSpPr>
                  <p:sp>
                    <p:nvSpPr>
                      <p:cNvPr id="172" name="직사각형 171">
                        <a:extLst>
                          <a:ext uri="{FF2B5EF4-FFF2-40B4-BE49-F238E27FC236}">
                            <a16:creationId xmlns:a16="http://schemas.microsoft.com/office/drawing/2014/main" id="{3AC86B5C-AD2E-4387-AA3C-F4E84A2FC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3" name="평행 사변형 172">
                        <a:extLst>
                          <a:ext uri="{FF2B5EF4-FFF2-40B4-BE49-F238E27FC236}">
                            <a16:creationId xmlns:a16="http://schemas.microsoft.com/office/drawing/2014/main" id="{B3765626-2883-4C43-8A39-8C822D03B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05410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9" name="그룹 168">
                      <a:extLst>
                        <a:ext uri="{FF2B5EF4-FFF2-40B4-BE49-F238E27FC236}">
                          <a16:creationId xmlns:a16="http://schemas.microsoft.com/office/drawing/2014/main" id="{510050EA-F0C2-420A-B3AD-C6B6D6BCB4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142229" y="3068447"/>
                      <a:ext cx="88688" cy="286763"/>
                      <a:chOff x="5965815" y="3068447"/>
                      <a:chExt cx="117883" cy="286763"/>
                    </a:xfrm>
                  </p:grpSpPr>
                  <p:sp>
                    <p:nvSpPr>
                      <p:cNvPr id="170" name="직사각형 169">
                        <a:extLst>
                          <a:ext uri="{FF2B5EF4-FFF2-40B4-BE49-F238E27FC236}">
                            <a16:creationId xmlns:a16="http://schemas.microsoft.com/office/drawing/2014/main" id="{39086A5E-21D2-42F5-9D94-1155FFC4AB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0769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 dirty="0"/>
                      </a:p>
                    </p:txBody>
                  </p:sp>
                  <p:sp>
                    <p:nvSpPr>
                      <p:cNvPr id="171" name="평행 사변형 170">
                        <a:extLst>
                          <a:ext uri="{FF2B5EF4-FFF2-40B4-BE49-F238E27FC236}">
                            <a16:creationId xmlns:a16="http://schemas.microsoft.com/office/drawing/2014/main" id="{953A130F-66E7-4221-8AEC-4A4BB47B53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37" y="3068447"/>
                        <a:ext cx="115461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56" name="직사각형 155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06100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7" name="평행 사변형 156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06604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8" name="직사각형 157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9882815" y="3233330"/>
                    <a:ext cx="45719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9" name="평행 사변형 158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9887854" y="3162058"/>
                    <a:ext cx="89237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0" name="직사각형 159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17042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1" name="평행 사변형 160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17546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2" name="직사각형 161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439697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3" name="평행 사변형 162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444736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4" name="직사각형 163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233330"/>
                    <a:ext cx="135563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5" name="평행 사변형 164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162058"/>
                    <a:ext cx="196416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cxnSp>
            <p:nvCxnSpPr>
              <p:cNvPr id="194" name="직선 연결선 193"/>
              <p:cNvCxnSpPr>
                <a:stCxn id="147" idx="3"/>
                <a:endCxn id="176" idx="0"/>
              </p:cNvCxnSpPr>
              <p:nvPr/>
            </p:nvCxnSpPr>
            <p:spPr>
              <a:xfrm flipH="1">
                <a:off x="9749747" y="2930513"/>
                <a:ext cx="48548" cy="302550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직선 연결선 194"/>
              <p:cNvCxnSpPr>
                <a:stCxn id="148" idx="3"/>
                <a:endCxn id="166" idx="0"/>
              </p:cNvCxnSpPr>
              <p:nvPr/>
            </p:nvCxnSpPr>
            <p:spPr>
              <a:xfrm flipH="1">
                <a:off x="10691885" y="2930513"/>
                <a:ext cx="45591" cy="302551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직사각형 195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1667" y="3126780"/>
                <a:ext cx="596110" cy="186515"/>
              </a:xfrm>
              <a:prstGeom prst="rect">
                <a:avLst/>
              </a:prstGeom>
              <a:solidFill>
                <a:srgbClr val="FFFF00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tx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tx1"/>
                    </a:solidFill>
                  </a:rPr>
                  <a:t>↓</a:t>
                </a:r>
                <a:r>
                  <a:rPr lang="en-US" altLang="ko-KR" sz="600" b="1" dirty="0">
                    <a:solidFill>
                      <a:schemeClr val="tx1"/>
                    </a:solidFill>
                  </a:rPr>
                  <a:t> </a:t>
                </a:r>
                <a:endParaRPr lang="ko-KR" altLang="en-US" sz="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7027" y="3365786"/>
                <a:ext cx="596110" cy="192511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bg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bg1"/>
                    </a:solidFill>
                  </a:rPr>
                  <a:t>↑</a:t>
                </a:r>
              </a:p>
            </p:txBody>
          </p:sp>
          <p:sp>
            <p:nvSpPr>
              <p:cNvPr id="199" name="TextBox 198"/>
              <p:cNvSpPr txBox="1"/>
              <p:nvPr/>
            </p:nvSpPr>
            <p:spPr>
              <a:xfrm>
                <a:off x="9265905" y="3715347"/>
                <a:ext cx="816481" cy="22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/>
                  <a:t>Prefill</a:t>
                </a:r>
              </a:p>
            </p:txBody>
          </p:sp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135508" y="3894451"/>
                <a:ext cx="473597" cy="285867"/>
                <a:chOff x="4990624" y="3066301"/>
                <a:chExt cx="769620" cy="288909"/>
              </a:xfrm>
            </p:grpSpPr>
            <p:sp>
              <p:nvSpPr>
                <p:cNvPr id="201" name="정육면체 200">
                  <a:extLst>
                    <a:ext uri="{FF2B5EF4-FFF2-40B4-BE49-F238E27FC236}">
                      <a16:creationId xmlns:a16="http://schemas.microsoft.com/office/drawing/2014/main" id="{D8A2C4AC-5603-4FC0-923C-423CDABE561C}"/>
                    </a:ext>
                  </a:extLst>
                </p:cNvPr>
                <p:cNvSpPr/>
                <p:nvPr/>
              </p:nvSpPr>
              <p:spPr>
                <a:xfrm>
                  <a:off x="4990624" y="3066301"/>
                  <a:ext cx="769620" cy="288909"/>
                </a:xfrm>
                <a:prstGeom prst="cub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90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02" name="그룹 201">
                  <a:extLst>
                    <a:ext uri="{FF2B5EF4-FFF2-40B4-BE49-F238E27FC236}">
                      <a16:creationId xmlns:a16="http://schemas.microsoft.com/office/drawing/2014/main" id="{30B6DB89-CCC7-4B6C-B78B-382C4DD16D00}"/>
                    </a:ext>
                  </a:extLst>
                </p:cNvPr>
                <p:cNvGrpSpPr/>
                <p:nvPr/>
              </p:nvGrpSpPr>
              <p:grpSpPr>
                <a:xfrm>
                  <a:off x="5485173" y="3068447"/>
                  <a:ext cx="195704" cy="286763"/>
                  <a:chOff x="5965815" y="3068447"/>
                  <a:chExt cx="140242" cy="286763"/>
                </a:xfrm>
              </p:grpSpPr>
              <p:sp>
                <p:nvSpPr>
                  <p:cNvPr id="209" name="직사각형 208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83440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0" name="평행 사변형 209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3780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3" name="그룹 202">
                  <a:extLst>
                    <a:ext uri="{FF2B5EF4-FFF2-40B4-BE49-F238E27FC236}">
                      <a16:creationId xmlns:a16="http://schemas.microsoft.com/office/drawing/2014/main" id="{80A761AC-783D-427D-BF0E-80EB21468F4B}"/>
                    </a:ext>
                  </a:extLst>
                </p:cNvPr>
                <p:cNvGrpSpPr/>
                <p:nvPr/>
              </p:nvGrpSpPr>
              <p:grpSpPr>
                <a:xfrm>
                  <a:off x="5084138" y="3068447"/>
                  <a:ext cx="144844" cy="286763"/>
                  <a:chOff x="5965815" y="3068447"/>
                  <a:chExt cx="144844" cy="286763"/>
                </a:xfrm>
              </p:grpSpPr>
              <p:sp>
                <p:nvSpPr>
                  <p:cNvPr id="207" name="직사각형 206">
                    <a:extLst>
                      <a:ext uri="{FF2B5EF4-FFF2-40B4-BE49-F238E27FC236}">
                        <a16:creationId xmlns:a16="http://schemas.microsoft.com/office/drawing/2014/main" id="{A63EB10E-1583-4496-9BFA-4DA8AFEB9710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08" name="평행 사변형 207">
                    <a:extLst>
                      <a:ext uri="{FF2B5EF4-FFF2-40B4-BE49-F238E27FC236}">
                        <a16:creationId xmlns:a16="http://schemas.microsoft.com/office/drawing/2014/main" id="{7FCE73C2-CA7D-487F-A907-6026692D4589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42407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4" name="그룹 203">
                  <a:extLst>
                    <a:ext uri="{FF2B5EF4-FFF2-40B4-BE49-F238E27FC236}">
                      <a16:creationId xmlns:a16="http://schemas.microsoft.com/office/drawing/2014/main" id="{FAFDDF61-4920-43E4-976E-4556AD73AA53}"/>
                    </a:ext>
                  </a:extLst>
                </p:cNvPr>
                <p:cNvGrpSpPr/>
                <p:nvPr/>
              </p:nvGrpSpPr>
              <p:grpSpPr>
                <a:xfrm>
                  <a:off x="5175021" y="3068447"/>
                  <a:ext cx="121304" cy="286763"/>
                  <a:chOff x="5965815" y="3068447"/>
                  <a:chExt cx="161236" cy="286763"/>
                </a:xfrm>
              </p:grpSpPr>
              <p:sp>
                <p:nvSpPr>
                  <p:cNvPr id="205" name="직사각형 204">
                    <a:extLst>
                      <a:ext uri="{FF2B5EF4-FFF2-40B4-BE49-F238E27FC236}">
                        <a16:creationId xmlns:a16="http://schemas.microsoft.com/office/drawing/2014/main" id="{45C4EE14-F23E-4895-A260-8843342F6AC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06" name="평행 사변형 205">
                    <a:extLst>
                      <a:ext uri="{FF2B5EF4-FFF2-40B4-BE49-F238E27FC236}">
                        <a16:creationId xmlns:a16="http://schemas.microsoft.com/office/drawing/2014/main" id="{032BA945-0559-4A7E-A5FB-00F359C8B926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58798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597356" y="3893982"/>
                <a:ext cx="473597" cy="285867"/>
                <a:chOff x="5651343" y="3066301"/>
                <a:chExt cx="769620" cy="288909"/>
              </a:xfrm>
            </p:grpSpPr>
            <p:sp>
              <p:nvSpPr>
                <p:cNvPr id="212" name="정육면체 211">
                  <a:extLst>
                    <a:ext uri="{FF2B5EF4-FFF2-40B4-BE49-F238E27FC236}">
                      <a16:creationId xmlns:a16="http://schemas.microsoft.com/office/drawing/2014/main" id="{18DD8ABD-522D-4B13-8E2D-73B036FED5E2}"/>
                    </a:ext>
                  </a:extLst>
                </p:cNvPr>
                <p:cNvSpPr/>
                <p:nvPr/>
              </p:nvSpPr>
              <p:spPr>
                <a:xfrm>
                  <a:off x="5651343" y="3066301"/>
                  <a:ext cx="769620" cy="288909"/>
                </a:xfrm>
                <a:prstGeom prst="cub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058AACF9-7845-463C-834E-B729C6D403BD}"/>
                    </a:ext>
                  </a:extLst>
                </p:cNvPr>
                <p:cNvGrpSpPr/>
                <p:nvPr/>
              </p:nvGrpSpPr>
              <p:grpSpPr>
                <a:xfrm>
                  <a:off x="5965815" y="3068447"/>
                  <a:ext cx="140421" cy="286763"/>
                  <a:chOff x="5965815" y="3068447"/>
                  <a:chExt cx="140421" cy="286763"/>
                </a:xfrm>
              </p:grpSpPr>
              <p:sp>
                <p:nvSpPr>
                  <p:cNvPr id="220" name="직사각형 219">
                    <a:extLst>
                      <a:ext uri="{FF2B5EF4-FFF2-40B4-BE49-F238E27FC236}">
                        <a16:creationId xmlns:a16="http://schemas.microsoft.com/office/drawing/2014/main" id="{7F3017A2-63F4-4CEB-99FF-DE8D3CE5DE0B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21" name="평행 사변형 220">
                    <a:extLst>
                      <a:ext uri="{FF2B5EF4-FFF2-40B4-BE49-F238E27FC236}">
                        <a16:creationId xmlns:a16="http://schemas.microsoft.com/office/drawing/2014/main" id="{610C6AE8-9660-49A6-82AF-6BF73575817D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798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4" name="그룹 213">
                  <a:extLst>
                    <a:ext uri="{FF2B5EF4-FFF2-40B4-BE49-F238E27FC236}">
                      <a16:creationId xmlns:a16="http://schemas.microsoft.com/office/drawing/2014/main" id="{0D5CC3C0-3743-4B11-8A30-91C492EFA778}"/>
                    </a:ext>
                  </a:extLst>
                </p:cNvPr>
                <p:cNvGrpSpPr/>
                <p:nvPr/>
              </p:nvGrpSpPr>
              <p:grpSpPr>
                <a:xfrm>
                  <a:off x="5726404" y="3068447"/>
                  <a:ext cx="142313" cy="286763"/>
                  <a:chOff x="5965815" y="3068447"/>
                  <a:chExt cx="142313" cy="286763"/>
                </a:xfrm>
              </p:grpSpPr>
              <p:sp>
                <p:nvSpPr>
                  <p:cNvPr id="218" name="직사각형 217">
                    <a:extLst>
                      <a:ext uri="{FF2B5EF4-FFF2-40B4-BE49-F238E27FC236}">
                        <a16:creationId xmlns:a16="http://schemas.microsoft.com/office/drawing/2014/main" id="{3AC86B5C-AD2E-4387-AA3C-F4E84A2FCB7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9" name="평행 사변형 218">
                    <a:extLst>
                      <a:ext uri="{FF2B5EF4-FFF2-40B4-BE49-F238E27FC236}">
                        <a16:creationId xmlns:a16="http://schemas.microsoft.com/office/drawing/2014/main" id="{B3765626-2883-4C43-8A39-8C822D03B0F6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9876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5" name="그룹 214">
                  <a:extLst>
                    <a:ext uri="{FF2B5EF4-FFF2-40B4-BE49-F238E27FC236}">
                      <a16:creationId xmlns:a16="http://schemas.microsoft.com/office/drawing/2014/main" id="{510050EA-F0C2-420A-B3AD-C6B6D6BCB49B}"/>
                    </a:ext>
                  </a:extLst>
                </p:cNvPr>
                <p:cNvGrpSpPr/>
                <p:nvPr/>
              </p:nvGrpSpPr>
              <p:grpSpPr>
                <a:xfrm>
                  <a:off x="6142241" y="3068447"/>
                  <a:ext cx="127339" cy="286763"/>
                  <a:chOff x="5965815" y="3068447"/>
                  <a:chExt cx="169257" cy="286763"/>
                </a:xfrm>
              </p:grpSpPr>
              <p:sp>
                <p:nvSpPr>
                  <p:cNvPr id="216" name="직사각형 215">
                    <a:extLst>
                      <a:ext uri="{FF2B5EF4-FFF2-40B4-BE49-F238E27FC236}">
                        <a16:creationId xmlns:a16="http://schemas.microsoft.com/office/drawing/2014/main" id="{39086A5E-21D2-42F5-9D94-1155FFC4ABF4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17" name="평행 사변형 216">
                    <a:extLst>
                      <a:ext uri="{FF2B5EF4-FFF2-40B4-BE49-F238E27FC236}">
                        <a16:creationId xmlns:a16="http://schemas.microsoft.com/office/drawing/2014/main" id="{953A130F-66E7-4221-8AEC-4A4BB47B537C}"/>
                      </a:ext>
                    </a:extLst>
                  </p:cNvPr>
                  <p:cNvSpPr/>
                  <p:nvPr/>
                </p:nvSpPr>
                <p:spPr>
                  <a:xfrm>
                    <a:off x="5968237" y="3068447"/>
                    <a:ext cx="166835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sp>
            <p:nvSpPr>
              <p:cNvPr id="222" name="정육면체 221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1033793" y="3888347"/>
                <a:ext cx="777055" cy="283037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User Query 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9" name="그룹 278"/>
            <p:cNvGrpSpPr/>
            <p:nvPr/>
          </p:nvGrpSpPr>
          <p:grpSpPr>
            <a:xfrm>
              <a:off x="9141264" y="2177307"/>
              <a:ext cx="2751725" cy="2452566"/>
              <a:chOff x="3799458" y="2177307"/>
              <a:chExt cx="2751725" cy="2452566"/>
            </a:xfrm>
          </p:grpSpPr>
          <p:sp>
            <p:nvSpPr>
              <p:cNvPr id="280" name="모서리가 둥근 직사각형 279"/>
              <p:cNvSpPr/>
              <p:nvPr/>
            </p:nvSpPr>
            <p:spPr>
              <a:xfrm>
                <a:off x="3799458" y="2292215"/>
                <a:ext cx="2751725" cy="2337658"/>
              </a:xfrm>
              <a:prstGeom prst="roundRect">
                <a:avLst>
                  <a:gd name="adj" fmla="val 3793"/>
                </a:avLst>
              </a:prstGeom>
              <a:noFill/>
              <a:ln w="6350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2" name="직사각형 281"/>
              <p:cNvSpPr/>
              <p:nvPr/>
            </p:nvSpPr>
            <p:spPr>
              <a:xfrm>
                <a:off x="4642188" y="2177307"/>
                <a:ext cx="949110" cy="2341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50" dirty="0">
                    <a:solidFill>
                      <a:schemeClr val="tx1"/>
                    </a:solidFill>
                  </a:rPr>
                  <a:t>&lt;</a:t>
                </a:r>
                <a:r>
                  <a:rPr lang="ko-KR" altLang="en-US" sz="1050" dirty="0">
                    <a:solidFill>
                      <a:schemeClr val="tx1"/>
                    </a:solidFill>
                  </a:rPr>
                  <a:t>시나리오</a:t>
                </a:r>
                <a:r>
                  <a:rPr lang="en-US" altLang="ko-KR" sz="1050" dirty="0">
                    <a:solidFill>
                      <a:schemeClr val="tx1"/>
                    </a:solidFill>
                  </a:rPr>
                  <a:t>&gt; </a:t>
                </a:r>
                <a:endParaRPr lang="ko-KR" altLang="en-US" sz="105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90" name="TextBox 289"/>
          <p:cNvSpPr txBox="1"/>
          <p:nvPr/>
        </p:nvSpPr>
        <p:spPr>
          <a:xfrm>
            <a:off x="1300984" y="2696989"/>
            <a:ext cx="2915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①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1257791" y="3586729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②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3978082" y="3093650"/>
            <a:ext cx="5482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①→②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4" name="TextBox 293"/>
          <p:cNvSpPr txBox="1"/>
          <p:nvPr/>
        </p:nvSpPr>
        <p:spPr>
          <a:xfrm>
            <a:off x="6787970" y="2801441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5" name="TextBox 294"/>
          <p:cNvSpPr txBox="1"/>
          <p:nvPr/>
        </p:nvSpPr>
        <p:spPr>
          <a:xfrm>
            <a:off x="9467542" y="3003399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6765422" y="3862943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7" name="TextBox 336"/>
          <p:cNvSpPr txBox="1"/>
          <p:nvPr/>
        </p:nvSpPr>
        <p:spPr>
          <a:xfrm>
            <a:off x="9683633" y="368926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8" name="TextBox 337"/>
          <p:cNvSpPr txBox="1"/>
          <p:nvPr/>
        </p:nvSpPr>
        <p:spPr>
          <a:xfrm>
            <a:off x="7975277" y="2786676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10630139" y="424481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cxnSp>
        <p:nvCxnSpPr>
          <p:cNvPr id="340" name="직선 화살표 연결선 339"/>
          <p:cNvCxnSpPr>
            <a:stCxn id="225" idx="0"/>
            <a:endCxn id="253" idx="1"/>
          </p:cNvCxnSpPr>
          <p:nvPr/>
        </p:nvCxnSpPr>
        <p:spPr>
          <a:xfrm rot="5400000" flipH="1" flipV="1">
            <a:off x="2367081" y="3886957"/>
            <a:ext cx="405201" cy="259731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2432507" y="3778891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③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5297870" y="3594683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5378372" y="4272637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④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5" name="TextBox 344"/>
          <p:cNvSpPr txBox="1"/>
          <p:nvPr/>
        </p:nvSpPr>
        <p:spPr>
          <a:xfrm>
            <a:off x="2599294" y="2651750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④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816192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설계 상세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[1안 기준] 이기종 메모리 특성이 Memory Backend I/F → Resource Manager → C1/C2 Decision 모듈로 전달되는 경로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HBM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14300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01168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ScHBM / Custom HBM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78892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65760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DRAM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43484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530352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CXL-PNM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80759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94944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HBF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726679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859536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SSD / SSD-PIM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37260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10241280" y="1097280"/>
            <a:ext cx="1554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C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+ New (신규 memory)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01852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1463040"/>
            <a:ext cx="11457432" cy="822959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1463040"/>
            <a:ext cx="45720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Malgun Gothic"/>
                <a:ea typeface="Malgun Gothic"/>
              </a:rPr>
              <a:t>Common Memory Backend I/F  (Plug-in contract)  — decision plane에는 은닉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1719072"/>
            <a:ext cx="29718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④ health / lifecycle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health() · register/unregister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→ RESOURCE_CHANGED event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0" y="1719072"/>
            <a:ext cx="21945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② MemoryTelemetry (dynamic)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used/free · BW util · queue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shared_link_util · throttle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1719072"/>
            <a:ext cx="21945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① MemoryDescriptor (static)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cap · ext/int BW · latency · hops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gpu_reachable · primitives · flags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1719072"/>
            <a:ext cx="3291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③ MemoryTransferBinding + staging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handler_key · est_transfer_bw/setup · constraints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export_async / import_async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809524"/>
            <a:ext cx="1234440" cy="1015349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FFFFFF"/>
                </a:solidFill>
                <a:latin typeface="Malgun Gothic"/>
                <a:ea typeface="Malgun Gothic"/>
              </a:rPr>
              <a:t>Runtime Event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alloc / free / access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telemetry / pressure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RESOURCE_CHANGED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/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↓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Migration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Scheduler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(async dispatch)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14400" y="2286000"/>
            <a:ext cx="0" cy="523524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60120" y="2331720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⑦ RESOURCE_CHANGED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60520" y="2809524"/>
            <a:ext cx="3886200" cy="3088355"/>
          </a:xfrm>
          <a:prstGeom prst="rect">
            <a:avLst/>
          </a:prstGeom>
          <a:solidFill>
            <a:srgbClr val="FFF8EC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06240" y="2809524"/>
            <a:ext cx="9144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Resource Manager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0" y="2978749"/>
            <a:ext cx="2651760" cy="287682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Telemetry Collector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0" y="3401811"/>
            <a:ext cx="3063240" cy="287682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ResourceSnapshot (immutable, per decision cycle)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51960" y="3782568"/>
            <a:ext cx="3703320" cy="2030699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Memory Registry  (= MemoryBackendRegistry)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5080" y="4121017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register 시 descriptor·binding 캐시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55080" y="4264859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tier_order() / capability class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55080" y="4408700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list(CapabilityFilter)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52541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 · transfer est. cost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120640" y="2231136"/>
            <a:ext cx="0" cy="747613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166360" y="2741834"/>
            <a:ext cx="14630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⑥ pull / subscribe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680960" y="2231136"/>
            <a:ext cx="0" cy="1551432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26679" y="2978749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⑤ register 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26679" y="3105668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descriptor/binding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943600" y="3266431"/>
            <a:ext cx="0" cy="13538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828800" y="2767218"/>
            <a:ext cx="19202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750" b="1">
                <a:solidFill>
                  <a:srgbClr val="404040"/>
                </a:solidFill>
                <a:latin typeface="Malgun Gothic"/>
                <a:ea typeface="Malgun Gothic"/>
              </a:rPr>
              <a:t>C1  Resource State-driven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28800" y="2936443"/>
            <a:ext cx="1920240" cy="3046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Resource-based Trend Analyzer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28800" y="3359505"/>
            <a:ext cx="1920240" cy="3046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 State Monitor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0" y="3909486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Data Eviction Manager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(victim candidates)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828800" y="4374855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Destination Tier Selector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28800" y="4840224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Data Selector</a:t>
            </a:r>
          </a:p>
        </p:txBody>
      </p:sp>
      <p:cxnSp>
        <p:nvCxnSpPr>
          <p:cNvPr id="102" name="Connector 101"/>
          <p:cNvCxnSpPr/>
          <p:nvPr/>
        </p:nvCxnSpPr>
        <p:spPr>
          <a:xfrm flipV="1">
            <a:off x="2788920" y="3241048"/>
            <a:ext cx="0" cy="118457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88920" y="3664110"/>
            <a:ext cx="0" cy="245376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4247936"/>
            <a:ext cx="0" cy="126919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691640" y="3088745"/>
            <a:ext cx="137160" cy="0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1640" y="3088745"/>
            <a:ext cx="0" cy="1455335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91640" y="4544080"/>
            <a:ext cx="13716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788920" y="4713305"/>
            <a:ext cx="0" cy="126919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600200" y="3511808"/>
            <a:ext cx="22860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1572768" y="3342583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5760" y="3867180"/>
            <a:ext cx="1234440" cy="465368"/>
          </a:xfrm>
          <a:prstGeom prst="rect">
            <a:avLst/>
          </a:prstGeom>
          <a:solidFill>
            <a:srgbClr val="E3F1E3"/>
          </a:solidFill>
          <a:ln w="12700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Data Object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Registry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(type-agnostic)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600200" y="4095634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274320" y="4332549"/>
            <a:ext cx="14630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object query: loc/size/tier/replica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3749039" y="3088745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767328" y="2919520"/>
            <a:ext cx="457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history</a:t>
            </a:r>
          </a:p>
        </p:txBody>
      </p:sp>
      <p:cxnSp>
        <p:nvCxnSpPr>
          <p:cNvPr id="116" name="Connector 115"/>
          <p:cNvCxnSpPr/>
          <p:nvPr/>
        </p:nvCxnSpPr>
        <p:spPr>
          <a:xfrm flipH="1">
            <a:off x="3749039" y="3511808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3767328" y="3342583"/>
            <a:ext cx="5029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ResourceState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3749039" y="4078711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4297680" y="3909486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tier_order · granularity · write_limited</a:t>
            </a:r>
          </a:p>
        </p:txBody>
      </p:sp>
      <p:cxnSp>
        <p:nvCxnSpPr>
          <p:cNvPr id="120" name="Connector 119"/>
          <p:cNvCxnSpPr/>
          <p:nvPr/>
        </p:nvCxnSpPr>
        <p:spPr>
          <a:xfrm flipH="1">
            <a:off x="3749039" y="4544080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4297680" y="4374855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CapabilityFilter · est_transfer_bw/setup · access_path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3749039" y="5009448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4297680" y="4840224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 · alignment · constraints</a:t>
            </a:r>
          </a:p>
        </p:txBody>
      </p:sp>
      <p:cxnSp>
        <p:nvCxnSpPr>
          <p:cNvPr id="124" name="Connector 123"/>
          <p:cNvCxnSpPr/>
          <p:nvPr/>
        </p:nvCxnSpPr>
        <p:spPr>
          <a:xfrm flipH="1">
            <a:off x="3931920" y="3613343"/>
            <a:ext cx="320040" cy="0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931920" y="3613343"/>
            <a:ext cx="0" cy="1032272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3749039" y="4645615"/>
            <a:ext cx="182881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3246120" y="4654076"/>
            <a:ext cx="7315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free capacity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49640" y="2767218"/>
            <a:ext cx="18288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750" b="1">
                <a:solidFill>
                  <a:srgbClr val="404040"/>
                </a:solidFill>
                <a:latin typeface="Malgun Gothic"/>
                <a:ea typeface="Malgun Gothic"/>
              </a:rPr>
              <a:t>C2  Behavior-driven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549640" y="2978749"/>
            <a:ext cx="1828800" cy="676899"/>
          </a:xfrm>
          <a:prstGeom prst="rect">
            <a:avLst/>
          </a:prstGeom>
          <a:solidFill>
            <a:srgbClr val="E6E0F4"/>
          </a:solidFill>
          <a:ln w="12700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Data Behavior Monitor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→ Behavior Trend Analyzer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→ Future Behavior Predictor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607040" y="3021055"/>
            <a:ext cx="914400" cy="592287"/>
          </a:xfrm>
          <a:prstGeom prst="rect">
            <a:avLst/>
          </a:prstGeom>
          <a:solidFill>
            <a:srgbClr val="E3F1E3"/>
          </a:solidFill>
          <a:ln w="12700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Data Object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Registry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(type-aware)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10378440" y="3317199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8549640" y="4417161"/>
            <a:ext cx="1828800" cy="719206"/>
          </a:xfrm>
          <a:prstGeom prst="rect">
            <a:avLst/>
          </a:prstGeom>
          <a:solidFill>
            <a:srgbClr val="E6E0F4"/>
          </a:solidFill>
          <a:ln w="12700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Destination Tier Selector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+ Migration Data Selector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9464040" y="3655649"/>
            <a:ext cx="0" cy="761512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9509760" y="3909486"/>
            <a:ext cx="9144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predicted behavior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1600200" y="2432304"/>
            <a:ext cx="78638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9464040" y="2432304"/>
            <a:ext cx="0" cy="546445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103120" y="2286000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 event push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7955279" y="4772534"/>
            <a:ext cx="59436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7973568" y="4611770"/>
            <a:ext cx="5943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cap·binding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7315200" y="3545653"/>
            <a:ext cx="1005840" cy="0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8321040" y="3545653"/>
            <a:ext cx="0" cy="1083039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8321040" y="4628692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8339327" y="4163324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free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39327" y="4264859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973568" y="4924836"/>
            <a:ext cx="5943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65760" y="5989320"/>
            <a:ext cx="11457432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" y="6016752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공통 Migration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6181344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Subsystem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37360" y="6080760"/>
            <a:ext cx="411480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Coordinator / Planner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(reserve · path · consistency · commit)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309360" y="6080760"/>
            <a:ext cx="201168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Executor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(queue · priority · BW budget)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686800" y="6080760"/>
            <a:ext cx="256032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TransferHandler Registry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direct handler / staged compose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5852160" y="6272784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8321040" y="6272784"/>
            <a:ext cx="36576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788920" y="5178673"/>
            <a:ext cx="0" cy="902087"/>
          </a:xfrm>
          <a:prstGeom prst="line">
            <a:avLst/>
          </a:prstGeom>
          <a:ln w="1778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2834640" y="5263286"/>
            <a:ext cx="155448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MigrationDecision→Intent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9464040" y="5136367"/>
            <a:ext cx="0" cy="761513"/>
          </a:xfrm>
          <a:prstGeom prst="line">
            <a:avLst/>
          </a:prstGeom>
          <a:ln w="1778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5120640" y="5897880"/>
            <a:ext cx="4343400" cy="0"/>
          </a:xfrm>
          <a:prstGeom prst="line">
            <a:avLst/>
          </a:prstGeom>
          <a:ln w="1778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120640" y="5897880"/>
            <a:ext cx="0" cy="182880"/>
          </a:xfrm>
          <a:prstGeom prst="line">
            <a:avLst/>
          </a:prstGeom>
          <a:ln w="1778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389120" y="5813267"/>
            <a:ext cx="0" cy="267493"/>
          </a:xfrm>
          <a:prstGeom prst="line">
            <a:avLst/>
          </a:prstGeom>
          <a:ln w="1143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4434840" y="5872496"/>
            <a:ext cx="64008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⑧ reserve/release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1247120" y="6163056"/>
            <a:ext cx="365760" cy="0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1612880" y="2231136"/>
            <a:ext cx="0" cy="393192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10287000" y="4840224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handler_key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87000" y="4958681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direct / staged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11247120" y="6364224"/>
            <a:ext cx="5486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1795760" y="2340864"/>
            <a:ext cx="0" cy="402336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6675120" y="2340864"/>
            <a:ext cx="51206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6675120" y="2340864"/>
            <a:ext cx="0" cy="637885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9601200" y="2377440"/>
            <a:ext cx="21031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observed BW / latency (feedback)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5760" y="4924836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700" b="1">
                <a:solidFill>
                  <a:srgbClr val="404040"/>
                </a:solidFill>
                <a:latin typeface="Malgun Gothic"/>
                <a:ea typeface="Malgun Gothic"/>
              </a:rPr>
              <a:t>범례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411480" y="5195596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914400" y="5110983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정보 조회 / 데이터 흐름</a:t>
            </a:r>
          </a:p>
        </p:txBody>
      </p:sp>
      <p:cxnSp>
        <p:nvCxnSpPr>
          <p:cNvPr id="173" name="Connector 172"/>
          <p:cNvCxnSpPr/>
          <p:nvPr/>
        </p:nvCxnSpPr>
        <p:spPr>
          <a:xfrm>
            <a:off x="411480" y="5364821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/>
          <p:cNvSpPr txBox="1"/>
          <p:nvPr/>
        </p:nvSpPr>
        <p:spPr>
          <a:xfrm>
            <a:off x="914400" y="5280208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 event / feedback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5517123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Resource Manager는 decision plane의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65760" y="5627120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read-only facade (Backend 직접 호출 없음)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설계 상세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[Affinity 반영안] 이기종 메모리 특성이 Memory Backend I/F → Resource Manager → C1/C2 Decision 모듈로 전달되는 경로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HBM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14300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01168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ScHBM / Custom HBM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78892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65760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DRAM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43484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530352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CXL-PNM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80759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94944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HBF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726679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8595360" y="1097280"/>
            <a:ext cx="1554480" cy="256032"/>
          </a:xfrm>
          <a:prstGeom prst="rect">
            <a:avLst/>
          </a:prstGeom>
          <a:solidFill>
            <a:srgbClr val="EDEDED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SSD / SSD-PIM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37260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10241280" y="1097280"/>
            <a:ext cx="1554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C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+ New (신규 memory)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018520" y="1353312"/>
            <a:ext cx="0" cy="109728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1463040"/>
            <a:ext cx="11457432" cy="822959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1463040"/>
            <a:ext cx="45720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Malgun Gothic"/>
                <a:ea typeface="Malgun Gothic"/>
              </a:rPr>
              <a:t>Common Memory Backend I/F  (Plug-in contract)  — decision plane에는 은닉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1719072"/>
            <a:ext cx="29718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④ health / lifecycle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health() · register/unregister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→ RESOURCE_CHANGED event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0" y="1719072"/>
            <a:ext cx="21945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② MemoryTelemetry (dynamic)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used/free · BW util · queue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shared_link_util · throttle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1719072"/>
            <a:ext cx="21945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① MemoryDescriptor (static)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cap · ext/int BW · latency · hops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gpu_reachable · primitives · flags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1719072"/>
            <a:ext cx="3291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③ MemoryTransferBinding + staging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handler_key · est_transfer_bw/setup · constraints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export_async / import_async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809524"/>
            <a:ext cx="1234440" cy="1015349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FFFFFF"/>
                </a:solidFill>
                <a:latin typeface="Malgun Gothic"/>
                <a:ea typeface="Malgun Gothic"/>
              </a:rPr>
              <a:t>Runtime Event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alloc / free / access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telemetry / pressure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RESOURCE_CHANGED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/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↓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Migration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Scheduler</a:t>
            </a:r>
          </a:p>
          <a:p>
            <a:pPr algn="ctr"/>
            <a:r>
              <a:rPr sz="650" b="0">
                <a:solidFill>
                  <a:srgbClr val="FFFFFF"/>
                </a:solidFill>
                <a:latin typeface="Malgun Gothic"/>
                <a:ea typeface="Malgun Gothic"/>
              </a:rPr>
              <a:t>(async dispatch)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14400" y="2286000"/>
            <a:ext cx="0" cy="523524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60120" y="2331720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⑦ RESOURCE_CHANGED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60520" y="2809524"/>
            <a:ext cx="3886200" cy="3088355"/>
          </a:xfrm>
          <a:prstGeom prst="rect">
            <a:avLst/>
          </a:prstGeom>
          <a:solidFill>
            <a:srgbClr val="FFF8EC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06240" y="2809524"/>
            <a:ext cx="9144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Resource Manager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0" y="2978749"/>
            <a:ext cx="2651760" cy="287682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50" b="1">
                <a:solidFill>
                  <a:srgbClr val="1A1A1A"/>
                </a:solidFill>
                <a:latin typeface="Malgun Gothic"/>
                <a:ea typeface="Malgun Gothic"/>
              </a:rPr>
              <a:t>Telemetry Collector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0" y="3401811"/>
            <a:ext cx="3063240" cy="287682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ResourceSnapshot (immutable, per decision cycle)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51960" y="3782568"/>
            <a:ext cx="3703320" cy="2030699"/>
          </a:xfrm>
          <a:prstGeom prst="rect">
            <a:avLst/>
          </a:prstGeom>
          <a:solidFill>
            <a:srgbClr val="FDEBD3"/>
          </a:solidFill>
          <a:ln w="12700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Memory Registry  (= MemoryBackendRegistry)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5080" y="4121017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register 시 descriptor·binding 캐시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55080" y="4264859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tier_order() / capability class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55080" y="4408700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list(CapabilityFilter)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52541"/>
            <a:ext cx="1600200" cy="155448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 · transfer est. cost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120640" y="2231136"/>
            <a:ext cx="0" cy="747613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166360" y="2741834"/>
            <a:ext cx="14630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⑥ pull / subscribe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680960" y="2231136"/>
            <a:ext cx="0" cy="1551432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26679" y="2978749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0">
                <a:solidFill>
                  <a:srgbClr val="404040"/>
                </a:solidFill>
                <a:latin typeface="Malgun Gothic"/>
                <a:ea typeface="Malgun Gothic"/>
              </a:rPr>
              <a:t>⑤ register 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26679" y="3105668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descriptor/binding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943600" y="3266431"/>
            <a:ext cx="0" cy="13538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828800" y="2767218"/>
            <a:ext cx="19202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750" b="1">
                <a:solidFill>
                  <a:srgbClr val="404040"/>
                </a:solidFill>
                <a:latin typeface="Malgun Gothic"/>
                <a:ea typeface="Malgun Gothic"/>
              </a:rPr>
              <a:t>C1  Resource State-driven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28800" y="2936443"/>
            <a:ext cx="1920240" cy="3046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Resource-based Trend Analyzer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28800" y="3359505"/>
            <a:ext cx="1920240" cy="3046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Resource State Monitor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0" y="3909486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Data Eviction Manager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(victim candidates)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828800" y="4374855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Data-Memory Affinity Mapper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(static hint)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28800" y="4840224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Destination Tier Selector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28800" y="5305592"/>
            <a:ext cx="1920240" cy="338449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Data Selector</a:t>
            </a:r>
          </a:p>
        </p:txBody>
      </p:sp>
      <p:cxnSp>
        <p:nvCxnSpPr>
          <p:cNvPr id="103" name="Connector 102"/>
          <p:cNvCxnSpPr/>
          <p:nvPr/>
        </p:nvCxnSpPr>
        <p:spPr>
          <a:xfrm flipV="1">
            <a:off x="2788920" y="3241048"/>
            <a:ext cx="0" cy="118457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88920" y="3664110"/>
            <a:ext cx="0" cy="245376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788920" y="4247936"/>
            <a:ext cx="0" cy="126919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691640" y="3088745"/>
            <a:ext cx="137160" cy="0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91640" y="3088745"/>
            <a:ext cx="0" cy="1455335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691640" y="4544080"/>
            <a:ext cx="13716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788920" y="4713305"/>
            <a:ext cx="0" cy="126919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88920" y="5178673"/>
            <a:ext cx="0" cy="126919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600200" y="3511808"/>
            <a:ext cx="22860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572768" y="3342583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3867180"/>
            <a:ext cx="1234440" cy="465368"/>
          </a:xfrm>
          <a:prstGeom prst="rect">
            <a:avLst/>
          </a:prstGeom>
          <a:solidFill>
            <a:srgbClr val="E3F1E3"/>
          </a:solidFill>
          <a:ln w="12700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Data Object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Registry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(type-agnostic)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600200" y="4095634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274320" y="4332549"/>
            <a:ext cx="146304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object query: loc/size/tier/replica</a:t>
            </a:r>
          </a:p>
        </p:txBody>
      </p:sp>
      <p:cxnSp>
        <p:nvCxnSpPr>
          <p:cNvPr id="116" name="Connector 115"/>
          <p:cNvCxnSpPr/>
          <p:nvPr/>
        </p:nvCxnSpPr>
        <p:spPr>
          <a:xfrm flipH="1">
            <a:off x="3749039" y="3088745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3767328" y="2919520"/>
            <a:ext cx="457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history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3749039" y="3511808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3767328" y="3342583"/>
            <a:ext cx="5029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ResourceState</a:t>
            </a:r>
          </a:p>
        </p:txBody>
      </p:sp>
      <p:cxnSp>
        <p:nvCxnSpPr>
          <p:cNvPr id="120" name="Connector 119"/>
          <p:cNvCxnSpPr/>
          <p:nvPr/>
        </p:nvCxnSpPr>
        <p:spPr>
          <a:xfrm flipH="1">
            <a:off x="3749039" y="4078711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4297680" y="3909486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tier_order · granularity · write_limited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3749039" y="4544080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4297680" y="4374855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capability_flags ↔ affinity table(capability class)</a:t>
            </a:r>
          </a:p>
        </p:txBody>
      </p:sp>
      <p:cxnSp>
        <p:nvCxnSpPr>
          <p:cNvPr id="124" name="Connector 123"/>
          <p:cNvCxnSpPr/>
          <p:nvPr/>
        </p:nvCxnSpPr>
        <p:spPr>
          <a:xfrm flipH="1">
            <a:off x="3749039" y="5009448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4297680" y="4840224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CapabilityFilter · est_transfer_bw/setup · access_path</a:t>
            </a:r>
          </a:p>
        </p:txBody>
      </p:sp>
      <p:cxnSp>
        <p:nvCxnSpPr>
          <p:cNvPr id="126" name="Connector 125"/>
          <p:cNvCxnSpPr/>
          <p:nvPr/>
        </p:nvCxnSpPr>
        <p:spPr>
          <a:xfrm flipH="1">
            <a:off x="3749039" y="5474817"/>
            <a:ext cx="50292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4297680" y="5305592"/>
            <a:ext cx="27432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 · alignment · constraints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3931920" y="3613343"/>
            <a:ext cx="320040" cy="0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931920" y="3613343"/>
            <a:ext cx="0" cy="1497640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749039" y="5110983"/>
            <a:ext cx="182881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3246120" y="5119445"/>
            <a:ext cx="7315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free capacity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49640" y="2767218"/>
            <a:ext cx="18288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/>
            <a:r>
              <a:rPr sz="750" b="1">
                <a:solidFill>
                  <a:srgbClr val="404040"/>
                </a:solidFill>
                <a:latin typeface="Malgun Gothic"/>
                <a:ea typeface="Malgun Gothic"/>
              </a:rPr>
              <a:t>C2  Behavior-driven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549640" y="2978749"/>
            <a:ext cx="1828800" cy="676899"/>
          </a:xfrm>
          <a:prstGeom prst="rect">
            <a:avLst/>
          </a:prstGeom>
          <a:solidFill>
            <a:srgbClr val="E6E0F4"/>
          </a:solidFill>
          <a:ln w="12700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Data Behavior Monitor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→ Behavior Trend Analyzer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→ Future Behavior Predictor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607040" y="3021055"/>
            <a:ext cx="914400" cy="592287"/>
          </a:xfrm>
          <a:prstGeom prst="rect">
            <a:avLst/>
          </a:prstGeom>
          <a:solidFill>
            <a:srgbClr val="E3F1E3"/>
          </a:solidFill>
          <a:ln w="12700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650" b="1">
                <a:solidFill>
                  <a:srgbClr val="1A1A1A"/>
                </a:solidFill>
                <a:latin typeface="Malgun Gothic"/>
                <a:ea typeface="Malgun Gothic"/>
              </a:rPr>
              <a:t>Data Object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Registry</a:t>
            </a:r>
          </a:p>
          <a:p>
            <a:pPr algn="ctr"/>
            <a:r>
              <a:rPr sz="650" b="0">
                <a:solidFill>
                  <a:srgbClr val="1A1A1A"/>
                </a:solidFill>
                <a:latin typeface="Malgun Gothic"/>
                <a:ea typeface="Malgun Gothic"/>
              </a:rPr>
              <a:t>(type-aware)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10378440" y="3317199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549640" y="4417161"/>
            <a:ext cx="1828800" cy="719206"/>
          </a:xfrm>
          <a:prstGeom prst="rect">
            <a:avLst/>
          </a:prstGeom>
          <a:solidFill>
            <a:srgbClr val="E6E0F4"/>
          </a:solidFill>
          <a:ln w="12700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Destination Tier Selector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+ Migration Data Selector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9464040" y="3655649"/>
            <a:ext cx="0" cy="761512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9509760" y="3909486"/>
            <a:ext cx="9144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predicted behavior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1600200" y="2432304"/>
            <a:ext cx="78638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9464040" y="2432304"/>
            <a:ext cx="0" cy="546445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2103120" y="2286000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 event push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7955279" y="4772534"/>
            <a:ext cx="594361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7973568" y="4611770"/>
            <a:ext cx="5943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cap·binding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315200" y="3545653"/>
            <a:ext cx="1005840" cy="0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8321040" y="3545653"/>
            <a:ext cx="0" cy="1083039"/>
          </a:xfrm>
          <a:prstGeom prst="line">
            <a:avLst/>
          </a:prstGeom>
          <a:ln w="1016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8321040" y="4628692"/>
            <a:ext cx="228600" cy="0"/>
          </a:xfrm>
          <a:prstGeom prst="line">
            <a:avLst/>
          </a:prstGeom>
          <a:ln w="1016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339327" y="4163324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free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39327" y="4264859"/>
            <a:ext cx="3657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cap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973568" y="4924836"/>
            <a:ext cx="5943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granularity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5989320"/>
            <a:ext cx="11457432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11480" y="6016752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공통 Migration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11480" y="6181344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50" b="1">
                <a:solidFill>
                  <a:srgbClr val="404040"/>
                </a:solidFill>
                <a:latin typeface="Malgun Gothic"/>
                <a:ea typeface="Malgun Gothic"/>
              </a:rPr>
              <a:t>Subsystem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737360" y="6080760"/>
            <a:ext cx="411480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Coordinator / Planner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(reserve · path · consistency · commit)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6080760"/>
            <a:ext cx="201168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Migration Executor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(queue · priority · BW budget)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686800" y="6080760"/>
            <a:ext cx="2560320" cy="384047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700" b="1">
                <a:solidFill>
                  <a:srgbClr val="1A1A1A"/>
                </a:solidFill>
                <a:latin typeface="Malgun Gothic"/>
                <a:ea typeface="Malgun Gothic"/>
              </a:rPr>
              <a:t>TransferHandler Registry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Malgun Gothic"/>
                <a:ea typeface="Malgun Gothic"/>
              </a:rPr>
              <a:t>direct handler / staged compose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852160" y="6272784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8321040" y="6272784"/>
            <a:ext cx="36576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788920" y="5644042"/>
            <a:ext cx="0" cy="436718"/>
          </a:xfrm>
          <a:prstGeom prst="line">
            <a:avLst/>
          </a:prstGeom>
          <a:ln w="1778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2834640" y="5728655"/>
            <a:ext cx="155448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MigrationDecision→Intent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9464040" y="5136367"/>
            <a:ext cx="0" cy="761513"/>
          </a:xfrm>
          <a:prstGeom prst="line">
            <a:avLst/>
          </a:prstGeom>
          <a:ln w="1778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5120640" y="5897880"/>
            <a:ext cx="4343400" cy="0"/>
          </a:xfrm>
          <a:prstGeom prst="line">
            <a:avLst/>
          </a:prstGeom>
          <a:ln w="1778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120640" y="5897880"/>
            <a:ext cx="0" cy="182880"/>
          </a:xfrm>
          <a:prstGeom prst="line">
            <a:avLst/>
          </a:prstGeom>
          <a:ln w="1778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389120" y="5813267"/>
            <a:ext cx="0" cy="267493"/>
          </a:xfrm>
          <a:prstGeom prst="line">
            <a:avLst/>
          </a:prstGeom>
          <a:ln w="11430">
            <a:solidFill>
              <a:srgbClr val="404040"/>
            </a:solidFill>
            <a:tailEnd type="triangle" w="sm" len="sm"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4434840" y="5872496"/>
            <a:ext cx="64008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⑧ reserve/release</a:t>
            </a:r>
          </a:p>
        </p:txBody>
      </p:sp>
      <p:cxnSp>
        <p:nvCxnSpPr>
          <p:cNvPr id="165" name="Connector 164"/>
          <p:cNvCxnSpPr/>
          <p:nvPr/>
        </p:nvCxnSpPr>
        <p:spPr>
          <a:xfrm>
            <a:off x="11247120" y="6163056"/>
            <a:ext cx="365760" cy="0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1612880" y="2231136"/>
            <a:ext cx="0" cy="393192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10287000" y="4840224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handler_key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287000" y="4958681"/>
            <a:ext cx="12801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r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direct / staged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1247120" y="6364224"/>
            <a:ext cx="5486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1795760" y="2340864"/>
            <a:ext cx="0" cy="402336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6675120" y="2340864"/>
            <a:ext cx="512064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6675120" y="2340864"/>
            <a:ext cx="0" cy="637885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9601200" y="2377440"/>
            <a:ext cx="210312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observed BW / latency (feedback)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65760" y="4924836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700" b="1">
                <a:solidFill>
                  <a:srgbClr val="404040"/>
                </a:solidFill>
                <a:latin typeface="Malgun Gothic"/>
                <a:ea typeface="Malgun Gothic"/>
              </a:rPr>
              <a:t>범례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411480" y="5195596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914400" y="5110983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정보 조회 / 데이터 흐름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411480" y="5364821"/>
            <a:ext cx="457200" cy="0"/>
          </a:xfrm>
          <a:prstGeom prst="line">
            <a:avLst/>
          </a:prstGeom>
          <a:ln w="12700">
            <a:solidFill>
              <a:srgbClr val="404040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914400" y="5280208"/>
            <a:ext cx="82296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async event / feedback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5517123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Resource Manager는 decision plane의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5627120"/>
            <a:ext cx="1371600" cy="182880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/>
            <a:r>
              <a:rPr sz="600" b="0">
                <a:solidFill>
                  <a:srgbClr val="404040"/>
                </a:solidFill>
                <a:latin typeface="Malgun Gothic"/>
                <a:ea typeface="Malgun Gothic"/>
              </a:rPr>
              <a:t>read-only facade (Backend 직접 호출 없음)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
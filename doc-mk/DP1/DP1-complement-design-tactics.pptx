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650" r:id="rId2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006" autoAdjust="0"/>
    <p:restoredTop sz="94660"/>
  </p:normalViewPr>
  <p:slideViewPr>
    <p:cSldViewPr snapToGrid="0">
      <p:cViewPr varScale="1">
        <p:scale>
          <a:sx n="90" d="100"/>
          <a:sy n="90" d="100"/>
        </p:scale>
        <p:origin x="13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5F5D58-863F-4F8A-9CDC-0AFD97F68163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F56981-8A65-4F3E-9859-015D93710B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73943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ECF88C4-AEBB-48AA-B70A-6EC491E392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63297DB7-7C40-42BC-80A5-FD747209EC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A048312-3256-4A93-9D36-F08331526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01D4BCC-BBCA-4118-AA23-404F01C670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7404850-FD27-4423-8869-67E4CBE645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014729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9FEFC4-2952-42C6-BE71-DBD052AC5C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F5EFE10-E3FB-47F4-8033-A860CB3DB3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BB3FAB0-5711-4C00-B7AB-8100C870E2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686A56D-3130-42FB-824E-0B3016658A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9E7EEAE-7123-47AC-9A56-D0B2F66AFA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04181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5B76C3-9A1E-497D-A2EB-ED6820D521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0060CE8-6710-4FF3-934C-0ACEEC8CD0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FEBAE3C-55FA-4F75-B99C-BAB54592E8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24E5002-A22E-4FF6-9BFE-E0AA83558E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1119500-EA4E-4B8A-B440-FABCFDB98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082738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0F0C29-EA40-44DC-B84D-A6D4CD7C8D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9ABF545-1B61-4740-899B-8C353F38AF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F40A9B-2F7D-47E8-B2EF-9B53B5A76C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DE563D1-151A-4BA0-A1D5-890E66FB3D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2FCA36F-249F-4A97-9C45-E6C5825E9F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F8FC145-E980-44EC-B197-3710B32A8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1310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434856-F92B-4894-AB6C-7ABF84D5CA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A3618AD-0A52-4862-944F-F2327F7DAE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D8ED2E3-4562-47AE-8AD8-2446BF0290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3EAED75-044E-40D8-B474-24A15D6E9C4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EAAC5C1B-F86A-475B-9398-00FDD01C59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458F03C6-988B-4EEB-8ADB-6F8F290932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2369998B-E067-4834-94B4-BB8DFF7E40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34CD66B5-71E0-4F15-8A13-CC9B61F232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14162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C094E7-7B2F-43E3-AE38-2F6858827C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516DBD5-0087-4D39-B73F-381E96627D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32F6697-2541-4401-A80C-156513D2A4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568EA56-5214-45F8-9874-35DA5B4281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0270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07B5D05-1EB0-4B84-A4EA-3D6DCA7244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02E19244-B07B-4893-9945-50E051075C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D95CF3-FA20-404B-A3F9-3C62331D3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6773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ACD6F9-3720-460B-9571-4A160B8FB9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A60710D-C685-4F47-A667-97E1308CD3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464C01F-08F5-4FFF-873C-7EF969446E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2B0C87D-E82D-4707-BC8F-982AA497E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6101179-413D-4B0D-91AE-0EAEFF447E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9D5D949-E6E5-4EBD-882A-E572AF688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08341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29C5D6-4E48-4907-9077-C21FC14586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0F182103-419E-4630-A11D-276422A83A5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CDB647B-BD9F-4F19-BA7B-5278BE6FFE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FB0F1D0-4D11-423F-BE06-ADC97BF9B7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06751E5-2CED-4DA3-86A7-13AB7485AD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FA6F829-E3E6-4CAC-A997-F0BFA61917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55719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A5E6D9-4DA1-4FF3-B9CD-6107ABDB01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86E7429-0C4A-45A9-8750-5FC7BBAF60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57D54CF-A3A4-4A54-9CAF-737F6D2A9E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55B9C34-27EB-4D1C-BA42-70A6C5E975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6D49AF7-E8AA-433E-853F-AB9618B3E5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012619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CC1CA7D7-EF8A-4259-B5D4-2ECA35B16A8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4172DE0-808E-4E27-A7FC-6FCE852D29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B9FA54A-0512-4F37-8144-DC509519C2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E5530AA-7D8D-40D1-8B5A-714DAEC05F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DA65708-83E1-4B4A-8091-CBF555ABF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609204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직선 연결선 11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889C64-266A-4D07-AD8F-5B592E61CCE1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cxnSp>
        <p:nvCxnSpPr>
          <p:cNvPr id="20" name="직선 연결선 19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제목 개체 틀 1"/>
          <p:cNvSpPr>
            <a:spLocks noGrp="1"/>
          </p:cNvSpPr>
          <p:nvPr>
            <p:ph type="title"/>
          </p:nvPr>
        </p:nvSpPr>
        <p:spPr>
          <a:xfrm>
            <a:off x="234948" y="137379"/>
            <a:ext cx="7655985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 sz="18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BF6FB25F-7B1E-410A-903C-9DE680EED1C3}"/>
              </a:ext>
            </a:extLst>
          </p:cNvPr>
          <p:cNvGrpSpPr/>
          <p:nvPr userDrawn="1"/>
        </p:nvGrpSpPr>
        <p:grpSpPr>
          <a:xfrm>
            <a:off x="7995393" y="137379"/>
            <a:ext cx="4006094" cy="357521"/>
            <a:chOff x="7522576" y="137379"/>
            <a:chExt cx="4478924" cy="357521"/>
          </a:xfrm>
        </p:grpSpPr>
        <p:sp>
          <p:nvSpPr>
            <p:cNvPr id="22" name="갈매기형 수장 21"/>
            <p:cNvSpPr/>
            <p:nvPr userDrawn="1"/>
          </p:nvSpPr>
          <p:spPr>
            <a:xfrm>
              <a:off x="7522576" y="137379"/>
              <a:ext cx="1031887" cy="357521"/>
            </a:xfrm>
            <a:prstGeom prst="chevron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과제 소개</a:t>
              </a:r>
            </a:p>
          </p:txBody>
        </p:sp>
        <p:sp>
          <p:nvSpPr>
            <p:cNvPr id="23" name="갈매기형 수장 22"/>
            <p:cNvSpPr/>
            <p:nvPr userDrawn="1"/>
          </p:nvSpPr>
          <p:spPr>
            <a:xfrm>
              <a:off x="84150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요구사항</a:t>
              </a:r>
            </a:p>
          </p:txBody>
        </p:sp>
        <p:sp>
          <p:nvSpPr>
            <p:cNvPr id="25" name="갈매기형 수장 24"/>
            <p:cNvSpPr/>
            <p:nvPr userDrawn="1"/>
          </p:nvSpPr>
          <p:spPr>
            <a:xfrm>
              <a:off x="9313975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설계</a:t>
              </a:r>
            </a:p>
          </p:txBody>
        </p:sp>
        <p:sp>
          <p:nvSpPr>
            <p:cNvPr id="26" name="갈매기형 수장 25"/>
            <p:cNvSpPr/>
            <p:nvPr userDrawn="1"/>
          </p:nvSpPr>
          <p:spPr>
            <a:xfrm>
              <a:off x="102064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구현</a:t>
              </a:r>
              <a:r>
                <a:rPr lang="en-US" altLang="ko-KR" sz="1000" b="1" dirty="0">
                  <a:solidFill>
                    <a:schemeClr val="bg1"/>
                  </a:solidFill>
                </a:rPr>
                <a:t>/</a:t>
              </a:r>
              <a:r>
                <a:rPr lang="ko-KR" altLang="en-US" sz="1000" b="1" dirty="0">
                  <a:solidFill>
                    <a:schemeClr val="bg1"/>
                  </a:solidFill>
                </a:rPr>
                <a:t>검증</a:t>
              </a:r>
            </a:p>
          </p:txBody>
        </p:sp>
        <p:sp>
          <p:nvSpPr>
            <p:cNvPr id="27" name="갈매기형 수장 26"/>
            <p:cNvSpPr/>
            <p:nvPr userDrawn="1"/>
          </p:nvSpPr>
          <p:spPr>
            <a:xfrm>
              <a:off x="11105815" y="137379"/>
              <a:ext cx="892483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결론</a:t>
              </a:r>
            </a:p>
          </p:txBody>
        </p:sp>
        <p:sp>
          <p:nvSpPr>
            <p:cNvPr id="29" name="직사각형 28"/>
            <p:cNvSpPr/>
            <p:nvPr userDrawn="1"/>
          </p:nvSpPr>
          <p:spPr>
            <a:xfrm>
              <a:off x="11789373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>
                <a:solidFill>
                  <a:schemeClr val="bg1"/>
                </a:solidFill>
              </a:endParaRPr>
            </a:p>
          </p:txBody>
        </p:sp>
        <p:sp>
          <p:nvSpPr>
            <p:cNvPr id="30" name="직사각형 29"/>
            <p:cNvSpPr/>
            <p:nvPr userDrawn="1"/>
          </p:nvSpPr>
          <p:spPr>
            <a:xfrm>
              <a:off x="7528835" y="137379"/>
              <a:ext cx="212127" cy="357521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2" name="TextBox 1"/>
          <p:cNvSpPr txBox="1"/>
          <p:nvPr userDrawn="1"/>
        </p:nvSpPr>
        <p:spPr>
          <a:xfrm>
            <a:off x="5975555" y="6563925"/>
            <a:ext cx="4706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bg1">
                    <a:lumMod val="50000"/>
                  </a:schemeClr>
                </a:solidFill>
              </a:rPr>
              <a:t>/ 23</a:t>
            </a:r>
            <a:endParaRPr lang="ko-KR" altLang="en-US" sz="12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5234217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직선 연결선 5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 userDrawn="1"/>
        </p:nvSpPr>
        <p:spPr>
          <a:xfrm>
            <a:off x="184150" y="145018"/>
            <a:ext cx="6762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CONTENTS</a:t>
            </a:r>
            <a:endParaRPr lang="ko-KR" altLang="en-US" b="1" dirty="0"/>
          </a:p>
        </p:txBody>
      </p:sp>
      <p:cxnSp>
        <p:nvCxnSpPr>
          <p:cNvPr id="9" name="직선 연결선 8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/>
          <p:cNvSpPr/>
          <p:nvPr userDrawn="1"/>
        </p:nvSpPr>
        <p:spPr>
          <a:xfrm>
            <a:off x="11118522" y="118329"/>
            <a:ext cx="953810" cy="4023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</a:rPr>
              <a:t>SAMSUNG</a:t>
            </a:r>
          </a:p>
          <a:p>
            <a:pPr algn="ctr"/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</a:rPr>
              <a:t>Confidential</a:t>
            </a:r>
            <a:endParaRPr lang="ko-KR" altLang="en-US" sz="11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468446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C1132D1B-70AA-4E48-9B44-5AE4F7E8A4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9A4856-08FE-4CE2-9ED9-6E66C5593A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D928EB7-8F03-43F3-80F0-A76E71294B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04DC83A-1332-4811-A9B3-C4957D3F819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A4A231-6D85-4740-B10F-E9C466D274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80553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31530" cy="365125"/>
          </a:xfrm>
        </p:spPr>
        <p:txBody>
          <a:bodyPr/>
          <a:lstStyle/>
          <a:p>
            <a:r>
              <a:rPr lang="en-US" altLang="ko-KR" dirty="0"/>
              <a:t>DP1. 이기종 메모리 기반 Data Migration 구조 - Appendix</a:t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1143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DP1 보완 설계 택틱 - 제안 (선택 구조 C2 기준)</a:t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9</a:t>
            </a:fld>
            <a:endParaRPr lang="ko-KR" altLang="en-US" dirty="0"/>
          </a:p>
        </p:txBody>
      </p:sp>
      <p:sp>
        <p:nvSpPr>
          <p:cNvPr id="58" name="Rectangle 57"/>
          <p:cNvSpPr/>
          <p:nvPr/>
        </p:nvSpPr>
        <p:spPr>
          <a:xfrm>
            <a:off x="365760" y="1097280"/>
            <a:ext cx="411480" cy="310896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  <a:ea typeface="맑은 고딕"/>
              </a:rPr>
              <a:t>#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7240" y="1097280"/>
            <a:ext cx="2926080" cy="310896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  <a:ea typeface="맑은 고딕"/>
              </a:rPr>
              <a:t>약점 (평가 근거)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703320" y="1097280"/>
            <a:ext cx="4572000" cy="310896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  <a:ea typeface="맑은 고딕"/>
              </a:rPr>
              <a:t>보완 택틱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275320" y="1097280"/>
            <a:ext cx="914400" cy="310896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  <a:ea typeface="맑은 고딕"/>
              </a:rPr>
              <a:t>개선 QA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189720" y="1097280"/>
            <a:ext cx="2606040" cy="310896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  <a:ea typeface="맑은 고딕"/>
              </a:rPr>
              <a:t>검증 상태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65760" y="1463040"/>
            <a:ext cx="411480" cy="102412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W1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77240" y="1463040"/>
            <a:ext cx="292608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QA4: 신규 AI data class 추가 시 C2 module 3개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(C1 1개), 신규 memory는 선호 목록에 명시해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야 사용됨(C1은 코드 변경 없이 사용)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703320" y="1463040"/>
            <a:ext cx="4572000" cy="1024128"/>
          </a:xfrm>
          <a:prstGeom prst="rect">
            <a:avLst/>
          </a:prstGeom>
          <a:solidFill>
            <a:srgbClr val="E6E0F4"/>
          </a:solidFill>
          <a:ln w="9525">
            <a:solidFill>
              <a:srgbClr val="7B66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T1 type 특성을 descriptor(데이터)로 외부화. descriptor가 없는 class는 type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-agnostic 경로로 처리 -&gt; 신규 type 추가 = descriptor 1개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275320" y="1463040"/>
            <a:ext cx="91440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QA4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189720" y="1463040"/>
            <a:ext cx="260604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[C] 논증, 미구현. 기대: 변경 module 3 -&gt; 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1~2 (미검증)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2542032"/>
            <a:ext cx="411480" cy="102412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W2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7240" y="2542032"/>
            <a:ext cx="292608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migration 비용: C2 1,339 GiB (C1 138), 링크 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점유 10.5% (C1 1.6%)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703320" y="2542032"/>
            <a:ext cx="4572000" cy="1024128"/>
          </a:xfrm>
          <a:prstGeom prst="rect">
            <a:avLst/>
          </a:prstGeom>
          <a:solidFill>
            <a:srgbClr val="E6E0F4"/>
          </a:solidFill>
          <a:ln w="9525">
            <a:solidFill>
              <a:srgbClr val="7B66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T2 link-time budget + 이득/비용 gating (simulator 적용). traffic class 우선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순위(demand &gt; prefetch &gt; demotion). replica가 있으면 DROP 우선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275320" y="2542032"/>
            <a:ext cx="91440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QA1 QA2</a:t>
            </a:r>
          </a:p>
        </p:txBody>
      </p:sp>
      <p:sp>
        <p:nvSpPr>
          <p:cNvPr id="72" name="Rectangle 71"/>
          <p:cNvSpPr/>
          <p:nvPr/>
        </p:nvSpPr>
        <p:spPr>
          <a:xfrm>
            <a:off x="9189720" y="2542032"/>
            <a:ext cx="260604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budget/gating [B] 적용. class 우선순위·D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ROP 우선은 [C]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65760" y="3621024"/>
            <a:ext cx="411480" cy="102412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W3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77240" y="3621024"/>
            <a:ext cx="292608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예측 의존: C2는 predictor가 틀리면 잘못된 mig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ration. 오차 e=0.6까지는 우위 유지(lognormal 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한 종류, 결과 4.6)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703320" y="3621024"/>
            <a:ext cx="4572000" cy="1024128"/>
          </a:xfrm>
          <a:prstGeom prst="rect">
            <a:avLst/>
          </a:prstGeom>
          <a:solidFill>
            <a:srgbClr val="E6E0F4"/>
          </a:solidFill>
          <a:ln w="9525">
            <a:solidFill>
              <a:srgbClr val="7B66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T3 신뢰도 gating (낮으면 C1의 resource-pressure 트리거로 대체) + 이득 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미실현 시 자동 중단(do-no-harm guard) + hysteresis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275320" y="3621024"/>
            <a:ext cx="91440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QA1 안정성</a:t>
            </a:r>
          </a:p>
        </p:txBody>
      </p:sp>
      <p:sp>
        <p:nvSpPr>
          <p:cNvPr id="77" name="Rectangle 76"/>
          <p:cNvSpPr/>
          <p:nvPr/>
        </p:nvSpPr>
        <p:spPr>
          <a:xfrm>
            <a:off x="9189720" y="3621024"/>
            <a:ext cx="260604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[C] 미구현. 실제 workload 이동 robustnes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s는 미확인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65760" y="4700016"/>
            <a:ext cx="411480" cy="102412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W4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7240" y="4700016"/>
            <a:ext cx="292608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decision overhead 111 ms/run (C1 3 ms). SLO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(초 단위) 영향은 작음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703320" y="4700016"/>
            <a:ext cx="4572000" cy="1024128"/>
          </a:xfrm>
          <a:prstGeom prst="rect">
            <a:avLst/>
          </a:prstGeom>
          <a:solidFill>
            <a:srgbClr val="E6E0F4"/>
          </a:solidFill>
          <a:ln w="9525">
            <a:solidFill>
              <a:srgbClr val="7B66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T4 event coalescing(구현), feature 점진 갱신, decision을 critical path 밖에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서 비동기 실행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275320" y="4700016"/>
            <a:ext cx="91440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QA2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189720" y="4700016"/>
            <a:ext cx="260604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coalescing [B], 나머지 [C]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65760" y="5824728"/>
            <a:ext cx="11430000" cy="68580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/>
            <a:r>
              <a:rPr sz="1000" b="1">
                <a:solidFill>
                  <a:srgbClr val="404040"/>
                </a:solidFill>
                <a:latin typeface="맑은 고딕"/>
                <a:ea typeface="맑은 고딕"/>
              </a:rPr>
              <a:t>적용 우선순위 제안: T1(QA4 직접 보완) &gt; T3(예측 의존 리스크) &gt; T2 잔여 항목 &gt; T4. T1, T3는 simulator 적용 전까지 효과를 수치로 주장하지 않는다.</a:t>
            </a:r>
          </a:p>
          <a:p>
            <a:pPr algn="l"/>
            <a:r>
              <a:rPr sz="1000" b="0">
                <a:solidFill>
                  <a:srgbClr val="404040"/>
                </a:solidFill>
                <a:latin typeface="맑은 고딕"/>
                <a:ea typeface="맑은 고딕"/>
              </a:rPr>
              <a:t>택틱은 C2 구조에 추가되는 module(Descriptor Registry, Confidence Gate, Do-no-harm Guard)로 표현할 수 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192</TotalTime>
  <Words>4205</Words>
  <Application>Microsoft Office PowerPoint</Application>
  <PresentationFormat>와이드스크린</PresentationFormat>
  <Paragraphs>786</Paragraphs>
  <Slides>17</Slides>
  <Notes>12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17</vt:i4>
      </vt:variant>
    </vt:vector>
  </HeadingPairs>
  <TitlesOfParts>
    <vt:vector size="23" baseType="lpstr">
      <vt:lpstr>Samsung Sharp Sans Bold</vt:lpstr>
      <vt:lpstr>맑은 고딕</vt:lpstr>
      <vt:lpstr>맑은 고딕</vt:lpstr>
      <vt:lpstr>Arial</vt:lpstr>
      <vt:lpstr>Wingdings</vt:lpstr>
      <vt:lpstr>Office 테마</vt:lpstr>
      <vt:lpstr>전체 DP 연결</vt:lpstr>
      <vt:lpstr>PowerPoint 프레젠테이션</vt:lpstr>
      <vt:lpstr>DP0. ~~- 배경</vt:lpstr>
      <vt:lpstr>DP0. ~~ - 배경</vt:lpstr>
      <vt:lpstr>DP0. ~~- 설계</vt:lpstr>
      <vt:lpstr>PowerPoint 프레젠테이션</vt:lpstr>
      <vt:lpstr>DP1. 이기종 메모리 기반 Data Migration 구조 - 배경</vt:lpstr>
      <vt:lpstr>DP1. 이기종 메모리 기반 Data Migration 구조 - 배경</vt:lpstr>
      <vt:lpstr>DP1. 이기종 메모리 기반 Data Migration 구조 - 설계</vt:lpstr>
      <vt:lpstr>DP1. 이기종 메모리 기반 Data Migration 구조 - 설계</vt:lpstr>
      <vt:lpstr>PowerPoint 프레젠테이션</vt:lpstr>
      <vt:lpstr>DP2. 이기종 메모리 환경의 Prefill 실행 위치 결정 구조 - 사전 지식</vt:lpstr>
      <vt:lpstr>DP2. 이기종 메모리 환경의 Prefill 실행 위치 결정 구조 - 배경</vt:lpstr>
      <vt:lpstr>DP2. 이기종 메모리 환경의 Prefill 실행 위치 결정 구조 - 설계</vt:lpstr>
      <vt:lpstr>PowerPoint 프레젠테이션</vt:lpstr>
      <vt:lpstr>DP3. Long Context를 위한 KV 캐시 압축 및 재사용 구조 – 배경 </vt:lpstr>
      <vt:lpstr>DP3. Long Context를 위한 KV 캐시 압축 및 재사용 구조 – 설계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DP1. 이기종 메모리 기반 Data Migration 구조 - 배경</dc:title>
  <dc:creator>SAMSUNG</dc:creator>
  <cp:lastModifiedBy>SAMSUNG</cp:lastModifiedBy>
  <cp:revision>9</cp:revision>
  <dcterms:created xsi:type="dcterms:W3CDTF">2026-10-01T14:27:36Z</dcterms:created>
  <dcterms:modified xsi:type="dcterms:W3CDTF">2026-10-01T17:40:33Z</dcterms:modified>
</cp:coreProperties>
</file>
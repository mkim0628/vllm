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6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CFBFF1-8289-4F44-A49E-DC50E313B338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57919-C994-45F7-8611-41E7C0BDE44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3932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C2</a:t>
            </a:r>
            <a:r>
              <a:rPr lang="ko-KR" altLang="en-US" dirty="0"/>
              <a:t>의 </a:t>
            </a:r>
            <a:r>
              <a:rPr lang="en-US" altLang="ko-KR" dirty="0"/>
              <a:t>runtime state monitor</a:t>
            </a:r>
            <a:r>
              <a:rPr lang="ko-KR" altLang="en-US" dirty="0"/>
              <a:t>에 대한 설명</a:t>
            </a:r>
            <a:endParaRPr lang="en-US" altLang="ko-KR" dirty="0"/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/>
              <a:t>“Data type label</a:t>
            </a:r>
            <a:r>
              <a:rPr lang="ko-KR" altLang="en-US" dirty="0"/>
              <a:t>만 가지고 배치한 것이 아니라</a:t>
            </a:r>
            <a:r>
              <a:rPr lang="en-US" altLang="ko-KR" dirty="0"/>
              <a:t>, object</a:t>
            </a:r>
            <a:r>
              <a:rPr lang="ko-KR" altLang="en-US" dirty="0"/>
              <a:t>별 </a:t>
            </a:r>
            <a:r>
              <a:rPr lang="en-US" altLang="ko-KR" dirty="0"/>
              <a:t>access event</a:t>
            </a:r>
            <a:r>
              <a:rPr lang="ko-KR" altLang="en-US" dirty="0"/>
              <a:t>를 </a:t>
            </a:r>
            <a:r>
              <a:rPr lang="en-US" altLang="ko-KR" dirty="0"/>
              <a:t>online</a:t>
            </a:r>
            <a:r>
              <a:rPr lang="ko-KR" altLang="en-US" dirty="0"/>
              <a:t>으로 수집하고 </a:t>
            </a:r>
            <a:r>
              <a:rPr lang="en-US" altLang="ko-KR" dirty="0"/>
              <a:t>access-rate EWMA, inter-access interval, idle duration, object age</a:t>
            </a:r>
            <a:r>
              <a:rPr lang="ko-KR" altLang="en-US" dirty="0"/>
              <a:t>를 관리했습니다</a:t>
            </a:r>
            <a:r>
              <a:rPr lang="en-US" altLang="ko-KR" dirty="0"/>
              <a:t>. Cold start</a:t>
            </a:r>
            <a:r>
              <a:rPr lang="ko-KR" altLang="en-US" dirty="0"/>
              <a:t>에서는 </a:t>
            </a:r>
            <a:r>
              <a:rPr lang="en-US" altLang="ko-KR" dirty="0"/>
              <a:t>data-class prior</a:t>
            </a:r>
            <a:r>
              <a:rPr lang="ko-KR" altLang="en-US" dirty="0"/>
              <a:t>를 사용하고 </a:t>
            </a:r>
            <a:r>
              <a:rPr lang="en-US" altLang="ko-KR" dirty="0"/>
              <a:t>observation</a:t>
            </a:r>
            <a:r>
              <a:rPr lang="ko-KR" altLang="en-US" dirty="0"/>
              <a:t>이 축적되면 </a:t>
            </a:r>
            <a:r>
              <a:rPr lang="en-US" altLang="ko-KR" dirty="0"/>
              <a:t>prior weight</a:t>
            </a:r>
            <a:r>
              <a:rPr lang="ko-KR" altLang="en-US" dirty="0"/>
              <a:t>를 </a:t>
            </a:r>
            <a:r>
              <a:rPr lang="en-US" altLang="ko-KR" dirty="0"/>
              <a:t>exponential decay</a:t>
            </a:r>
            <a:r>
              <a:rPr lang="ko-KR" altLang="en-US" dirty="0"/>
              <a:t>시켜 실제 </a:t>
            </a:r>
            <a:r>
              <a:rPr lang="en-US" altLang="ko-KR" dirty="0"/>
              <a:t>runtime behavior</a:t>
            </a:r>
            <a:r>
              <a:rPr lang="ko-KR" altLang="en-US" dirty="0"/>
              <a:t>가 </a:t>
            </a:r>
            <a:r>
              <a:rPr lang="en-US" altLang="ko-KR" dirty="0"/>
              <a:t>prediction</a:t>
            </a:r>
            <a:r>
              <a:rPr lang="ko-KR" altLang="en-US" dirty="0"/>
              <a:t>을 지배하도록 했습니다</a:t>
            </a:r>
            <a:r>
              <a:rPr lang="en-US" altLang="ko-KR" dirty="0"/>
              <a:t>.”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A8945-F465-465D-B259-7A4F968DC8D5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711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842BC9-7E09-4BD5-8590-2A2A9DF40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A9C80FB-A36F-49E6-9605-B5FFB39FA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60FE08-251B-40D7-BE64-87453A7EC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F286FF0-09AF-4B47-AC47-D3EC2C623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32FB4F-2FD5-47E9-BD57-FFE05427D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91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73F627-5421-4E7B-B8ED-2F404FA1F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2D0D73-727B-4CB3-B147-65C9C2EE32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C2E7A-9A28-4F6F-8C19-FEB24B72A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7496F0F-4F8E-43D1-A0EF-6A8996E94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F68DF9-5F26-4B5B-AF50-65F5FD05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719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D1364-E1E3-4FC4-BD62-2115E383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EEED35B-37DF-45AA-A474-95CA1D3B3A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6ED7A0-C25E-4661-A475-391DC975C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8800B1-993A-4EE0-A59F-D8171A6D0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EDA40C-3B02-4618-A6C0-F48224DC2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19677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CCCCDE-6B1A-4CEC-8E12-CFC95DB83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71A019-5A30-4594-845B-B912F3A28B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B4070F-4DF9-494C-AD57-9CD6779C73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5D3662-FCD6-4654-A5D7-45B6F7FBC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F2E0F62-AD2B-49D6-B9CB-550439367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775BB4D-FAA3-441C-97B3-676511840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1999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045CF-3D65-49FD-8279-3EDA02363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1DBE29-9044-4745-BB1D-AC9C5E618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EFE001-D3E1-43C1-A4E7-4BF3B1A199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99BB520-E279-44AC-A0EA-4BACB2686E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13399E3-0AF9-4376-B5C7-7C1F5E6BD1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FF811CF-2278-4B35-96EA-27FE20390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1BFEF65-7768-4B3E-BB36-444825339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8B4A810-1F28-44B6-8A16-B261CA40F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3153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001A1B-8E5D-469C-B5B4-F01B40F5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1BB08E1-4512-4011-8157-311DA49812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8B9C36-7D90-4100-8F0D-BD6A0C577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BAAA1E8-FC0D-45E4-AF16-0C9E69B9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751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64EB59AE-66EB-4CB0-9B8D-B6B17AC78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4D584A-8A94-48A9-AB5E-DE899C1F3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3DDC2F0-FA1D-4AAA-9A9E-D7904C04C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8071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A7DB9A-F3D2-45A2-A42D-61237CF7A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5DE4E0-7BA2-4E30-9862-9192A54712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A8065EA-F008-44DB-8CD9-0FA54F78ED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7264DD5-4A14-4C97-A622-B3CF47CE03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F6B352-C176-49D3-BB22-1FBE9FB58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70A504C-AAC4-41CC-AD28-F52110173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174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DE0C8B-526D-47AC-A13F-4581F54ED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A12C66A-791E-44FB-8A8E-2F0096229A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3E88AE1-794E-484F-9636-0CFA341CFF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F7A0B55-319C-47AE-A21C-84507BBFA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F8F557-5BEB-40D2-8959-A23C24C969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B63448-54DE-48BF-808A-BA29E7D01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177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9C628C-596A-4CBC-B0A9-C914BA643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292A03-629A-414B-BD84-E2E8A57A88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40EB48-9271-42F6-A1D4-A63891F1C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5CB5BC-FE7B-4E24-81BD-AE646FC439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C2A917-58F8-471F-9CD3-718878539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3638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BFA35B5-AE6C-42D5-88E3-3307F74111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62D99E-42C3-41C8-9338-8DBAD8B736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FA221C-1A14-439A-9FFF-B5FA911F4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D55CE2-02E6-4873-8F08-8F0C073F5D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93D749-0194-40DD-9B2E-7545CBDF9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4046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/>
          <p:cNvCxnSpPr/>
          <p:nvPr userDrawn="1"/>
        </p:nvCxnSpPr>
        <p:spPr>
          <a:xfrm>
            <a:off x="234950" y="654050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889C64-266A-4D07-AD8F-5B592E61CCE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cxnSp>
        <p:nvCxnSpPr>
          <p:cNvPr id="20" name="직선 연결선 19"/>
          <p:cNvCxnSpPr/>
          <p:nvPr userDrawn="1"/>
        </p:nvCxnSpPr>
        <p:spPr>
          <a:xfrm>
            <a:off x="234950" y="539750"/>
            <a:ext cx="1176655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제목 개체 틀 1"/>
          <p:cNvSpPr>
            <a:spLocks noGrp="1"/>
          </p:cNvSpPr>
          <p:nvPr>
            <p:ph type="title"/>
          </p:nvPr>
        </p:nvSpPr>
        <p:spPr>
          <a:xfrm>
            <a:off x="234948" y="137379"/>
            <a:ext cx="76559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1800" b="1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F6FB25F-7B1E-410A-903C-9DE680EED1C3}"/>
              </a:ext>
            </a:extLst>
          </p:cNvPr>
          <p:cNvGrpSpPr/>
          <p:nvPr userDrawn="1"/>
        </p:nvGrpSpPr>
        <p:grpSpPr>
          <a:xfrm>
            <a:off x="7995393" y="137379"/>
            <a:ext cx="4006094" cy="357521"/>
            <a:chOff x="7522576" y="137379"/>
            <a:chExt cx="4478924" cy="357521"/>
          </a:xfrm>
        </p:grpSpPr>
        <p:sp>
          <p:nvSpPr>
            <p:cNvPr id="22" name="갈매기형 수장 21"/>
            <p:cNvSpPr/>
            <p:nvPr userDrawn="1"/>
          </p:nvSpPr>
          <p:spPr>
            <a:xfrm>
              <a:off x="7522576" y="137379"/>
              <a:ext cx="1031887" cy="357521"/>
            </a:xfrm>
            <a:prstGeom prst="chevron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과제 소개</a:t>
              </a:r>
            </a:p>
          </p:txBody>
        </p:sp>
        <p:sp>
          <p:nvSpPr>
            <p:cNvPr id="23" name="갈매기형 수장 22"/>
            <p:cNvSpPr/>
            <p:nvPr userDrawn="1"/>
          </p:nvSpPr>
          <p:spPr>
            <a:xfrm>
              <a:off x="84150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요구사항</a:t>
              </a:r>
            </a:p>
          </p:txBody>
        </p:sp>
        <p:sp>
          <p:nvSpPr>
            <p:cNvPr id="25" name="갈매기형 수장 24"/>
            <p:cNvSpPr/>
            <p:nvPr userDrawn="1"/>
          </p:nvSpPr>
          <p:spPr>
            <a:xfrm>
              <a:off x="9313975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설계</a:t>
              </a:r>
            </a:p>
          </p:txBody>
        </p:sp>
        <p:sp>
          <p:nvSpPr>
            <p:cNvPr id="26" name="갈매기형 수장 25"/>
            <p:cNvSpPr/>
            <p:nvPr userDrawn="1"/>
          </p:nvSpPr>
          <p:spPr>
            <a:xfrm>
              <a:off x="10206457" y="137379"/>
              <a:ext cx="1031887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구현</a:t>
              </a:r>
              <a:r>
                <a:rPr lang="en-US" altLang="ko-KR" sz="1000" b="1" dirty="0">
                  <a:solidFill>
                    <a:schemeClr val="bg1"/>
                  </a:solidFill>
                </a:rPr>
                <a:t>/</a:t>
              </a:r>
              <a:r>
                <a:rPr lang="ko-KR" altLang="en-US" sz="1000" b="1" dirty="0">
                  <a:solidFill>
                    <a:schemeClr val="bg1"/>
                  </a:solidFill>
                </a:rPr>
                <a:t>검증</a:t>
              </a:r>
            </a:p>
          </p:txBody>
        </p:sp>
        <p:sp>
          <p:nvSpPr>
            <p:cNvPr id="27" name="갈매기형 수장 26"/>
            <p:cNvSpPr/>
            <p:nvPr userDrawn="1"/>
          </p:nvSpPr>
          <p:spPr>
            <a:xfrm>
              <a:off x="11105815" y="137379"/>
              <a:ext cx="892483" cy="357521"/>
            </a:xfrm>
            <a:prstGeom prst="chevron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r>
                <a:rPr lang="ko-KR" altLang="en-US" sz="1000" b="1" dirty="0">
                  <a:solidFill>
                    <a:schemeClr val="bg1"/>
                  </a:solidFill>
                </a:rPr>
                <a:t>결론</a:t>
              </a:r>
            </a:p>
          </p:txBody>
        </p:sp>
        <p:sp>
          <p:nvSpPr>
            <p:cNvPr id="29" name="직사각형 28"/>
            <p:cNvSpPr/>
            <p:nvPr userDrawn="1"/>
          </p:nvSpPr>
          <p:spPr>
            <a:xfrm>
              <a:off x="11789373" y="137379"/>
              <a:ext cx="212127" cy="357521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>
                <a:solidFill>
                  <a:schemeClr val="bg1"/>
                </a:solidFill>
              </a:endParaRPr>
            </a:p>
          </p:txBody>
        </p:sp>
        <p:sp>
          <p:nvSpPr>
            <p:cNvPr id="30" name="직사각형 29"/>
            <p:cNvSpPr/>
            <p:nvPr userDrawn="1"/>
          </p:nvSpPr>
          <p:spPr>
            <a:xfrm>
              <a:off x="7528835" y="137379"/>
              <a:ext cx="212127" cy="35752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/>
              <a:endParaRPr lang="ko-KR" altLang="en-US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 userDrawn="1"/>
        </p:nvSpPr>
        <p:spPr>
          <a:xfrm>
            <a:off x="5975555" y="6563925"/>
            <a:ext cx="4706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</a:rPr>
              <a:t>/ 23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2858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0019444-7A30-4022-9E8B-29EA06E27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7F6F523-F76C-4490-934D-B6D6AD10A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E83DAF-8FF7-4AE6-8AD5-DE6C201124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6D85D-8693-44A8-8977-2F323395A29D}" type="datetimeFigureOut">
              <a:rPr lang="ko-KR" altLang="en-US" smtClean="0"/>
              <a:t>2026-10-05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36EEC50-0F3F-402A-8391-407B7DAB1F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5DD1AD-A7EB-4338-8AD2-1A71895C3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C334D1-2995-4129-A779-8629FB2700E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3755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1" name="표 80"/>
          <p:cNvGraphicFramePr>
            <a:graphicFrameLocks noGrp="1"/>
          </p:cNvGraphicFramePr>
          <p:nvPr/>
        </p:nvGraphicFramePr>
        <p:xfrm>
          <a:off x="249035" y="1044054"/>
          <a:ext cx="11747501" cy="543548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75393">
                  <a:extLst>
                    <a:ext uri="{9D8B030D-6E8A-4147-A177-3AD203B41FA5}">
                      <a16:colId xmlns:a16="http://schemas.microsoft.com/office/drawing/2014/main" val="44684717"/>
                    </a:ext>
                  </a:extLst>
                </a:gridCol>
                <a:gridCol w="3276122">
                  <a:extLst>
                    <a:ext uri="{9D8B030D-6E8A-4147-A177-3AD203B41FA5}">
                      <a16:colId xmlns:a16="http://schemas.microsoft.com/office/drawing/2014/main" val="5654497"/>
                    </a:ext>
                  </a:extLst>
                </a:gridCol>
                <a:gridCol w="2159932">
                  <a:extLst>
                    <a:ext uri="{9D8B030D-6E8A-4147-A177-3AD203B41FA5}">
                      <a16:colId xmlns:a16="http://schemas.microsoft.com/office/drawing/2014/main" val="2953438935"/>
                    </a:ext>
                  </a:extLst>
                </a:gridCol>
                <a:gridCol w="3332818">
                  <a:extLst>
                    <a:ext uri="{9D8B030D-6E8A-4147-A177-3AD203B41FA5}">
                      <a16:colId xmlns:a16="http://schemas.microsoft.com/office/drawing/2014/main" val="3070054508"/>
                    </a:ext>
                  </a:extLst>
                </a:gridCol>
                <a:gridCol w="2103236">
                  <a:extLst>
                    <a:ext uri="{9D8B030D-6E8A-4147-A177-3AD203B41FA5}">
                      <a16:colId xmlns:a16="http://schemas.microsoft.com/office/drawing/2014/main" val="3101495520"/>
                    </a:ext>
                  </a:extLst>
                </a:gridCol>
              </a:tblGrid>
              <a:tr h="34278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설계 안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b="1" strike="noStrike" dirty="0"/>
                        <a:t>(1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ko-KR" altLang="en-US" sz="1200" b="1" strike="noStrike" baseline="0" dirty="0"/>
                        <a:t>메모리 </a:t>
                      </a:r>
                      <a:r>
                        <a:rPr lang="en-US" altLang="ko-KR" sz="1200" b="1" strike="noStrike" baseline="0" dirty="0"/>
                        <a:t>Resource State driven Migration </a:t>
                      </a:r>
                      <a:r>
                        <a:rPr lang="en-US" altLang="ko-KR" sz="1200" b="1" strike="noStrike" baseline="0" dirty="0">
                          <a:solidFill>
                            <a:srgbClr val="FF0000"/>
                          </a:solidFill>
                        </a:rPr>
                        <a:t>+ Data-Memory Affinity</a:t>
                      </a:r>
                      <a:endParaRPr lang="ko-KR" altLang="en-US" sz="1200" b="1" strike="noStrike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latinLnBrk="1"/>
                      <a:r>
                        <a:rPr lang="en-US" altLang="ko-KR" sz="1200" b="1" strike="noStrike" dirty="0"/>
                        <a:t>(2</a:t>
                      </a:r>
                      <a:r>
                        <a:rPr lang="ko-KR" altLang="en-US" sz="1200" b="1" strike="noStrike" dirty="0"/>
                        <a:t>안</a:t>
                      </a:r>
                      <a:r>
                        <a:rPr lang="en-US" altLang="ko-KR" sz="1200" b="1" strike="noStrike" dirty="0"/>
                        <a:t>)</a:t>
                      </a:r>
                      <a:r>
                        <a:rPr lang="en-US" altLang="ko-KR" sz="1200" b="1" strike="noStrike" baseline="0" dirty="0"/>
                        <a:t> AI Data </a:t>
                      </a:r>
                      <a:r>
                        <a:rPr lang="en-US" altLang="ko-KR" sz="1200" b="1" strike="noStrike" dirty="0"/>
                        <a:t>Behavior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en-US" altLang="ko-KR" sz="1200" b="1" strike="noStrike" dirty="0"/>
                        <a:t>driven</a:t>
                      </a:r>
                      <a:r>
                        <a:rPr lang="en-US" altLang="ko-KR" sz="1200" b="1" strike="noStrike" baseline="0" dirty="0"/>
                        <a:t> </a:t>
                      </a:r>
                      <a:r>
                        <a:rPr lang="en-US" altLang="ko-KR" sz="1200" b="1" strike="noStrike" dirty="0"/>
                        <a:t>Migration</a:t>
                      </a:r>
                      <a:r>
                        <a:rPr lang="ko-KR" altLang="en-US" sz="1200" b="1" strike="noStrike" dirty="0"/>
                        <a:t> 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014303"/>
                  </a:ext>
                </a:extLst>
              </a:tr>
              <a:tr h="317246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구조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en-US" altLang="ko-KR" sz="1050" dirty="0">
                        <a:effectLst/>
                      </a:endParaRPr>
                    </a:p>
                    <a:p>
                      <a:pPr latinLnBrk="1"/>
                      <a:endParaRPr lang="ko-KR" altLang="en-US" sz="105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>
                        <a:lnSpc>
                          <a:spcPct val="150000"/>
                        </a:lnSpc>
                      </a:pPr>
                      <a:endParaRPr lang="ko-KR" altLang="en-US" sz="1200" b="1" dirty="0">
                        <a:solidFill>
                          <a:srgbClr val="0033CC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915045"/>
                  </a:ext>
                </a:extLst>
              </a:tr>
              <a:tr h="3740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장점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낮은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Decision overhead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및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Resource state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변화에 즉시 반응</a:t>
                      </a:r>
                    </a:p>
                    <a:p>
                      <a:pPr marL="228600" indent="-228600" algn="l" defTabSz="914400" rtl="0" eaLnBrk="1" latinLnBrk="1" hangingPunct="1">
                        <a:lnSpc>
                          <a:spcPct val="100000"/>
                        </a:lnSpc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전체 메모리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Pool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Utilization </a:t>
                      </a:r>
                      <a:r>
                        <a:rPr lang="ko-KR" altLang="en-US" sz="1200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관리에 유리 </a:t>
                      </a:r>
                      <a:endParaRPr lang="en-US" altLang="ko-KR" sz="1200" strike="noStrike" kern="1200" baseline="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Data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종류 별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Access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특성에 맞는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Fine-grained 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배치 가능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고속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effectLst/>
                        </a:rPr>
                        <a:t>(High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 tier)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effectLst/>
                        </a:rPr>
                        <a:t> 메모리의 불필요한 점유 감소 가능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2501578"/>
                  </a:ext>
                </a:extLst>
              </a:tr>
              <a:tr h="45021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단점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별 접근 특성 반영 한계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  <a:defRPr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동일한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Resource state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에서 서로 다른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의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Access pattern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구분 한계 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anose="05000000000000000000" pitchFamily="2" charset="2"/>
                        <a:buNone/>
                        <a:tabLst/>
                        <a:defRPr/>
                      </a:pP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 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사전에 알 수 있는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AI Data/operation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의 특성은 </a:t>
                      </a:r>
                      <a:r>
                        <a:rPr lang="en-US" altLang="ko-KR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static hint</a:t>
                      </a:r>
                      <a:r>
                        <a:rPr lang="ko-KR" altLang="en-US" sz="1200" strike="noStrike" baseline="0" dirty="0">
                          <a:solidFill>
                            <a:srgbClr val="FF0000"/>
                          </a:solidFill>
                          <a:effectLst/>
                          <a:sym typeface="Wingdings" panose="05000000000000000000" pitchFamily="2" charset="2"/>
                        </a:rPr>
                        <a:t>로 반영</a:t>
                      </a:r>
                      <a:endParaRPr lang="en-US" altLang="ko-KR" sz="1200" strike="noStrike" baseline="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Data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종류 별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Characterization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및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Pattern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예측을 위한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Overhead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증가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예측 오류 시 </a:t>
                      </a:r>
                      <a:r>
                        <a:rPr lang="en-US" altLang="ko-KR" sz="1200" strike="noStrike" baseline="0" dirty="0" err="1">
                          <a:solidFill>
                            <a:schemeClr val="tx1"/>
                          </a:solidFill>
                          <a:effectLst/>
                        </a:rPr>
                        <a:t>Mis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-placement 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effectLst/>
                        </a:rPr>
                        <a:t>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2029663"/>
                  </a:ext>
                </a:extLst>
              </a:tr>
              <a:tr h="630306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</a:rPr>
                        <a:t>Tradeoff</a:t>
                      </a:r>
                      <a:endParaRPr lang="ko-KR" altLang="en-US" sz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(tokens/second)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시간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b="0" strike="noStrike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-TTFT,TPOT)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Utilization (HBM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사용량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GiB)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Modifiability (module, M/M,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토큰 비용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436(x1.3)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</a:t>
                      </a:r>
                      <a:r>
                        <a:rPr lang="ko-KR" altLang="en-US" sz="1200" b="0" dirty="0">
                          <a:solidFill>
                            <a:srgbClr val="FF0000"/>
                          </a:solidFill>
                          <a:latin typeface="+mn-lt"/>
                          <a:ea typeface="맑은 고딕"/>
                        </a:rPr>
                        <a:t>★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000" strike="noStrike" baseline="0" dirty="0">
                          <a:solidFill>
                            <a:srgbClr val="FF0000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1128(x1.04), 18.3(x1.07)</a:t>
                      </a:r>
                      <a:endParaRPr lang="en-US" altLang="ko-KR" sz="1000" strike="noStrike" dirty="0">
                        <a:solidFill>
                          <a:srgbClr val="FF0000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142.7(x0.97)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1.75, 0.38, $1.16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처리량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(tokens/second)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Performance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시간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en-US" altLang="ko-KR" sz="1200" b="0" strike="noStrike" dirty="0" err="1">
                          <a:solidFill>
                            <a:schemeClr val="tx1"/>
                          </a:solidFill>
                        </a:rPr>
                        <a:t>ms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-TTFT,TPOT)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Resource Utilization (HBM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사용량 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GiB)</a:t>
                      </a:r>
                    </a:p>
                    <a:p>
                      <a:pPr marL="228600" indent="-228600" latinLnBrk="1">
                        <a:lnSpc>
                          <a:spcPct val="100000"/>
                        </a:lnSpc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Modifiability (module, M/M, </a:t>
                      </a:r>
                      <a:r>
                        <a:rPr lang="ko-KR" altLang="en-US" sz="1200" b="0" strike="noStrike" dirty="0">
                          <a:solidFill>
                            <a:schemeClr val="tx1"/>
                          </a:solidFill>
                        </a:rPr>
                        <a:t>토큰 비용</a:t>
                      </a:r>
                      <a:r>
                        <a:rPr lang="en-US" altLang="ko-KR" sz="1200" b="0" strike="noStrike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baseline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478(x1.42)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★★★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785</a:t>
                      </a:r>
                      <a:r>
                        <a:rPr lang="en-US" altLang="ko-KR" sz="105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(x0.72)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,16.-</a:t>
                      </a:r>
                      <a:r>
                        <a:rPr lang="en-US" altLang="ko-KR" sz="105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(x0.94)</a:t>
                      </a:r>
                      <a:endParaRPr lang="en-US" altLang="ko-KR" sz="1200" strike="noStrike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★☆☆</a:t>
                      </a:r>
                      <a:r>
                        <a:rPr lang="ko-KR" altLang="en-US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1200" strike="noStrike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178(x1.21)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★★☆ </a:t>
                      </a:r>
                      <a:r>
                        <a:rPr lang="en-US" altLang="ko-KR" sz="1200" b="0" dirty="0">
                          <a:solidFill>
                            <a:srgbClr val="1A1A1A"/>
                          </a:solidFill>
                          <a:latin typeface="+mn-lt"/>
                          <a:ea typeface="맑은 고딕"/>
                        </a:rPr>
                        <a:t>2.50, 0.51, $1.49</a:t>
                      </a:r>
                      <a:endParaRPr lang="en-US" altLang="ko-KR" sz="1200" strike="noStrike" dirty="0">
                        <a:solidFill>
                          <a:prstClr val="black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5241"/>
                  </a:ext>
                </a:extLst>
              </a:tr>
            </a:tbl>
          </a:graphicData>
        </a:graphic>
      </p:graphicFrame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234949" y="137379"/>
            <a:ext cx="7631530" cy="365125"/>
          </a:xfrm>
        </p:spPr>
        <p:txBody>
          <a:bodyPr/>
          <a:lstStyle/>
          <a:p>
            <a:r>
              <a:rPr lang="en-US" altLang="ko-KR" dirty="0"/>
              <a:t>DP1. </a:t>
            </a:r>
            <a:r>
              <a:rPr lang="ko-KR" altLang="en-US" dirty="0"/>
              <a:t>이기종 메모리 기반 </a:t>
            </a:r>
            <a:r>
              <a:rPr lang="en-US" altLang="ko-KR" dirty="0"/>
              <a:t>Data Migration</a:t>
            </a:r>
            <a:r>
              <a:rPr lang="ko-KR" altLang="en-US" dirty="0"/>
              <a:t> 결정 구조 </a:t>
            </a:r>
            <a:r>
              <a:rPr lang="en-US" altLang="ko-KR" dirty="0"/>
              <a:t>- </a:t>
            </a:r>
            <a:r>
              <a:rPr lang="ko-KR" altLang="en-US" dirty="0"/>
              <a:t>설계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4949" y="596176"/>
            <a:ext cx="11747501" cy="396603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469760" y="627926"/>
            <a:ext cx="759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ko-KR" altLang="en-US" sz="1400" b="1" dirty="0">
                <a:solidFill>
                  <a:schemeClr val="bg1"/>
                </a:solidFill>
              </a:rPr>
              <a:t>이기종 메모리 환경에서 언제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무엇을</a:t>
            </a:r>
            <a:r>
              <a:rPr lang="en-US" altLang="ko-KR" sz="1400" b="1" dirty="0">
                <a:solidFill>
                  <a:schemeClr val="bg1"/>
                </a:solidFill>
              </a:rPr>
              <a:t>, </a:t>
            </a:r>
            <a:r>
              <a:rPr lang="ko-KR" altLang="en-US" sz="1400" b="1" dirty="0">
                <a:solidFill>
                  <a:schemeClr val="bg1"/>
                </a:solidFill>
              </a:rPr>
              <a:t>어느 </a:t>
            </a:r>
            <a:r>
              <a:rPr lang="en-US" altLang="ko-KR" sz="1400" b="1" dirty="0">
                <a:solidFill>
                  <a:schemeClr val="bg1"/>
                </a:solidFill>
              </a:rPr>
              <a:t>memory tier</a:t>
            </a:r>
            <a:r>
              <a:rPr lang="ko-KR" altLang="en-US" sz="1400" b="1" dirty="0">
                <a:solidFill>
                  <a:schemeClr val="bg1"/>
                </a:solidFill>
              </a:rPr>
              <a:t>로 이동할지 결정 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03086" y="678726"/>
            <a:ext cx="66675" cy="21627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/>
          </a:p>
        </p:txBody>
      </p:sp>
      <p:sp>
        <p:nvSpPr>
          <p:cNvPr id="48" name="모서리가 둥근 직사각형 47"/>
          <p:cNvSpPr/>
          <p:nvPr/>
        </p:nvSpPr>
        <p:spPr>
          <a:xfrm>
            <a:off x="8865760" y="629703"/>
            <a:ext cx="743834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모서리가 둥근 직사각형 30"/>
          <p:cNvSpPr/>
          <p:nvPr/>
        </p:nvSpPr>
        <p:spPr>
          <a:xfrm>
            <a:off x="9673910" y="629703"/>
            <a:ext cx="735941" cy="321123"/>
          </a:xfrm>
          <a:prstGeom prst="roundRect">
            <a:avLst/>
          </a:prstGeom>
          <a:solidFill>
            <a:schemeClr val="accent2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Ins="0"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Q2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31"/>
          <p:cNvSpPr/>
          <p:nvPr/>
        </p:nvSpPr>
        <p:spPr>
          <a:xfrm>
            <a:off x="11187937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</a:rPr>
              <a:t>C2</a:t>
            </a:r>
            <a:endParaRPr lang="ko-KR" altLang="en-US" sz="900" b="1" dirty="0">
              <a:latin typeface="맑은 고딕" panose="020B0503020000020004" pitchFamily="50" charset="-127"/>
            </a:endParaRPr>
          </a:p>
        </p:txBody>
      </p:sp>
      <p:sp>
        <p:nvSpPr>
          <p:cNvPr id="38" name="모서리가 둥근 직사각형 37"/>
          <p:cNvSpPr/>
          <p:nvPr/>
        </p:nvSpPr>
        <p:spPr>
          <a:xfrm>
            <a:off x="8062711" y="627572"/>
            <a:ext cx="758470" cy="323254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F1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0" name="모서리가 둥근 직사각형 69"/>
          <p:cNvSpPr/>
          <p:nvPr/>
        </p:nvSpPr>
        <p:spPr>
          <a:xfrm>
            <a:off x="10453490" y="627572"/>
            <a:ext cx="702289" cy="323254"/>
          </a:xfrm>
          <a:prstGeom prst="roundRect">
            <a:avLst/>
          </a:prstGeom>
          <a:solidFill>
            <a:schemeClr val="accent6">
              <a:lumMod val="50000"/>
            </a:schemeClr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9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C1</a:t>
            </a:r>
            <a:endParaRPr lang="ko-KR" altLang="en-US" sz="9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슬라이드 번호 개체 틀 1"/>
          <p:cNvSpPr>
            <a:spLocks noGrp="1"/>
          </p:cNvSpPr>
          <p:nvPr>
            <p:ph type="sldNum" sz="quarter" idx="4"/>
          </p:nvPr>
        </p:nvSpPr>
        <p:spPr>
          <a:xfrm>
            <a:off x="5620080" y="6597650"/>
            <a:ext cx="456466" cy="209550"/>
          </a:xfrm>
        </p:spPr>
        <p:txBody>
          <a:bodyPr/>
          <a:lstStyle/>
          <a:p>
            <a:fld id="{7F889C64-266A-4D07-AD8F-5B592E61CCE1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cxnSp>
        <p:nvCxnSpPr>
          <p:cNvPr id="59" name="직선 연결선 58"/>
          <p:cNvCxnSpPr/>
          <p:nvPr/>
        </p:nvCxnSpPr>
        <p:spPr>
          <a:xfrm>
            <a:off x="8383231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직선 연결선 59"/>
          <p:cNvCxnSpPr/>
          <p:nvPr/>
        </p:nvCxnSpPr>
        <p:spPr>
          <a:xfrm>
            <a:off x="8461250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8539269" y="457197"/>
            <a:ext cx="58597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/>
          <p:cNvCxnSpPr/>
          <p:nvPr/>
        </p:nvCxnSpPr>
        <p:spPr>
          <a:xfrm>
            <a:off x="8617288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연결선 62"/>
          <p:cNvCxnSpPr/>
          <p:nvPr/>
        </p:nvCxnSpPr>
        <p:spPr>
          <a:xfrm>
            <a:off x="8695307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/>
          <p:nvPr/>
        </p:nvCxnSpPr>
        <p:spPr>
          <a:xfrm>
            <a:off x="8773326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연결선 66"/>
          <p:cNvCxnSpPr/>
          <p:nvPr/>
        </p:nvCxnSpPr>
        <p:spPr>
          <a:xfrm>
            <a:off x="8851345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연결선 96"/>
          <p:cNvCxnSpPr/>
          <p:nvPr/>
        </p:nvCxnSpPr>
        <p:spPr>
          <a:xfrm>
            <a:off x="8929364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직선 연결선 97"/>
          <p:cNvCxnSpPr/>
          <p:nvPr/>
        </p:nvCxnSpPr>
        <p:spPr>
          <a:xfrm>
            <a:off x="900738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연결선 100"/>
          <p:cNvCxnSpPr/>
          <p:nvPr/>
        </p:nvCxnSpPr>
        <p:spPr>
          <a:xfrm>
            <a:off x="9085403" y="457197"/>
            <a:ext cx="58597" cy="0"/>
          </a:xfrm>
          <a:prstGeom prst="line">
            <a:avLst/>
          </a:prstGeom>
          <a:ln w="285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1111250" y="1397380"/>
            <a:ext cx="542289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“Data</a:t>
            </a:r>
            <a:r>
              <a:rPr lang="ko-KR" altLang="en-US" sz="1100" dirty="0"/>
              <a:t> 종류 관계없이 </a:t>
            </a:r>
            <a:r>
              <a:rPr lang="ko-KR" altLang="en-US" sz="1100" dirty="0">
                <a:solidFill>
                  <a:srgbClr val="0066FF"/>
                </a:solidFill>
              </a:rPr>
              <a:t>메모리</a:t>
            </a:r>
            <a:r>
              <a:rPr lang="en-US" altLang="ko-KR" sz="1100" dirty="0">
                <a:solidFill>
                  <a:srgbClr val="0066FF"/>
                </a:solidFill>
              </a:rPr>
              <a:t> </a:t>
            </a:r>
            <a:r>
              <a:rPr lang="ko-KR" altLang="en-US" sz="1100" dirty="0">
                <a:solidFill>
                  <a:srgbClr val="0066FF"/>
                </a:solidFill>
              </a:rPr>
              <a:t>자원 상태</a:t>
            </a:r>
            <a:r>
              <a:rPr lang="en-US" altLang="ko-KR" sz="1100" dirty="0">
                <a:solidFill>
                  <a:srgbClr val="0066FF"/>
                </a:solidFill>
              </a:rPr>
              <a:t>(Capacity/BW/Load)</a:t>
            </a:r>
            <a:r>
              <a:rPr lang="ko-KR" altLang="en-US" sz="1100" dirty="0"/>
              <a:t>에 우선한 </a:t>
            </a:r>
            <a:r>
              <a:rPr lang="en-US" altLang="ko-KR" sz="1100" dirty="0"/>
              <a:t>Migration“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534149" y="1383052"/>
            <a:ext cx="5448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 dirty="0"/>
              <a:t>“</a:t>
            </a:r>
            <a:r>
              <a:rPr lang="en-US" altLang="ko-KR" sz="1100" dirty="0">
                <a:solidFill>
                  <a:srgbClr val="0066FF"/>
                </a:solidFill>
              </a:rPr>
              <a:t>AI Data</a:t>
            </a:r>
            <a:r>
              <a:rPr lang="ko-KR" altLang="en-US" sz="1100" dirty="0">
                <a:solidFill>
                  <a:srgbClr val="0066FF"/>
                </a:solidFill>
              </a:rPr>
              <a:t> 특성</a:t>
            </a:r>
            <a:r>
              <a:rPr lang="en-US" altLang="ko-KR" sz="1100" dirty="0">
                <a:solidFill>
                  <a:srgbClr val="0066FF"/>
                </a:solidFill>
              </a:rPr>
              <a:t>(Type/Hotness/Lifetime/Agent Tool Info </a:t>
            </a:r>
            <a:r>
              <a:rPr lang="ko-KR" altLang="en-US" sz="1100" dirty="0">
                <a:solidFill>
                  <a:srgbClr val="0066FF"/>
                </a:solidFill>
              </a:rPr>
              <a:t>등</a:t>
            </a:r>
            <a:r>
              <a:rPr lang="en-US" altLang="ko-KR" sz="1100" dirty="0">
                <a:solidFill>
                  <a:srgbClr val="0066FF"/>
                </a:solidFill>
              </a:rPr>
              <a:t>)</a:t>
            </a:r>
            <a:r>
              <a:rPr lang="ko-KR" altLang="en-US" sz="1100" dirty="0"/>
              <a:t>에 우선한 </a:t>
            </a:r>
            <a:r>
              <a:rPr lang="en-US" altLang="ko-KR" sz="1100" dirty="0"/>
              <a:t>Migration“</a:t>
            </a:r>
            <a:endParaRPr lang="ko-KR" altLang="en-US" sz="1100" dirty="0"/>
          </a:p>
        </p:txBody>
      </p:sp>
      <p:sp>
        <p:nvSpPr>
          <p:cNvPr id="137" name="직사각형 136"/>
          <p:cNvSpPr/>
          <p:nvPr/>
        </p:nvSpPr>
        <p:spPr>
          <a:xfrm>
            <a:off x="6521412" y="46469"/>
            <a:ext cx="14873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b="1" dirty="0"/>
              <a:t>(When, What, </a:t>
            </a:r>
          </a:p>
          <a:p>
            <a:r>
              <a:rPr lang="en-US" altLang="ko-KR" sz="1200" b="1" dirty="0"/>
              <a:t>Where to locate?)</a:t>
            </a:r>
            <a:endParaRPr lang="ko-KR" altLang="en-US" sz="1200" dirty="0"/>
          </a:p>
        </p:txBody>
      </p:sp>
      <p:sp>
        <p:nvSpPr>
          <p:cNvPr id="138" name="Shape 56">
            <a:extLst>
              <a:ext uri="{FF2B5EF4-FFF2-40B4-BE49-F238E27FC236}">
                <a16:creationId xmlns:a16="http://schemas.microsoft.com/office/drawing/2014/main" id="{33C7046D-072B-4A63-B8E3-E6FE269F4E83}"/>
              </a:ext>
            </a:extLst>
          </p:cNvPr>
          <p:cNvSpPr/>
          <p:nvPr/>
        </p:nvSpPr>
        <p:spPr>
          <a:xfrm>
            <a:off x="3727203" y="3812656"/>
            <a:ext cx="0" cy="0"/>
          </a:xfrm>
          <a:prstGeom prst="line">
            <a:avLst/>
          </a:prstGeom>
          <a:noFill/>
          <a:ln w="16510">
            <a:solidFill>
              <a:srgbClr val="4D7EA8"/>
            </a:solidFill>
            <a:prstDash val="solid"/>
            <a:headEnd type="none"/>
            <a:tailEnd type="none"/>
          </a:ln>
        </p:spPr>
      </p:sp>
      <p:sp>
        <p:nvSpPr>
          <p:cNvPr id="139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2538668" y="2682730"/>
            <a:ext cx="1149429" cy="338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Resource-based Trend Analyzer</a:t>
            </a:r>
          </a:p>
        </p:txBody>
      </p:sp>
      <p:sp>
        <p:nvSpPr>
          <p:cNvPr id="140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3210857" y="2123241"/>
            <a:ext cx="1147942" cy="32692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Resource State Monitor</a:t>
            </a:r>
          </a:p>
        </p:txBody>
      </p:sp>
      <p:cxnSp>
        <p:nvCxnSpPr>
          <p:cNvPr id="141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40" idx="2"/>
            <a:endCxn id="139" idx="0"/>
          </p:cNvCxnSpPr>
          <p:nvPr/>
        </p:nvCxnSpPr>
        <p:spPr>
          <a:xfrm rot="5400000">
            <a:off x="3332823" y="2230725"/>
            <a:ext cx="232566" cy="671445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42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4334628" y="4240529"/>
            <a:ext cx="1149429" cy="231425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Migration Executor</a:t>
            </a:r>
          </a:p>
        </p:txBody>
      </p:sp>
      <p:sp>
        <p:nvSpPr>
          <p:cNvPr id="146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4998520" y="3701286"/>
            <a:ext cx="1149430" cy="338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Migration</a:t>
            </a: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Data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1" i="0" u="none" strike="noStrike" kern="1200" cap="none" spc="0" normalizeH="0" baseline="0" noProof="0" dirty="0">
                <a:ln>
                  <a:noFill/>
                </a:ln>
                <a:solidFill>
                  <a:srgbClr val="1A1A1A"/>
                </a:solidFill>
                <a:effectLst/>
                <a:uLnTx/>
                <a:uFillTx/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Selector</a:t>
            </a:r>
          </a:p>
        </p:txBody>
      </p:sp>
      <p:sp>
        <p:nvSpPr>
          <p:cNvPr id="147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3874007" y="2681301"/>
            <a:ext cx="1149429" cy="338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Eviction Manager</a:t>
            </a:r>
            <a:endParaRPr kumimoji="0" lang="en-US" altLang="ko-KR" sz="900" b="1" i="0" u="none" strike="noStrike" kern="1200" cap="none" spc="0" normalizeH="0" baseline="0" noProof="0" dirty="0">
              <a:ln>
                <a:noFill/>
              </a:ln>
              <a:solidFill>
                <a:srgbClr val="1A1A1A"/>
              </a:solidFill>
              <a:effectLst/>
              <a:uLnTx/>
              <a:uFillTx/>
              <a:latin typeface="Malgun Gothic" pitchFamily="34" charset="0"/>
              <a:ea typeface="Malgun Gothic" pitchFamily="34" charset="-122"/>
              <a:cs typeface="Malgun Gothic" pitchFamily="34" charset="-120"/>
            </a:endParaRPr>
          </a:p>
        </p:txBody>
      </p:sp>
      <p:cxnSp>
        <p:nvCxnSpPr>
          <p:cNvPr id="149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40" idx="2"/>
            <a:endCxn id="147" idx="0"/>
          </p:cNvCxnSpPr>
          <p:nvPr/>
        </p:nvCxnSpPr>
        <p:spPr>
          <a:xfrm rot="16200000" flipH="1">
            <a:off x="4001207" y="2233785"/>
            <a:ext cx="231137" cy="663894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0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3663182" y="3700576"/>
            <a:ext cx="1149429" cy="3388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 Tier Selector</a:t>
            </a:r>
          </a:p>
        </p:txBody>
      </p:sp>
      <p:cxnSp>
        <p:nvCxnSpPr>
          <p:cNvPr id="152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50" idx="2"/>
            <a:endCxn id="142" idx="0"/>
          </p:cNvCxnSpPr>
          <p:nvPr/>
        </p:nvCxnSpPr>
        <p:spPr>
          <a:xfrm rot="16200000" flipH="1">
            <a:off x="4473058" y="3804244"/>
            <a:ext cx="201124" cy="671446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cxnSp>
        <p:nvCxnSpPr>
          <p:cNvPr id="154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46" idx="2"/>
            <a:endCxn id="142" idx="0"/>
          </p:cNvCxnSpPr>
          <p:nvPr/>
        </p:nvCxnSpPr>
        <p:spPr>
          <a:xfrm rot="5400000">
            <a:off x="5141082" y="3808376"/>
            <a:ext cx="200414" cy="663892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none" w="med" len="med"/>
            <a:tailEnd type="triangle" w="med" len="med"/>
          </a:ln>
        </p:spPr>
      </p:cxnSp>
      <p:sp>
        <p:nvSpPr>
          <p:cNvPr id="155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5448132" y="2036658"/>
            <a:ext cx="948713" cy="3596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rgbClr val="4D7EA8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</a:rPr>
              <a:t>Data Object Registry</a:t>
            </a:r>
          </a:p>
        </p:txBody>
      </p:sp>
      <p:cxnSp>
        <p:nvCxnSpPr>
          <p:cNvPr id="158" name="직선 화살표 연결선 185">
            <a:extLst>
              <a:ext uri="{FF2B5EF4-FFF2-40B4-BE49-F238E27FC236}">
                <a16:creationId xmlns:a16="http://schemas.microsoft.com/office/drawing/2014/main" id="{978083D3-9687-40FB-9182-FF0D3D8D7808}"/>
              </a:ext>
            </a:extLst>
          </p:cNvPr>
          <p:cNvCxnSpPr>
            <a:cxnSpLocks/>
            <a:stCxn id="147" idx="3"/>
            <a:endCxn id="155" idx="1"/>
          </p:cNvCxnSpPr>
          <p:nvPr/>
        </p:nvCxnSpPr>
        <p:spPr>
          <a:xfrm flipV="1">
            <a:off x="5023436" y="2216466"/>
            <a:ext cx="424696" cy="634250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chemeClr val="accent1"/>
            </a:solidFill>
            <a:prstDash val="solid"/>
            <a:headEnd type="none"/>
            <a:tailEnd type="triangle"/>
          </a:ln>
        </p:spPr>
      </p:cxnSp>
      <p:sp>
        <p:nvSpPr>
          <p:cNvPr id="159" name="직사각형 158">
            <a:extLst>
              <a:ext uri="{FF2B5EF4-FFF2-40B4-BE49-F238E27FC236}">
                <a16:creationId xmlns:a16="http://schemas.microsoft.com/office/drawing/2014/main" id="{1F732118-666E-4542-8530-F6AD2A384259}"/>
              </a:ext>
            </a:extLst>
          </p:cNvPr>
          <p:cNvSpPr/>
          <p:nvPr/>
        </p:nvSpPr>
        <p:spPr>
          <a:xfrm>
            <a:off x="5451058" y="2431582"/>
            <a:ext cx="941068" cy="186773"/>
          </a:xfrm>
          <a:prstGeom prst="rect">
            <a:avLst/>
          </a:prstGeom>
          <a:noFill/>
          <a:ln w="12700">
            <a:noFill/>
            <a:prstDash val="dash"/>
          </a:ln>
        </p:spPr>
        <p:txBody>
          <a:bodyPr rtlCol="0" anchor="ctr"/>
          <a:lstStyle/>
          <a:p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</a:rPr>
              <a:t>위치∙크기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∙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</a:rPr>
              <a:t>tier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</a:rPr>
              <a:t>조회</a:t>
            </a:r>
            <a:endParaRPr lang="en-US" altLang="ko-KR" sz="700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61" name="그룹 160"/>
          <p:cNvGrpSpPr/>
          <p:nvPr/>
        </p:nvGrpSpPr>
        <p:grpSpPr>
          <a:xfrm>
            <a:off x="1225081" y="2115909"/>
            <a:ext cx="927192" cy="1590324"/>
            <a:chOff x="1235467" y="2693125"/>
            <a:chExt cx="923728" cy="1590324"/>
          </a:xfrm>
        </p:grpSpPr>
        <p:sp>
          <p:nvSpPr>
            <p:cNvPr id="162" name="Shape 59">
              <a:extLst>
                <a:ext uri="{FF2B5EF4-FFF2-40B4-BE49-F238E27FC236}">
                  <a16:creationId xmlns:a16="http://schemas.microsoft.com/office/drawing/2014/main" id="{67748352-D195-48A3-8563-9385B634D68C}"/>
                </a:ext>
              </a:extLst>
            </p:cNvPr>
            <p:cNvSpPr/>
            <p:nvPr/>
          </p:nvSpPr>
          <p:spPr>
            <a:xfrm>
              <a:off x="1235467" y="2693125"/>
              <a:ext cx="923728" cy="1590324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altLang="ko-KR" sz="1000" dirty="0"/>
                <a:t>Resource Manager</a:t>
              </a:r>
              <a:endParaRPr lang="ko-KR" altLang="en-US" sz="1000" dirty="0"/>
            </a:p>
          </p:txBody>
        </p:sp>
        <p:sp>
          <p:nvSpPr>
            <p:cNvPr id="163" name="Shape 37">
              <a:extLst>
                <a:ext uri="{FF2B5EF4-FFF2-40B4-BE49-F238E27FC236}">
                  <a16:creationId xmlns:a16="http://schemas.microsoft.com/office/drawing/2014/main" id="{306B7634-9A5E-4F0E-A947-927E7282352F}"/>
                </a:ext>
              </a:extLst>
            </p:cNvPr>
            <p:cNvSpPr/>
            <p:nvPr/>
          </p:nvSpPr>
          <p:spPr>
            <a:xfrm>
              <a:off x="1307788" y="3277959"/>
              <a:ext cx="761643" cy="297203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Telemetry Collector</a:t>
              </a:r>
            </a:p>
          </p:txBody>
        </p:sp>
        <p:sp>
          <p:nvSpPr>
            <p:cNvPr id="165" name="Shape 37">
              <a:extLst>
                <a:ext uri="{FF2B5EF4-FFF2-40B4-BE49-F238E27FC236}">
                  <a16:creationId xmlns:a16="http://schemas.microsoft.com/office/drawing/2014/main" id="{306B7634-9A5E-4F0E-A947-927E7282352F}"/>
                </a:ext>
              </a:extLst>
            </p:cNvPr>
            <p:cNvSpPr/>
            <p:nvPr/>
          </p:nvSpPr>
          <p:spPr>
            <a:xfrm>
              <a:off x="1307788" y="3767519"/>
              <a:ext cx="761643" cy="297203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Memory Registry</a:t>
              </a:r>
            </a:p>
          </p:txBody>
        </p:sp>
      </p:grpSp>
      <p:cxnSp>
        <p:nvCxnSpPr>
          <p:cNvPr id="167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140" idx="1"/>
            <a:endCxn id="163" idx="3"/>
          </p:cNvCxnSpPr>
          <p:nvPr/>
        </p:nvCxnSpPr>
        <p:spPr>
          <a:xfrm rot="10800000" flipV="1">
            <a:off x="2062173" y="2286703"/>
            <a:ext cx="1148685" cy="562642"/>
          </a:xfrm>
          <a:prstGeom prst="bentConnector3">
            <a:avLst>
              <a:gd name="adj1" fmla="val 74324"/>
            </a:avLst>
          </a:prstGeom>
          <a:noFill/>
          <a:ln w="635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68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150" idx="1"/>
            <a:endCxn id="165" idx="3"/>
          </p:cNvCxnSpPr>
          <p:nvPr/>
        </p:nvCxnSpPr>
        <p:spPr>
          <a:xfrm rot="10800000">
            <a:off x="2062172" y="3338905"/>
            <a:ext cx="1601010" cy="531086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169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140" idx="0"/>
            <a:endCxn id="173" idx="2"/>
          </p:cNvCxnSpPr>
          <p:nvPr/>
        </p:nvCxnSpPr>
        <p:spPr>
          <a:xfrm flipH="1" flipV="1">
            <a:off x="3783489" y="2013064"/>
            <a:ext cx="1339" cy="110177"/>
          </a:xfrm>
          <a:prstGeom prst="straightConnector1">
            <a:avLst/>
          </a:prstGeom>
          <a:noFill/>
          <a:ln w="6350">
            <a:solidFill>
              <a:srgbClr val="888C91"/>
            </a:solidFill>
            <a:prstDash val="solid"/>
            <a:headEnd type="triangle" w="med" len="med"/>
            <a:tailEnd type="none" w="med" len="med"/>
          </a:ln>
        </p:spPr>
      </p:cxnSp>
      <p:grpSp>
        <p:nvGrpSpPr>
          <p:cNvPr id="170" name="그룹 169"/>
          <p:cNvGrpSpPr/>
          <p:nvPr/>
        </p:nvGrpSpPr>
        <p:grpSpPr>
          <a:xfrm>
            <a:off x="1960252" y="1794154"/>
            <a:ext cx="2418823" cy="218910"/>
            <a:chOff x="1960252" y="1883914"/>
            <a:chExt cx="2418823" cy="218910"/>
          </a:xfrm>
        </p:grpSpPr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1960252" y="1901995"/>
              <a:ext cx="970609" cy="18677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txBody>
            <a:bodyPr rtlCol="0" anchor="ctr"/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Event push (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비동기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</a:p>
          </p:txBody>
        </p:sp>
        <p:cxnSp>
          <p:nvCxnSpPr>
            <p:cNvPr id="172" name="직선 화살표 연결선 185">
              <a:extLst>
                <a:ext uri="{FF2B5EF4-FFF2-40B4-BE49-F238E27FC236}">
                  <a16:creationId xmlns:a16="http://schemas.microsoft.com/office/drawing/2014/main" id="{C77B044C-CFD5-4C99-9B08-C9CDFDD38AC5}"/>
                </a:ext>
              </a:extLst>
            </p:cNvPr>
            <p:cNvCxnSpPr>
              <a:cxnSpLocks/>
              <a:stCxn id="173" idx="1"/>
              <a:endCxn id="171" idx="3"/>
            </p:cNvCxnSpPr>
            <p:nvPr/>
          </p:nvCxnSpPr>
          <p:spPr>
            <a:xfrm flipH="1">
              <a:off x="2930861" y="1993369"/>
              <a:ext cx="257042" cy="2013"/>
            </a:xfrm>
            <a:prstGeom prst="straightConnector1">
              <a:avLst/>
            </a:prstGeom>
            <a:noFill/>
            <a:ln w="6350">
              <a:solidFill>
                <a:srgbClr val="888C91"/>
              </a:solidFill>
              <a:prstDash val="solid"/>
              <a:headEnd type="triangle" w="med" len="med"/>
              <a:tailEnd type="none" w="med" len="med"/>
            </a:ln>
          </p:spPr>
        </p:cxn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3187903" y="1883914"/>
              <a:ext cx="1191172" cy="218910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Migration Scheduler</a:t>
              </a:r>
            </a:p>
          </p:txBody>
        </p:sp>
      </p:grpSp>
      <p:grpSp>
        <p:nvGrpSpPr>
          <p:cNvPr id="25" name="그룹 24"/>
          <p:cNvGrpSpPr/>
          <p:nvPr/>
        </p:nvGrpSpPr>
        <p:grpSpPr>
          <a:xfrm>
            <a:off x="1322527" y="3993928"/>
            <a:ext cx="1865376" cy="429768"/>
            <a:chOff x="1225296" y="4169663"/>
            <a:chExt cx="1865376" cy="429768"/>
          </a:xfrm>
        </p:grpSpPr>
        <p:sp>
          <p:nvSpPr>
            <p:cNvPr id="174" name="MemIF_C1_bar"/>
            <p:cNvSpPr/>
            <p:nvPr/>
          </p:nvSpPr>
          <p:spPr>
            <a:xfrm>
              <a:off x="1225296" y="4169663"/>
              <a:ext cx="1865376" cy="429768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t"/>
            <a:lstStyle/>
            <a:p>
              <a:pPr algn="ctr"/>
              <a:r>
                <a:rPr sz="650" b="1" dirty="0" err="1">
                  <a:solidFill>
                    <a:srgbClr val="FFFFFF"/>
                  </a:solidFill>
                  <a:latin typeface="맑은 고딕"/>
                  <a:ea typeface="맑은 고딕"/>
                </a:rPr>
                <a:t>공통</a:t>
              </a:r>
              <a:r>
                <a:rPr sz="650" b="1" dirty="0">
                  <a:solidFill>
                    <a:srgbClr val="FFFFFF"/>
                  </a:solidFill>
                  <a:latin typeface="맑은 고딕"/>
                  <a:ea typeface="맑은 고딕"/>
                </a:rPr>
                <a:t> Memory Backend I/F (Plug-in)</a:t>
              </a:r>
            </a:p>
          </p:txBody>
        </p:sp>
        <p:sp>
          <p:nvSpPr>
            <p:cNvPr id="175" name="MemIF_C1_face1"/>
            <p:cNvSpPr/>
            <p:nvPr/>
          </p:nvSpPr>
          <p:spPr>
            <a:xfrm>
              <a:off x="1252728" y="4297679"/>
              <a:ext cx="891540" cy="2651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4040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r>
                <a:rPr sz="58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② Telemetry</a:t>
              </a:r>
            </a:p>
            <a:p>
              <a:pPr algn="ctr"/>
              <a:r>
                <a:rPr sz="580" b="0" dirty="0">
                  <a:solidFill>
                    <a:srgbClr val="1A1A1A"/>
                  </a:solidFill>
                  <a:latin typeface="맑은 고딕"/>
                  <a:ea typeface="맑은 고딕"/>
                </a:rPr>
                <a:t>→ </a:t>
              </a:r>
              <a:r>
                <a:rPr sz="580" b="0" dirty="0" err="1">
                  <a:solidFill>
                    <a:srgbClr val="1A1A1A"/>
                  </a:solidFill>
                  <a:latin typeface="맑은 고딕"/>
                  <a:ea typeface="맑은 고딕"/>
                </a:rPr>
                <a:t>capacity·BW·load</a:t>
              </a:r>
              <a:endParaRPr sz="580" b="0" dirty="0">
                <a:solidFill>
                  <a:srgbClr val="1A1A1A"/>
                </a:solidFill>
                <a:latin typeface="맑은 고딕"/>
                <a:ea typeface="맑은 고딕"/>
              </a:endParaRPr>
            </a:p>
          </p:txBody>
        </p:sp>
        <p:sp>
          <p:nvSpPr>
            <p:cNvPr id="176" name="MemIF_C1_face2"/>
            <p:cNvSpPr/>
            <p:nvPr/>
          </p:nvSpPr>
          <p:spPr>
            <a:xfrm>
              <a:off x="2171700" y="4297679"/>
              <a:ext cx="891540" cy="26517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40404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18288" tIns="9144" rIns="18288" bIns="9144" rtlCol="0" anchor="ctr"/>
            <a:lstStyle/>
            <a:p>
              <a:pPr algn="ctr"/>
              <a:r>
                <a:rPr sz="58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①③ </a:t>
              </a:r>
              <a:r>
                <a:rPr sz="580" b="1" dirty="0" err="1">
                  <a:solidFill>
                    <a:srgbClr val="1A1A1A"/>
                  </a:solidFill>
                  <a:latin typeface="맑은 고딕"/>
                  <a:ea typeface="맑은 고딕"/>
                </a:rPr>
                <a:t>Desc</a:t>
              </a:r>
              <a:r>
                <a:rPr sz="580" b="1" dirty="0">
                  <a:solidFill>
                    <a:srgbClr val="1A1A1A"/>
                  </a:solidFill>
                  <a:latin typeface="맑은 고딕"/>
                  <a:ea typeface="맑은 고딕"/>
                </a:rPr>
                <a:t>.·Binding</a:t>
              </a:r>
            </a:p>
            <a:p>
              <a:pPr algn="ctr"/>
              <a:r>
                <a:rPr sz="580" b="0" dirty="0">
                  <a:solidFill>
                    <a:srgbClr val="1A1A1A"/>
                  </a:solidFill>
                  <a:latin typeface="맑은 고딕"/>
                  <a:ea typeface="맑은 고딕"/>
                </a:rPr>
                <a:t>→ </a:t>
              </a:r>
              <a:r>
                <a:rPr sz="580" b="0" dirty="0" err="1">
                  <a:solidFill>
                    <a:srgbClr val="1A1A1A"/>
                  </a:solidFill>
                  <a:latin typeface="맑은 고딕"/>
                  <a:ea typeface="맑은 고딕"/>
                </a:rPr>
                <a:t>capability·cost</a:t>
              </a:r>
              <a:endParaRPr sz="580" b="0" dirty="0">
                <a:solidFill>
                  <a:srgbClr val="1A1A1A"/>
                </a:solidFill>
                <a:latin typeface="맑은 고딕"/>
                <a:ea typeface="맑은 고딕"/>
              </a:endParaRPr>
            </a:p>
          </p:txBody>
        </p:sp>
      </p:grpSp>
      <p:cxnSp>
        <p:nvCxnSpPr>
          <p:cNvPr id="177" name="MemIF_C1_link"/>
          <p:cNvCxnSpPr/>
          <p:nvPr/>
        </p:nvCxnSpPr>
        <p:spPr>
          <a:xfrm>
            <a:off x="1722596" y="3721796"/>
            <a:ext cx="0" cy="245173"/>
          </a:xfrm>
          <a:prstGeom prst="line">
            <a:avLst/>
          </a:prstGeom>
          <a:ln w="1270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8" name="tag_C1_MR"/>
          <p:cNvSpPr/>
          <p:nvPr/>
        </p:nvSpPr>
        <p:spPr>
          <a:xfrm>
            <a:off x="1947672" y="3456432"/>
            <a:ext cx="219456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00" b="1" dirty="0">
                <a:solidFill>
                  <a:srgbClr val="FFFFFF"/>
                </a:solidFill>
                <a:latin typeface="맑은 고딕"/>
                <a:ea typeface="맑은 고딕"/>
              </a:rPr>
              <a:t>①③</a:t>
            </a:r>
          </a:p>
        </p:txBody>
      </p:sp>
      <p:sp>
        <p:nvSpPr>
          <p:cNvPr id="179" name="tag_C1_to_RSM"/>
          <p:cNvSpPr/>
          <p:nvPr/>
        </p:nvSpPr>
        <p:spPr>
          <a:xfrm>
            <a:off x="1983306" y="2949521"/>
            <a:ext cx="155448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00" b="1" dirty="0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180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3866357" y="3265065"/>
            <a:ext cx="1851167" cy="231425"/>
          </a:xfrm>
          <a:prstGeom prst="rect">
            <a:avLst/>
          </a:prstGeom>
          <a:noFill/>
          <a:ln w="11430">
            <a:solidFill>
              <a:srgbClr val="FF0000"/>
            </a:solidFill>
            <a:prstDash val="solid"/>
            <a:headEnd type="none"/>
            <a:tailEnd type="triangle"/>
          </a:ln>
        </p:spPr>
        <p:txBody>
          <a:bodyPr anchor="ctr"/>
          <a:lstStyle/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Data-Memory Affinity Mapper</a:t>
            </a:r>
          </a:p>
        </p:txBody>
      </p:sp>
      <p:cxnSp>
        <p:nvCxnSpPr>
          <p:cNvPr id="181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80" idx="2"/>
            <a:endCxn id="146" idx="0"/>
          </p:cNvCxnSpPr>
          <p:nvPr/>
        </p:nvCxnSpPr>
        <p:spPr>
          <a:xfrm rot="16200000" flipH="1">
            <a:off x="5080190" y="3208241"/>
            <a:ext cx="204796" cy="781294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FF0000"/>
            </a:solidFill>
            <a:prstDash val="solid"/>
            <a:headEnd type="none"/>
            <a:tailEnd type="triangle"/>
          </a:ln>
        </p:spPr>
      </p:cxnSp>
      <p:cxnSp>
        <p:nvCxnSpPr>
          <p:cNvPr id="195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80" idx="2"/>
            <a:endCxn id="150" idx="0"/>
          </p:cNvCxnSpPr>
          <p:nvPr/>
        </p:nvCxnSpPr>
        <p:spPr>
          <a:xfrm rot="5400000">
            <a:off x="4412876" y="3321511"/>
            <a:ext cx="204086" cy="554044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FF0000"/>
            </a:solidFill>
            <a:prstDash val="solid"/>
            <a:headEnd type="none"/>
            <a:tailEnd type="triangle"/>
          </a:ln>
        </p:spPr>
      </p:cxnSp>
      <p:cxnSp>
        <p:nvCxnSpPr>
          <p:cNvPr id="200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39" idx="2"/>
            <a:endCxn id="180" idx="0"/>
          </p:cNvCxnSpPr>
          <p:nvPr/>
        </p:nvCxnSpPr>
        <p:spPr>
          <a:xfrm rot="16200000" flipH="1">
            <a:off x="3830909" y="2304033"/>
            <a:ext cx="243506" cy="1678558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FF0000"/>
            </a:solidFill>
            <a:prstDash val="solid"/>
            <a:headEnd type="none"/>
            <a:tailEnd type="triangle"/>
          </a:ln>
        </p:spPr>
      </p:cxnSp>
      <p:cxnSp>
        <p:nvCxnSpPr>
          <p:cNvPr id="204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147" idx="2"/>
            <a:endCxn id="180" idx="0"/>
          </p:cNvCxnSpPr>
          <p:nvPr/>
        </p:nvCxnSpPr>
        <p:spPr>
          <a:xfrm rot="16200000" flipH="1">
            <a:off x="4497864" y="2970987"/>
            <a:ext cx="244935" cy="343219"/>
          </a:xfrm>
          <a:prstGeom prst="bentConnector3">
            <a:avLst>
              <a:gd name="adj1" fmla="val 50000"/>
            </a:avLst>
          </a:prstGeom>
          <a:noFill/>
          <a:ln w="11430">
            <a:solidFill>
              <a:srgbClr val="FF0000"/>
            </a:solidFill>
            <a:prstDash val="solid"/>
            <a:headEnd type="none"/>
            <a:tailEnd type="triangle"/>
          </a:ln>
        </p:spPr>
      </p:cxnSp>
      <p:sp>
        <p:nvSpPr>
          <p:cNvPr id="211" name="Shape 56">
            <a:extLst>
              <a:ext uri="{FF2B5EF4-FFF2-40B4-BE49-F238E27FC236}">
                <a16:creationId xmlns:a16="http://schemas.microsoft.com/office/drawing/2014/main" id="{33C7046D-072B-4A63-B8E3-E6FE269F4E83}"/>
              </a:ext>
            </a:extLst>
          </p:cNvPr>
          <p:cNvSpPr/>
          <p:nvPr/>
        </p:nvSpPr>
        <p:spPr>
          <a:xfrm>
            <a:off x="9208179" y="3673181"/>
            <a:ext cx="0" cy="0"/>
          </a:xfrm>
          <a:prstGeom prst="line">
            <a:avLst/>
          </a:prstGeom>
          <a:noFill/>
          <a:ln w="16510">
            <a:solidFill>
              <a:srgbClr val="4D7EA8"/>
            </a:solidFill>
            <a:prstDash val="solid"/>
            <a:headEnd type="none"/>
            <a:tailEnd type="none"/>
          </a:ln>
        </p:spPr>
      </p:sp>
      <p:sp>
        <p:nvSpPr>
          <p:cNvPr id="212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8806439" y="2116860"/>
            <a:ext cx="1147942" cy="3269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Behavior Monitor</a:t>
            </a:r>
          </a:p>
        </p:txBody>
      </p:sp>
      <p:cxnSp>
        <p:nvCxnSpPr>
          <p:cNvPr id="213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12" idx="2"/>
            <a:endCxn id="227" idx="0"/>
          </p:cNvCxnSpPr>
          <p:nvPr/>
        </p:nvCxnSpPr>
        <p:spPr>
          <a:xfrm>
            <a:off x="9380410" y="2443783"/>
            <a:ext cx="0" cy="161733"/>
          </a:xfrm>
          <a:prstGeom prst="straightConnector1">
            <a:avLst/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sp>
        <p:nvSpPr>
          <p:cNvPr id="214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8813682" y="4166182"/>
            <a:ext cx="1149429" cy="231425"/>
          </a:xfrm>
          <a:prstGeom prst="rect">
            <a:avLst/>
          </a:prstGeom>
          <a:solidFill>
            <a:srgbClr val="F0F1F3"/>
          </a:solidFill>
          <a:ln w="12700">
            <a:solidFill>
              <a:srgbClr val="888C91"/>
            </a:solidFill>
            <a:prstDash val="solid"/>
          </a:ln>
        </p:spPr>
        <p:txBody>
          <a:bodyPr anchor="ctr"/>
          <a:lstStyle/>
          <a:p>
            <a:pPr algn="ctr" latinLnBrk="0"/>
            <a:r>
              <a:rPr lang="en-US" altLang="ko-KR" sz="800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Migration Executor</a:t>
            </a:r>
          </a:p>
        </p:txBody>
      </p:sp>
      <p:cxnSp>
        <p:nvCxnSpPr>
          <p:cNvPr id="215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30" idx="2"/>
            <a:endCxn id="214" idx="0"/>
          </p:cNvCxnSpPr>
          <p:nvPr/>
        </p:nvCxnSpPr>
        <p:spPr>
          <a:xfrm rot="16200000" flipH="1">
            <a:off x="8939077" y="3716862"/>
            <a:ext cx="179352" cy="71928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cxnSp>
        <p:nvCxnSpPr>
          <p:cNvPr id="216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29" idx="2"/>
            <a:endCxn id="214" idx="0"/>
          </p:cNvCxnSpPr>
          <p:nvPr/>
        </p:nvCxnSpPr>
        <p:spPr>
          <a:xfrm rot="5400000">
            <a:off x="9684841" y="3690386"/>
            <a:ext cx="179352" cy="77224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sp>
        <p:nvSpPr>
          <p:cNvPr id="217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11009431" y="2565548"/>
            <a:ext cx="785076" cy="2545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anchor="ctr"/>
          <a:lstStyle/>
          <a:p>
            <a:pPr lvl="0" algn="ctr"/>
            <a:r>
              <a:rPr lang="en-US" altLang="ko-KR" sz="900" b="1" dirty="0">
                <a:solidFill>
                  <a:prstClr val="white">
                    <a:lumMod val="65000"/>
                  </a:prst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</a:t>
            </a:r>
          </a:p>
          <a:p>
            <a:pPr lvl="0" algn="ctr"/>
            <a:r>
              <a:rPr lang="en-US" altLang="ko-KR" sz="600" b="1" dirty="0">
                <a:solidFill>
                  <a:prstClr val="white">
                    <a:lumMod val="65000"/>
                  </a:prst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(Agent Memory)</a:t>
            </a:r>
          </a:p>
        </p:txBody>
      </p:sp>
      <p:sp>
        <p:nvSpPr>
          <p:cNvPr id="218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11009431" y="2242372"/>
            <a:ext cx="785076" cy="2545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KV Cache </a:t>
            </a:r>
          </a:p>
          <a:p>
            <a:pPr algn="ctr"/>
            <a:r>
              <a:rPr lang="en-US" altLang="ko-KR" sz="6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(System Prompt)</a:t>
            </a:r>
          </a:p>
        </p:txBody>
      </p:sp>
      <p:sp>
        <p:nvSpPr>
          <p:cNvPr id="219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11009431" y="2888724"/>
            <a:ext cx="785076" cy="2545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LoRA</a:t>
            </a: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Adapter </a:t>
            </a:r>
          </a:p>
        </p:txBody>
      </p:sp>
      <p:sp>
        <p:nvSpPr>
          <p:cNvPr id="220" name="Shape 39">
            <a:extLst>
              <a:ext uri="{FF2B5EF4-FFF2-40B4-BE49-F238E27FC236}">
                <a16:creationId xmlns:a16="http://schemas.microsoft.com/office/drawing/2014/main" id="{F7D82DE9-0B6E-4CB1-A5F0-9E4D7591B816}"/>
              </a:ext>
            </a:extLst>
          </p:cNvPr>
          <p:cNvSpPr/>
          <p:nvPr/>
        </p:nvSpPr>
        <p:spPr>
          <a:xfrm>
            <a:off x="11009431" y="3211900"/>
            <a:ext cx="785076" cy="254568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 err="1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MoE</a:t>
            </a:r>
            <a:r>
              <a:rPr lang="en-US" altLang="ko-KR" sz="900" b="1" dirty="0">
                <a:solidFill>
                  <a:schemeClr val="bg1">
                    <a:lumMod val="65000"/>
                  </a:schemeClr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Expert </a:t>
            </a:r>
          </a:p>
        </p:txBody>
      </p:sp>
      <p:sp>
        <p:nvSpPr>
          <p:cNvPr id="221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10432876" y="1790904"/>
            <a:ext cx="862466" cy="35961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</a:t>
            </a:r>
            <a:r>
              <a:rPr lang="ko-KR" alt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</a:t>
            </a:r>
            <a:r>
              <a:rPr lang="ko-KR" altLang="en-US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Registry</a:t>
            </a:r>
          </a:p>
        </p:txBody>
      </p:sp>
      <p:cxnSp>
        <p:nvCxnSpPr>
          <p:cNvPr id="222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12" idx="3"/>
            <a:endCxn id="221" idx="1"/>
          </p:cNvCxnSpPr>
          <p:nvPr/>
        </p:nvCxnSpPr>
        <p:spPr>
          <a:xfrm flipV="1">
            <a:off x="9954381" y="1970712"/>
            <a:ext cx="478495" cy="30961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cxnSp>
        <p:nvCxnSpPr>
          <p:cNvPr id="223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21" idx="2"/>
            <a:endCxn id="218" idx="1"/>
          </p:cNvCxnSpPr>
          <p:nvPr/>
        </p:nvCxnSpPr>
        <p:spPr>
          <a:xfrm rot="16200000" flipH="1">
            <a:off x="10827202" y="2187426"/>
            <a:ext cx="219137" cy="145322"/>
          </a:xfrm>
          <a:prstGeom prst="bentConnector2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  <a:headEnd type="none"/>
            <a:tailEnd type="triangle"/>
          </a:ln>
        </p:spPr>
      </p:cxnSp>
      <p:cxnSp>
        <p:nvCxnSpPr>
          <p:cNvPr id="224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21" idx="2"/>
            <a:endCxn id="217" idx="1"/>
          </p:cNvCxnSpPr>
          <p:nvPr/>
        </p:nvCxnSpPr>
        <p:spPr>
          <a:xfrm rot="16200000" flipH="1">
            <a:off x="10665614" y="2349014"/>
            <a:ext cx="542313" cy="145322"/>
          </a:xfrm>
          <a:prstGeom prst="bentConnector2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  <a:headEnd type="none"/>
            <a:tailEnd type="triangle"/>
          </a:ln>
        </p:spPr>
      </p:cxnSp>
      <p:cxnSp>
        <p:nvCxnSpPr>
          <p:cNvPr id="225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21" idx="2"/>
            <a:endCxn id="219" idx="1"/>
          </p:cNvCxnSpPr>
          <p:nvPr/>
        </p:nvCxnSpPr>
        <p:spPr>
          <a:xfrm rot="16200000" flipH="1">
            <a:off x="10504026" y="2510602"/>
            <a:ext cx="865489" cy="145322"/>
          </a:xfrm>
          <a:prstGeom prst="bentConnector2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  <a:headEnd type="none"/>
            <a:tailEnd type="triangle"/>
          </a:ln>
        </p:spPr>
      </p:cxnSp>
      <p:cxnSp>
        <p:nvCxnSpPr>
          <p:cNvPr id="226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21" idx="2"/>
            <a:endCxn id="220" idx="1"/>
          </p:cNvCxnSpPr>
          <p:nvPr/>
        </p:nvCxnSpPr>
        <p:spPr>
          <a:xfrm rot="16200000" flipH="1">
            <a:off x="10342438" y="2672190"/>
            <a:ext cx="1188665" cy="145322"/>
          </a:xfrm>
          <a:prstGeom prst="bentConnector2">
            <a:avLst/>
          </a:prstGeom>
          <a:noFill/>
          <a:ln w="12700">
            <a:solidFill>
              <a:schemeClr val="accent2">
                <a:lumMod val="40000"/>
                <a:lumOff val="60000"/>
              </a:schemeClr>
            </a:solidFill>
            <a:prstDash val="solid"/>
            <a:headEnd type="none"/>
            <a:tailEnd type="triangle"/>
          </a:ln>
        </p:spPr>
      </p:cxnSp>
      <p:sp>
        <p:nvSpPr>
          <p:cNvPr id="227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8806439" y="2605516"/>
            <a:ext cx="1147942" cy="3269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Behavior-based Trend Analyzer</a:t>
            </a:r>
          </a:p>
        </p:txBody>
      </p:sp>
      <p:sp>
        <p:nvSpPr>
          <p:cNvPr id="228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8806439" y="3084096"/>
            <a:ext cx="1147942" cy="3269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algn="ctr"/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Behavior Predictor</a:t>
            </a:r>
          </a:p>
        </p:txBody>
      </p:sp>
      <p:sp>
        <p:nvSpPr>
          <p:cNvPr id="229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9586666" y="3659907"/>
            <a:ext cx="1147942" cy="3269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Migration Data</a:t>
            </a:r>
          </a:p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Selector</a:t>
            </a:r>
          </a:p>
        </p:txBody>
      </p:sp>
      <p:sp>
        <p:nvSpPr>
          <p:cNvPr id="230" name="Shape 37">
            <a:extLst>
              <a:ext uri="{FF2B5EF4-FFF2-40B4-BE49-F238E27FC236}">
                <a16:creationId xmlns:a16="http://schemas.microsoft.com/office/drawing/2014/main" id="{306B7634-9A5E-4F0E-A947-927E7282352F}"/>
              </a:ext>
            </a:extLst>
          </p:cNvPr>
          <p:cNvSpPr/>
          <p:nvPr/>
        </p:nvSpPr>
        <p:spPr>
          <a:xfrm>
            <a:off x="8095139" y="3659907"/>
            <a:ext cx="1147942" cy="32692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rgbClr val="C76E31"/>
            </a:solidFill>
            <a:prstDash val="solid"/>
          </a:ln>
        </p:spPr>
        <p:txBody>
          <a:bodyPr anchor="ctr"/>
          <a:lstStyle/>
          <a:p>
            <a:pPr lvl="0" algn="ctr">
              <a:defRPr/>
            </a:pPr>
            <a:r>
              <a:rPr lang="en-US" altLang="ko-KR" sz="900" b="1" dirty="0">
                <a:solidFill>
                  <a:srgbClr val="1A1A1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 Tier Selector</a:t>
            </a:r>
          </a:p>
        </p:txBody>
      </p:sp>
      <p:cxnSp>
        <p:nvCxnSpPr>
          <p:cNvPr id="232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27" idx="2"/>
            <a:endCxn id="228" idx="0"/>
          </p:cNvCxnSpPr>
          <p:nvPr/>
        </p:nvCxnSpPr>
        <p:spPr>
          <a:xfrm>
            <a:off x="9380410" y="2932439"/>
            <a:ext cx="0" cy="151657"/>
          </a:xfrm>
          <a:prstGeom prst="straightConnector1">
            <a:avLst/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cxnSp>
        <p:nvCxnSpPr>
          <p:cNvPr id="233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28" idx="2"/>
            <a:endCxn id="229" idx="0"/>
          </p:cNvCxnSpPr>
          <p:nvPr/>
        </p:nvCxnSpPr>
        <p:spPr>
          <a:xfrm rot="16200000" flipH="1">
            <a:off x="9646079" y="3145349"/>
            <a:ext cx="248888" cy="780227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cxnSp>
        <p:nvCxnSpPr>
          <p:cNvPr id="234" name="직선 화살표 연결선 185">
            <a:extLst>
              <a:ext uri="{FF2B5EF4-FFF2-40B4-BE49-F238E27FC236}">
                <a16:creationId xmlns:a16="http://schemas.microsoft.com/office/drawing/2014/main" id="{63055888-A989-4681-8232-E5AD42EA4D88}"/>
              </a:ext>
            </a:extLst>
          </p:cNvPr>
          <p:cNvCxnSpPr>
            <a:cxnSpLocks/>
            <a:stCxn id="228" idx="2"/>
            <a:endCxn id="230" idx="0"/>
          </p:cNvCxnSpPr>
          <p:nvPr/>
        </p:nvCxnSpPr>
        <p:spPr>
          <a:xfrm rot="5400000">
            <a:off x="8900316" y="3179813"/>
            <a:ext cx="248888" cy="711300"/>
          </a:xfrm>
          <a:prstGeom prst="bentConnector3">
            <a:avLst>
              <a:gd name="adj1" fmla="val 50000"/>
            </a:avLst>
          </a:prstGeom>
          <a:noFill/>
          <a:ln w="12700">
            <a:solidFill>
              <a:srgbClr val="C76E31"/>
            </a:solidFill>
            <a:prstDash val="solid"/>
            <a:headEnd type="none"/>
            <a:tailEnd type="triangle"/>
          </a:ln>
        </p:spPr>
      </p:cxnSp>
      <p:grpSp>
        <p:nvGrpSpPr>
          <p:cNvPr id="238" name="그룹 237"/>
          <p:cNvGrpSpPr/>
          <p:nvPr/>
        </p:nvGrpSpPr>
        <p:grpSpPr>
          <a:xfrm>
            <a:off x="10964276" y="3564274"/>
            <a:ext cx="872628" cy="347359"/>
            <a:chOff x="11040384" y="4137943"/>
            <a:chExt cx="872628" cy="347359"/>
          </a:xfrm>
        </p:grpSpPr>
        <p:grpSp>
          <p:nvGrpSpPr>
            <p:cNvPr id="239" name="그룹 238"/>
            <p:cNvGrpSpPr/>
            <p:nvPr/>
          </p:nvGrpSpPr>
          <p:grpSpPr>
            <a:xfrm>
              <a:off x="11040384" y="4137943"/>
              <a:ext cx="788371" cy="258772"/>
              <a:chOff x="7752318" y="2902314"/>
              <a:chExt cx="686990" cy="258772"/>
            </a:xfrm>
          </p:grpSpPr>
          <p:sp>
            <p:nvSpPr>
              <p:cNvPr id="254" name="모서리가 접힌 도형 253"/>
              <p:cNvSpPr/>
              <p:nvPr/>
            </p:nvSpPr>
            <p:spPr>
              <a:xfrm>
                <a:off x="7810500" y="2902314"/>
                <a:ext cx="563979" cy="258772"/>
              </a:xfrm>
              <a:prstGeom prst="foldedCorner">
                <a:avLst>
                  <a:gd name="adj" fmla="val 2788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5" name="직사각형 254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7752318" y="2932987"/>
                <a:ext cx="686990" cy="197425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r>
                  <a:rPr lang="ko-KR" altLang="en-US" sz="600" dirty="0"/>
                  <a:t>데이터 </a:t>
                </a:r>
                <a:r>
                  <a:rPr lang="en-US" altLang="ko-KR" sz="600" dirty="0"/>
                  <a:t>Type</a:t>
                </a:r>
                <a:r>
                  <a:rPr lang="ko-KR" altLang="en-US" sz="600" dirty="0"/>
                  <a:t>별 </a:t>
                </a:r>
                <a:r>
                  <a:rPr lang="en-US" altLang="ko-KR" sz="600" dirty="0"/>
                  <a:t>Behavior </a:t>
                </a:r>
                <a:r>
                  <a:rPr lang="ko-KR" altLang="en-US" sz="600" dirty="0"/>
                  <a:t>로그</a:t>
                </a:r>
                <a:endParaRPr lang="en-US" altLang="ko-KR" sz="600" dirty="0"/>
              </a:p>
            </p:txBody>
          </p:sp>
        </p:grpSp>
        <p:grpSp>
          <p:nvGrpSpPr>
            <p:cNvPr id="240" name="그룹 239"/>
            <p:cNvGrpSpPr/>
            <p:nvPr/>
          </p:nvGrpSpPr>
          <p:grpSpPr>
            <a:xfrm>
              <a:off x="11068808" y="4168822"/>
              <a:ext cx="788371" cy="258772"/>
              <a:chOff x="7752318" y="2902314"/>
              <a:chExt cx="686990" cy="258772"/>
            </a:xfrm>
          </p:grpSpPr>
          <p:sp>
            <p:nvSpPr>
              <p:cNvPr id="252" name="모서리가 접힌 도형 251"/>
              <p:cNvSpPr/>
              <p:nvPr/>
            </p:nvSpPr>
            <p:spPr>
              <a:xfrm>
                <a:off x="7810500" y="2902314"/>
                <a:ext cx="563979" cy="258772"/>
              </a:xfrm>
              <a:prstGeom prst="foldedCorner">
                <a:avLst>
                  <a:gd name="adj" fmla="val 2788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3" name="직사각형 252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7752318" y="2932987"/>
                <a:ext cx="686990" cy="197425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r>
                  <a:rPr lang="ko-KR" altLang="en-US" sz="600" dirty="0"/>
                  <a:t>데이터 </a:t>
                </a:r>
                <a:r>
                  <a:rPr lang="en-US" altLang="ko-KR" sz="600" dirty="0"/>
                  <a:t>Type</a:t>
                </a:r>
                <a:r>
                  <a:rPr lang="ko-KR" altLang="en-US" sz="600" dirty="0"/>
                  <a:t>별 </a:t>
                </a:r>
                <a:r>
                  <a:rPr lang="en-US" altLang="ko-KR" sz="600" dirty="0"/>
                  <a:t>Behavior </a:t>
                </a:r>
                <a:r>
                  <a:rPr lang="ko-KR" altLang="en-US" sz="600" dirty="0"/>
                  <a:t>로그</a:t>
                </a:r>
                <a:endParaRPr lang="en-US" altLang="ko-KR" sz="600" dirty="0"/>
              </a:p>
            </p:txBody>
          </p:sp>
        </p:grpSp>
        <p:grpSp>
          <p:nvGrpSpPr>
            <p:cNvPr id="241" name="그룹 240"/>
            <p:cNvGrpSpPr/>
            <p:nvPr/>
          </p:nvGrpSpPr>
          <p:grpSpPr>
            <a:xfrm>
              <a:off x="11099474" y="4196592"/>
              <a:ext cx="788371" cy="258772"/>
              <a:chOff x="7752318" y="2902314"/>
              <a:chExt cx="686990" cy="258772"/>
            </a:xfrm>
          </p:grpSpPr>
          <p:sp>
            <p:nvSpPr>
              <p:cNvPr id="250" name="모서리가 접힌 도형 249"/>
              <p:cNvSpPr/>
              <p:nvPr/>
            </p:nvSpPr>
            <p:spPr>
              <a:xfrm>
                <a:off x="7810500" y="2902314"/>
                <a:ext cx="563979" cy="258772"/>
              </a:xfrm>
              <a:prstGeom prst="foldedCorner">
                <a:avLst>
                  <a:gd name="adj" fmla="val 2788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1" name="직사각형 250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7752318" y="2932987"/>
                <a:ext cx="686990" cy="197425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r>
                  <a:rPr lang="ko-KR" altLang="en-US" sz="600" dirty="0"/>
                  <a:t>데이터 </a:t>
                </a:r>
                <a:r>
                  <a:rPr lang="en-US" altLang="ko-KR" sz="600" dirty="0"/>
                  <a:t>Class</a:t>
                </a:r>
                <a:r>
                  <a:rPr lang="ko-KR" altLang="en-US" sz="600" dirty="0"/>
                  <a:t>별 </a:t>
                </a:r>
                <a:r>
                  <a:rPr lang="en-US" altLang="ko-KR" sz="600" dirty="0"/>
                  <a:t>Metadata</a:t>
                </a:r>
              </a:p>
            </p:txBody>
          </p:sp>
        </p:grpSp>
        <p:grpSp>
          <p:nvGrpSpPr>
            <p:cNvPr id="242" name="그룹 241"/>
            <p:cNvGrpSpPr/>
            <p:nvPr/>
          </p:nvGrpSpPr>
          <p:grpSpPr>
            <a:xfrm>
              <a:off x="11124641" y="4226530"/>
              <a:ext cx="788371" cy="258772"/>
              <a:chOff x="7752318" y="2902314"/>
              <a:chExt cx="686990" cy="258772"/>
            </a:xfrm>
          </p:grpSpPr>
          <p:sp>
            <p:nvSpPr>
              <p:cNvPr id="248" name="모서리가 접힌 도형 247"/>
              <p:cNvSpPr/>
              <p:nvPr/>
            </p:nvSpPr>
            <p:spPr>
              <a:xfrm>
                <a:off x="7810500" y="2902314"/>
                <a:ext cx="563979" cy="258772"/>
              </a:xfrm>
              <a:prstGeom prst="foldedCorner">
                <a:avLst>
                  <a:gd name="adj" fmla="val 27888"/>
                </a:avLst>
              </a:prstGeom>
              <a:solidFill>
                <a:schemeClr val="bg1"/>
              </a:solidFill>
              <a:ln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9" name="직사각형 248">
                <a:extLst>
                  <a:ext uri="{FF2B5EF4-FFF2-40B4-BE49-F238E27FC236}">
                    <a16:creationId xmlns:a16="http://schemas.microsoft.com/office/drawing/2014/main" id="{1F732118-666E-4542-8530-F6AD2A384259}"/>
                  </a:ext>
                </a:extLst>
              </p:cNvPr>
              <p:cNvSpPr/>
              <p:nvPr/>
            </p:nvSpPr>
            <p:spPr>
              <a:xfrm>
                <a:off x="7752318" y="2932987"/>
                <a:ext cx="686990" cy="197425"/>
              </a:xfrm>
              <a:prstGeom prst="rect">
                <a:avLst/>
              </a:prstGeom>
              <a:noFill/>
              <a:ln w="12700">
                <a:noFill/>
                <a:prstDash val="dash"/>
              </a:ln>
            </p:spPr>
            <p:txBody>
              <a:bodyPr rtlCol="0" anchor="ctr"/>
              <a:lstStyle/>
              <a:p>
                <a:r>
                  <a:rPr lang="ko-KR" altLang="en-US" sz="600" dirty="0"/>
                  <a:t>데이터 </a:t>
                </a:r>
                <a:r>
                  <a:rPr lang="en-US" altLang="ko-KR" sz="600" dirty="0"/>
                  <a:t>Class</a:t>
                </a:r>
                <a:r>
                  <a:rPr lang="ko-KR" altLang="en-US" sz="600" dirty="0"/>
                  <a:t>별 </a:t>
                </a:r>
                <a:r>
                  <a:rPr lang="en-US" altLang="ko-KR" sz="600" dirty="0"/>
                  <a:t>Metadata</a:t>
                </a:r>
              </a:p>
            </p:txBody>
          </p:sp>
        </p:grpSp>
      </p:grpSp>
      <p:grpSp>
        <p:nvGrpSpPr>
          <p:cNvPr id="256" name="그룹 255"/>
          <p:cNvGrpSpPr/>
          <p:nvPr/>
        </p:nvGrpSpPr>
        <p:grpSpPr>
          <a:xfrm>
            <a:off x="6714984" y="2242372"/>
            <a:ext cx="923728" cy="1562691"/>
            <a:chOff x="5405727" y="1845809"/>
            <a:chExt cx="1016101" cy="1562691"/>
          </a:xfrm>
        </p:grpSpPr>
        <p:sp>
          <p:nvSpPr>
            <p:cNvPr id="257" name="Shape 59">
              <a:extLst>
                <a:ext uri="{FF2B5EF4-FFF2-40B4-BE49-F238E27FC236}">
                  <a16:creationId xmlns:a16="http://schemas.microsoft.com/office/drawing/2014/main" id="{67748352-D195-48A3-8563-9385B634D68C}"/>
                </a:ext>
              </a:extLst>
            </p:cNvPr>
            <p:cNvSpPr/>
            <p:nvPr/>
          </p:nvSpPr>
          <p:spPr>
            <a:xfrm>
              <a:off x="5405727" y="1845809"/>
              <a:ext cx="1016101" cy="1562691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altLang="ko-KR" sz="1000" dirty="0"/>
                <a:t>Resource Manager</a:t>
              </a:r>
              <a:endParaRPr lang="ko-KR" altLang="en-US" sz="1000" dirty="0"/>
            </a:p>
          </p:txBody>
        </p:sp>
        <p:sp>
          <p:nvSpPr>
            <p:cNvPr id="258" name="Shape 37">
              <a:extLst>
                <a:ext uri="{FF2B5EF4-FFF2-40B4-BE49-F238E27FC236}">
                  <a16:creationId xmlns:a16="http://schemas.microsoft.com/office/drawing/2014/main" id="{306B7634-9A5E-4F0E-A947-927E7282352F}"/>
                </a:ext>
              </a:extLst>
            </p:cNvPr>
            <p:cNvSpPr/>
            <p:nvPr/>
          </p:nvSpPr>
          <p:spPr>
            <a:xfrm>
              <a:off x="5542708" y="2375033"/>
              <a:ext cx="761643" cy="297203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Telemetry Collector</a:t>
              </a:r>
            </a:p>
          </p:txBody>
        </p:sp>
        <p:sp>
          <p:nvSpPr>
            <p:cNvPr id="259" name="Shape 37">
              <a:extLst>
                <a:ext uri="{FF2B5EF4-FFF2-40B4-BE49-F238E27FC236}">
                  <a16:creationId xmlns:a16="http://schemas.microsoft.com/office/drawing/2014/main" id="{306B7634-9A5E-4F0E-A947-927E7282352F}"/>
                </a:ext>
              </a:extLst>
            </p:cNvPr>
            <p:cNvSpPr/>
            <p:nvPr/>
          </p:nvSpPr>
          <p:spPr>
            <a:xfrm>
              <a:off x="5542708" y="2888555"/>
              <a:ext cx="761643" cy="297203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Memory Registry</a:t>
              </a:r>
            </a:p>
          </p:txBody>
        </p:sp>
      </p:grpSp>
      <p:cxnSp>
        <p:nvCxnSpPr>
          <p:cNvPr id="260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230" idx="1"/>
            <a:endCxn id="259" idx="3"/>
          </p:cNvCxnSpPr>
          <p:nvPr/>
        </p:nvCxnSpPr>
        <p:spPr>
          <a:xfrm rot="10800000">
            <a:off x="7531915" y="3433721"/>
            <a:ext cx="563224" cy="389649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888C91"/>
            </a:solidFill>
            <a:prstDash val="solid"/>
            <a:headEnd type="none"/>
            <a:tailEnd type="triangle"/>
          </a:ln>
        </p:spPr>
      </p:cxnSp>
      <p:cxnSp>
        <p:nvCxnSpPr>
          <p:cNvPr id="261" name="직선 화살표 연결선 185">
            <a:extLst>
              <a:ext uri="{FF2B5EF4-FFF2-40B4-BE49-F238E27FC236}">
                <a16:creationId xmlns:a16="http://schemas.microsoft.com/office/drawing/2014/main" id="{C77B044C-CFD5-4C99-9B08-C9CDFDD38AC5}"/>
              </a:ext>
            </a:extLst>
          </p:cNvPr>
          <p:cNvCxnSpPr>
            <a:cxnSpLocks/>
            <a:stCxn id="230" idx="1"/>
            <a:endCxn id="258" idx="3"/>
          </p:cNvCxnSpPr>
          <p:nvPr/>
        </p:nvCxnSpPr>
        <p:spPr>
          <a:xfrm rot="10800000">
            <a:off x="7531915" y="2920199"/>
            <a:ext cx="563224" cy="903171"/>
          </a:xfrm>
          <a:prstGeom prst="bentConnector3">
            <a:avLst>
              <a:gd name="adj1" fmla="val 50000"/>
            </a:avLst>
          </a:prstGeom>
          <a:noFill/>
          <a:ln w="6350">
            <a:solidFill>
              <a:srgbClr val="888C91"/>
            </a:solidFill>
            <a:prstDash val="solid"/>
            <a:headEnd type="none"/>
            <a:tailEnd type="triangle"/>
          </a:ln>
        </p:spPr>
      </p:cxnSp>
      <p:grpSp>
        <p:nvGrpSpPr>
          <p:cNvPr id="262" name="그룹 261"/>
          <p:cNvGrpSpPr/>
          <p:nvPr/>
        </p:nvGrpSpPr>
        <p:grpSpPr>
          <a:xfrm>
            <a:off x="7534966" y="1744439"/>
            <a:ext cx="2442530" cy="232946"/>
            <a:chOff x="7388916" y="1883914"/>
            <a:chExt cx="2442530" cy="232946"/>
          </a:xfrm>
        </p:grpSpPr>
        <p:sp>
          <p:nvSpPr>
            <p:cNvPr id="263" name="직사각형 262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7388916" y="1901995"/>
              <a:ext cx="994316" cy="186773"/>
            </a:xfrm>
            <a:prstGeom prst="rect">
              <a:avLst/>
            </a:prstGeom>
            <a:noFill/>
            <a:ln w="12700">
              <a:solidFill>
                <a:schemeClr val="bg1"/>
              </a:solidFill>
              <a:prstDash val="dash"/>
            </a:ln>
          </p:spPr>
          <p:txBody>
            <a:bodyPr rtlCol="0" anchor="ctr"/>
            <a:lstStyle/>
            <a:p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Event push (</a:t>
              </a:r>
              <a:r>
                <a:rPr lang="ko-KR" altLang="en-US" sz="700" dirty="0">
                  <a:solidFill>
                    <a:schemeClr val="bg1">
                      <a:lumMod val="50000"/>
                    </a:schemeClr>
                  </a:solidFill>
                </a:rPr>
                <a:t>비동기</a:t>
              </a:r>
              <a:r>
                <a:rPr lang="en-US" altLang="ko-KR" sz="700" dirty="0">
                  <a:solidFill>
                    <a:schemeClr val="bg1">
                      <a:lumMod val="50000"/>
                    </a:schemeClr>
                  </a:solidFill>
                </a:rPr>
                <a:t>)</a:t>
              </a:r>
            </a:p>
          </p:txBody>
        </p:sp>
        <p:cxnSp>
          <p:nvCxnSpPr>
            <p:cNvPr id="264" name="직선 화살표 연결선 185">
              <a:extLst>
                <a:ext uri="{FF2B5EF4-FFF2-40B4-BE49-F238E27FC236}">
                  <a16:creationId xmlns:a16="http://schemas.microsoft.com/office/drawing/2014/main" id="{C77B044C-CFD5-4C99-9B08-C9CDFDD38AC5}"/>
                </a:ext>
              </a:extLst>
            </p:cNvPr>
            <p:cNvCxnSpPr>
              <a:cxnSpLocks/>
              <a:stCxn id="212" idx="0"/>
              <a:endCxn id="266" idx="2"/>
            </p:cNvCxnSpPr>
            <p:nvPr/>
          </p:nvCxnSpPr>
          <p:spPr>
            <a:xfrm flipV="1">
              <a:off x="9234360" y="2102824"/>
              <a:ext cx="1500" cy="14036"/>
            </a:xfrm>
            <a:prstGeom prst="straightConnector1">
              <a:avLst/>
            </a:prstGeom>
            <a:noFill/>
            <a:ln w="6350">
              <a:solidFill>
                <a:srgbClr val="888C91"/>
              </a:solidFill>
              <a:prstDash val="solid"/>
              <a:headEnd type="triangle" w="med" len="med"/>
              <a:tailEnd type="none" w="med" len="med"/>
            </a:ln>
          </p:spPr>
        </p:cxnSp>
        <p:cxnSp>
          <p:nvCxnSpPr>
            <p:cNvPr id="265" name="직선 화살표 연결선 185">
              <a:extLst>
                <a:ext uri="{FF2B5EF4-FFF2-40B4-BE49-F238E27FC236}">
                  <a16:creationId xmlns:a16="http://schemas.microsoft.com/office/drawing/2014/main" id="{C77B044C-CFD5-4C99-9B08-C9CDFDD38AC5}"/>
                </a:ext>
              </a:extLst>
            </p:cNvPr>
            <p:cNvCxnSpPr>
              <a:cxnSpLocks/>
              <a:stCxn id="266" idx="1"/>
              <a:endCxn id="263" idx="3"/>
            </p:cNvCxnSpPr>
            <p:nvPr/>
          </p:nvCxnSpPr>
          <p:spPr>
            <a:xfrm flipH="1">
              <a:off x="8383232" y="1993369"/>
              <a:ext cx="257042" cy="2013"/>
            </a:xfrm>
            <a:prstGeom prst="straightConnector1">
              <a:avLst/>
            </a:prstGeom>
            <a:noFill/>
            <a:ln w="6350">
              <a:solidFill>
                <a:srgbClr val="888C91"/>
              </a:solidFill>
              <a:prstDash val="solid"/>
              <a:headEnd type="triangle" w="med" len="med"/>
              <a:tailEnd type="none" w="med" len="med"/>
            </a:ln>
          </p:spPr>
        </p:cxnSp>
        <p:sp>
          <p:nvSpPr>
            <p:cNvPr id="266" name="직사각형 265">
              <a:extLst>
                <a:ext uri="{FF2B5EF4-FFF2-40B4-BE49-F238E27FC236}">
                  <a16:creationId xmlns:a16="http://schemas.microsoft.com/office/drawing/2014/main" id="{1F732118-666E-4542-8530-F6AD2A384259}"/>
                </a:ext>
              </a:extLst>
            </p:cNvPr>
            <p:cNvSpPr/>
            <p:nvPr/>
          </p:nvSpPr>
          <p:spPr>
            <a:xfrm>
              <a:off x="8640274" y="1883914"/>
              <a:ext cx="1191172" cy="218910"/>
            </a:xfrm>
            <a:prstGeom prst="rect">
              <a:avLst/>
            </a:prstGeom>
            <a:solidFill>
              <a:srgbClr val="F0F1F3"/>
            </a:solidFill>
            <a:ln w="12700">
              <a:solidFill>
                <a:srgbClr val="888C91"/>
              </a:solidFill>
              <a:prstDash val="solid"/>
            </a:ln>
          </p:spPr>
          <p:txBody>
            <a:bodyPr anchor="ctr"/>
            <a:lstStyle/>
            <a:p>
              <a:pPr algn="ctr" latinLnBrk="0"/>
              <a:r>
                <a:rPr lang="en-US" altLang="ko-KR" sz="800" dirty="0">
                  <a:solidFill>
                    <a:srgbClr val="1A1A1A"/>
                  </a:solidFill>
                  <a:latin typeface="Malgun Gothic" pitchFamily="34" charset="0"/>
                  <a:ea typeface="Malgun Gothic" pitchFamily="34" charset="-122"/>
                </a:rPr>
                <a:t>Migration Scheduler</a:t>
              </a:r>
            </a:p>
          </p:txBody>
        </p:sp>
      </p:grpSp>
      <p:sp>
        <p:nvSpPr>
          <p:cNvPr id="267" name="MemIF_C2_bar"/>
          <p:cNvSpPr/>
          <p:nvPr/>
        </p:nvSpPr>
        <p:spPr>
          <a:xfrm>
            <a:off x="6711696" y="4030188"/>
            <a:ext cx="1865376" cy="429768"/>
          </a:xfrm>
          <a:prstGeom prst="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t"/>
          <a:lstStyle/>
          <a:p>
            <a:pPr algn="ctr"/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공통 Memory Backend I/F (Plug-in)</a:t>
            </a:r>
          </a:p>
        </p:txBody>
      </p:sp>
      <p:sp>
        <p:nvSpPr>
          <p:cNvPr id="268" name="MemIF_C2_face1"/>
          <p:cNvSpPr/>
          <p:nvPr/>
        </p:nvSpPr>
        <p:spPr>
          <a:xfrm>
            <a:off x="6739128" y="4158204"/>
            <a:ext cx="8915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lang="ko-KR" altLang="en-US" sz="580" b="1" dirty="0">
                <a:solidFill>
                  <a:srgbClr val="1A1A1A"/>
                </a:solidFill>
                <a:ea typeface="맑은 고딕"/>
              </a:rPr>
              <a:t>② </a:t>
            </a:r>
            <a:r>
              <a:rPr sz="580" b="1" dirty="0">
                <a:solidFill>
                  <a:srgbClr val="1A1A1A"/>
                </a:solidFill>
                <a:latin typeface="맑은 고딕"/>
                <a:ea typeface="맑은 고딕"/>
              </a:rPr>
              <a:t>Telemetry</a:t>
            </a:r>
          </a:p>
          <a:p>
            <a:pPr algn="ctr"/>
            <a:r>
              <a:rPr sz="580" b="0" dirty="0">
                <a:solidFill>
                  <a:srgbClr val="1A1A1A"/>
                </a:solidFill>
                <a:latin typeface="맑은 고딕"/>
                <a:ea typeface="맑은 고딕"/>
              </a:rPr>
              <a:t>→ </a:t>
            </a:r>
            <a:r>
              <a:rPr sz="580" b="0" dirty="0" err="1">
                <a:solidFill>
                  <a:srgbClr val="1A1A1A"/>
                </a:solidFill>
                <a:latin typeface="맑은 고딕"/>
                <a:ea typeface="맑은 고딕"/>
              </a:rPr>
              <a:t>capacity·BW·load</a:t>
            </a:r>
            <a:endParaRPr sz="580" b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sp>
        <p:nvSpPr>
          <p:cNvPr id="269" name="MemIF_C2_face2"/>
          <p:cNvSpPr/>
          <p:nvPr/>
        </p:nvSpPr>
        <p:spPr>
          <a:xfrm>
            <a:off x="7658100" y="4158204"/>
            <a:ext cx="891540" cy="265176"/>
          </a:xfrm>
          <a:prstGeom prst="rect">
            <a:avLst/>
          </a:prstGeom>
          <a:solidFill>
            <a:srgbClr val="FFFFFF"/>
          </a:solidFill>
          <a:ln w="952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9144" rIns="18288" bIns="9144" rtlCol="0" anchor="ctr"/>
          <a:lstStyle/>
          <a:p>
            <a:pPr algn="ctr"/>
            <a:r>
              <a:rPr lang="ko-KR" altLang="en-US" sz="580" b="1" dirty="0">
                <a:solidFill>
                  <a:srgbClr val="1A1A1A"/>
                </a:solidFill>
                <a:ea typeface="맑은 고딕"/>
              </a:rPr>
              <a:t>①③ </a:t>
            </a:r>
            <a:r>
              <a:rPr sz="580" b="1" dirty="0" err="1">
                <a:solidFill>
                  <a:srgbClr val="1A1A1A"/>
                </a:solidFill>
                <a:latin typeface="맑은 고딕"/>
                <a:ea typeface="맑은 고딕"/>
              </a:rPr>
              <a:t>Desc</a:t>
            </a:r>
            <a:r>
              <a:rPr sz="580" b="1" dirty="0">
                <a:solidFill>
                  <a:srgbClr val="1A1A1A"/>
                </a:solidFill>
                <a:latin typeface="맑은 고딕"/>
                <a:ea typeface="맑은 고딕"/>
              </a:rPr>
              <a:t>.·Binding</a:t>
            </a:r>
          </a:p>
          <a:p>
            <a:pPr algn="ctr"/>
            <a:r>
              <a:rPr sz="580" b="0" dirty="0">
                <a:solidFill>
                  <a:srgbClr val="1A1A1A"/>
                </a:solidFill>
                <a:latin typeface="맑은 고딕"/>
                <a:ea typeface="맑은 고딕"/>
              </a:rPr>
              <a:t>→ </a:t>
            </a:r>
            <a:r>
              <a:rPr sz="580" b="0" dirty="0" err="1">
                <a:solidFill>
                  <a:srgbClr val="1A1A1A"/>
                </a:solidFill>
                <a:latin typeface="맑은 고딕"/>
                <a:ea typeface="맑은 고딕"/>
              </a:rPr>
              <a:t>capability·cost</a:t>
            </a:r>
            <a:endParaRPr sz="580" b="0" dirty="0">
              <a:solidFill>
                <a:srgbClr val="1A1A1A"/>
              </a:solidFill>
              <a:latin typeface="맑은 고딕"/>
              <a:ea typeface="맑은 고딕"/>
            </a:endParaRPr>
          </a:p>
        </p:txBody>
      </p:sp>
      <p:cxnSp>
        <p:nvCxnSpPr>
          <p:cNvPr id="270" name="MemIF_C2_link"/>
          <p:cNvCxnSpPr/>
          <p:nvPr/>
        </p:nvCxnSpPr>
        <p:spPr>
          <a:xfrm>
            <a:off x="7178040" y="3819877"/>
            <a:ext cx="0" cy="210311"/>
          </a:xfrm>
          <a:prstGeom prst="line">
            <a:avLst/>
          </a:prstGeom>
          <a:ln w="12700">
            <a:solidFill>
              <a:srgbClr val="404040"/>
            </a:solidFill>
            <a:headEnd type="triangle" w="sm" len="sm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1" name="tag_C2_TC"/>
          <p:cNvSpPr/>
          <p:nvPr/>
        </p:nvSpPr>
        <p:spPr>
          <a:xfrm>
            <a:off x="7452360" y="2695165"/>
            <a:ext cx="155448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00" b="1">
                <a:solidFill>
                  <a:srgbClr val="FFFFFF"/>
                </a:solidFill>
                <a:latin typeface="맑은 고딕"/>
                <a:ea typeface="맑은 고딕"/>
              </a:rPr>
              <a:t>②</a:t>
            </a:r>
          </a:p>
        </p:txBody>
      </p:sp>
      <p:sp>
        <p:nvSpPr>
          <p:cNvPr id="272" name="tag_C2_MR"/>
          <p:cNvSpPr/>
          <p:nvPr/>
        </p:nvSpPr>
        <p:spPr>
          <a:xfrm>
            <a:off x="7397496" y="3262093"/>
            <a:ext cx="219456" cy="137160"/>
          </a:xfrm>
          <a:prstGeom prst="roundRect">
            <a:avLst/>
          </a:prstGeom>
          <a:solidFill>
            <a:srgbClr val="404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600" b="1" dirty="0">
                <a:solidFill>
                  <a:srgbClr val="FFFFFF"/>
                </a:solidFill>
                <a:latin typeface="맑은 고딕"/>
                <a:ea typeface="맑은 고딕"/>
              </a:rPr>
              <a:t>①③</a:t>
            </a:r>
          </a:p>
        </p:txBody>
      </p:sp>
      <p:sp>
        <p:nvSpPr>
          <p:cNvPr id="119" name="실행 단추: 앞으로 또는 다음 18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286C5F5-D832-4C61-848A-777AEC547A55}"/>
              </a:ext>
            </a:extLst>
          </p:cNvPr>
          <p:cNvSpPr/>
          <p:nvPr/>
        </p:nvSpPr>
        <p:spPr>
          <a:xfrm>
            <a:off x="1500881" y="3775201"/>
            <a:ext cx="128689" cy="133352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11128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와이드스크린</PresentationFormat>
  <Paragraphs>107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맑은 고딕</vt:lpstr>
      <vt:lpstr>맑은 고딕</vt:lpstr>
      <vt:lpstr>Arial</vt:lpstr>
      <vt:lpstr>Wingdings</vt:lpstr>
      <vt:lpstr>Office 테마</vt:lpstr>
      <vt:lpstr>DP1. 이기종 메모리 기반 Data Migration 결정 구조 - 설계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DP1. 이기종 메모리 기반 Data Migration 결정 구조 - 설계</dc:title>
  <dc:creator>SAMSUNG</dc:creator>
  <cp:lastModifiedBy>SAMSUNG</cp:lastModifiedBy>
  <cp:revision>1</cp:revision>
  <dcterms:created xsi:type="dcterms:W3CDTF">2026-10-04T17:05:55Z</dcterms:created>
  <dcterms:modified xsi:type="dcterms:W3CDTF">2026-10-04T17:06:05Z</dcterms:modified>
</cp:coreProperties>
</file>
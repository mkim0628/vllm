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6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FBFF1-8289-4F44-A49E-DC50E313B338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57919-C994-45F7-8611-41E7C0BDE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39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7118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42BC9-7E09-4BD5-8590-2A2A9DF40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9C80FB-A36F-49E6-9605-B5FFB39FA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60FE08-251B-40D7-BE64-87453A7E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286FF0-09AF-4B47-AC47-D3EC2C62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32FB4F-2FD5-47E9-BD57-FFE05427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91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3F627-5421-4E7B-B8ED-2F404FA1F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2D0D73-727B-4CB3-B147-65C9C2EE3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C2E7A-9A28-4F6F-8C19-FEB24B72A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496F0F-4F8E-43D1-A0EF-6A8996E9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F68DF9-5F26-4B5B-AF50-65F5FD05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19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D1364-E1E3-4FC4-BD62-2115E383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EED35B-37DF-45AA-A474-95CA1D3B3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6ED7A0-C25E-4661-A475-391DC975C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8800B1-993A-4EE0-A59F-D8171A6D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EDA40C-3B02-4618-A6C0-F48224DC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96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CCCDE-6B1A-4CEC-8E12-CFC95DB8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71A019-5A30-4594-845B-B912F3A28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B4070F-4DF9-494C-AD57-9CD6779C7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5D3662-FCD6-4654-A5D7-45B6F7FB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2E0F62-AD2B-49D6-B9CB-55043936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75BB4D-FAA3-441C-97B3-67651184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99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045CF-3D65-49FD-8279-3EDA02363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1DBE29-9044-4745-BB1D-AC9C5E618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EFE001-D3E1-43C1-A4E7-4BF3B1A1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9BB520-E279-44AC-A0EA-4BACB2686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3399E3-0AF9-4376-B5C7-7C1F5E6BD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FF811CF-2278-4B35-96EA-27FE2039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BFEF65-7768-4B3E-BB36-44482533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B4A810-1F28-44B6-8A16-B261CA40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31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01A1B-8E5D-469C-B5B4-F01B40F5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BB08E1-4512-4011-8157-311DA498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8B9C36-7D90-4100-8F0D-BD6A0C57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AAA1E8-FC0D-45E4-AF16-0C9E69B9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51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4EB59AE-66EB-4CB0-9B8D-B6B17AC7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4D584A-8A94-48A9-AB5E-DE899C1F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DDC2F0-FA1D-4AAA-9A9E-D7904C04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807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7DB9A-F3D2-45A2-A42D-61237CF7A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5DE4E0-7BA2-4E30-9862-9192A5471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8065EA-F008-44DB-8CD9-0FA54F78E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264DD5-4A14-4C97-A622-B3CF47CE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F6B352-C176-49D3-BB22-1FBE9FB5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0A504C-AAC4-41CC-AD28-F5211017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17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E0C8B-526D-47AC-A13F-4581F54E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12C66A-791E-44FB-8A8E-2F0096229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E88AE1-794E-484F-9636-0CFA341CF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7A0B55-319C-47AE-A21C-84507BBFA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F8F557-5BEB-40D2-8959-A23C24C9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B63448-54DE-48BF-808A-BA29E7D0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177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9C628C-596A-4CBC-B0A9-C914BA643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292A03-629A-414B-BD84-E2E8A57A8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40EB48-9271-42F6-A1D4-A63891F1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5CB5BC-FE7B-4E24-81BD-AE646FC4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C2A917-58F8-471F-9CD3-71887853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63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FA35B5-AE6C-42D5-88E3-3307F7411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62D99E-42C3-41C8-9338-8DBAD8B73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FA221C-1A14-439A-9FFF-B5FA911F4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D55CE2-02E6-4873-8F08-8F0C073F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3D749-0194-40DD-9B2E-7545CBDF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404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8582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019444-7A30-4022-9E8B-29EA06E27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F6F523-F76C-4490-934D-B6D6AD10A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E83DAF-8FF7-4AE6-8AD5-DE6C20112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6EEC50-0F3F-402A-8391-407B7DAB1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5DD1AD-A7EB-4338-8AD2-1A71895C3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5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</a:t>
            </a:r>
            <a:r>
              <a:rPr lang="ko-KR" altLang="en-US" dirty="0"/>
              <a:t>아키텍처 </a:t>
            </a:r>
            <a:r>
              <a:rPr lang="en-US" altLang="ko-KR" dirty="0"/>
              <a:t>(제어 루프 + 3 Plane)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제어 루프 스타일</a:t>
            </a:r>
            <a:r>
              <a:rPr lang="en-US" altLang="ko-KR" sz="1400" b="1" dirty="0">
                <a:solidFill>
                  <a:schemeClr val="bg1"/>
                </a:solidFill>
              </a:rPr>
              <a:t> · </a:t>
            </a:r>
            <a:r>
              <a:rPr lang="ko-KR" altLang="en-US" sz="1400" b="1" dirty="0">
                <a:solidFill>
                  <a:schemeClr val="bg1"/>
                </a:solidFill>
              </a:rPr>
              <a:t>Plane 분리</a:t>
            </a:r>
            <a:r>
              <a:rPr lang="en-US" altLang="ko-KR" sz="1400" b="1" dirty="0">
                <a:solidFill>
                  <a:schemeClr val="bg1"/>
                </a:solidFill>
              </a:rPr>
              <a:t> · </a:t>
            </a:r>
            <a:r>
              <a:rPr lang="ko-KR" altLang="en-US" sz="1400" b="1" dirty="0">
                <a:solidFill>
                  <a:schemeClr val="bg1"/>
                </a:solidFill>
              </a:rPr>
              <a:t>Plug-in 정책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88657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673910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1187937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C2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062711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0453490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직사각형 136"/>
          <p:cNvSpPr/>
          <p:nvPr/>
        </p:nvSpPr>
        <p:spPr>
          <a:xfrm>
            <a:off x="6521412" y="46469"/>
            <a:ext cx="14873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(When, What, </a:t>
            </a:r>
          </a:p>
          <a:p>
            <a:r>
              <a:rPr lang="en-US" altLang="ko-KR" sz="1200" b="1" dirty="0"/>
              <a:t>Where to locate?)</a:t>
            </a:r>
            <a:endParaRPr lang="ko-KR" altLang="en-US" sz="1200" dirty="0"/>
          </a:p>
        </p:txBody>
      </p:sp>
      <p:graphicFrame>
        <p:nvGraphicFramePr>
          <p:cNvPr id="138" name="표 구조"/>
          <p:cNvGraphicFramePr>
            <a:graphicFrameLocks noGrp="1"/>
          </p:cNvGraphicFramePr>
          <p:nvPr/>
        </p:nvGraphicFramePr>
        <p:xfrm>
          <a:off x="249035" y="1044054"/>
          <a:ext cx="11747501" cy="5072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/>
                <a:gridCol w="10872108"/>
              </a:tblGrid>
              <a:tr h="3427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/>
                        <a:t>Decision Plane의 DP1 구조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(자기 적응 제어 루프: Observe → Assess → Decide → Request)</a:t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3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/>
                        <a:t/>
                      </a:r>
                    </a:p>
                  </a:txBody>
                  <a:tcPr marL="91440" marT="45720" marR="91440" marB="4572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9" name="headline"/>
          <p:cNvSpPr txBox="1"/>
          <p:nvPr/>
        </p:nvSpPr>
        <p:spPr>
          <a:xfrm>
            <a:off x="1111250" y="1397380"/>
            <a:ext cx="10700000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l"/>
            <a:r>
              <a:rPr lang="ko-KR" altLang="en-US" sz="1100" dirty="0"/>
              <a:t>“Policy decides </a:t>
            </a:r>
            <a:r>
              <a:rPr lang="ko-KR" altLang="en-US" sz="1100" dirty="0">
                <a:solidFill>
                  <a:srgbClr val="0066FF"/>
                </a:solidFill>
              </a:rPr>
              <a:t>WHAT and WHERE</a:t>
            </a:r>
            <a:r>
              <a:rPr lang="ko-KR" altLang="en-US" sz="1100" dirty="0"/>
              <a:t>. Migration subsystem decides </a:t>
            </a:r>
            <a:r>
              <a:rPr lang="ko-KR" altLang="en-US" sz="1100" dirty="0">
                <a:solidFill>
                  <a:srgbClr val="0066FF"/>
                </a:solidFill>
              </a:rPr>
              <a:t>HOW, WHEN, and COMMIT</a:t>
            </a:r>
            <a:r>
              <a:rPr lang="ko-KR" altLang="en-US" sz="1100" dirty="0"/>
              <a:t>“</a:t>
            </a:r>
          </a:p>
        </p:txBody>
      </p:sp>
      <p:sp>
        <p:nvSpPr>
          <p:cNvPr id="140" name="lane D"/>
          <p:cNvSpPr txBox="1"/>
          <p:nvPr/>
        </p:nvSpPr>
        <p:spPr>
          <a:xfrm>
            <a:off x="1150000" y="1730000"/>
            <a:ext cx="6000000" cy="23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Decision Plane (DP1)  -  제어 루프 (MAPE-K 스타일)</a:t>
            </a:r>
          </a:p>
        </p:txBody>
      </p:sp>
      <p:sp>
        <p:nvSpPr>
          <p:cNvPr id="141" name="lane C"/>
          <p:cNvSpPr txBox="1"/>
          <p:nvPr/>
        </p:nvSpPr>
        <p:spPr>
          <a:xfrm>
            <a:off x="7550000" y="1730000"/>
            <a:ext cx="2000000" cy="23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Control Plane (EngineCore, 공통)</a:t>
            </a:r>
          </a:p>
        </p:txBody>
      </p:sp>
      <p:sp>
        <p:nvSpPr>
          <p:cNvPr id="142" name="lane W"/>
          <p:cNvSpPr txBox="1"/>
          <p:nvPr/>
        </p:nvSpPr>
        <p:spPr>
          <a:xfrm>
            <a:off x="9950000" y="1730000"/>
            <a:ext cx="2000000" cy="23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Data Plane (Worker, 공통)</a:t>
            </a:r>
          </a:p>
        </p:txBody>
      </p:sp>
      <p:sp>
        <p:nvSpPr>
          <p:cNvPr id="143" name="Event"/>
          <p:cNvSpPr/>
          <p:nvPr/>
        </p:nvSpPr>
        <p:spPr>
          <a:xfrm>
            <a:off x="1150000" y="2060000"/>
            <a:ext cx="900000" cy="950000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Event</a:t>
            </a:r>
          </a:p>
          <a:p>
            <a:pPr algn="ctr"/>
            <a:r>
              <a:rPr lang="ko-KR" altLang="en-US" sz="700" dirty="0">
                <a:solidFill>
                  <a:srgbClr val="1A1A1A"/>
                </a:solidFill>
              </a:rPr>
              <a:t>Resource</a:t>
            </a:r>
          </a:p>
          <a:p>
            <a:pPr algn="ctr"/>
            <a:r>
              <a:rPr lang="ko-KR" altLang="en-US" sz="700" dirty="0">
                <a:solidFill>
                  <a:srgbClr val="1A1A1A"/>
                </a:solidFill>
              </a:rPr>
              <a:t>Manager</a:t>
            </a:r>
          </a:p>
          <a:p>
            <a:pPr algn="ctr"/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</a:rPr>
              <a:t>TELEMETRY</a:t>
            </a:r>
          </a:p>
          <a:p>
            <a:pPr algn="ctr"/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</a:rPr>
              <a:t>ALLOCATED·FREED</a:t>
            </a:r>
          </a:p>
          <a:p>
            <a:pPr algn="ctr"/>
            <a:r>
              <a:rPr lang="ko-KR" altLang="en-US" sz="600" dirty="0">
                <a:solidFill>
                  <a:schemeClr val="bg1">
                    <a:lumMod val="50000"/>
                  </a:schemeClr>
                </a:solidFill>
              </a:rPr>
              <a:t>ACCESSED</a:t>
            </a:r>
          </a:p>
        </p:txBody>
      </p:sp>
      <p:sp>
        <p:nvSpPr>
          <p:cNvPr id="144" name="Observation"/>
          <p:cNvSpPr/>
          <p:nvPr/>
        </p:nvSpPr>
        <p:spPr>
          <a:xfrm>
            <a:off x="2200000" y="2060000"/>
            <a:ext cx="1080000" cy="95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① Observation</a:t>
            </a:r>
          </a:p>
          <a:p>
            <a:pPr algn="ctr"/>
            <a:r>
              <a:rPr lang="ko-KR" altLang="en-US" sz="680" dirty="0">
                <a:solidFill>
                  <a:schemeClr val="bg1">
                    <a:lumMod val="50000"/>
                  </a:schemeClr>
                </a:solidFill>
              </a:rPr>
              <a:t>무슨 일이 있었나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C1: 용량·BW·부하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C2: data별 접근 행동</a:t>
            </a:r>
          </a:p>
        </p:txBody>
      </p:sp>
      <p:sp>
        <p:nvSpPr>
          <p:cNvPr id="145" name="Assessment"/>
          <p:cNvSpPr/>
          <p:nvPr/>
        </p:nvSpPr>
        <p:spPr>
          <a:xfrm>
            <a:off x="3430000" y="2060000"/>
            <a:ext cx="1080000" cy="95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② Situation</a:t>
            </a:r>
          </a:p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Assessment</a:t>
            </a:r>
          </a:p>
          <a:p>
            <a:pPr algn="ctr"/>
            <a:r>
              <a:rPr lang="ko-KR" altLang="en-US" sz="680" dirty="0">
                <a:solidFill>
                  <a:schemeClr val="bg1">
                    <a:lumMod val="50000"/>
                  </a:schemeClr>
                </a:solidFill>
              </a:rPr>
              <a:t>개입이 필요한가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C1: 압력·추세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C2: 재사용·수명 예측</a:t>
            </a:r>
          </a:p>
        </p:txBody>
      </p:sp>
      <p:sp>
        <p:nvSpPr>
          <p:cNvPr id="146" name="Decision"/>
          <p:cNvSpPr/>
          <p:nvPr/>
        </p:nvSpPr>
        <p:spPr>
          <a:xfrm>
            <a:off x="4660000" y="2060000"/>
            <a:ext cx="1080000" cy="95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③ Placement</a:t>
            </a:r>
          </a:p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Decision</a:t>
            </a:r>
          </a:p>
          <a:p>
            <a:pPr algn="ctr"/>
            <a:r>
              <a:rPr lang="ko-KR" altLang="en-US" sz="680" dirty="0">
                <a:solidFill>
                  <a:schemeClr val="bg1">
                    <a:lumMod val="50000"/>
                  </a:schemeClr>
                </a:solidFill>
              </a:rPr>
              <a:t>무엇을 어디로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capability·SLO 필터</a:t>
            </a:r>
          </a:p>
          <a:p>
            <a:pPr algn="ctr"/>
            <a:r>
              <a:rPr lang="ko-KR" altLang="en-US" sz="640" dirty="0">
                <a:solidFill>
                  <a:srgbClr val="1A1A1A"/>
                </a:solidFill>
              </a:rPr>
              <a:t>C1: Data-Memory Affinity</a:t>
            </a:r>
          </a:p>
        </p:txBody>
      </p:sp>
      <p:sp>
        <p:nvSpPr>
          <p:cNvPr id="147" name="Request"/>
          <p:cNvSpPr/>
          <p:nvPr/>
        </p:nvSpPr>
        <p:spPr>
          <a:xfrm>
            <a:off x="5890000" y="2060000"/>
            <a:ext cx="1080000" cy="95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④ Actuation</a:t>
            </a:r>
          </a:p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Request</a:t>
            </a:r>
          </a:p>
          <a:p>
            <a:pPr algn="ctr"/>
            <a:r>
              <a:rPr lang="ko-KR" altLang="en-US" sz="660" dirty="0">
                <a:solidFill>
                  <a:schemeClr val="bg1">
                    <a:lumMod val="50000"/>
                  </a:schemeClr>
                </a:solidFill>
              </a:rPr>
              <a:t>결정을 계약으로 발행</a:t>
            </a:r>
          </a:p>
          <a:p>
            <a:pPr algn="ctr"/>
            <a:r>
              <a:rPr lang="ko-KR" altLang="en-US" sz="700" b="1" dirty="0">
                <a:solidFill>
                  <a:srgbClr val="FF0000"/>
                </a:solidFill>
              </a:rPr>
              <a:t>MigrationIntent</a:t>
            </a:r>
          </a:p>
          <a:p>
            <a:pPr algn="ctr"/>
            <a:r>
              <a:rPr lang="ko-KR" altLang="en-US" sz="640" dirty="0">
                <a:solidFill>
                  <a:schemeClr val="bg1">
                    <a:lumMod val="50000"/>
                  </a:schemeClr>
                </a:solidFill>
              </a:rPr>
              <a:t>(복사는 하지 않음)</a:t>
            </a:r>
          </a:p>
        </p:txBody>
      </p:sp>
      <p:cxnSp>
        <p:nvCxnSpPr>
          <p:cNvPr id="148" name="e-obs"/>
          <p:cNvCxnSpPr/>
          <p:nvPr/>
        </p:nvCxnSpPr>
        <p:spPr>
          <a:xfrm>
            <a:off x="2050000" y="2535000"/>
            <a:ext cx="150000" cy="0"/>
          </a:xfrm>
          <a:prstGeom prst="line">
            <a:avLst/>
          </a:prstGeom>
          <a:ln w="11430">
            <a:solidFill>
              <a:srgbClr val="888C9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49" name="obs-ass"/>
          <p:cNvCxnSpPr/>
          <p:nvPr/>
        </p:nvCxnSpPr>
        <p:spPr>
          <a:xfrm>
            <a:off x="3280000" y="2535000"/>
            <a:ext cx="150000" cy="0"/>
          </a:xfrm>
          <a:prstGeom prst="line">
            <a:avLst/>
          </a:prstGeom>
          <a:ln w="11430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50" name="ass-dec"/>
          <p:cNvCxnSpPr/>
          <p:nvPr/>
        </p:nvCxnSpPr>
        <p:spPr>
          <a:xfrm>
            <a:off x="4510000" y="2535000"/>
            <a:ext cx="150000" cy="0"/>
          </a:xfrm>
          <a:prstGeom prst="line">
            <a:avLst/>
          </a:prstGeom>
          <a:ln w="11430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51" name="dec-req"/>
          <p:cNvCxnSpPr/>
          <p:nvPr/>
        </p:nvCxnSpPr>
        <p:spPr>
          <a:xfrm>
            <a:off x="5740000" y="2535000"/>
            <a:ext cx="150000" cy="0"/>
          </a:xfrm>
          <a:prstGeom prst="line">
            <a:avLst/>
          </a:prstGeom>
          <a:ln w="11430">
            <a:solidFill>
              <a:schemeClr val="accent1"/>
            </a:solidFill>
            <a:prstDash val="solid"/>
            <a:headEnd type="none"/>
            <a:tailEnd type="triangle" w="med" len="med"/>
          </a:ln>
        </p:spPr>
      </p:cxnSp>
      <p:sp>
        <p:nvSpPr>
          <p:cNvPr id="152" name="Knowledge"/>
          <p:cNvSpPr/>
          <p:nvPr/>
        </p:nvSpPr>
        <p:spPr>
          <a:xfrm>
            <a:off x="1150000" y="3300000"/>
            <a:ext cx="6000000" cy="6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50" b="1" dirty="0">
                <a:solidFill>
                  <a:srgbClr val="1A1A1A"/>
                </a:solidFill>
              </a:rPr>
              <a:t>Shared Knowledge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Data Object Registry: 위치·크기·tier·이동 가능 상태 (C1 type-agnostic / C2 type-aware)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Memory Registry: 메모리별 capability descriptor (용량·BW·지연·primitive)</a:t>
            </a:r>
          </a:p>
        </p:txBody>
      </p:sp>
      <p:cxnSp>
        <p:nvCxnSpPr>
          <p:cNvPr id="153" name="k-Observation"/>
          <p:cNvCxnSpPr/>
          <p:nvPr/>
        </p:nvCxnSpPr>
        <p:spPr>
          <a:xfrm>
            <a:off x="2740000" y="3010000"/>
            <a:ext cx="0" cy="290000"/>
          </a:xfrm>
          <a:prstGeom prst="line">
            <a:avLst/>
          </a:prstGeom>
          <a:ln w="9525">
            <a:solidFill>
              <a:schemeClr val="accent1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54" name="k-Assessment"/>
          <p:cNvCxnSpPr/>
          <p:nvPr/>
        </p:nvCxnSpPr>
        <p:spPr>
          <a:xfrm>
            <a:off x="3970000" y="3010000"/>
            <a:ext cx="0" cy="290000"/>
          </a:xfrm>
          <a:prstGeom prst="line">
            <a:avLst/>
          </a:prstGeom>
          <a:ln w="9525">
            <a:solidFill>
              <a:schemeClr val="accent1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55" name="k-Decision"/>
          <p:cNvCxnSpPr/>
          <p:nvPr/>
        </p:nvCxnSpPr>
        <p:spPr>
          <a:xfrm>
            <a:off x="5200000" y="3010000"/>
            <a:ext cx="0" cy="290000"/>
          </a:xfrm>
          <a:prstGeom prst="line">
            <a:avLst/>
          </a:prstGeom>
          <a:ln w="9525">
            <a:solidFill>
              <a:schemeClr val="accent1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156" name="Backend IF"/>
          <p:cNvSpPr/>
          <p:nvPr/>
        </p:nvSpPr>
        <p:spPr>
          <a:xfrm>
            <a:off x="1150000" y="4150000"/>
            <a:ext cx="2700000" cy="600000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780" b="1" dirty="0">
                <a:solidFill>
                  <a:srgbClr val="1A1A1A"/>
                </a:solidFill>
              </a:rPr>
              <a:t>Memory Backend I/F  (plug-in)</a:t>
            </a:r>
          </a:p>
          <a:p>
            <a:pPr algn="ctr"/>
            <a:r>
              <a:rPr lang="ko-KR" altLang="en-US" sz="640" dirty="0">
                <a:solidFill>
                  <a:srgbClr val="1A1A1A"/>
                </a:solidFill>
              </a:rPr>
              <a:t>HBM · ScHBM · CXL-PNM · DRAM · HBF · SSD-PIM</a:t>
            </a:r>
          </a:p>
          <a:p>
            <a:pPr algn="ctr"/>
            <a:r>
              <a:rPr lang="ko-KR" altLang="en-US" sz="640" dirty="0">
                <a:solidFill>
                  <a:schemeClr val="bg1">
                    <a:lumMod val="50000"/>
                  </a:schemeClr>
                </a:solidFill>
              </a:rPr>
              <a:t>descriptor·telemetry를 같은 계약으로 제공</a:t>
            </a:r>
          </a:p>
        </p:txBody>
      </p:sp>
      <p:cxnSp>
        <p:nvCxnSpPr>
          <p:cNvPr id="157" name="be-k"/>
          <p:cNvCxnSpPr/>
          <p:nvPr/>
        </p:nvCxnSpPr>
        <p:spPr>
          <a:xfrm flipV="1">
            <a:off x="2500000" y="3900000"/>
            <a:ext cx="0" cy="250000"/>
          </a:xfrm>
          <a:prstGeom prst="line">
            <a:avLst/>
          </a:prstGeom>
          <a:ln w="11430">
            <a:solidFill>
              <a:srgbClr val="888C91"/>
            </a:solidFill>
            <a:prstDash val="solid"/>
            <a:headEnd type="none"/>
            <a:tailEnd type="triangle" w="med" len="med"/>
          </a:ln>
        </p:spPr>
      </p:cxnSp>
      <p:sp>
        <p:nvSpPr>
          <p:cNvPr id="158" name="plug-in"/>
          <p:cNvSpPr txBox="1"/>
          <p:nvPr/>
        </p:nvSpPr>
        <p:spPr>
          <a:xfrm>
            <a:off x="4050000" y="4150000"/>
            <a:ext cx="3100000" cy="600000"/>
          </a:xfrm>
          <a:prstGeom prst="rect">
            <a:avLst/>
          </a:prstGeom>
          <a:noFill/>
          <a:ln w="12700">
            <a:solidFill>
              <a:srgbClr val="C76E3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780" b="1" dirty="0">
                <a:solidFill>
                  <a:srgbClr val="C76E31"/>
                </a:solidFill>
              </a:rPr>
              <a:t>정책 plug-in 영역: ②③</a:t>
            </a:r>
          </a:p>
          <a:p>
            <a:pPr algn="l"/>
            <a:r>
              <a:rPr lang="ko-KR" altLang="en-US" sz="680" dirty="0">
                <a:solidFill>
                  <a:srgbClr val="1A1A1A"/>
                </a:solidFill>
              </a:rPr>
              <a:t>C1(Resource State-driven)과 C2(Behavior-driven)가 교체</a:t>
            </a:r>
          </a:p>
          <a:p>
            <a:pPr algn="l"/>
            <a:r>
              <a:rPr lang="ko-KR" altLang="en-US" sz="680" dirty="0">
                <a:solidFill>
                  <a:srgbClr val="1A1A1A"/>
                </a:solidFill>
              </a:rPr>
              <a:t>①④, Knowledge, 계약은 두 후보 공통</a:t>
            </a:r>
          </a:p>
        </p:txBody>
      </p:sp>
      <p:sp>
        <p:nvSpPr>
          <p:cNvPr id="159" name="Control"/>
          <p:cNvSpPr/>
          <p:nvPr/>
        </p:nvSpPr>
        <p:spPr>
          <a:xfrm>
            <a:off x="7550000" y="2060000"/>
            <a:ext cx="2000000" cy="95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20" b="1" dirty="0">
                <a:solidFill>
                  <a:srgbClr val="1A1A1A"/>
                </a:solidFill>
              </a:rPr>
              <a:t>Migration Control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Coordinator: Intent 검증·job 관리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Planner: target 예약·경로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Scheduler: 우선순위·link 예산</a:t>
            </a:r>
          </a:p>
        </p:txBody>
      </p:sp>
      <p:sp>
        <p:nvSpPr>
          <p:cNvPr id="160" name="Data"/>
          <p:cNvSpPr/>
          <p:nvPr/>
        </p:nvSpPr>
        <p:spPr>
          <a:xfrm>
            <a:off x="9950000" y="2060000"/>
            <a:ext cx="2000000" cy="95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20" b="1" dirty="0">
                <a:solidFill>
                  <a:srgbClr val="1A1A1A"/>
                </a:solidFill>
              </a:rPr>
              <a:t>Migration Executor</a:t>
            </a:r>
          </a:p>
          <a:p>
            <a:pPr algn="ctr"/>
            <a:r>
              <a:rPr lang="ko-KR" altLang="en-US" sz="780" b="1" dirty="0">
                <a:solidFill>
                  <a:srgbClr val="1A1A1A"/>
                </a:solidFill>
              </a:rPr>
              <a:t>Transfer Handlers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CUDA P2P · Host DMA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CXL · NVMe</a:t>
            </a:r>
          </a:p>
          <a:p>
            <a:pPr algn="ctr"/>
            <a:r>
              <a:rPr lang="ko-KR" altLang="en-US" sz="660" dirty="0">
                <a:solidFill>
                  <a:schemeClr val="bg1">
                    <a:lumMod val="50000"/>
                  </a:schemeClr>
                </a:solidFill>
              </a:rPr>
              <a:t>copy만 수행</a:t>
            </a:r>
          </a:p>
        </p:txBody>
      </p:sp>
      <p:sp>
        <p:nvSpPr>
          <p:cNvPr id="161" name="Location"/>
          <p:cNvSpPr/>
          <p:nvPr/>
        </p:nvSpPr>
        <p:spPr>
          <a:xfrm>
            <a:off x="7550000" y="3300000"/>
            <a:ext cx="2000000" cy="6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20" b="1" dirty="0">
                <a:solidFill>
                  <a:srgbClr val="1A1A1A"/>
                </a:solidFill>
              </a:rPr>
              <a:t>Location Store</a:t>
            </a:r>
          </a:p>
          <a:p>
            <a:pPr algn="ctr"/>
            <a:r>
              <a:rPr lang="ko-KR" altLang="en-US" sz="660" dirty="0">
                <a:solidFill>
                  <a:srgbClr val="1A1A1A"/>
                </a:solidFill>
              </a:rPr>
              <a:t>copy 검증 후 atomic commit</a:t>
            </a:r>
          </a:p>
          <a:p>
            <a:pPr algn="ctr"/>
            <a:r>
              <a:rPr lang="ko-KR" altLang="en-US" sz="650" dirty="0">
                <a:solidFill>
                  <a:schemeClr val="bg1">
                    <a:lumMod val="50000"/>
                  </a:schemeClr>
                </a:solidFill>
              </a:rPr>
              <a:t>(version 증가, source 해제)</a:t>
            </a:r>
          </a:p>
        </p:txBody>
      </p:sp>
      <p:sp>
        <p:nvSpPr>
          <p:cNvPr id="162" name="Tiers"/>
          <p:cNvSpPr/>
          <p:nvPr/>
        </p:nvSpPr>
        <p:spPr>
          <a:xfrm>
            <a:off x="9950000" y="3300000"/>
            <a:ext cx="2000000" cy="600000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20" b="1" dirty="0">
                <a:solidFill>
                  <a:srgbClr val="1A1A1A"/>
                </a:solidFill>
              </a:rPr>
              <a:t>Memory tiers</a:t>
            </a:r>
          </a:p>
          <a:p>
            <a:pPr algn="ctr"/>
            <a:r>
              <a:rPr lang="ko-KR" altLang="en-US" sz="650" dirty="0">
                <a:solidFill>
                  <a:schemeClr val="bg1">
                    <a:lumMod val="50000"/>
                  </a:schemeClr>
                </a:solidFill>
              </a:rPr>
              <a:t>source 유지한 채 target에 쓰기</a:t>
            </a:r>
          </a:p>
        </p:txBody>
      </p:sp>
      <p:cxnSp>
        <p:nvCxnSpPr>
          <p:cNvPr id="163" name="req-ctl"/>
          <p:cNvCxnSpPr/>
          <p:nvPr/>
        </p:nvCxnSpPr>
        <p:spPr>
          <a:xfrm>
            <a:off x="6970000" y="2535000"/>
            <a:ext cx="580000" cy="0"/>
          </a:xfrm>
          <a:prstGeom prst="line">
            <a:avLst/>
          </a:prstGeom>
          <a:ln w="15000">
            <a:solidFill>
              <a:srgbClr val="FF0000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4" name="ctl-data"/>
          <p:cNvCxnSpPr/>
          <p:nvPr/>
        </p:nvCxnSpPr>
        <p:spPr>
          <a:xfrm>
            <a:off x="9550000" y="2535000"/>
            <a:ext cx="400000" cy="0"/>
          </a:xfrm>
          <a:prstGeom prst="line">
            <a:avLst/>
          </a:prstGeom>
          <a:ln w="15000">
            <a:solidFill>
              <a:srgbClr val="C76E3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5" name="data-tier"/>
          <p:cNvCxnSpPr/>
          <p:nvPr/>
        </p:nvCxnSpPr>
        <p:spPr>
          <a:xfrm>
            <a:off x="10950000" y="3010000"/>
            <a:ext cx="0" cy="290000"/>
          </a:xfrm>
          <a:prstGeom prst="line">
            <a:avLst/>
          </a:prstGeom>
          <a:ln w="11430">
            <a:solidFill>
              <a:srgbClr val="888C91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6" name="tier-loc"/>
          <p:cNvCxnSpPr/>
          <p:nvPr/>
        </p:nvCxnSpPr>
        <p:spPr>
          <a:xfrm flipH="1">
            <a:off x="9550000" y="3600000"/>
            <a:ext cx="400000" cy="0"/>
          </a:xfrm>
          <a:prstGeom prst="line">
            <a:avLst/>
          </a:prstGeom>
          <a:ln w="15000">
            <a:solidFill>
              <a:srgbClr val="FF0000"/>
            </a:solidFill>
            <a:prstDash val="solid"/>
            <a:headEnd type="none"/>
            <a:tailEnd type="triangle" w="med" len="med"/>
          </a:ln>
        </p:spPr>
      </p:cxnSp>
      <p:cxnSp>
        <p:nvCxnSpPr>
          <p:cNvPr id="167" name="loc-k"/>
          <p:cNvCxnSpPr/>
          <p:nvPr/>
        </p:nvCxnSpPr>
        <p:spPr>
          <a:xfrm flipH="1">
            <a:off x="7150000" y="3600000"/>
            <a:ext cx="400000" cy="0"/>
          </a:xfrm>
          <a:prstGeom prst="line">
            <a:avLst/>
          </a:prstGeom>
          <a:ln w="15000">
            <a:solidFill>
              <a:srgbClr val="FF0000"/>
            </a:solidFill>
            <a:prstDash val="solid"/>
            <a:headEnd type="none"/>
            <a:tailEnd type="triangle" w="med" len="med"/>
          </a:ln>
        </p:spPr>
      </p:cxnSp>
      <p:sp>
        <p:nvSpPr>
          <p:cNvPr id="168" name="lb1"/>
          <p:cNvSpPr txBox="1"/>
          <p:nvPr/>
        </p:nvSpPr>
        <p:spPr>
          <a:xfrm>
            <a:off x="7150000" y="2345000"/>
            <a:ext cx="400000" cy="15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620" b="1" dirty="0">
                <a:solidFill>
                  <a:srgbClr val="FF0000"/>
                </a:solidFill>
              </a:rPr>
              <a:t>Intent</a:t>
            </a:r>
          </a:p>
        </p:txBody>
      </p:sp>
      <p:sp>
        <p:nvSpPr>
          <p:cNvPr id="169" name="lb2"/>
          <p:cNvSpPr txBox="1"/>
          <p:nvPr/>
        </p:nvSpPr>
        <p:spPr>
          <a:xfrm>
            <a:off x="9550000" y="2345000"/>
            <a:ext cx="400000" cy="15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620" b="1" dirty="0">
                <a:solidFill>
                  <a:srgbClr val="C76E31"/>
                </a:solidFill>
              </a:rPr>
              <a:t>명령</a:t>
            </a:r>
          </a:p>
        </p:txBody>
      </p:sp>
      <p:sp>
        <p:nvSpPr>
          <p:cNvPr id="170" name="lb3"/>
          <p:cNvSpPr txBox="1"/>
          <p:nvPr/>
        </p:nvSpPr>
        <p:spPr>
          <a:xfrm>
            <a:off x="9550000" y="3410000"/>
            <a:ext cx="400000" cy="15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620" b="1" dirty="0">
                <a:solidFill>
                  <a:srgbClr val="FF0000"/>
                </a:solidFill>
              </a:rPr>
              <a:t>완료</a:t>
            </a:r>
          </a:p>
        </p:txBody>
      </p:sp>
      <p:sp>
        <p:nvSpPr>
          <p:cNvPr id="171" name="lb4"/>
          <p:cNvSpPr txBox="1"/>
          <p:nvPr/>
        </p:nvSpPr>
        <p:spPr>
          <a:xfrm>
            <a:off x="7150000" y="3410000"/>
            <a:ext cx="400000" cy="15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ctr"/>
            <a:r>
              <a:rPr lang="ko-KR" altLang="en-US" sz="620" b="1" dirty="0">
                <a:solidFill>
                  <a:srgbClr val="FF0000"/>
                </a:solidFill>
              </a:rPr>
              <a:t>갱신</a:t>
            </a:r>
          </a:p>
        </p:txBody>
      </p:sp>
      <p:sp>
        <p:nvSpPr>
          <p:cNvPr id="172" name="contracts"/>
          <p:cNvSpPr txBox="1"/>
          <p:nvPr/>
        </p:nvSpPr>
        <p:spPr>
          <a:xfrm>
            <a:off x="7550000" y="4150000"/>
            <a:ext cx="4400000" cy="600000"/>
          </a:xfrm>
          <a:prstGeom prst="rect">
            <a:avLst/>
          </a:prstGeom>
          <a:noFill/>
          <a:ln w="12700">
            <a:solidFill>
              <a:srgbClr val="888C91"/>
            </a:solidFill>
            <a:prstDash val="dash"/>
            <a:headEnd type="none"/>
            <a:tailEnd type="none"/>
          </a:ln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780" b="1" dirty="0">
                <a:solidFill>
                  <a:srgbClr val="1A1A1A"/>
                </a:solidFill>
              </a:rPr>
              <a:t>Plane 사이 계약 (이 계약만 넘나듦)</a:t>
            </a:r>
          </a:p>
          <a:p>
            <a:pPr algn="l"/>
            <a:r>
              <a:rPr lang="ko-KR" altLang="en-US" sz="640" dirty="0">
                <a:solidFill>
                  <a:srgbClr val="1A1A1A"/>
                </a:solidFill>
              </a:rPr>
              <a:t>MigrationIntent: object id · src→dst · action(MOVE/REPLICATE/DROP/REMAP/RECLASSIFY) · priority</a:t>
            </a:r>
          </a:p>
          <a:p>
            <a:pPr algn="l"/>
            <a:r>
              <a:rPr lang="ko-KR" altLang="en-US" sz="640" dirty="0">
                <a:solidFill>
                  <a:srgbClr val="1A1A1A"/>
                </a:solidFill>
              </a:rPr>
              <a:t>MigrationCommand → Completion → Location 갱신. 결정 주체와 commit 주체는 분리</a:t>
            </a:r>
          </a:p>
        </p:txBody>
      </p:sp>
      <p:sp>
        <p:nvSpPr>
          <p:cNvPr id="173" name="styles"/>
          <p:cNvSpPr txBox="1"/>
          <p:nvPr/>
        </p:nvSpPr>
        <p:spPr>
          <a:xfrm>
            <a:off x="1150000" y="4900000"/>
            <a:ext cx="5000000" cy="150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/>
            <a:r>
              <a:rPr lang="ko-KR" altLang="en-US" sz="780" b="1" dirty="0">
                <a:solidFill>
                  <a:srgbClr val="FF0000"/>
                </a:solidFill>
              </a:rPr>
              <a:t>적용한 아키텍처 스타일</a:t>
            </a:r>
          </a:p>
        </p:txBody>
      </p:sp>
      <p:sp>
        <p:nvSpPr>
          <p:cNvPr id="174" name="S0"/>
          <p:cNvSpPr/>
          <p:nvPr/>
        </p:nvSpPr>
        <p:spPr>
          <a:xfrm>
            <a:off x="1150000" y="5080000"/>
            <a:ext cx="2550000" cy="900000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Control loop (MAPE-K)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관찰 → 판단 → 결정 → 실행 요청을 닫힌 루프로 구성. 루프 구조는 고정하고 판단 방식만 바꾼다</a:t>
            </a:r>
          </a:p>
        </p:txBody>
      </p:sp>
      <p:sp>
        <p:nvSpPr>
          <p:cNvPr id="175" name="S1"/>
          <p:cNvSpPr/>
          <p:nvPr/>
        </p:nvSpPr>
        <p:spPr>
          <a:xfrm>
            <a:off x="3900000" y="5080000"/>
            <a:ext cx="2550000" cy="900000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3-Plane 분리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결정(WHAT/WHERE) · 제어(HOW/WHEN/COMMIT) · 데이터(복사). 책임을 나누고 계약으로만 통신한다</a:t>
            </a:r>
          </a:p>
        </p:txBody>
      </p:sp>
      <p:sp>
        <p:nvSpPr>
          <p:cNvPr id="176" name="S2"/>
          <p:cNvSpPr/>
          <p:nvPr/>
        </p:nvSpPr>
        <p:spPr>
          <a:xfrm>
            <a:off x="6650000" y="5080000"/>
            <a:ext cx="2550000" cy="900000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Plug-in (변이점)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정책(C1/C2), 메모리 backend, AI data adapter는 인터페이스 뒤에서 교체된다</a:t>
            </a:r>
          </a:p>
        </p:txBody>
      </p:sp>
      <p:sp>
        <p:nvSpPr>
          <p:cNvPr id="177" name="S3"/>
          <p:cNvSpPr/>
          <p:nvPr/>
        </p:nvSpPr>
        <p:spPr>
          <a:xfrm>
            <a:off x="9400000" y="5080000"/>
            <a:ext cx="2550000" cy="900000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  <a:headEnd type="none"/>
            <a:tailEnd type="none"/>
          </a:ln>
        </p:spPr>
        <p:txBody>
          <a:bodyPr wrap="square" lIns="36000" tIns="18000" rIns="36000" bIns="18000" rtlCol="0" anchor="ctr"/>
          <a:lstStyle/>
          <a:p>
            <a:pPr algn="ctr"/>
            <a:r>
              <a:rPr lang="ko-KR" altLang="en-US" sz="800" b="1" dirty="0">
                <a:solidFill>
                  <a:srgbClr val="1A1A1A"/>
                </a:solidFill>
              </a:rPr>
              <a:t>Shared Knowledge</a:t>
            </a:r>
          </a:p>
          <a:p>
            <a:pPr algn="ctr"/>
            <a:r>
              <a:rPr lang="ko-KR" altLang="en-US" sz="680" dirty="0">
                <a:solidFill>
                  <a:srgbClr val="1A1A1A"/>
                </a:solidFill>
              </a:rPr>
              <a:t>위치와 capability는 한 곳에 둔다. location은 commit 결과로만 바뀌어 일관성을 지킨다</a:t>
            </a:r>
          </a:p>
        </p:txBody>
      </p:sp>
      <p:sp>
        <p:nvSpPr>
          <p:cNvPr id="178" name="takeaway"/>
          <p:cNvSpPr/>
          <p:nvPr/>
        </p:nvSpPr>
        <p:spPr>
          <a:xfrm>
            <a:off x="234949" y="6195000"/>
            <a:ext cx="11747501" cy="300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l"/>
            <a:r>
              <a:rPr lang="ko-KR" altLang="en-US" sz="1000" b="1" dirty="0">
                <a:solidFill>
                  <a:schemeClr val="bg1"/>
                </a:solidFill>
              </a:rPr>
              <a:t>한 줄 요약: </a:t>
            </a:r>
            <a:r>
              <a:rPr lang="ko-KR" altLang="en-US" sz="900" b="1" dirty="0">
                <a:solidFill>
                  <a:schemeClr val="bg1"/>
                </a:solidFill>
              </a:rPr>
              <a:t>알고리즘은 정책 plug-in으로 내리고, 구조는 제어 루프 + 3 Plane + 계약으로 보인다. 알고리즘 상세는 부록. 설계 단계, 미구현</a:t>
            </a:r>
          </a:p>
        </p:txBody>
      </p:sp>
    </p:spTree>
    <p:extLst>
      <p:ext uri="{BB962C8B-B14F-4D97-AF65-F5344CB8AC3E}">
        <p14:creationId xmlns:p14="http://schemas.microsoft.com/office/powerpoint/2010/main" val="1121112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와이드스크린</PresentationFormat>
  <Paragraphs>107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맑은 고딕</vt:lpstr>
      <vt:lpstr>Arial</vt:lpstr>
      <vt:lpstr>Wingdings</vt:lpstr>
      <vt:lpstr>Office 테마</vt:lpstr>
      <vt:lpstr>DP1. 이기종 메모리 기반 Data Migration 결정 구조 - 설계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설계</dc:title>
  <dc:creator>SAMSUNG</dc:creator>
  <cp:lastModifiedBy>SAMSUNG</cp:lastModifiedBy>
  <cp:revision>1</cp:revision>
  <dcterms:created xsi:type="dcterms:W3CDTF">2026-10-04T17:05:55Z</dcterms:created>
  <dcterms:modified xsi:type="dcterms:W3CDTF">2026-10-04T17:06:05Z</dcterms:modified>
</cp:coreProperties>
</file>
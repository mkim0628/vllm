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650" r:id="rId24"/>
    <p:sldId id="651" r:id="rId25"/>
    <p:sldId id="652" r:id="rId26"/>
    <p:sldId id="653" r:id="rId2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06" autoAdjust="0"/>
    <p:restoredTop sz="94660"/>
  </p:normalViewPr>
  <p:slideViewPr>
    <p:cSldViewPr snapToGrid="0">
      <p:cViewPr varScale="1">
        <p:scale>
          <a:sx n="90" d="100"/>
          <a:sy n="90" d="100"/>
        </p:scale>
        <p:origin x="13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5F5D58-863F-4F8A-9CDC-0AFD97F68163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F56981-8A65-4F3E-9859-015D93710B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73943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CF88C4-AEBB-48AA-B70A-6EC491E392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3297DB7-7C40-42BC-80A5-FD747209EC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A048312-3256-4A93-9D36-F08331526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A236D-9762-4032-9321-D32C6F6792AF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01D4BCC-BBCA-4118-AA23-404F01C67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404850-FD27-4423-8869-67E4CBE64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6138B-95D0-41FF-9A1B-079D07CC85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1472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9FEFC4-2952-42C6-BE71-DBD052AC5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F5EFE10-E3FB-47F4-8033-A860CB3DB3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B3FAB0-5711-4C00-B7AB-8100C870E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A236D-9762-4032-9321-D32C6F6792AF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86A56D-3130-42FB-824E-0B3016658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9E7EEAE-7123-47AC-9A56-D0B2F66AF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6138B-95D0-41FF-9A1B-079D07CC85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04181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5B76C3-9A1E-497D-A2EB-ED6820D52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0060CE8-6710-4FF3-934C-0ACEEC8CD0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EBAE3C-55FA-4F75-B99C-BAB54592E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A236D-9762-4032-9321-D32C6F6792AF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24E5002-A22E-4FF6-9BFE-E0AA83558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1119500-EA4E-4B8A-B440-FABCFDB98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6138B-95D0-41FF-9A1B-079D07CC85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8273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0F0C29-EA40-44DC-B84D-A6D4CD7C8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9ABF545-1B61-4740-899B-8C353F38AF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2F40A9B-2F7D-47E8-B2EF-9B53B5A76C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DE563D1-151A-4BA0-A1D5-890E66FB3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A236D-9762-4032-9321-D32C6F6792AF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2FCA36F-249F-4A97-9C45-E6C5825E9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F8FC145-E980-44EC-B197-3710B32A8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6138B-95D0-41FF-9A1B-079D07CC85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1310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434856-F92B-4894-AB6C-7ABF84D5C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A3618AD-0A52-4862-944F-F2327F7DAE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D8ED2E3-4562-47AE-8AD8-2446BF0290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3EAED75-044E-40D8-B474-24A15D6E9C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AAC5C1B-F86A-475B-9398-00FDD01C59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58F03C6-988B-4EEB-8ADB-6F8F29093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A236D-9762-4032-9321-D32C6F6792AF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369998B-E067-4834-94B4-BB8DFF7E4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4CD66B5-71E0-4F15-8A13-CC9B61F23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6138B-95D0-41FF-9A1B-079D07CC85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14162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C094E7-7B2F-43E3-AE38-2F6858827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516DBD5-0087-4D39-B73F-381E96627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A236D-9762-4032-9321-D32C6F6792AF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32F6697-2541-4401-A80C-156513D2A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568EA56-5214-45F8-9874-35DA5B428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6138B-95D0-41FF-9A1B-079D07CC85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027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07B5D05-1EB0-4B84-A4EA-3D6DCA724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A236D-9762-4032-9321-D32C6F6792AF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2E19244-B07B-4893-9945-50E051075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6D95CF3-FA20-404B-A3F9-3C62331D3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6138B-95D0-41FF-9A1B-079D07CC85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677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ACD6F9-3720-460B-9571-4A160B8FB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A60710D-C685-4F47-A667-97E1308CD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464C01F-08F5-4FFF-873C-7EF969446E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2B0C87D-E82D-4707-BC8F-982AA497E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A236D-9762-4032-9321-D32C6F6792AF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6101179-413D-4B0D-91AE-0EAEFF447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9D5D949-E6E5-4EBD-882A-E572AF688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6138B-95D0-41FF-9A1B-079D07CC85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08341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29C5D6-4E48-4907-9077-C21FC1458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F182103-419E-4630-A11D-276422A83A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CDB647B-BD9F-4F19-BA7B-5278BE6FFE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FB0F1D0-4D11-423F-BE06-ADC97BF9B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A236D-9762-4032-9321-D32C6F6792AF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06751E5-2CED-4DA3-86A7-13AB7485A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FA6F829-E3E6-4CAC-A997-F0BFA6191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6138B-95D0-41FF-9A1B-079D07CC85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55719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A5E6D9-4DA1-4FF3-B9CD-6107ABDB0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86E7429-0C4A-45A9-8750-5FC7BBAF60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7D54CF-A3A4-4A54-9CAF-737F6D2A9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A236D-9762-4032-9321-D32C6F6792AF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55B9C34-27EB-4D1C-BA42-70A6C5E97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6D49AF7-E8AA-433E-853F-AB9618B3E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6138B-95D0-41FF-9A1B-079D07CC85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1261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C1CA7D7-EF8A-4259-B5D4-2ECA35B16A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4172DE0-808E-4E27-A7FC-6FCE852D29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9FA54A-0512-4F37-8144-DC509519C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A236D-9762-4032-9321-D32C6F6792AF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E5530AA-7D8D-40D1-8B5A-714DAEC05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A65708-83E1-4B4A-8091-CBF555ABF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6138B-95D0-41FF-9A1B-079D07CC85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0920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직선 연결선 11"/>
          <p:cNvCxnSpPr/>
          <p:nvPr userDrawn="1"/>
        </p:nvCxnSpPr>
        <p:spPr>
          <a:xfrm>
            <a:off x="234950" y="654050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889C64-266A-4D07-AD8F-5B592E61CCE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cxnSp>
        <p:nvCxnSpPr>
          <p:cNvPr id="20" name="직선 연결선 19"/>
          <p:cNvCxnSpPr/>
          <p:nvPr userDrawn="1"/>
        </p:nvCxnSpPr>
        <p:spPr>
          <a:xfrm>
            <a:off x="234950" y="53975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제목 개체 틀 1"/>
          <p:cNvSpPr>
            <a:spLocks noGrp="1"/>
          </p:cNvSpPr>
          <p:nvPr>
            <p:ph type="title"/>
          </p:nvPr>
        </p:nvSpPr>
        <p:spPr>
          <a:xfrm>
            <a:off x="234948" y="137379"/>
            <a:ext cx="76559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18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BF6FB25F-7B1E-410A-903C-9DE680EED1C3}"/>
              </a:ext>
            </a:extLst>
          </p:cNvPr>
          <p:cNvGrpSpPr/>
          <p:nvPr userDrawn="1"/>
        </p:nvGrpSpPr>
        <p:grpSpPr>
          <a:xfrm>
            <a:off x="7995393" y="137379"/>
            <a:ext cx="4006094" cy="357521"/>
            <a:chOff x="7522576" y="137379"/>
            <a:chExt cx="4478924" cy="357521"/>
          </a:xfrm>
        </p:grpSpPr>
        <p:sp>
          <p:nvSpPr>
            <p:cNvPr id="22" name="갈매기형 수장 21"/>
            <p:cNvSpPr/>
            <p:nvPr userDrawn="1"/>
          </p:nvSpPr>
          <p:spPr>
            <a:xfrm>
              <a:off x="7522576" y="137379"/>
              <a:ext cx="1031887" cy="357521"/>
            </a:xfrm>
            <a:prstGeom prst="chevron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과제 소개</a:t>
              </a:r>
            </a:p>
          </p:txBody>
        </p:sp>
        <p:sp>
          <p:nvSpPr>
            <p:cNvPr id="23" name="갈매기형 수장 22"/>
            <p:cNvSpPr/>
            <p:nvPr userDrawn="1"/>
          </p:nvSpPr>
          <p:spPr>
            <a:xfrm>
              <a:off x="8415057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요구사항</a:t>
              </a:r>
            </a:p>
          </p:txBody>
        </p:sp>
        <p:sp>
          <p:nvSpPr>
            <p:cNvPr id="25" name="갈매기형 수장 24"/>
            <p:cNvSpPr/>
            <p:nvPr userDrawn="1"/>
          </p:nvSpPr>
          <p:spPr>
            <a:xfrm>
              <a:off x="9313975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설계</a:t>
              </a:r>
            </a:p>
          </p:txBody>
        </p:sp>
        <p:sp>
          <p:nvSpPr>
            <p:cNvPr id="26" name="갈매기형 수장 25"/>
            <p:cNvSpPr/>
            <p:nvPr userDrawn="1"/>
          </p:nvSpPr>
          <p:spPr>
            <a:xfrm>
              <a:off x="10206457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구현</a:t>
              </a:r>
              <a:r>
                <a:rPr lang="en-US" altLang="ko-KR" sz="1000" b="1" dirty="0">
                  <a:solidFill>
                    <a:schemeClr val="bg1"/>
                  </a:solidFill>
                </a:rPr>
                <a:t>/</a:t>
              </a:r>
              <a:r>
                <a:rPr lang="ko-KR" altLang="en-US" sz="1000" b="1" dirty="0">
                  <a:solidFill>
                    <a:schemeClr val="bg1"/>
                  </a:solidFill>
                </a:rPr>
                <a:t>검증</a:t>
              </a:r>
            </a:p>
          </p:txBody>
        </p:sp>
        <p:sp>
          <p:nvSpPr>
            <p:cNvPr id="27" name="갈매기형 수장 26"/>
            <p:cNvSpPr/>
            <p:nvPr userDrawn="1"/>
          </p:nvSpPr>
          <p:spPr>
            <a:xfrm>
              <a:off x="11105815" y="137379"/>
              <a:ext cx="892483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결론</a:t>
              </a:r>
            </a:p>
          </p:txBody>
        </p:sp>
        <p:sp>
          <p:nvSpPr>
            <p:cNvPr id="29" name="직사각형 28"/>
            <p:cNvSpPr/>
            <p:nvPr userDrawn="1"/>
          </p:nvSpPr>
          <p:spPr>
            <a:xfrm>
              <a:off x="11789373" y="137379"/>
              <a:ext cx="212127" cy="357521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 sz="1000" b="1">
                <a:solidFill>
                  <a:schemeClr val="bg1"/>
                </a:solidFill>
              </a:endParaRPr>
            </a:p>
          </p:txBody>
        </p:sp>
        <p:sp>
          <p:nvSpPr>
            <p:cNvPr id="30" name="직사각형 29"/>
            <p:cNvSpPr/>
            <p:nvPr userDrawn="1"/>
          </p:nvSpPr>
          <p:spPr>
            <a:xfrm>
              <a:off x="7528835" y="137379"/>
              <a:ext cx="212127" cy="357521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 sz="10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2" name="TextBox 1"/>
          <p:cNvSpPr txBox="1"/>
          <p:nvPr userDrawn="1"/>
        </p:nvSpPr>
        <p:spPr>
          <a:xfrm>
            <a:off x="5975555" y="6563925"/>
            <a:ext cx="470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/ 23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23421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/>
          <p:cNvCxnSpPr/>
          <p:nvPr userDrawn="1"/>
        </p:nvCxnSpPr>
        <p:spPr>
          <a:xfrm>
            <a:off x="234950" y="53975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 userDrawn="1"/>
        </p:nvSpPr>
        <p:spPr>
          <a:xfrm>
            <a:off x="184150" y="145018"/>
            <a:ext cx="6762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CONTENTS</a:t>
            </a:r>
            <a:endParaRPr lang="ko-KR" altLang="en-US" b="1" dirty="0"/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234950" y="654050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/>
          <p:cNvSpPr/>
          <p:nvPr userDrawn="1"/>
        </p:nvSpPr>
        <p:spPr>
          <a:xfrm>
            <a:off x="11118522" y="118329"/>
            <a:ext cx="953810" cy="4023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bg1">
                    <a:lumMod val="85000"/>
                  </a:schemeClr>
                </a:solidFill>
              </a:rPr>
              <a:t>SAMSUNG</a:t>
            </a:r>
          </a:p>
          <a:p>
            <a:pPr algn="ctr"/>
            <a:r>
              <a:rPr lang="en-US" altLang="ko-KR" sz="1100" dirty="0">
                <a:solidFill>
                  <a:schemeClr val="bg1">
                    <a:lumMod val="85000"/>
                  </a:schemeClr>
                </a:solidFill>
              </a:rPr>
              <a:t>Confidential</a:t>
            </a:r>
            <a:endParaRPr lang="ko-KR" altLang="en-US" sz="1100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468446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1132D1B-70AA-4E48-9B44-5AE4F7E8A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9A4856-08FE-4CE2-9ED9-6E66C5593A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D928EB7-8F03-43F3-80F0-A76E71294B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5A236D-9762-4032-9321-D32C6F6792AF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04DC83A-1332-4811-A9B3-C4957D3F81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A4A231-6D85-4740-B10F-E9C466D274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76138B-95D0-41FF-9A1B-079D07CC85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80553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34949" y="137379"/>
            <a:ext cx="7631530" cy="365125"/>
          </a:xfrm>
        </p:spPr>
        <p:txBody>
          <a:bodyPr/>
          <a:lstStyle/>
          <a:p>
            <a:r>
              <a:rPr lang="en-US" altLang="ko-KR" dirty="0"/>
              <a:t>DP1. 이기종 메모리 기반 Data Migration 구조 - Appendix</a:t>
            </a:r>
            <a:r>
              <a:rPr lang="ko-KR" altLang="en-US" dirty="0"/>
              <a:t/>
            </a:r>
            <a:r>
              <a:rPr lang="en-US" altLang="ko-KR" dirty="0"/>
              <a:t/>
            </a:r>
            <a:r>
              <a:rPr lang="ko-KR" altLang="en-US" dirty="0"/>
              <a:t/>
            </a:r>
            <a:r>
              <a:rPr lang="en-US" altLang="ko-KR" dirty="0"/>
              <a:t/>
            </a:r>
            <a:r>
              <a:rPr lang="ko-KR" altLang="en-US" dirty="0"/>
              <a:t/>
            </a:r>
          </a:p>
        </p:txBody>
      </p:sp>
      <p:sp>
        <p:nvSpPr>
          <p:cNvPr id="5" name="직사각형 4"/>
          <p:cNvSpPr/>
          <p:nvPr/>
        </p:nvSpPr>
        <p:spPr>
          <a:xfrm>
            <a:off x="234949" y="596176"/>
            <a:ext cx="11747501" cy="396603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469760" y="627926"/>
            <a:ext cx="1143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ko-KR" altLang="en-US" sz="1400" b="1" dirty="0">
                <a:solidFill>
                  <a:schemeClr val="bg1"/>
                </a:solidFill>
              </a:rPr>
              <a:t>C1 Resource State-driven + Data-Memory Affinity — Component Architecture</a:t>
            </a:r>
            <a:r>
              <a:rPr lang="en-US" altLang="ko-KR" sz="1400" b="1" dirty="0">
                <a:solidFill>
                  <a:schemeClr val="bg1"/>
                </a:solidFill>
              </a:rPr>
              <a:t/>
            </a:r>
            <a:r>
              <a:rPr lang="ko-KR" altLang="en-US" sz="1400" b="1" dirty="0">
                <a:solidFill>
                  <a:schemeClr val="bg1"/>
                </a:solidFill>
              </a:rPr>
              <a:t/>
            </a:r>
            <a:r>
              <a:rPr lang="en-US" altLang="ko-KR" sz="1400" b="1" dirty="0">
                <a:solidFill>
                  <a:schemeClr val="bg1"/>
                </a:solidFill>
              </a:rPr>
              <a:t/>
            </a:r>
            <a:r>
              <a:rPr lang="ko-KR" altLang="en-US" sz="1400" b="1" dirty="0">
                <a:solidFill>
                  <a:schemeClr val="bg1"/>
                </a:solidFill>
              </a:rPr>
              <a:t/>
            </a:r>
          </a:p>
        </p:txBody>
      </p:sp>
      <p:sp>
        <p:nvSpPr>
          <p:cNvPr id="39" name="직사각형 38"/>
          <p:cNvSpPr/>
          <p:nvPr/>
        </p:nvSpPr>
        <p:spPr>
          <a:xfrm>
            <a:off x="403086" y="678726"/>
            <a:ext cx="66675" cy="21627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57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</p:spPr>
        <p:txBody>
          <a:bodyPr/>
          <a:lstStyle/>
          <a:p>
            <a:fld id="{7F889C64-266A-4D07-AD8F-5B592E61CCE1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sp>
        <p:nvSpPr>
          <p:cNvPr id="58" name="Rectangle 57"/>
          <p:cNvSpPr/>
          <p:nvPr/>
        </p:nvSpPr>
        <p:spPr>
          <a:xfrm>
            <a:off x="457200" y="1371600"/>
            <a:ext cx="1371600" cy="4572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750" b="1">
                <a:solidFill>
                  <a:srgbClr val="FFFFFF"/>
                </a:solidFill>
                <a:latin typeface="맑은 고딕"/>
                <a:ea typeface="맑은 고딕"/>
              </a:rPr>
              <a:t>Runtime Event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148840" y="1371600"/>
            <a:ext cx="1737360" cy="4572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Migration Scheduler</a:t>
            </a:r>
          </a:p>
          <a:p>
            <a:pPr algn="ctr"/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(event-driven, async)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480560" y="1371600"/>
            <a:ext cx="2194560" cy="457200"/>
          </a:xfrm>
          <a:prstGeom prst="rect">
            <a:avLst/>
          </a:prstGeom>
          <a:solidFill>
            <a:srgbClr val="DCE9F5"/>
          </a:solidFill>
          <a:ln w="12700">
            <a:solidFill>
              <a:srgbClr val="4D7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750" b="1">
                <a:solidFill>
                  <a:srgbClr val="1A1A1A"/>
                </a:solidFill>
                <a:latin typeface="맑은 고딕"/>
                <a:ea typeface="맑은 고딕"/>
              </a:rPr>
              <a:t>Resource State Monitor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463040" y="2423160"/>
            <a:ext cx="2194560" cy="457200"/>
          </a:xfrm>
          <a:prstGeom prst="rect">
            <a:avLst/>
          </a:prstGeom>
          <a:solidFill>
            <a:srgbClr val="DCE9F5"/>
          </a:solidFill>
          <a:ln w="12700">
            <a:solidFill>
              <a:srgbClr val="4D7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750" b="1">
                <a:solidFill>
                  <a:srgbClr val="1A1A1A"/>
                </a:solidFill>
                <a:latin typeface="맑은 고딕"/>
                <a:ea typeface="맑은 고딕"/>
              </a:rPr>
              <a:t>Resource-based Trend Analyzer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480560" y="2423160"/>
            <a:ext cx="2194560" cy="457200"/>
          </a:xfrm>
          <a:prstGeom prst="rect">
            <a:avLst/>
          </a:prstGeom>
          <a:solidFill>
            <a:srgbClr val="DCE9F5"/>
          </a:solidFill>
          <a:ln w="12700">
            <a:solidFill>
              <a:srgbClr val="4D7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700" b="1">
                <a:solidFill>
                  <a:srgbClr val="1A1A1A"/>
                </a:solidFill>
                <a:latin typeface="맑은 고딕"/>
                <a:ea typeface="맑은 고딕"/>
              </a:rPr>
              <a:t>Data Eviction Manager</a:t>
            </a:r>
          </a:p>
          <a:p>
            <a:pPr algn="ctr"/>
            <a:r>
              <a:rPr sz="700" b="0">
                <a:solidFill>
                  <a:srgbClr val="1A1A1A"/>
                </a:solidFill>
                <a:latin typeface="맑은 고딕"/>
                <a:ea typeface="맑은 고딕"/>
              </a:rPr>
              <a:t>(victim candidates)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315200" y="2286000"/>
            <a:ext cx="1828800" cy="731520"/>
          </a:xfrm>
          <a:prstGeom prst="rect">
            <a:avLst/>
          </a:prstGeom>
          <a:solidFill>
            <a:srgbClr val="E3F1E3"/>
          </a:solidFill>
          <a:ln w="12700">
            <a:solidFill>
              <a:srgbClr val="5B9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680" b="1">
                <a:solidFill>
                  <a:srgbClr val="1A1A1A"/>
                </a:solidFill>
                <a:latin typeface="맑은 고딕"/>
                <a:ea typeface="맑은 고딕"/>
              </a:rPr>
              <a:t>Data Object Registry</a:t>
            </a:r>
          </a:p>
          <a:p>
            <a:pPr algn="ctr"/>
            <a:r>
              <a:rPr sz="680" b="0">
                <a:solidFill>
                  <a:srgbClr val="1A1A1A"/>
                </a:solidFill>
                <a:latin typeface="맑은 고딕"/>
                <a:ea typeface="맑은 고딕"/>
              </a:rPr>
              <a:t>(type-agnostic)</a:t>
            </a:r>
          </a:p>
          <a:p>
            <a:pPr algn="ctr"/>
            <a:r>
              <a:rPr sz="680" b="0">
                <a:solidFill>
                  <a:srgbClr val="1A1A1A"/>
                </a:solidFill>
                <a:latin typeface="맑은 고딕"/>
                <a:ea typeface="맑은 고딕"/>
              </a:rPr>
              <a:t>location · size · tier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474720"/>
            <a:ext cx="2743200" cy="457200"/>
          </a:xfrm>
          <a:prstGeom prst="rect">
            <a:avLst/>
          </a:prstGeom>
          <a:solidFill>
            <a:srgbClr val="DCE9F5"/>
          </a:solidFill>
          <a:ln w="12700">
            <a:solidFill>
              <a:srgbClr val="4D7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700" b="1">
                <a:solidFill>
                  <a:srgbClr val="1A1A1A"/>
                </a:solidFill>
                <a:latin typeface="맑은 고딕"/>
                <a:ea typeface="맑은 고딕"/>
              </a:rPr>
              <a:t>Data-Memory Affinity Mapper</a:t>
            </a:r>
          </a:p>
          <a:p>
            <a:pPr algn="ctr"/>
            <a:r>
              <a:rPr sz="700" b="0">
                <a:solidFill>
                  <a:srgbClr val="1A1A1A"/>
                </a:solidFill>
                <a:latin typeface="맑은 고딕"/>
                <a:ea typeface="맑은 고딕"/>
              </a:rPr>
              <a:t>(static hint)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828800" y="4526280"/>
            <a:ext cx="2103120" cy="457200"/>
          </a:xfrm>
          <a:prstGeom prst="rect">
            <a:avLst/>
          </a:prstGeom>
          <a:solidFill>
            <a:srgbClr val="DCE9F5"/>
          </a:solidFill>
          <a:ln w="12700">
            <a:solidFill>
              <a:srgbClr val="4D7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750" b="1">
                <a:solidFill>
                  <a:srgbClr val="1A1A1A"/>
                </a:solidFill>
                <a:latin typeface="맑은 고딕"/>
                <a:ea typeface="맑은 고딕"/>
              </a:rPr>
              <a:t>Migration Data Selector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480560" y="4526280"/>
            <a:ext cx="2194560" cy="457200"/>
          </a:xfrm>
          <a:prstGeom prst="rect">
            <a:avLst/>
          </a:prstGeom>
          <a:solidFill>
            <a:srgbClr val="DCE9F5"/>
          </a:solidFill>
          <a:ln w="12700">
            <a:solidFill>
              <a:srgbClr val="4D7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750" b="1">
                <a:solidFill>
                  <a:srgbClr val="1A1A1A"/>
                </a:solidFill>
                <a:latin typeface="맑은 고딕"/>
                <a:ea typeface="맑은 고딕"/>
              </a:rPr>
              <a:t>Destination Tier Selector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828800" y="5577840"/>
            <a:ext cx="4846320" cy="457200"/>
          </a:xfrm>
          <a:prstGeom prst="rect">
            <a:avLst/>
          </a:prstGeom>
          <a:solidFill>
            <a:srgbClr val="F0F1F3"/>
          </a:solidFill>
          <a:ln w="12700">
            <a:solidFill>
              <a:srgbClr val="888C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700" b="1">
                <a:solidFill>
                  <a:srgbClr val="1A1A1A"/>
                </a:solidFill>
                <a:latin typeface="맑은 고딕"/>
                <a:ea typeface="맑은 고딕"/>
              </a:rPr>
              <a:t>Migration Executor</a:t>
            </a:r>
          </a:p>
          <a:p>
            <a:pPr algn="ctr"/>
            <a:r>
              <a:rPr sz="700" b="0">
                <a:solidFill>
                  <a:srgbClr val="1A1A1A"/>
                </a:solidFill>
                <a:latin typeface="맑은 고딕"/>
                <a:ea typeface="맑은 고딕"/>
              </a:rPr>
              <a:t>(common migration boundary)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418320" y="1234440"/>
            <a:ext cx="2011680" cy="777240"/>
          </a:xfrm>
          <a:prstGeom prst="rect">
            <a:avLst/>
          </a:prstGeom>
          <a:solidFill>
            <a:srgbClr val="FFF8EC"/>
          </a:solidFill>
          <a:ln w="12700">
            <a:solidFill>
              <a:srgbClr val="C9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464040" y="1252728"/>
            <a:ext cx="1828800" cy="164592"/>
          </a:xfrm>
          <a:prstGeom prst="rect">
            <a:avLst/>
          </a:prstGeom>
          <a:noFill/>
        </p:spPr>
        <p:txBody>
          <a:bodyPr wrap="none" lIns="9144" rIns="9144" tIns="0" bIns="0">
            <a:spAutoFit/>
          </a:bodyPr>
          <a:lstStyle/>
          <a:p>
            <a:pPr algn="l"/>
            <a:r>
              <a:rPr sz="650" b="1">
                <a:solidFill>
                  <a:srgbClr val="404040"/>
                </a:solidFill>
                <a:latin typeface="맑은 고딕"/>
                <a:ea typeface="맑은 고딕"/>
              </a:rPr>
              <a:t>Resource Manager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555480" y="1508760"/>
            <a:ext cx="1737360" cy="384048"/>
          </a:xfrm>
          <a:prstGeom prst="rect">
            <a:avLst/>
          </a:prstGeom>
          <a:solidFill>
            <a:srgbClr val="FDEBD3"/>
          </a:solidFill>
          <a:ln w="12700">
            <a:solidFill>
              <a:srgbClr val="C9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700" b="1">
                <a:solidFill>
                  <a:srgbClr val="1A1A1A"/>
                </a:solidFill>
                <a:latin typeface="맑은 고딕"/>
                <a:ea typeface="맑은 고딕"/>
              </a:rPr>
              <a:t>Telemetry Collector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418320" y="4434840"/>
            <a:ext cx="2011680" cy="777240"/>
          </a:xfrm>
          <a:prstGeom prst="rect">
            <a:avLst/>
          </a:prstGeom>
          <a:solidFill>
            <a:srgbClr val="FFF8EC"/>
          </a:solidFill>
          <a:ln w="12700">
            <a:solidFill>
              <a:srgbClr val="C9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464040" y="4453128"/>
            <a:ext cx="1828800" cy="164592"/>
          </a:xfrm>
          <a:prstGeom prst="rect">
            <a:avLst/>
          </a:prstGeom>
          <a:noFill/>
        </p:spPr>
        <p:txBody>
          <a:bodyPr wrap="none" lIns="9144" rIns="9144" tIns="0" bIns="0">
            <a:spAutoFit/>
          </a:bodyPr>
          <a:lstStyle/>
          <a:p>
            <a:pPr algn="l"/>
            <a:r>
              <a:rPr sz="650" b="1">
                <a:solidFill>
                  <a:srgbClr val="404040"/>
                </a:solidFill>
                <a:latin typeface="맑은 고딕"/>
                <a:ea typeface="맑은 고딕"/>
              </a:rPr>
              <a:t>Resource Manager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555480" y="4709160"/>
            <a:ext cx="1737360" cy="384048"/>
          </a:xfrm>
          <a:prstGeom prst="rect">
            <a:avLst/>
          </a:prstGeom>
          <a:solidFill>
            <a:srgbClr val="FDEBD3"/>
          </a:solidFill>
          <a:ln w="12700">
            <a:solidFill>
              <a:srgbClr val="C9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700" b="1">
                <a:solidFill>
                  <a:srgbClr val="1A1A1A"/>
                </a:solidFill>
                <a:latin typeface="맑은 고딕"/>
                <a:ea typeface="맑은 고딕"/>
              </a:rPr>
              <a:t>Memory Registry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1828800" y="1600200"/>
            <a:ext cx="320040" cy="0"/>
          </a:xfrm>
          <a:prstGeom prst="line">
            <a:avLst/>
          </a:prstGeom>
          <a:ln w="12700">
            <a:solidFill>
              <a:srgbClr val="40404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3886200" y="1600200"/>
            <a:ext cx="594360" cy="0"/>
          </a:xfrm>
          <a:prstGeom prst="line">
            <a:avLst/>
          </a:prstGeom>
          <a:ln w="12700">
            <a:solidFill>
              <a:srgbClr val="404040"/>
            </a:solidFill>
            <a:prstDash val="sys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3840480" y="1417320"/>
            <a:ext cx="731520" cy="164592"/>
          </a:xfrm>
          <a:prstGeom prst="rect">
            <a:avLst/>
          </a:prstGeom>
          <a:noFill/>
        </p:spPr>
        <p:txBody>
          <a:bodyPr wrap="none" lIns="9144" rIns="9144" tIns="0" bIns="0">
            <a:spAutoFit/>
          </a:bodyPr>
          <a:lstStyle/>
          <a:p>
            <a:pPr algn="ctr"/>
            <a:r>
              <a:rPr sz="600" b="0">
                <a:solidFill>
                  <a:srgbClr val="404040"/>
                </a:solidFill>
                <a:latin typeface="맑은 고딕"/>
                <a:ea typeface="맑은 고딕"/>
              </a:rPr>
              <a:t>async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5577840" y="1828800"/>
            <a:ext cx="0" cy="594360"/>
          </a:xfrm>
          <a:prstGeom prst="line">
            <a:avLst/>
          </a:prstGeom>
          <a:ln w="12700">
            <a:solidFill>
              <a:srgbClr val="40404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H="1">
            <a:off x="2560320" y="2103120"/>
            <a:ext cx="3017520" cy="0"/>
          </a:xfrm>
          <a:prstGeom prst="line">
            <a:avLst/>
          </a:prstGeom>
          <a:ln w="1270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2560320" y="2103120"/>
            <a:ext cx="0" cy="320040"/>
          </a:xfrm>
          <a:prstGeom prst="line">
            <a:avLst/>
          </a:prstGeom>
          <a:ln w="12700">
            <a:solidFill>
              <a:srgbClr val="40404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6675120" y="2651760"/>
            <a:ext cx="640080" cy="0"/>
          </a:xfrm>
          <a:prstGeom prst="line">
            <a:avLst/>
          </a:prstGeom>
          <a:ln w="10160">
            <a:solidFill>
              <a:srgbClr val="404040"/>
            </a:solidFill>
            <a:tailEnd type="triangle" w="sm" len="sm"/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6537960" y="2450592"/>
            <a:ext cx="868680" cy="164592"/>
          </a:xfrm>
          <a:prstGeom prst="rect">
            <a:avLst/>
          </a:prstGeom>
          <a:noFill/>
        </p:spPr>
        <p:txBody>
          <a:bodyPr wrap="none" lIns="9144" rIns="9144" tIns="0" bIns="0">
            <a:spAutoFit/>
          </a:bodyPr>
          <a:lstStyle/>
          <a:p>
            <a:pPr algn="ctr"/>
            <a:r>
              <a:rPr sz="600" b="0">
                <a:solidFill>
                  <a:srgbClr val="404040"/>
                </a:solidFill>
                <a:latin typeface="맑은 고딕"/>
                <a:ea typeface="맑은 고딕"/>
              </a:rPr>
              <a:t>object query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2560320" y="2880360"/>
            <a:ext cx="0" cy="320040"/>
          </a:xfrm>
          <a:prstGeom prst="line">
            <a:avLst/>
          </a:prstGeom>
          <a:ln w="1270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2560320" y="3200400"/>
            <a:ext cx="1097280" cy="0"/>
          </a:xfrm>
          <a:prstGeom prst="line">
            <a:avLst/>
          </a:prstGeom>
          <a:ln w="1270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3657600" y="3200400"/>
            <a:ext cx="0" cy="274320"/>
          </a:xfrm>
          <a:prstGeom prst="line">
            <a:avLst/>
          </a:prstGeom>
          <a:ln w="12700">
            <a:solidFill>
              <a:srgbClr val="40404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457200" y="2971800"/>
            <a:ext cx="2057400" cy="164592"/>
          </a:xfrm>
          <a:prstGeom prst="rect">
            <a:avLst/>
          </a:prstGeom>
          <a:noFill/>
        </p:spPr>
        <p:txBody>
          <a:bodyPr wrap="none" lIns="9144" rIns="9144" tIns="0" bIns="0">
            <a:spAutoFit/>
          </a:bodyPr>
          <a:lstStyle/>
          <a:p>
            <a:pPr algn="r"/>
            <a:r>
              <a:rPr sz="650" b="0">
                <a:solidFill>
                  <a:srgbClr val="404040"/>
                </a:solidFill>
                <a:latin typeface="맑은 고딕"/>
                <a:ea typeface="맑은 고딕"/>
              </a:rPr>
              <a:t>resource trend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5577840" y="2880360"/>
            <a:ext cx="0" cy="320040"/>
          </a:xfrm>
          <a:prstGeom prst="line">
            <a:avLst/>
          </a:prstGeom>
          <a:ln w="1270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H="1">
            <a:off x="5120640" y="3200400"/>
            <a:ext cx="457200" cy="0"/>
          </a:xfrm>
          <a:prstGeom prst="line">
            <a:avLst/>
          </a:prstGeom>
          <a:ln w="1270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5120640" y="3200400"/>
            <a:ext cx="0" cy="274320"/>
          </a:xfrm>
          <a:prstGeom prst="line">
            <a:avLst/>
          </a:prstGeom>
          <a:ln w="12700">
            <a:solidFill>
              <a:srgbClr val="40404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5623560" y="3017520"/>
            <a:ext cx="1645920" cy="164592"/>
          </a:xfrm>
          <a:prstGeom prst="rect">
            <a:avLst/>
          </a:prstGeom>
          <a:noFill/>
        </p:spPr>
        <p:txBody>
          <a:bodyPr wrap="none" lIns="9144" rIns="9144" tIns="0" bIns="0">
            <a:spAutoFit/>
          </a:bodyPr>
          <a:lstStyle/>
          <a:p>
            <a:pPr algn="l"/>
            <a:r>
              <a:rPr sz="650" b="0">
                <a:solidFill>
                  <a:srgbClr val="404040"/>
                </a:solidFill>
                <a:latin typeface="맑은 고딕"/>
                <a:ea typeface="맑은 고딕"/>
              </a:rPr>
              <a:t>victim candidates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3657600" y="3931920"/>
            <a:ext cx="0" cy="320040"/>
          </a:xfrm>
          <a:prstGeom prst="line">
            <a:avLst/>
          </a:prstGeom>
          <a:ln w="1270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H="1">
            <a:off x="2880360" y="4251960"/>
            <a:ext cx="777240" cy="0"/>
          </a:xfrm>
          <a:prstGeom prst="line">
            <a:avLst/>
          </a:prstGeom>
          <a:ln w="1270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2880360" y="4251960"/>
            <a:ext cx="0" cy="274320"/>
          </a:xfrm>
          <a:prstGeom prst="line">
            <a:avLst/>
          </a:prstGeom>
          <a:ln w="12700">
            <a:solidFill>
              <a:srgbClr val="40404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457200" y="4069080"/>
            <a:ext cx="2377440" cy="164592"/>
          </a:xfrm>
          <a:prstGeom prst="rect">
            <a:avLst/>
          </a:prstGeom>
          <a:noFill/>
        </p:spPr>
        <p:txBody>
          <a:bodyPr wrap="none" lIns="9144" rIns="9144" tIns="0" bIns="0">
            <a:spAutoFit/>
          </a:bodyPr>
          <a:lstStyle/>
          <a:p>
            <a:pPr algn="r"/>
            <a:r>
              <a:rPr sz="650" b="0">
                <a:solidFill>
                  <a:srgbClr val="404040"/>
                </a:solidFill>
                <a:latin typeface="맑은 고딕"/>
                <a:ea typeface="맑은 고딕"/>
              </a:rPr>
              <a:t>candidate ranking hint</a:t>
            </a:r>
          </a:p>
        </p:txBody>
      </p:sp>
      <p:cxnSp>
        <p:nvCxnSpPr>
          <p:cNvPr id="94" name="Connector 93"/>
          <p:cNvCxnSpPr/>
          <p:nvPr/>
        </p:nvCxnSpPr>
        <p:spPr>
          <a:xfrm>
            <a:off x="5120640" y="3931920"/>
            <a:ext cx="0" cy="320040"/>
          </a:xfrm>
          <a:prstGeom prst="line">
            <a:avLst/>
          </a:prstGeom>
          <a:ln w="1270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5120640" y="4251960"/>
            <a:ext cx="457200" cy="0"/>
          </a:xfrm>
          <a:prstGeom prst="line">
            <a:avLst/>
          </a:prstGeom>
          <a:ln w="1270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5577840" y="4251960"/>
            <a:ext cx="0" cy="274320"/>
          </a:xfrm>
          <a:prstGeom prst="line">
            <a:avLst/>
          </a:prstGeom>
          <a:ln w="12700">
            <a:solidFill>
              <a:srgbClr val="40404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5669280" y="4069080"/>
            <a:ext cx="1463040" cy="164592"/>
          </a:xfrm>
          <a:prstGeom prst="rect">
            <a:avLst/>
          </a:prstGeom>
          <a:noFill/>
        </p:spPr>
        <p:txBody>
          <a:bodyPr wrap="none" lIns="9144" rIns="9144" tIns="0" bIns="0">
            <a:spAutoFit/>
          </a:bodyPr>
          <a:lstStyle/>
          <a:p>
            <a:pPr algn="l"/>
            <a:r>
              <a:rPr sz="650" b="0">
                <a:solidFill>
                  <a:srgbClr val="404040"/>
                </a:solidFill>
                <a:latin typeface="맑은 고딕"/>
                <a:ea typeface="맑은 고딕"/>
              </a:rPr>
              <a:t>tier affinity hint</a:t>
            </a:r>
          </a:p>
        </p:txBody>
      </p:sp>
      <p:cxnSp>
        <p:nvCxnSpPr>
          <p:cNvPr id="98" name="Connector 97"/>
          <p:cNvCxnSpPr/>
          <p:nvPr/>
        </p:nvCxnSpPr>
        <p:spPr>
          <a:xfrm>
            <a:off x="2880360" y="4983480"/>
            <a:ext cx="0" cy="594360"/>
          </a:xfrm>
          <a:prstGeom prst="line">
            <a:avLst/>
          </a:prstGeom>
          <a:ln w="17780">
            <a:solidFill>
              <a:srgbClr val="40404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5577840" y="4983480"/>
            <a:ext cx="0" cy="594360"/>
          </a:xfrm>
          <a:prstGeom prst="line">
            <a:avLst/>
          </a:prstGeom>
          <a:ln w="17780">
            <a:solidFill>
              <a:srgbClr val="40404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TextBox 99"/>
          <p:cNvSpPr txBox="1"/>
          <p:nvPr/>
        </p:nvSpPr>
        <p:spPr>
          <a:xfrm>
            <a:off x="2926080" y="5120640"/>
            <a:ext cx="1463040" cy="164592"/>
          </a:xfrm>
          <a:prstGeom prst="rect">
            <a:avLst/>
          </a:prstGeom>
          <a:noFill/>
        </p:spPr>
        <p:txBody>
          <a:bodyPr wrap="none" lIns="9144" rIns="9144" tIns="0" bIns="0">
            <a:spAutoFit/>
          </a:bodyPr>
          <a:lstStyle/>
          <a:p>
            <a:pPr algn="l"/>
            <a:r>
              <a:rPr sz="650" b="0">
                <a:solidFill>
                  <a:srgbClr val="404040"/>
                </a:solidFill>
                <a:latin typeface="맑은 고딕"/>
                <a:ea typeface="맑은 고딕"/>
              </a:rPr>
              <a:t>MigrationDecision</a:t>
            </a:r>
          </a:p>
        </p:txBody>
      </p:sp>
      <p:cxnSp>
        <p:nvCxnSpPr>
          <p:cNvPr id="101" name="Connector 100"/>
          <p:cNvCxnSpPr/>
          <p:nvPr/>
        </p:nvCxnSpPr>
        <p:spPr>
          <a:xfrm flipH="1">
            <a:off x="6675120" y="1700784"/>
            <a:ext cx="2880360" cy="0"/>
          </a:xfrm>
          <a:prstGeom prst="line">
            <a:avLst/>
          </a:prstGeom>
          <a:ln w="12700">
            <a:solidFill>
              <a:srgbClr val="40404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extBox 101"/>
          <p:cNvSpPr txBox="1"/>
          <p:nvPr/>
        </p:nvSpPr>
        <p:spPr>
          <a:xfrm>
            <a:off x="7315200" y="1499616"/>
            <a:ext cx="2103120" cy="164592"/>
          </a:xfrm>
          <a:prstGeom prst="rect">
            <a:avLst/>
          </a:prstGeom>
          <a:noFill/>
        </p:spPr>
        <p:txBody>
          <a:bodyPr wrap="none" lIns="9144" rIns="9144" tIns="0" bIns="0">
            <a:spAutoFit/>
          </a:bodyPr>
          <a:lstStyle/>
          <a:p>
            <a:pPr algn="ctr"/>
            <a:r>
              <a:rPr sz="650" b="0">
                <a:solidFill>
                  <a:srgbClr val="404040"/>
                </a:solidFill>
                <a:latin typeface="맑은 고딕"/>
                <a:ea typeface="맑은 고딕"/>
              </a:rPr>
              <a:t>② capacity · BW · load</a:t>
            </a:r>
          </a:p>
        </p:txBody>
      </p:sp>
      <p:cxnSp>
        <p:nvCxnSpPr>
          <p:cNvPr id="103" name="Connector 102"/>
          <p:cNvCxnSpPr/>
          <p:nvPr/>
        </p:nvCxnSpPr>
        <p:spPr>
          <a:xfrm flipH="1">
            <a:off x="6675120" y="4901184"/>
            <a:ext cx="2880360" cy="0"/>
          </a:xfrm>
          <a:prstGeom prst="line">
            <a:avLst/>
          </a:prstGeom>
          <a:ln w="12700">
            <a:solidFill>
              <a:srgbClr val="40404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TextBox 103"/>
          <p:cNvSpPr txBox="1"/>
          <p:nvPr/>
        </p:nvSpPr>
        <p:spPr>
          <a:xfrm>
            <a:off x="7223760" y="4700016"/>
            <a:ext cx="2286000" cy="164592"/>
          </a:xfrm>
          <a:prstGeom prst="rect">
            <a:avLst/>
          </a:prstGeom>
          <a:noFill/>
        </p:spPr>
        <p:txBody>
          <a:bodyPr wrap="none" lIns="9144" rIns="9144" tIns="0" bIns="0">
            <a:spAutoFit/>
          </a:bodyPr>
          <a:lstStyle/>
          <a:p>
            <a:pPr algn="ctr"/>
            <a:r>
              <a:rPr sz="650" b="0">
                <a:solidFill>
                  <a:srgbClr val="404040"/>
                </a:solidFill>
                <a:latin typeface="맑은 고딕"/>
                <a:ea typeface="맑은 고딕"/>
              </a:rPr>
              <a:t>①③ capability · transfer cost</a:t>
            </a:r>
          </a:p>
        </p:txBody>
      </p:sp>
      <p:cxnSp>
        <p:nvCxnSpPr>
          <p:cNvPr id="105" name="Connector 104"/>
          <p:cNvCxnSpPr/>
          <p:nvPr/>
        </p:nvCxnSpPr>
        <p:spPr>
          <a:xfrm>
            <a:off x="11430000" y="1645920"/>
            <a:ext cx="228600" cy="0"/>
          </a:xfrm>
          <a:prstGeom prst="line">
            <a:avLst/>
          </a:prstGeom>
          <a:ln w="11430">
            <a:solidFill>
              <a:srgbClr val="404040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11658600" y="1645920"/>
            <a:ext cx="0" cy="3977640"/>
          </a:xfrm>
          <a:prstGeom prst="line">
            <a:avLst/>
          </a:prstGeom>
          <a:ln w="11430">
            <a:solidFill>
              <a:srgbClr val="40404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TextBox 106"/>
          <p:cNvSpPr txBox="1"/>
          <p:nvPr/>
        </p:nvSpPr>
        <p:spPr>
          <a:xfrm>
            <a:off x="11686032" y="3474720"/>
            <a:ext cx="457200" cy="164592"/>
          </a:xfrm>
          <a:prstGeom prst="rect">
            <a:avLst/>
          </a:prstGeom>
          <a:noFill/>
        </p:spPr>
        <p:txBody>
          <a:bodyPr wrap="none" lIns="9144" rIns="9144" tIns="0" bIns="0">
            <a:spAutoFit/>
          </a:bodyPr>
          <a:lstStyle/>
          <a:p>
            <a:pPr algn="l"/>
            <a:r>
              <a:rPr sz="700" b="1">
                <a:solidFill>
                  <a:srgbClr val="404040"/>
                </a:solidFill>
                <a:latin typeface="맑은 고딕"/>
                <a:ea typeface="맑은 고딕"/>
              </a:rPr>
              <a:t>②</a:t>
            </a:r>
          </a:p>
        </p:txBody>
      </p:sp>
      <p:cxnSp>
        <p:nvCxnSpPr>
          <p:cNvPr id="108" name="Connector 107"/>
          <p:cNvCxnSpPr/>
          <p:nvPr/>
        </p:nvCxnSpPr>
        <p:spPr>
          <a:xfrm>
            <a:off x="10424160" y="5212080"/>
            <a:ext cx="0" cy="411480"/>
          </a:xfrm>
          <a:prstGeom prst="line">
            <a:avLst/>
          </a:prstGeom>
          <a:ln w="11430">
            <a:solidFill>
              <a:srgbClr val="404040"/>
            </a:solidFill>
            <a:tailEnd type="triangle" w="sm" len="sm"/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10469880" y="5340096"/>
            <a:ext cx="365760" cy="164592"/>
          </a:xfrm>
          <a:prstGeom prst="rect">
            <a:avLst/>
          </a:prstGeom>
          <a:noFill/>
        </p:spPr>
        <p:txBody>
          <a:bodyPr wrap="none" lIns="9144" rIns="9144" tIns="0" bIns="0">
            <a:spAutoFit/>
          </a:bodyPr>
          <a:lstStyle/>
          <a:p>
            <a:pPr algn="l"/>
            <a:r>
              <a:rPr sz="700" b="1">
                <a:solidFill>
                  <a:srgbClr val="404040"/>
                </a:solidFill>
                <a:latin typeface="맑은 고딕"/>
                <a:ea typeface="맑은 고딕"/>
              </a:rPr>
              <a:t>①③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498079" y="5623560"/>
            <a:ext cx="4297680" cy="548640"/>
          </a:xfrm>
          <a:prstGeom prst="rect">
            <a:avLst/>
          </a:prstGeom>
          <a:solidFill>
            <a:srgbClr val="404040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공통 Memory Backend I/F (Plug-in)</a:t>
            </a:r>
          </a:p>
          <a:p>
            <a:pPr algn="ctr"/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② Telemetry   ① Descriptor   ③ Binding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7498079" y="6236208"/>
            <a:ext cx="505206" cy="237744"/>
          </a:xfrm>
          <a:prstGeom prst="rect">
            <a:avLst/>
          </a:prstGeom>
          <a:solidFill>
            <a:srgbClr val="EDEDED"/>
          </a:solidFill>
          <a:ln w="12700">
            <a:solidFill>
              <a:srgbClr val="888C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580" b="0">
                <a:solidFill>
                  <a:srgbClr val="1A1A1A"/>
                </a:solidFill>
                <a:latin typeface="맑은 고딕"/>
                <a:ea typeface="맑은 고딕"/>
              </a:rPr>
              <a:t>HBM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8039861" y="6236208"/>
            <a:ext cx="505206" cy="237744"/>
          </a:xfrm>
          <a:prstGeom prst="rect">
            <a:avLst/>
          </a:prstGeom>
          <a:solidFill>
            <a:srgbClr val="EDEDED"/>
          </a:solidFill>
          <a:ln w="12700">
            <a:solidFill>
              <a:srgbClr val="888C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580" b="0">
                <a:solidFill>
                  <a:srgbClr val="1A1A1A"/>
                </a:solidFill>
                <a:latin typeface="맑은 고딕"/>
                <a:ea typeface="맑은 고딕"/>
              </a:rPr>
              <a:t>ScHBM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581644" y="6236208"/>
            <a:ext cx="505206" cy="237744"/>
          </a:xfrm>
          <a:prstGeom prst="rect">
            <a:avLst/>
          </a:prstGeom>
          <a:solidFill>
            <a:srgbClr val="EDEDED"/>
          </a:solidFill>
          <a:ln w="12700">
            <a:solidFill>
              <a:srgbClr val="888C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580" b="0">
                <a:solidFill>
                  <a:srgbClr val="1A1A1A"/>
                </a:solidFill>
                <a:latin typeface="맑은 고딕"/>
                <a:ea typeface="맑은 고딕"/>
              </a:rPr>
              <a:t>DRAM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9123426" y="6236208"/>
            <a:ext cx="505206" cy="237744"/>
          </a:xfrm>
          <a:prstGeom prst="rect">
            <a:avLst/>
          </a:prstGeom>
          <a:solidFill>
            <a:srgbClr val="EDEDED"/>
          </a:solidFill>
          <a:ln w="12700">
            <a:solidFill>
              <a:srgbClr val="888C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580" b="0">
                <a:solidFill>
                  <a:srgbClr val="1A1A1A"/>
                </a:solidFill>
                <a:latin typeface="맑은 고딕"/>
                <a:ea typeface="맑은 고딕"/>
              </a:rPr>
              <a:t>CXL-PNM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9665208" y="6236208"/>
            <a:ext cx="505206" cy="237744"/>
          </a:xfrm>
          <a:prstGeom prst="rect">
            <a:avLst/>
          </a:prstGeom>
          <a:solidFill>
            <a:srgbClr val="EDEDED"/>
          </a:solidFill>
          <a:ln w="12700">
            <a:solidFill>
              <a:srgbClr val="888C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580" b="0">
                <a:solidFill>
                  <a:srgbClr val="1A1A1A"/>
                </a:solidFill>
                <a:latin typeface="맑은 고딕"/>
                <a:ea typeface="맑은 고딕"/>
              </a:rPr>
              <a:t>HBF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0206990" y="6236208"/>
            <a:ext cx="505206" cy="237744"/>
          </a:xfrm>
          <a:prstGeom prst="rect">
            <a:avLst/>
          </a:prstGeom>
          <a:solidFill>
            <a:srgbClr val="EDEDED"/>
          </a:solidFill>
          <a:ln w="12700">
            <a:solidFill>
              <a:srgbClr val="888C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580" b="0">
                <a:solidFill>
                  <a:srgbClr val="1A1A1A"/>
                </a:solidFill>
                <a:latin typeface="맑은 고딕"/>
                <a:ea typeface="맑은 고딕"/>
              </a:rPr>
              <a:t>SSD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10748772" y="6236208"/>
            <a:ext cx="505206" cy="237744"/>
          </a:xfrm>
          <a:prstGeom prst="rect">
            <a:avLst/>
          </a:prstGeom>
          <a:solidFill>
            <a:srgbClr val="EDEDED"/>
          </a:solidFill>
          <a:ln w="12700">
            <a:solidFill>
              <a:srgbClr val="888C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580" b="0">
                <a:solidFill>
                  <a:srgbClr val="1A1A1A"/>
                </a:solidFill>
                <a:latin typeface="맑은 고딕"/>
                <a:ea typeface="맑은 고딕"/>
              </a:rPr>
              <a:t>SSD-PIM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1290554" y="6236208"/>
            <a:ext cx="505206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888C9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580" b="0">
                <a:solidFill>
                  <a:srgbClr val="1A1A1A"/>
                </a:solidFill>
                <a:latin typeface="맑은 고딕"/>
                <a:ea typeface="맑은 고딕"/>
              </a:rPr>
              <a:t>+ New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57200" y="6263640"/>
            <a:ext cx="5943600" cy="164592"/>
          </a:xfrm>
          <a:prstGeom prst="rect">
            <a:avLst/>
          </a:prstGeom>
          <a:noFill/>
        </p:spPr>
        <p:txBody>
          <a:bodyPr wrap="none" lIns="9144" rIns="9144" tIns="0" bIns="0">
            <a:spAutoFit/>
          </a:bodyPr>
          <a:lstStyle/>
          <a:p>
            <a:pPr algn="l"/>
            <a:r>
              <a:rPr sz="620" b="0">
                <a:solidFill>
                  <a:srgbClr val="404040"/>
                </a:solidFill>
                <a:latin typeface="맑은 고딕"/>
                <a:ea typeface="맑은 고딕"/>
              </a:rPr>
              <a:t>실선: 정보 / 데이터 흐름   점선: async event     Resource Manager와 직접 연결되는 모듈은 Resource State Monitor, Destination Tier Selector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34949" y="137379"/>
            <a:ext cx="7631530" cy="365125"/>
          </a:xfrm>
        </p:spPr>
        <p:txBody>
          <a:bodyPr/>
          <a:lstStyle/>
          <a:p>
            <a:r>
              <a:rPr lang="en-US" altLang="ko-KR" dirty="0"/>
              <a:t>DP1. 이기종 메모리 기반 Data Migration 구조 - Appendix</a:t>
            </a:r>
            <a:r>
              <a:rPr lang="ko-KR" altLang="en-US" dirty="0"/>
              <a:t/>
            </a:r>
            <a:r>
              <a:rPr lang="en-US" altLang="ko-KR" dirty="0"/>
              <a:t/>
            </a:r>
            <a:r>
              <a:rPr lang="ko-KR" altLang="en-US" dirty="0"/>
              <a:t/>
            </a:r>
            <a:r>
              <a:rPr lang="en-US" altLang="ko-KR" dirty="0"/>
              <a:t/>
            </a:r>
            <a:r>
              <a:rPr lang="ko-KR" altLang="en-US" dirty="0"/>
              <a:t/>
            </a:r>
          </a:p>
        </p:txBody>
      </p:sp>
      <p:sp>
        <p:nvSpPr>
          <p:cNvPr id="5" name="직사각형 4"/>
          <p:cNvSpPr/>
          <p:nvPr/>
        </p:nvSpPr>
        <p:spPr>
          <a:xfrm>
            <a:off x="234949" y="596176"/>
            <a:ext cx="11747501" cy="396603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469760" y="627926"/>
            <a:ext cx="1143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ko-KR" altLang="en-US" sz="1400" b="1" dirty="0">
                <a:solidFill>
                  <a:schemeClr val="bg1"/>
                </a:solidFill>
              </a:rPr>
              <a:t>C1 Resource State-driven + Data-Memory Affinity — Sequence</a:t>
            </a:r>
            <a:r>
              <a:rPr lang="en-US" altLang="ko-KR" sz="1400" b="1" dirty="0">
                <a:solidFill>
                  <a:schemeClr val="bg1"/>
                </a:solidFill>
              </a:rPr>
              <a:t/>
            </a:r>
            <a:r>
              <a:rPr lang="ko-KR" altLang="en-US" sz="1400" b="1" dirty="0">
                <a:solidFill>
                  <a:schemeClr val="bg1"/>
                </a:solidFill>
              </a:rPr>
              <a:t/>
            </a:r>
            <a:r>
              <a:rPr lang="en-US" altLang="ko-KR" sz="1400" b="1" dirty="0">
                <a:solidFill>
                  <a:schemeClr val="bg1"/>
                </a:solidFill>
              </a:rPr>
              <a:t/>
            </a:r>
            <a:r>
              <a:rPr lang="ko-KR" altLang="en-US" sz="1400" b="1" dirty="0">
                <a:solidFill>
                  <a:schemeClr val="bg1"/>
                </a:solidFill>
              </a:rPr>
              <a:t/>
            </a:r>
          </a:p>
        </p:txBody>
      </p:sp>
      <p:sp>
        <p:nvSpPr>
          <p:cNvPr id="39" name="직사각형 38"/>
          <p:cNvSpPr/>
          <p:nvPr/>
        </p:nvSpPr>
        <p:spPr>
          <a:xfrm>
            <a:off x="403086" y="678726"/>
            <a:ext cx="66675" cy="21627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57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</p:spPr>
        <p:txBody>
          <a:bodyPr/>
          <a:lstStyle/>
          <a:p>
            <a:fld id="{7F889C64-266A-4D07-AD8F-5B592E61CCE1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sp>
        <p:nvSpPr>
          <p:cNvPr id="58" name="Rectangle 57"/>
          <p:cNvSpPr/>
          <p:nvPr/>
        </p:nvSpPr>
        <p:spPr>
          <a:xfrm>
            <a:off x="411480" y="1143000"/>
            <a:ext cx="11384280" cy="36576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650" b="0">
                <a:solidFill>
                  <a:srgbClr val="404040"/>
                </a:solidFill>
                <a:latin typeface="맑은 고딕"/>
                <a:ea typeface="맑은 고딕"/>
              </a:rPr>
              <a:t>사전(boot / 상시, decision 경로 밖):  Backend → Memory Registry (①③ 등록·캐시),  Backend → Telemetry Collector (② 상시 수집)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48056" y="1600200"/>
            <a:ext cx="875537" cy="38404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Event Source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885825" y="1984248"/>
            <a:ext cx="0" cy="4370832"/>
          </a:xfrm>
          <a:prstGeom prst="line">
            <a:avLst/>
          </a:prstGeom>
          <a:ln w="8890">
            <a:solidFill>
              <a:srgbClr val="A6A6A6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ctangle 60"/>
          <p:cNvSpPr/>
          <p:nvPr/>
        </p:nvSpPr>
        <p:spPr>
          <a:xfrm>
            <a:off x="1396746" y="1600200"/>
            <a:ext cx="875537" cy="38404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Migration</a:t>
            </a:r>
          </a:p>
          <a:p>
            <a:pPr algn="ctr"/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Scheduler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1834515" y="1984248"/>
            <a:ext cx="0" cy="4370832"/>
          </a:xfrm>
          <a:prstGeom prst="line">
            <a:avLst/>
          </a:prstGeom>
          <a:ln w="8890">
            <a:solidFill>
              <a:srgbClr val="A6A6A6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ectangle 62"/>
          <p:cNvSpPr/>
          <p:nvPr/>
        </p:nvSpPr>
        <p:spPr>
          <a:xfrm>
            <a:off x="2345436" y="1600200"/>
            <a:ext cx="875537" cy="384048"/>
          </a:xfrm>
          <a:prstGeom prst="rect">
            <a:avLst/>
          </a:prstGeom>
          <a:solidFill>
            <a:srgbClr val="FDEBD3"/>
          </a:solidFill>
          <a:ln w="12700">
            <a:solidFill>
              <a:srgbClr val="C9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620" b="1">
                <a:solidFill>
                  <a:srgbClr val="1A1A1A"/>
                </a:solidFill>
                <a:latin typeface="맑은 고딕"/>
                <a:ea typeface="맑은 고딕"/>
              </a:rPr>
              <a:t>Telemetry</a:t>
            </a:r>
          </a:p>
          <a:p>
            <a:pPr algn="ctr"/>
            <a:r>
              <a:rPr sz="620" b="0">
                <a:solidFill>
                  <a:srgbClr val="1A1A1A"/>
                </a:solidFill>
                <a:latin typeface="맑은 고딕"/>
                <a:ea typeface="맑은 고딕"/>
              </a:rPr>
              <a:t>Collector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2783204" y="1984248"/>
            <a:ext cx="0" cy="4370832"/>
          </a:xfrm>
          <a:prstGeom prst="line">
            <a:avLst/>
          </a:prstGeom>
          <a:ln w="8890">
            <a:solidFill>
              <a:srgbClr val="A6A6A6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ectangle 64"/>
          <p:cNvSpPr/>
          <p:nvPr/>
        </p:nvSpPr>
        <p:spPr>
          <a:xfrm>
            <a:off x="3294126" y="1600200"/>
            <a:ext cx="875537" cy="384048"/>
          </a:xfrm>
          <a:prstGeom prst="rect">
            <a:avLst/>
          </a:prstGeom>
          <a:solidFill>
            <a:srgbClr val="DCE9F5"/>
          </a:solidFill>
          <a:ln w="12700">
            <a:solidFill>
              <a:srgbClr val="4D7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620" b="1">
                <a:solidFill>
                  <a:srgbClr val="1A1A1A"/>
                </a:solidFill>
                <a:latin typeface="맑은 고딕"/>
                <a:ea typeface="맑은 고딕"/>
              </a:rPr>
              <a:t>Resource State</a:t>
            </a:r>
          </a:p>
          <a:p>
            <a:pPr algn="ctr"/>
            <a:r>
              <a:rPr sz="620" b="0">
                <a:solidFill>
                  <a:srgbClr val="1A1A1A"/>
                </a:solidFill>
                <a:latin typeface="맑은 고딕"/>
                <a:ea typeface="맑은 고딕"/>
              </a:rPr>
              <a:t>Monitor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3731895" y="1984248"/>
            <a:ext cx="0" cy="4370832"/>
          </a:xfrm>
          <a:prstGeom prst="line">
            <a:avLst/>
          </a:prstGeom>
          <a:ln w="8890">
            <a:solidFill>
              <a:srgbClr val="A6A6A6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ectangle 66"/>
          <p:cNvSpPr/>
          <p:nvPr/>
        </p:nvSpPr>
        <p:spPr>
          <a:xfrm>
            <a:off x="4242816" y="1600200"/>
            <a:ext cx="875537" cy="384048"/>
          </a:xfrm>
          <a:prstGeom prst="rect">
            <a:avLst/>
          </a:prstGeom>
          <a:solidFill>
            <a:srgbClr val="DCE9F5"/>
          </a:solidFill>
          <a:ln w="12700">
            <a:solidFill>
              <a:srgbClr val="4D7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620" b="1">
                <a:solidFill>
                  <a:srgbClr val="1A1A1A"/>
                </a:solidFill>
                <a:latin typeface="맑은 고딕"/>
                <a:ea typeface="맑은 고딕"/>
              </a:rPr>
              <a:t>Resource Trend</a:t>
            </a:r>
          </a:p>
          <a:p>
            <a:pPr algn="ctr"/>
            <a:r>
              <a:rPr sz="620" b="0">
                <a:solidFill>
                  <a:srgbClr val="1A1A1A"/>
                </a:solidFill>
                <a:latin typeface="맑은 고딕"/>
                <a:ea typeface="맑은 고딕"/>
              </a:rPr>
              <a:t>Analyzer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4680584" y="1984248"/>
            <a:ext cx="0" cy="4370832"/>
          </a:xfrm>
          <a:prstGeom prst="line">
            <a:avLst/>
          </a:prstGeom>
          <a:ln w="8890">
            <a:solidFill>
              <a:srgbClr val="A6A6A6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ectangle 68"/>
          <p:cNvSpPr/>
          <p:nvPr/>
        </p:nvSpPr>
        <p:spPr>
          <a:xfrm>
            <a:off x="5191505" y="1600200"/>
            <a:ext cx="875537" cy="384048"/>
          </a:xfrm>
          <a:prstGeom prst="rect">
            <a:avLst/>
          </a:prstGeom>
          <a:solidFill>
            <a:srgbClr val="DCE9F5"/>
          </a:solidFill>
          <a:ln w="12700">
            <a:solidFill>
              <a:srgbClr val="4D7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620" b="1">
                <a:solidFill>
                  <a:srgbClr val="1A1A1A"/>
                </a:solidFill>
                <a:latin typeface="맑은 고딕"/>
                <a:ea typeface="맑은 고딕"/>
              </a:rPr>
              <a:t>Data Eviction</a:t>
            </a:r>
          </a:p>
          <a:p>
            <a:pPr algn="ctr"/>
            <a:r>
              <a:rPr sz="620" b="0">
                <a:solidFill>
                  <a:srgbClr val="1A1A1A"/>
                </a:solidFill>
                <a:latin typeface="맑은 고딕"/>
                <a:ea typeface="맑은 고딕"/>
              </a:rPr>
              <a:t>Manager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5629274" y="1984248"/>
            <a:ext cx="0" cy="4370832"/>
          </a:xfrm>
          <a:prstGeom prst="line">
            <a:avLst/>
          </a:prstGeom>
          <a:ln w="8890">
            <a:solidFill>
              <a:srgbClr val="A6A6A6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ectangle 70"/>
          <p:cNvSpPr/>
          <p:nvPr/>
        </p:nvSpPr>
        <p:spPr>
          <a:xfrm>
            <a:off x="6140196" y="1600200"/>
            <a:ext cx="875537" cy="384048"/>
          </a:xfrm>
          <a:prstGeom prst="rect">
            <a:avLst/>
          </a:prstGeom>
          <a:solidFill>
            <a:srgbClr val="E3F1E3"/>
          </a:solidFill>
          <a:ln w="12700">
            <a:solidFill>
              <a:srgbClr val="5B9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620" b="1">
                <a:solidFill>
                  <a:srgbClr val="1A1A1A"/>
                </a:solidFill>
                <a:latin typeface="맑은 고딕"/>
                <a:ea typeface="맑은 고딕"/>
              </a:rPr>
              <a:t>Data Object</a:t>
            </a:r>
          </a:p>
          <a:p>
            <a:pPr algn="ctr"/>
            <a:r>
              <a:rPr sz="620" b="0">
                <a:solidFill>
                  <a:srgbClr val="1A1A1A"/>
                </a:solidFill>
                <a:latin typeface="맑은 고딕"/>
                <a:ea typeface="맑은 고딕"/>
              </a:rPr>
              <a:t>Registry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6577965" y="1984248"/>
            <a:ext cx="0" cy="4370832"/>
          </a:xfrm>
          <a:prstGeom prst="line">
            <a:avLst/>
          </a:prstGeom>
          <a:ln w="8890">
            <a:solidFill>
              <a:srgbClr val="A6A6A6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Rectangle 72"/>
          <p:cNvSpPr/>
          <p:nvPr/>
        </p:nvSpPr>
        <p:spPr>
          <a:xfrm>
            <a:off x="7088886" y="1600200"/>
            <a:ext cx="875537" cy="384048"/>
          </a:xfrm>
          <a:prstGeom prst="rect">
            <a:avLst/>
          </a:prstGeom>
          <a:solidFill>
            <a:srgbClr val="DCE9F5"/>
          </a:solidFill>
          <a:ln w="12700">
            <a:solidFill>
              <a:srgbClr val="4D7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620" b="1">
                <a:solidFill>
                  <a:srgbClr val="1A1A1A"/>
                </a:solidFill>
                <a:latin typeface="맑은 고딕"/>
                <a:ea typeface="맑은 고딕"/>
              </a:rPr>
              <a:t>Affinity</a:t>
            </a:r>
          </a:p>
          <a:p>
            <a:pPr algn="ctr"/>
            <a:r>
              <a:rPr sz="620" b="0">
                <a:solidFill>
                  <a:srgbClr val="1A1A1A"/>
                </a:solidFill>
                <a:latin typeface="맑은 고딕"/>
                <a:ea typeface="맑은 고딕"/>
              </a:rPr>
              <a:t>Mapper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7526654" y="1984248"/>
            <a:ext cx="0" cy="4370832"/>
          </a:xfrm>
          <a:prstGeom prst="line">
            <a:avLst/>
          </a:prstGeom>
          <a:ln w="8890">
            <a:solidFill>
              <a:srgbClr val="A6A6A6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ectangle 74"/>
          <p:cNvSpPr/>
          <p:nvPr/>
        </p:nvSpPr>
        <p:spPr>
          <a:xfrm>
            <a:off x="8037575" y="1600200"/>
            <a:ext cx="875537" cy="384048"/>
          </a:xfrm>
          <a:prstGeom prst="rect">
            <a:avLst/>
          </a:prstGeom>
          <a:solidFill>
            <a:srgbClr val="DCE9F5"/>
          </a:solidFill>
          <a:ln w="12700">
            <a:solidFill>
              <a:srgbClr val="4D7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620" b="1">
                <a:solidFill>
                  <a:srgbClr val="1A1A1A"/>
                </a:solidFill>
                <a:latin typeface="맑은 고딕"/>
                <a:ea typeface="맑은 고딕"/>
              </a:rPr>
              <a:t>Migration Data</a:t>
            </a:r>
          </a:p>
          <a:p>
            <a:pPr algn="ctr"/>
            <a:r>
              <a:rPr sz="620" b="0">
                <a:solidFill>
                  <a:srgbClr val="1A1A1A"/>
                </a:solidFill>
                <a:latin typeface="맑은 고딕"/>
                <a:ea typeface="맑은 고딕"/>
              </a:rPr>
              <a:t>Selector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8475344" y="1984248"/>
            <a:ext cx="0" cy="4370832"/>
          </a:xfrm>
          <a:prstGeom prst="line">
            <a:avLst/>
          </a:prstGeom>
          <a:ln w="8890">
            <a:solidFill>
              <a:srgbClr val="A6A6A6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ectangle 76"/>
          <p:cNvSpPr/>
          <p:nvPr/>
        </p:nvSpPr>
        <p:spPr>
          <a:xfrm>
            <a:off x="8986265" y="1600200"/>
            <a:ext cx="875537" cy="384048"/>
          </a:xfrm>
          <a:prstGeom prst="rect">
            <a:avLst/>
          </a:prstGeom>
          <a:solidFill>
            <a:srgbClr val="DCE9F5"/>
          </a:solidFill>
          <a:ln w="12700">
            <a:solidFill>
              <a:srgbClr val="4D7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620" b="1">
                <a:solidFill>
                  <a:srgbClr val="1A1A1A"/>
                </a:solidFill>
                <a:latin typeface="맑은 고딕"/>
                <a:ea typeface="맑은 고딕"/>
              </a:rPr>
              <a:t>Destination Tier</a:t>
            </a:r>
          </a:p>
          <a:p>
            <a:pPr algn="ctr"/>
            <a:r>
              <a:rPr sz="620" b="0">
                <a:solidFill>
                  <a:srgbClr val="1A1A1A"/>
                </a:solidFill>
                <a:latin typeface="맑은 고딕"/>
                <a:ea typeface="맑은 고딕"/>
              </a:rPr>
              <a:t>Selector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9424034" y="1984248"/>
            <a:ext cx="0" cy="4370832"/>
          </a:xfrm>
          <a:prstGeom prst="line">
            <a:avLst/>
          </a:prstGeom>
          <a:ln w="8890">
            <a:solidFill>
              <a:srgbClr val="A6A6A6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Rectangle 78"/>
          <p:cNvSpPr/>
          <p:nvPr/>
        </p:nvSpPr>
        <p:spPr>
          <a:xfrm>
            <a:off x="9934955" y="1600200"/>
            <a:ext cx="875537" cy="384048"/>
          </a:xfrm>
          <a:prstGeom prst="rect">
            <a:avLst/>
          </a:prstGeom>
          <a:solidFill>
            <a:srgbClr val="FDEBD3"/>
          </a:solidFill>
          <a:ln w="12700">
            <a:solidFill>
              <a:srgbClr val="C9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620" b="1">
                <a:solidFill>
                  <a:srgbClr val="1A1A1A"/>
                </a:solidFill>
                <a:latin typeface="맑은 고딕"/>
                <a:ea typeface="맑은 고딕"/>
              </a:rPr>
              <a:t>Memory</a:t>
            </a:r>
          </a:p>
          <a:p>
            <a:pPr algn="ctr"/>
            <a:r>
              <a:rPr sz="620" b="0">
                <a:solidFill>
                  <a:srgbClr val="1A1A1A"/>
                </a:solidFill>
                <a:latin typeface="맑은 고딕"/>
                <a:ea typeface="맑은 고딕"/>
              </a:rPr>
              <a:t>Registry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10372724" y="1984248"/>
            <a:ext cx="0" cy="4370832"/>
          </a:xfrm>
          <a:prstGeom prst="line">
            <a:avLst/>
          </a:prstGeom>
          <a:ln w="8890">
            <a:solidFill>
              <a:srgbClr val="A6A6A6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Rectangle 80"/>
          <p:cNvSpPr/>
          <p:nvPr/>
        </p:nvSpPr>
        <p:spPr>
          <a:xfrm>
            <a:off x="10883645" y="1600200"/>
            <a:ext cx="875537" cy="384048"/>
          </a:xfrm>
          <a:prstGeom prst="rect">
            <a:avLst/>
          </a:prstGeom>
          <a:solidFill>
            <a:srgbClr val="F0F1F3"/>
          </a:solidFill>
          <a:ln w="12700">
            <a:solidFill>
              <a:srgbClr val="888C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620" b="1">
                <a:solidFill>
                  <a:srgbClr val="1A1A1A"/>
                </a:solidFill>
                <a:latin typeface="맑은 고딕"/>
                <a:ea typeface="맑은 고딕"/>
              </a:rPr>
              <a:t>Migration</a:t>
            </a:r>
          </a:p>
          <a:p>
            <a:pPr algn="ctr"/>
            <a:r>
              <a:rPr sz="620" b="0">
                <a:solidFill>
                  <a:srgbClr val="1A1A1A"/>
                </a:solidFill>
                <a:latin typeface="맑은 고딕"/>
                <a:ea typeface="맑은 고딕"/>
              </a:rPr>
              <a:t>Executor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11321414" y="1984248"/>
            <a:ext cx="0" cy="4370832"/>
          </a:xfrm>
          <a:prstGeom prst="line">
            <a:avLst/>
          </a:prstGeom>
          <a:ln w="8890">
            <a:solidFill>
              <a:srgbClr val="A6A6A6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885825" y="2148840"/>
            <a:ext cx="948690" cy="0"/>
          </a:xfrm>
          <a:prstGeom prst="line">
            <a:avLst/>
          </a:prstGeom>
          <a:ln w="12700">
            <a:solidFill>
              <a:srgbClr val="40404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765810" y="1975104"/>
            <a:ext cx="1188720" cy="164592"/>
          </a:xfrm>
          <a:prstGeom prst="rect">
            <a:avLst/>
          </a:prstGeom>
          <a:solidFill>
            <a:srgbClr val="FFFFFF"/>
          </a:solidFill>
        </p:spPr>
        <p:txBody>
          <a:bodyPr wrap="none" lIns="9144" rIns="9144" tIns="0" bIns="0">
            <a:spAutoFit/>
          </a:bodyPr>
          <a:lstStyle/>
          <a:p>
            <a:pPr algn="ctr"/>
            <a:r>
              <a:rPr sz="620" b="0">
                <a:solidFill>
                  <a:srgbClr val="404040"/>
                </a:solidFill>
                <a:latin typeface="맑은 고딕"/>
                <a:ea typeface="맑은 고딕"/>
              </a:rPr>
              <a:t>1. Migration Event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1834515" y="2449285"/>
            <a:ext cx="1897380" cy="0"/>
          </a:xfrm>
          <a:prstGeom prst="line">
            <a:avLst/>
          </a:prstGeom>
          <a:ln w="12700">
            <a:solidFill>
              <a:srgbClr val="404040"/>
            </a:solidFill>
            <a:prstDash val="sys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1857375" y="2275549"/>
            <a:ext cx="1851660" cy="164592"/>
          </a:xfrm>
          <a:prstGeom prst="rect">
            <a:avLst/>
          </a:prstGeom>
          <a:solidFill>
            <a:srgbClr val="FFFFFF"/>
          </a:solidFill>
        </p:spPr>
        <p:txBody>
          <a:bodyPr wrap="none" lIns="9144" rIns="9144" tIns="0" bIns="0">
            <a:spAutoFit/>
          </a:bodyPr>
          <a:lstStyle/>
          <a:p>
            <a:pPr algn="ctr"/>
            <a:r>
              <a:rPr sz="620" b="0">
                <a:solidFill>
                  <a:srgbClr val="404040"/>
                </a:solidFill>
                <a:latin typeface="맑은 고딕"/>
                <a:ea typeface="맑은 고딕"/>
              </a:rPr>
              <a:t>2. async event push</a:t>
            </a:r>
          </a:p>
        </p:txBody>
      </p:sp>
      <p:cxnSp>
        <p:nvCxnSpPr>
          <p:cNvPr id="87" name="Connector 86"/>
          <p:cNvCxnSpPr/>
          <p:nvPr/>
        </p:nvCxnSpPr>
        <p:spPr>
          <a:xfrm>
            <a:off x="2783204" y="2749731"/>
            <a:ext cx="948691" cy="0"/>
          </a:xfrm>
          <a:prstGeom prst="line">
            <a:avLst/>
          </a:prstGeom>
          <a:ln w="12700">
            <a:solidFill>
              <a:srgbClr val="40404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2663190" y="2575995"/>
            <a:ext cx="1188720" cy="164592"/>
          </a:xfrm>
          <a:prstGeom prst="rect">
            <a:avLst/>
          </a:prstGeom>
          <a:solidFill>
            <a:srgbClr val="FFFFFF"/>
          </a:solidFill>
        </p:spPr>
        <p:txBody>
          <a:bodyPr wrap="none" lIns="9144" rIns="9144" tIns="0" bIns="0">
            <a:spAutoFit/>
          </a:bodyPr>
          <a:lstStyle/>
          <a:p>
            <a:pPr algn="ctr"/>
            <a:r>
              <a:rPr sz="620" b="0">
                <a:solidFill>
                  <a:srgbClr val="404040"/>
                </a:solidFill>
                <a:latin typeface="맑은 고딕"/>
                <a:ea typeface="맑은 고딕"/>
              </a:rPr>
              <a:t>3. ② capacity·BW·load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3731895" y="3050177"/>
            <a:ext cx="948689" cy="0"/>
          </a:xfrm>
          <a:prstGeom prst="line">
            <a:avLst/>
          </a:prstGeom>
          <a:ln w="12700">
            <a:solidFill>
              <a:srgbClr val="40404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3611879" y="2876441"/>
            <a:ext cx="1188720" cy="164592"/>
          </a:xfrm>
          <a:prstGeom prst="rect">
            <a:avLst/>
          </a:prstGeom>
          <a:solidFill>
            <a:srgbClr val="FFFFFF"/>
          </a:solidFill>
        </p:spPr>
        <p:txBody>
          <a:bodyPr wrap="none" lIns="9144" rIns="9144" tIns="0" bIns="0">
            <a:spAutoFit/>
          </a:bodyPr>
          <a:lstStyle/>
          <a:p>
            <a:pPr algn="ctr"/>
            <a:r>
              <a:rPr sz="620" b="0">
                <a:solidFill>
                  <a:srgbClr val="404040"/>
                </a:solidFill>
                <a:latin typeface="맑은 고딕"/>
                <a:ea typeface="맑은 고딕"/>
              </a:rPr>
              <a:t>4. resource state</a:t>
            </a:r>
          </a:p>
        </p:txBody>
      </p:sp>
      <p:cxnSp>
        <p:nvCxnSpPr>
          <p:cNvPr id="91" name="Connector 90"/>
          <p:cNvCxnSpPr/>
          <p:nvPr/>
        </p:nvCxnSpPr>
        <p:spPr>
          <a:xfrm>
            <a:off x="3731895" y="3350622"/>
            <a:ext cx="1897379" cy="0"/>
          </a:xfrm>
          <a:prstGeom prst="line">
            <a:avLst/>
          </a:prstGeom>
          <a:ln w="12700">
            <a:solidFill>
              <a:srgbClr val="40404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/>
          <p:cNvSpPr txBox="1"/>
          <p:nvPr/>
        </p:nvSpPr>
        <p:spPr>
          <a:xfrm>
            <a:off x="3754754" y="3176886"/>
            <a:ext cx="1851659" cy="164592"/>
          </a:xfrm>
          <a:prstGeom prst="rect">
            <a:avLst/>
          </a:prstGeom>
          <a:solidFill>
            <a:srgbClr val="FFFFFF"/>
          </a:solidFill>
        </p:spPr>
        <p:txBody>
          <a:bodyPr wrap="none" lIns="9144" rIns="9144" tIns="0" bIns="0">
            <a:spAutoFit/>
          </a:bodyPr>
          <a:lstStyle/>
          <a:p>
            <a:pPr algn="ctr"/>
            <a:r>
              <a:rPr sz="620" b="0">
                <a:solidFill>
                  <a:srgbClr val="404040"/>
                </a:solidFill>
                <a:latin typeface="맑은 고딕"/>
                <a:ea typeface="맑은 고딕"/>
              </a:rPr>
              <a:t>5. pressure state</a:t>
            </a:r>
          </a:p>
        </p:txBody>
      </p:sp>
      <p:cxnSp>
        <p:nvCxnSpPr>
          <p:cNvPr id="93" name="Connector 92"/>
          <p:cNvCxnSpPr/>
          <p:nvPr/>
        </p:nvCxnSpPr>
        <p:spPr>
          <a:xfrm>
            <a:off x="5629274" y="3651068"/>
            <a:ext cx="948691" cy="0"/>
          </a:xfrm>
          <a:prstGeom prst="line">
            <a:avLst/>
          </a:prstGeom>
          <a:ln w="12700">
            <a:solidFill>
              <a:srgbClr val="40404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5509259" y="3477332"/>
            <a:ext cx="1188720" cy="164592"/>
          </a:xfrm>
          <a:prstGeom prst="rect">
            <a:avLst/>
          </a:prstGeom>
          <a:solidFill>
            <a:srgbClr val="FFFFFF"/>
          </a:solidFill>
        </p:spPr>
        <p:txBody>
          <a:bodyPr wrap="none" lIns="9144" rIns="9144" tIns="0" bIns="0">
            <a:spAutoFit/>
          </a:bodyPr>
          <a:lstStyle/>
          <a:p>
            <a:pPr algn="ctr"/>
            <a:r>
              <a:rPr sz="620" b="0">
                <a:solidFill>
                  <a:srgbClr val="404040"/>
                </a:solidFill>
                <a:latin typeface="맑은 고딕"/>
                <a:ea typeface="맑은 고딕"/>
              </a:rPr>
              <a:t>6. candidate query</a:t>
            </a:r>
          </a:p>
        </p:txBody>
      </p:sp>
      <p:cxnSp>
        <p:nvCxnSpPr>
          <p:cNvPr id="95" name="Connector 94"/>
          <p:cNvCxnSpPr/>
          <p:nvPr/>
        </p:nvCxnSpPr>
        <p:spPr>
          <a:xfrm flipH="1">
            <a:off x="5629274" y="3951514"/>
            <a:ext cx="948691" cy="0"/>
          </a:xfrm>
          <a:prstGeom prst="line">
            <a:avLst/>
          </a:prstGeom>
          <a:ln w="12700">
            <a:solidFill>
              <a:srgbClr val="404040"/>
            </a:solidFill>
            <a:prstDash val="sys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5509259" y="3777778"/>
            <a:ext cx="1188720" cy="164592"/>
          </a:xfrm>
          <a:prstGeom prst="rect">
            <a:avLst/>
          </a:prstGeom>
          <a:solidFill>
            <a:srgbClr val="FFFFFF"/>
          </a:solidFill>
        </p:spPr>
        <p:txBody>
          <a:bodyPr wrap="none" lIns="9144" rIns="9144" tIns="0" bIns="0">
            <a:spAutoFit/>
          </a:bodyPr>
          <a:lstStyle/>
          <a:p>
            <a:pPr algn="ctr"/>
            <a:r>
              <a:rPr sz="620" b="0">
                <a:solidFill>
                  <a:srgbClr val="404040"/>
                </a:solidFill>
                <a:latin typeface="맑은 고딕"/>
                <a:ea typeface="맑은 고딕"/>
              </a:rPr>
              <a:t>7. loc·size·tier</a:t>
            </a:r>
          </a:p>
        </p:txBody>
      </p:sp>
      <p:cxnSp>
        <p:nvCxnSpPr>
          <p:cNvPr id="97" name="Connector 96"/>
          <p:cNvCxnSpPr/>
          <p:nvPr/>
        </p:nvCxnSpPr>
        <p:spPr>
          <a:xfrm>
            <a:off x="4680584" y="4251960"/>
            <a:ext cx="2846070" cy="0"/>
          </a:xfrm>
          <a:prstGeom prst="line">
            <a:avLst/>
          </a:prstGeom>
          <a:ln w="12700">
            <a:solidFill>
              <a:srgbClr val="40404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Box 97"/>
          <p:cNvSpPr txBox="1"/>
          <p:nvPr/>
        </p:nvSpPr>
        <p:spPr>
          <a:xfrm>
            <a:off x="4703444" y="4078224"/>
            <a:ext cx="2800350" cy="164592"/>
          </a:xfrm>
          <a:prstGeom prst="rect">
            <a:avLst/>
          </a:prstGeom>
          <a:solidFill>
            <a:srgbClr val="FFFFFF"/>
          </a:solidFill>
        </p:spPr>
        <p:txBody>
          <a:bodyPr wrap="none" lIns="9144" rIns="9144" tIns="0" bIns="0">
            <a:spAutoFit/>
          </a:bodyPr>
          <a:lstStyle/>
          <a:p>
            <a:pPr algn="ctr"/>
            <a:r>
              <a:rPr sz="620" b="0">
                <a:solidFill>
                  <a:srgbClr val="404040"/>
                </a:solidFill>
                <a:latin typeface="맑은 고딕"/>
                <a:ea typeface="맑은 고딕"/>
              </a:rPr>
              <a:t>8. migration need</a:t>
            </a:r>
          </a:p>
        </p:txBody>
      </p:sp>
      <p:cxnSp>
        <p:nvCxnSpPr>
          <p:cNvPr id="99" name="Connector 98"/>
          <p:cNvCxnSpPr/>
          <p:nvPr/>
        </p:nvCxnSpPr>
        <p:spPr>
          <a:xfrm>
            <a:off x="5629274" y="4552405"/>
            <a:ext cx="1897380" cy="0"/>
          </a:xfrm>
          <a:prstGeom prst="line">
            <a:avLst/>
          </a:prstGeom>
          <a:ln w="12700">
            <a:solidFill>
              <a:srgbClr val="40404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TextBox 99"/>
          <p:cNvSpPr txBox="1"/>
          <p:nvPr/>
        </p:nvSpPr>
        <p:spPr>
          <a:xfrm>
            <a:off x="5652134" y="4378669"/>
            <a:ext cx="1851660" cy="164592"/>
          </a:xfrm>
          <a:prstGeom prst="rect">
            <a:avLst/>
          </a:prstGeom>
          <a:solidFill>
            <a:srgbClr val="FFFFFF"/>
          </a:solidFill>
        </p:spPr>
        <p:txBody>
          <a:bodyPr wrap="none" lIns="9144" rIns="9144" tIns="0" bIns="0">
            <a:spAutoFit/>
          </a:bodyPr>
          <a:lstStyle/>
          <a:p>
            <a:pPr algn="ctr"/>
            <a:r>
              <a:rPr sz="620" b="0">
                <a:solidFill>
                  <a:srgbClr val="404040"/>
                </a:solidFill>
                <a:latin typeface="맑은 고딕"/>
                <a:ea typeface="맑은 고딕"/>
              </a:rPr>
              <a:t>9. victim candidates</a:t>
            </a:r>
          </a:p>
        </p:txBody>
      </p:sp>
      <p:cxnSp>
        <p:nvCxnSpPr>
          <p:cNvPr id="101" name="Connector 100"/>
          <p:cNvCxnSpPr/>
          <p:nvPr/>
        </p:nvCxnSpPr>
        <p:spPr>
          <a:xfrm>
            <a:off x="7526654" y="4852851"/>
            <a:ext cx="1897380" cy="0"/>
          </a:xfrm>
          <a:prstGeom prst="line">
            <a:avLst/>
          </a:prstGeom>
          <a:ln w="12700">
            <a:solidFill>
              <a:srgbClr val="40404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extBox 101"/>
          <p:cNvSpPr txBox="1"/>
          <p:nvPr/>
        </p:nvSpPr>
        <p:spPr>
          <a:xfrm>
            <a:off x="7549515" y="4679115"/>
            <a:ext cx="1851659" cy="164592"/>
          </a:xfrm>
          <a:prstGeom prst="rect">
            <a:avLst/>
          </a:prstGeom>
          <a:solidFill>
            <a:srgbClr val="FFFFFF"/>
          </a:solidFill>
        </p:spPr>
        <p:txBody>
          <a:bodyPr wrap="none" lIns="9144" rIns="9144" tIns="0" bIns="0">
            <a:spAutoFit/>
          </a:bodyPr>
          <a:lstStyle/>
          <a:p>
            <a:pPr algn="ctr"/>
            <a:r>
              <a:rPr sz="620" b="0">
                <a:solidFill>
                  <a:srgbClr val="404040"/>
                </a:solidFill>
                <a:latin typeface="맑은 고딕"/>
                <a:ea typeface="맑은 고딕"/>
              </a:rPr>
              <a:t>10. tier affinity hint</a:t>
            </a:r>
          </a:p>
        </p:txBody>
      </p:sp>
      <p:cxnSp>
        <p:nvCxnSpPr>
          <p:cNvPr id="103" name="Connector 102"/>
          <p:cNvCxnSpPr/>
          <p:nvPr/>
        </p:nvCxnSpPr>
        <p:spPr>
          <a:xfrm>
            <a:off x="7526654" y="5153297"/>
            <a:ext cx="948690" cy="0"/>
          </a:xfrm>
          <a:prstGeom prst="line">
            <a:avLst/>
          </a:prstGeom>
          <a:ln w="12700">
            <a:solidFill>
              <a:srgbClr val="40404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TextBox 103"/>
          <p:cNvSpPr txBox="1"/>
          <p:nvPr/>
        </p:nvSpPr>
        <p:spPr>
          <a:xfrm>
            <a:off x="7406640" y="4979561"/>
            <a:ext cx="1188720" cy="164592"/>
          </a:xfrm>
          <a:prstGeom prst="rect">
            <a:avLst/>
          </a:prstGeom>
          <a:solidFill>
            <a:srgbClr val="FFFFFF"/>
          </a:solidFill>
        </p:spPr>
        <p:txBody>
          <a:bodyPr wrap="none" lIns="9144" rIns="9144" tIns="0" bIns="0">
            <a:spAutoFit/>
          </a:bodyPr>
          <a:lstStyle/>
          <a:p>
            <a:pPr algn="ctr"/>
            <a:r>
              <a:rPr sz="620" b="0">
                <a:solidFill>
                  <a:srgbClr val="404040"/>
                </a:solidFill>
                <a:latin typeface="맑은 고딕"/>
                <a:ea typeface="맑은 고딕"/>
              </a:rPr>
              <a:t>11. ranking hint</a:t>
            </a:r>
          </a:p>
        </p:txBody>
      </p:sp>
      <p:cxnSp>
        <p:nvCxnSpPr>
          <p:cNvPr id="105" name="Connector 104"/>
          <p:cNvCxnSpPr/>
          <p:nvPr/>
        </p:nvCxnSpPr>
        <p:spPr>
          <a:xfrm>
            <a:off x="9424034" y="5453742"/>
            <a:ext cx="948690" cy="0"/>
          </a:xfrm>
          <a:prstGeom prst="line">
            <a:avLst/>
          </a:prstGeom>
          <a:ln w="12700">
            <a:solidFill>
              <a:srgbClr val="40404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TextBox 105"/>
          <p:cNvSpPr txBox="1"/>
          <p:nvPr/>
        </p:nvSpPr>
        <p:spPr>
          <a:xfrm>
            <a:off x="9304019" y="5280006"/>
            <a:ext cx="1188720" cy="164592"/>
          </a:xfrm>
          <a:prstGeom prst="rect">
            <a:avLst/>
          </a:prstGeom>
          <a:solidFill>
            <a:srgbClr val="FFFFFF"/>
          </a:solidFill>
        </p:spPr>
        <p:txBody>
          <a:bodyPr wrap="none" lIns="9144" rIns="9144" tIns="0" bIns="0">
            <a:spAutoFit/>
          </a:bodyPr>
          <a:lstStyle/>
          <a:p>
            <a:pPr algn="ctr"/>
            <a:r>
              <a:rPr sz="620" b="0">
                <a:solidFill>
                  <a:srgbClr val="404040"/>
                </a:solidFill>
                <a:latin typeface="맑은 고딕"/>
                <a:ea typeface="맑은 고딕"/>
              </a:rPr>
              <a:t>12. ①③ capability·cost query</a:t>
            </a:r>
          </a:p>
        </p:txBody>
      </p:sp>
      <p:cxnSp>
        <p:nvCxnSpPr>
          <p:cNvPr id="107" name="Connector 106"/>
          <p:cNvCxnSpPr/>
          <p:nvPr/>
        </p:nvCxnSpPr>
        <p:spPr>
          <a:xfrm flipH="1">
            <a:off x="9424034" y="5754188"/>
            <a:ext cx="948690" cy="0"/>
          </a:xfrm>
          <a:prstGeom prst="line">
            <a:avLst/>
          </a:prstGeom>
          <a:ln w="12700">
            <a:solidFill>
              <a:srgbClr val="404040"/>
            </a:solidFill>
            <a:prstDash val="sys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TextBox 107"/>
          <p:cNvSpPr txBox="1"/>
          <p:nvPr/>
        </p:nvSpPr>
        <p:spPr>
          <a:xfrm>
            <a:off x="9304019" y="5580452"/>
            <a:ext cx="1188720" cy="164592"/>
          </a:xfrm>
          <a:prstGeom prst="rect">
            <a:avLst/>
          </a:prstGeom>
          <a:solidFill>
            <a:srgbClr val="FFFFFF"/>
          </a:solidFill>
        </p:spPr>
        <p:txBody>
          <a:bodyPr wrap="none" lIns="9144" rIns="9144" tIns="0" bIns="0">
            <a:spAutoFit/>
          </a:bodyPr>
          <a:lstStyle/>
          <a:p>
            <a:pPr algn="ctr"/>
            <a:r>
              <a:rPr sz="620" b="0">
                <a:solidFill>
                  <a:srgbClr val="404040"/>
                </a:solidFill>
                <a:latin typeface="맑은 고딕"/>
                <a:ea typeface="맑은 고딕"/>
              </a:rPr>
              <a:t>13. feasible mem + transfer cost</a:t>
            </a:r>
          </a:p>
        </p:txBody>
      </p:sp>
      <p:cxnSp>
        <p:nvCxnSpPr>
          <p:cNvPr id="109" name="Connector 108"/>
          <p:cNvCxnSpPr/>
          <p:nvPr/>
        </p:nvCxnSpPr>
        <p:spPr>
          <a:xfrm>
            <a:off x="9424034" y="6054634"/>
            <a:ext cx="1897380" cy="0"/>
          </a:xfrm>
          <a:prstGeom prst="line">
            <a:avLst/>
          </a:prstGeom>
          <a:ln w="12700">
            <a:solidFill>
              <a:srgbClr val="40404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9446894" y="5880898"/>
            <a:ext cx="1851659" cy="164592"/>
          </a:xfrm>
          <a:prstGeom prst="rect">
            <a:avLst/>
          </a:prstGeom>
          <a:solidFill>
            <a:srgbClr val="FFFFFF"/>
          </a:solidFill>
        </p:spPr>
        <p:txBody>
          <a:bodyPr wrap="none" lIns="9144" rIns="9144" tIns="0" bIns="0">
            <a:spAutoFit/>
          </a:bodyPr>
          <a:lstStyle/>
          <a:p>
            <a:pPr algn="ctr"/>
            <a:r>
              <a:rPr sz="620" b="0">
                <a:solidFill>
                  <a:srgbClr val="404040"/>
                </a:solidFill>
                <a:latin typeface="맑은 고딕"/>
                <a:ea typeface="맑은 고딕"/>
              </a:rPr>
              <a:t>14. target tier</a:t>
            </a:r>
          </a:p>
        </p:txBody>
      </p:sp>
      <p:cxnSp>
        <p:nvCxnSpPr>
          <p:cNvPr id="111" name="Connector 110"/>
          <p:cNvCxnSpPr/>
          <p:nvPr/>
        </p:nvCxnSpPr>
        <p:spPr>
          <a:xfrm>
            <a:off x="8475344" y="6355079"/>
            <a:ext cx="2846070" cy="0"/>
          </a:xfrm>
          <a:prstGeom prst="line">
            <a:avLst/>
          </a:prstGeom>
          <a:ln w="12700">
            <a:solidFill>
              <a:srgbClr val="40404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TextBox 111"/>
          <p:cNvSpPr txBox="1"/>
          <p:nvPr/>
        </p:nvSpPr>
        <p:spPr>
          <a:xfrm>
            <a:off x="8498205" y="6181343"/>
            <a:ext cx="2800349" cy="164592"/>
          </a:xfrm>
          <a:prstGeom prst="rect">
            <a:avLst/>
          </a:prstGeom>
          <a:solidFill>
            <a:srgbClr val="FFFFFF"/>
          </a:solidFill>
        </p:spPr>
        <p:txBody>
          <a:bodyPr wrap="none" lIns="9144" rIns="9144" tIns="0" bIns="0">
            <a:spAutoFit/>
          </a:bodyPr>
          <a:lstStyle/>
          <a:p>
            <a:pPr algn="ctr"/>
            <a:r>
              <a:rPr sz="620" b="0">
                <a:solidFill>
                  <a:srgbClr val="404040"/>
                </a:solidFill>
                <a:latin typeface="맑은 고딕"/>
                <a:ea typeface="맑은 고딕"/>
              </a:rPr>
              <a:t>15. selected objects → Intent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34949" y="137379"/>
            <a:ext cx="7631530" cy="365125"/>
          </a:xfrm>
        </p:spPr>
        <p:txBody>
          <a:bodyPr/>
          <a:lstStyle/>
          <a:p>
            <a:r>
              <a:rPr lang="en-US" altLang="ko-KR" dirty="0"/>
              <a:t>DP1. 이기종 메모리 기반 Data Migration 구조 - Appendix</a:t>
            </a:r>
            <a:r>
              <a:rPr lang="ko-KR" altLang="en-US" dirty="0"/>
              <a:t/>
            </a:r>
            <a:r>
              <a:rPr lang="en-US" altLang="ko-KR" dirty="0"/>
              <a:t/>
            </a:r>
            <a:r>
              <a:rPr lang="ko-KR" altLang="en-US" dirty="0"/>
              <a:t/>
            </a:r>
            <a:r>
              <a:rPr lang="en-US" altLang="ko-KR" dirty="0"/>
              <a:t/>
            </a:r>
            <a:r>
              <a:rPr lang="ko-KR" altLang="en-US" dirty="0"/>
              <a:t/>
            </a:r>
          </a:p>
        </p:txBody>
      </p:sp>
      <p:sp>
        <p:nvSpPr>
          <p:cNvPr id="5" name="직사각형 4"/>
          <p:cNvSpPr/>
          <p:nvPr/>
        </p:nvSpPr>
        <p:spPr>
          <a:xfrm>
            <a:off x="234949" y="596176"/>
            <a:ext cx="11747501" cy="396603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469760" y="627926"/>
            <a:ext cx="1143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ko-KR" altLang="en-US" sz="1400" b="1" dirty="0">
                <a:solidFill>
                  <a:schemeClr val="bg1"/>
                </a:solidFill>
              </a:rPr>
              <a:t>C2 AI Data Behavior-driven — Component Architecture</a:t>
            </a:r>
            <a:r>
              <a:rPr lang="en-US" altLang="ko-KR" sz="1400" b="1" dirty="0">
                <a:solidFill>
                  <a:schemeClr val="bg1"/>
                </a:solidFill>
              </a:rPr>
              <a:t/>
            </a:r>
            <a:r>
              <a:rPr lang="ko-KR" altLang="en-US" sz="1400" b="1" dirty="0">
                <a:solidFill>
                  <a:schemeClr val="bg1"/>
                </a:solidFill>
              </a:rPr>
              <a:t/>
            </a:r>
            <a:r>
              <a:rPr lang="en-US" altLang="ko-KR" sz="1400" b="1" dirty="0">
                <a:solidFill>
                  <a:schemeClr val="bg1"/>
                </a:solidFill>
              </a:rPr>
              <a:t/>
            </a:r>
            <a:r>
              <a:rPr lang="ko-KR" altLang="en-US" sz="1400" b="1" dirty="0">
                <a:solidFill>
                  <a:schemeClr val="bg1"/>
                </a:solidFill>
              </a:rPr>
              <a:t/>
            </a:r>
          </a:p>
        </p:txBody>
      </p:sp>
      <p:sp>
        <p:nvSpPr>
          <p:cNvPr id="39" name="직사각형 38"/>
          <p:cNvSpPr/>
          <p:nvPr/>
        </p:nvSpPr>
        <p:spPr>
          <a:xfrm>
            <a:off x="403086" y="678726"/>
            <a:ext cx="66675" cy="21627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57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</p:spPr>
        <p:txBody>
          <a:bodyPr/>
          <a:lstStyle/>
          <a:p>
            <a:fld id="{7F889C64-266A-4D07-AD8F-5B592E61CCE1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sp>
        <p:nvSpPr>
          <p:cNvPr id="58" name="Rectangle 57"/>
          <p:cNvSpPr/>
          <p:nvPr/>
        </p:nvSpPr>
        <p:spPr>
          <a:xfrm>
            <a:off x="457200" y="1371600"/>
            <a:ext cx="1371600" cy="4572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750" b="1">
                <a:solidFill>
                  <a:srgbClr val="FFFFFF"/>
                </a:solidFill>
                <a:latin typeface="맑은 고딕"/>
                <a:ea typeface="맑은 고딕"/>
              </a:rPr>
              <a:t>Runtime Event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148840" y="1371600"/>
            <a:ext cx="1737360" cy="4572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Migration Scheduler</a:t>
            </a:r>
          </a:p>
          <a:p>
            <a:pPr algn="ctr"/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(event-driven, async)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480560" y="1371600"/>
            <a:ext cx="2194560" cy="457200"/>
          </a:xfrm>
          <a:prstGeom prst="rect">
            <a:avLst/>
          </a:prstGeom>
          <a:solidFill>
            <a:srgbClr val="E6E0F4"/>
          </a:solidFill>
          <a:ln w="12700">
            <a:solidFill>
              <a:srgbClr val="7B66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750" b="1">
                <a:solidFill>
                  <a:srgbClr val="1A1A1A"/>
                </a:solidFill>
                <a:latin typeface="맑은 고딕"/>
                <a:ea typeface="맑은 고딕"/>
              </a:rPr>
              <a:t>Data Behavior Monitor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315200" y="1234440"/>
            <a:ext cx="2011680" cy="1691640"/>
          </a:xfrm>
          <a:prstGeom prst="rect">
            <a:avLst/>
          </a:prstGeom>
          <a:solidFill>
            <a:srgbClr val="E3F1E3"/>
          </a:solidFill>
          <a:ln w="12700">
            <a:solidFill>
              <a:srgbClr val="5B9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18288" bIns="18288"/>
          <a:lstStyle/>
          <a:p>
            <a:pPr algn="ctr"/>
            <a:r>
              <a:rPr sz="700" b="1">
                <a:solidFill>
                  <a:srgbClr val="1A1A1A"/>
                </a:solidFill>
                <a:latin typeface="맑은 고딕"/>
                <a:ea typeface="맑은 고딕"/>
              </a:rPr>
              <a:t>Data Object Registry (type-aware)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406640" y="1508760"/>
            <a:ext cx="1828800" cy="192024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600" b="0">
                <a:solidFill>
                  <a:srgbClr val="1A1A1A"/>
                </a:solidFill>
                <a:latin typeface="맑은 고딕"/>
                <a:ea typeface="맑은 고딕"/>
              </a:rPr>
              <a:t>KV Cache (System Prompt)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406640" y="1737360"/>
            <a:ext cx="1828800" cy="192024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600" b="0">
                <a:solidFill>
                  <a:srgbClr val="1A1A1A"/>
                </a:solidFill>
                <a:latin typeface="맑은 고딕"/>
                <a:ea typeface="맑은 고딕"/>
              </a:rPr>
              <a:t>KV Cache (Agent Memory)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406640" y="1965960"/>
            <a:ext cx="1828800" cy="192024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600" b="0">
                <a:solidFill>
                  <a:srgbClr val="1A1A1A"/>
                </a:solidFill>
                <a:latin typeface="맑은 고딕"/>
                <a:ea typeface="맑은 고딕"/>
              </a:rPr>
              <a:t>LoRA Adapter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406640" y="2194560"/>
            <a:ext cx="1828800" cy="192024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600" b="0">
                <a:solidFill>
                  <a:srgbClr val="1A1A1A"/>
                </a:solidFill>
                <a:latin typeface="맑은 고딕"/>
                <a:ea typeface="맑은 고딕"/>
              </a:rPr>
              <a:t>MoE Expert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406640" y="2423160"/>
            <a:ext cx="1828800" cy="192024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600" b="0">
                <a:solidFill>
                  <a:srgbClr val="1A1A1A"/>
                </a:solidFill>
                <a:latin typeface="맑은 고딕"/>
                <a:ea typeface="맑은 고딕"/>
              </a:rPr>
              <a:t>Vector Idx Cache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406640" y="2651760"/>
            <a:ext cx="1828800" cy="192024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600" b="0">
                <a:solidFill>
                  <a:srgbClr val="1A1A1A"/>
                </a:solidFill>
                <a:latin typeface="맑은 고딕"/>
                <a:ea typeface="맑은 고딕"/>
              </a:rPr>
              <a:t>Data Class Metadata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480560" y="2423160"/>
            <a:ext cx="2194560" cy="457200"/>
          </a:xfrm>
          <a:prstGeom prst="rect">
            <a:avLst/>
          </a:prstGeom>
          <a:solidFill>
            <a:srgbClr val="E6E0F4"/>
          </a:solidFill>
          <a:ln w="12700">
            <a:solidFill>
              <a:srgbClr val="7B66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750" b="1">
                <a:solidFill>
                  <a:srgbClr val="1A1A1A"/>
                </a:solidFill>
                <a:latin typeface="맑은 고딕"/>
                <a:ea typeface="맑은 고딕"/>
              </a:rPr>
              <a:t>Behavior-based Trend Analyzer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480560" y="3474720"/>
            <a:ext cx="2194560" cy="457200"/>
          </a:xfrm>
          <a:prstGeom prst="rect">
            <a:avLst/>
          </a:prstGeom>
          <a:solidFill>
            <a:srgbClr val="E6E0F4"/>
          </a:solidFill>
          <a:ln w="12700">
            <a:solidFill>
              <a:srgbClr val="7B66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750" b="1">
                <a:solidFill>
                  <a:srgbClr val="1A1A1A"/>
                </a:solidFill>
                <a:latin typeface="맑은 고딕"/>
                <a:ea typeface="맑은 고딕"/>
              </a:rPr>
              <a:t>Future Behavior Predictor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828800" y="4526280"/>
            <a:ext cx="2103120" cy="457200"/>
          </a:xfrm>
          <a:prstGeom prst="rect">
            <a:avLst/>
          </a:prstGeom>
          <a:solidFill>
            <a:srgbClr val="E6E0F4"/>
          </a:solidFill>
          <a:ln w="12700">
            <a:solidFill>
              <a:srgbClr val="7B66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750" b="1">
                <a:solidFill>
                  <a:srgbClr val="1A1A1A"/>
                </a:solidFill>
                <a:latin typeface="맑은 고딕"/>
                <a:ea typeface="맑은 고딕"/>
              </a:rPr>
              <a:t>Migration Data Selector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480560" y="4526280"/>
            <a:ext cx="2194560" cy="457200"/>
          </a:xfrm>
          <a:prstGeom prst="rect">
            <a:avLst/>
          </a:prstGeom>
          <a:solidFill>
            <a:srgbClr val="E6E0F4"/>
          </a:solidFill>
          <a:ln w="12700">
            <a:solidFill>
              <a:srgbClr val="7B66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750" b="1">
                <a:solidFill>
                  <a:srgbClr val="1A1A1A"/>
                </a:solidFill>
                <a:latin typeface="맑은 고딕"/>
                <a:ea typeface="맑은 고딕"/>
              </a:rPr>
              <a:t>Destination Tier Selector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0" y="5577840"/>
            <a:ext cx="4846320" cy="457200"/>
          </a:xfrm>
          <a:prstGeom prst="rect">
            <a:avLst/>
          </a:prstGeom>
          <a:solidFill>
            <a:srgbClr val="F0F1F3"/>
          </a:solidFill>
          <a:ln w="12700">
            <a:solidFill>
              <a:srgbClr val="888C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700" b="1">
                <a:solidFill>
                  <a:srgbClr val="1A1A1A"/>
                </a:solidFill>
                <a:latin typeface="맑은 고딕"/>
                <a:ea typeface="맑은 고딕"/>
              </a:rPr>
              <a:t>Migration Executor</a:t>
            </a:r>
          </a:p>
          <a:p>
            <a:pPr algn="ctr"/>
            <a:r>
              <a:rPr sz="700" b="0">
                <a:solidFill>
                  <a:srgbClr val="1A1A1A"/>
                </a:solidFill>
                <a:latin typeface="맑은 고딕"/>
                <a:ea typeface="맑은 고딕"/>
              </a:rPr>
              <a:t>(common migration boundary)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418320" y="3566160"/>
            <a:ext cx="2011680" cy="1783080"/>
          </a:xfrm>
          <a:prstGeom prst="rect">
            <a:avLst/>
          </a:prstGeom>
          <a:solidFill>
            <a:srgbClr val="FFF8EC"/>
          </a:solidFill>
          <a:ln w="12700">
            <a:solidFill>
              <a:srgbClr val="C9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464040" y="3584448"/>
            <a:ext cx="1828800" cy="164592"/>
          </a:xfrm>
          <a:prstGeom prst="rect">
            <a:avLst/>
          </a:prstGeom>
          <a:noFill/>
        </p:spPr>
        <p:txBody>
          <a:bodyPr wrap="none" lIns="9144" rIns="9144" tIns="0" bIns="0">
            <a:spAutoFit/>
          </a:bodyPr>
          <a:lstStyle/>
          <a:p>
            <a:pPr algn="l"/>
            <a:r>
              <a:rPr sz="650" b="1">
                <a:solidFill>
                  <a:srgbClr val="404040"/>
                </a:solidFill>
                <a:latin typeface="맑은 고딕"/>
                <a:ea typeface="맑은 고딕"/>
              </a:rPr>
              <a:t>Resource Manager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555480" y="3840480"/>
            <a:ext cx="1737360" cy="384048"/>
          </a:xfrm>
          <a:prstGeom prst="rect">
            <a:avLst/>
          </a:prstGeom>
          <a:solidFill>
            <a:srgbClr val="FDEBD3"/>
          </a:solidFill>
          <a:ln w="12700">
            <a:solidFill>
              <a:srgbClr val="C9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700" b="1">
                <a:solidFill>
                  <a:srgbClr val="1A1A1A"/>
                </a:solidFill>
                <a:latin typeface="맑은 고딕"/>
                <a:ea typeface="맑은 고딕"/>
              </a:rPr>
              <a:t>Telemetry Collector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555480" y="4709160"/>
            <a:ext cx="1737360" cy="384048"/>
          </a:xfrm>
          <a:prstGeom prst="rect">
            <a:avLst/>
          </a:prstGeom>
          <a:solidFill>
            <a:srgbClr val="FDEBD3"/>
          </a:solidFill>
          <a:ln w="12700">
            <a:solidFill>
              <a:srgbClr val="C9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700" b="1">
                <a:solidFill>
                  <a:srgbClr val="1A1A1A"/>
                </a:solidFill>
                <a:latin typeface="맑은 고딕"/>
                <a:ea typeface="맑은 고딕"/>
              </a:rPr>
              <a:t>Memory Registry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1828800" y="1600200"/>
            <a:ext cx="320040" cy="0"/>
          </a:xfrm>
          <a:prstGeom prst="line">
            <a:avLst/>
          </a:prstGeom>
          <a:ln w="12700">
            <a:solidFill>
              <a:srgbClr val="40404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3886200" y="1600200"/>
            <a:ext cx="594360" cy="0"/>
          </a:xfrm>
          <a:prstGeom prst="line">
            <a:avLst/>
          </a:prstGeom>
          <a:ln w="12700">
            <a:solidFill>
              <a:srgbClr val="404040"/>
            </a:solidFill>
            <a:prstDash val="sys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3840480" y="1417320"/>
            <a:ext cx="731520" cy="164592"/>
          </a:xfrm>
          <a:prstGeom prst="rect">
            <a:avLst/>
          </a:prstGeom>
          <a:noFill/>
        </p:spPr>
        <p:txBody>
          <a:bodyPr wrap="none" lIns="9144" rIns="9144" tIns="0" bIns="0">
            <a:spAutoFit/>
          </a:bodyPr>
          <a:lstStyle/>
          <a:p>
            <a:pPr algn="ctr"/>
            <a:r>
              <a:rPr sz="600" b="0">
                <a:solidFill>
                  <a:srgbClr val="404040"/>
                </a:solidFill>
                <a:latin typeface="맑은 고딕"/>
                <a:ea typeface="맑은 고딕"/>
              </a:rPr>
              <a:t>async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6675120" y="1600200"/>
            <a:ext cx="640080" cy="0"/>
          </a:xfrm>
          <a:prstGeom prst="line">
            <a:avLst/>
          </a:prstGeom>
          <a:ln w="10160">
            <a:solidFill>
              <a:srgbClr val="404040"/>
            </a:solidFill>
            <a:tailEnd type="triangle" w="sm" len="sm"/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6583680" y="1399032"/>
            <a:ext cx="822960" cy="164592"/>
          </a:xfrm>
          <a:prstGeom prst="rect">
            <a:avLst/>
          </a:prstGeom>
          <a:noFill/>
        </p:spPr>
        <p:txBody>
          <a:bodyPr wrap="none" lIns="9144" rIns="9144" tIns="0" bIns="0">
            <a:spAutoFit/>
          </a:bodyPr>
          <a:lstStyle/>
          <a:p>
            <a:pPr algn="ctr"/>
            <a:r>
              <a:rPr sz="600" b="0">
                <a:solidFill>
                  <a:srgbClr val="404040"/>
                </a:solidFill>
                <a:latin typeface="맑은 고딕"/>
                <a:ea typeface="맑은 고딕"/>
              </a:rPr>
              <a:t>class lookup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5577840" y="1828800"/>
            <a:ext cx="0" cy="594360"/>
          </a:xfrm>
          <a:prstGeom prst="line">
            <a:avLst/>
          </a:prstGeom>
          <a:ln w="12700">
            <a:solidFill>
              <a:srgbClr val="40404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5623560" y="2011680"/>
            <a:ext cx="1554480" cy="164592"/>
          </a:xfrm>
          <a:prstGeom prst="rect">
            <a:avLst/>
          </a:prstGeom>
          <a:noFill/>
        </p:spPr>
        <p:txBody>
          <a:bodyPr wrap="none" lIns="9144" rIns="9144" tIns="0" bIns="0">
            <a:spAutoFit/>
          </a:bodyPr>
          <a:lstStyle/>
          <a:p>
            <a:pPr algn="l"/>
            <a:r>
              <a:rPr sz="650" b="0">
                <a:solidFill>
                  <a:srgbClr val="404040"/>
                </a:solidFill>
                <a:latin typeface="맑은 고딕"/>
                <a:ea typeface="맑은 고딕"/>
              </a:rPr>
              <a:t>behavior / affinity info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5577840" y="2880360"/>
            <a:ext cx="0" cy="594360"/>
          </a:xfrm>
          <a:prstGeom prst="line">
            <a:avLst/>
          </a:prstGeom>
          <a:ln w="12700">
            <a:solidFill>
              <a:srgbClr val="40404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5623560" y="3063240"/>
            <a:ext cx="1371600" cy="164592"/>
          </a:xfrm>
          <a:prstGeom prst="rect">
            <a:avLst/>
          </a:prstGeom>
          <a:noFill/>
        </p:spPr>
        <p:txBody>
          <a:bodyPr wrap="none" lIns="9144" rIns="9144" tIns="0" bIns="0">
            <a:spAutoFit/>
          </a:bodyPr>
          <a:lstStyle/>
          <a:p>
            <a:pPr algn="l"/>
            <a:r>
              <a:rPr sz="650" b="0">
                <a:solidFill>
                  <a:srgbClr val="404040"/>
                </a:solidFill>
                <a:latin typeface="맑은 고딕"/>
                <a:ea typeface="맑은 고딕"/>
              </a:rPr>
              <a:t>behavior trend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5577840" y="3931920"/>
            <a:ext cx="0" cy="594360"/>
          </a:xfrm>
          <a:prstGeom prst="line">
            <a:avLst/>
          </a:prstGeom>
          <a:ln w="15240">
            <a:solidFill>
              <a:srgbClr val="40404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H="1">
            <a:off x="2880360" y="4206240"/>
            <a:ext cx="2697480" cy="0"/>
          </a:xfrm>
          <a:prstGeom prst="line">
            <a:avLst/>
          </a:prstGeom>
          <a:ln w="1524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2880360" y="4206240"/>
            <a:ext cx="0" cy="320040"/>
          </a:xfrm>
          <a:prstGeom prst="line">
            <a:avLst/>
          </a:prstGeom>
          <a:ln w="15240">
            <a:solidFill>
              <a:srgbClr val="40404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3108960" y="4005072"/>
            <a:ext cx="1828800" cy="164592"/>
          </a:xfrm>
          <a:prstGeom prst="rect">
            <a:avLst/>
          </a:prstGeom>
          <a:noFill/>
        </p:spPr>
        <p:txBody>
          <a:bodyPr wrap="none" lIns="9144" rIns="9144" tIns="0" bIns="0">
            <a:spAutoFit/>
          </a:bodyPr>
          <a:lstStyle/>
          <a:p>
            <a:pPr algn="l"/>
            <a:r>
              <a:rPr sz="650" b="0">
                <a:solidFill>
                  <a:srgbClr val="404040"/>
                </a:solidFill>
                <a:latin typeface="맑은 고딕"/>
                <a:ea typeface="맑은 고딕"/>
              </a:rPr>
              <a:t>predicted behavior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669280" y="4160520"/>
            <a:ext cx="1371600" cy="164592"/>
          </a:xfrm>
          <a:prstGeom prst="rect">
            <a:avLst/>
          </a:prstGeom>
          <a:noFill/>
        </p:spPr>
        <p:txBody>
          <a:bodyPr wrap="none" lIns="9144" rIns="9144" tIns="0" bIns="0">
            <a:spAutoFit/>
          </a:bodyPr>
          <a:lstStyle/>
          <a:p>
            <a:pPr algn="l"/>
            <a:r>
              <a:rPr sz="650" b="0">
                <a:solidFill>
                  <a:srgbClr val="404040"/>
                </a:solidFill>
                <a:latin typeface="맑은 고딕"/>
                <a:ea typeface="맑은 고딕"/>
              </a:rPr>
              <a:t>predicted behavior</a:t>
            </a:r>
          </a:p>
        </p:txBody>
      </p:sp>
      <p:cxnSp>
        <p:nvCxnSpPr>
          <p:cNvPr id="91" name="Connector 90"/>
          <p:cNvCxnSpPr/>
          <p:nvPr/>
        </p:nvCxnSpPr>
        <p:spPr>
          <a:xfrm>
            <a:off x="2880360" y="4983480"/>
            <a:ext cx="0" cy="594360"/>
          </a:xfrm>
          <a:prstGeom prst="line">
            <a:avLst/>
          </a:prstGeom>
          <a:ln w="17780">
            <a:solidFill>
              <a:srgbClr val="40404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5577840" y="4983480"/>
            <a:ext cx="0" cy="594360"/>
          </a:xfrm>
          <a:prstGeom prst="line">
            <a:avLst/>
          </a:prstGeom>
          <a:ln w="17780">
            <a:solidFill>
              <a:srgbClr val="40404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2926080" y="5120640"/>
            <a:ext cx="1463040" cy="164592"/>
          </a:xfrm>
          <a:prstGeom prst="rect">
            <a:avLst/>
          </a:prstGeom>
          <a:noFill/>
        </p:spPr>
        <p:txBody>
          <a:bodyPr wrap="none" lIns="9144" rIns="9144" tIns="0" bIns="0">
            <a:spAutoFit/>
          </a:bodyPr>
          <a:lstStyle/>
          <a:p>
            <a:pPr algn="l"/>
            <a:r>
              <a:rPr sz="650" b="0">
                <a:solidFill>
                  <a:srgbClr val="404040"/>
                </a:solidFill>
                <a:latin typeface="맑은 고딕"/>
                <a:ea typeface="맑은 고딕"/>
              </a:rPr>
              <a:t>MigrationDecision</a:t>
            </a:r>
          </a:p>
        </p:txBody>
      </p:sp>
      <p:cxnSp>
        <p:nvCxnSpPr>
          <p:cNvPr id="94" name="Connector 93"/>
          <p:cNvCxnSpPr/>
          <p:nvPr/>
        </p:nvCxnSpPr>
        <p:spPr>
          <a:xfrm flipH="1">
            <a:off x="8229600" y="4032504"/>
            <a:ext cx="1325880" cy="0"/>
          </a:xfrm>
          <a:prstGeom prst="line">
            <a:avLst/>
          </a:prstGeom>
          <a:ln w="1270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8229600" y="4032504"/>
            <a:ext cx="0" cy="630936"/>
          </a:xfrm>
          <a:prstGeom prst="line">
            <a:avLst/>
          </a:prstGeom>
          <a:ln w="1270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H="1">
            <a:off x="6675120" y="4663440"/>
            <a:ext cx="1554480" cy="0"/>
          </a:xfrm>
          <a:prstGeom prst="line">
            <a:avLst/>
          </a:prstGeom>
          <a:ln w="12700">
            <a:solidFill>
              <a:srgbClr val="40404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8275320" y="3831336"/>
            <a:ext cx="1280160" cy="164592"/>
          </a:xfrm>
          <a:prstGeom prst="rect">
            <a:avLst/>
          </a:prstGeom>
          <a:noFill/>
        </p:spPr>
        <p:txBody>
          <a:bodyPr wrap="none" lIns="9144" rIns="9144" tIns="0" bIns="0">
            <a:spAutoFit/>
          </a:bodyPr>
          <a:lstStyle/>
          <a:p>
            <a:pPr algn="l"/>
            <a:r>
              <a:rPr sz="650" b="0">
                <a:solidFill>
                  <a:srgbClr val="404040"/>
                </a:solidFill>
                <a:latin typeface="맑은 고딕"/>
                <a:ea typeface="맑은 고딕"/>
              </a:rPr>
              <a:t>② capacity · BW · load</a:t>
            </a:r>
          </a:p>
        </p:txBody>
      </p:sp>
      <p:cxnSp>
        <p:nvCxnSpPr>
          <p:cNvPr id="98" name="Connector 97"/>
          <p:cNvCxnSpPr/>
          <p:nvPr/>
        </p:nvCxnSpPr>
        <p:spPr>
          <a:xfrm flipH="1">
            <a:off x="6675120" y="4901184"/>
            <a:ext cx="2880360" cy="0"/>
          </a:xfrm>
          <a:prstGeom prst="line">
            <a:avLst/>
          </a:prstGeom>
          <a:ln w="12700">
            <a:solidFill>
              <a:srgbClr val="40404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TextBox 98"/>
          <p:cNvSpPr txBox="1"/>
          <p:nvPr/>
        </p:nvSpPr>
        <p:spPr>
          <a:xfrm>
            <a:off x="7223760" y="4919472"/>
            <a:ext cx="2286000" cy="164592"/>
          </a:xfrm>
          <a:prstGeom prst="rect">
            <a:avLst/>
          </a:prstGeom>
          <a:noFill/>
        </p:spPr>
        <p:txBody>
          <a:bodyPr wrap="none" lIns="9144" rIns="9144" tIns="0" bIns="0">
            <a:spAutoFit/>
          </a:bodyPr>
          <a:lstStyle/>
          <a:p>
            <a:pPr algn="ctr"/>
            <a:r>
              <a:rPr sz="650" b="0">
                <a:solidFill>
                  <a:srgbClr val="404040"/>
                </a:solidFill>
                <a:latin typeface="맑은 고딕"/>
                <a:ea typeface="맑은 고딕"/>
              </a:rPr>
              <a:t>①③ capability · transfer cost</a:t>
            </a:r>
          </a:p>
        </p:txBody>
      </p:sp>
      <p:cxnSp>
        <p:nvCxnSpPr>
          <p:cNvPr id="100" name="Connector 99"/>
          <p:cNvCxnSpPr/>
          <p:nvPr/>
        </p:nvCxnSpPr>
        <p:spPr>
          <a:xfrm>
            <a:off x="10424160" y="5349240"/>
            <a:ext cx="0" cy="274320"/>
          </a:xfrm>
          <a:prstGeom prst="line">
            <a:avLst/>
          </a:prstGeom>
          <a:ln w="11430">
            <a:solidFill>
              <a:srgbClr val="404040"/>
            </a:solidFill>
            <a:tailEnd type="triangle" w="sm" len="sm"/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TextBox 100"/>
          <p:cNvSpPr txBox="1"/>
          <p:nvPr/>
        </p:nvSpPr>
        <p:spPr>
          <a:xfrm>
            <a:off x="10469880" y="5394960"/>
            <a:ext cx="548640" cy="164592"/>
          </a:xfrm>
          <a:prstGeom prst="rect">
            <a:avLst/>
          </a:prstGeom>
          <a:noFill/>
        </p:spPr>
        <p:txBody>
          <a:bodyPr wrap="none" lIns="9144" rIns="9144" tIns="0" bIns="0">
            <a:spAutoFit/>
          </a:bodyPr>
          <a:lstStyle/>
          <a:p>
            <a:pPr algn="l"/>
            <a:r>
              <a:rPr sz="700" b="1">
                <a:solidFill>
                  <a:srgbClr val="404040"/>
                </a:solidFill>
                <a:latin typeface="맑은 고딕"/>
                <a:ea typeface="맑은 고딕"/>
              </a:rPr>
              <a:t>②①③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498079" y="5623560"/>
            <a:ext cx="4297680" cy="548640"/>
          </a:xfrm>
          <a:prstGeom prst="rect">
            <a:avLst/>
          </a:prstGeom>
          <a:solidFill>
            <a:srgbClr val="404040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공통 Memory Backend I/F (Plug-in)</a:t>
            </a:r>
          </a:p>
          <a:p>
            <a:pPr algn="ctr"/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② Telemetry   ① Descriptor   ③ Binding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7498079" y="6236208"/>
            <a:ext cx="505206" cy="237744"/>
          </a:xfrm>
          <a:prstGeom prst="rect">
            <a:avLst/>
          </a:prstGeom>
          <a:solidFill>
            <a:srgbClr val="EDEDED"/>
          </a:solidFill>
          <a:ln w="12700">
            <a:solidFill>
              <a:srgbClr val="888C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580" b="0">
                <a:solidFill>
                  <a:srgbClr val="1A1A1A"/>
                </a:solidFill>
                <a:latin typeface="맑은 고딕"/>
                <a:ea typeface="맑은 고딕"/>
              </a:rPr>
              <a:t>HBM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8039861" y="6236208"/>
            <a:ext cx="505206" cy="237744"/>
          </a:xfrm>
          <a:prstGeom prst="rect">
            <a:avLst/>
          </a:prstGeom>
          <a:solidFill>
            <a:srgbClr val="EDEDED"/>
          </a:solidFill>
          <a:ln w="12700">
            <a:solidFill>
              <a:srgbClr val="888C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580" b="0">
                <a:solidFill>
                  <a:srgbClr val="1A1A1A"/>
                </a:solidFill>
                <a:latin typeface="맑은 고딕"/>
                <a:ea typeface="맑은 고딕"/>
              </a:rPr>
              <a:t>ScHBM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8581644" y="6236208"/>
            <a:ext cx="505206" cy="237744"/>
          </a:xfrm>
          <a:prstGeom prst="rect">
            <a:avLst/>
          </a:prstGeom>
          <a:solidFill>
            <a:srgbClr val="EDEDED"/>
          </a:solidFill>
          <a:ln w="12700">
            <a:solidFill>
              <a:srgbClr val="888C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580" b="0">
                <a:solidFill>
                  <a:srgbClr val="1A1A1A"/>
                </a:solidFill>
                <a:latin typeface="맑은 고딕"/>
                <a:ea typeface="맑은 고딕"/>
              </a:rPr>
              <a:t>DRAM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9123426" y="6236208"/>
            <a:ext cx="505206" cy="237744"/>
          </a:xfrm>
          <a:prstGeom prst="rect">
            <a:avLst/>
          </a:prstGeom>
          <a:solidFill>
            <a:srgbClr val="EDEDED"/>
          </a:solidFill>
          <a:ln w="12700">
            <a:solidFill>
              <a:srgbClr val="888C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580" b="0">
                <a:solidFill>
                  <a:srgbClr val="1A1A1A"/>
                </a:solidFill>
                <a:latin typeface="맑은 고딕"/>
                <a:ea typeface="맑은 고딕"/>
              </a:rPr>
              <a:t>CXL-PNM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9665208" y="6236208"/>
            <a:ext cx="505206" cy="237744"/>
          </a:xfrm>
          <a:prstGeom prst="rect">
            <a:avLst/>
          </a:prstGeom>
          <a:solidFill>
            <a:srgbClr val="EDEDED"/>
          </a:solidFill>
          <a:ln w="12700">
            <a:solidFill>
              <a:srgbClr val="888C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580" b="0">
                <a:solidFill>
                  <a:srgbClr val="1A1A1A"/>
                </a:solidFill>
                <a:latin typeface="맑은 고딕"/>
                <a:ea typeface="맑은 고딕"/>
              </a:rPr>
              <a:t>HBF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0206990" y="6236208"/>
            <a:ext cx="505206" cy="237744"/>
          </a:xfrm>
          <a:prstGeom prst="rect">
            <a:avLst/>
          </a:prstGeom>
          <a:solidFill>
            <a:srgbClr val="EDEDED"/>
          </a:solidFill>
          <a:ln w="12700">
            <a:solidFill>
              <a:srgbClr val="888C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580" b="0">
                <a:solidFill>
                  <a:srgbClr val="1A1A1A"/>
                </a:solidFill>
                <a:latin typeface="맑은 고딕"/>
                <a:ea typeface="맑은 고딕"/>
              </a:rPr>
              <a:t>SSD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10748772" y="6236208"/>
            <a:ext cx="505206" cy="237744"/>
          </a:xfrm>
          <a:prstGeom prst="rect">
            <a:avLst/>
          </a:prstGeom>
          <a:solidFill>
            <a:srgbClr val="EDEDED"/>
          </a:solidFill>
          <a:ln w="12700">
            <a:solidFill>
              <a:srgbClr val="888C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580" b="0">
                <a:solidFill>
                  <a:srgbClr val="1A1A1A"/>
                </a:solidFill>
                <a:latin typeface="맑은 고딕"/>
                <a:ea typeface="맑은 고딕"/>
              </a:rPr>
              <a:t>SSD-PIM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1290554" y="6236208"/>
            <a:ext cx="505206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888C9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580" b="0">
                <a:solidFill>
                  <a:srgbClr val="1A1A1A"/>
                </a:solidFill>
                <a:latin typeface="맑은 고딕"/>
                <a:ea typeface="맑은 고딕"/>
              </a:rPr>
              <a:t>+ New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57200" y="6263640"/>
            <a:ext cx="5943600" cy="164592"/>
          </a:xfrm>
          <a:prstGeom prst="rect">
            <a:avLst/>
          </a:prstGeom>
          <a:noFill/>
        </p:spPr>
        <p:txBody>
          <a:bodyPr wrap="none" lIns="9144" rIns="9144" tIns="0" bIns="0">
            <a:spAutoFit/>
          </a:bodyPr>
          <a:lstStyle/>
          <a:p>
            <a:pPr algn="l"/>
            <a:r>
              <a:rPr sz="620" b="0">
                <a:solidFill>
                  <a:srgbClr val="404040"/>
                </a:solidFill>
                <a:latin typeface="맑은 고딕"/>
                <a:ea typeface="맑은 고딕"/>
              </a:rPr>
              <a:t>실선: 정보 / 데이터 흐름   점선: async event     Resource Manager와 직접 연결되는 모듈은 Destination Tier Selector (Telemetry Collector, Memory Registry 모두)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34949" y="137379"/>
            <a:ext cx="7631530" cy="365125"/>
          </a:xfrm>
        </p:spPr>
        <p:txBody>
          <a:bodyPr/>
          <a:lstStyle/>
          <a:p>
            <a:r>
              <a:rPr lang="en-US" altLang="ko-KR" dirty="0"/>
              <a:t>DP1. 이기종 메모리 기반 Data Migration 구조 - Appendix</a:t>
            </a:r>
            <a:r>
              <a:rPr lang="ko-KR" altLang="en-US" dirty="0"/>
              <a:t/>
            </a:r>
            <a:r>
              <a:rPr lang="en-US" altLang="ko-KR" dirty="0"/>
              <a:t/>
            </a:r>
            <a:r>
              <a:rPr lang="ko-KR" altLang="en-US" dirty="0"/>
              <a:t/>
            </a:r>
            <a:r>
              <a:rPr lang="en-US" altLang="ko-KR" dirty="0"/>
              <a:t/>
            </a:r>
            <a:r>
              <a:rPr lang="ko-KR" altLang="en-US" dirty="0"/>
              <a:t/>
            </a:r>
          </a:p>
        </p:txBody>
      </p:sp>
      <p:sp>
        <p:nvSpPr>
          <p:cNvPr id="5" name="직사각형 4"/>
          <p:cNvSpPr/>
          <p:nvPr/>
        </p:nvSpPr>
        <p:spPr>
          <a:xfrm>
            <a:off x="234949" y="596176"/>
            <a:ext cx="11747501" cy="396603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469760" y="627926"/>
            <a:ext cx="1143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ko-KR" altLang="en-US" sz="1400" b="1" dirty="0">
                <a:solidFill>
                  <a:schemeClr val="bg1"/>
                </a:solidFill>
              </a:rPr>
              <a:t>C2 AI Data Behavior-driven — Sequence</a:t>
            </a:r>
            <a:r>
              <a:rPr lang="en-US" altLang="ko-KR" sz="1400" b="1" dirty="0">
                <a:solidFill>
                  <a:schemeClr val="bg1"/>
                </a:solidFill>
              </a:rPr>
              <a:t/>
            </a:r>
            <a:r>
              <a:rPr lang="ko-KR" altLang="en-US" sz="1400" b="1" dirty="0">
                <a:solidFill>
                  <a:schemeClr val="bg1"/>
                </a:solidFill>
              </a:rPr>
              <a:t/>
            </a:r>
            <a:r>
              <a:rPr lang="en-US" altLang="ko-KR" sz="1400" b="1" dirty="0">
                <a:solidFill>
                  <a:schemeClr val="bg1"/>
                </a:solidFill>
              </a:rPr>
              <a:t/>
            </a:r>
            <a:r>
              <a:rPr lang="ko-KR" altLang="en-US" sz="1400" b="1" dirty="0">
                <a:solidFill>
                  <a:schemeClr val="bg1"/>
                </a:solidFill>
              </a:rPr>
              <a:t/>
            </a:r>
          </a:p>
        </p:txBody>
      </p:sp>
      <p:sp>
        <p:nvSpPr>
          <p:cNvPr id="39" name="직사각형 38"/>
          <p:cNvSpPr/>
          <p:nvPr/>
        </p:nvSpPr>
        <p:spPr>
          <a:xfrm>
            <a:off x="403086" y="678726"/>
            <a:ext cx="66675" cy="21627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57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</p:spPr>
        <p:txBody>
          <a:bodyPr/>
          <a:lstStyle/>
          <a:p>
            <a:fld id="{7F889C64-266A-4D07-AD8F-5B592E61CCE1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sp>
        <p:nvSpPr>
          <p:cNvPr id="58" name="Rectangle 57"/>
          <p:cNvSpPr/>
          <p:nvPr/>
        </p:nvSpPr>
        <p:spPr>
          <a:xfrm>
            <a:off x="411480" y="1143000"/>
            <a:ext cx="11384280" cy="36576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650" b="0">
                <a:solidFill>
                  <a:srgbClr val="404040"/>
                </a:solidFill>
                <a:latin typeface="맑은 고딕"/>
                <a:ea typeface="맑은 고딕"/>
              </a:rPr>
              <a:t>사전(boot / 상시, decision 경로 밖):  Backend → Memory Registry (①③ 등록·캐시),  Backend → Telemetry Collector (② 상시 수집)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48055" y="1600200"/>
            <a:ext cx="961782" cy="38404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Event Source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928947" y="1984248"/>
            <a:ext cx="0" cy="4370832"/>
          </a:xfrm>
          <a:prstGeom prst="line">
            <a:avLst/>
          </a:prstGeom>
          <a:ln w="8890">
            <a:solidFill>
              <a:srgbClr val="A6A6A6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ctangle 60"/>
          <p:cNvSpPr/>
          <p:nvPr/>
        </p:nvSpPr>
        <p:spPr>
          <a:xfrm>
            <a:off x="1482990" y="1600200"/>
            <a:ext cx="961782" cy="38404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Migration</a:t>
            </a:r>
          </a:p>
          <a:p>
            <a:pPr algn="ctr"/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Scheduler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1963881" y="1984248"/>
            <a:ext cx="0" cy="4370832"/>
          </a:xfrm>
          <a:prstGeom prst="line">
            <a:avLst/>
          </a:prstGeom>
          <a:ln w="8890">
            <a:solidFill>
              <a:srgbClr val="A6A6A6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ectangle 62"/>
          <p:cNvSpPr/>
          <p:nvPr/>
        </p:nvSpPr>
        <p:spPr>
          <a:xfrm>
            <a:off x="2517925" y="1600200"/>
            <a:ext cx="961782" cy="384048"/>
          </a:xfrm>
          <a:prstGeom prst="rect">
            <a:avLst/>
          </a:prstGeom>
          <a:solidFill>
            <a:srgbClr val="E6E0F4"/>
          </a:solidFill>
          <a:ln w="12700">
            <a:solidFill>
              <a:srgbClr val="7B66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620" b="1">
                <a:solidFill>
                  <a:srgbClr val="1A1A1A"/>
                </a:solidFill>
                <a:latin typeface="맑은 고딕"/>
                <a:ea typeface="맑은 고딕"/>
              </a:rPr>
              <a:t>Data Behavior</a:t>
            </a:r>
          </a:p>
          <a:p>
            <a:pPr algn="ctr"/>
            <a:r>
              <a:rPr sz="620" b="0">
                <a:solidFill>
                  <a:srgbClr val="1A1A1A"/>
                </a:solidFill>
                <a:latin typeface="맑은 고딕"/>
                <a:ea typeface="맑은 고딕"/>
              </a:rPr>
              <a:t>Monitor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2998816" y="1984248"/>
            <a:ext cx="0" cy="4370832"/>
          </a:xfrm>
          <a:prstGeom prst="line">
            <a:avLst/>
          </a:prstGeom>
          <a:ln w="8890">
            <a:solidFill>
              <a:srgbClr val="A6A6A6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ectangle 64"/>
          <p:cNvSpPr/>
          <p:nvPr/>
        </p:nvSpPr>
        <p:spPr>
          <a:xfrm>
            <a:off x="3552859" y="1600200"/>
            <a:ext cx="961782" cy="384048"/>
          </a:xfrm>
          <a:prstGeom prst="rect">
            <a:avLst/>
          </a:prstGeom>
          <a:solidFill>
            <a:srgbClr val="E3F1E3"/>
          </a:solidFill>
          <a:ln w="12700">
            <a:solidFill>
              <a:srgbClr val="5B9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620" b="1">
                <a:solidFill>
                  <a:srgbClr val="1A1A1A"/>
                </a:solidFill>
                <a:latin typeface="맑은 고딕"/>
                <a:ea typeface="맑은 고딕"/>
              </a:rPr>
              <a:t>Data Object</a:t>
            </a:r>
          </a:p>
          <a:p>
            <a:pPr algn="ctr"/>
            <a:r>
              <a:rPr sz="620" b="0">
                <a:solidFill>
                  <a:srgbClr val="1A1A1A"/>
                </a:solidFill>
                <a:latin typeface="맑은 고딕"/>
                <a:ea typeface="맑은 고딕"/>
              </a:rPr>
              <a:t>Registry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4033750" y="1984248"/>
            <a:ext cx="0" cy="4370832"/>
          </a:xfrm>
          <a:prstGeom prst="line">
            <a:avLst/>
          </a:prstGeom>
          <a:ln w="8890">
            <a:solidFill>
              <a:srgbClr val="A6A6A6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ectangle 66"/>
          <p:cNvSpPr/>
          <p:nvPr/>
        </p:nvSpPr>
        <p:spPr>
          <a:xfrm>
            <a:off x="4587794" y="1600200"/>
            <a:ext cx="961782" cy="384048"/>
          </a:xfrm>
          <a:prstGeom prst="rect">
            <a:avLst/>
          </a:prstGeom>
          <a:solidFill>
            <a:srgbClr val="E6E0F4"/>
          </a:solidFill>
          <a:ln w="12700">
            <a:solidFill>
              <a:srgbClr val="7B66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620" b="1">
                <a:solidFill>
                  <a:srgbClr val="1A1A1A"/>
                </a:solidFill>
                <a:latin typeface="맑은 고딕"/>
                <a:ea typeface="맑은 고딕"/>
              </a:rPr>
              <a:t>Behavior Trend</a:t>
            </a:r>
          </a:p>
          <a:p>
            <a:pPr algn="ctr"/>
            <a:r>
              <a:rPr sz="620" b="0">
                <a:solidFill>
                  <a:srgbClr val="1A1A1A"/>
                </a:solidFill>
                <a:latin typeface="맑은 고딕"/>
                <a:ea typeface="맑은 고딕"/>
              </a:rPr>
              <a:t>Analyzer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5068685" y="1984248"/>
            <a:ext cx="0" cy="4370832"/>
          </a:xfrm>
          <a:prstGeom prst="line">
            <a:avLst/>
          </a:prstGeom>
          <a:ln w="8890">
            <a:solidFill>
              <a:srgbClr val="A6A6A6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ectangle 68"/>
          <p:cNvSpPr/>
          <p:nvPr/>
        </p:nvSpPr>
        <p:spPr>
          <a:xfrm>
            <a:off x="5622728" y="1600200"/>
            <a:ext cx="961782" cy="384048"/>
          </a:xfrm>
          <a:prstGeom prst="rect">
            <a:avLst/>
          </a:prstGeom>
          <a:solidFill>
            <a:srgbClr val="E6E0F4"/>
          </a:solidFill>
          <a:ln w="12700">
            <a:solidFill>
              <a:srgbClr val="7B66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620" b="1">
                <a:solidFill>
                  <a:srgbClr val="1A1A1A"/>
                </a:solidFill>
                <a:latin typeface="맑은 고딕"/>
                <a:ea typeface="맑은 고딕"/>
              </a:rPr>
              <a:t>Future Behavior</a:t>
            </a:r>
          </a:p>
          <a:p>
            <a:pPr algn="ctr"/>
            <a:r>
              <a:rPr sz="620" b="0">
                <a:solidFill>
                  <a:srgbClr val="1A1A1A"/>
                </a:solidFill>
                <a:latin typeface="맑은 고딕"/>
                <a:ea typeface="맑은 고딕"/>
              </a:rPr>
              <a:t>Predictor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6103620" y="1984248"/>
            <a:ext cx="0" cy="4370832"/>
          </a:xfrm>
          <a:prstGeom prst="line">
            <a:avLst/>
          </a:prstGeom>
          <a:ln w="8890">
            <a:solidFill>
              <a:srgbClr val="A6A6A6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ectangle 70"/>
          <p:cNvSpPr/>
          <p:nvPr/>
        </p:nvSpPr>
        <p:spPr>
          <a:xfrm>
            <a:off x="6657663" y="1600200"/>
            <a:ext cx="961782" cy="384048"/>
          </a:xfrm>
          <a:prstGeom prst="rect">
            <a:avLst/>
          </a:prstGeom>
          <a:solidFill>
            <a:srgbClr val="E6E0F4"/>
          </a:solidFill>
          <a:ln w="12700">
            <a:solidFill>
              <a:srgbClr val="7B66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620" b="1">
                <a:solidFill>
                  <a:srgbClr val="1A1A1A"/>
                </a:solidFill>
                <a:latin typeface="맑은 고딕"/>
                <a:ea typeface="맑은 고딕"/>
              </a:rPr>
              <a:t>Migration Data</a:t>
            </a:r>
          </a:p>
          <a:p>
            <a:pPr algn="ctr"/>
            <a:r>
              <a:rPr sz="620" b="0">
                <a:solidFill>
                  <a:srgbClr val="1A1A1A"/>
                </a:solidFill>
                <a:latin typeface="맑은 고딕"/>
                <a:ea typeface="맑은 고딕"/>
              </a:rPr>
              <a:t>Selector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7138554" y="1984248"/>
            <a:ext cx="0" cy="4370832"/>
          </a:xfrm>
          <a:prstGeom prst="line">
            <a:avLst/>
          </a:prstGeom>
          <a:ln w="8890">
            <a:solidFill>
              <a:srgbClr val="A6A6A6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Rectangle 72"/>
          <p:cNvSpPr/>
          <p:nvPr/>
        </p:nvSpPr>
        <p:spPr>
          <a:xfrm>
            <a:off x="7692597" y="1600200"/>
            <a:ext cx="961782" cy="384048"/>
          </a:xfrm>
          <a:prstGeom prst="rect">
            <a:avLst/>
          </a:prstGeom>
          <a:solidFill>
            <a:srgbClr val="FDEBD3"/>
          </a:solidFill>
          <a:ln w="12700">
            <a:solidFill>
              <a:srgbClr val="C9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620" b="1">
                <a:solidFill>
                  <a:srgbClr val="1A1A1A"/>
                </a:solidFill>
                <a:latin typeface="맑은 고딕"/>
                <a:ea typeface="맑은 고딕"/>
              </a:rPr>
              <a:t>Telemetry</a:t>
            </a:r>
          </a:p>
          <a:p>
            <a:pPr algn="ctr"/>
            <a:r>
              <a:rPr sz="620" b="0">
                <a:solidFill>
                  <a:srgbClr val="1A1A1A"/>
                </a:solidFill>
                <a:latin typeface="맑은 고딕"/>
                <a:ea typeface="맑은 고딕"/>
              </a:rPr>
              <a:t>Collector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8173489" y="1984248"/>
            <a:ext cx="0" cy="4370832"/>
          </a:xfrm>
          <a:prstGeom prst="line">
            <a:avLst/>
          </a:prstGeom>
          <a:ln w="8890">
            <a:solidFill>
              <a:srgbClr val="A6A6A6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ectangle 74"/>
          <p:cNvSpPr/>
          <p:nvPr/>
        </p:nvSpPr>
        <p:spPr>
          <a:xfrm>
            <a:off x="8727532" y="1600200"/>
            <a:ext cx="961782" cy="384048"/>
          </a:xfrm>
          <a:prstGeom prst="rect">
            <a:avLst/>
          </a:prstGeom>
          <a:solidFill>
            <a:srgbClr val="E6E0F4"/>
          </a:solidFill>
          <a:ln w="12700">
            <a:solidFill>
              <a:srgbClr val="7B66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620" b="1">
                <a:solidFill>
                  <a:srgbClr val="1A1A1A"/>
                </a:solidFill>
                <a:latin typeface="맑은 고딕"/>
                <a:ea typeface="맑은 고딕"/>
              </a:rPr>
              <a:t>Destination Tier</a:t>
            </a:r>
          </a:p>
          <a:p>
            <a:pPr algn="ctr"/>
            <a:r>
              <a:rPr sz="620" b="0">
                <a:solidFill>
                  <a:srgbClr val="1A1A1A"/>
                </a:solidFill>
                <a:latin typeface="맑은 고딕"/>
                <a:ea typeface="맑은 고딕"/>
              </a:rPr>
              <a:t>Selector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9208423" y="1984248"/>
            <a:ext cx="0" cy="4370832"/>
          </a:xfrm>
          <a:prstGeom prst="line">
            <a:avLst/>
          </a:prstGeom>
          <a:ln w="8890">
            <a:solidFill>
              <a:srgbClr val="A6A6A6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ectangle 76"/>
          <p:cNvSpPr/>
          <p:nvPr/>
        </p:nvSpPr>
        <p:spPr>
          <a:xfrm>
            <a:off x="9762466" y="1600200"/>
            <a:ext cx="961782" cy="384048"/>
          </a:xfrm>
          <a:prstGeom prst="rect">
            <a:avLst/>
          </a:prstGeom>
          <a:solidFill>
            <a:srgbClr val="FDEBD3"/>
          </a:solidFill>
          <a:ln w="12700">
            <a:solidFill>
              <a:srgbClr val="C9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620" b="1">
                <a:solidFill>
                  <a:srgbClr val="1A1A1A"/>
                </a:solidFill>
                <a:latin typeface="맑은 고딕"/>
                <a:ea typeface="맑은 고딕"/>
              </a:rPr>
              <a:t>Memory</a:t>
            </a:r>
          </a:p>
          <a:p>
            <a:pPr algn="ctr"/>
            <a:r>
              <a:rPr sz="620" b="0">
                <a:solidFill>
                  <a:srgbClr val="1A1A1A"/>
                </a:solidFill>
                <a:latin typeface="맑은 고딕"/>
                <a:ea typeface="맑은 고딕"/>
              </a:rPr>
              <a:t>Registry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10243358" y="1984248"/>
            <a:ext cx="0" cy="4370832"/>
          </a:xfrm>
          <a:prstGeom prst="line">
            <a:avLst/>
          </a:prstGeom>
          <a:ln w="8890">
            <a:solidFill>
              <a:srgbClr val="A6A6A6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Rectangle 78"/>
          <p:cNvSpPr/>
          <p:nvPr/>
        </p:nvSpPr>
        <p:spPr>
          <a:xfrm>
            <a:off x="10797401" y="1600200"/>
            <a:ext cx="961782" cy="384048"/>
          </a:xfrm>
          <a:prstGeom prst="rect">
            <a:avLst/>
          </a:prstGeom>
          <a:solidFill>
            <a:srgbClr val="F0F1F3"/>
          </a:solidFill>
          <a:ln w="12700">
            <a:solidFill>
              <a:srgbClr val="888C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620" b="1">
                <a:solidFill>
                  <a:srgbClr val="1A1A1A"/>
                </a:solidFill>
                <a:latin typeface="맑은 고딕"/>
                <a:ea typeface="맑은 고딕"/>
              </a:rPr>
              <a:t>Migration</a:t>
            </a:r>
          </a:p>
          <a:p>
            <a:pPr algn="ctr"/>
            <a:r>
              <a:rPr sz="620" b="0">
                <a:solidFill>
                  <a:srgbClr val="1A1A1A"/>
                </a:solidFill>
                <a:latin typeface="맑은 고딕"/>
                <a:ea typeface="맑은 고딕"/>
              </a:rPr>
              <a:t>Executor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11278292" y="1984248"/>
            <a:ext cx="0" cy="4370832"/>
          </a:xfrm>
          <a:prstGeom prst="line">
            <a:avLst/>
          </a:prstGeom>
          <a:ln w="8890">
            <a:solidFill>
              <a:srgbClr val="A6A6A6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928947" y="2148840"/>
            <a:ext cx="1034934" cy="0"/>
          </a:xfrm>
          <a:prstGeom prst="line">
            <a:avLst/>
          </a:prstGeom>
          <a:ln w="12700">
            <a:solidFill>
              <a:srgbClr val="40404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852054" y="1975104"/>
            <a:ext cx="1188720" cy="164592"/>
          </a:xfrm>
          <a:prstGeom prst="rect">
            <a:avLst/>
          </a:prstGeom>
          <a:solidFill>
            <a:srgbClr val="FFFFFF"/>
          </a:solidFill>
        </p:spPr>
        <p:txBody>
          <a:bodyPr wrap="none" lIns="9144" rIns="9144" tIns="0" bIns="0">
            <a:spAutoFit/>
          </a:bodyPr>
          <a:lstStyle/>
          <a:p>
            <a:pPr algn="ctr"/>
            <a:r>
              <a:rPr sz="620" b="0">
                <a:solidFill>
                  <a:srgbClr val="404040"/>
                </a:solidFill>
                <a:latin typeface="맑은 고딕"/>
                <a:ea typeface="맑은 고딕"/>
              </a:rPr>
              <a:t>1. Migration / behavior event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1963881" y="2459736"/>
            <a:ext cx="1034935" cy="0"/>
          </a:xfrm>
          <a:prstGeom prst="line">
            <a:avLst/>
          </a:prstGeom>
          <a:ln w="12700">
            <a:solidFill>
              <a:srgbClr val="404040"/>
            </a:solidFill>
            <a:prstDash val="sys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1886989" y="2286000"/>
            <a:ext cx="1188720" cy="164592"/>
          </a:xfrm>
          <a:prstGeom prst="rect">
            <a:avLst/>
          </a:prstGeom>
          <a:solidFill>
            <a:srgbClr val="FFFFFF"/>
          </a:solidFill>
        </p:spPr>
        <p:txBody>
          <a:bodyPr wrap="none" lIns="9144" rIns="9144" tIns="0" bIns="0">
            <a:spAutoFit/>
          </a:bodyPr>
          <a:lstStyle/>
          <a:p>
            <a:pPr algn="ctr"/>
            <a:r>
              <a:rPr sz="620" b="0">
                <a:solidFill>
                  <a:srgbClr val="404040"/>
                </a:solidFill>
                <a:latin typeface="맑은 고딕"/>
                <a:ea typeface="맑은 고딕"/>
              </a:rPr>
              <a:t>2. async event push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2998816" y="2770632"/>
            <a:ext cx="1034934" cy="0"/>
          </a:xfrm>
          <a:prstGeom prst="line">
            <a:avLst/>
          </a:prstGeom>
          <a:ln w="12700">
            <a:solidFill>
              <a:srgbClr val="40404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2921923" y="2596896"/>
            <a:ext cx="1188720" cy="164592"/>
          </a:xfrm>
          <a:prstGeom prst="rect">
            <a:avLst/>
          </a:prstGeom>
          <a:solidFill>
            <a:srgbClr val="FFFFFF"/>
          </a:solidFill>
        </p:spPr>
        <p:txBody>
          <a:bodyPr wrap="none" lIns="9144" rIns="9144" tIns="0" bIns="0">
            <a:spAutoFit/>
          </a:bodyPr>
          <a:lstStyle/>
          <a:p>
            <a:pPr algn="ctr"/>
            <a:r>
              <a:rPr sz="620" b="0">
                <a:solidFill>
                  <a:srgbClr val="404040"/>
                </a:solidFill>
                <a:latin typeface="맑은 고딕"/>
                <a:ea typeface="맑은 고딕"/>
              </a:rPr>
              <a:t>3. object / class lookup</a:t>
            </a:r>
          </a:p>
        </p:txBody>
      </p:sp>
      <p:cxnSp>
        <p:nvCxnSpPr>
          <p:cNvPr id="87" name="Connector 86"/>
          <p:cNvCxnSpPr/>
          <p:nvPr/>
        </p:nvCxnSpPr>
        <p:spPr>
          <a:xfrm flipH="1">
            <a:off x="2998816" y="3081528"/>
            <a:ext cx="1034934" cy="0"/>
          </a:xfrm>
          <a:prstGeom prst="line">
            <a:avLst/>
          </a:prstGeom>
          <a:ln w="12700">
            <a:solidFill>
              <a:srgbClr val="404040"/>
            </a:solidFill>
            <a:prstDash val="sys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2921923" y="2907792"/>
            <a:ext cx="1188720" cy="164592"/>
          </a:xfrm>
          <a:prstGeom prst="rect">
            <a:avLst/>
          </a:prstGeom>
          <a:solidFill>
            <a:srgbClr val="FFFFFF"/>
          </a:solidFill>
        </p:spPr>
        <p:txBody>
          <a:bodyPr wrap="none" lIns="9144" rIns="9144" tIns="0" bIns="0">
            <a:spAutoFit/>
          </a:bodyPr>
          <a:lstStyle/>
          <a:p>
            <a:pPr algn="ctr"/>
            <a:r>
              <a:rPr sz="620" b="0">
                <a:solidFill>
                  <a:srgbClr val="404040"/>
                </a:solidFill>
                <a:latin typeface="맑은 고딕"/>
                <a:ea typeface="맑은 고딕"/>
              </a:rPr>
              <a:t>4. object + class metadata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2998816" y="3392424"/>
            <a:ext cx="2069869" cy="0"/>
          </a:xfrm>
          <a:prstGeom prst="line">
            <a:avLst/>
          </a:prstGeom>
          <a:ln w="12700">
            <a:solidFill>
              <a:srgbClr val="40404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3021676" y="3218688"/>
            <a:ext cx="2024149" cy="164592"/>
          </a:xfrm>
          <a:prstGeom prst="rect">
            <a:avLst/>
          </a:prstGeom>
          <a:solidFill>
            <a:srgbClr val="FFFFFF"/>
          </a:solidFill>
        </p:spPr>
        <p:txBody>
          <a:bodyPr wrap="none" lIns="9144" rIns="9144" tIns="0" bIns="0">
            <a:spAutoFit/>
          </a:bodyPr>
          <a:lstStyle/>
          <a:p>
            <a:pPr algn="ctr"/>
            <a:r>
              <a:rPr sz="620" b="0">
                <a:solidFill>
                  <a:srgbClr val="404040"/>
                </a:solidFill>
                <a:latin typeface="맑은 고딕"/>
                <a:ea typeface="맑은 고딕"/>
              </a:rPr>
              <a:t>5. behavior / affinity info</a:t>
            </a:r>
          </a:p>
        </p:txBody>
      </p:sp>
      <p:cxnSp>
        <p:nvCxnSpPr>
          <p:cNvPr id="91" name="Connector 90"/>
          <p:cNvCxnSpPr/>
          <p:nvPr/>
        </p:nvCxnSpPr>
        <p:spPr>
          <a:xfrm>
            <a:off x="5068685" y="3703320"/>
            <a:ext cx="1034935" cy="0"/>
          </a:xfrm>
          <a:prstGeom prst="line">
            <a:avLst/>
          </a:prstGeom>
          <a:ln w="12700">
            <a:solidFill>
              <a:srgbClr val="40404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/>
          <p:cNvSpPr txBox="1"/>
          <p:nvPr/>
        </p:nvSpPr>
        <p:spPr>
          <a:xfrm>
            <a:off x="4991792" y="3529584"/>
            <a:ext cx="1188720" cy="164592"/>
          </a:xfrm>
          <a:prstGeom prst="rect">
            <a:avLst/>
          </a:prstGeom>
          <a:solidFill>
            <a:srgbClr val="FFFFFF"/>
          </a:solidFill>
        </p:spPr>
        <p:txBody>
          <a:bodyPr wrap="none" lIns="9144" rIns="9144" tIns="0" bIns="0">
            <a:spAutoFit/>
          </a:bodyPr>
          <a:lstStyle/>
          <a:p>
            <a:pPr algn="ctr"/>
            <a:r>
              <a:rPr sz="620" b="0">
                <a:solidFill>
                  <a:srgbClr val="404040"/>
                </a:solidFill>
                <a:latin typeface="맑은 고딕"/>
                <a:ea typeface="맑은 고딕"/>
              </a:rPr>
              <a:t>6. behavior trend</a:t>
            </a:r>
          </a:p>
        </p:txBody>
      </p:sp>
      <p:cxnSp>
        <p:nvCxnSpPr>
          <p:cNvPr id="93" name="Connector 92"/>
          <p:cNvCxnSpPr/>
          <p:nvPr/>
        </p:nvCxnSpPr>
        <p:spPr>
          <a:xfrm>
            <a:off x="6103620" y="3959352"/>
            <a:ext cx="320039" cy="0"/>
          </a:xfrm>
          <a:prstGeom prst="line">
            <a:avLst/>
          </a:prstGeom>
          <a:ln w="1270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6423659" y="3959352"/>
            <a:ext cx="0" cy="146304"/>
          </a:xfrm>
          <a:prstGeom prst="line">
            <a:avLst/>
          </a:prstGeom>
          <a:ln w="1270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H="1">
            <a:off x="6103620" y="4105656"/>
            <a:ext cx="320039" cy="0"/>
          </a:xfrm>
          <a:prstGeom prst="line">
            <a:avLst/>
          </a:prstGeom>
          <a:ln w="12700">
            <a:solidFill>
              <a:srgbClr val="40404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6469380" y="3922776"/>
            <a:ext cx="2011680" cy="164592"/>
          </a:xfrm>
          <a:prstGeom prst="rect">
            <a:avLst/>
          </a:prstGeom>
          <a:solidFill>
            <a:srgbClr val="FFFFFF"/>
          </a:solidFill>
        </p:spPr>
        <p:txBody>
          <a:bodyPr wrap="none" lIns="9144" rIns="9144" tIns="0" bIns="0">
            <a:spAutoFit/>
          </a:bodyPr>
          <a:lstStyle/>
          <a:p>
            <a:pPr algn="l"/>
            <a:r>
              <a:rPr sz="620" b="0">
                <a:solidFill>
                  <a:srgbClr val="404040"/>
                </a:solidFill>
                <a:latin typeface="맑은 고딕"/>
                <a:ea typeface="맑은 고딕"/>
              </a:rPr>
              <a:t>7. predict reuse·lifetime·hotness</a:t>
            </a:r>
          </a:p>
        </p:txBody>
      </p:sp>
      <p:cxnSp>
        <p:nvCxnSpPr>
          <p:cNvPr id="97" name="Connector 96"/>
          <p:cNvCxnSpPr/>
          <p:nvPr/>
        </p:nvCxnSpPr>
        <p:spPr>
          <a:xfrm>
            <a:off x="6103620" y="4325112"/>
            <a:ext cx="1034934" cy="0"/>
          </a:xfrm>
          <a:prstGeom prst="line">
            <a:avLst/>
          </a:prstGeom>
          <a:ln w="12700">
            <a:solidFill>
              <a:srgbClr val="40404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Box 97"/>
          <p:cNvSpPr txBox="1"/>
          <p:nvPr/>
        </p:nvSpPr>
        <p:spPr>
          <a:xfrm>
            <a:off x="6026727" y="4151376"/>
            <a:ext cx="1188720" cy="164592"/>
          </a:xfrm>
          <a:prstGeom prst="rect">
            <a:avLst/>
          </a:prstGeom>
          <a:solidFill>
            <a:srgbClr val="FFFFFF"/>
          </a:solidFill>
        </p:spPr>
        <p:txBody>
          <a:bodyPr wrap="none" lIns="9144" rIns="9144" tIns="0" bIns="0">
            <a:spAutoFit/>
          </a:bodyPr>
          <a:lstStyle/>
          <a:p>
            <a:pPr algn="ctr"/>
            <a:r>
              <a:rPr sz="620" b="0">
                <a:solidFill>
                  <a:srgbClr val="404040"/>
                </a:solidFill>
                <a:latin typeface="맑은 고딕"/>
                <a:ea typeface="맑은 고딕"/>
              </a:rPr>
              <a:t>8. predicted behavior</a:t>
            </a:r>
          </a:p>
        </p:txBody>
      </p:sp>
      <p:cxnSp>
        <p:nvCxnSpPr>
          <p:cNvPr id="99" name="Connector 98"/>
          <p:cNvCxnSpPr/>
          <p:nvPr/>
        </p:nvCxnSpPr>
        <p:spPr>
          <a:xfrm>
            <a:off x="6103620" y="4636008"/>
            <a:ext cx="3104803" cy="0"/>
          </a:xfrm>
          <a:prstGeom prst="line">
            <a:avLst/>
          </a:prstGeom>
          <a:ln w="12700">
            <a:solidFill>
              <a:srgbClr val="40404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TextBox 99"/>
          <p:cNvSpPr txBox="1"/>
          <p:nvPr/>
        </p:nvSpPr>
        <p:spPr>
          <a:xfrm>
            <a:off x="6126480" y="4462272"/>
            <a:ext cx="3059083" cy="164592"/>
          </a:xfrm>
          <a:prstGeom prst="rect">
            <a:avLst/>
          </a:prstGeom>
          <a:solidFill>
            <a:srgbClr val="FFFFFF"/>
          </a:solidFill>
        </p:spPr>
        <p:txBody>
          <a:bodyPr wrap="none" lIns="9144" rIns="9144" tIns="0" bIns="0">
            <a:spAutoFit/>
          </a:bodyPr>
          <a:lstStyle/>
          <a:p>
            <a:pPr algn="ctr"/>
            <a:r>
              <a:rPr sz="620" b="0">
                <a:solidFill>
                  <a:srgbClr val="404040"/>
                </a:solidFill>
                <a:latin typeface="맑은 고딕"/>
                <a:ea typeface="맑은 고딕"/>
              </a:rPr>
              <a:t>9. predicted behavior</a:t>
            </a:r>
          </a:p>
        </p:txBody>
      </p:sp>
      <p:cxnSp>
        <p:nvCxnSpPr>
          <p:cNvPr id="101" name="Connector 100"/>
          <p:cNvCxnSpPr/>
          <p:nvPr/>
        </p:nvCxnSpPr>
        <p:spPr>
          <a:xfrm>
            <a:off x="8173489" y="4946904"/>
            <a:ext cx="1034934" cy="0"/>
          </a:xfrm>
          <a:prstGeom prst="line">
            <a:avLst/>
          </a:prstGeom>
          <a:ln w="12700">
            <a:solidFill>
              <a:srgbClr val="40404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extBox 101"/>
          <p:cNvSpPr txBox="1"/>
          <p:nvPr/>
        </p:nvSpPr>
        <p:spPr>
          <a:xfrm>
            <a:off x="8096596" y="4773168"/>
            <a:ext cx="1188720" cy="164592"/>
          </a:xfrm>
          <a:prstGeom prst="rect">
            <a:avLst/>
          </a:prstGeom>
          <a:solidFill>
            <a:srgbClr val="FFFFFF"/>
          </a:solidFill>
        </p:spPr>
        <p:txBody>
          <a:bodyPr wrap="none" lIns="9144" rIns="9144" tIns="0" bIns="0">
            <a:spAutoFit/>
          </a:bodyPr>
          <a:lstStyle/>
          <a:p>
            <a:pPr algn="ctr"/>
            <a:r>
              <a:rPr sz="620" b="0">
                <a:solidFill>
                  <a:srgbClr val="404040"/>
                </a:solidFill>
                <a:latin typeface="맑은 고딕"/>
                <a:ea typeface="맑은 고딕"/>
              </a:rPr>
              <a:t>10. ② capacity·BW·load</a:t>
            </a:r>
          </a:p>
        </p:txBody>
      </p:sp>
      <p:cxnSp>
        <p:nvCxnSpPr>
          <p:cNvPr id="103" name="Connector 102"/>
          <p:cNvCxnSpPr/>
          <p:nvPr/>
        </p:nvCxnSpPr>
        <p:spPr>
          <a:xfrm>
            <a:off x="9208423" y="5257800"/>
            <a:ext cx="1034935" cy="0"/>
          </a:xfrm>
          <a:prstGeom prst="line">
            <a:avLst/>
          </a:prstGeom>
          <a:ln w="12700">
            <a:solidFill>
              <a:srgbClr val="40404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TextBox 103"/>
          <p:cNvSpPr txBox="1"/>
          <p:nvPr/>
        </p:nvSpPr>
        <p:spPr>
          <a:xfrm>
            <a:off x="9131530" y="5084064"/>
            <a:ext cx="1188720" cy="164592"/>
          </a:xfrm>
          <a:prstGeom prst="rect">
            <a:avLst/>
          </a:prstGeom>
          <a:solidFill>
            <a:srgbClr val="FFFFFF"/>
          </a:solidFill>
        </p:spPr>
        <p:txBody>
          <a:bodyPr wrap="none" lIns="9144" rIns="9144" tIns="0" bIns="0">
            <a:spAutoFit/>
          </a:bodyPr>
          <a:lstStyle/>
          <a:p>
            <a:pPr algn="ctr"/>
            <a:r>
              <a:rPr sz="620" b="0">
                <a:solidFill>
                  <a:srgbClr val="404040"/>
                </a:solidFill>
                <a:latin typeface="맑은 고딕"/>
                <a:ea typeface="맑은 고딕"/>
              </a:rPr>
              <a:t>11. ①③ capability·cost query</a:t>
            </a:r>
          </a:p>
        </p:txBody>
      </p:sp>
      <p:cxnSp>
        <p:nvCxnSpPr>
          <p:cNvPr id="105" name="Connector 104"/>
          <p:cNvCxnSpPr/>
          <p:nvPr/>
        </p:nvCxnSpPr>
        <p:spPr>
          <a:xfrm flipH="1">
            <a:off x="9208423" y="5568696"/>
            <a:ext cx="1034935" cy="0"/>
          </a:xfrm>
          <a:prstGeom prst="line">
            <a:avLst/>
          </a:prstGeom>
          <a:ln w="12700">
            <a:solidFill>
              <a:srgbClr val="404040"/>
            </a:solidFill>
            <a:prstDash val="sys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TextBox 105"/>
          <p:cNvSpPr txBox="1"/>
          <p:nvPr/>
        </p:nvSpPr>
        <p:spPr>
          <a:xfrm>
            <a:off x="9131530" y="5394959"/>
            <a:ext cx="1188720" cy="164592"/>
          </a:xfrm>
          <a:prstGeom prst="rect">
            <a:avLst/>
          </a:prstGeom>
          <a:solidFill>
            <a:srgbClr val="FFFFFF"/>
          </a:solidFill>
        </p:spPr>
        <p:txBody>
          <a:bodyPr wrap="none" lIns="9144" rIns="9144" tIns="0" bIns="0">
            <a:spAutoFit/>
          </a:bodyPr>
          <a:lstStyle/>
          <a:p>
            <a:pPr algn="ctr"/>
            <a:r>
              <a:rPr sz="620" b="0">
                <a:solidFill>
                  <a:srgbClr val="404040"/>
                </a:solidFill>
                <a:latin typeface="맑은 고딕"/>
                <a:ea typeface="맑은 고딕"/>
              </a:rPr>
              <a:t>12. feasible mem + transfer cost</a:t>
            </a:r>
          </a:p>
        </p:txBody>
      </p:sp>
      <p:cxnSp>
        <p:nvCxnSpPr>
          <p:cNvPr id="107" name="Connector 106"/>
          <p:cNvCxnSpPr/>
          <p:nvPr/>
        </p:nvCxnSpPr>
        <p:spPr>
          <a:xfrm>
            <a:off x="9208423" y="5879592"/>
            <a:ext cx="2069869" cy="0"/>
          </a:xfrm>
          <a:prstGeom prst="line">
            <a:avLst/>
          </a:prstGeom>
          <a:ln w="12700">
            <a:solidFill>
              <a:srgbClr val="40404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TextBox 107"/>
          <p:cNvSpPr txBox="1"/>
          <p:nvPr/>
        </p:nvSpPr>
        <p:spPr>
          <a:xfrm>
            <a:off x="9231283" y="5705855"/>
            <a:ext cx="2024149" cy="164592"/>
          </a:xfrm>
          <a:prstGeom prst="rect">
            <a:avLst/>
          </a:prstGeom>
          <a:solidFill>
            <a:srgbClr val="FFFFFF"/>
          </a:solidFill>
        </p:spPr>
        <p:txBody>
          <a:bodyPr wrap="none" lIns="9144" rIns="9144" tIns="0" bIns="0">
            <a:spAutoFit/>
          </a:bodyPr>
          <a:lstStyle/>
          <a:p>
            <a:pPr algn="ctr"/>
            <a:r>
              <a:rPr sz="620" b="0">
                <a:solidFill>
                  <a:srgbClr val="404040"/>
                </a:solidFill>
                <a:latin typeface="맑은 고딕"/>
                <a:ea typeface="맑은 고딕"/>
              </a:rPr>
              <a:t>13. target resource</a:t>
            </a:r>
          </a:p>
        </p:txBody>
      </p:sp>
      <p:cxnSp>
        <p:nvCxnSpPr>
          <p:cNvPr id="109" name="Connector 108"/>
          <p:cNvCxnSpPr/>
          <p:nvPr/>
        </p:nvCxnSpPr>
        <p:spPr>
          <a:xfrm>
            <a:off x="7138554" y="6190488"/>
            <a:ext cx="4139738" cy="0"/>
          </a:xfrm>
          <a:prstGeom prst="line">
            <a:avLst/>
          </a:prstGeom>
          <a:ln w="12700">
            <a:solidFill>
              <a:srgbClr val="40404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7161414" y="6016751"/>
            <a:ext cx="4094018" cy="164592"/>
          </a:xfrm>
          <a:prstGeom prst="rect">
            <a:avLst/>
          </a:prstGeom>
          <a:solidFill>
            <a:srgbClr val="FFFFFF"/>
          </a:solidFill>
        </p:spPr>
        <p:txBody>
          <a:bodyPr wrap="none" lIns="9144" rIns="9144" tIns="0" bIns="0">
            <a:spAutoFit/>
          </a:bodyPr>
          <a:lstStyle/>
          <a:p>
            <a:pPr algn="ctr"/>
            <a:r>
              <a:rPr sz="620" b="0">
                <a:solidFill>
                  <a:srgbClr val="404040"/>
                </a:solidFill>
                <a:latin typeface="맑은 고딕"/>
                <a:ea typeface="맑은 고딕"/>
              </a:rPr>
              <a:t>14. selected objects → Intent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</TotalTime>
  <Words>4205</Words>
  <Application>Microsoft Office PowerPoint</Application>
  <PresentationFormat>와이드스크린</PresentationFormat>
  <Paragraphs>786</Paragraphs>
  <Slides>17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3" baseType="lpstr">
      <vt:lpstr>Samsung Sharp Sans Bold</vt:lpstr>
      <vt:lpstr>맑은 고딕</vt:lpstr>
      <vt:lpstr>맑은 고딕</vt:lpstr>
      <vt:lpstr>Arial</vt:lpstr>
      <vt:lpstr>Wingdings</vt:lpstr>
      <vt:lpstr>Office 테마</vt:lpstr>
      <vt:lpstr>전체 DP 연결</vt:lpstr>
      <vt:lpstr>PowerPoint 프레젠테이션</vt:lpstr>
      <vt:lpstr>DP0. ~~- 배경</vt:lpstr>
      <vt:lpstr>DP0. ~~ - 배경</vt:lpstr>
      <vt:lpstr>DP0. ~~- 설계</vt:lpstr>
      <vt:lpstr>PowerPoint 프레젠테이션</vt:lpstr>
      <vt:lpstr>DP1. 이기종 메모리 기반 Data Migration 구조 - 배경</vt:lpstr>
      <vt:lpstr>DP1. 이기종 메모리 기반 Data Migration 구조 - 배경</vt:lpstr>
      <vt:lpstr>DP1. 이기종 메모리 기반 Data Migration 구조 - 설계</vt:lpstr>
      <vt:lpstr>DP1. 이기종 메모리 기반 Data Migration 구조 - 설계</vt:lpstr>
      <vt:lpstr>PowerPoint 프레젠테이션</vt:lpstr>
      <vt:lpstr>DP2. 이기종 메모리 환경의 Prefill 실행 위치 결정 구조 - 사전 지식</vt:lpstr>
      <vt:lpstr>DP2. 이기종 메모리 환경의 Prefill 실행 위치 결정 구조 - 배경</vt:lpstr>
      <vt:lpstr>DP2. 이기종 메모리 환경의 Prefill 실행 위치 결정 구조 - 설계</vt:lpstr>
      <vt:lpstr>PowerPoint 프레젠테이션</vt:lpstr>
      <vt:lpstr>DP3. Long Context를 위한 KV 캐시 압축 및 재사용 구조 – 배경 </vt:lpstr>
      <vt:lpstr>DP3. Long Context를 위한 KV 캐시 압축 및 재사용 구조 – 설계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DP1. 이기종 메모리 기반 Data Migration 구조 - 배경</dc:title>
  <dc:creator>SAMSUNG</dc:creator>
  <cp:lastModifiedBy>SAMSUNG</cp:lastModifiedBy>
  <cp:revision>9</cp:revision>
  <dcterms:created xsi:type="dcterms:W3CDTF">2026-10-01T14:27:36Z</dcterms:created>
  <dcterms:modified xsi:type="dcterms:W3CDTF">2026-10-01T17:40:33Z</dcterms:modified>
</cp:coreProperties>
</file>
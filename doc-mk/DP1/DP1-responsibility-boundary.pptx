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FBFF1-8289-4F44-A49E-DC50E313B338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7919-C994-45F7-8611-41E7C0BDE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7118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42BC9-7E09-4BD5-8590-2A2A9DF40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C80FB-A36F-49E6-9605-B5FFB39F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0FE08-251B-40D7-BE64-87453A7E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86FF0-09AF-4B47-AC47-D3EC2C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2FB4F-2FD5-47E9-BD57-FFE05427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1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3F627-5421-4E7B-B8ED-2F404FA1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D0D73-727B-4CB3-B147-65C9C2EE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C2E7A-9A28-4F6F-8C19-FEB24B72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96F0F-4F8E-43D1-A0EF-6A8996E9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68DF9-5F26-4B5B-AF50-65F5FD05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D1364-E1E3-4FC4-BD62-2115E383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ED35B-37DF-45AA-A474-95CA1D3B3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ED7A0-C25E-4661-A475-391DC975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800B1-993A-4EE0-A59F-D8171A6D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DA40C-3B02-4618-A6C0-F48224DC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6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CCCDE-6B1A-4CEC-8E12-CFC95DB8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1A019-5A30-4594-845B-B912F3A28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4070F-4DF9-494C-AD57-9CD6779C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5D3662-FCD6-4654-A5D7-45B6F7FB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E0F62-AD2B-49D6-B9CB-55043936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5BB4D-FAA3-441C-97B3-6765118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9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45CF-3D65-49FD-8279-3EDA023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BE29-9044-4745-BB1D-AC9C5E61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EFE001-D3E1-43C1-A4E7-4BF3B1A1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BB520-E279-44AC-A0EA-4BACB2686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3399E3-0AF9-4376-B5C7-7C1F5E6BD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F811CF-2278-4B35-96EA-27FE2039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FEF65-7768-4B3E-BB36-44482533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A810-1F28-44B6-8A16-B261CA40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1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01A1B-8E5D-469C-B5B4-F01B40F5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BB08E1-4512-4011-8157-311DA49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8B9C36-7D90-4100-8F0D-BD6A0C57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AA1E8-FC0D-45E4-AF16-0C9E69B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EB59AE-66EB-4CB0-9B8D-B6B17AC7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4D584A-8A94-48A9-AB5E-DE899C1F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DC2F0-FA1D-4AAA-9A9E-D7904C04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0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DB9A-F3D2-45A2-A42D-61237CF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DE4E0-7BA2-4E30-9862-9192A5471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065EA-F008-44DB-8CD9-0FA54F78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64DD5-4A14-4C97-A622-B3CF47CE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6B352-C176-49D3-BB22-1FBE9FB5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A504C-AAC4-41CC-AD28-F5211017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7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E0C8B-526D-47AC-A13F-4581F54E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12C66A-791E-44FB-8A8E-2F0096229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88AE1-794E-484F-9636-0CFA341C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A0B55-319C-47AE-A21C-84507BBF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8F557-5BEB-40D2-8959-A23C24C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B63448-54DE-48BF-808A-BA29E7D0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7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C628C-596A-4CBC-B0A9-C914BA64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92A03-629A-414B-BD84-E2E8A57A8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0EB48-9271-42F6-A1D4-A63891F1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CB5BC-FE7B-4E24-81BD-AE646FC4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2A917-58F8-471F-9CD3-7188785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3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FA35B5-AE6C-42D5-88E3-3307F7411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2D99E-42C3-41C8-9338-8DBAD8B7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A221C-1A14-439A-9FFF-B5FA911F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55CE2-02E6-4873-8F08-8F0C073F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3D749-0194-40DD-9B2E-7545CBD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0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582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019444-7A30-4022-9E8B-29EA06E2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6F523-F76C-4490-934D-B6D6AD10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83DAF-8FF7-4AE6-8AD5-DE6C20112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EEC50-0F3F-402A-8391-407B7DAB1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DD1AD-A7EB-4338-8AD2-1A71895C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5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책임 경계 </a:t>
            </a:r>
            <a:r>
              <a:rPr lang="en-US" altLang="ko-KR" dirty="0"/>
              <a:t>(결정 / Migration subsystem / Driver)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범위 선언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의존하는 보장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범위 밖 overhead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graphicFrame>
        <p:nvGraphicFramePr>
          <p:cNvPr id="138" name="표 구조"/>
          <p:cNvGraphicFramePr>
            <a:graphicFrameLocks noGrp="1"/>
          </p:cNvGraphicFramePr>
          <p:nvPr/>
        </p:nvGraphicFramePr>
        <p:xfrm>
          <a:off x="249035" y="1044054"/>
          <a:ext cx="11747501" cy="5072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/>
                <a:gridCol w="10872108"/>
              </a:tblGrid>
              <a:tr h="342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DP1의 범위는 이동 결정(WHAT/WHERE)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mapping·commit의 신뢰성은 Migration subsystem이 보장하는 것으로 둔다 (DP1의 가정)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/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" name="headline"/>
          <p:cNvSpPr txBox="1"/>
          <p:nvPr/>
        </p:nvSpPr>
        <p:spPr>
          <a:xfrm>
            <a:off x="1111250" y="1397380"/>
            <a:ext cx="10700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/>
            <a:r>
              <a:rPr lang="ko-KR" altLang="en-US" sz="1100" dirty="0"/>
              <a:t>“DP1은 </a:t>
            </a:r>
            <a:r>
              <a:rPr lang="ko-KR" altLang="en-US" sz="1100" dirty="0">
                <a:solidFill>
                  <a:srgbClr val="0066FF"/>
                </a:solidFill>
              </a:rPr>
              <a:t>무엇을 어디로</a:t>
            </a:r>
            <a:r>
              <a:rPr lang="ko-KR" altLang="en-US" sz="1100" dirty="0"/>
              <a:t> 결정하고, mapping·commit의 </a:t>
            </a:r>
            <a:r>
              <a:rPr lang="ko-KR" altLang="en-US" sz="1100" dirty="0">
                <a:solidFill>
                  <a:srgbClr val="0066FF"/>
                </a:solidFill>
              </a:rPr>
              <a:t>신뢰성과 그 overhead는 하위 계층의 영역</a:t>
            </a:r>
            <a:r>
              <a:rPr lang="ko-KR" altLang="en-US" sz="1100" dirty="0"/>
              <a:t>“</a:t>
            </a:r>
          </a:p>
        </p:txBody>
      </p:sp>
      <p:sp>
        <p:nvSpPr>
          <p:cNvPr id="140" name="h0"/>
          <p:cNvSpPr txBox="1"/>
          <p:nvPr/>
        </p:nvSpPr>
        <p:spPr>
          <a:xfrm>
            <a:off x="1150000" y="1730000"/>
            <a:ext cx="23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계층 (소유)</a:t>
            </a:r>
          </a:p>
        </p:txBody>
      </p:sp>
      <p:sp>
        <p:nvSpPr>
          <p:cNvPr id="141" name="h1"/>
          <p:cNvSpPr txBox="1"/>
          <p:nvPr/>
        </p:nvSpPr>
        <p:spPr>
          <a:xfrm>
            <a:off x="3750000" y="1730000"/>
            <a:ext cx="31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맡는 것</a:t>
            </a:r>
          </a:p>
        </p:txBody>
      </p:sp>
      <p:sp>
        <p:nvSpPr>
          <p:cNvPr id="142" name="h2"/>
          <p:cNvSpPr txBox="1"/>
          <p:nvPr/>
        </p:nvSpPr>
        <p:spPr>
          <a:xfrm>
            <a:off x="7050000" y="1730000"/>
            <a:ext cx="24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제공하는 보장 / DP1이 의존하는 것</a:t>
            </a:r>
          </a:p>
        </p:txBody>
      </p:sp>
      <p:sp>
        <p:nvSpPr>
          <p:cNvPr id="143" name="h3"/>
          <p:cNvSpPr txBox="1"/>
          <p:nvPr/>
        </p:nvSpPr>
        <p:spPr>
          <a:xfrm>
            <a:off x="9650000" y="1730000"/>
            <a:ext cx="23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overhead·비용의 소유</a:t>
            </a:r>
          </a:p>
        </p:txBody>
      </p:sp>
      <p:sp>
        <p:nvSpPr>
          <p:cNvPr id="144" name="DP1"/>
          <p:cNvSpPr/>
          <p:nvPr/>
        </p:nvSpPr>
        <p:spPr>
          <a:xfrm>
            <a:off x="1150000" y="2060000"/>
            <a:ext cx="2300000" cy="10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80" b="1" dirty="0">
                <a:solidFill>
                  <a:srgbClr val="1A1A1A"/>
                </a:solidFill>
              </a:rPr>
              <a:t>DP1 (Decision Plane)</a:t>
            </a:r>
          </a:p>
          <a:p>
            <a:pPr algn="ct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결정: 무엇을, 어느 tier로</a:t>
            </a:r>
          </a:p>
        </p:txBody>
      </p:sp>
      <p:sp>
        <p:nvSpPr>
          <p:cNvPr id="145" name="t0"/>
          <p:cNvSpPr txBox="1"/>
          <p:nvPr/>
        </p:nvSpPr>
        <p:spPr>
          <a:xfrm>
            <a:off x="3750000" y="2060000"/>
            <a:ext cx="31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이동 대상과 목적지 tier 결정 (정책 C1/C2)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MigrationIntent 발행 (object · src→dst · action · priority)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위치는 Registry에서 읽기만 한다 (변경은 commit 결과로만)</a:t>
            </a:r>
          </a:p>
        </p:txBody>
      </p:sp>
      <p:sp>
        <p:nvSpPr>
          <p:cNvPr id="146" name="g0"/>
          <p:cNvSpPr txBox="1"/>
          <p:nvPr/>
        </p:nvSpPr>
        <p:spPr>
          <a:xfrm>
            <a:off x="7050000" y="2060000"/>
            <a:ext cx="24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90" b="1" dirty="0">
                <a:solidFill>
                  <a:srgbClr val="1A1A1A"/>
                </a:solidFill>
              </a:rPr>
              <a:t>제공: MigrationIntent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의존 G1: mapping·commit이 신뢰할 수 있게 동작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의존 G2: 완료 통지 = target 가시화</a:t>
            </a:r>
          </a:p>
        </p:txBody>
      </p:sp>
      <p:sp>
        <p:nvSpPr>
          <p:cNvPr id="147" name="c0"/>
          <p:cNvSpPr txBox="1"/>
          <p:nvPr/>
        </p:nvSpPr>
        <p:spPr>
          <a:xfrm>
            <a:off x="9650000" y="2060000"/>
            <a:ext cx="23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90" b="1" dirty="0">
                <a:solidFill>
                  <a:srgbClr val="FF0000"/>
                </a:solidFill>
              </a:rPr>
              <a:t>DP1이 책임지는 비용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이동량(bytes), 링크 점유 시간, 서빙 간섭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decision overhead (Selector·Executor 경계까지)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→ 평가에 반영 (링크 간섭 모델)</a:t>
            </a:r>
          </a:p>
        </p:txBody>
      </p:sp>
      <p:sp>
        <p:nvSpPr>
          <p:cNvPr id="148" name="MIG"/>
          <p:cNvSpPr/>
          <p:nvPr/>
        </p:nvSpPr>
        <p:spPr>
          <a:xfrm>
            <a:off x="1150000" y="3340000"/>
            <a:ext cx="2300000" cy="10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80" b="1" dirty="0">
                <a:solidFill>
                  <a:srgbClr val="1A1A1A"/>
                </a:solidFill>
              </a:rPr>
              <a:t>공통 Migration subsystem</a:t>
            </a:r>
          </a:p>
          <a:p>
            <a:pPr algn="ct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EngineCore (제어) + Worker (실행), 신규·공통</a:t>
            </a:r>
          </a:p>
        </p:txBody>
      </p:sp>
      <p:sp>
        <p:nvSpPr>
          <p:cNvPr id="149" name="t1"/>
          <p:cNvSpPr txBox="1"/>
          <p:nvPr/>
        </p:nvSpPr>
        <p:spPr>
          <a:xfrm>
            <a:off x="3750000" y="3340000"/>
            <a:ext cx="31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logical block id → 물리 위치 관리 (DataLocationStore)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계획 · 스케줄 · copy 지시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version 검증 후 atomic commit, 실패 시 source 유지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SchedulerOutput으로 새 위치를 엔진에 통지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이동 중 접근 hazard 방지 (epoch · pin · grace)</a:t>
            </a:r>
          </a:p>
        </p:txBody>
      </p:sp>
      <p:sp>
        <p:nvSpPr>
          <p:cNvPr id="150" name="g1"/>
          <p:cNvSpPr txBox="1"/>
          <p:nvPr/>
        </p:nvSpPr>
        <p:spPr>
          <a:xfrm>
            <a:off x="7050000" y="3340000"/>
            <a:ext cx="24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90" b="1" dirty="0">
                <a:solidFill>
                  <a:srgbClr val="1A1A1A"/>
                </a:solidFill>
              </a:rPr>
              <a:t>제공 G1 (신뢰성)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copy-then-commit, atomic commit, rollback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완료 유실 시 reconciliation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시험으로 확인할 책임도 이 층</a:t>
            </a:r>
          </a:p>
        </p:txBody>
      </p:sp>
      <p:sp>
        <p:nvSpPr>
          <p:cNvPr id="151" name="c1"/>
          <p:cNvSpPr txBox="1"/>
          <p:nvPr/>
        </p:nvSpPr>
        <p:spPr>
          <a:xfrm>
            <a:off x="9650000" y="3340000"/>
            <a:ext cx="23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90" b="1" dirty="0">
                <a:solidFill>
                  <a:srgbClr val="C76E31"/>
                </a:solidFill>
              </a:rPr>
              <a:t>범위 밖 O1 (DP1 아님)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commit 지연, 상태기계 overhead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epoch grace로 늘어나는 slot 점유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완료 통지 지연</a:t>
            </a:r>
          </a:p>
        </p:txBody>
      </p:sp>
      <p:sp>
        <p:nvSpPr>
          <p:cNvPr id="152" name="DRV"/>
          <p:cNvSpPr/>
          <p:nvPr/>
        </p:nvSpPr>
        <p:spPr>
          <a:xfrm>
            <a:off x="1150000" y="4620000"/>
            <a:ext cx="2300000" cy="10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80" b="1" dirty="0">
                <a:solidFill>
                  <a:srgbClr val="1A1A1A"/>
                </a:solidFill>
              </a:rPr>
              <a:t>Device driver / runtime</a:t>
            </a:r>
          </a:p>
          <a:p>
            <a:pPr algn="ct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CUDA · NVMe · CXL · 벤더 API, 하드웨어</a:t>
            </a:r>
          </a:p>
        </p:txBody>
      </p:sp>
      <p:sp>
        <p:nvSpPr>
          <p:cNvPr id="153" name="t2"/>
          <p:cNvSpPr txBox="1"/>
          <p:nvPr/>
        </p:nvSpPr>
        <p:spPr>
          <a:xfrm>
            <a:off x="3750000" y="4620000"/>
            <a:ext cx="31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실제 복사 (DMA, copy engine)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HW 주소 변환 유지 (page table, IOMMU, HDM decoder)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remap 시 TLB/ATC 무효화 (기본 경로에서는 불필요)</a:t>
            </a:r>
          </a:p>
          <a:p>
            <a:pPr algn="l"/>
            <a:r>
              <a:rPr lang="ko-KR" altLang="en-US" sz="700" dirty="0">
                <a:solidFill>
                  <a:srgbClr val="1A1A1A"/>
                </a:solidFill>
              </a:rPr>
              <a:t>완료와 오류 보고</a:t>
            </a:r>
          </a:p>
        </p:txBody>
      </p:sp>
      <p:sp>
        <p:nvSpPr>
          <p:cNvPr id="154" name="g2"/>
          <p:cNvSpPr txBox="1"/>
          <p:nvPr/>
        </p:nvSpPr>
        <p:spPr>
          <a:xfrm>
            <a:off x="7050000" y="4620000"/>
            <a:ext cx="24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90" b="1" dirty="0">
                <a:solidFill>
                  <a:srgbClr val="1A1A1A"/>
                </a:solidFill>
              </a:rPr>
              <a:t>제공 G2·G3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완료 = target 가시화, 오류 전파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전송 순서·coherency fence, 변환 일관성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장치별 확인 필요 [가정]</a:t>
            </a:r>
          </a:p>
        </p:txBody>
      </p:sp>
      <p:sp>
        <p:nvSpPr>
          <p:cNvPr id="155" name="c2"/>
          <p:cNvSpPr txBox="1"/>
          <p:nvPr/>
        </p:nvSpPr>
        <p:spPr>
          <a:xfrm>
            <a:off x="9650000" y="4620000"/>
            <a:ext cx="2300000" cy="10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90" b="1" dirty="0">
                <a:solidFill>
                  <a:srgbClr val="C76E31"/>
                </a:solidFill>
              </a:rPr>
              <a:t>범위 밖 O2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TLB·page-table·driver 호출 비용</a:t>
            </a:r>
          </a:p>
          <a:p>
            <a:pPr algn="l"/>
            <a:r>
              <a:rPr lang="ko-KR" altLang="en-US" sz="690" dirty="0">
                <a:solidFill>
                  <a:srgbClr val="1A1A1A"/>
                </a:solidFill>
              </a:rPr>
              <a:t>전송 시간 추정은 descriptor로 노출해 DP1의 비용 판단 입력으로 쓴다</a:t>
            </a:r>
          </a:p>
        </p:txBody>
      </p:sp>
      <p:cxnSp>
        <p:nvCxnSpPr>
          <p:cNvPr id="156" name="dn-DP1"/>
          <p:cNvCxnSpPr/>
          <p:nvPr/>
        </p:nvCxnSpPr>
        <p:spPr>
          <a:xfrm>
            <a:off x="1650000" y="3060000"/>
            <a:ext cx="0" cy="28000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7" name="up-DP1"/>
          <p:cNvCxnSpPr/>
          <p:nvPr/>
        </p:nvCxnSpPr>
        <p:spPr>
          <a:xfrm flipV="1">
            <a:off x="2650000" y="3060000"/>
            <a:ext cx="0" cy="280000"/>
          </a:xfrm>
          <a:prstGeom prst="line">
            <a:avLst/>
          </a:prstGeom>
          <a:ln w="1270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sp>
        <p:nvSpPr>
          <p:cNvPr id="158" name="dl-DP1"/>
          <p:cNvSpPr txBox="1"/>
          <p:nvPr/>
        </p:nvSpPr>
        <p:spPr>
          <a:xfrm>
            <a:off x="1690000" y="3120000"/>
            <a:ext cx="9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00" b="1" dirty="0">
                <a:solidFill>
                  <a:srgbClr val="FF0000"/>
                </a:solidFill>
              </a:rPr>
              <a:t>MigrationIntent</a:t>
            </a:r>
          </a:p>
        </p:txBody>
      </p:sp>
      <p:sp>
        <p:nvSpPr>
          <p:cNvPr id="159" name="ul-DP1"/>
          <p:cNvSpPr txBox="1"/>
          <p:nvPr/>
        </p:nvSpPr>
        <p:spPr>
          <a:xfrm>
            <a:off x="2690000" y="3120000"/>
            <a:ext cx="74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</a:rPr>
              <a:t>위치 (읽기)</a:t>
            </a:r>
          </a:p>
        </p:txBody>
      </p:sp>
      <p:cxnSp>
        <p:nvCxnSpPr>
          <p:cNvPr id="160" name="dn-MIG"/>
          <p:cNvCxnSpPr/>
          <p:nvPr/>
        </p:nvCxnSpPr>
        <p:spPr>
          <a:xfrm>
            <a:off x="1650000" y="4340000"/>
            <a:ext cx="0" cy="280000"/>
          </a:xfrm>
          <a:prstGeom prst="line">
            <a:avLst/>
          </a:prstGeom>
          <a:ln w="150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1" name="up-MIG"/>
          <p:cNvCxnSpPr/>
          <p:nvPr/>
        </p:nvCxnSpPr>
        <p:spPr>
          <a:xfrm flipV="1">
            <a:off x="2650000" y="4340000"/>
            <a:ext cx="0" cy="280000"/>
          </a:xfrm>
          <a:prstGeom prst="line">
            <a:avLst/>
          </a:prstGeom>
          <a:ln w="1270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sp>
        <p:nvSpPr>
          <p:cNvPr id="162" name="dl-MIG"/>
          <p:cNvSpPr txBox="1"/>
          <p:nvPr/>
        </p:nvSpPr>
        <p:spPr>
          <a:xfrm>
            <a:off x="1690000" y="4400000"/>
            <a:ext cx="9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00" b="1" dirty="0">
                <a:solidFill>
                  <a:srgbClr val="C76E31"/>
                </a:solidFill>
              </a:rPr>
              <a:t>Command</a:t>
            </a:r>
          </a:p>
        </p:txBody>
      </p:sp>
      <p:sp>
        <p:nvSpPr>
          <p:cNvPr id="163" name="ul-MIG"/>
          <p:cNvSpPr txBox="1"/>
          <p:nvPr/>
        </p:nvSpPr>
        <p:spPr>
          <a:xfrm>
            <a:off x="2690000" y="4400000"/>
            <a:ext cx="74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</a:rPr>
              <a:t>Completion</a:t>
            </a:r>
          </a:p>
        </p:txBody>
      </p:sp>
      <p:sp>
        <p:nvSpPr>
          <p:cNvPr id="164" name="caveat"/>
          <p:cNvSpPr txBox="1"/>
          <p:nvPr/>
        </p:nvSpPr>
        <p:spPr>
          <a:xfrm>
            <a:off x="1150000" y="5730000"/>
            <a:ext cx="10800000" cy="330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20" b="1" dirty="0">
                <a:solidFill>
                  <a:srgbClr val="FF0000"/>
                </a:solidFill>
              </a:rPr>
              <a:t>주의: 이 선언은 하위 계층이 G1~G3을 만족한다는 가정이다. DP1의 평가 수치([B+C])는 이 overhead가 0이라는 조건부 값이다(C-E1, C-E2). </a:t>
            </a:r>
            <a:r>
              <a:rPr lang="ko-KR" altLang="en-US" sz="720" dirty="0">
                <a:solidFill>
                  <a:srgbClr val="1A1A1A"/>
                </a:solidFill>
              </a:rPr>
              <a:t>G1의 시험·보증은 Migration subsystem의 산출물이다.</a:t>
            </a:r>
          </a:p>
        </p:txBody>
      </p:sp>
      <p:sp>
        <p:nvSpPr>
          <p:cNvPr id="165" name="takeaway"/>
          <p:cNvSpPr/>
          <p:nvPr/>
        </p:nvSpPr>
        <p:spPr>
          <a:xfrm>
            <a:off x="234949" y="6195000"/>
            <a:ext cx="11747501" cy="30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ko-KR" altLang="en-US" sz="1000" b="1" dirty="0">
                <a:solidFill>
                  <a:schemeClr val="bg1"/>
                </a:solidFill>
              </a:rPr>
              <a:t>한 줄 요약: </a:t>
            </a:r>
            <a:r>
              <a:rPr lang="ko-KR" altLang="en-US" sz="900" b="1" dirty="0">
                <a:solidFill>
                  <a:schemeClr val="bg1"/>
                </a:solidFill>
              </a:rPr>
              <a:t>DP1은 결정 계층이다. mapping·commit의 신뢰성과 그 overhead는 하위 계층의 영역이며 계약(G1~G3)으로만 의존한다. 설계 단계, 미구현</a:t>
            </a:r>
          </a:p>
        </p:txBody>
      </p:sp>
    </p:spTree>
    <p:extLst>
      <p:ext uri="{BB962C8B-B14F-4D97-AF65-F5344CB8AC3E}">
        <p14:creationId xmlns:p14="http://schemas.microsoft.com/office/powerpoint/2010/main" val="112111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와이드스크린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Wingdings</vt:lpstr>
      <vt:lpstr>Office 테마</vt:lpstr>
      <vt:lpstr>DP1. 이기종 메모리 기반 Data Migration 결정 구조 -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설계</dc:title>
  <dc:creator>SAMSUNG</dc:creator>
  <cp:lastModifiedBy>SAMSUNG</cp:lastModifiedBy>
  <cp:revision>1</cp:revision>
  <dcterms:created xsi:type="dcterms:W3CDTF">2026-10-04T17:05:55Z</dcterms:created>
  <dcterms:modified xsi:type="dcterms:W3CDTF">2026-10-04T17:06:05Z</dcterms:modified>
</cp:coreProperties>
</file>
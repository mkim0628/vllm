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doc-mk/DP1 문서 8.6절, PPT Appendix 슬라이드 11·14·18. 수치는 시뮬레이션 결과이며 T2~T4는 미구현.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DP1. 이기종 메모리 기반 Data Migration 구조 – Data-Memory Affinity Mapper 역할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압박만 보는 C1에 “이 data/operation은 어느 tier에 있어야 하는가”라는 static hint를 더해, victim 선별·목적지·승격 판단을 보완</a:t>
            </a:r>
            <a:endParaRPr lang="en-US" sz="1400" dirty="0"/>
          </a:p>
        </p:txBody>
      </p:sp>
      <p:sp>
        <p:nvSpPr>
          <p:cNvPr id="4" name="before"/>
          <p:cNvSpPr/>
          <p:nvPr/>
        </p:nvSpPr>
        <p:spPr>
          <a:xfrm>
            <a:off x="457200" y="1371600"/>
            <a:ext cx="3566160" cy="1600200"/>
          </a:xfrm>
          <a:prstGeom prst="rect">
            <a:avLst/>
          </a:prstGeom>
          <a:solidFill>
            <a:srgbClr val="F0F1F3"/>
          </a:solidFill>
          <a:ln w="12700">
            <a:solidFill>
              <a:srgbClr val="F0F1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Mapper 없는 C1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압박 → Registry(위치·크기·tier) → LRU / age / size → victim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KV·LoRA·Expert를 구분하지 못하고, 어떤 object가 HBM에 있어야 하는지 모름</a:t>
            </a:r>
            <a:endParaRPr lang="en-US" sz="1200" dirty="0"/>
          </a:p>
        </p:txBody>
      </p:sp>
      <p:sp>
        <p:nvSpPr>
          <p:cNvPr id="7" name="after"/>
          <p:cNvSpPr/>
          <p:nvPr/>
        </p:nvSpPr>
        <p:spPr>
          <a:xfrm>
            <a:off x="457200" y="3108960"/>
            <a:ext cx="3566160" cy="21488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Mapper가 더하는 것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class·operation 수준 static hint (design-time, 학습 없음)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BW 민감도, preferred·disallowed tier, 이동 비용 class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ranking hint → Data Selector, tier hint → Destination Selector</a:t>
            </a:r>
            <a:endParaRPr lang="en-US" sz="1200" dirty="0"/>
          </a:p>
        </p:txBody>
      </p:sp>
      <p:sp>
        <p:nvSpPr>
          <p:cNvPr id="10" name="card1"/>
          <p:cNvSpPr/>
          <p:nvPr/>
        </p:nvSpPr>
        <p:spPr>
          <a:xfrm>
            <a:off x="4297680" y="137160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11" name="num1"/>
          <p:cNvSpPr/>
          <p:nvPr/>
        </p:nvSpPr>
        <p:spPr>
          <a:xfrm>
            <a:off x="4434840" y="1508760"/>
            <a:ext cx="347472" cy="347472"/>
          </a:xfrm>
          <a:prstGeom prst="ellipse">
            <a:avLst/>
          </a:prstGeom>
          <a:solidFill>
            <a:srgbClr val="C76E31"/>
          </a:solidFill>
          <a:ln w="12700">
            <a:solidFill>
              <a:srgbClr val="C76E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508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Victim 선별 보정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1965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압박 시 후보 KV B1(attention 활성)·Agent Memory M7·LoRA A2. LRU는 셋을 구분 못함.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6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Agent Memory(capacity-rich 허용)를 먼저 demote, 활성 KV는 후순위.</a:t>
            </a:r>
            <a:endParaRPr lang="en-US" sz="1200" dirty="0"/>
          </a:p>
        </p:txBody>
      </p:sp>
      <p:sp>
        <p:nvSpPr>
          <p:cNvPr id="15" name="card2"/>
          <p:cNvSpPr/>
          <p:nvPr/>
        </p:nvSpPr>
        <p:spPr>
          <a:xfrm>
            <a:off x="8138160" y="137160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16" name="num2"/>
          <p:cNvSpPr/>
          <p:nvPr/>
        </p:nvSpPr>
        <p:spPr>
          <a:xfrm>
            <a:off x="8275320" y="1508760"/>
            <a:ext cx="347472" cy="347472"/>
          </a:xfrm>
          <a:prstGeom prst="ellipse">
            <a:avLst/>
          </a:prstGeom>
          <a:solidFill>
            <a:srgbClr val="C76E31"/>
          </a:solidFill>
          <a:ln w="12700">
            <a:solidFill>
              <a:srgbClr val="C76E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1508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목적지 tier 힌트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965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MoE Expert는 read-mostly·선택적 접근, Agent Memory는 long-lived·대용량.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6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Expert → BW-rich HBF(읽기 1,000 GB/s), Memory → CXL/SSD, 활성 KV의 SSD는 배제.</a:t>
            </a:r>
            <a:endParaRPr lang="en-US" sz="1200" dirty="0"/>
          </a:p>
        </p:txBody>
      </p:sp>
      <p:sp>
        <p:nvSpPr>
          <p:cNvPr id="20" name="card3"/>
          <p:cNvSpPr/>
          <p:nvPr/>
        </p:nvSpPr>
        <p:spPr>
          <a:xfrm>
            <a:off x="4297680" y="347472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21" name="num3"/>
          <p:cNvSpPr/>
          <p:nvPr/>
        </p:nvSpPr>
        <p:spPr>
          <a:xfrm>
            <a:off x="4434840" y="3611880"/>
            <a:ext cx="347472" cy="347472"/>
          </a:xfrm>
          <a:prstGeom prst="ellipse">
            <a:avLst/>
          </a:prstGeom>
          <a:solidFill>
            <a:srgbClr val="C76E31"/>
          </a:solidFill>
          <a:ln w="12700">
            <a:solidFill>
              <a:srgbClr val="C76E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484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11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 aware 배치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4069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attention(QK_GEMM·SOFTMAX·AV_GEMM·CAUSAL_MASK)과 벡터 DB 유사도(GEMV)는 지원 tier가 다름.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6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attention → ScHBM·CXL-PNM 오프로드, GEMV → SSD-PIM을 선호 후보에 포함.</a:t>
            </a:r>
            <a:endParaRPr lang="en-US" sz="1200" dirty="0"/>
          </a:p>
        </p:txBody>
      </p:sp>
      <p:sp>
        <p:nvSpPr>
          <p:cNvPr id="25" name="card4"/>
          <p:cNvSpPr/>
          <p:nvPr/>
        </p:nvSpPr>
        <p:spPr>
          <a:xfrm>
            <a:off x="8138160" y="347472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26" name="num4"/>
          <p:cNvSpPr/>
          <p:nvPr/>
        </p:nvSpPr>
        <p:spPr>
          <a:xfrm>
            <a:off x="8275320" y="3611880"/>
            <a:ext cx="347472" cy="347472"/>
          </a:xfrm>
          <a:prstGeom prst="ellipse">
            <a:avLst/>
          </a:prstGeom>
          <a:solidFill>
            <a:srgbClr val="C76E31"/>
          </a:solidFill>
          <a:ln w="12700">
            <a:solidFill>
              <a:srgbClr val="C76E3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3611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승격 (T1)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069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“HBM에 있어야 SLO 만족”인 객체가 하위 tier에 있음. 자원 압박만으론 promotion trigger가 약함.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6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접근 비용 추정으로 승격, 자리가 없으면 정적 페널티가 작은 HBM 객체와 교환.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4864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제거 변형 대비 goodput (tok/s, H100+B200)</a:t>
            </a:r>
            <a:endParaRPr lang="en-US" sz="1100" dirty="0"/>
          </a:p>
        </p:txBody>
      </p:sp>
      <p:sp>
        <p:nvSpPr>
          <p:cNvPr id="31" name="stat0"/>
          <p:cNvSpPr/>
          <p:nvPr/>
        </p:nvSpPr>
        <p:spPr>
          <a:xfrm>
            <a:off x="457200" y="5760720"/>
            <a:ext cx="1389888" cy="777240"/>
          </a:xfrm>
          <a:prstGeom prst="rect">
            <a:avLst/>
          </a:prstGeom>
          <a:solidFill>
            <a:srgbClr val="F0F1F3"/>
          </a:solidFill>
          <a:ln w="12700">
            <a:solidFill>
              <a:srgbClr val="F0F1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57881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88C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336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2362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4" name="stat1"/>
          <p:cNvSpPr/>
          <p:nvPr/>
        </p:nvSpPr>
        <p:spPr>
          <a:xfrm>
            <a:off x="1938528" y="5760720"/>
            <a:ext cx="1389888" cy="777240"/>
          </a:xfrm>
          <a:prstGeom prst="rect">
            <a:avLst/>
          </a:prstGeom>
          <a:solidFill>
            <a:srgbClr val="F0F1F3"/>
          </a:solidFill>
          <a:ln w="12700">
            <a:solidFill>
              <a:srgbClr val="F0F1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938528" y="57881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88C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354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1938528" y="62362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affinity 제거 x1.05</a:t>
            </a:r>
            <a:endParaRPr lang="en-US" sz="1000" dirty="0"/>
          </a:p>
        </p:txBody>
      </p:sp>
      <p:sp>
        <p:nvSpPr>
          <p:cNvPr id="37" name="stat2"/>
          <p:cNvSpPr/>
          <p:nvPr/>
        </p:nvSpPr>
        <p:spPr>
          <a:xfrm>
            <a:off x="3419856" y="5760720"/>
            <a:ext cx="1389888" cy="777240"/>
          </a:xfrm>
          <a:prstGeom prst="rect">
            <a:avLst/>
          </a:prstGeom>
          <a:solidFill>
            <a:srgbClr val="F0F1F3"/>
          </a:solidFill>
          <a:ln w="12700">
            <a:solidFill>
              <a:srgbClr val="F0F1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19856" y="57881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436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3419856" y="62362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 x1.30</a:t>
            </a:r>
            <a:endParaRPr lang="en-US" sz="1000" dirty="0"/>
          </a:p>
        </p:txBody>
      </p:sp>
      <p:sp>
        <p:nvSpPr>
          <p:cNvPr id="40" name="stat3"/>
          <p:cNvSpPr/>
          <p:nvPr/>
        </p:nvSpPr>
        <p:spPr>
          <a:xfrm>
            <a:off x="4901184" y="5760720"/>
            <a:ext cx="1389888" cy="777240"/>
          </a:xfrm>
          <a:prstGeom prst="rect">
            <a:avLst/>
          </a:prstGeom>
          <a:solidFill>
            <a:srgbClr val="F0F1F3"/>
          </a:solidFill>
          <a:ln w="12700">
            <a:solidFill>
              <a:srgbClr val="F0F1F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01184" y="57881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6E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478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4901184" y="62362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 x1.42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0" y="5760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효과의 출처는 정적 승격 pass (점수만 제거 x1.299, 승격 제거 x1.053). TTFT P99도 x1.27(악화) → x1.04.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C2와의 격차를 약 66% 줄였을 뿐 C2를 넘지 못하며, 같은 class 내 hot/cold는 구분하지 못함.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2026-10-04T12:07:18Z</dcterms:created>
  <dcterms:modified xsi:type="dcterms:W3CDTF">2026-10-04T12:07:18Z</dcterms:modified>
</cp:coreProperties>
</file>
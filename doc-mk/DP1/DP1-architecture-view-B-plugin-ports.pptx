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FBFF1-8289-4F44-A49E-DC50E313B338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57919-C994-45F7-8611-41E7C0BDE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9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7118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42BC9-7E09-4BD5-8590-2A2A9DF40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9C80FB-A36F-49E6-9605-B5FFB39FA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60FE08-251B-40D7-BE64-87453A7E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86FF0-09AF-4B47-AC47-D3EC2C62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32FB4F-2FD5-47E9-BD57-FFE05427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91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3F627-5421-4E7B-B8ED-2F404FA1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2D0D73-727B-4CB3-B147-65C9C2EE3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C2E7A-9A28-4F6F-8C19-FEB24B72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496F0F-4F8E-43D1-A0EF-6A8996E9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F68DF9-5F26-4B5B-AF50-65F5FD05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19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D1364-E1E3-4FC4-BD62-2115E383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EED35B-37DF-45AA-A474-95CA1D3B3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6ED7A0-C25E-4661-A475-391DC975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8800B1-993A-4EE0-A59F-D8171A6D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EDA40C-3B02-4618-A6C0-F48224DC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6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CCCDE-6B1A-4CEC-8E12-CFC95DB8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71A019-5A30-4594-845B-B912F3A28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B4070F-4DF9-494C-AD57-9CD6779C7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5D3662-FCD6-4654-A5D7-45B6F7FB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2E0F62-AD2B-49D6-B9CB-55043936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75BB4D-FAA3-441C-97B3-67651184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99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045CF-3D65-49FD-8279-3EDA0236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1DBE29-9044-4745-BB1D-AC9C5E618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EFE001-D3E1-43C1-A4E7-4BF3B1A1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9BB520-E279-44AC-A0EA-4BACB2686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3399E3-0AF9-4376-B5C7-7C1F5E6BD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F811CF-2278-4B35-96EA-27FE2039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BFEF65-7768-4B3E-BB36-44482533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B4A810-1F28-44B6-8A16-B261CA40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1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01A1B-8E5D-469C-B5B4-F01B40F5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BB08E1-4512-4011-8157-311DA498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8B9C36-7D90-4100-8F0D-BD6A0C57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AAA1E8-FC0D-45E4-AF16-0C9E69B9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51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EB59AE-66EB-4CB0-9B8D-B6B17AC7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4D584A-8A94-48A9-AB5E-DE899C1F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DDC2F0-FA1D-4AAA-9A9E-D7904C04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807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7DB9A-F3D2-45A2-A42D-61237CF7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5DE4E0-7BA2-4E30-9862-9192A5471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8065EA-F008-44DB-8CD9-0FA54F78E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264DD5-4A14-4C97-A622-B3CF47CE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F6B352-C176-49D3-BB22-1FBE9FB5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0A504C-AAC4-41CC-AD28-F5211017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17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E0C8B-526D-47AC-A13F-4581F54E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12C66A-791E-44FB-8A8E-2F0096229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E88AE1-794E-484F-9636-0CFA341CF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7A0B55-319C-47AE-A21C-84507BBF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F8F557-5BEB-40D2-8959-A23C24C9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B63448-54DE-48BF-808A-BA29E7D0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17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9C628C-596A-4CBC-B0A9-C914BA643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92A03-629A-414B-BD84-E2E8A57A8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40EB48-9271-42F6-A1D4-A63891F1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5CB5BC-FE7B-4E24-81BD-AE646FC4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2A917-58F8-471F-9CD3-71887853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63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FA35B5-AE6C-42D5-88E3-3307F7411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62D99E-42C3-41C8-9338-8DBAD8B73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FA221C-1A14-439A-9FFF-B5FA911F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D55CE2-02E6-4873-8F08-8F0C073F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3D749-0194-40DD-9B2E-7545CBDF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40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8582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019444-7A30-4022-9E8B-29EA06E2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F6F523-F76C-4490-934D-B6D6AD10A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E83DAF-8FF7-4AE6-8AD5-DE6C20112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6EEC50-0F3F-402A-8391-407B7DAB1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5DD1AD-A7EB-4338-8AD2-1A71895C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5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/>
              <a:t>아키텍처 </a:t>
            </a:r>
            <a:r>
              <a:rPr lang="en-US" altLang="ko-KR" dirty="0"/>
              <a:t>(Plug-in / Port &amp; Adapter)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고정 Core</a:t>
            </a:r>
            <a:r>
              <a:rPr lang="en-US" altLang="ko-KR" sz="1400" b="1" dirty="0">
                <a:solidFill>
                  <a:schemeClr val="bg1"/>
                </a:solidFill>
              </a:rPr>
              <a:t> · </a:t>
            </a:r>
            <a:r>
              <a:rPr lang="ko-KR" altLang="en-US" sz="1400" b="1" dirty="0">
                <a:solidFill>
                  <a:schemeClr val="bg1"/>
                </a:solidFill>
              </a:rPr>
              <a:t>교체 가능한 변이점</a:t>
            </a:r>
            <a:r>
              <a:rPr lang="en-US" altLang="ko-KR" sz="1400" b="1" dirty="0">
                <a:solidFill>
                  <a:schemeClr val="bg1"/>
                </a:solidFill>
              </a:rPr>
              <a:t> · </a:t>
            </a:r>
            <a:r>
              <a:rPr lang="ko-KR" altLang="en-US" sz="1400" b="1" dirty="0">
                <a:solidFill>
                  <a:schemeClr val="bg1"/>
                </a:solidFill>
              </a:rPr>
              <a:t>확장 비용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6521412" y="46469"/>
            <a:ext cx="14873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(When, What, </a:t>
            </a:r>
          </a:p>
          <a:p>
            <a:r>
              <a:rPr lang="en-US" altLang="ko-KR" sz="1200" b="1" dirty="0"/>
              <a:t>Where to locate?)</a:t>
            </a:r>
            <a:endParaRPr lang="ko-KR" altLang="en-US" sz="1200" dirty="0"/>
          </a:p>
        </p:txBody>
      </p:sp>
      <p:graphicFrame>
        <p:nvGraphicFramePr>
          <p:cNvPr id="138" name="표 구조"/>
          <p:cNvGraphicFramePr>
            <a:graphicFrameLocks noGrp="1"/>
          </p:cNvGraphicFramePr>
          <p:nvPr/>
        </p:nvGraphicFramePr>
        <p:xfrm>
          <a:off x="249035" y="1044054"/>
          <a:ext cx="11747501" cy="5072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/>
                <a:gridCol w="10872108"/>
              </a:tblGrid>
              <a:tr h="342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고정 Core + Policy 변이점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(C1/C2는 같은 Policy SPI의 두 구현, 새 메모리·데이터는 adapter 추가)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/>
                        <a:t/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9" name="headline"/>
          <p:cNvSpPr txBox="1"/>
          <p:nvPr/>
        </p:nvSpPr>
        <p:spPr>
          <a:xfrm>
            <a:off x="1111250" y="1397380"/>
            <a:ext cx="1070000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/>
            <a:r>
              <a:rPr lang="ko-KR" altLang="en-US" sz="1100" dirty="0"/>
              <a:t>“</a:t>
            </a:r>
            <a:r>
              <a:rPr lang="ko-KR" altLang="en-US" sz="1100" dirty="0">
                <a:solidFill>
                  <a:srgbClr val="0066FF"/>
                </a:solidFill>
              </a:rPr>
              <a:t>Core는 고정하고</a:t>
            </a:r>
            <a:r>
              <a:rPr lang="ko-KR" altLang="en-US" sz="1100" dirty="0"/>
              <a:t>, 정책·메모리·AI data는 </a:t>
            </a:r>
            <a:r>
              <a:rPr lang="ko-KR" altLang="en-US" sz="1100" dirty="0">
                <a:solidFill>
                  <a:srgbClr val="0066FF"/>
                </a:solidFill>
              </a:rPr>
              <a:t>port 뒤 plug-in으로 교체</a:t>
            </a:r>
            <a:r>
              <a:rPr lang="ko-KR" altLang="en-US" sz="1100" dirty="0"/>
              <a:t>“</a:t>
            </a:r>
          </a:p>
        </p:txBody>
      </p:sp>
      <p:sp>
        <p:nvSpPr>
          <p:cNvPr id="140" name="h-in"/>
          <p:cNvSpPr txBox="1"/>
          <p:nvPr/>
        </p:nvSpPr>
        <p:spPr>
          <a:xfrm>
            <a:off x="1150000" y="1730000"/>
            <a:ext cx="270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입력 Port  ←  Adapter (plug-in)</a:t>
            </a:r>
          </a:p>
        </p:txBody>
      </p:sp>
      <p:sp>
        <p:nvSpPr>
          <p:cNvPr id="141" name="h-core"/>
          <p:cNvSpPr txBox="1"/>
          <p:nvPr/>
        </p:nvSpPr>
        <p:spPr>
          <a:xfrm>
            <a:off x="4150000" y="1730000"/>
            <a:ext cx="430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DP1 Core (고정) + Policy 변이점</a:t>
            </a:r>
          </a:p>
        </p:txBody>
      </p:sp>
      <p:sp>
        <p:nvSpPr>
          <p:cNvPr id="142" name="h-out"/>
          <p:cNvSpPr txBox="1"/>
          <p:nvPr/>
        </p:nvSpPr>
        <p:spPr>
          <a:xfrm>
            <a:off x="8750000" y="1730000"/>
            <a:ext cx="320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출력 Port  →  공통 Migration subsystem</a:t>
            </a:r>
          </a:p>
        </p:txBody>
      </p:sp>
      <p:sp>
        <p:nvSpPr>
          <p:cNvPr id="143" name="P1"/>
          <p:cNvSpPr/>
          <p:nvPr/>
        </p:nvSpPr>
        <p:spPr>
          <a:xfrm>
            <a:off x="1150000" y="2050000"/>
            <a:ext cx="2700000" cy="2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60" b="1" dirty="0">
                <a:solidFill>
                  <a:srgbClr val="1A1A1A"/>
                </a:solidFill>
              </a:rPr>
              <a:t>Telemetry / Event port</a:t>
            </a:r>
          </a:p>
        </p:txBody>
      </p:sp>
      <p:sp>
        <p:nvSpPr>
          <p:cNvPr id="144" name="A1"/>
          <p:cNvSpPr/>
          <p:nvPr/>
        </p:nvSpPr>
        <p:spPr>
          <a:xfrm>
            <a:off x="1150000" y="2430000"/>
            <a:ext cx="2700000" cy="4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00" b="1" dirty="0">
                <a:solidFill>
                  <a:srgbClr val="1A1A1A"/>
                </a:solidFill>
              </a:rPr>
              <a:t>Resource Manager telemetry</a:t>
            </a:r>
          </a:p>
          <a:p>
            <a:pPr algn="ctr"/>
            <a:r>
              <a:rPr lang="ko-KR" altLang="en-US" sz="640" dirty="0">
                <a:solidFill>
                  <a:srgbClr val="1A1A1A"/>
                </a:solidFill>
              </a:rPr>
              <a:t>vLLM scheduler·block pool 통계, 이벤트</a:t>
            </a:r>
          </a:p>
        </p:txBody>
      </p:sp>
      <p:sp>
        <p:nvSpPr>
          <p:cNvPr id="145" name="P2"/>
          <p:cNvSpPr/>
          <p:nvPr/>
        </p:nvSpPr>
        <p:spPr>
          <a:xfrm>
            <a:off x="1150000" y="2870000"/>
            <a:ext cx="2700000" cy="2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60" b="1" dirty="0">
                <a:solidFill>
                  <a:srgbClr val="1A1A1A"/>
                </a:solidFill>
              </a:rPr>
              <a:t>Memory Descriptor port</a:t>
            </a:r>
          </a:p>
        </p:txBody>
      </p:sp>
      <p:sp>
        <p:nvSpPr>
          <p:cNvPr id="146" name="A2"/>
          <p:cNvSpPr/>
          <p:nvPr/>
        </p:nvSpPr>
        <p:spPr>
          <a:xfrm>
            <a:off x="1150000" y="3250000"/>
            <a:ext cx="2700000" cy="4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00" b="1" dirty="0">
                <a:solidFill>
                  <a:srgbClr val="1A1A1A"/>
                </a:solidFill>
              </a:rPr>
              <a:t>Memory Backend adapter x6</a:t>
            </a:r>
          </a:p>
          <a:p>
            <a:pPr algn="ctr"/>
            <a:r>
              <a:rPr lang="ko-KR" altLang="en-US" sz="620" dirty="0">
                <a:solidFill>
                  <a:srgbClr val="1A1A1A"/>
                </a:solidFill>
              </a:rPr>
              <a:t>HBM·ScHBM·CXL-PNM·DRAM·HBF·SSD-PIM (새 메모리 = adapter 1개)</a:t>
            </a:r>
          </a:p>
        </p:txBody>
      </p:sp>
      <p:sp>
        <p:nvSpPr>
          <p:cNvPr id="147" name="P3"/>
          <p:cNvSpPr/>
          <p:nvPr/>
        </p:nvSpPr>
        <p:spPr>
          <a:xfrm>
            <a:off x="1150000" y="3690000"/>
            <a:ext cx="2700000" cy="2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60" b="1" dirty="0">
                <a:solidFill>
                  <a:srgbClr val="1A1A1A"/>
                </a:solidFill>
              </a:rPr>
              <a:t>AI Data port</a:t>
            </a:r>
          </a:p>
        </p:txBody>
      </p:sp>
      <p:sp>
        <p:nvSpPr>
          <p:cNvPr id="148" name="A3"/>
          <p:cNvSpPr/>
          <p:nvPr/>
        </p:nvSpPr>
        <p:spPr>
          <a:xfrm>
            <a:off x="1150000" y="4070000"/>
            <a:ext cx="2700000" cy="4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00" b="1" dirty="0">
                <a:solidFill>
                  <a:srgbClr val="1A1A1A"/>
                </a:solidFill>
              </a:rPr>
              <a:t>AI Data adapter</a:t>
            </a:r>
          </a:p>
          <a:p>
            <a:pPr algn="ctr"/>
            <a:r>
              <a:rPr lang="ko-KR" altLang="en-US" sz="640" dirty="0">
                <a:solidFill>
                  <a:srgbClr val="1A1A1A"/>
                </a:solidFill>
              </a:rPr>
              <a:t>KV · LoRA · MoE · RAG · Agent memory</a:t>
            </a:r>
          </a:p>
        </p:txBody>
      </p:sp>
      <p:cxnSp>
        <p:nvCxnSpPr>
          <p:cNvPr id="149" name="v-P1"/>
          <p:cNvCxnSpPr/>
          <p:nvPr/>
        </p:nvCxnSpPr>
        <p:spPr>
          <a:xfrm flipV="1">
            <a:off x="2500000" y="2310000"/>
            <a:ext cx="0" cy="120000"/>
          </a:xfrm>
          <a:prstGeom prst="line">
            <a:avLst/>
          </a:prstGeom>
          <a:ln w="9525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50" name="v-P2"/>
          <p:cNvCxnSpPr/>
          <p:nvPr/>
        </p:nvCxnSpPr>
        <p:spPr>
          <a:xfrm flipV="1">
            <a:off x="2500000" y="3130000"/>
            <a:ext cx="0" cy="120000"/>
          </a:xfrm>
          <a:prstGeom prst="line">
            <a:avLst/>
          </a:prstGeom>
          <a:ln w="9525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51" name="v-P3"/>
          <p:cNvCxnSpPr/>
          <p:nvPr/>
        </p:nvCxnSpPr>
        <p:spPr>
          <a:xfrm flipV="1">
            <a:off x="2500000" y="3950000"/>
            <a:ext cx="0" cy="120000"/>
          </a:xfrm>
          <a:prstGeom prst="line">
            <a:avLst/>
          </a:prstGeom>
          <a:ln w="9525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sp>
        <p:nvSpPr>
          <p:cNvPr id="152" name="K1"/>
          <p:cNvSpPr/>
          <p:nvPr/>
        </p:nvSpPr>
        <p:spPr>
          <a:xfrm>
            <a:off x="4150000" y="2050000"/>
            <a:ext cx="4300000" cy="2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80" b="1" dirty="0">
                <a:solidFill>
                  <a:srgbClr val="1A1A1A"/>
                </a:solidFill>
              </a:rPr>
              <a:t>Event · Migration Scheduler  (고정)</a:t>
            </a:r>
          </a:p>
        </p:txBody>
      </p:sp>
      <p:sp>
        <p:nvSpPr>
          <p:cNvPr id="153" name="K2"/>
          <p:cNvSpPr/>
          <p:nvPr/>
        </p:nvSpPr>
        <p:spPr>
          <a:xfrm>
            <a:off x="4150000" y="2500000"/>
            <a:ext cx="4300000" cy="3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Policy SPI  (변이점)</a:t>
            </a:r>
            <a:r>
              <a:rPr lang="ko-KR" altLang="en-US" sz="680" dirty="0">
                <a:solidFill>
                  <a:srgbClr val="1A1A1A"/>
                </a:solidFill>
              </a:rPr>
              <a:t>   assess() · decide()  →  MigrationIntent</a:t>
            </a:r>
          </a:p>
        </p:txBody>
      </p:sp>
      <p:sp>
        <p:nvSpPr>
          <p:cNvPr id="154" name="I1"/>
          <p:cNvSpPr/>
          <p:nvPr/>
        </p:nvSpPr>
        <p:spPr>
          <a:xfrm>
            <a:off x="4150000" y="2950000"/>
            <a:ext cx="2100000" cy="75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80" b="1" dirty="0">
                <a:solidFill>
                  <a:srgbClr val="1A1A1A"/>
                </a:solidFill>
              </a:rPr>
              <a:t>C1  Resource State-driven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압력·추세 감지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Eviction · Destination Selector</a:t>
            </a:r>
          </a:p>
          <a:p>
            <a:pPr algn="ctr"/>
            <a:r>
              <a:rPr lang="ko-KR" altLang="en-US" sz="650" dirty="0">
                <a:solidFill>
                  <a:srgbClr val="FF0000"/>
                </a:solidFill>
              </a:rPr>
              <a:t>Data-Memory Affinity (static hint)</a:t>
            </a:r>
          </a:p>
        </p:txBody>
      </p:sp>
      <p:sp>
        <p:nvSpPr>
          <p:cNvPr id="155" name="I2"/>
          <p:cNvSpPr/>
          <p:nvPr/>
        </p:nvSpPr>
        <p:spPr>
          <a:xfrm>
            <a:off x="6350000" y="2950000"/>
            <a:ext cx="2100000" cy="75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80" b="1" dirty="0">
                <a:solidFill>
                  <a:srgbClr val="1A1A1A"/>
                </a:solidFill>
              </a:rPr>
              <a:t>C2  Behavior-driven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data별 행동 관찰 · 예측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benefit-vs-cost gating</a:t>
            </a:r>
          </a:p>
          <a:p>
            <a:pPr algn="ctr"/>
            <a:r>
              <a:rPr lang="ko-KR" altLang="en-US" sz="650" dirty="0">
                <a:solidFill>
                  <a:srgbClr val="FF0000"/>
                </a:solidFill>
              </a:rPr>
              <a:t>type-aware registry</a:t>
            </a:r>
          </a:p>
        </p:txBody>
      </p:sp>
      <p:sp>
        <p:nvSpPr>
          <p:cNvPr id="156" name="K3"/>
          <p:cNvSpPr/>
          <p:nvPr/>
        </p:nvSpPr>
        <p:spPr>
          <a:xfrm>
            <a:off x="4150000" y="3850000"/>
            <a:ext cx="4300000" cy="4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60" b="1" dirty="0">
                <a:solidFill>
                  <a:srgbClr val="1A1A1A"/>
                </a:solidFill>
              </a:rPr>
              <a:t>Registry port · Selector → Executor boundary  (고정)</a:t>
            </a:r>
          </a:p>
          <a:p>
            <a:pPr algn="ctr"/>
            <a:r>
              <a:rPr lang="ko-KR" altLang="en-US" sz="620" dirty="0">
                <a:solidFill>
                  <a:schemeClr val="bg1">
                    <a:lumMod val="50000"/>
                  </a:schemeClr>
                </a:solidFill>
              </a:rPr>
              <a:t>Data Object Registry schema는 고정, 정보 모델은 C1 type-agnostic / C2 type-aware</a:t>
            </a:r>
          </a:p>
        </p:txBody>
      </p:sp>
      <p:cxnSp>
        <p:nvCxnSpPr>
          <p:cNvPr id="157" name="p1-k1"/>
          <p:cNvCxnSpPr/>
          <p:nvPr/>
        </p:nvCxnSpPr>
        <p:spPr>
          <a:xfrm>
            <a:off x="3850000" y="2180000"/>
            <a:ext cx="300000" cy="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58" name="k1-k2"/>
          <p:cNvCxnSpPr/>
          <p:nvPr/>
        </p:nvCxnSpPr>
        <p:spPr>
          <a:xfrm>
            <a:off x="6300000" y="2330000"/>
            <a:ext cx="0" cy="17000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59" name="k2-i1"/>
          <p:cNvCxnSpPr/>
          <p:nvPr/>
        </p:nvCxnSpPr>
        <p:spPr>
          <a:xfrm>
            <a:off x="5200000" y="2800000"/>
            <a:ext cx="0" cy="150000"/>
          </a:xfrm>
          <a:prstGeom prst="line">
            <a:avLst/>
          </a:prstGeom>
          <a:ln w="127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0" name="k2-i2"/>
          <p:cNvCxnSpPr/>
          <p:nvPr/>
        </p:nvCxnSpPr>
        <p:spPr>
          <a:xfrm>
            <a:off x="7400000" y="2800000"/>
            <a:ext cx="0" cy="150000"/>
          </a:xfrm>
          <a:prstGeom prst="line">
            <a:avLst/>
          </a:prstGeom>
          <a:ln w="127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1" name="i1-k3"/>
          <p:cNvCxnSpPr/>
          <p:nvPr/>
        </p:nvCxnSpPr>
        <p:spPr>
          <a:xfrm>
            <a:off x="5200000" y="3700000"/>
            <a:ext cx="0" cy="150000"/>
          </a:xfrm>
          <a:prstGeom prst="line">
            <a:avLst/>
          </a:prstGeom>
          <a:ln w="127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2" name="i2-k3"/>
          <p:cNvCxnSpPr/>
          <p:nvPr/>
        </p:nvCxnSpPr>
        <p:spPr>
          <a:xfrm>
            <a:off x="7400000" y="3700000"/>
            <a:ext cx="0" cy="150000"/>
          </a:xfrm>
          <a:prstGeom prst="line">
            <a:avLst/>
          </a:prstGeom>
          <a:ln w="127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3" name="p2-i1"/>
          <p:cNvCxnSpPr/>
          <p:nvPr/>
        </p:nvCxnSpPr>
        <p:spPr>
          <a:xfrm>
            <a:off x="3850000" y="3000000"/>
            <a:ext cx="300000" cy="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4" name="p3-k3"/>
          <p:cNvCxnSpPr/>
          <p:nvPr/>
        </p:nvCxnSpPr>
        <p:spPr>
          <a:xfrm>
            <a:off x="3850000" y="3890000"/>
            <a:ext cx="300000" cy="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sp>
        <p:nvSpPr>
          <p:cNvPr id="165" name="O1"/>
          <p:cNvSpPr/>
          <p:nvPr/>
        </p:nvSpPr>
        <p:spPr>
          <a:xfrm>
            <a:off x="8750000" y="3850000"/>
            <a:ext cx="3200000" cy="4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80" b="1" dirty="0">
                <a:solidFill>
                  <a:srgbClr val="1A1A1A"/>
                </a:solidFill>
              </a:rPr>
              <a:t>Migration port</a:t>
            </a:r>
          </a:p>
          <a:p>
            <a:pPr algn="ctr"/>
            <a:r>
              <a:rPr lang="ko-KR" altLang="en-US" sz="640" dirty="0">
                <a:solidFill>
                  <a:srgbClr val="1A1A1A"/>
                </a:solidFill>
              </a:rPr>
              <a:t>MigrationIntent  (object · src→dst · action · priority)</a:t>
            </a:r>
          </a:p>
        </p:txBody>
      </p:sp>
      <p:sp>
        <p:nvSpPr>
          <p:cNvPr id="166" name="O2"/>
          <p:cNvSpPr/>
          <p:nvPr/>
        </p:nvSpPr>
        <p:spPr>
          <a:xfrm>
            <a:off x="8750000" y="2050000"/>
            <a:ext cx="3200000" cy="16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40" b="1" dirty="0">
                <a:solidFill>
                  <a:srgbClr val="1A1A1A"/>
                </a:solidFill>
              </a:rPr>
              <a:t>공통 Migration subsystem</a:t>
            </a:r>
          </a:p>
          <a:p>
            <a:pPr algn="ctr"/>
            <a:r>
              <a:rPr lang="ko-KR" altLang="en-US" sz="760" b="1" dirty="0">
                <a:solidFill>
                  <a:srgbClr val="1A1A1A"/>
                </a:solidFill>
              </a:rPr>
              <a:t>Control Plane (EngineCore)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Coordinator · Planner · Scheduler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Location Store (atomic commit)</a:t>
            </a:r>
          </a:p>
          <a:p>
            <a:pPr algn="ctr"/>
            <a:r>
              <a:rPr lang="ko-KR" altLang="en-US" sz="400" dirty="0">
                <a:solidFill>
                  <a:srgbClr val="1A1A1A"/>
                </a:solidFill>
              </a:rPr>
              <a:t/>
            </a:r>
          </a:p>
          <a:p>
            <a:pPr algn="ctr"/>
            <a:r>
              <a:rPr lang="ko-KR" altLang="en-US" sz="760" b="1" dirty="0">
                <a:solidFill>
                  <a:srgbClr val="1A1A1A"/>
                </a:solidFill>
              </a:rPr>
              <a:t>Data Plane (Worker)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Executor · Transfer Handlers</a:t>
            </a:r>
          </a:p>
          <a:p>
            <a:pPr algn="ctr"/>
            <a:r>
              <a:rPr lang="ko-KR" altLang="en-US" sz="400" dirty="0">
                <a:solidFill>
                  <a:srgbClr val="1A1A1A"/>
                </a:solidFill>
              </a:rPr>
              <a:t/>
            </a:r>
          </a:p>
          <a:p>
            <a:pPr algn="ctr"/>
            <a:r>
              <a:rPr lang="ko-KR" altLang="en-US" sz="660" b="1" dirty="0">
                <a:solidFill>
                  <a:srgbClr val="FF0000"/>
                </a:solidFill>
              </a:rPr>
              <a:t>commit 결과로만 Registry 갱신</a:t>
            </a:r>
          </a:p>
        </p:txBody>
      </p:sp>
      <p:cxnSp>
        <p:nvCxnSpPr>
          <p:cNvPr id="167" name="k3-o1"/>
          <p:cNvCxnSpPr/>
          <p:nvPr/>
        </p:nvCxnSpPr>
        <p:spPr>
          <a:xfrm>
            <a:off x="8450000" y="4050000"/>
            <a:ext cx="300000" cy="0"/>
          </a:xfrm>
          <a:prstGeom prst="line">
            <a:avLst/>
          </a:prstGeom>
          <a:ln w="15000">
            <a:solidFill>
              <a:srgbClr val="FF0000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8" name="o1-o2"/>
          <p:cNvCxnSpPr/>
          <p:nvPr/>
        </p:nvCxnSpPr>
        <p:spPr>
          <a:xfrm flipV="1">
            <a:off x="10350000" y="3710000"/>
            <a:ext cx="0" cy="140000"/>
          </a:xfrm>
          <a:prstGeom prst="line">
            <a:avLst/>
          </a:prstGeom>
          <a:ln w="15000">
            <a:solidFill>
              <a:srgbClr val="FF0000"/>
            </a:solidFill>
            <a:prstDash val="solid"/>
            <a:headEnd type="none"/>
            <a:tailEnd type="triangle" w="med" len="med"/>
          </a:ln>
        </p:spPr>
      </p:cxnSp>
      <p:sp>
        <p:nvSpPr>
          <p:cNvPr id="169" name="ext-title"/>
          <p:cNvSpPr txBox="1"/>
          <p:nvPr/>
        </p:nvSpPr>
        <p:spPr>
          <a:xfrm>
            <a:off x="1150000" y="4560000"/>
            <a:ext cx="1080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60" b="1" dirty="0">
                <a:solidFill>
                  <a:srgbClr val="FF0000"/>
                </a:solidFill>
              </a:rPr>
              <a:t>확장 시나리오별로 고치는 곳과 module 수 (시뮬레이터 복사본에 구현해 측정, [B+C], `qa4-modifiability.md`)</a:t>
            </a:r>
          </a:p>
        </p:txBody>
      </p:sp>
      <p:graphicFrame>
        <p:nvGraphicFramePr>
          <p:cNvPr id="170" name="표 확장"/>
          <p:cNvGraphicFramePr>
            <a:graphicFrameLocks noGrp="1"/>
          </p:cNvGraphicFramePr>
          <p:nvPr/>
        </p:nvGraphicFramePr>
        <p:xfrm>
          <a:off x="1150000" y="4730000"/>
          <a:ext cx="10800000" cy="115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0000"/>
                <a:gridCol w="5900000"/>
                <a:gridCol w="1900000"/>
              </a:tblGrid>
              <a:tr h="2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80" b="1" dirty="0"/>
                        <a:t>확장 시나리오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80" b="1" dirty="0"/>
                        <a:t>고치는 곳 (어디가 변하나)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80" b="1" dirty="0"/>
                        <a:t>module 수 (C1 / C2)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60" b="1" dirty="0"/>
                        <a:t>새 메모리 (CXL.mem expander)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40" dirty="0"/>
                        <a:t>Memory Backend adapter (공통). C2는 type별 선호 목록에 이름이 있어 Selector도 수정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FF0000"/>
                          </a:solidFill>
                        </a:rPr>
                        <a:t>1 / 2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60" b="1" dirty="0"/>
                        <a:t>새 AI data 종류 (SPARSE_EMBED)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40" dirty="0"/>
                        <a:t>AI Data adapter와 op-class hint 표 (공통). C2는 type-aware registry class와 Selector도 수정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FF0000"/>
                          </a:solidFill>
                        </a:rPr>
                        <a:t>1 / 3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60" b="1" dirty="0"/>
                        <a:t>정책 교체·조정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40" dirty="0"/>
                        <a:t>Policy SPI 구현 내부 (C1 Affinity Mapper / C2 Predictor)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FF0000"/>
                          </a:solidFill>
                        </a:rPr>
                        <a:t>2 / 2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60" b="1" dirty="0"/>
                        <a:t>새 event 종류 (SLO_ALERT)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40" dirty="0"/>
                        <a:t>Event schema와 Event Source (두 후보가 공유하는 Core)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FF0000"/>
                          </a:solidFill>
                        </a:rPr>
                        <a:t>3 / 3</a:t>
                      </a:r>
                    </a:p>
                  </a:txBody>
                  <a:tcPr marL="60000" marT="10000" marR="60000" marB="1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1" name="legend"/>
          <p:cNvSpPr txBox="1"/>
          <p:nvPr/>
        </p:nvSpPr>
        <p:spPr>
          <a:xfrm>
            <a:off x="8750000" y="4560000"/>
            <a:ext cx="320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r"/>
            <a:r>
              <a:rPr lang="ko-KR" altLang="en-US" sz="620" dirty="0">
                <a:solidFill>
                  <a:schemeClr val="bg1">
                    <a:lumMod val="50000"/>
                  </a:schemeClr>
                </a:solidFill>
              </a:rPr>
              <a:t>파랑=고정 Core · 주황=plug-in/신규 · 초록=변이점(SPI)</a:t>
            </a:r>
          </a:p>
        </p:txBody>
      </p:sp>
      <p:sp>
        <p:nvSpPr>
          <p:cNvPr id="172" name="takeaway"/>
          <p:cNvSpPr/>
          <p:nvPr/>
        </p:nvSpPr>
        <p:spPr>
          <a:xfrm>
            <a:off x="234949" y="6195000"/>
            <a:ext cx="11747501" cy="30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ko-KR" altLang="en-US" sz="1000" b="1" dirty="0">
                <a:solidFill>
                  <a:schemeClr val="bg1"/>
                </a:solidFill>
              </a:rPr>
              <a:t>한 줄 요약: </a:t>
            </a:r>
            <a:r>
              <a:rPr lang="ko-KR" altLang="en-US" sz="900" b="1" dirty="0">
                <a:solidFill>
                  <a:schemeClr val="bg1"/>
                </a:solidFill>
              </a:rPr>
              <a:t>C1/C2는 같은 Policy SPI의 두 구현이고, 새 메모리·데이터는 adapter 추가로 확장된다 (module 1~3개). 설계 단계, 미구현</a:t>
            </a:r>
          </a:p>
        </p:txBody>
      </p:sp>
    </p:spTree>
    <p:extLst>
      <p:ext uri="{BB962C8B-B14F-4D97-AF65-F5344CB8AC3E}">
        <p14:creationId xmlns:p14="http://schemas.microsoft.com/office/powerpoint/2010/main" val="112111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와이드스크린</PresentationFormat>
  <Paragraphs>107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맑은 고딕</vt:lpstr>
      <vt:lpstr>Arial</vt:lpstr>
      <vt:lpstr>Wingdings</vt:lpstr>
      <vt:lpstr>Office 테마</vt:lpstr>
      <vt:lpstr>DP1. 이기종 메모리 기반 Data Migration 결정 구조 - 설계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설계</dc:title>
  <dc:creator>SAMSUNG</dc:creator>
  <cp:lastModifiedBy>SAMSUNG</cp:lastModifiedBy>
  <cp:revision>1</cp:revision>
  <dcterms:created xsi:type="dcterms:W3CDTF">2026-10-04T17:05:55Z</dcterms:created>
  <dcterms:modified xsi:type="dcterms:W3CDTF">2026-10-04T17:06:05Z</dcterms:modified>
</cp:coreProperties>
</file>
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DP1 QA 평가 결과 — 정량 (H100 + B200 통합)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C1(Resource State-driven + Data-Memory Affinity) vs C2(Behavior-driven) · 공통 룰 §10 형식 · 괄호 = 후보 ÷ Baseline · 시뮬레이션 [B+C]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별 경계는 DP1 별점 기준 v5(Baseline 대비 경계, qa-criteria-dp1.md). 경계 일부는 결과를 본 뒤 정했다(defined_after_first_look). 수치는 시뮬레이션이며 실측 전까지 근거로 쓰지 않는다.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70432"/>
          <a:ext cx="11457432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3246120"/>
                <a:gridCol w="960120"/>
                <a:gridCol w="2926080"/>
                <a:gridCol w="295351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(Resource State-driven)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(Behavior-driven)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336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436 (×1.30)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478 (×1.42)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(TTFT)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1,084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1,128 (×1.04)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785 (×0.72)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(TPOT)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17.1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18.3 (×1.07)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16.0 (×0.94)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TTFT·TPOT × P50/P95/P99 6개 개선 배수 geomean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×1.28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×1.56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자원 (HBM)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사용량 (GiB, 시간 평균)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146.6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142.7 (×0.97)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178.0 (×1.21)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① module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module 수 (4 시나리오 평균)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1.75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2.50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② 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개발 공수 (man-month)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0.38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0.51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③ 비용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에이전트 비용 $ (frontier tier)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세 sub-star의 중앙값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합계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+ QA2 + QA3 + QA4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2+3+2+3 = 10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3+3+1+2 = 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evidence"/>
          <p:cNvSpPr txBox="1"/>
          <p:nvPr/>
        </p:nvSpPr>
        <p:spPr>
          <a:xfrm>
            <a:off x="365760" y="4257952"/>
            <a:ext cx="11430000" cy="4600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근거 수준 표기: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[B] 공개 spec · [C] 모델/시뮬레이션. DP1은 실측 Baseline이 없어 모든 값이 [B+C]다. 평가 시스템: SYS-H100, SYS-B200 (각 8-GPU 1노드), Llama-3.1-70B BF16, 입력 8K / 출력 256, SLO = TTFT P99 ≤ 2 s · TPOT P99 ≤ 50 ms. 집계 = 시나리오 × 시스템 쌍 21쌍(비교 가능, 64쌍 중)의 기하평균.</a:t>
            </a:r>
          </a:p>
        </p:txBody>
      </p:sp>
      <p:sp>
        <p:nvSpPr>
          <p:cNvPr id="8" name="selection"/>
          <p:cNvSpPr txBox="1"/>
          <p:nvPr/>
        </p:nvSpPr>
        <p:spPr>
          <a:xfrm>
            <a:off x="365760" y="4807952"/>
            <a:ext cx="6100000" cy="1612048"/>
          </a:xfrm>
          <a:prstGeom prst="rect">
            <a:avLst/>
          </a:prstGeom>
          <a:noFill/>
          <a:solidFill>
            <a:srgbClr val="FBE5D6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선택 (별 합계 → 동점이면 QA 우선순위 QA1&gt;QA2&gt;QA3&gt;QA4)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합계 C1 10 대 C2 9 → C1 선택 (합계 차이 1점).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C2는 처리량(QA1)·지연 값이 높고, C1은 HBM 사용(QA3)·변경 비용(QA4)이 낫다.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선택이 근소하고 별 경계에 민감하다(오른쪽).</a:t>
            </a:r>
          </a:p>
        </p:txBody>
      </p:sp>
      <p:sp>
        <p:nvSpPr>
          <p:cNvPr id="9" name="caution"/>
          <p:cNvSpPr txBox="1"/>
          <p:nvPr/>
        </p:nvSpPr>
        <p:spPr>
          <a:xfrm>
            <a:off x="6580000" y="4807952"/>
            <a:ext cx="5215000" cy="1612048"/>
          </a:xfrm>
          <a:prstGeom prst="rect">
            <a:avLst/>
          </a:prstGeom>
          <a:noFill/>
          <a:solidFill>
            <a:srgbClr val="FFFBEA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읽을 때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QA1 C1 ×1.298은 ★★★ 경계 1.30 바로 아래(0.2%). 경계를 1.25로 두면 합계가 달라지고, 1.30~1.40이면 동점(QA1 우선순위로 C2).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C1의 TTFT P99는 Baseline보다 나쁘다(×1.04). P50은 좋아지는데 꼬리가 나빠진다(이동이 링크를 점유).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평가는 mapping·commit·driver overhead를 0으로 가정한다(조건부 값).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공통 시나리오(CB-1~3)만 본 값 — 다른 DP와 같은 시나리오·같은 형식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벤치마크 3개 × 2시스템 = 6쌍 중 비교 가능 5쌍 · 같은 QA의 같은 시나리오를 DP 간 비교할 수 있게 별도 표기 · 괄호 = 후보 ÷ Baseline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공통 별점은 공통 시나리오에서만 산출한다(common-benchmark.md §7). DP1의 공식 별(1장)은 Common+Stress+Dynamic 21쌍 기준이며(소유자 결정, H11), 이 장의 별은 공통 6쌍 기준의 참고값이다.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70432"/>
          <a:ext cx="11457432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3246120"/>
                <a:gridCol w="960120"/>
                <a:gridCol w="2926080"/>
                <a:gridCol w="295351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3,374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3,360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3,373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(TTFT)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356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1,051 (×2.95)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368 (×1.03)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(TPOT)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10.8 (×1.37)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7.9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6개 지표 개선 배수 geomean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×0.94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×1.22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자원 (HBM)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사용량 (GiB)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54.2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50.0 (×0.92)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71.8 (×1.32)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2936352"/>
          <a:ext cx="11457432" cy="17282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731520"/>
                <a:gridCol w="1097280"/>
                <a:gridCol w="1371600"/>
                <a:gridCol w="1645920"/>
                <a:gridCol w="1645920"/>
                <a:gridCol w="1417320"/>
                <a:gridCol w="144475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시스템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fit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 goodput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goodput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goodput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TTFT P99 C1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TTFT P99 C2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  cb_kv_8k_b32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3,564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×3.88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  cb_kv_8k_b32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3,557 (×0.99)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3,577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×4.15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×1.23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  cb_kv_8k_b32_ramp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3,591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×0.86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×0.63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  cb_kv_8k_b32_ramp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×3.76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×1.14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  cb_mixed_8k_b32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포화(제외)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  cb_mixed_8k_b32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2,641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2,630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2,640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×4.32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ad"/>
          <p:cNvSpPr txBox="1"/>
          <p:nvPr/>
        </p:nvSpPr>
        <p:spPr>
          <a:xfrm>
            <a:off x="365760" y="4754568"/>
            <a:ext cx="11430000" cy="1645432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3개 시나리오는 Baseline이 이미 SLO를 지키고 처리량이 포화에 가까워 후보의 QA1 이득이 거의 없다(×1.00). 이득은 DP1 전용 Dynamic 시나리오에서 나온다(1장).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공통에서 C1은 지연 쪽이 나쁘다: TTFT P99 ×2.95, QA2 개선 배수 ×0.94(★ 경계 0.95 아래). C2는 TTFT P99가 Baseline과 같은 수준이다.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CB-3(B200)은 모든 후보가 CI 이내로 같아 '포화'로 집계에서 제외했다(삭제하지 않고 목록에 남김).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DP4는 공통 6쌍으로 별을 매기고 DP2는 전체 쌍으로 매겨 DP마다 집합이 다르다. 이 장은 DP1의 공통 값을 같은 형식으로 내어 비교 근거로 쓴다(12장 정합 점검).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대상 구조 C1 · C2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같은 이벤트·Selector 경계·Migration budget 위에서 '무엇을 보고 이동을 결정하나'만 다른 두 후보 · 결정은 DP1, mapping·commit은 공통 Migration subsystem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정의는 dp1-ai-data-migration-decision-architecture.md §4~5, 구현은 DP1/sim/policies.py. 블록 이름은 설계 문서 용어. 변경 시나리오 S1~S4는 QA4(qa-criteria-dp1.md).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90000"/>
          <a:ext cx="11457432" cy="2559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"/>
                <a:gridCol w="1417320"/>
                <a:gridCol w="1828800"/>
                <a:gridCol w="1691640"/>
                <a:gridCol w="868680"/>
                <a:gridCol w="1920240"/>
                <a:gridCol w="2011680"/>
                <a:gridCol w="130759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쉬운 설명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입력 → 출력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블록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구현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구현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Event · Migration Scheduler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용량 압박·접근·할당 같은 사건이 오면 이동 판단을 시작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telemetry · ALLOCATED/FREED/ACCESSED → 결정 주기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 새 event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Data Object Registry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객체의 위치·크기·tier를 적어 두는 장부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객체 id → 위치·크기·tier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공통(스키마 다름)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type-agnostic (종류를 모름)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type-aware (KV/LoRA/MoE/RAG별 특성)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 새 data 종류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관찰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무엇을 보고 상황을 파악하나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 상태 / 접근 이력 → 상태 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Resource State Monitor (용량·BW·부하)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Data Behavior Monitor (빈도·재사용·유휴)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지금 이동이 필요한가, 무엇이 유리한가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상태 값 → 압력 · 선호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Trend Analyzer + Data-Memory Affinity(정적 힌트)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Trend Analyzer + Future Behavior Predictor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 정책 교체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Destination Tier Selector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어느 tier로 보낼지 고른다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tier 목록 → 목적지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비용 추정 + 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affinity 점수 − 서빙 penalty, SLO 필터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type 선호 목록 + benefit-vs-cost gating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 새 메모리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Eviction · 승격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누구를 내리고 누구를 올릴지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압력 · 후보 → 이동 대상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Eviction Manager + 정적 승격/교환 pass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coldest-first 강등(압력 시) + 예측 승격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Migration Budget · Executor 경계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이동이 서빙 링크를 너무 쓰지 않게 제한하고 결정을 넘긴다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 결정 → MigrationIntent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link 시간 token bucket (몫 0.25, cooldown 8 s)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1"/>
          <p:cNvSpPr txBox="1"/>
          <p:nvPr/>
        </p:nvSpPr>
        <p:spPr>
          <a:xfrm>
            <a:off x="365760" y="3959050"/>
            <a:ext cx="6150000" cy="244095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K1·K7과 Memory Backend I/F는 두 후보 공통이고 K2~K6이 갈린다. 그래서 C1/C2는 같은 Policy 틀의 두 구현으로 볼 수 있다.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C1은 '메모리 상태가 어떻게 변하나'를, C2는 '데이터가 앞으로 어떻게 쓰이나'를 본다. 같은 종류 안의 hot/cold 구분은 C2만 한다.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C1의 Data-Memory Affinity 효과는 정적 승격 pass에서 나온다(제거 실험: 처리량 ×1.30 → ×1.05).</a:t>
            </a:r>
          </a:p>
        </p:txBody>
      </p:sp>
      <p:sp>
        <p:nvSpPr>
          <p:cNvPr id="8" name="r2"/>
          <p:cNvSpPr txBox="1"/>
          <p:nvPr/>
        </p:nvSpPr>
        <p:spPr>
          <a:xfrm>
            <a:off x="6640000" y="3959050"/>
            <a:ext cx="5155000" cy="2440950"/>
          </a:xfrm>
          <a:prstGeom prst="rect">
            <a:avLst/>
          </a:prstGeom>
          <a:noFill/>
          <a:solidFill>
            <a:srgbClr val="FFFBEA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범위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DP1은 결정(WHAT/WHERE)까지다. location 변경과 commit, 전송, HW 주소 변환은 공통 Migration subsystem과 driver의 영역이다(dp1-constraints.md C-X6, 6절).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평가는 그 구간의 overhead를 0으로 가정한다. 구현 후 실측이 필요하다.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벤치마크 CB-1~3을 기본으로 하고 DP1 전용 시나리오를 더한다 · 시나리오당 한 줄 · 시스템 2개(H100, B200)에 각각 실행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시나리오 정의는 평가 계획이며 결과가 아니다. 파라미터는 사전 등록 값이고 결과를 본 뒤 바꾸지 않는다. 정의 원천: common-benchmark.md 2.1, DP1/benchmark.md, DP1/sim/scenarios.py.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300000"/>
          <a:ext cx="11457432" cy="260603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691640"/>
                <a:gridCol w="2926080"/>
                <a:gridCol w="868680"/>
                <a:gridCol w="2926080"/>
                <a:gridCol w="23591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드러내는 차이 (As-Is 약점)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파라미터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cb_kv_8k_b32 (공통)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KV만, 정상 상태, HBM 용량 압박 고정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정적 배치가 fast tier 초과분을 느린 tier로 흘릴 때의 TPOT 악화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8K/256, batch 32, 40 objs, HBM ×0.12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cb_kv_8k_b32_ramp (공통)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CB-1과 같은 KV, 압박이 시간에 따라 점진 증가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시간에 따라 필요한 배치가 바뀌는데 정적 배치가 따라가지 못함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×0.2, capacity_ramp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cb_mixed_8k_b32 (공통)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+ LoRA + MoE + Agent/Tool 혼합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data 종류를 구분하지 않는 관리의 한계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50/LoRA 15/MoE 15/Agent 10/Tool 10 %, 48 objs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5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 (23)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Stress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데이터 종류(KV, RAG, Agent, Tool, LoRA, MoE)·크기(32K~512K, 1~8 TiB)·압박 양상을 바꾼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 선택과 용량 사다리(6개 메모리 전부), 공유 링크 압박, hotness 급반전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예: rag_1tib_b16, kv_b256_c512k_stress, behavior_flip_stress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5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 (6)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Dynamic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Baseline이 처음엔 SLO를 만족하다 중간에 고정 규칙이 stale해지는 6개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hot 집합이 이동·idle 점유·링크 저하 (Baseline의 실패 양상을 알고 설계함)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dyn_kv_rotating_hotset, dyn_idle_kv_holds_hbm, dyn_rag_shard_hotset_shift 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시나리오 4개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메모리 추가 · 새 AI data 종류 · 정책 교체 · 새 event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변경이 어디까지 번지는가 (module · 공수 · 에이전트 비용)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시뮬레이터 복사본에 구현해 측정, 가중 없음(평균)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"/>
          <p:cNvSpPr txBox="1"/>
          <p:nvPr/>
        </p:nvSpPr>
        <p:spPr>
          <a:xfrm>
            <a:off x="365760" y="4016038"/>
            <a:ext cx="11430000" cy="2383962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32개 시나리오 × 2시스템 = 64쌍 중 비교 가능 21쌍, 포화 10쌍(모든 후보가 CI 이내로 같음), Baseline도 SLO 불가 33쌍. 불가·포화 쌍은 집계에서 빼되 목록에는 남겼다.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CB-1~3은 다른 DP와 같은 ID·파라미터다(common-benchmark.md). 그 외는 DP1 전용이며 후보가 지는 시나리오도 삭제하지 않았다.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Dynamic은 failure mode를 알고 설계했으므로 이득은 그 상황에 한정해 읽어야 한다(시스템·시나리오 선택 의존).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시뮬레이션 수행 방식 — 시뮬레이터 단독 (실측 Baseline 없음)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DP1은 실물 이기종 메모리(ScHBM, CXL-PNM, HBF, SSD-PIM)가 없어 Baseline까지 시뮬레이터로 돌린다: 모든 값이 [B+C]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이 장은 평가 절차다. 시뮬레이터(DP1/sim)와 결과 데이터(DP1/results/data)는 같은 명령·같은 revision이면 같은 값이 나온다(seed 11/23/37/53/71).</a:t>
            </a:r>
          </a:p>
        </p:txBody>
      </p:sp>
      <p:sp>
        <p:nvSpPr>
          <p:cNvPr id="6" name="① 시스"/>
          <p:cNvSpPr txBox="1"/>
          <p:nvPr/>
        </p:nvSpPr>
        <p:spPr>
          <a:xfrm>
            <a:off x="365760" y="1290000"/>
            <a:ext cx="2560000" cy="5200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① 시스템 모델 구성 [B]</a:t>
            </a:r>
          </a:p>
        </p:txBody>
      </p:sp>
      <p:sp>
        <p:nvSpPr>
          <p:cNvPr id="7" name="d① "/>
          <p:cNvSpPr txBox="1"/>
          <p:nvPr/>
        </p:nvSpPr>
        <p:spPr>
          <a:xfrm>
            <a:off x="3000000" y="1290000"/>
            <a:ext cx="8795000" cy="52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H100×8 / B200×8 프로필(공개 spec) + 6종 메모리의 용량·대역폭·지연·primitive·연산 능력(`systems.json`, SPEC/PUBLIC/ASSUMED 표기). 공통 프로필 Llama-3.1-70B BF16.</a:t>
            </a:r>
          </a:p>
        </p:txBody>
      </p:sp>
      <p:sp>
        <p:nvSpPr>
          <p:cNvPr id="8" name="② 시나"/>
          <p:cNvSpPr txBox="1"/>
          <p:nvPr/>
        </p:nvSpPr>
        <p:spPr>
          <a:xfrm>
            <a:off x="365760" y="1860000"/>
            <a:ext cx="2560000" cy="5200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② 시나리오 trace 생성</a:t>
            </a:r>
          </a:p>
        </p:txBody>
      </p:sp>
      <p:sp>
        <p:nvSpPr>
          <p:cNvPr id="9" name="d② "/>
          <p:cNvSpPr txBox="1"/>
          <p:nvPr/>
        </p:nvSpPr>
        <p:spPr>
          <a:xfrm>
            <a:off x="3000000" y="1860000"/>
            <a:ext cx="8795000" cy="52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CB-1~3 + Stress 23 + Dynamic 6의 객체·접근률·압박을 seed별로 생성. Baseline과 후보가 같은 trace를 받는다.</a:t>
            </a:r>
          </a:p>
        </p:txBody>
      </p:sp>
      <p:sp>
        <p:nvSpPr>
          <p:cNvPr id="10" name="③ 정책"/>
          <p:cNvSpPr txBox="1"/>
          <p:nvPr/>
        </p:nvSpPr>
        <p:spPr>
          <a:xfrm>
            <a:off x="365760" y="2430000"/>
            <a:ext cx="2560000" cy="5200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③ 정책 주입</a:t>
            </a:r>
          </a:p>
        </p:txBody>
      </p:sp>
      <p:sp>
        <p:nvSpPr>
          <p:cNvPr id="11" name="d③ "/>
          <p:cNvSpPr txBox="1"/>
          <p:nvPr/>
        </p:nvSpPr>
        <p:spPr>
          <a:xfrm>
            <a:off x="3000000" y="2430000"/>
            <a:ext cx="8795000" cy="52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Baseline-static(최초 배치 고정, 이동 없음) / C1 / C2를 같은 시뮬레이터에서 실행. 이동 비용은 링크 간섭 모델(이동이 쓴 링크 시간만큼 서빙 BW 감소)로 지연·처리량에 반영.</a:t>
            </a:r>
          </a:p>
        </p:txBody>
      </p:sp>
      <p:sp>
        <p:nvSpPr>
          <p:cNvPr id="12" name="④ 시나"/>
          <p:cNvSpPr txBox="1"/>
          <p:nvPr/>
        </p:nvSpPr>
        <p:spPr>
          <a:xfrm>
            <a:off x="365760" y="3000000"/>
            <a:ext cx="2560000" cy="5200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④ 시나리오 실행</a:t>
            </a:r>
          </a:p>
        </p:txBody>
      </p:sp>
      <p:sp>
        <p:nvSpPr>
          <p:cNvPr id="13" name="d④ "/>
          <p:cNvSpPr txBox="1"/>
          <p:nvPr/>
        </p:nvSpPr>
        <p:spPr>
          <a:xfrm>
            <a:off x="3000000" y="3000000"/>
            <a:ext cx="8795000" cy="52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load ×0.5/1.0/1.5/2.0 sweep × seed 5개. Max SLO goodput은 SLO를 만족한 토큰의 최대값. 같은 seed·부하로 Baseline과 짝지어 비교(95% CI).</a:t>
            </a:r>
          </a:p>
        </p:txBody>
      </p:sp>
      <p:sp>
        <p:nvSpPr>
          <p:cNvPr id="14" name="⑤ 후처"/>
          <p:cNvSpPr txBox="1"/>
          <p:nvPr/>
        </p:nvSpPr>
        <p:spPr>
          <a:xfrm>
            <a:off x="365760" y="3570000"/>
            <a:ext cx="2560000" cy="5200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⑤ 후처리</a:t>
            </a:r>
          </a:p>
        </p:txBody>
      </p:sp>
      <p:sp>
        <p:nvSpPr>
          <p:cNvPr id="15" name="d⑤ "/>
          <p:cNvSpPr txBox="1"/>
          <p:nvPr/>
        </p:nvSpPr>
        <p:spPr>
          <a:xfrm>
            <a:off x="3000000" y="3570000"/>
            <a:ext cx="8795000" cy="52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QA1 비율, QA2 6개 지표 개선 배수, QA3 HBM 점유, QA4는 변경 시나리오를 시뮬레이터 복사본에 구현해 module·LOC를 측정하고 공수·비용은 가정 상수로 계산.</a:t>
            </a:r>
          </a:p>
        </p:txBody>
      </p:sp>
      <p:graphicFrame>
        <p:nvGraphicFramePr>
          <p:cNvPr id="16" name="tbl"/>
          <p:cNvGraphicFramePr>
            <a:graphicFrameLocks noGrp="1"/>
          </p:cNvGraphicFramePr>
          <p:nvPr/>
        </p:nvGraphicFramePr>
        <p:xfrm>
          <a:off x="365760" y="4160000"/>
          <a:ext cx="11430000" cy="1481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6492240"/>
                <a:gridCol w="109728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Evidence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GPU·호스트 spec, 모델·워크로드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+ 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ScHBM·HBF·SSD-PIM·CXL-PNM 성능, 연산 능력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문헌·vendor spec을 입력으로 한 모델 (CXL-PNM 연산 3.28 TFLOPS는 ASSUMED)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 비용(링크 간섭), decision overhead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(mapping·commit·driver overhead는 0으로 가정)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공수·에이전트 비용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시뮬레이터 복사본 구현 측정 + 가정 상수·가격(ASSUMED)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실측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없음 (DP0는 H100 실측 Baseline이 있어 [A+C])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시스템과 SLO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TTFT P99 ≤ 2 s · TPOT P99 ≤ 50 ms는 공통 문서의 고정값이며 DP0·DP2·DP4와 같다 · 시스템은 메모리 세대 두 개(H100, B200)를 통합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SYS 값은 SPEC/PUBLIC/ASSUMED를 필드별로 표기(system-specs.md). 확인하지 못한 값은 ASSUMED로 두었다. B200·ScHBM 값은 세대 스케일 가정을 포함한다.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90000"/>
          <a:ext cx="11429999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7955279"/>
                <a:gridCol w="201168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/ GPU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8-GPU 1노드 × 2시스템: SYS-H100 (H100 SXM5 80GB HBM3), SYS-B200 (HBM3e)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연산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FP16 dense 989 TFLOPS (H100) / 2,250 TFLOPS (B200), GPU 1개당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/ 정밀도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Llama-3.1-70B, BF16, 8-GPU 1노드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워크로드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 (공통 CB), DP1 전용은 5장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호스트 연결 / DRAM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PCIe 5.0 x16, DDR5-4800 (H100) / DDR5-6400 (B200), 1 TiB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PUBLIC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 구성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640 GiB / 1,536 GiB(GPU 8장)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SPEC/PUBLIC/ASSUMED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Samsung Custom HBM(ScHBM) 160 GiB / 384 GiB, CPU와 PCIe 5.0 x16, 연산 197.8 / 450 TFLOPS FP16(attention 연산 오프로드)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CXL-PNM 512 GiB(내부 DRAM), CXL 2.0 (PCIe 5.0 PHY), 연산 3.28 TFLOPS(attention 오프로드)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DRAM 1 TiB, PCIe 5.0 x16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HBF 2 TiB, GPU 직접 접근(UCIe) 1 TB/s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SSD-PIM 16 TiB, NVMe PCIe 5.0 x4, GEMV 2 TFLOPS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Baseline-static: 최초 배치를 고정하고 이동하지 않음 (As-Is proxy)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s, TPOT P99 ≤ 50 ms (공통 문서 §2, DP0와 동일)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o"/>
          <p:cNvSpPr txBox="1"/>
          <p:nvPr/>
        </p:nvSpPr>
        <p:spPr>
          <a:xfrm>
            <a:off x="365760" y="4846432"/>
            <a:ext cx="11430000" cy="1553568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SLO 선정 근거 (DP0 장표 5장과 같은 값, 같은 근거)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TTFT 2 s: H100×8에서 8K prefill 이론 시간은 약 0.32 s(2×70.6B×8,192 ÷ (8×989 TFLOPS×MFU 0.45), DP0 장표 계산)이며 2 s는 큐잉·스케줄링 여유를 포함한 값이다. B200은 연산이 더 커 여유가 더 크다.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TPOT 50 ms: 디코드 step의 이론 하한(가중치 + KV 읽기)에 통신·스케줄링을 더해도 포화 시 약 40 ms대라는 DP0 장표의 계산과 같은 모델이다. DP1에서는 attention 오프로드 경로의 TPOT가 이 경계로 SLO 위반을 판정한다.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이 SLO는 DP 간 비교 가능성을 위해 공통 고정값이며 결과를 본 뒤 바꾸지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QA1 처리량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QA1 · Max SLO Goodput(output tok/s) ÷ Baseline · 시나리오 쌍별 비율의 기하평균 · SLO = TTFT P99 ≤ 2 s, TPOT P99 ≤ 50 ms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 별 기준 v5. 하한은 측정, 상한은 환산이며 정책 선택이 남는다. 같은 별 경계로 QA2·QA3도 같은 방식으로 정했다.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80000"/>
          <a:ext cx="1145743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286000"/>
                <a:gridCol w="6035040"/>
                <a:gridCol w="222199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1.30 ×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 수요를 77%의 하드웨어로 처리 = 8-GPU 노드에서 약 1.85 GPU 절감(1.14배가 GPU 1장). 추가 메모리 HW와 migration 복잡도를 정당화할 크기라는 판단(정책 선택).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[C]. 결과를 본 뒤 정한 값(defined_after_first_look)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0.97 ~ 1.30 ×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0.97 = Baseline끼리 seed 묶음을 바꿔 비교한 20회의 집계 범위 0.968~1.033의 아래 끝. 그 안은 잡음이라 열세로 보지 않는다.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[B+C], star_basis.py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0.97 ×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 대역 밖의 열세: Baseline보다 느리다.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584560"/>
            <a:ext cx="5600000" cy="28954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지표와 결과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Max SLO goodput = SLO를 위반한 요청의 토큰을 뺀 output tok/s를 load sweep으로 구한 최대값(공통 룰).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결과 ×1.30 (C1) / ×1.42 (C2). 이득은 Dynamic 시나리오에 집중되고 공통 CB는 ×1.00이다(2장).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룰의 별 경계는 0.90 / 1.10이다. DP1은 0.97 / 1.30을 쓰고 공통 별점을 병기한다(근거: qa-criteria-dp1.md §A).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584560"/>
            <a:ext cx="5600000" cy="28954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★★★ 경계 1.30은 결과(C1 ×1.298, C2 ×1.422)를 본 뒤 정했다. 경계를 1.25로 하면 C1도 ★★★이다.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문헌 기반 대안(Oracle 대비 이득 달성률 80%)도 계산했으나 참고 지표로만 둔다(qa-capture-literature.md): C1 62% / C2 83%.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365760" y="6500000"/>
            <a:ext cx="11430000" cy="23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§A·§J · DP1/sim/star_basis.py · 공통 QA 문서 §4.3 (0.90/1.10, 참고 병기)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QA2 지연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QA2 · TTFT와 TPOT × P50/P95/P99 6개 지표의 개선 배수(Baseline ÷ 후보) 기하평균 · TTFT, TPOT는 따로 보고하고 별은 합친 값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 별 기준 v5. 평균 개선 배수로 별을 정하므로 꼬리 악화는 별에 드러나지 않는다. 꼬리는 P99 값과 악화 쌍 수로 따로 본다.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80000"/>
          <a:ext cx="1145743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286000"/>
                <a:gridCol w="6035040"/>
                <a:gridCol w="222199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6개 지표 개선 배수 ≥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 20% 감소 (예: TTFT P99 1,084 ms → 867 ms). '눈에 띄는 개선'의 크기로 둔 정책 선택.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 ~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0.95: Baseline끼리 비교한 잡음 범위 0.973~1.028 보다 약간 느슨하게 둠(5% 이내 열세는 열세로 보지 않음).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지연이 5% 넘게 나빠짐(잡음 밖).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584560"/>
            <a:ext cx="5600000" cy="28954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지표와 결과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 ×1.28 (TTFT ×1.58 · TPOT ×1.04), C2 ×1.56. 데이터 종류별로 RAG/Agent/Tool은 TTFT, LoRA/MoE는 TPOT, KV는 둘 다 영향을 받는다.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룰의 QA2는 P99 worst-case(TTFT ≤ 2 s &amp; TPOT ≤ 50 ms ★★★)다. DP1은 개선 배수를 쓰고 공통 별점을 병기한다.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584560"/>
            <a:ext cx="5600000" cy="28954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평균은 좋아지지만 C1의 P99는 나쁘다: TTFT P99 ×1.04, 21쌍 중 6쌍에서 Baseline보다 나쁘고 최악 ×4.32. 원인은 초반에 몰린 큰 이동이 DRAM 링크를 점유하는 것(loop-log iteration 4).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burst 용량을 줄이면 꼬리는 줄지만 이득도 같이 사라진다(trade-off).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365760" y="6500000"/>
            <a:ext cx="11430000" cy="23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§A·§J · DP1/results/iterations/loop-log.md (iteration 4) · 공통 QA 문서 §5 (참고 병기)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QA3 자원 (HBM 사용량)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QA3 · HBM 사용량(GiB, 시간 평균 점유)의 Baseline 대비 비율(낮을수록 좋음) · 별은 절감 배수 = 1 ÷ 비율 · 성능은 섞지 않는다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 별 기준 v5(QA3 정의 v6 = HBM 사용량). 가격은 ASSUMED, HBM 가중은 3배/5배/10배 민감도를 둔다.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80000"/>
          <a:ext cx="1145743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286000"/>
                <a:gridCol w="6035040"/>
                <a:gridCol w="222199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절감 배수 ≥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점유 20% 감소 = 평균 146.6 GiB 중 약 29 GiB (8K KV object 약 1.6개분). QA2와 같은 '눈에 띄는 개선' 기준.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 ~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0.95: Baseline끼리 비교한 잡음 범위 0.984~1.016보다 느슨하게 둠.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HBM을 5% 넘게 더 씀(잡음 밖).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584560"/>
            <a:ext cx="5600000" cy="28954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지표와 결과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C1 142.7 GiB (×0.97, 절감 1.03), C2 178.0 GiB (×1.21, 절감 0.82).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C2는 성능을 위해 hot 데이터를 HBM으로 올려 HBM을 더 쓴다. C1은 압력 때 DRAM·HBF로 내려 약간 줄인다.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보조: 어느 tier로 보냈는지(가격 차)를 보는 비용 가중 점유(ASSUMED 가격). 풀 활용률은 처리량과 상관이 0.99라 진단으로만 둔다.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584560"/>
            <a:ext cx="5600000" cy="28954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정의를 여러 번 바꿨다(활용률 → 풀 U → 성능÷비용 → HBM 사용량). 모두 결과를 본 뒤의 변경이며 마지막 변경이 선택을 C2에서 C1로 바꿨다.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HBM을 비우되 성능이 나빠지는 정책이 유리하므로 QA1·QA2와 함께 읽어야 한다. 공통 룰의 활용률(65%/85%)은 병기한다.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365760" y="6500000"/>
            <a:ext cx="11430000" cy="2300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§A·§I·§J · DP1/sim/cost_model.py · 공통 QA 문서 §6 (참고 병기)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QA4 변경 용이성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QA4 Modifiability · 세 지표를 모두 보고 세 sub-star의 중앙값으로 별 결정 · 시나리오 4개의 평균값에 기준을 적용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module 수 경계는 공통 QA 문서 그대로. 공수·비용 경계는 측정 전에 사전 등록한 가정이며 결과를 본 뒤 바꾸지 않는다(qa4-preregistration.md).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300000"/>
          <a:ext cx="11457432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3291840"/>
                <a:gridCol w="3291840"/>
                <a:gridCol w="39593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변경 module 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② 개발 공수 (man-month)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③ 에이전트 비용 ($/변경, frontier tier)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 (주요 interface 유지)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~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$10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또는 major interface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$10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3258800"/>
          <a:ext cx="749808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377440"/>
                <a:gridCol w="237744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module 수 (평균)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1.75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2.50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② 공수 (man-month)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0.378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0.506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③ 비용 (frontier / 중간 tier)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$1.16 / $0.39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$1.49 / $0.49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별 (중앙값)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l"/>
          <p:cNvSpPr txBox="1"/>
          <p:nvPr/>
        </p:nvSpPr>
        <p:spPr>
          <a:xfrm>
            <a:off x="365760" y="4740400"/>
            <a:ext cx="5600000" cy="1679600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별 결정 규칙과 근거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QA4 별 = 세 sub-star의 중앙값. 세 값을 모두 보인다. sub-star는 시나리오 평균값에 적용한다(최악값 집계는 공유 module 하나가 결과를 정해 신호를 가려 쓰지 않음, 소유자 결정, 결과를 본 뒤 변경).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② 공수: 변경 module 수와 LOC에서 가정 상수로 계산(c_mod 3.0, 검증 비율 등, ASSUMED). ③ 비용: 에이전트 토큰 × 가격 가정(frontier $15/$75 per MTok, 중간 tier $3/$15).</a:t>
            </a:r>
          </a:p>
        </p:txBody>
      </p:sp>
      <p:sp>
        <p:nvSpPr>
          <p:cNvPr id="9" name="r"/>
          <p:cNvSpPr txBox="1"/>
          <p:nvPr/>
        </p:nvSpPr>
        <p:spPr>
          <a:xfrm>
            <a:off x="6200000" y="4740400"/>
            <a:ext cx="5600000" cy="1679600"/>
          </a:xfrm>
          <a:prstGeom prst="rect">
            <a:avLst/>
          </a:prstGeom>
          <a:noFill/>
          <a:solidFill>
            <a:srgbClr val="FFFBEA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상수 낙관/비관 조합에서도 C1과 C2의 QA4 별은 같지 않을 수 있다(민감도 qa4-modifiability.md). C2의 공수 0.506이 경계 0.5를 0.006 넘은 수준이라 상수에 민감하다.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DP0의 QA4 경계(① $0.5/$2, ② man-day 3/7)와 값·단위가 다르다. 같은 QA의 경계 정합은 12장에서 점검한다.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QA4 산출 근거 — 변경 시나리오별 module · 공수 · 비용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각 변경을 C1·C2 시뮬레이터 복사본에 실제로 구현해 module·LOC를 측정하고 공수·비용은 가정 상수로 계산 · 가중 없는 평균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예상이 아닌 구현 측정이지만 시뮬레이터 복사본이며 실제 에이전트 세션 측정이 아니다. 공수·비용은 가정 상수(qa4-modifiability.md)에서 재계산된다. [B+C]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300000"/>
          <a:ext cx="11457432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4572000"/>
                <a:gridCol w="2468880"/>
                <a:gridCol w="2468880"/>
                <a:gridCol w="130759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(module · LOC · MM · $T1)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(module · LOC · MM · $T1)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메모리 추가 (CXL.mem expander)  ※ DP0 S1 새 tier 추가와 같은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23 · 0.42 · $0.96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29 · 0.63 · $1.36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AI data 종류 (SPARSE_EMBED)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 · 0.15 · $0.86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3 · 0.46 · $1.68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교체 (C1 Affinity Mapper 지연 우선 / C2 Predictor 관측 전용)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8 · 0.38 · $1.08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7 · 0.37 · $1.05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event 종류 (SLO_ALERT)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11 · 0.56 · $1.75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11 · 0.56 · $1.85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4개 시나리오 평균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 · — · 0.38 · $1.16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2.50 · — · 0.51 · $1.49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285376"/>
            <a:ext cx="5600000" cy="3134624"/>
          </a:xfrm>
          <a:prstGeom prst="rect">
            <a:avLst/>
          </a:prstGeom>
          <a:noFill/>
          <a:solidFill>
            <a:srgbClr val="F2F2F2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차이가 나는 이유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C2는 type-aware라 새 메모리(S1)와 새 data 종류(S2)에서 Selector·registry class 수정이 더 필요하다(module 2, 3 대 1, 1).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정책 교체(S3)와 새 event(S4)는 구조가 공유하는 부분이라 두 후보가 같다(2/2, 3/3).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설계 문서의 약속(선호를 capability class로 두면 S1에서 C2 selector 무변경)은 시뮬레이터의 C2 구현에서는 지켜지지 않아 S1이 2가 되었다.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285376"/>
            <a:ext cx="5600000" cy="3134624"/>
          </a:xfrm>
          <a:prstGeom prst="rect">
            <a:avLst/>
          </a:prstGeom>
          <a:noFill/>
          <a:solidFill>
            <a:srgbClr val="FFFBEA"/>
          </a:solidFill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한계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공수·비용은 가정 상수에 의존한다. 별은 상수 조합에 따라 ★★★~★★로 흔들린다. 후보 간 차이(module 1.75 대 2.50, 비용 약 1.3배)는 별 경계를 넘지 않을 수 있다.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S2의 C1 smoke는 estimator 입력 도달까지만 확인했다(해당 trace에서 C1 migration 0건).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DP0의 S1~S6과 달리 시나리오 가중을 두지 않았다(12장).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정합 점검 — DP0와 같은 QA의 시나리오·기준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같은 QA에서 같은 시나리오·같은 기준은 같은 ID·값을 쓰고, 다른 것은 다르다고 표기 · '조치'는 이 deck에서 한 것, '결정 필요'는 소유자 확인 사항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DP0 deck(doc-mk/DP0/DP0-qa-result-slides.pptx)과 DP2·DP4 deck(Appendix)을 읽어 비교했다. DP0·DP2·DP4 파일은 수정하지 않았다.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90000"/>
          <a:ext cx="11457432" cy="3092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377440"/>
                <a:gridCol w="2560320"/>
                <a:gridCol w="822960"/>
                <a:gridCol w="432511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DP1 (이 deck)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 / 결정 필요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 번호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 · Q2 지연 · Q3 변경 용이성 · Q4 확장성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 · QA2 지연 · QA3 HBM 사용 · QA4 변경 용이성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 deck은 공통 문서 번호 사용. DP0의 Q3 = 공통 QA4(변경 용이성), Q4 = 공통 QA6. DP0 번호 정리는 결정 필요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모델·워크로드·SLO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 BF16, 8K/256, TTFT P99 ≤ 2 s, TPOT P99 ≤ 50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조치 없음 (공통 문서 §2 고정값)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sweep · seed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×0.5/1.0/1.5/2.0, seed ≥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×0.5/1.0/1.5/2.0, seed 5개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조치 없음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벤치마크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 '공통 벤치마크' 1개 (CB 대응 없음)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CB-1·CB-2·CB-3 (common-benchmark.md 2.1과 같은 ID·파라미터)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DP1은 공통 문서 ID 사용. DP0 W1을 CB-1~3으로 실현할지는 결정 필요(common-benchmark.md §8 DP0 행 없음)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별을 매기는 시나리오 집합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W1~W5 (DP0 정의)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공식: Common+Stress+Dynamic 21쌍 / 참고: Common만 (2장)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DP마다 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문서는 Common만. DP4는 Common 6쌍, DP2는 전체 38쌍. 통일 여부는 결정 필요. 이 deck은 2장에 Common-only를 병기해 비교 가능하게 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92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변경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(새 tier, 비용 함수, P/D 정책, 노드 지시, vLLM 계약, 신규 기능), S2~S4 가중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S1~S4 (새 메모리, 새 data 종류, 정책 교체, 새 event), 가중 없음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일부 같음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S1은 같은 변경(새 메모리/tier 추가)이라 문구를 맞춤. S2~S4는 DP마다 의미가 달라 DP 접두사(DP1-S2) 권장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92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경계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$0.5/$2 ② 3/7 man-day ③ module ≤2/3~5/≥6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module 같음 ② ≤0.5/≤1.0 man-month ③ ≤$3/≤$10 (frontier $15/$75)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module은 일치. 공수 단위(man-day 대 man-month)와 비용 가격 tier가 다름. DP1에 중간 tier($3/$15, DP0와 같은 가격) 값을 병기. 경계 통일은 결정 필요(결과를 본 뒤 변경 금지 H5)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3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Baseline·Evidence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없는 기본 라우팅, 실측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Baseline-static(이동 없음), 시뮬레이션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다름(정상)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대상 DP가 달라 Baseline 정의가 다르다. Evidence 표기로 구분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
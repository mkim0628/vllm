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FBFF1-8289-4F44-A49E-DC50E313B338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57919-C994-45F7-8611-41E7C0BDE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9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7118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42BC9-7E09-4BD5-8590-2A2A9DF40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9C80FB-A36F-49E6-9605-B5FFB39FA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60FE08-251B-40D7-BE64-87453A7E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86FF0-09AF-4B47-AC47-D3EC2C62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32FB4F-2FD5-47E9-BD57-FFE05427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91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3F627-5421-4E7B-B8ED-2F404FA1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2D0D73-727B-4CB3-B147-65C9C2EE3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C2E7A-9A28-4F6F-8C19-FEB24B72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496F0F-4F8E-43D1-A0EF-6A8996E9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F68DF9-5F26-4B5B-AF50-65F5FD05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19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D1364-E1E3-4FC4-BD62-2115E383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EED35B-37DF-45AA-A474-95CA1D3B3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6ED7A0-C25E-4661-A475-391DC975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8800B1-993A-4EE0-A59F-D8171A6D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EDA40C-3B02-4618-A6C0-F48224DC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6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CCCDE-6B1A-4CEC-8E12-CFC95DB8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71A019-5A30-4594-845B-B912F3A28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B4070F-4DF9-494C-AD57-9CD6779C7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5D3662-FCD6-4654-A5D7-45B6F7FB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2E0F62-AD2B-49D6-B9CB-55043936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75BB4D-FAA3-441C-97B3-67651184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99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045CF-3D65-49FD-8279-3EDA0236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1DBE29-9044-4745-BB1D-AC9C5E618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EFE001-D3E1-43C1-A4E7-4BF3B1A1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9BB520-E279-44AC-A0EA-4BACB2686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3399E3-0AF9-4376-B5C7-7C1F5E6BD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F811CF-2278-4B35-96EA-27FE2039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BFEF65-7768-4B3E-BB36-44482533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B4A810-1F28-44B6-8A16-B261CA40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1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01A1B-8E5D-469C-B5B4-F01B40F5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BB08E1-4512-4011-8157-311DA498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8B9C36-7D90-4100-8F0D-BD6A0C57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AAA1E8-FC0D-45E4-AF16-0C9E69B9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51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EB59AE-66EB-4CB0-9B8D-B6B17AC7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4D584A-8A94-48A9-AB5E-DE899C1F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DDC2F0-FA1D-4AAA-9A9E-D7904C04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807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7DB9A-F3D2-45A2-A42D-61237CF7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5DE4E0-7BA2-4E30-9862-9192A5471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8065EA-F008-44DB-8CD9-0FA54F78E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264DD5-4A14-4C97-A622-B3CF47CE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F6B352-C176-49D3-BB22-1FBE9FB5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0A504C-AAC4-41CC-AD28-F5211017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17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E0C8B-526D-47AC-A13F-4581F54E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12C66A-791E-44FB-8A8E-2F0096229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E88AE1-794E-484F-9636-0CFA341CF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7A0B55-319C-47AE-A21C-84507BBF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F8F557-5BEB-40D2-8959-A23C24C9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B63448-54DE-48BF-808A-BA29E7D0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17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9C628C-596A-4CBC-B0A9-C914BA643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92A03-629A-414B-BD84-E2E8A57A8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40EB48-9271-42F6-A1D4-A63891F1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5CB5BC-FE7B-4E24-81BD-AE646FC4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2A917-58F8-471F-9CD3-71887853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63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FA35B5-AE6C-42D5-88E3-3307F7411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62D99E-42C3-41C8-9338-8DBAD8B73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FA221C-1A14-439A-9FFF-B5FA911F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D55CE2-02E6-4873-8F08-8F0C073F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3D749-0194-40DD-9B2E-7545CBDF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40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8582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019444-7A30-4022-9E8B-29EA06E2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F6F523-F76C-4490-934D-B6D6AD10A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E83DAF-8FF7-4AE6-8AD5-DE6C20112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6EEC50-0F3F-402A-8391-407B7DAB1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5DD1AD-A7EB-4338-8AD2-1A71895C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5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/>
              <a:t>Migration 실행 구조 </a:t>
            </a:r>
            <a:r>
              <a:rPr lang="en-US" altLang="ko-KR" dirty="0"/>
              <a:t>(Executor 이후)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Migration 실행</a:t>
            </a:r>
            <a:r>
              <a:rPr lang="en-US" altLang="ko-KR" sz="1400" b="1" dirty="0">
                <a:solidFill>
                  <a:schemeClr val="bg1"/>
                </a:solidFill>
              </a:rPr>
              <a:t> · </a:t>
            </a:r>
            <a:r>
              <a:rPr lang="ko-KR" altLang="en-US" sz="1400" b="1" dirty="0">
                <a:solidFill>
                  <a:schemeClr val="bg1"/>
                </a:solidFill>
              </a:rPr>
              <a:t>Location commit</a:t>
            </a:r>
            <a:r>
              <a:rPr lang="en-US" altLang="ko-KR" sz="1400" b="1" dirty="0">
                <a:solidFill>
                  <a:schemeClr val="bg1"/>
                </a:solidFill>
              </a:rPr>
              <a:t> · </a:t>
            </a:r>
            <a:r>
              <a:rPr lang="ko-KR" altLang="en-US" sz="1400" b="1" dirty="0">
                <a:solidFill>
                  <a:schemeClr val="bg1"/>
                </a:solidFill>
              </a:rPr>
              <a:t>Inference engine 위치 통지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6521412" y="46469"/>
            <a:ext cx="14873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(When, What, </a:t>
            </a:r>
          </a:p>
          <a:p>
            <a:r>
              <a:rPr lang="en-US" altLang="ko-KR" sz="1200" b="1" dirty="0"/>
              <a:t>Where to locate?)</a:t>
            </a:r>
            <a:endParaRPr lang="ko-KR" altLang="en-US" sz="1200" dirty="0"/>
          </a:p>
        </p:txBody>
      </p:sp>
      <p:graphicFrame>
        <p:nvGraphicFramePr>
          <p:cNvPr id="138" name="표 구조"/>
          <p:cNvGraphicFramePr>
            <a:graphicFrameLocks noGrp="1"/>
          </p:cNvGraphicFramePr>
          <p:nvPr/>
        </p:nvGraphicFramePr>
        <p:xfrm>
          <a:off x="249035" y="1044054"/>
          <a:ext cx="11747501" cy="5072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/>
                <a:gridCol w="10872108"/>
              </a:tblGrid>
              <a:tr h="342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DP1 결정 → 공통 Migration subsystem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(WHAT/WHERE는 DP1, HOW/WHEN/COMMIT은 Migration subsystem)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/>
                        <a:t/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9" name="headline"/>
          <p:cNvSpPr txBox="1"/>
          <p:nvPr/>
        </p:nvSpPr>
        <p:spPr>
          <a:xfrm>
            <a:off x="1111250" y="1397380"/>
            <a:ext cx="1070000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/>
            <a:r>
              <a:rPr lang="ko-KR" altLang="en-US" sz="1100" dirty="0"/>
              <a:t>“Policy decides </a:t>
            </a:r>
            <a:r>
              <a:rPr lang="ko-KR" altLang="en-US" sz="1100" dirty="0">
                <a:solidFill>
                  <a:srgbClr val="0066FF"/>
                </a:solidFill>
              </a:rPr>
              <a:t>WHAT and WHERE</a:t>
            </a:r>
            <a:r>
              <a:rPr lang="ko-KR" altLang="en-US" sz="1100" dirty="0"/>
              <a:t>. Migration subsystem decides </a:t>
            </a:r>
            <a:r>
              <a:rPr lang="ko-KR" altLang="en-US" sz="1100" dirty="0">
                <a:solidFill>
                  <a:srgbClr val="0066FF"/>
                </a:solidFill>
              </a:rPr>
              <a:t>HOW, WHEN, and COMMIT</a:t>
            </a:r>
            <a:r>
              <a:rPr lang="ko-KR" altLang="en-US" sz="1100" dirty="0"/>
              <a:t>“</a:t>
            </a:r>
          </a:p>
        </p:txBody>
      </p:sp>
      <p:sp>
        <p:nvSpPr>
          <p:cNvPr id="140" name="lane A"/>
          <p:cNvSpPr txBox="1"/>
          <p:nvPr/>
        </p:nvSpPr>
        <p:spPr>
          <a:xfrm>
            <a:off x="1150000" y="1730000"/>
            <a:ext cx="175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Decision Plane (DP1, 기존)</a:t>
            </a:r>
          </a:p>
        </p:txBody>
      </p:sp>
      <p:sp>
        <p:nvSpPr>
          <p:cNvPr id="141" name="lane B"/>
          <p:cNvSpPr txBox="1"/>
          <p:nvPr/>
        </p:nvSpPr>
        <p:spPr>
          <a:xfrm>
            <a:off x="3100000" y="1730000"/>
            <a:ext cx="490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Migration Control Plane  -  EngineCore process (신규·공통)</a:t>
            </a:r>
          </a:p>
        </p:txBody>
      </p:sp>
      <p:sp>
        <p:nvSpPr>
          <p:cNvPr id="142" name="lane C"/>
          <p:cNvSpPr txBox="1"/>
          <p:nvPr/>
        </p:nvSpPr>
        <p:spPr>
          <a:xfrm>
            <a:off x="8250000" y="1730000"/>
            <a:ext cx="370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Transfer Data Plane  -  Worker process</a:t>
            </a:r>
          </a:p>
        </p:txBody>
      </p:sp>
      <p:sp>
        <p:nvSpPr>
          <p:cNvPr id="143" name="Migration Data Selector"/>
          <p:cNvSpPr/>
          <p:nvPr/>
        </p:nvSpPr>
        <p:spPr>
          <a:xfrm>
            <a:off x="1150000" y="2060000"/>
            <a:ext cx="1750000" cy="4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</a:rPr>
              <a:t>Migration Data</a:t>
            </a:r>
          </a:p>
          <a:p>
            <a:pPr algn="ctr"/>
            <a:r>
              <a:rPr lang="ko-KR" altLang="en-US" sz="850" b="1" dirty="0">
                <a:solidFill>
                  <a:srgbClr val="1A1A1A"/>
                </a:solidFill>
              </a:rPr>
              <a:t>Selector</a:t>
            </a:r>
          </a:p>
        </p:txBody>
      </p:sp>
      <p:sp>
        <p:nvSpPr>
          <p:cNvPr id="144" name="Migration Executor"/>
          <p:cNvSpPr/>
          <p:nvPr/>
        </p:nvSpPr>
        <p:spPr>
          <a:xfrm>
            <a:off x="1150000" y="2740000"/>
            <a:ext cx="1750000" cy="5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Migration Executor</a:t>
            </a:r>
          </a:p>
          <a:p>
            <a:pPr algn="ctr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(DP1 출구 boundary:</a:t>
            </a:r>
          </a:p>
          <a:p>
            <a:pPr algn="ctr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결정만 넘기고 복사는 안 함)</a:t>
            </a:r>
          </a:p>
        </p:txBody>
      </p:sp>
      <p:sp>
        <p:nvSpPr>
          <p:cNvPr id="145" name="intent"/>
          <p:cNvSpPr txBox="1"/>
          <p:nvPr/>
        </p:nvSpPr>
        <p:spPr>
          <a:xfrm>
            <a:off x="1150000" y="3400000"/>
            <a:ext cx="1750000" cy="1250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800" b="1" dirty="0">
                <a:solidFill>
                  <a:srgbClr val="FF0000"/>
                </a:solidFill>
              </a:rPr>
              <a:t>MigrationIntent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object id (logical)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source tier → target tier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action: MOVE · REPLICATE ·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DROP · REMAP · RECLASSIFY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reason · priority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(foreground / background)</a:t>
            </a:r>
          </a:p>
        </p:txBody>
      </p:sp>
      <p:sp>
        <p:nvSpPr>
          <p:cNvPr id="146" name="MigrationCoordinator"/>
          <p:cNvSpPr/>
          <p:nvPr/>
        </p:nvSpPr>
        <p:spPr>
          <a:xfrm>
            <a:off x="3100000" y="2060000"/>
            <a:ext cx="4900000" cy="4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80" b="1" dirty="0">
                <a:solidFill>
                  <a:srgbClr val="1A1A1A"/>
                </a:solidFill>
              </a:rPr>
              <a:t>① MigrationCoordinator</a:t>
            </a:r>
            <a:r>
              <a:rPr lang="ko-KR" altLang="en-US" sz="720" dirty="0">
                <a:solidFill>
                  <a:srgbClr val="1A1A1A"/>
                </a:solidFill>
              </a:rPr>
              <a:t>  Intent 수신·검증, job lifecycle 관리</a:t>
            </a:r>
          </a:p>
        </p:txBody>
      </p:sp>
      <p:sp>
        <p:nvSpPr>
          <p:cNvPr id="147" name="DataLocationStore"/>
          <p:cNvSpPr/>
          <p:nvPr/>
        </p:nvSpPr>
        <p:spPr>
          <a:xfrm>
            <a:off x="3100000" y="2660000"/>
            <a:ext cx="850000" cy="2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③ Data</a:t>
            </a:r>
          </a:p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Location</a:t>
            </a:r>
          </a:p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Store</a:t>
            </a:r>
          </a:p>
          <a:p>
            <a:pPr algn="ctr"/>
            <a:r>
              <a:rPr lang="ko-KR" altLang="en-US" sz="600" dirty="0">
                <a:solidFill>
                  <a:srgbClr val="1A1A1A"/>
                </a:solidFill>
              </a:rPr>
              <a:t/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logical id →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physical location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(resource,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alloc, offset,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version)</a:t>
            </a:r>
          </a:p>
          <a:p>
            <a:pPr algn="ctr"/>
            <a:r>
              <a:rPr lang="ko-KR" altLang="en-US" sz="600" dirty="0">
                <a:solidFill>
                  <a:srgbClr val="1A1A1A"/>
                </a:solidFill>
              </a:rPr>
              <a:t/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copy 중에는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source가</a:t>
            </a:r>
          </a:p>
          <a:p>
            <a:pPr algn="ctr"/>
            <a:r>
              <a:rPr lang="ko-KR" altLang="en-US" sz="680" b="1" dirty="0">
                <a:solidFill>
                  <a:srgbClr val="1A1A1A"/>
                </a:solidFill>
              </a:rPr>
              <a:t>authoritative</a:t>
            </a:r>
          </a:p>
          <a:p>
            <a:pPr algn="ctr"/>
            <a:r>
              <a:rPr lang="ko-KR" altLang="en-US" sz="600" dirty="0">
                <a:solidFill>
                  <a:srgbClr val="1A1A1A"/>
                </a:solidFill>
              </a:rPr>
              <a:t/>
            </a:r>
          </a:p>
          <a:p>
            <a:pPr algn="ctr"/>
            <a:r>
              <a:rPr lang="ko-KR" altLang="en-US" sz="680" b="1" dirty="0">
                <a:solidFill>
                  <a:srgbClr val="FF0000"/>
                </a:solidFill>
              </a:rPr>
              <a:t>⑨ commit 시에만</a:t>
            </a:r>
          </a:p>
          <a:p>
            <a:pPr algn="ctr"/>
            <a:r>
              <a:rPr lang="ko-KR" altLang="en-US" sz="680" b="1" dirty="0">
                <a:solidFill>
                  <a:srgbClr val="FF0000"/>
                </a:solidFill>
              </a:rPr>
              <a:t>target으로 전환</a:t>
            </a:r>
          </a:p>
          <a:p>
            <a:pPr algn="ctr"/>
            <a:r>
              <a:rPr lang="ko-KR" altLang="en-US" sz="680" b="1" dirty="0">
                <a:solidFill>
                  <a:srgbClr val="FF0000"/>
                </a:solidFill>
              </a:rPr>
              <a:t>(version+1)</a:t>
            </a:r>
          </a:p>
        </p:txBody>
      </p:sp>
      <p:sp>
        <p:nvSpPr>
          <p:cNvPr id="148" name="KVDataAdapter"/>
          <p:cNvSpPr/>
          <p:nvPr/>
        </p:nvSpPr>
        <p:spPr>
          <a:xfrm>
            <a:off x="4100000" y="2660000"/>
            <a:ext cx="1900000" cy="54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</a:rPr>
              <a:t>② KVDataAdapter</a:t>
            </a:r>
          </a:p>
          <a:p>
            <a:pPr algn="ctr"/>
            <a:r>
              <a:rPr lang="ko-KR" altLang="en-US" sz="700" dirty="0">
                <a:solidFill>
                  <a:srgbClr val="1A1A1A"/>
                </a:solidFill>
              </a:rPr>
              <a:t>can_migrate_now (sealed?)</a:t>
            </a:r>
          </a:p>
          <a:p>
            <a:pPr algn="ctr"/>
            <a:r>
              <a:rPr lang="ko-KR" altLang="en-US" sz="700" dirty="0">
                <a:solidFill>
                  <a:srgbClr val="1A1A1A"/>
                </a:solidFill>
              </a:rPr>
              <a:t>source pin / 이동 중 free 금지</a:t>
            </a:r>
          </a:p>
        </p:txBody>
      </p:sp>
      <p:sp>
        <p:nvSpPr>
          <p:cNvPr id="149" name="MigrationPlanner"/>
          <p:cNvSpPr/>
          <p:nvPr/>
        </p:nvSpPr>
        <p:spPr>
          <a:xfrm>
            <a:off x="6100000" y="2660000"/>
            <a:ext cx="1900000" cy="54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</a:rPr>
              <a:t>④ MigrationPlanner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target reserve (MemoryResourceRegistry)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path: direct / staged / multi-hop</a:t>
            </a:r>
          </a:p>
        </p:txBody>
      </p:sp>
      <p:sp>
        <p:nvSpPr>
          <p:cNvPr id="150" name="MigrationScheduler"/>
          <p:cNvSpPr/>
          <p:nvPr/>
        </p:nvSpPr>
        <p:spPr>
          <a:xfrm>
            <a:off x="6100000" y="3380000"/>
            <a:ext cx="1900000" cy="5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</a:rPr>
              <a:t>⑤ MigrationScheduler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foreground(blocking) 우선, background는 link 몫 내</a:t>
            </a:r>
          </a:p>
        </p:txBody>
      </p:sp>
      <p:sp>
        <p:nvSpPr>
          <p:cNvPr id="151" name="SchedulerOutput"/>
          <p:cNvSpPr/>
          <p:nvPr/>
        </p:nvSpPr>
        <p:spPr>
          <a:xfrm>
            <a:off x="4100000" y="4100000"/>
            <a:ext cx="3900000" cy="5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</a:rPr>
              <a:t>⑥ SchedulerOutput (step boundary 공유)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migration_commands[ job, transfer_steps, src/dst spec ]  +  migration_dependencies[ request, job_ids, wait_before=MODEL_FORWARD ]</a:t>
            </a:r>
          </a:p>
        </p:txBody>
      </p:sp>
      <p:sp>
        <p:nvSpPr>
          <p:cNvPr id="152" name="CompletionReconciler"/>
          <p:cNvSpPr/>
          <p:nvPr/>
        </p:nvSpPr>
        <p:spPr>
          <a:xfrm>
            <a:off x="4100000" y="4800000"/>
            <a:ext cx="3900000" cy="5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</a:rPr>
              <a:t>⑧⑨ CompletionReconciler</a:t>
            </a:r>
            <a:r>
              <a:rPr lang="ko-KR" altLang="en-US" sz="700" dirty="0">
                <a:solidFill>
                  <a:srgbClr val="1A1A1A"/>
                </a:solidFill>
              </a:rPr>
              <a:t>  version·source 유효 검증 → atomic commit(location=target, version+1) → source 해제·unpin</a:t>
            </a:r>
          </a:p>
        </p:txBody>
      </p:sp>
      <p:sp>
        <p:nvSpPr>
          <p:cNvPr id="153" name="worker note"/>
          <p:cNvSpPr txBox="1"/>
          <p:nvPr/>
        </p:nvSpPr>
        <p:spPr>
          <a:xfrm>
            <a:off x="8250000" y="2060000"/>
            <a:ext cx="3700000" cy="195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820" b="1" dirty="0">
                <a:solidFill>
                  <a:srgbClr val="1A1A1A"/>
                </a:solidFill>
              </a:rPr>
              <a:t>Worker = copy executor</a:t>
            </a:r>
          </a:p>
          <a:p>
            <a:pPr algn="l"/>
            <a:r>
              <a:rPr lang="ko-KR" altLang="en-US" sz="720" dirty="0">
                <a:solidFill>
                  <a:srgbClr val="1A1A1A"/>
                </a:solidFill>
              </a:rPr>
              <a:t>위치 결정·commit 권한 없음</a:t>
            </a:r>
          </a:p>
          <a:p>
            <a:pPr algn="l"/>
            <a:r>
              <a:rPr lang="ko-KR" altLang="en-US" sz="720" dirty="0">
                <a:solidFill>
                  <a:srgbClr val="1A1A1A"/>
                </a:solidFill>
              </a:rPr>
              <a:t>(logical migration authority는 EngineCore)</a:t>
            </a:r>
          </a:p>
          <a:p>
            <a:pPr algn="l"/>
            <a:r>
              <a:rPr lang="ko-KR" altLang="en-US" sz="500" dirty="0">
                <a:solidFill>
                  <a:srgbClr val="1A1A1A"/>
                </a:solidFill>
              </a:rPr>
              <a:t/>
            </a:r>
          </a:p>
          <a:p>
            <a:pPr algn="l"/>
            <a:r>
              <a:rPr lang="ko-KR" altLang="en-US" sz="780" b="1" dirty="0">
                <a:solidFill>
                  <a:srgbClr val="1A1A1A"/>
                </a:solidFill>
              </a:rPr>
              <a:t>Job 상태 (EngineCore가 관리)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PENDING → PREPARING → COPYING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→ VERIFYING → COMMITTING → COMPLETED</a:t>
            </a:r>
          </a:p>
          <a:p>
            <a:pPr algn="l"/>
            <a:r>
              <a:rPr lang="ko-KR" altLang="en-US" sz="500" dirty="0">
                <a:solidFill>
                  <a:srgbClr val="1A1A1A"/>
                </a:solidFill>
              </a:rPr>
              <a:t/>
            </a:r>
          </a:p>
          <a:p>
            <a:pPr algn="l"/>
            <a:r>
              <a:rPr lang="ko-KR" altLang="en-US" sz="780" b="1" dirty="0">
                <a:solidFill>
                  <a:srgbClr val="FF0000"/>
                </a:solidFill>
              </a:rPr>
              <a:t>실패·stale·worker crash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→ target 폐기, source authoritative 유지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→ 재계획 (rollback)</a:t>
            </a:r>
          </a:p>
        </p:txBody>
      </p:sp>
      <p:sp>
        <p:nvSpPr>
          <p:cNvPr id="154" name="MigrationExecutor (Worker)"/>
          <p:cNvSpPr/>
          <p:nvPr/>
        </p:nvSpPr>
        <p:spPr>
          <a:xfrm>
            <a:off x="8250000" y="4100000"/>
            <a:ext cx="3700000" cy="5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</a:rPr>
              <a:t>MigrationExecutor (Worker)</a:t>
            </a:r>
          </a:p>
          <a:p>
            <a:pPr algn="ctr"/>
            <a:r>
              <a:rPr lang="ko-KR" altLang="en-US" sz="700" dirty="0">
                <a:solidFill>
                  <a:srgbClr val="1A1A1A"/>
                </a:solidFill>
              </a:rPr>
              <a:t>Command batch 수신, 비동기 handle 발급</a:t>
            </a:r>
          </a:p>
        </p:txBody>
      </p:sp>
      <p:sp>
        <p:nvSpPr>
          <p:cNvPr id="155" name="TransferRouter"/>
          <p:cNvSpPr/>
          <p:nvPr/>
        </p:nvSpPr>
        <p:spPr>
          <a:xfrm>
            <a:off x="8250000" y="4800000"/>
            <a:ext cx="3700000" cy="5800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30" b="1" dirty="0">
                <a:solidFill>
                  <a:srgbClr val="1A1A1A"/>
                </a:solidFill>
              </a:rPr>
              <a:t>⑦ TransferRouter → TransferHandler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CUDA P2P · Host DMA · CXL · NVMe 중 선택, source 유지한 채 target에 쓰기</a:t>
            </a:r>
          </a:p>
          <a:p>
            <a:pPr algn="ctr"/>
            <a:r>
              <a:rPr lang="ko-KR" altLang="en-US" sz="650" dirty="0">
                <a:solidFill>
                  <a:schemeClr val="bg1">
                    <a:lumMod val="50000"/>
                  </a:schemeClr>
                </a:solidFill>
              </a:rPr>
              <a:t>HBM · ScHBM · CXL-PNM · DRAM · HBF · SSD-PIM 사이 (Phase 1: 기존 OffloadingWorker 재사용)</a:t>
            </a:r>
          </a:p>
        </p:txBody>
      </p:sp>
      <p:cxnSp>
        <p:nvCxnSpPr>
          <p:cNvPr id="156" name="a-sel-exec"/>
          <p:cNvCxnSpPr/>
          <p:nvPr/>
        </p:nvCxnSpPr>
        <p:spPr>
          <a:xfrm>
            <a:off x="2025000" y="2460000"/>
            <a:ext cx="0" cy="28000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sp>
        <p:nvSpPr>
          <p:cNvPr id="2" name="a-exec-coord"/>
          <p:cNvSpPr/>
          <p:nvPr/>
        </p:nvSpPr>
        <p:spPr>
          <a:xfrm>
            <a:off x="2900000" y="2260000"/>
            <a:ext cx="200000" cy="760000"/>
          </a:xfrm>
          <a:custGeom>
            <a:avLst/>
            <a:gdLst/>
            <a:ahLst/>
            <a:cxnLst/>
            <a:rect l="l" t="t" r="r" b="b"/>
            <a:pathLst>
              <a:path w="200000" h="760000">
                <a:moveTo>
                  <a:pt x="0" y="760000"/>
                </a:moveTo>
                <a:lnTo>
                  <a:pt x="100000" y="760000"/>
                </a:lnTo>
                <a:lnTo>
                  <a:pt x="100000" y="0"/>
                </a:lnTo>
                <a:lnTo>
                  <a:pt x="200000" y="0"/>
                </a:lnTo>
              </a:path>
            </a:pathLst>
          </a:custGeom>
          <a:noFill/>
          <a:ln w="12700">
            <a:solidFill>
              <a:srgbClr val="FF0000"/>
            </a:solidFill>
            <a:prstDash val="solid"/>
            <a:headEnd type="none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7" name="a-coord-store"/>
          <p:cNvCxnSpPr/>
          <p:nvPr/>
        </p:nvCxnSpPr>
        <p:spPr>
          <a:xfrm>
            <a:off x="3525000" y="2460000"/>
            <a:ext cx="0" cy="200000"/>
          </a:xfrm>
          <a:prstGeom prst="line">
            <a:avLst/>
          </a:prstGeom>
          <a:ln w="1143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58" name="a-coord-kv"/>
          <p:cNvCxnSpPr/>
          <p:nvPr/>
        </p:nvCxnSpPr>
        <p:spPr>
          <a:xfrm>
            <a:off x="5050000" y="2460000"/>
            <a:ext cx="0" cy="200000"/>
          </a:xfrm>
          <a:prstGeom prst="line">
            <a:avLst/>
          </a:prstGeom>
          <a:ln w="1143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59" name="a-coord-plan"/>
          <p:cNvCxnSpPr/>
          <p:nvPr/>
        </p:nvCxnSpPr>
        <p:spPr>
          <a:xfrm>
            <a:off x="7050000" y="2460000"/>
            <a:ext cx="0" cy="200000"/>
          </a:xfrm>
          <a:prstGeom prst="line">
            <a:avLst/>
          </a:prstGeom>
          <a:ln w="1143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0" name="a-plan-sched"/>
          <p:cNvCxnSpPr/>
          <p:nvPr/>
        </p:nvCxnSpPr>
        <p:spPr>
          <a:xfrm>
            <a:off x="7050000" y="3200000"/>
            <a:ext cx="0" cy="180000"/>
          </a:xfrm>
          <a:prstGeom prst="line">
            <a:avLst/>
          </a:prstGeom>
          <a:ln w="1143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1" name="a-sched-so"/>
          <p:cNvCxnSpPr/>
          <p:nvPr/>
        </p:nvCxnSpPr>
        <p:spPr>
          <a:xfrm>
            <a:off x="7050000" y="3880000"/>
            <a:ext cx="0" cy="220000"/>
          </a:xfrm>
          <a:prstGeom prst="line">
            <a:avLst/>
          </a:prstGeom>
          <a:ln w="1143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2" name="a-so-exec"/>
          <p:cNvCxnSpPr/>
          <p:nvPr/>
        </p:nvCxnSpPr>
        <p:spPr>
          <a:xfrm>
            <a:off x="8000000" y="4350000"/>
            <a:ext cx="250000" cy="0"/>
          </a:xfrm>
          <a:prstGeom prst="line">
            <a:avLst/>
          </a:prstGeom>
          <a:ln w="150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3" name="a-exec-router"/>
          <p:cNvCxnSpPr/>
          <p:nvPr/>
        </p:nvCxnSpPr>
        <p:spPr>
          <a:xfrm>
            <a:off x="10100000" y="4600000"/>
            <a:ext cx="0" cy="200000"/>
          </a:xfrm>
          <a:prstGeom prst="line">
            <a:avLst/>
          </a:prstGeom>
          <a:ln w="1143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4" name="a-complete"/>
          <p:cNvCxnSpPr/>
          <p:nvPr/>
        </p:nvCxnSpPr>
        <p:spPr>
          <a:xfrm flipH="1">
            <a:off x="8000000" y="5090000"/>
            <a:ext cx="250000" cy="0"/>
          </a:xfrm>
          <a:prstGeom prst="line">
            <a:avLst/>
          </a:prstGeom>
          <a:ln w="15000">
            <a:solidFill>
              <a:srgbClr val="FF0000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5" name="a-commit"/>
          <p:cNvCxnSpPr/>
          <p:nvPr/>
        </p:nvCxnSpPr>
        <p:spPr>
          <a:xfrm flipH="1">
            <a:off x="3950000" y="5090000"/>
            <a:ext cx="150000" cy="0"/>
          </a:xfrm>
          <a:prstGeom prst="line">
            <a:avLst/>
          </a:prstGeom>
          <a:ln w="15000">
            <a:solidFill>
              <a:srgbClr val="FF0000"/>
            </a:solidFill>
            <a:prstDash val="solid"/>
            <a:headEnd type="none"/>
            <a:tailEnd type="triangle" w="med" len="med"/>
          </a:ln>
        </p:spPr>
      </p:cxnSp>
      <p:sp>
        <p:nvSpPr>
          <p:cNvPr id="166" name="strip title"/>
          <p:cNvSpPr txBox="1"/>
          <p:nvPr/>
        </p:nvSpPr>
        <p:spPr>
          <a:xfrm>
            <a:off x="1150000" y="5420000"/>
            <a:ext cx="560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80" b="1" dirty="0">
                <a:solidFill>
                  <a:srgbClr val="FF0000"/>
                </a:solidFill>
              </a:rPr>
              <a:t>Inference engine에 물리 위치를 알리는 경로 (logical block id는 그대로, 위치만 교체)</a:t>
            </a:r>
          </a:p>
        </p:txBody>
      </p:sp>
      <p:sp>
        <p:nvSpPr>
          <p:cNvPr id="167" name="legend"/>
          <p:cNvSpPr txBox="1"/>
          <p:nvPr/>
        </p:nvSpPr>
        <p:spPr>
          <a:xfrm>
            <a:off x="6900000" y="5420000"/>
            <a:ext cx="505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r"/>
            <a:r>
              <a:rPr lang="ko-KR" altLang="en-US" sz="650" b="1" dirty="0">
                <a:solidFill>
                  <a:srgbClr val="1A1A1A"/>
                </a:solidFill>
              </a:rPr>
              <a:t>색: </a:t>
            </a:r>
            <a:r>
              <a:rPr lang="ko-KR" altLang="en-US" sz="650" dirty="0">
                <a:solidFill>
                  <a:schemeClr val="accent1">
                    <a:lumMod val="75000"/>
                  </a:schemeClr>
                </a:solidFill>
              </a:rPr>
              <a:t>파랑=DP1 기존 · </a:t>
            </a:r>
            <a:r>
              <a:rPr lang="ko-KR" altLang="en-US" sz="650" dirty="0">
                <a:solidFill>
                  <a:srgbClr val="C76E31"/>
                </a:solidFill>
              </a:rPr>
              <a:t>주황=신규(공통 migration) · </a:t>
            </a:r>
            <a:r>
              <a:rPr lang="ko-KR" altLang="en-US" sz="650" dirty="0">
                <a:solidFill>
                  <a:schemeClr val="accent6">
                    <a:lumMod val="75000"/>
                  </a:schemeClr>
                </a:solidFill>
              </a:rPr>
              <a:t>초록=기존 vLLM 수정 · </a:t>
            </a:r>
            <a:r>
              <a:rPr lang="ko-KR" altLang="en-US" sz="650" dirty="0">
                <a:solidFill>
                  <a:schemeClr val="bg1">
                    <a:lumMod val="50000"/>
                  </a:schemeClr>
                </a:solidFill>
              </a:rPr>
              <a:t>회색=재사용</a:t>
            </a:r>
          </a:p>
        </p:txBody>
      </p:sp>
      <p:sp>
        <p:nvSpPr>
          <p:cNvPr id="168" name="N1"/>
          <p:cNvSpPr/>
          <p:nvPr/>
        </p:nvSpPr>
        <p:spPr>
          <a:xfrm>
            <a:off x="1150000" y="5580000"/>
            <a:ext cx="1960000" cy="5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60" b="1" dirty="0">
                <a:solidFill>
                  <a:srgbClr val="1A1A1A"/>
                </a:solidFill>
              </a:rPr>
              <a:t>⑨ commit 결과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logical id → 새 physical location (resource, alloc, offset, version+1). 이전 HBM block unpin·release</a:t>
            </a:r>
          </a:p>
        </p:txBody>
      </p:sp>
      <p:sp>
        <p:nvSpPr>
          <p:cNvPr id="169" name="N2"/>
          <p:cNvSpPr/>
          <p:nvPr/>
        </p:nvSpPr>
        <p:spPr>
          <a:xfrm>
            <a:off x="3360000" y="5580000"/>
            <a:ext cx="1960000" cy="5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60" b="1" dirty="0">
                <a:solidFill>
                  <a:srgbClr val="1A1A1A"/>
                </a:solidFill>
              </a:rPr>
              <a:t>KVCacheManager / BlockPool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Scheduler는 logical block id만 봄. 위치는 KVDataAdapter가 DataLocationStore에서 조회</a:t>
            </a:r>
          </a:p>
        </p:txBody>
      </p:sp>
      <p:sp>
        <p:nvSpPr>
          <p:cNvPr id="170" name="N3"/>
          <p:cNvSpPr/>
          <p:nvPr/>
        </p:nvSpPr>
        <p:spPr>
          <a:xfrm>
            <a:off x="5570000" y="5580000"/>
            <a:ext cx="1960000" cy="5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60" b="1" dirty="0">
                <a:solidFill>
                  <a:srgbClr val="1A1A1A"/>
                </a:solidFill>
              </a:rPr>
              <a:t>다음 step: Scheduler.schedule()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필요 KV가 하위 tier면 foreground promotion job + dependency를 SchedulerOutput에 실음</a:t>
            </a:r>
          </a:p>
        </p:txBody>
      </p:sp>
      <p:sp>
        <p:nvSpPr>
          <p:cNvPr id="171" name="N4"/>
          <p:cNvSpPr/>
          <p:nvPr/>
        </p:nvSpPr>
        <p:spPr>
          <a:xfrm>
            <a:off x="7780000" y="5580000"/>
            <a:ext cx="1960000" cy="5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60" b="1" dirty="0">
                <a:solidFill>
                  <a:srgbClr val="1A1A1A"/>
                </a:solidFill>
              </a:rPr>
              <a:t>Worker: dependency 대기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migration job 완료까지 MODEL_FORWARD 진입 전 wait (Phase 1: forward 앞 barrier)</a:t>
            </a:r>
          </a:p>
        </p:txBody>
      </p:sp>
      <p:sp>
        <p:nvSpPr>
          <p:cNvPr id="172" name="N5"/>
          <p:cNvSpPr/>
          <p:nvPr/>
        </p:nvSpPr>
        <p:spPr>
          <a:xfrm>
            <a:off x="9990000" y="5580000"/>
            <a:ext cx="1960000" cy="5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60" b="1" dirty="0">
                <a:solidFill>
                  <a:srgbClr val="1A1A1A"/>
                </a:solidFill>
              </a:rPr>
              <a:t>GPUModelRunner.execute_model()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required KV가 HBM의 새 physical block에 있음 → attention 수행</a:t>
            </a:r>
          </a:p>
        </p:txBody>
      </p:sp>
      <p:cxnSp>
        <p:nvCxnSpPr>
          <p:cNvPr id="173" name="a-N1-N2"/>
          <p:cNvCxnSpPr/>
          <p:nvPr/>
        </p:nvCxnSpPr>
        <p:spPr>
          <a:xfrm>
            <a:off x="3110000" y="5830000"/>
            <a:ext cx="250000" cy="0"/>
          </a:xfrm>
          <a:prstGeom prst="line">
            <a:avLst/>
          </a:prstGeom>
          <a:ln w="12700">
            <a:solidFill>
              <a:srgbClr val="888C9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74" name="a-N2-N3"/>
          <p:cNvCxnSpPr/>
          <p:nvPr/>
        </p:nvCxnSpPr>
        <p:spPr>
          <a:xfrm>
            <a:off x="5320000" y="5830000"/>
            <a:ext cx="250000" cy="0"/>
          </a:xfrm>
          <a:prstGeom prst="line">
            <a:avLst/>
          </a:prstGeom>
          <a:ln w="12700">
            <a:solidFill>
              <a:srgbClr val="888C9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75" name="a-N3-N4"/>
          <p:cNvCxnSpPr/>
          <p:nvPr/>
        </p:nvCxnSpPr>
        <p:spPr>
          <a:xfrm>
            <a:off x="7530000" y="5830000"/>
            <a:ext cx="250000" cy="0"/>
          </a:xfrm>
          <a:prstGeom prst="line">
            <a:avLst/>
          </a:prstGeom>
          <a:ln w="12700">
            <a:solidFill>
              <a:srgbClr val="888C9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76" name="a-N4-N5"/>
          <p:cNvCxnSpPr/>
          <p:nvPr/>
        </p:nvCxnSpPr>
        <p:spPr>
          <a:xfrm>
            <a:off x="9740000" y="5830000"/>
            <a:ext cx="250000" cy="0"/>
          </a:xfrm>
          <a:prstGeom prst="line">
            <a:avLst/>
          </a:prstGeom>
          <a:ln w="12700">
            <a:solidFill>
              <a:srgbClr val="888C91"/>
            </a:solidFill>
            <a:prstDash val="solid"/>
            <a:headEnd type="none"/>
            <a:tailEnd type="triangle" w="med" len="med"/>
          </a:ln>
        </p:spPr>
      </p:cxnSp>
      <p:sp>
        <p:nvSpPr>
          <p:cNvPr id="177" name="takeaway"/>
          <p:cNvSpPr/>
          <p:nvPr/>
        </p:nvSpPr>
        <p:spPr>
          <a:xfrm>
            <a:off x="234949" y="6195000"/>
            <a:ext cx="11747501" cy="30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ko-KR" altLang="en-US" sz="1000" b="1" dirty="0">
                <a:solidFill>
                  <a:schemeClr val="bg1"/>
                </a:solidFill>
              </a:rPr>
              <a:t>핵심: </a:t>
            </a:r>
            <a:r>
              <a:rPr lang="ko-KR" altLang="en-US" sz="900" b="1" dirty="0">
                <a:solidFill>
                  <a:schemeClr val="bg1"/>
                </a:solidFill>
              </a:rPr>
              <a:t>copy 중엔 source가 authoritative, 검증 후에만 atomic commit, 새 위치는 다음 step의 SchedulerOutput으로 전달 (설계 단계, 미구현)</a:t>
            </a:r>
          </a:p>
        </p:txBody>
      </p:sp>
    </p:spTree>
    <p:extLst>
      <p:ext uri="{BB962C8B-B14F-4D97-AF65-F5344CB8AC3E}">
        <p14:creationId xmlns:p14="http://schemas.microsoft.com/office/powerpoint/2010/main" val="112111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와이드스크린</PresentationFormat>
  <Paragraphs>107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맑은 고딕</vt:lpstr>
      <vt:lpstr>Arial</vt:lpstr>
      <vt:lpstr>Wingdings</vt:lpstr>
      <vt:lpstr>Office 테마</vt:lpstr>
      <vt:lpstr>DP1. 이기종 메모리 기반 Data Migration 결정 구조 - 설계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설계</dc:title>
  <dc:creator>SAMSUNG</dc:creator>
  <cp:lastModifiedBy>SAMSUNG</cp:lastModifiedBy>
  <cp:revision>1</cp:revision>
  <dcterms:created xsi:type="dcterms:W3CDTF">2026-10-04T17:05:55Z</dcterms:created>
  <dcterms:modified xsi:type="dcterms:W3CDTF">2026-10-04T17:06:05Z</dcterms:modified>
</cp:coreProperties>
</file>
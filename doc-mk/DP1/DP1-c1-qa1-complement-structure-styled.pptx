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65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6" autoAdjust="0"/>
    <p:restoredTop sz="94660"/>
  </p:normalViewPr>
  <p:slideViewPr>
    <p:cSldViewPr snapToGrid="0">
      <p:cViewPr varScale="1">
        <p:scale>
          <a:sx n="90" d="100"/>
          <a:sy n="90" d="100"/>
        </p:scale>
        <p:origin x="1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CFBFF1-8289-4F44-A49E-DC50E313B338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357919-C994-45F7-8611-41E7C0BDE4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2393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C2</a:t>
            </a:r>
            <a:r>
              <a:rPr lang="ko-KR" altLang="en-US" dirty="0"/>
              <a:t>의 </a:t>
            </a:r>
            <a:r>
              <a:rPr lang="en-US" altLang="ko-KR" dirty="0"/>
              <a:t>runtime state monitor</a:t>
            </a:r>
            <a:r>
              <a:rPr lang="ko-KR" altLang="en-US" dirty="0"/>
              <a:t>에 대한 설명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“Data type label</a:t>
            </a:r>
            <a:r>
              <a:rPr lang="ko-KR" altLang="en-US" dirty="0"/>
              <a:t>만 가지고 배치한 것이 아니라</a:t>
            </a:r>
            <a:r>
              <a:rPr lang="en-US" altLang="ko-KR" dirty="0"/>
              <a:t>, object</a:t>
            </a:r>
            <a:r>
              <a:rPr lang="ko-KR" altLang="en-US" dirty="0"/>
              <a:t>별 </a:t>
            </a:r>
            <a:r>
              <a:rPr lang="en-US" altLang="ko-KR" dirty="0"/>
              <a:t>access event</a:t>
            </a:r>
            <a:r>
              <a:rPr lang="ko-KR" altLang="en-US" dirty="0"/>
              <a:t>를 </a:t>
            </a:r>
            <a:r>
              <a:rPr lang="en-US" altLang="ko-KR" dirty="0"/>
              <a:t>online</a:t>
            </a:r>
            <a:r>
              <a:rPr lang="ko-KR" altLang="en-US" dirty="0"/>
              <a:t>으로 수집하고 </a:t>
            </a:r>
            <a:r>
              <a:rPr lang="en-US" altLang="ko-KR" dirty="0"/>
              <a:t>access-rate EWMA, inter-access interval, idle duration, object age</a:t>
            </a:r>
            <a:r>
              <a:rPr lang="ko-KR" altLang="en-US" dirty="0"/>
              <a:t>를 관리했습니다</a:t>
            </a:r>
            <a:r>
              <a:rPr lang="en-US" altLang="ko-KR" dirty="0"/>
              <a:t>. Cold start</a:t>
            </a:r>
            <a:r>
              <a:rPr lang="ko-KR" altLang="en-US" dirty="0"/>
              <a:t>에서는 </a:t>
            </a:r>
            <a:r>
              <a:rPr lang="en-US" altLang="ko-KR" dirty="0"/>
              <a:t>data-class prior</a:t>
            </a:r>
            <a:r>
              <a:rPr lang="ko-KR" altLang="en-US" dirty="0"/>
              <a:t>를 사용하고 </a:t>
            </a:r>
            <a:r>
              <a:rPr lang="en-US" altLang="ko-KR" dirty="0"/>
              <a:t>observation</a:t>
            </a:r>
            <a:r>
              <a:rPr lang="ko-KR" altLang="en-US" dirty="0"/>
              <a:t>이 축적되면 </a:t>
            </a:r>
            <a:r>
              <a:rPr lang="en-US" altLang="ko-KR" dirty="0"/>
              <a:t>prior weight</a:t>
            </a:r>
            <a:r>
              <a:rPr lang="ko-KR" altLang="en-US" dirty="0"/>
              <a:t>를 </a:t>
            </a:r>
            <a:r>
              <a:rPr lang="en-US" altLang="ko-KR" dirty="0"/>
              <a:t>exponential decay</a:t>
            </a:r>
            <a:r>
              <a:rPr lang="ko-KR" altLang="en-US" dirty="0"/>
              <a:t>시켜 실제 </a:t>
            </a:r>
            <a:r>
              <a:rPr lang="en-US" altLang="ko-KR" dirty="0"/>
              <a:t>runtime behavior</a:t>
            </a:r>
            <a:r>
              <a:rPr lang="ko-KR" altLang="en-US" dirty="0"/>
              <a:t>가 </a:t>
            </a:r>
            <a:r>
              <a:rPr lang="en-US" altLang="ko-KR" dirty="0"/>
              <a:t>prediction</a:t>
            </a:r>
            <a:r>
              <a:rPr lang="ko-KR" altLang="en-US" dirty="0"/>
              <a:t>을 지배하도록 했습니다</a:t>
            </a:r>
            <a:r>
              <a:rPr lang="en-US" altLang="ko-KR" dirty="0"/>
              <a:t>.”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DA8945-F465-465D-B259-7A4F968DC8D5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71180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842BC9-7E09-4BD5-8590-2A2A9DF40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A9C80FB-A36F-49E6-9605-B5FFB39FAE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60FE08-251B-40D7-BE64-87453A7EC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D85D-8693-44A8-8977-2F323395A29D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286FF0-09AF-4B47-AC47-D3EC2C623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32FB4F-2FD5-47E9-BD57-FFE05427D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34D1-2995-4129-A779-8629FB2700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8917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73F627-5421-4E7B-B8ED-2F404FA1F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2D0D73-727B-4CB3-B147-65C9C2EE3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9C2E7A-9A28-4F6F-8C19-FEB24B72A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D85D-8693-44A8-8977-2F323395A29D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496F0F-4F8E-43D1-A0EF-6A8996E94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F68DF9-5F26-4B5B-AF50-65F5FD059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34D1-2995-4129-A779-8629FB2700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7190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FD1364-E1E3-4FC4-BD62-2115E383F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EEED35B-37DF-45AA-A474-95CA1D3B3A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6ED7A0-C25E-4661-A475-391DC975C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D85D-8693-44A8-8977-2F323395A29D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8800B1-993A-4EE0-A59F-D8171A6D0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EDA40C-3B02-4618-A6C0-F48224DC2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34D1-2995-4129-A779-8629FB2700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1967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CCCCDE-6B1A-4CEC-8E12-CFC95DB83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71A019-5A30-4594-845B-B912F3A28B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6B4070F-4DF9-494C-AD57-9CD6779C73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F5D3662-FCD6-4654-A5D7-45B6F7FBC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D85D-8693-44A8-8977-2F323395A29D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F2E0F62-AD2B-49D6-B9CB-550439367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775BB4D-FAA3-441C-97B3-676511840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34D1-2995-4129-A779-8629FB2700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1999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F045CF-3D65-49FD-8279-3EDA02363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41DBE29-9044-4745-BB1D-AC9C5E6183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AEFE001-D3E1-43C1-A4E7-4BF3B1A199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99BB520-E279-44AC-A0EA-4BACB2686E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13399E3-0AF9-4376-B5C7-7C1F5E6BD1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FF811CF-2278-4B35-96EA-27FE20390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D85D-8693-44A8-8977-2F323395A29D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1BFEF65-7768-4B3E-BB36-444825339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8B4A810-1F28-44B6-8A16-B261CA40F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34D1-2995-4129-A779-8629FB2700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4315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001A1B-8E5D-469C-B5B4-F01B40F5D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1BB08E1-4512-4011-8157-311DA4981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D85D-8693-44A8-8977-2F323395A29D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88B9C36-7D90-4100-8F0D-BD6A0C577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BAAA1E8-FC0D-45E4-AF16-0C9E69B9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34D1-2995-4129-A779-8629FB2700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7513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4EB59AE-66EB-4CB0-9B8D-B6B17AC78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D85D-8693-44A8-8977-2F323395A29D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04D584A-8A94-48A9-AB5E-DE899C1F3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DDC2F0-FA1D-4AAA-9A9E-D7904C04C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34D1-2995-4129-A779-8629FB2700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6807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A7DB9A-F3D2-45A2-A42D-61237CF7A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5DE4E0-7BA2-4E30-9862-9192A5471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A8065EA-F008-44DB-8CD9-0FA54F78ED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7264DD5-4A14-4C97-A622-B3CF47CE0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D85D-8693-44A8-8977-2F323395A29D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EF6B352-C176-49D3-BB22-1FBE9FB58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0A504C-AAC4-41CC-AD28-F52110173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34D1-2995-4129-A779-8629FB2700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3174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DE0C8B-526D-47AC-A13F-4581F54ED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A12C66A-791E-44FB-8A8E-2F0096229A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3E88AE1-794E-484F-9636-0CFA341CF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F7A0B55-319C-47AE-A21C-84507BBFA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D85D-8693-44A8-8977-2F323395A29D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2F8F557-5BEB-40D2-8959-A23C24C96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6B63448-54DE-48BF-808A-BA29E7D01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34D1-2995-4129-A779-8629FB2700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8177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9C628C-596A-4CBC-B0A9-C914BA643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6292A03-629A-414B-BD84-E2E8A57A88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40EB48-9271-42F6-A1D4-A63891F1C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D85D-8693-44A8-8977-2F323395A29D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5CB5BC-FE7B-4E24-81BD-AE646FC43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C2A917-58F8-471F-9CD3-718878539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34D1-2995-4129-A779-8629FB2700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3638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BFA35B5-AE6C-42D5-88E3-3307F74111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662D99E-42C3-41C8-9338-8DBAD8B736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FA221C-1A14-439A-9FFF-B5FA911F4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D85D-8693-44A8-8977-2F323395A29D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D55CE2-02E6-4873-8F08-8F0C073F5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93D749-0194-40DD-9B2E-7545CBDF9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34D1-2995-4129-A779-8629FB2700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04046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6559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F6FB25F-7B1E-410A-903C-9DE680EED1C3}"/>
              </a:ext>
            </a:extLst>
          </p:cNvPr>
          <p:cNvGrpSpPr/>
          <p:nvPr userDrawn="1"/>
        </p:nvGrpSpPr>
        <p:grpSpPr>
          <a:xfrm>
            <a:off x="7995393" y="137379"/>
            <a:ext cx="4006094" cy="357521"/>
            <a:chOff x="7522576" y="137379"/>
            <a:chExt cx="4478924" cy="357521"/>
          </a:xfrm>
        </p:grpSpPr>
        <p:sp>
          <p:nvSpPr>
            <p:cNvPr id="22" name="갈매기형 수장 21"/>
            <p:cNvSpPr/>
            <p:nvPr userDrawn="1"/>
          </p:nvSpPr>
          <p:spPr>
            <a:xfrm>
              <a:off x="7522576" y="137379"/>
              <a:ext cx="1031887" cy="357521"/>
            </a:xfrm>
            <a:prstGeom prst="chevron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과제 소개</a:t>
              </a:r>
            </a:p>
          </p:txBody>
        </p:sp>
        <p:sp>
          <p:nvSpPr>
            <p:cNvPr id="23" name="갈매기형 수장 22"/>
            <p:cNvSpPr/>
            <p:nvPr userDrawn="1"/>
          </p:nvSpPr>
          <p:spPr>
            <a:xfrm>
              <a:off x="84150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요구사항</a:t>
              </a:r>
            </a:p>
          </p:txBody>
        </p:sp>
        <p:sp>
          <p:nvSpPr>
            <p:cNvPr id="25" name="갈매기형 수장 24"/>
            <p:cNvSpPr/>
            <p:nvPr userDrawn="1"/>
          </p:nvSpPr>
          <p:spPr>
            <a:xfrm>
              <a:off x="9313975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설계</a:t>
              </a:r>
            </a:p>
          </p:txBody>
        </p:sp>
        <p:sp>
          <p:nvSpPr>
            <p:cNvPr id="26" name="갈매기형 수장 25"/>
            <p:cNvSpPr/>
            <p:nvPr userDrawn="1"/>
          </p:nvSpPr>
          <p:spPr>
            <a:xfrm>
              <a:off x="102064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구현</a:t>
              </a:r>
              <a:r>
                <a:rPr lang="en-US" altLang="ko-KR" sz="1000" b="1" dirty="0">
                  <a:solidFill>
                    <a:schemeClr val="bg1"/>
                  </a:solidFill>
                </a:rPr>
                <a:t>/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검증</a:t>
              </a:r>
            </a:p>
          </p:txBody>
        </p:sp>
        <p:sp>
          <p:nvSpPr>
            <p:cNvPr id="27" name="갈매기형 수장 26"/>
            <p:cNvSpPr/>
            <p:nvPr userDrawn="1"/>
          </p:nvSpPr>
          <p:spPr>
            <a:xfrm>
              <a:off x="11105815" y="137379"/>
              <a:ext cx="892483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결론</a:t>
              </a:r>
            </a:p>
          </p:txBody>
        </p:sp>
        <p:sp>
          <p:nvSpPr>
            <p:cNvPr id="29" name="직사각형 28"/>
            <p:cNvSpPr/>
            <p:nvPr userDrawn="1"/>
          </p:nvSpPr>
          <p:spPr>
            <a:xfrm>
              <a:off x="11789373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>
                <a:solidFill>
                  <a:schemeClr val="bg1"/>
                </a:solidFill>
              </a:endParaRPr>
            </a:p>
          </p:txBody>
        </p:sp>
        <p:sp>
          <p:nvSpPr>
            <p:cNvPr id="30" name="직사각형 29"/>
            <p:cNvSpPr/>
            <p:nvPr userDrawn="1"/>
          </p:nvSpPr>
          <p:spPr>
            <a:xfrm>
              <a:off x="7528835" y="137379"/>
              <a:ext cx="212127" cy="357521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5975555" y="6563925"/>
            <a:ext cx="470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 23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285823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0019444-7A30-4022-9E8B-29EA06E27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7F6F523-F76C-4490-934D-B6D6AD10A9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E83DAF-8FF7-4AE6-8AD5-DE6C201124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16D85D-8693-44A8-8977-2F323395A29D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6EEC50-0F3F-402A-8391-407B7DAB1F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5DD1AD-A7EB-4338-8AD2-1A71895C35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C334D1-2995-4129-A779-8629FB2700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3755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9" y="137379"/>
            <a:ext cx="7631530" cy="365125"/>
          </a:xfrm>
        </p:spPr>
        <p:txBody>
          <a:bodyPr/>
          <a:lstStyle/>
          <a:p>
            <a:r>
              <a:rPr lang="en-US" altLang="ko-KR" dirty="0"/>
              <a:t>DP1. </a:t>
            </a:r>
            <a:r>
              <a:rPr lang="ko-KR" altLang="en-US" dirty="0"/>
              <a:t>C1 구조 보완 </a:t>
            </a:r>
            <a:r>
              <a:rPr lang="en-US" altLang="ko-KR" dirty="0"/>
              <a:t>(QA1 complement)</a:t>
            </a:r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설계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234949" y="596176"/>
            <a:ext cx="11747501" cy="39660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69760" y="627926"/>
            <a:ext cx="75929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ko-KR" altLang="en-US" sz="1400" b="1" dirty="0">
                <a:solidFill>
                  <a:schemeClr val="bg1"/>
                </a:solidFill>
              </a:rPr>
              <a:t>C1의 QA1 격차 보완</a:t>
            </a:r>
            <a:r>
              <a:rPr lang="en-US" altLang="ko-KR" sz="1400" b="1" dirty="0">
                <a:solidFill>
                  <a:schemeClr val="bg1"/>
                </a:solidFill>
              </a:rPr>
              <a:t>: </a:t>
            </a:r>
            <a:r>
              <a:rPr lang="ko-KR" altLang="en-US" sz="1400" b="1" dirty="0">
                <a:solidFill>
                  <a:schemeClr val="bg1"/>
                </a:solidFill>
              </a:rPr>
              <a:t>Activity</a:t>
            </a:r>
            <a:r>
              <a:rPr lang="en-US" altLang="ko-KR" sz="1400" b="1" dirty="0">
                <a:solidFill>
                  <a:schemeClr val="bg1"/>
                </a:solidFill>
              </a:rPr>
              <a:t> 신호 + </a:t>
            </a:r>
            <a:r>
              <a:rPr lang="ko-KR" altLang="en-US" sz="1400" b="1" dirty="0">
                <a:solidFill>
                  <a:schemeClr val="bg1"/>
                </a:solidFill>
              </a:rPr>
              <a:t>Gate</a:t>
            </a:r>
            <a:r>
              <a:rPr lang="en-US" altLang="ko-KR" sz="1400" b="1" dirty="0">
                <a:solidFill>
                  <a:schemeClr val="bg1"/>
                </a:solidFill>
              </a:rPr>
              <a:t> + </a:t>
            </a:r>
            <a:r>
              <a:rPr lang="ko-KR" altLang="en-US" sz="1400" b="1" dirty="0">
                <a:solidFill>
                  <a:schemeClr val="bg1"/>
                </a:solidFill>
              </a:rPr>
              <a:t>Pacer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03086" y="678726"/>
            <a:ext cx="66675" cy="21627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48" name="모서리가 둥근 직사각형 47"/>
          <p:cNvSpPr/>
          <p:nvPr/>
        </p:nvSpPr>
        <p:spPr>
          <a:xfrm>
            <a:off x="8865760" y="629703"/>
            <a:ext cx="743834" cy="32112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</a:rPr>
              <a:t>Q1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모서리가 둥근 직사각형 30"/>
          <p:cNvSpPr/>
          <p:nvPr/>
        </p:nvSpPr>
        <p:spPr>
          <a:xfrm>
            <a:off x="9673910" y="629703"/>
            <a:ext cx="735941" cy="32112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</a:rPr>
              <a:t>Q2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모서리가 둥근 직사각형 31"/>
          <p:cNvSpPr/>
          <p:nvPr/>
        </p:nvSpPr>
        <p:spPr>
          <a:xfrm>
            <a:off x="11187937" y="627572"/>
            <a:ext cx="702289" cy="323254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</a:rPr>
              <a:t>C2</a:t>
            </a:r>
            <a:endParaRPr lang="ko-KR" altLang="en-US" sz="900" b="1" dirty="0">
              <a:latin typeface="맑은 고딕" panose="020B0503020000020004" pitchFamily="50" charset="-127"/>
            </a:endParaRPr>
          </a:p>
        </p:txBody>
      </p:sp>
      <p:sp>
        <p:nvSpPr>
          <p:cNvPr id="38" name="모서리가 둥근 직사각형 37"/>
          <p:cNvSpPr/>
          <p:nvPr/>
        </p:nvSpPr>
        <p:spPr>
          <a:xfrm>
            <a:off x="8062711" y="627572"/>
            <a:ext cx="758470" cy="323254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모서리가 둥근 직사각형 69"/>
          <p:cNvSpPr/>
          <p:nvPr/>
        </p:nvSpPr>
        <p:spPr>
          <a:xfrm>
            <a:off x="10453490" y="627572"/>
            <a:ext cx="702289" cy="323254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cxnSp>
        <p:nvCxnSpPr>
          <p:cNvPr id="59" name="직선 연결선 58"/>
          <p:cNvCxnSpPr/>
          <p:nvPr/>
        </p:nvCxnSpPr>
        <p:spPr>
          <a:xfrm>
            <a:off x="8383231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/>
          <p:nvPr/>
        </p:nvCxnSpPr>
        <p:spPr>
          <a:xfrm>
            <a:off x="8461250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/>
          <p:nvPr/>
        </p:nvCxnSpPr>
        <p:spPr>
          <a:xfrm>
            <a:off x="8539269" y="457197"/>
            <a:ext cx="5859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/>
          <p:nvPr/>
        </p:nvCxnSpPr>
        <p:spPr>
          <a:xfrm>
            <a:off x="8617288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/>
          <p:cNvCxnSpPr/>
          <p:nvPr/>
        </p:nvCxnSpPr>
        <p:spPr>
          <a:xfrm>
            <a:off x="8695307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/>
          <p:nvPr/>
        </p:nvCxnSpPr>
        <p:spPr>
          <a:xfrm>
            <a:off x="8773326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/>
          <p:nvPr/>
        </p:nvCxnSpPr>
        <p:spPr>
          <a:xfrm>
            <a:off x="8851345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/>
          <p:cNvCxnSpPr/>
          <p:nvPr/>
        </p:nvCxnSpPr>
        <p:spPr>
          <a:xfrm>
            <a:off x="8929364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/>
          <p:cNvCxnSpPr/>
          <p:nvPr/>
        </p:nvCxnSpPr>
        <p:spPr>
          <a:xfrm>
            <a:off x="900738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/>
          <p:cNvCxnSpPr/>
          <p:nvPr/>
        </p:nvCxnSpPr>
        <p:spPr>
          <a:xfrm>
            <a:off x="908540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직사각형 136"/>
          <p:cNvSpPr/>
          <p:nvPr/>
        </p:nvSpPr>
        <p:spPr>
          <a:xfrm>
            <a:off x="6521412" y="46469"/>
            <a:ext cx="14873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(When, What, </a:t>
            </a:r>
          </a:p>
          <a:p>
            <a:r>
              <a:rPr lang="en-US" altLang="ko-KR" sz="1200" b="1" dirty="0"/>
              <a:t>Where to locate?)</a:t>
            </a:r>
            <a:endParaRPr lang="ko-KR" altLang="en-US" sz="1200" dirty="0"/>
          </a:p>
        </p:txBody>
      </p:sp>
      <p:graphicFrame>
        <p:nvGraphicFramePr>
          <p:cNvPr id="138" name="표 구조"/>
          <p:cNvGraphicFramePr>
            <a:graphicFrameLocks noGrp="1"/>
          </p:cNvGraphicFramePr>
          <p:nvPr/>
        </p:nvGraphicFramePr>
        <p:xfrm>
          <a:off x="249035" y="1044054"/>
          <a:ext cx="11747501" cy="32427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5393"/>
                <a:gridCol w="10872108"/>
              </a:tblGrid>
              <a:tr h="3427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설계 안</a:t>
                      </a:r>
                    </a:p>
                  </a:txBody>
                  <a:tcPr marL="91440" marT="45720" marR="91440" marB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 dirty="0"/>
                        <a:t>(1안 보완) 메모리 Resource State driven Migration 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</a:rPr>
                        <a:t>+ Data-Memory Affinity</a:t>
                      </a:r>
                      <a:r>
                        <a:rPr lang="ko-KR" altLang="en-US" sz="1200" b="1" dirty="0"/>
                        <a:t> + Activity Tag Store / Gate / Pacer  [C] 설계 제안, 미구현</a:t>
                      </a:r>
                    </a:p>
                  </a:txBody>
                  <a:tcPr marL="91440" marT="45720" marR="91440" marB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0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구조</a:t>
                      </a:r>
                    </a:p>
                  </a:txBody>
                  <a:tcPr marL="91440" marT="45720" marR="91440" marB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/>
                        <a:t/>
                      </a:r>
                    </a:p>
                  </a:txBody>
                  <a:tcPr marL="91440" marT="45720" marR="91440" marB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9" name="headline C1+"/>
          <p:cNvSpPr txBox="1"/>
          <p:nvPr/>
        </p:nvSpPr>
        <p:spPr>
          <a:xfrm>
            <a:off x="1111250" y="1397380"/>
            <a:ext cx="10700000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l"/>
            <a:r>
              <a:rPr lang="ko-KR" altLang="en-US" sz="1100" dirty="0"/>
              <a:t>“Data 종류 관계없이 </a:t>
            </a:r>
            <a:r>
              <a:rPr lang="ko-KR" altLang="en-US" sz="1100" dirty="0">
                <a:solidFill>
                  <a:srgbClr val="0066FF"/>
                </a:solidFill>
              </a:rPr>
              <a:t>메모리 자원 상태(Capacity/BW/Load)</a:t>
            </a:r>
            <a:r>
              <a:rPr lang="ko-KR" altLang="en-US" sz="1100" dirty="0"/>
              <a:t>가 trigger인 구조를 유지하고, </a:t>
            </a:r>
            <a:r>
              <a:rPr lang="ko-KR" altLang="en-US" sz="1100" dirty="0">
                <a:solidFill>
                  <a:srgbClr val="0066FF"/>
                </a:solidFill>
              </a:rPr>
              <a:t>Activity 신호는 후보 필터·가중·정렬</a:t>
            </a:r>
            <a:r>
              <a:rPr lang="ko-KR" altLang="en-US" sz="1100" dirty="0"/>
              <a:t>에만 사용한 Migration“</a:t>
            </a:r>
          </a:p>
        </p:txBody>
      </p:sp>
      <p:sp>
        <p:nvSpPr>
          <p:cNvPr id="140" name="Event Source"/>
          <p:cNvSpPr/>
          <p:nvPr/>
        </p:nvSpPr>
        <p:spPr>
          <a:xfrm>
            <a:off x="1250000" y="2200000"/>
            <a:ext cx="1250000" cy="1000000"/>
          </a:xfrm>
          <a:prstGeom prst="rect">
            <a:avLst/>
          </a:prstGeom>
          <a:solidFill>
            <a:srgbClr val="F0F1F3"/>
          </a:solidFill>
          <a:ln w="12700">
            <a:solidFill>
              <a:srgbClr val="888C91"/>
            </a:solidFill>
            <a:prstDash val="solid"/>
            <a:headEnd type="none"/>
            <a:tailEnd type="none"/>
          </a:ln>
        </p:spPr>
        <p:txBody>
          <a:bodyPr wrap="square" lIns="91440" tIns="45720" rIns="91440" bIns="45720" rtlCol="0" anchor="ctr"/>
          <a:lstStyle/>
          <a:p>
            <a:pPr algn="ctr"/>
            <a:r>
              <a:rPr lang="ko-KR" altLang="en-US" sz="800" dirty="0">
                <a:solidFill>
                  <a:srgbClr val="1A1A1A"/>
                </a:solidFill>
              </a:rPr>
              <a:t>Serving runtime</a:t>
            </a:r>
          </a:p>
          <a:p>
            <a:pPr algn="ctr"/>
            <a:r>
              <a:rPr lang="ko-KR" altLang="en-US" sz="800" dirty="0">
                <a:solidFill>
                  <a:srgbClr val="1A1A1A"/>
                </a:solidFill>
              </a:rPr>
              <a:t>Event Source</a:t>
            </a:r>
          </a:p>
          <a:p>
            <a:pPr algn="ctr"/>
            <a:r>
              <a:rPr lang="ko-KR" altLang="en-US" sz="650" dirty="0">
                <a:solidFill>
                  <a:schemeClr val="bg1">
                    <a:lumMod val="50000"/>
                  </a:schemeClr>
                </a:solidFill>
              </a:rPr>
              <a:t>TELEMETRY</a:t>
            </a:r>
          </a:p>
          <a:p>
            <a:pPr algn="ctr"/>
            <a:r>
              <a:rPr lang="ko-KR" altLang="en-US" sz="650" dirty="0">
                <a:solidFill>
                  <a:schemeClr val="bg1">
                    <a:lumMod val="50000"/>
                  </a:schemeClr>
                </a:solidFill>
              </a:rPr>
              <a:t>ALLOCATED/FREED</a:t>
            </a:r>
          </a:p>
          <a:p>
            <a:pPr algn="ctr"/>
            <a:r>
              <a:rPr lang="ko-KR" altLang="en-US" sz="650" dirty="0">
                <a:solidFill>
                  <a:schemeClr val="bg1">
                    <a:lumMod val="50000"/>
                  </a:schemeClr>
                </a:solidFill>
              </a:rPr>
              <a:t>ACCESSED</a:t>
            </a:r>
          </a:p>
        </p:txBody>
      </p:sp>
      <p:sp>
        <p:nvSpPr>
          <p:cNvPr id="141" name="Resource State Monitor"/>
          <p:cNvSpPr/>
          <p:nvPr/>
        </p:nvSpPr>
        <p:spPr>
          <a:xfrm>
            <a:off x="2770000" y="2200000"/>
            <a:ext cx="1250000" cy="38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4D7EA8"/>
            </a:solidFill>
            <a:prstDash val="solid"/>
            <a:headEnd type="none"/>
            <a:tailEnd type="none"/>
          </a:ln>
        </p:spPr>
        <p:txBody>
          <a:bodyPr wrap="square" lIns="91440" tIns="45720" rIns="91440" bIns="45720" rtlCol="0" anchor="ctr"/>
          <a:lstStyle/>
          <a:p>
            <a:pPr algn="ctr"/>
            <a:r>
              <a:rPr lang="ko-KR" altLang="en-US" sz="900" b="1" dirty="0">
                <a:solidFill>
                  <a:srgbClr val="1A1A1A"/>
                </a:solidFill>
              </a:rPr>
              <a:t>Resource State Monitor</a:t>
            </a:r>
          </a:p>
        </p:txBody>
      </p:sp>
      <p:sp>
        <p:nvSpPr>
          <p:cNvPr id="142" name="Resource-based Trend Analyzer"/>
          <p:cNvSpPr/>
          <p:nvPr/>
        </p:nvSpPr>
        <p:spPr>
          <a:xfrm>
            <a:off x="4290000" y="2200000"/>
            <a:ext cx="1250000" cy="38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4D7EA8"/>
            </a:solidFill>
            <a:prstDash val="solid"/>
            <a:headEnd type="none"/>
            <a:tailEnd type="none"/>
          </a:ln>
        </p:spPr>
        <p:txBody>
          <a:bodyPr wrap="square" lIns="91440" tIns="45720" rIns="91440" bIns="45720" rtlCol="0" anchor="ctr"/>
          <a:lstStyle/>
          <a:p>
            <a:pPr algn="ctr"/>
            <a:r>
              <a:rPr lang="ko-KR" altLang="en-US" sz="900" b="1" dirty="0">
                <a:solidFill>
                  <a:srgbClr val="1A1A1A"/>
                </a:solidFill>
              </a:rPr>
              <a:t>Resource-based Trend Analyzer</a:t>
            </a:r>
          </a:p>
        </p:txBody>
      </p:sp>
      <p:sp>
        <p:nvSpPr>
          <p:cNvPr id="143" name="No-benefit Rebalance Gate"/>
          <p:cNvSpPr/>
          <p:nvPr/>
        </p:nvSpPr>
        <p:spPr>
          <a:xfrm>
            <a:off x="5810000" y="2200000"/>
            <a:ext cx="1250000" cy="38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C76E31"/>
            </a:solidFill>
            <a:prstDash val="solid"/>
            <a:headEnd type="none"/>
            <a:tailEnd type="none"/>
          </a:ln>
        </p:spPr>
        <p:txBody>
          <a:bodyPr wrap="square" lIns="91440" tIns="45720" rIns="91440" bIns="45720" rtlCol="0" anchor="ctr"/>
          <a:lstStyle/>
          <a:p>
            <a:pPr algn="ctr"/>
            <a:r>
              <a:rPr lang="ko-KR" altLang="en-US" sz="900" b="1" dirty="0">
                <a:solidFill>
                  <a:srgbClr val="1A1A1A"/>
                </a:solidFill>
              </a:rPr>
              <a:t>No-benefit Rebalance Gate</a:t>
            </a:r>
          </a:p>
        </p:txBody>
      </p:sp>
      <p:sp>
        <p:nvSpPr>
          <p:cNvPr id="144" name="Data Eviction Manager"/>
          <p:cNvSpPr/>
          <p:nvPr/>
        </p:nvSpPr>
        <p:spPr>
          <a:xfrm>
            <a:off x="7330000" y="2200000"/>
            <a:ext cx="1250000" cy="38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  <a:headEnd type="none"/>
            <a:tailEnd type="none"/>
          </a:ln>
        </p:spPr>
        <p:txBody>
          <a:bodyPr wrap="square" lIns="91440" tIns="45720" rIns="91440" bIns="45720" rtlCol="0" anchor="ctr"/>
          <a:lstStyle/>
          <a:p>
            <a:pPr algn="ctr"/>
            <a:r>
              <a:rPr lang="ko-KR" altLang="en-US" sz="900" b="1" dirty="0">
                <a:solidFill>
                  <a:srgbClr val="1A1A1A"/>
                </a:solidFill>
              </a:rPr>
              <a:t>Data Eviction Manager</a:t>
            </a:r>
          </a:p>
        </p:txBody>
      </p:sp>
      <p:sp>
        <p:nvSpPr>
          <p:cNvPr id="145" name="Data-Memory Affinity Mapper"/>
          <p:cNvSpPr/>
          <p:nvPr/>
        </p:nvSpPr>
        <p:spPr>
          <a:xfrm>
            <a:off x="8850000" y="2200000"/>
            <a:ext cx="1250000" cy="380000"/>
          </a:xfrm>
          <a:prstGeom prst="rect">
            <a:avLst/>
          </a:prstGeom>
          <a:noFill/>
          <a:ln w="11430">
            <a:solidFill>
              <a:srgbClr val="FF0000"/>
            </a:solidFill>
            <a:prstDash val="solid"/>
            <a:headEnd type="none"/>
            <a:tailEnd type="none"/>
          </a:ln>
        </p:spPr>
        <p:txBody>
          <a:bodyPr wrap="square" lIns="91440" tIns="45720" rIns="91440" bIns="45720" rtlCol="0" anchor="ctr"/>
          <a:lstStyle/>
          <a:p>
            <a:pPr algn="ctr"/>
            <a:r>
              <a:rPr lang="ko-KR" altLang="en-US" sz="900" b="1" dirty="0">
                <a:solidFill>
                  <a:srgbClr val="1A1A1A"/>
                </a:solidFill>
              </a:rPr>
              <a:t>Data-Memory Affinity Mapper</a:t>
            </a:r>
          </a:p>
        </p:txBody>
      </p:sp>
      <p:sp>
        <p:nvSpPr>
          <p:cNvPr id="146" name="Destination Tier Selector"/>
          <p:cNvSpPr/>
          <p:nvPr/>
        </p:nvSpPr>
        <p:spPr>
          <a:xfrm>
            <a:off x="10370000" y="2200000"/>
            <a:ext cx="1250000" cy="38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4D7EA8"/>
            </a:solidFill>
            <a:prstDash val="solid"/>
            <a:headEnd type="none"/>
            <a:tailEnd type="none"/>
          </a:ln>
        </p:spPr>
        <p:txBody>
          <a:bodyPr wrap="square" lIns="91440" tIns="45720" rIns="91440" bIns="45720" rtlCol="0" anchor="ctr"/>
          <a:lstStyle/>
          <a:p>
            <a:pPr algn="ctr"/>
            <a:r>
              <a:rPr lang="ko-KR" altLang="en-US" sz="900" b="1" dirty="0">
                <a:solidFill>
                  <a:srgbClr val="1A1A1A"/>
                </a:solidFill>
              </a:rPr>
              <a:t>Destination Tier Selector</a:t>
            </a:r>
          </a:p>
        </p:txBody>
      </p:sp>
      <p:sp>
        <p:nvSpPr>
          <p:cNvPr id="147" name="Access Cost Estimator"/>
          <p:cNvSpPr/>
          <p:nvPr/>
        </p:nvSpPr>
        <p:spPr>
          <a:xfrm>
            <a:off x="8850000" y="1760000"/>
            <a:ext cx="2770000" cy="26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4D7EA8"/>
            </a:solidFill>
            <a:prstDash val="solid"/>
            <a:headEnd type="none"/>
            <a:tailEnd type="none"/>
          </a:ln>
        </p:spPr>
        <p:txBody>
          <a:bodyPr wrap="square" lIns="91440" tIns="45720" rIns="91440" bIns="45720" rtlCol="0" anchor="ctr"/>
          <a:lstStyle/>
          <a:p>
            <a:pPr algn="ctr"/>
            <a:r>
              <a:rPr lang="ko-KR" altLang="en-US" sz="900" b="1" dirty="0">
                <a:solidFill>
                  <a:srgbClr val="1A1A1A"/>
                </a:solidFill>
              </a:rPr>
              <a:t>Access Cost Estimator</a:t>
            </a:r>
            <a:r>
              <a:rPr lang="ko-KR" altLang="en-US" sz="700" dirty="0">
                <a:solidFill>
                  <a:srgbClr val="1A1A1A"/>
                </a:solidFill>
              </a:rPr>
              <a:t> (공유, descriptor 기반)</a:t>
            </a:r>
          </a:p>
        </p:txBody>
      </p:sp>
      <p:sp>
        <p:nvSpPr>
          <p:cNvPr id="148" name="Activity Tag Store"/>
          <p:cNvSpPr/>
          <p:nvPr/>
        </p:nvSpPr>
        <p:spPr>
          <a:xfrm>
            <a:off x="7330000" y="2860000"/>
            <a:ext cx="1250000" cy="38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C76E31"/>
            </a:solidFill>
            <a:prstDash val="solid"/>
            <a:headEnd type="none"/>
            <a:tailEnd type="none"/>
          </a:ln>
        </p:spPr>
        <p:txBody>
          <a:bodyPr wrap="square" lIns="91440" tIns="45720" rIns="91440" bIns="45720" rtlCol="0" anchor="ctr"/>
          <a:lstStyle/>
          <a:p>
            <a:pPr algn="ctr"/>
            <a:r>
              <a:rPr lang="ko-KR" altLang="en-US" sz="900" b="1" dirty="0">
                <a:solidFill>
                  <a:srgbClr val="1A1A1A"/>
                </a:solidFill>
              </a:rPr>
              <a:t>Activity Tag Store</a:t>
            </a:r>
          </a:p>
        </p:txBody>
      </p:sp>
      <p:sp>
        <p:nvSpPr>
          <p:cNvPr id="149" name="Promotion / Swap Pass"/>
          <p:cNvSpPr/>
          <p:nvPr/>
        </p:nvSpPr>
        <p:spPr>
          <a:xfrm>
            <a:off x="8850000" y="2860000"/>
            <a:ext cx="1250000" cy="38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  <a:headEnd type="none"/>
            <a:tailEnd type="none"/>
          </a:ln>
        </p:spPr>
        <p:txBody>
          <a:bodyPr wrap="square" lIns="91440" tIns="45720" rIns="91440" bIns="45720" rtlCol="0" anchor="ctr"/>
          <a:lstStyle/>
          <a:p>
            <a:pPr algn="ctr"/>
            <a:r>
              <a:rPr lang="ko-KR" altLang="en-US" sz="900" b="1" dirty="0">
                <a:solidFill>
                  <a:srgbClr val="1A1A1A"/>
                </a:solidFill>
              </a:rPr>
              <a:t>Promotion / Swap Pass</a:t>
            </a:r>
          </a:p>
        </p:txBody>
      </p:sp>
      <p:sp>
        <p:nvSpPr>
          <p:cNvPr id="150" name="Data Object Registry"/>
          <p:cNvSpPr/>
          <p:nvPr/>
        </p:nvSpPr>
        <p:spPr>
          <a:xfrm>
            <a:off x="10370000" y="2860000"/>
            <a:ext cx="1250000" cy="38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4D7EA8"/>
            </a:solidFill>
            <a:prstDash val="solid"/>
            <a:headEnd type="none"/>
            <a:tailEnd type="none"/>
          </a:ln>
        </p:spPr>
        <p:txBody>
          <a:bodyPr wrap="square" lIns="91440" tIns="45720" rIns="91440" bIns="45720" rtlCol="0" anchor="ctr"/>
          <a:lstStyle/>
          <a:p>
            <a:pPr algn="ctr"/>
            <a:r>
              <a:rPr lang="ko-KR" altLang="en-US" sz="900" b="1" dirty="0">
                <a:solidFill>
                  <a:srgbClr val="1A1A1A"/>
                </a:solidFill>
              </a:rPr>
              <a:t>Data Object Registry</a:t>
            </a:r>
          </a:p>
        </p:txBody>
      </p:sp>
      <p:sp>
        <p:nvSpPr>
          <p:cNvPr id="151" name="Migration Budget"/>
          <p:cNvSpPr/>
          <p:nvPr/>
        </p:nvSpPr>
        <p:spPr>
          <a:xfrm>
            <a:off x="10370000" y="3520000"/>
            <a:ext cx="1250000" cy="38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  <a:headEnd type="none"/>
            <a:tailEnd type="none"/>
          </a:ln>
        </p:spPr>
        <p:txBody>
          <a:bodyPr wrap="square" lIns="91440" tIns="45720" rIns="91440" bIns="45720" rtlCol="0" anchor="ctr"/>
          <a:lstStyle/>
          <a:p>
            <a:pPr algn="ctr"/>
            <a:r>
              <a:rPr lang="ko-KR" altLang="en-US" sz="900" b="1" dirty="0">
                <a:solidFill>
                  <a:srgbClr val="1A1A1A"/>
                </a:solidFill>
              </a:rPr>
              <a:t>Migration Budget</a:t>
            </a:r>
          </a:p>
        </p:txBody>
      </p:sp>
      <p:sp>
        <p:nvSpPr>
          <p:cNvPr id="152" name="Staged Migration Pacer"/>
          <p:cNvSpPr/>
          <p:nvPr/>
        </p:nvSpPr>
        <p:spPr>
          <a:xfrm>
            <a:off x="8850000" y="3520000"/>
            <a:ext cx="1250000" cy="38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C76E31"/>
            </a:solidFill>
            <a:prstDash val="solid"/>
            <a:headEnd type="none"/>
            <a:tailEnd type="none"/>
          </a:ln>
        </p:spPr>
        <p:txBody>
          <a:bodyPr wrap="square" lIns="91440" tIns="45720" rIns="91440" bIns="45720" rtlCol="0" anchor="ctr"/>
          <a:lstStyle/>
          <a:p>
            <a:pPr algn="ctr"/>
            <a:r>
              <a:rPr lang="ko-KR" altLang="en-US" sz="900" b="1" dirty="0">
                <a:solidFill>
                  <a:srgbClr val="1A1A1A"/>
                </a:solidFill>
              </a:rPr>
              <a:t>Staged Migration Pacer</a:t>
            </a:r>
          </a:p>
        </p:txBody>
      </p:sp>
      <p:sp>
        <p:nvSpPr>
          <p:cNvPr id="153" name="Migration Executor"/>
          <p:cNvSpPr/>
          <p:nvPr/>
        </p:nvSpPr>
        <p:spPr>
          <a:xfrm>
            <a:off x="7330000" y="3580000"/>
            <a:ext cx="1250000" cy="260000"/>
          </a:xfrm>
          <a:prstGeom prst="rect">
            <a:avLst/>
          </a:prstGeom>
          <a:solidFill>
            <a:srgbClr val="F0F1F3"/>
          </a:solidFill>
          <a:ln w="12700">
            <a:solidFill>
              <a:srgbClr val="888C91"/>
            </a:solidFill>
            <a:prstDash val="solid"/>
            <a:headEnd type="none"/>
            <a:tailEnd type="none"/>
          </a:ln>
        </p:spPr>
        <p:txBody>
          <a:bodyPr wrap="square" lIns="91440" tIns="45720" rIns="91440" bIns="45720" rtlCol="0" anchor="ctr"/>
          <a:lstStyle/>
          <a:p>
            <a:pPr algn="ctr"/>
            <a:r>
              <a:rPr lang="ko-KR" altLang="en-US" sz="800" dirty="0">
                <a:solidFill>
                  <a:srgbClr val="1A1A1A"/>
                </a:solidFill>
              </a:rPr>
              <a:t>Migration Executor</a:t>
            </a:r>
          </a:p>
        </p:txBody>
      </p:sp>
      <p:sp>
        <p:nvSpPr>
          <p:cNvPr id="154" name="Memory Backend I/F"/>
          <p:cNvSpPr/>
          <p:nvPr/>
        </p:nvSpPr>
        <p:spPr>
          <a:xfrm>
            <a:off x="7330000" y="4030000"/>
            <a:ext cx="4290000" cy="220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wrap="square" lIns="18288" tIns="9144" rIns="18288" bIns="9144" rtlCol="0" anchor="ctr"/>
          <a:lstStyle/>
          <a:p>
            <a:pPr algn="ctr"/>
            <a:r>
              <a:rPr lang="ko-KR" altLang="en-US" sz="650" b="1" dirty="0">
                <a:solidFill>
                  <a:srgbClr val="FFFFFF"/>
                </a:solidFill>
              </a:rPr>
              <a:t>공통</a:t>
            </a:r>
            <a:r>
              <a:rPr lang="ko-KR" altLang="en-US" sz="650" b="1" dirty="0">
                <a:solidFill>
                  <a:srgbClr val="FFFFFF"/>
                </a:solidFill>
              </a:rPr>
              <a:t> Memory Backend I/F (Plug-in)</a:t>
            </a:r>
          </a:p>
        </p:txBody>
      </p:sp>
      <p:sp>
        <p:nvSpPr>
          <p:cNvPr id="155" name="tag_No-benefit Rebalance Gate"/>
          <p:cNvSpPr/>
          <p:nvPr/>
        </p:nvSpPr>
        <p:spPr>
          <a:xfrm>
            <a:off x="6760000" y="2050000"/>
            <a:ext cx="300000" cy="137160"/>
          </a:xfrm>
          <a:prstGeom prst="roundRect">
            <a:avLst/>
          </a:prstGeom>
          <a:solidFill>
            <a:srgbClr val="C76E3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00" b="1" dirty="0">
                <a:solidFill>
                  <a:srgbClr val="FFFFFF"/>
                </a:solidFill>
              </a:rPr>
              <a:t>NEW</a:t>
            </a:r>
          </a:p>
        </p:txBody>
      </p:sp>
      <p:sp>
        <p:nvSpPr>
          <p:cNvPr id="156" name="tag_Activity Tag Store"/>
          <p:cNvSpPr/>
          <p:nvPr/>
        </p:nvSpPr>
        <p:spPr>
          <a:xfrm>
            <a:off x="8280000" y="2710000"/>
            <a:ext cx="300000" cy="137160"/>
          </a:xfrm>
          <a:prstGeom prst="roundRect">
            <a:avLst/>
          </a:prstGeom>
          <a:solidFill>
            <a:srgbClr val="C76E3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00" b="1" dirty="0">
                <a:solidFill>
                  <a:srgbClr val="FFFFFF"/>
                </a:solidFill>
              </a:rPr>
              <a:t>NEW</a:t>
            </a:r>
          </a:p>
        </p:txBody>
      </p:sp>
      <p:sp>
        <p:nvSpPr>
          <p:cNvPr id="157" name="tag_Staged Migration Pacer"/>
          <p:cNvSpPr/>
          <p:nvPr/>
        </p:nvSpPr>
        <p:spPr>
          <a:xfrm>
            <a:off x="9800000" y="3370000"/>
            <a:ext cx="300000" cy="137160"/>
          </a:xfrm>
          <a:prstGeom prst="roundRect">
            <a:avLst/>
          </a:prstGeom>
          <a:solidFill>
            <a:srgbClr val="C76E3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00" b="1" dirty="0">
                <a:solidFill>
                  <a:srgbClr val="FFFFFF"/>
                </a:solidFill>
              </a:rPr>
              <a:t>NEW</a:t>
            </a:r>
          </a:p>
        </p:txBody>
      </p:sp>
      <p:sp>
        <p:nvSpPr>
          <p:cNvPr id="158" name="tag_Data Eviction Manager"/>
          <p:cNvSpPr/>
          <p:nvPr/>
        </p:nvSpPr>
        <p:spPr>
          <a:xfrm>
            <a:off x="8280000" y="2050000"/>
            <a:ext cx="300000" cy="13716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00" b="1" dirty="0">
                <a:solidFill>
                  <a:srgbClr val="FFFFFF"/>
                </a:solidFill>
              </a:rPr>
              <a:t>CHG</a:t>
            </a:r>
          </a:p>
        </p:txBody>
      </p:sp>
      <p:sp>
        <p:nvSpPr>
          <p:cNvPr id="159" name="tag_Promotion / Swap Pass"/>
          <p:cNvSpPr/>
          <p:nvPr/>
        </p:nvSpPr>
        <p:spPr>
          <a:xfrm>
            <a:off x="9800000" y="2710000"/>
            <a:ext cx="300000" cy="13716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00" b="1" dirty="0">
                <a:solidFill>
                  <a:srgbClr val="FFFFFF"/>
                </a:solidFill>
              </a:rPr>
              <a:t>CHG</a:t>
            </a:r>
          </a:p>
        </p:txBody>
      </p:sp>
      <p:sp>
        <p:nvSpPr>
          <p:cNvPr id="160" name="tag_Migration Budget"/>
          <p:cNvSpPr/>
          <p:nvPr/>
        </p:nvSpPr>
        <p:spPr>
          <a:xfrm>
            <a:off x="11320000" y="3370000"/>
            <a:ext cx="300000" cy="13716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00" b="1" dirty="0">
                <a:solidFill>
                  <a:srgbClr val="FFFFFF"/>
                </a:solidFill>
              </a:rPr>
              <a:t>CHG</a:t>
            </a:r>
          </a:p>
        </p:txBody>
      </p:sp>
      <p:cxnSp>
        <p:nvCxnSpPr>
          <p:cNvPr id="161" name="ES-&gt;RSM"/>
          <p:cNvCxnSpPr/>
          <p:nvPr/>
        </p:nvCxnSpPr>
        <p:spPr>
          <a:xfrm>
            <a:off x="2500000" y="2390000"/>
            <a:ext cx="270000" cy="0"/>
          </a:xfrm>
          <a:prstGeom prst="line">
            <a:avLst/>
          </a:prstGeom>
          <a:ln w="6350">
            <a:solidFill>
              <a:srgbClr val="888C91"/>
            </a:solidFill>
            <a:prstDash val="solid"/>
            <a:headEnd type="none"/>
            <a:tailEnd type="triangle" w="med" len="med"/>
          </a:ln>
        </p:spPr>
      </p:cxnSp>
      <p:cxnSp>
        <p:nvCxnSpPr>
          <p:cNvPr id="162" name="RSM-&gt;Trend"/>
          <p:cNvCxnSpPr/>
          <p:nvPr/>
        </p:nvCxnSpPr>
        <p:spPr>
          <a:xfrm>
            <a:off x="4020000" y="2390000"/>
            <a:ext cx="270000" cy="0"/>
          </a:xfrm>
          <a:prstGeom prst="line">
            <a:avLst/>
          </a:prstGeom>
          <a:ln w="11430">
            <a:solidFill>
              <a:schemeClr val="accent1"/>
            </a:solidFill>
            <a:prstDash val="solid"/>
            <a:headEnd type="none"/>
            <a:tailEnd type="triangle" w="med" len="med"/>
          </a:ln>
        </p:spPr>
      </p:cxnSp>
      <p:cxnSp>
        <p:nvCxnSpPr>
          <p:cNvPr id="163" name="Trend-&gt;B2"/>
          <p:cNvCxnSpPr/>
          <p:nvPr/>
        </p:nvCxnSpPr>
        <p:spPr>
          <a:xfrm>
            <a:off x="5540000" y="2390000"/>
            <a:ext cx="270000" cy="0"/>
          </a:xfrm>
          <a:prstGeom prst="line">
            <a:avLst/>
          </a:prstGeom>
          <a:ln w="11430">
            <a:solidFill>
              <a:schemeClr val="accent1"/>
            </a:solidFill>
            <a:prstDash val="solid"/>
            <a:headEnd type="none"/>
            <a:tailEnd type="triangle" w="med" len="med"/>
          </a:ln>
        </p:spPr>
      </p:cxnSp>
      <p:cxnSp>
        <p:nvCxnSpPr>
          <p:cNvPr id="164" name="B2-&gt;A3"/>
          <p:cNvCxnSpPr/>
          <p:nvPr/>
        </p:nvCxnSpPr>
        <p:spPr>
          <a:xfrm>
            <a:off x="7060000" y="2390000"/>
            <a:ext cx="270000" cy="0"/>
          </a:xfrm>
          <a:prstGeom prst="line">
            <a:avLst/>
          </a:prstGeom>
          <a:ln w="12700">
            <a:solidFill>
              <a:srgbClr val="C76E31"/>
            </a:solidFill>
            <a:prstDash val="solid"/>
            <a:headEnd type="none"/>
            <a:tailEnd type="triangle" w="med" len="med"/>
          </a:ln>
        </p:spPr>
      </p:cxnSp>
      <p:cxnSp>
        <p:nvCxnSpPr>
          <p:cNvPr id="165" name="A3-&gt;Mapper"/>
          <p:cNvCxnSpPr/>
          <p:nvPr/>
        </p:nvCxnSpPr>
        <p:spPr>
          <a:xfrm>
            <a:off x="8580000" y="2390000"/>
            <a:ext cx="270000" cy="0"/>
          </a:xfrm>
          <a:prstGeom prst="line">
            <a:avLst/>
          </a:prstGeom>
          <a:ln w="11430">
            <a:solidFill>
              <a:schemeClr val="accent1"/>
            </a:solidFill>
            <a:prstDash val="solid"/>
            <a:headEnd type="none"/>
            <a:tailEnd type="triangle" w="med" len="med"/>
          </a:ln>
        </p:spPr>
      </p:cxnSp>
      <p:cxnSp>
        <p:nvCxnSpPr>
          <p:cNvPr id="166" name="Mapper-&gt;DTS"/>
          <p:cNvCxnSpPr/>
          <p:nvPr/>
        </p:nvCxnSpPr>
        <p:spPr>
          <a:xfrm>
            <a:off x="10100000" y="2390000"/>
            <a:ext cx="270000" cy="0"/>
          </a:xfrm>
          <a:prstGeom prst="line">
            <a:avLst/>
          </a:prstGeom>
          <a:ln w="11430">
            <a:solidFill>
              <a:srgbClr val="FF0000"/>
            </a:solidFill>
            <a:prstDash val="solid"/>
            <a:headEnd type="none"/>
            <a:tailEnd type="triangle" w="med" len="med"/>
          </a:ln>
        </p:spPr>
      </p:cxnSp>
      <p:cxnSp>
        <p:nvCxnSpPr>
          <p:cNvPr id="167" name="DTS-&gt;Registry"/>
          <p:cNvCxnSpPr/>
          <p:nvPr/>
        </p:nvCxnSpPr>
        <p:spPr>
          <a:xfrm>
            <a:off x="10995000" y="2580000"/>
            <a:ext cx="0" cy="280000"/>
          </a:xfrm>
          <a:prstGeom prst="line">
            <a:avLst/>
          </a:prstGeom>
          <a:ln w="11430">
            <a:solidFill>
              <a:schemeClr val="accent1"/>
            </a:solidFill>
            <a:prstDash val="solid"/>
            <a:headEnd type="none"/>
            <a:tailEnd type="triangle" w="med" len="med"/>
          </a:ln>
        </p:spPr>
      </p:cxnSp>
      <p:cxnSp>
        <p:nvCxnSpPr>
          <p:cNvPr id="168" name="ACE-&gt;DTS"/>
          <p:cNvCxnSpPr/>
          <p:nvPr/>
        </p:nvCxnSpPr>
        <p:spPr>
          <a:xfrm>
            <a:off x="10995000" y="2020000"/>
            <a:ext cx="0" cy="180000"/>
          </a:xfrm>
          <a:prstGeom prst="line">
            <a:avLst/>
          </a:prstGeom>
          <a:ln w="11430">
            <a:solidFill>
              <a:schemeClr val="accent1"/>
            </a:solidFill>
            <a:prstDash val="solid"/>
            <a:headEnd type="none"/>
            <a:tailEnd type="triangle" w="med" len="med"/>
          </a:ln>
        </p:spPr>
      </p:cxnSp>
      <p:cxnSp>
        <p:nvCxnSpPr>
          <p:cNvPr id="169" name="ES-&gt;A1 ACCESSED"/>
          <p:cNvCxnSpPr/>
          <p:nvPr/>
        </p:nvCxnSpPr>
        <p:spPr>
          <a:xfrm>
            <a:off x="2500000" y="3050000"/>
            <a:ext cx="4830000" cy="0"/>
          </a:xfrm>
          <a:prstGeom prst="line">
            <a:avLst/>
          </a:prstGeom>
          <a:ln w="12700">
            <a:solidFill>
              <a:srgbClr val="C76E31"/>
            </a:solidFill>
            <a:prstDash val="solid"/>
            <a:headEnd type="none"/>
            <a:tailEnd type="triangle" w="med" len="med"/>
          </a:ln>
        </p:spPr>
      </p:cxnSp>
      <p:cxnSp>
        <p:nvCxnSpPr>
          <p:cNvPr id="170" name="A1-&gt;A3 idle-first"/>
          <p:cNvCxnSpPr/>
          <p:nvPr/>
        </p:nvCxnSpPr>
        <p:spPr>
          <a:xfrm flipV="1">
            <a:off x="7955000" y="2580000"/>
            <a:ext cx="0" cy="280000"/>
          </a:xfrm>
          <a:prstGeom prst="line">
            <a:avLst/>
          </a:prstGeom>
          <a:ln w="12700">
            <a:solidFill>
              <a:srgbClr val="C76E31"/>
            </a:solidFill>
            <a:prstDash val="solid"/>
            <a:headEnd type="none"/>
            <a:tailEnd type="triangle" w="med" len="med"/>
          </a:ln>
        </p:spPr>
      </p:cxnSp>
      <p:cxnSp>
        <p:nvCxnSpPr>
          <p:cNvPr id="171" name="A1-&gt;A2 activity"/>
          <p:cNvCxnSpPr/>
          <p:nvPr/>
        </p:nvCxnSpPr>
        <p:spPr>
          <a:xfrm>
            <a:off x="8580000" y="3050000"/>
            <a:ext cx="270000" cy="0"/>
          </a:xfrm>
          <a:prstGeom prst="line">
            <a:avLst/>
          </a:prstGeom>
          <a:ln w="12700">
            <a:solidFill>
              <a:srgbClr val="C76E31"/>
            </a:solidFill>
            <a:prstDash val="solid"/>
            <a:headEnd type="none"/>
            <a:tailEnd type="triangle" w="med" len="med"/>
          </a:ln>
        </p:spPr>
      </p:cxnSp>
      <p:cxnSp>
        <p:nvCxnSpPr>
          <p:cNvPr id="172" name="A2-&gt;Registry"/>
          <p:cNvCxnSpPr/>
          <p:nvPr/>
        </p:nvCxnSpPr>
        <p:spPr>
          <a:xfrm>
            <a:off x="10100000" y="3050000"/>
            <a:ext cx="270000" cy="0"/>
          </a:xfrm>
          <a:prstGeom prst="line">
            <a:avLst/>
          </a:prstGeom>
          <a:ln w="11430">
            <a:solidFill>
              <a:schemeClr val="accent1"/>
            </a:solidFill>
            <a:prstDash val="solid"/>
            <a:headEnd type="none"/>
            <a:tailEnd type="triangle" w="med" len="med"/>
          </a:ln>
        </p:spPr>
      </p:cxnSp>
      <p:cxnSp>
        <p:nvCxnSpPr>
          <p:cNvPr id="173" name="Registry-&gt;Budget"/>
          <p:cNvCxnSpPr/>
          <p:nvPr/>
        </p:nvCxnSpPr>
        <p:spPr>
          <a:xfrm>
            <a:off x="10995000" y="3240000"/>
            <a:ext cx="0" cy="280000"/>
          </a:xfrm>
          <a:prstGeom prst="line">
            <a:avLst/>
          </a:prstGeom>
          <a:ln w="11430">
            <a:solidFill>
              <a:schemeClr val="accent1"/>
            </a:solidFill>
            <a:prstDash val="solid"/>
            <a:headEnd type="none"/>
            <a:tailEnd type="triangle" w="med" len="med"/>
          </a:ln>
        </p:spPr>
      </p:cxnSp>
      <p:cxnSp>
        <p:nvCxnSpPr>
          <p:cNvPr id="174" name="Budget-&gt;Pacer"/>
          <p:cNvCxnSpPr/>
          <p:nvPr/>
        </p:nvCxnSpPr>
        <p:spPr>
          <a:xfrm flipH="1">
            <a:off x="10100000" y="3710000"/>
            <a:ext cx="270000" cy="0"/>
          </a:xfrm>
          <a:prstGeom prst="line">
            <a:avLst/>
          </a:prstGeom>
          <a:ln w="12700">
            <a:solidFill>
              <a:srgbClr val="C76E31"/>
            </a:solidFill>
            <a:prstDash val="solid"/>
            <a:headEnd type="none"/>
            <a:tailEnd type="triangle" w="med" len="med"/>
          </a:ln>
        </p:spPr>
      </p:cxnSp>
      <p:cxnSp>
        <p:nvCxnSpPr>
          <p:cNvPr id="175" name="Pacer-&gt;Executor"/>
          <p:cNvCxnSpPr/>
          <p:nvPr/>
        </p:nvCxnSpPr>
        <p:spPr>
          <a:xfrm flipH="1">
            <a:off x="8580000" y="3710000"/>
            <a:ext cx="270000" cy="0"/>
          </a:xfrm>
          <a:prstGeom prst="line">
            <a:avLst/>
          </a:prstGeom>
          <a:ln w="12700">
            <a:solidFill>
              <a:srgbClr val="C76E31"/>
            </a:solidFill>
            <a:prstDash val="solid"/>
            <a:headEnd type="none"/>
            <a:tailEnd type="triangle" w="med" len="med"/>
          </a:ln>
        </p:spPr>
      </p:cxnSp>
      <p:cxnSp>
        <p:nvCxnSpPr>
          <p:cNvPr id="176" name="Executor-&gt;I/F"/>
          <p:cNvCxnSpPr/>
          <p:nvPr/>
        </p:nvCxnSpPr>
        <p:spPr>
          <a:xfrm>
            <a:off x="7955000" y="3840000"/>
            <a:ext cx="1520000" cy="190000"/>
          </a:xfrm>
          <a:prstGeom prst="line">
            <a:avLst/>
          </a:prstGeom>
          <a:ln w="12700">
            <a:solidFill>
              <a:srgbClr val="404040"/>
            </a:solidFill>
            <a:prstDash val="solid"/>
            <a:headEnd type="triangle" w="sm" len="sm"/>
            <a:tailEnd type="triangle" w="sm" len="sm"/>
          </a:ln>
        </p:spPr>
      </p:cxnSp>
      <p:sp>
        <p:nvSpPr>
          <p:cNvPr id="2" name="ACE-&gt;B2 SLO headroom"/>
          <p:cNvSpPr/>
          <p:nvPr/>
        </p:nvSpPr>
        <p:spPr>
          <a:xfrm>
            <a:off x="6435000" y="1890000"/>
            <a:ext cx="2415000" cy="310000"/>
          </a:xfrm>
          <a:custGeom>
            <a:avLst/>
            <a:gdLst/>
            <a:ahLst/>
            <a:cxnLst/>
            <a:rect l="l" t="t" r="r" b="b"/>
            <a:pathLst>
              <a:path w="2415000" h="310000">
                <a:moveTo>
                  <a:pt x="2415000" y="0"/>
                </a:moveTo>
                <a:lnTo>
                  <a:pt x="0" y="0"/>
                </a:lnTo>
                <a:lnTo>
                  <a:pt x="0" y="310000"/>
                </a:lnTo>
              </a:path>
            </a:pathLst>
          </a:custGeom>
          <a:noFill/>
          <a:ln w="12700">
            <a:solidFill>
              <a:srgbClr val="C76E31"/>
            </a:solidFill>
            <a:prstDash val="solid"/>
            <a:headEnd type="none"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7" name="lbl SLO headroom"/>
          <p:cNvSpPr txBox="1"/>
          <p:nvPr/>
        </p:nvSpPr>
        <p:spPr>
          <a:xfrm>
            <a:off x="6495000" y="1665000"/>
            <a:ext cx="2200000" cy="20000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algn="l"/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</a:rPr>
              <a:t>est. SLO headroom (이득 없으면 보류)</a:t>
            </a:r>
          </a:p>
        </p:txBody>
      </p:sp>
      <p:sp>
        <p:nvSpPr>
          <p:cNvPr id="178" name="lbl ACCESSED"/>
          <p:cNvSpPr txBox="1"/>
          <p:nvPr/>
        </p:nvSpPr>
        <p:spPr>
          <a:xfrm>
            <a:off x="2770000" y="2820000"/>
            <a:ext cx="3500000" cy="20000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algn="l"/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</a:rPr>
              <a:t>ACCESSED (기존 event, 현재 C1은 무시)</a:t>
            </a:r>
          </a:p>
        </p:txBody>
      </p:sp>
      <p:sp>
        <p:nvSpPr>
          <p:cNvPr id="179" name="lbl idle-first"/>
          <p:cNvSpPr txBox="1"/>
          <p:nvPr/>
        </p:nvSpPr>
        <p:spPr>
          <a:xfrm>
            <a:off x="6815000" y="2625000"/>
            <a:ext cx="1100000" cy="20000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algn="r"/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</a:rPr>
              <a:t>idle-first</a:t>
            </a:r>
          </a:p>
        </p:txBody>
      </p:sp>
      <p:sp>
        <p:nvSpPr>
          <p:cNvPr id="180" name="lbl activity"/>
          <p:cNvSpPr txBox="1"/>
          <p:nvPr/>
        </p:nvSpPr>
        <p:spPr>
          <a:xfrm>
            <a:off x="7430000" y="3260000"/>
            <a:ext cx="1900000" cy="20000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algn="l"/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</a:rPr>
              <a:t>activity 가중 비교 (활성 객체만)</a:t>
            </a:r>
          </a:p>
        </p:txBody>
      </p:sp>
      <p:sp>
        <p:nvSpPr>
          <p:cNvPr id="181" name="legend title"/>
          <p:cNvSpPr txBox="1"/>
          <p:nvPr/>
        </p:nvSpPr>
        <p:spPr>
          <a:xfrm>
            <a:off x="1250000" y="3300000"/>
            <a:ext cx="700000" cy="20000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algn="l"/>
            <a:r>
              <a:rPr lang="ko-KR" altLang="en-US" sz="800" b="1" dirty="0">
                <a:solidFill>
                  <a:srgbClr val="1A1A1A"/>
                </a:solidFill>
              </a:rPr>
              <a:t>범례</a:t>
            </a:r>
          </a:p>
        </p:txBody>
      </p:sp>
      <p:sp>
        <p:nvSpPr>
          <p:cNvPr id="182" name="legend sw 기존 C1 블록 (참조 그대로)"/>
          <p:cNvSpPr/>
          <p:nvPr/>
        </p:nvSpPr>
        <p:spPr>
          <a:xfrm>
            <a:off x="1310000" y="3560000"/>
            <a:ext cx="300000" cy="13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4D7EA8"/>
            </a:solidFill>
            <a:prstDash val="solid"/>
            <a:headEnd type="none"/>
            <a:tailEnd type="none"/>
          </a:ln>
        </p:spPr>
        <p:txBody>
          <a:bodyPr wrap="square" lIns="91440" tIns="45720" rIns="91440" bIns="45720" rtlCol="0" anchor="ctr"/>
          <a:lstStyle/>
          <a:p>
            <a:pPr algn="ctr"/>
            <a:r>
              <a:rPr lang="ko-KR" altLang="en-US" sz="600" dirty="0">
                <a:solidFill>
                  <a:srgbClr val="1A1A1A"/>
                </a:solidFill>
              </a:rPr>
              <a:t/>
            </a:r>
          </a:p>
        </p:txBody>
      </p:sp>
      <p:sp>
        <p:nvSpPr>
          <p:cNvPr id="183" name="legend 기존 C1 블록 (참조 그대로)"/>
          <p:cNvSpPr txBox="1"/>
          <p:nvPr/>
        </p:nvSpPr>
        <p:spPr>
          <a:xfrm>
            <a:off x="1650000" y="3530000"/>
            <a:ext cx="2300000" cy="19000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algn="l"/>
            <a:r>
              <a:rPr lang="ko-KR" altLang="en-US" sz="800" dirty="0">
                <a:solidFill>
                  <a:srgbClr val="1A1A1A"/>
                </a:solidFill>
              </a:rPr>
              <a:t>기존 C1 블록 (참조 그대로)</a:t>
            </a:r>
          </a:p>
        </p:txBody>
      </p:sp>
      <p:sp>
        <p:nvSpPr>
          <p:cNvPr id="184" name="legend sw 신규 (NEW)"/>
          <p:cNvSpPr/>
          <p:nvPr/>
        </p:nvSpPr>
        <p:spPr>
          <a:xfrm>
            <a:off x="1310000" y="3750000"/>
            <a:ext cx="300000" cy="13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C76E31"/>
            </a:solidFill>
            <a:prstDash val="solid"/>
            <a:headEnd type="none"/>
            <a:tailEnd type="none"/>
          </a:ln>
        </p:spPr>
        <p:txBody>
          <a:bodyPr wrap="square" lIns="91440" tIns="45720" rIns="91440" bIns="45720" rtlCol="0" anchor="ctr"/>
          <a:lstStyle/>
          <a:p>
            <a:pPr algn="ctr"/>
            <a:r>
              <a:rPr lang="ko-KR" altLang="en-US" sz="600" dirty="0">
                <a:solidFill>
                  <a:srgbClr val="1A1A1A"/>
                </a:solidFill>
              </a:rPr>
              <a:t/>
            </a:r>
          </a:p>
        </p:txBody>
      </p:sp>
      <p:sp>
        <p:nvSpPr>
          <p:cNvPr id="185" name="legend 신규 (NEW)"/>
          <p:cNvSpPr txBox="1"/>
          <p:nvPr/>
        </p:nvSpPr>
        <p:spPr>
          <a:xfrm>
            <a:off x="1650000" y="3720000"/>
            <a:ext cx="2300000" cy="19000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algn="l"/>
            <a:r>
              <a:rPr lang="ko-KR" altLang="en-US" sz="800" dirty="0">
                <a:solidFill>
                  <a:srgbClr val="1A1A1A"/>
                </a:solidFill>
              </a:rPr>
              <a:t>신규 (NEW)</a:t>
            </a:r>
          </a:p>
        </p:txBody>
      </p:sp>
      <p:sp>
        <p:nvSpPr>
          <p:cNvPr id="186" name="legend sw 변경 (CHG)"/>
          <p:cNvSpPr/>
          <p:nvPr/>
        </p:nvSpPr>
        <p:spPr>
          <a:xfrm>
            <a:off x="1310000" y="3940000"/>
            <a:ext cx="300000" cy="13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  <a:headEnd type="none"/>
            <a:tailEnd type="none"/>
          </a:ln>
        </p:spPr>
        <p:txBody>
          <a:bodyPr wrap="square" lIns="91440" tIns="45720" rIns="91440" bIns="45720" rtlCol="0" anchor="ctr"/>
          <a:lstStyle/>
          <a:p>
            <a:pPr algn="ctr"/>
            <a:r>
              <a:rPr lang="ko-KR" altLang="en-US" sz="600" dirty="0">
                <a:solidFill>
                  <a:srgbClr val="1A1A1A"/>
                </a:solidFill>
              </a:rPr>
              <a:t/>
            </a:r>
          </a:p>
        </p:txBody>
      </p:sp>
      <p:sp>
        <p:nvSpPr>
          <p:cNvPr id="187" name="legend 변경 (CHG)"/>
          <p:cNvSpPr txBox="1"/>
          <p:nvPr/>
        </p:nvSpPr>
        <p:spPr>
          <a:xfrm>
            <a:off x="1650000" y="3910000"/>
            <a:ext cx="2300000" cy="19000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algn="l"/>
            <a:r>
              <a:rPr lang="ko-KR" altLang="en-US" sz="800" dirty="0">
                <a:solidFill>
                  <a:srgbClr val="1A1A1A"/>
                </a:solidFill>
              </a:rPr>
              <a:t>변경 (CHG)</a:t>
            </a:r>
          </a:p>
        </p:txBody>
      </p:sp>
      <p:cxnSp>
        <p:nvCxnSpPr>
          <p:cNvPr id="188" name="legend arrow 기존 flow"/>
          <p:cNvCxnSpPr/>
          <p:nvPr/>
        </p:nvCxnSpPr>
        <p:spPr>
          <a:xfrm>
            <a:off x="3900000" y="3625000"/>
            <a:ext cx="320000" cy="0"/>
          </a:xfrm>
          <a:prstGeom prst="line">
            <a:avLst/>
          </a:prstGeom>
          <a:ln w="11430">
            <a:solidFill>
              <a:schemeClr val="accent1"/>
            </a:solidFill>
            <a:prstDash val="solid"/>
            <a:headEnd type="none"/>
            <a:tailEnd type="triangle" w="med" len="med"/>
          </a:ln>
        </p:spPr>
      </p:cxnSp>
      <p:sp>
        <p:nvSpPr>
          <p:cNvPr id="189" name="legend arrow lbl 기존 flow"/>
          <p:cNvSpPr txBox="1"/>
          <p:nvPr/>
        </p:nvSpPr>
        <p:spPr>
          <a:xfrm>
            <a:off x="4260000" y="3530000"/>
            <a:ext cx="1000000" cy="19000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algn="l"/>
            <a:r>
              <a:rPr lang="ko-KR" altLang="en-US" sz="800" dirty="0">
                <a:solidFill>
                  <a:srgbClr val="1A1A1A"/>
                </a:solidFill>
              </a:rPr>
              <a:t>기존 flow</a:t>
            </a:r>
          </a:p>
        </p:txBody>
      </p:sp>
      <p:cxnSp>
        <p:nvCxnSpPr>
          <p:cNvPr id="190" name="legend arrow 신규 신호/flow"/>
          <p:cNvCxnSpPr/>
          <p:nvPr/>
        </p:nvCxnSpPr>
        <p:spPr>
          <a:xfrm>
            <a:off x="3900000" y="3815000"/>
            <a:ext cx="320000" cy="0"/>
          </a:xfrm>
          <a:prstGeom prst="line">
            <a:avLst/>
          </a:prstGeom>
          <a:ln w="12700">
            <a:solidFill>
              <a:srgbClr val="C76E31"/>
            </a:solidFill>
            <a:prstDash val="solid"/>
            <a:headEnd type="none"/>
            <a:tailEnd type="triangle" w="med" len="med"/>
          </a:ln>
        </p:spPr>
      </p:cxnSp>
      <p:sp>
        <p:nvSpPr>
          <p:cNvPr id="191" name="legend arrow lbl 신규 신호/flow"/>
          <p:cNvSpPr txBox="1"/>
          <p:nvPr/>
        </p:nvSpPr>
        <p:spPr>
          <a:xfrm>
            <a:off x="4260000" y="3720000"/>
            <a:ext cx="1000000" cy="19000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algn="l"/>
            <a:r>
              <a:rPr lang="ko-KR" altLang="en-US" sz="800" dirty="0">
                <a:solidFill>
                  <a:srgbClr val="1A1A1A"/>
                </a:solidFill>
              </a:rPr>
              <a:t>신규 신호/flow</a:t>
            </a:r>
          </a:p>
        </p:txBody>
      </p:sp>
      <p:cxnSp>
        <p:nvCxnSpPr>
          <p:cNvPr id="192" name="legend arrow static hint"/>
          <p:cNvCxnSpPr/>
          <p:nvPr/>
        </p:nvCxnSpPr>
        <p:spPr>
          <a:xfrm>
            <a:off x="3900000" y="4005000"/>
            <a:ext cx="320000" cy="0"/>
          </a:xfrm>
          <a:prstGeom prst="line">
            <a:avLst/>
          </a:prstGeom>
          <a:ln w="11430">
            <a:solidFill>
              <a:srgbClr val="FF0000"/>
            </a:solidFill>
            <a:prstDash val="solid"/>
            <a:headEnd type="none"/>
            <a:tailEnd type="triangle" w="med" len="med"/>
          </a:ln>
        </p:spPr>
      </p:cxnSp>
      <p:sp>
        <p:nvSpPr>
          <p:cNvPr id="193" name="legend arrow lbl static hint"/>
          <p:cNvSpPr txBox="1"/>
          <p:nvPr/>
        </p:nvSpPr>
        <p:spPr>
          <a:xfrm>
            <a:off x="4260000" y="3910000"/>
            <a:ext cx="1000000" cy="19000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algn="l"/>
            <a:r>
              <a:rPr lang="ko-KR" altLang="en-US" sz="800" dirty="0">
                <a:solidFill>
                  <a:srgbClr val="1A1A1A"/>
                </a:solidFill>
              </a:rPr>
              <a:t>static hint</a:t>
            </a:r>
          </a:p>
        </p:txBody>
      </p:sp>
      <p:sp>
        <p:nvSpPr>
          <p:cNvPr id="194" name="legend frame"/>
          <p:cNvSpPr/>
          <p:nvPr/>
        </p:nvSpPr>
        <p:spPr>
          <a:xfrm>
            <a:off x="1250000" y="3280000"/>
            <a:ext cx="4150000" cy="850000"/>
          </a:xfrm>
          <a:prstGeom prst="rect">
            <a:avLst/>
          </a:prstGeom>
          <a:noFill/>
          <a:ln w="6350">
            <a:solidFill>
              <a:srgbClr val="888C91"/>
            </a:solidFill>
            <a:prstDash val="dash"/>
            <a:headEnd type="none"/>
            <a:tailEnd type="none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5" name="fence note"/>
          <p:cNvSpPr txBox="1"/>
          <p:nvPr/>
        </p:nvSpPr>
        <p:spPr>
          <a:xfrm>
            <a:off x="5600000" y="3300000"/>
            <a:ext cx="1650000" cy="560000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dash"/>
            <a:headEnd type="none"/>
            <a:tailEnd type="none"/>
          </a:ln>
        </p:spPr>
        <p:txBody>
          <a:bodyPr wrap="square" lIns="45720" tIns="0" rIns="45720" bIns="0" rtlCol="0" anchor="ctr"/>
          <a:lstStyle/>
          <a:p>
            <a:pPr algn="l"/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</a:rPr>
              <a:t>정체성 fence</a:t>
            </a:r>
          </a:p>
          <a:p>
            <a:pPr algn="l"/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</a:rPr>
              <a:t>activity는 새 trigger 아님</a:t>
            </a:r>
          </a:p>
          <a:p>
            <a:pPr algn="l"/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</a:rPr>
              <a:t>객체당 상태 2개 · type 없음</a:t>
            </a:r>
          </a:p>
          <a:p>
            <a:pPr algn="l"/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</a:rPr>
              <a:t>새 상수 없음</a:t>
            </a:r>
          </a:p>
        </p:txBody>
      </p:sp>
      <p:graphicFrame>
        <p:nvGraphicFramePr>
          <p:cNvPr id="196" name="표 컴포넌트"/>
          <p:cNvGraphicFramePr>
            <a:graphicFrameLocks noGrp="1"/>
          </p:cNvGraphicFramePr>
          <p:nvPr/>
        </p:nvGraphicFramePr>
        <p:xfrm>
          <a:off x="249035" y="4335000"/>
          <a:ext cx="11747501" cy="18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5393"/>
                <a:gridCol w="2380000"/>
                <a:gridCol w="3500000"/>
                <a:gridCol w="3500000"/>
                <a:gridCol w="1492108"/>
              </a:tblGrid>
              <a:tr h="26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ID</a:t>
                      </a:r>
                    </a:p>
                  </a:txBody>
                  <a:tcPr marL="91440" marT="18288" marR="91440" marB="1828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/>
                        <a:t>컴포넌트</a:t>
                      </a:r>
                    </a:p>
                  </a:txBody>
                  <a:tcPr marL="91440" marT="18288" marR="91440" marB="1828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/>
                        <a:t>역할</a:t>
                      </a:r>
                    </a:p>
                  </a:txBody>
                  <a:tcPr marL="91440" marT="18288" marR="91440" marB="1828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/>
                        <a:t>겨냥하는 QA1 진단 gap</a:t>
                      </a:r>
                    </a:p>
                  </a:txBody>
                  <a:tcPr marL="91440" marT="18288" marR="91440" marB="1828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/>
                        <a:t>검증 상태</a:t>
                      </a:r>
                    </a:p>
                  </a:txBody>
                  <a:tcPr marL="91440" marT="18288" marR="91440" marB="1828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12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A1</a:t>
                      </a:r>
                    </a:p>
                  </a:txBody>
                  <a:tcPr marL="91440" marT="18288" marR="91440" marB="1828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1" dirty="0"/>
                        <a:t>Activity Tag Store </a:t>
                      </a:r>
                      <a:r>
                        <a:rPr lang="ko-KR" altLang="en-US" sz="900" b="1" dirty="0">
                          <a:solidFill>
                            <a:srgbClr val="C76E31"/>
                          </a:solidFill>
                        </a:rPr>
                        <a:t>(신규)</a:t>
                      </a:r>
                    </a:p>
                  </a:txBody>
                  <a:tcPr marL="91440" marT="18288" marR="91440" marB="1828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ACCESSED로 last_access·window count만 기록 (side-car)</a:t>
                      </a:r>
                    </a:p>
                  </a:txBody>
                  <a:tcPr marL="91440" marT="18288" marR="91440" marB="1828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D1·D2·D3 같은 class KV 쌍(QA1 격차 96.5%), 접근 신호 없음</a:t>
                      </a:r>
                    </a:p>
                  </a:txBody>
                  <a:tcPr marL="91440" marT="18288" marR="91440" marB="1828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[C] 미구현</a:t>
                      </a:r>
                    </a:p>
                  </a:txBody>
                  <a:tcPr marL="91440" marT="18288" marR="91440" marB="1828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2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A2</a:t>
                      </a:r>
                    </a:p>
                  </a:txBody>
                  <a:tcPr marL="91440" marT="18288" marR="91440" marB="1828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1" dirty="0"/>
                        <a:t>Promotion / Swap Pass </a:t>
                      </a:r>
                      <a:r>
                        <a:rPr lang="ko-KR" altLang="en-US" sz="9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(변경)</a:t>
                      </a:r>
                    </a:p>
                  </a:txBody>
                  <a:tcPr marL="91440" marT="18288" marR="91440" marB="1828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static SLO 위반 + 활성 객체만, gain×act ≥ margin×loss×act</a:t>
                      </a:r>
                    </a:p>
                  </a:txBody>
                  <a:tcPr marL="91440" marT="18288" marR="91440" marB="1828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D1·D2 gain=loss라 swap 불통과 (10/15 run 이동 없음)</a:t>
                      </a:r>
                    </a:p>
                  </a:txBody>
                  <a:tcPr marL="91440" marT="18288" marR="91440" marB="1828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[C] 미구현</a:t>
                      </a:r>
                    </a:p>
                  </a:txBody>
                  <a:tcPr marL="91440" marT="18288" marR="91440" marB="1828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2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A3</a:t>
                      </a:r>
                    </a:p>
                  </a:txBody>
                  <a:tcPr marL="91440" marT="18288" marR="91440" marB="1828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1" dirty="0"/>
                        <a:t>Data Eviction Manager </a:t>
                      </a:r>
                      <a:r>
                        <a:rPr lang="ko-KR" altLang="en-US" sz="9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(변경)</a:t>
                      </a:r>
                    </a:p>
                  </a:txBody>
                  <a:tcPr marL="91440" marT="18288" marR="91440" marB="1828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victim 순서를 idle 우선으로 (기존 key는 tie-break)</a:t>
                      </a:r>
                    </a:p>
                  </a:txBody>
                  <a:tcPr marL="91440" marT="18288" marR="91440" marB="1828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D2 eviction key가 residency age</a:t>
                      </a:r>
                    </a:p>
                  </a:txBody>
                  <a:tcPr marL="91440" marT="18288" marR="91440" marB="1828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[C] 미구현</a:t>
                      </a:r>
                    </a:p>
                  </a:txBody>
                  <a:tcPr marL="91440" marT="18288" marR="91440" marB="1828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2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B2</a:t>
                      </a:r>
                    </a:p>
                  </a:txBody>
                  <a:tcPr marL="91440" marT="18288" marR="91440" marB="1828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1" dirty="0"/>
                        <a:t>No-benefit Rebalance Gate </a:t>
                      </a:r>
                      <a:r>
                        <a:rPr lang="ko-KR" altLang="en-US" sz="900" b="1" dirty="0">
                          <a:solidFill>
                            <a:srgbClr val="C76E31"/>
                          </a:solidFill>
                        </a:rPr>
                        <a:t>(신규)</a:t>
                      </a:r>
                    </a:p>
                  </a:txBody>
                  <a:tcPr marL="91440" marT="18288" marR="91440" marB="1828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압박·SLO headroom 없으면 rebalance 보류</a:t>
                      </a:r>
                    </a:p>
                  </a:txBody>
                  <a:tcPr marL="91440" marT="18288" marR="91440" marB="1828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D4 이득 없는 이동, TTFT P99 꼬리 (QA2 쪽)</a:t>
                      </a:r>
                    </a:p>
                  </a:txBody>
                  <a:tcPr marL="91440" marT="18288" marR="91440" marB="1828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[C] 미구현</a:t>
                      </a:r>
                    </a:p>
                  </a:txBody>
                  <a:tcPr marL="91440" marT="18288" marR="91440" marB="1828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2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B1</a:t>
                      </a:r>
                    </a:p>
                  </a:txBody>
                  <a:tcPr marL="91440" marT="18288" marR="91440" marB="1828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1" dirty="0"/>
                        <a:t>Staged Migration Pacer </a:t>
                      </a:r>
                      <a:r>
                        <a:rPr lang="ko-KR" altLang="en-US" sz="900" b="1" dirty="0">
                          <a:solidFill>
                            <a:srgbClr val="C76E31"/>
                          </a:solidFill>
                        </a:rPr>
                        <a:t>(신규)</a:t>
                      </a:r>
                    </a:p>
                  </a:txBody>
                  <a:tcPr marL="91440" marT="18288" marR="91440" marB="1828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chunk/tick 전송, share=min(LINK_SHARE, 1-bw_util)</a:t>
                      </a:r>
                    </a:p>
                  </a:txBody>
                  <a:tcPr marL="91440" marT="18288" marR="91440" marB="1828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D4·D5 큰 객체 admission (QA1 &lt;-&gt; QA2)</a:t>
                      </a:r>
                    </a:p>
                  </a:txBody>
                  <a:tcPr marL="91440" marT="18288" marR="91440" marB="1828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[C] 미구현 (M-class)</a:t>
                      </a:r>
                    </a:p>
                  </a:txBody>
                  <a:tcPr marL="91440" marT="18288" marR="91440" marB="1828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7" name="takeaway"/>
          <p:cNvSpPr/>
          <p:nvPr/>
        </p:nvSpPr>
        <p:spPr>
          <a:xfrm>
            <a:off x="234949" y="6195000"/>
            <a:ext cx="11747501" cy="300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algn="l"/>
            <a:r>
              <a:rPr lang="ko-KR" altLang="en-US" sz="1100" b="1" dirty="0">
                <a:solidFill>
                  <a:schemeClr val="bg1"/>
                </a:solidFill>
              </a:rPr>
              <a:t>한 줄 요약: </a:t>
            </a:r>
            <a:r>
              <a:rPr lang="ko-KR" altLang="en-US" sz="1100" b="1" dirty="0">
                <a:solidFill>
                  <a:schemeClr val="bg1"/>
                </a:solidFill>
              </a:rPr>
              <a:t>Activity는 trigger가 아니라 후보 필터·가중·정렬에만 써서 C1 정체성을 지킨다. 효과는 모두 [C] 논증이며 미구현</a:t>
            </a:r>
          </a:p>
        </p:txBody>
      </p:sp>
    </p:spTree>
    <p:extLst>
      <p:ext uri="{BB962C8B-B14F-4D97-AF65-F5344CB8AC3E}">
        <p14:creationId xmlns:p14="http://schemas.microsoft.com/office/powerpoint/2010/main" val="1121112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532</Words>
  <Application>Microsoft Office PowerPoint</Application>
  <PresentationFormat>와이드스크린</PresentationFormat>
  <Paragraphs>107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맑은 고딕</vt:lpstr>
      <vt:lpstr>Arial</vt:lpstr>
      <vt:lpstr>Wingdings</vt:lpstr>
      <vt:lpstr>Office 테마</vt:lpstr>
      <vt:lpstr>DP1. 이기종 메모리 기반 Data Migration 결정 구조 - 설계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DP1. 이기종 메모리 기반 Data Migration 결정 구조 - 설계</dc:title>
  <dc:creator>SAMSUNG</dc:creator>
  <cp:lastModifiedBy>SAMSUNG</cp:lastModifiedBy>
  <cp:revision>1</cp:revision>
  <dcterms:created xsi:type="dcterms:W3CDTF">2026-10-04T17:05:55Z</dcterms:created>
  <dcterms:modified xsi:type="dcterms:W3CDTF">2026-10-04T17:06:05Z</dcterms:modified>
</cp:coreProperties>
</file>
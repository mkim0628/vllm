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650" r:id="rId24"/>
    <p:sldId id="651" r:id="rId25"/>
    <p:sldId id="652" r:id="rId26"/>
    <p:sldId id="653" r:id="rId27"/>
    <p:sldId id="654" r:id="rId28"/>
    <p:sldId id="655" r:id="rId29"/>
    <p:sldId id="656" r:id="rId30"/>
    <p:sldId id="657" r:id="rId3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 정량 metric (H100 + B200 통합)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7432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평가 metric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08960" y="1051560"/>
            <a:ext cx="17373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Baseline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46320" y="1051560"/>
            <a:ext cx="34747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 Resource-driven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21040" y="1051560"/>
            <a:ext cx="34747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C2 Behavior-driven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1362456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QA1 Throughput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Max SLO goodput (tok/s) ↑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108960" y="1362456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336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846320" y="136245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436 (x1.30)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21040" y="136245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478 (x1.42)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1837943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Latency — TTFT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P99 · P50 (ms) ↓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08960" y="1837943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1,084 · P50 407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846320" y="1837943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1,128 (x1.04) · P50 181 (x0.44)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321040" y="1837943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P99 785 (x0.72) · P50 118 (x0.29)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313432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Latency — TPOT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P99 · P50 (ms) 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108960" y="2313432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17.1 · P50 14.0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46320" y="2313432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18.3 (x1.07) · P50 12.7 (x0.91)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21040" y="2313432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16.0 (x0.94) · P50 12.0 (x0.86)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2788920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별점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6개 지표 개선 배수 geomean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108960" y="2788920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846320" y="2788920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x1.28 (TTFT x1.58 · TPOT x1.04)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1040" y="2788920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x1.56 (TTFT x2.18 · TPOT x1.12)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264408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QA3 Resource usage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HBM 사용량 (GiB) ↓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108960" y="3264408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146.6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846320" y="3264408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142.7 (x0.97)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21040" y="3264408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  178.0 (x1.21)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3739896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QA4 Modifiability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module · 공수(MM) · 에이전트 비용 ↓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108960" y="3739896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846320" y="373989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1.75 · 0.38 · $1.16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321040" y="373989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2.50 · 0.51 · $1.49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215383"/>
            <a:ext cx="2743200" cy="32918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별 합계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87" name="Rectangle 86"/>
          <p:cNvSpPr/>
          <p:nvPr/>
        </p:nvSpPr>
        <p:spPr>
          <a:xfrm>
            <a:off x="3108960" y="4215383"/>
            <a:ext cx="17373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846320" y="4215383"/>
            <a:ext cx="34747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321040" y="4215383"/>
            <a:ext cx="34747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5760" y="4617720"/>
            <a:ext cx="11430000" cy="8686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404040"/>
                </a:solidFill>
                <a:latin typeface="맑은 고딕"/>
                <a:ea typeface="맑은 고딕"/>
              </a:rPr>
              <a:t>시스템: H100x8 (HBM3, PCIe 5.0, DDR5-4800) + B200x8 (HBM3e, PCIe 5.0, DDR5-6400). 8-GPU 1노드, Llama-3.1-70B BF16. 6종 메모리 구성은 다음 장.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시나리오: 32개 x 2시스템 = 64쌍 중 비교 가능 21쌍 기준(포화 10, Baseline도 SLO 불가 33쌍 제외). 값은 쌍별 값의 기하평균, 괄호는 후보 ÷ Baseline(↑ 높을수록 좋음, ↓ 낮을수록 좋음). Evidence [B+C].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5760" y="5559552"/>
            <a:ext cx="11430000" cy="73152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선택: C1  —  별 합계가 높은 C1 후보 (10 대 9). 합계 차이 1점이라 별 경계에 민감하다.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한계: [B] simulation, 별 경계(QA1 1.30)와 QA3 정의(선택을 C2에서 C1로 바꿈), QA4 평균 집계는 결과를 본 뒤 정함. QA4 공수·비용은 ASSUMED.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시스템 - 메모리 구성 (H100x8 / B200x8, 값이 다르면 H100 / B200)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19202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메모리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286000" y="1051560"/>
            <a:ext cx="14630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용량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749039" y="1051560"/>
            <a:ext cx="26517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연결 (host와)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1051560"/>
            <a:ext cx="20116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대역폭 (외부 / 내부)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12480" y="1051560"/>
            <a:ext cx="33832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연산 능력 (FP16)과 지원 연산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1371600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HBM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286000" y="1371600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640 GiB / 1,536 GiB (G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PU 8장 합)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49039" y="1371600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 온패키지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0" y="1371600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26,800 / 64,000 GB/s (GPU 합)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412480" y="1371600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 FP16 dense 989 / 2,250 TFLOPS/GPU (참고, 8장 합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7,912 / 18,000) · GPU가 attention·FFN 실행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1956816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Samsung Custom HBM (ScHBM)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86000" y="1956816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160 GiB / 384 GiB (노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드 1개)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49039" y="1956816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CPU와 PCIe 5.0 x16, GPU→host→ScHBM 2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홉 (GPU 직접 접근 불가)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0" y="1956816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63 GB/s / 6,700 / 16,000 GB/s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412480" y="1956816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197.8 / 450 TFLOPS (GPU 1장의 20%) · QK_GEMM, SOFT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MAX, AV_GEMM, CAUSAL_MASK (attention 오프로드)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2542032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CXL-PNM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286000" y="2542032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512 GiB (내부 DRAM)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49039" y="2542032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CXL 2.0 (PCIe 5.0 PHY), host 경유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400800" y="2542032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63 GB/s / 400 GB/s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12480" y="2542032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3.28 TFLOPS (GPU 1장의 0.33% / 0.15%) · QK_GEMM, SO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FTMAX, AV_GEMM, CAUSAL_MASK (attention 오프로드)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127248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DRAM (host)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286000" y="3127248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 TiB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749039" y="3127248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GPU와 PCIe 5.0 x16 (DDR5)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00800" y="3127248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64 GB/s / 300 / 400 GB/s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412480" y="3127248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3712464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HBF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286000" y="3712464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 TiB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749039" y="3712464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 직접 접근 (UCIe), PCIe 아님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400800" y="3712464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읽기 1,000 GB/s, 쓰기 50 GB/s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412480" y="3712464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4297680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SSD-PIM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86000" y="4297680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 TiB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749039" y="4297680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NVMe PCIe 5.0 x4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400800" y="4297680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 GB/s / 200 GB/s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412480" y="4297680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 TFLOPS (GPU 1장의 0.2% / 0.089%) · GEMV (벡터 DB 유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사도 계산만)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5760" y="4956048"/>
            <a:ext cx="11430000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404040"/>
                </a:solidFill>
                <a:latin typeface="맑은 고딕"/>
                <a:ea typeface="맑은 고딕"/>
              </a:rPr>
              <a:t>시뮬레이션 반영: 용량, 외부·내부 대역폭, 지연, 쓰기 대역폭, 연산 능력과 지원 연산을 모두 쓴다. attention을 오프로드할 수 있는 tier는 4개 연산(QK_GEMM, SOFTMAX, AV_GEMM, CAUSAL_MASK)과 연산 능력을 모두 가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진 ScHBM과 CXL-PNM뿐이며, 그때의 지연은 max(내부 BW 기반 읽기 시간, 연산 시간) + 활성 전송 + layer별 왕복으로 계산한다. SSD-PIM은 GEMV로 벡터 DB 유사도 계산에만 쓴다.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미반영: HBF의 쓰기 증폭(3.0)과 endurance(100 PB), PCIe/CXL 프로토콜 오버헤드(링크는 이론 대역폭), 전력.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값의 출처: ScHBM 용량·내부 BW·연산은 페어링 GPU 상대 규칙(용량 2배, 내부 BW 2배, 연산 20%), CXL-PNM 연산(FP32 1.64 TFLOPS의 2배), HBF·SSD-PIM 일부 값은 ASSUMED. 상세: system-specs.md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QA별로 왜 이런 값이 나왔나 (1/2: 처리량, 지연)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6517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수치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1051560"/>
            <a:ext cx="59436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왜 이런 값이 나왔나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61120" y="1051560"/>
            <a:ext cx="28346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근거 (시나리오·측정값)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371600"/>
            <a:ext cx="2651760" cy="1600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QA1 처리량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C1 x1.30 · C2 x1.42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1371600"/>
            <a:ext cx="59436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비교 가능·포화 31쌍 중 C1 25쌍, C2 21쌍은 Baseline과 같다. Baseline이 이미 SLO를 만족하면 올릴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여지가 없기 때문이다 (공통 시나리오 x1.00).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이득은 hot 대상이 시간에 따라 옮겨 가는 Dynamic 시나리오에 집중된다 (승 C1 6, C2 10쌍).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C2는 데이터마다 접근 빈도·재사용·유휴를 보고 이동해 같은 종류(KV) 안의 hot/cold를 구분한다. C1은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자원 압박에만 반응해 구분하지 못한다.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61120" y="1371600"/>
            <a:ext cx="2834640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dyn_kv_hotset_recency_shift (B200): C1 x1.11, C2 x2.62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. 이동량 C1 70 GiB 대 C2 2,210 GiB.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공통 cb_kv_8k_b32: 모두 x1.00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017520"/>
            <a:ext cx="2651760" cy="1508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TTFT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P50 C1 x0.44 · C2 x0.29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P99 C1 x1.04 · C2 x0.72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3017520"/>
            <a:ext cx="59436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P50이 크게 줄어드는 가장 큰 이유로 보이는 것: hot 데이터가 느린 tier(DRAM/HBF)에서 HBM으로 올라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가 첫 토큰 전 복원 대기가 줄어든다(요청 단위로 분해하지는 않았다).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C1의 P99는 개선이 없다(x1.04). 진단한 `cb_kv_8k_b32`에서는 C1이 DRAM 링크 포화 신호에 반응해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이득 없는 재배치를 하고 그 이동이 링크를 나눠 써 꼬리가 늘었다(다른 시나리오의 원인은 분해하지 않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음). C2는 hot 데이터를 HBM으로 올리는 이동이라 꼬리도 줄었다(x0.72).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이동이 같은 링크의 서빙 대역폭을 나눠 쓰는 간섭 모델을 반영했다.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961120" y="3017520"/>
            <a:ext cx="2834640" cy="15087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cb_kv_8k_b32 (B200) TTFT P99: Baseline 337 ms, C1 1,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308, C2 389.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C1은 재배치 17회(231 GiB), C2는 승격 76회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2651760" cy="123444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TPOT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P99 C1 x1.07 · C2 x0.94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4572000"/>
            <a:ext cx="59436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거의 변하지 않는다. TPOT는 매 토큰 디코드가 HBM 대역폭에 묶여 정해지고, DP1은 데이터 위치만 바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꾸지 디코드 방식은 바꾸지 못한다. Baseline의 TPOT P99가 17.1 ms로 SLO(50 ms)보다 훨씬 낮아 개선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여지도 작다.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개선이 있다면 KV가 HBM 밖에 있어 복원 비용이 TPOT에 섞이는 경우뿐이다. LoRA·MoE expert가 원격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에 있을 때도 영향이 있으나 이번 비교 가능 시나리오에는 거의 없다(Baseline도 SLO 불가).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61120" y="4572000"/>
            <a:ext cx="2834640" cy="12344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Baseline TPOT P99 geomean 17.1 ms, SLO 50 ms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LoRA·MoE 시나리오는 Baseline이 TPOT SLO를 못 맞춰 비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교에서 제외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QA별로 왜 이런 값이 나왔나 (2/2: 자원, 확장성)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6517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수치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1051560"/>
            <a:ext cx="59436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왜 이런 값이 나왔나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61120" y="1051560"/>
            <a:ext cx="28346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근거 (시나리오·측정값)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371600"/>
            <a:ext cx="2651760" cy="17373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QA3 자원 사용 (HBM)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C1 x0.97 · C2 x1.21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(HBM을 줄인/늘린 시나리오 C1 9/3, C2 1/1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8)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1371600"/>
            <a:ext cx="59436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이동은 데이터 총량을 바꾸지 않고 어느 메모리에 두느냐만 바꾼다. 그래서 전 메모리 합 점유는 후보와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무관하고, 'HBM에 얼마나 두는가'가 차이를 만든다.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C2는 성능을 위해 hot 데이터를 HBM으로 올려 HBM 사용이 늘어난다(비교 가능 21쌍 중 18쌍에서 증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가). C1은 HBM 압박이 있으면 데이터를 내리고(HBM 감소), DRAM 링크가 포화로 보일 때는 DRAM에서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더 싼 HBF로 옮겨 HBM 사용을 늘리지 않는다.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성능과 자원은 반대 방향이다: C2는 성능을 얻는 대신 HBM을 더 쓰고, C1은 덜 쓰되 성능 이득이 작다.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보조 지표: 비용 가중 점유(DRAM 대비 상대 가격, ASSUMED) C1 x0.94, C2 x1.04로 같은 방향.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61120" y="1371600"/>
            <a:ext cx="2834640" cy="17373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cb_kv_8k_b32 (B200) HBM 사용: Baseline 72 GiB, C1 7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2, C2 98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정의 이력: 활용률 -&gt; 풀 -&gt; 성능÷비용 -&gt; HBM 사용량. 마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지막 변경으로 선택이 C2에서 C1로 바뀜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154680"/>
            <a:ext cx="2651760" cy="1600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QA4 확장성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C1 module 1.75 · C2 2.50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공수 0.38 vs 0.51 MM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에이전트 비용 $1.16 vs $1.49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3154680"/>
            <a:ext cx="59436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변경 시나리오 4종(새 메모리, 새 데이터 종류, 정책 교체, 새 event)을 시뮬레이터 복사본에 실제로 구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현해 module 수를 쟀다.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C1은 데이터 종류를 모르는 구조라 새 데이터 종류를 추가해도 고칠 곳이 거의 없다. C2는 종류별 특성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과 선호 목록을 알고 있어 새 데이터 종류는 module 3개, 새 메모리는 선호 목록에 올려야 쓰이므로 2개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를 고친다.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정책 교체와 새 event 추가는 두 후보가 같다(공유 module). 공수·비용은 가정 상수로 계산한 추정이다.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961120" y="3154680"/>
            <a:ext cx="2834640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새 메모리: C1 1 / C2 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새 데이터 종류: C1 1 / C2 3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정책 교체: 2 / 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새 event: 3 / 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800600"/>
            <a:ext cx="2651760" cy="100584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결론: trade-off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성능 C2, 자원·확장성 C1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4800600"/>
            <a:ext cx="5943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C2는 처리량(x1.42)과 지연에서 앞서는 대신 HBM을 더 쓰고(x1.21) 구조 변경 비용이 크다. C1은 반대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별 합계는 C1 10, C2 9로 근소해 선택(C1)은 별 경계와 QA 정의에 민감하다.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61120" y="4800600"/>
            <a:ext cx="2834640" cy="10058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TTFT P99: C1 개선 없음, C2 x0.72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TPOT: 두 후보 모두 거의 불변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C1의 Data-Memory Affinity 효과 - 제거 변형 비교 (H100 + B200 통합)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5603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지표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26080" y="1051560"/>
            <a:ext cx="13716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Baseline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297680" y="1051560"/>
            <a:ext cx="24688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 affinity 제거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66560" y="1051560"/>
            <a:ext cx="24688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 (affinity 포함, 평가 대상)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235440" y="1051560"/>
            <a:ext cx="25603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1371600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QA1 goodput (tok/s) ↑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26080" y="1371600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336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97680" y="1371600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354 (x1.05)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66560" y="1371600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436 (x1.30)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35440" y="1371600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478 (x1.42)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1755648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TTFT P99 (ms) 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926080" y="1755648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1,084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97680" y="1755648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1,372 (x1.27)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766560" y="1755648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1,128 (x1.04)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235440" y="1755648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785 (x0.72)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2139696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TPOT P99 (ms) 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26080" y="2139696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17.1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97680" y="2139696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18.2 (x1.06)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66560" y="2139696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18.3 (x1.07)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35440" y="2139696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16.0 (x0.94)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2523744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별점 (개선 배수)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926080" y="2523744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97680" y="2523744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x1.07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766560" y="2523744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x1.28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235440" y="2523744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x1.56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2907791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QA3 HBM 사용량 (GiB) ↓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926080" y="2907791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146.6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97680" y="2907791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144.6 (x0.99)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766560" y="2907791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142.7 (x0.97)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235440" y="2907791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  178.0 (x1.21)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3291839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Baseline 대비 승/무/패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926080" y="3291839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297680" y="3291839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2승 29무 0패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766560" y="3291839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6승 25무 0패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235440" y="3291839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10승 21무 0패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5760" y="3675887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별 합계 → 선택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926080" y="3675887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97680" y="3675887"/>
            <a:ext cx="2468880" cy="36576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9 → C2 (동점, 우선순위 QA1)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766560" y="3675887"/>
            <a:ext cx="2468880" cy="36576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10 → C1 (합계)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235440" y="3675887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65760" y="4151375"/>
            <a:ext cx="5669280" cy="224028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보완 설계 스토리: affinity 추가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affinity가 없는 C1은 자원 압박에만 반응한다. 처리량 x1.05, TTFT P99 x1.27(악화)로 C2(x1.42)에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크게 못 미치고, 별 합계가 동점이라 우선순위로 C2가 선택된다.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정적 Data-Memory Affinity를 추가하면(힌트와 접근 비용 추정으로 'HBM에 있어야 SLO를 만족하는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' 객체를 승격, 필요하면 교환) 처리량 x1.30, QA2 ★★★이 되어 합계 10 대 9로 C1이 선택된다.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효과의 출처는 정적 승격 pass다: 점수만 제거 x1.299(변화 없음), 승격 제거 x1.053.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승격은 두 후보가 공유하는 접근 비용 추정기(operation class·shape 힌트)에 의존한다.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217920" y="4151375"/>
            <a:ext cx="5577840" cy="22402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한계 (솔직하게)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affinity를 넣어도 C1 처리량(x1.30)은 C2(x1.42)보다 낮다. 격차를 약 66% 줄였지만 C2를 이기지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는 못한다.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선택이 C1로 바뀐 것은 QA3(HBM x0.97 대 C2 x1.21)·QA4 우위와 QA2 별 경계(x1.28 vs 1.25)에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서 온다. 합계 차이 1점이라 경계에 민감하다.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affinity 제거 변형에서도 QA4 별은 C1 ★★★로 같게 두었다(affinity 모듈은 C1 설계에 원래 포함)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대조군(affinity 포함 재실행)은 본 결과와 정확히 일치. 5 seed, 동일 시나리오. 4.7절 참고.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TTFT P99 꼬리 악화 (Baseline-regression loop 4) - 이득과 같은 메커니즘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17373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burst 용량 (s)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103120" y="1051560"/>
            <a:ext cx="45720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C1: QA1 (x) / TTFT P99 악화 쌍 / 최악 쌍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5120" y="1051560"/>
            <a:ext cx="51206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C2: QA1 (x) / TTFT P99 악화 쌍 / 최악 쌍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371600"/>
            <a:ext cx="17373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2.0 (현재)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103120" y="1371600"/>
            <a:ext cx="4572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x1.30 / 6쌍 / x4.32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75120" y="1371600"/>
            <a:ext cx="51206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x1.42 / 5쌍 / x1.30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755648"/>
            <a:ext cx="17373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1.0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103120" y="1755648"/>
            <a:ext cx="4572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x1.21 / 6쌍 / x2.61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5120" y="1755648"/>
            <a:ext cx="51206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x1.21 / 5쌍 / x1.24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2139696"/>
            <a:ext cx="17373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0.5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03120" y="2139696"/>
            <a:ext cx="4572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 / 3쌍 / x1.20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675120" y="2139696"/>
            <a:ext cx="51206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x1.02 / 4쌍 / x1.23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523744"/>
            <a:ext cx="17373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0.25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103120" y="2523744"/>
            <a:ext cx="4572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 / 0쌍 / x1.00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75120" y="2523744"/>
            <a:ext cx="51206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 / 6쌍 / x1.17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2999232"/>
            <a:ext cx="5669280" cy="274320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무슨 일이 일어나나 (21쌍, H100+B200)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현재 설정에서 TTFT P99가 Baseline보다 나쁜 쌍: C1 6개, C2 5개. C1 최악은 Common cb_kv_8k_b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32(H100 x4.15, B200 x3.88).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같은 쌍에서 TTFT P50은 개선(x0.32~0.67)된다: 중앙값은 좋아지고 꼬리가 나빠진다.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꼬리는 이동된 객체가 아니라 DRAM에 남은 KV의 첫 응답이다. C1이 초반 20% 구간에 15 GiB급 이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동 19건을 몰아 보내 DRAM 링크 서빙 대역폭이 0.10배까지 떨어지고, 그 구간 접근 2.5%가 P99를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정한다.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17920" y="2999232"/>
            <a:ext cx="5577840" cy="27432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결론과 한계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burst 용량을 줄이면 꼬리가 줄지만 이득도 같이 사라진다(0.5 s: C1 QA1 x1.00, 0.25 s: C1이 Ba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seline과 동일). 용량 상수 하나로 둘을 동시에 얻지 못한다.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기본값은 유지했다. 필요한 것은 큰 이동을 여러 tick에 나누는 staged 이동과 이동 중 접근에 대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한 do-no-harm 검사이며 보완 설계 택틱([C], 미구현)이다.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한계: 링크 간섭이 평균장 근사(대역폭 배율)라 꼬리가 과대일 수 있다. 사전 판정 규칙이 '이득이 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0인 퇴화 해'를 허용하는 결함이 있었음을 loop-log에 기록했다.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별점 기준과 근거 (QA별 ★ 1·2·3개)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20040" y="1024128"/>
            <a:ext cx="777240" cy="27432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QA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97280" y="1024128"/>
            <a:ext cx="2240280" cy="27432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평가 지표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337560" y="1024128"/>
            <a:ext cx="1417320" cy="27432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★ (1개)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54880" y="1024128"/>
            <a:ext cx="1554480" cy="27432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★★ (2개)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1024128"/>
            <a:ext cx="1554480" cy="27432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★★★ (3개)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63840" y="1024128"/>
            <a:ext cx="2926080" cy="27432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왜 이 기준인가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789920" y="1024128"/>
            <a:ext cx="1097280" cy="27432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C1 / C2 결과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1325880"/>
            <a:ext cx="777240" cy="8229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800" b="1">
                <a:solidFill>
                  <a:srgbClr val="1A1A1A"/>
                </a:solidFill>
                <a:latin typeface="맑은 고딕"/>
                <a:ea typeface="맑은 고딕"/>
              </a:rPr>
              <a:t>QA1</a:t>
            </a:r>
          </a:p>
          <a:p>
            <a:pPr algn="ctr"/>
            <a:r>
              <a:rPr sz="800" b="1">
                <a:solidFill>
                  <a:srgbClr val="1A1A1A"/>
                </a:solidFill>
                <a:latin typeface="맑은 고딕"/>
                <a:ea typeface="맑은 고딕"/>
              </a:rPr>
              <a:t>처리량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97280" y="1325880"/>
            <a:ext cx="22402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Max SLO goodput의 Baseline 대비 배수 (시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나리오 쌍별 비율의 geomean)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337560" y="1325880"/>
            <a:ext cx="14173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0.97배 미만 (Baseline보다 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느림)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54880" y="1325880"/>
            <a:ext cx="15544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0.97 이상 1.30 미만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09360" y="1325880"/>
            <a:ext cx="15544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1.30배 이상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863840" y="1325880"/>
            <a:ext cx="29260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★/★★ 경계: Baseline끼리 비교해도 0.968~1.033배 흔들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려 0.97은 그 하한(측정). ★★★ 경계: 1.30배 = 같은 수요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를 하드웨어 77%로 처리 = 8-GPU 노드에서 약 1.85 GPU 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절감(환산, 정책 선택)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789920" y="1325880"/>
            <a:ext cx="10972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C1 ★★ x1.30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C2 ★★★ x1.42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0040" y="2176272"/>
            <a:ext cx="777240" cy="8229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800" b="1">
                <a:solidFill>
                  <a:srgbClr val="1A1A1A"/>
                </a:solidFill>
                <a:latin typeface="맑은 고딕"/>
                <a:ea typeface="맑은 고딕"/>
              </a:rPr>
              <a:t>QA2</a:t>
            </a:r>
          </a:p>
          <a:p>
            <a:pPr algn="ctr"/>
            <a:r>
              <a:rPr sz="800" b="1">
                <a:solidFill>
                  <a:srgbClr val="1A1A1A"/>
                </a:solidFill>
                <a:latin typeface="맑은 고딕"/>
                <a:ea typeface="맑은 고딕"/>
              </a:rPr>
              <a:t>지연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97280" y="2176272"/>
            <a:ext cx="22402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TTFT·TPOT x P50/P95/P99 6개 지표 개선 배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수(Baseline÷후보)의 geomean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337560" y="2176272"/>
            <a:ext cx="14173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0.95배 미만 (지연이 5%+ 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나빠짐)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754880" y="2176272"/>
            <a:ext cx="15544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0.95 이상 1.25 미만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176272"/>
            <a:ext cx="15544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1.25배 이상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63840" y="2176272"/>
            <a:ext cx="29260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★/★★ 경계: Baseline끼리 0.973~1.028배(측정), 약간 느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슨하게 0.95. ★★★ 경계: 1.25배 = 지연 20% 감소(TTFT P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99 1,084 ms가 867 ms로, 환산)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789920" y="2176272"/>
            <a:ext cx="10972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C1 ★★★ x1.28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C2 ★★★ x1.56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0040" y="3026664"/>
            <a:ext cx="777240" cy="8229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800" b="1">
                <a:solidFill>
                  <a:srgbClr val="1A1A1A"/>
                </a:solidFill>
                <a:latin typeface="맑은 고딕"/>
                <a:ea typeface="맑은 고딕"/>
              </a:rPr>
              <a:t>QA3</a:t>
            </a:r>
          </a:p>
          <a:p>
            <a:pPr algn="ctr"/>
            <a:r>
              <a:rPr sz="800" b="1">
                <a:solidFill>
                  <a:srgbClr val="1A1A1A"/>
                </a:solidFill>
                <a:latin typeface="맑은 고딕"/>
                <a:ea typeface="맑은 고딕"/>
              </a:rPr>
              <a:t>HBM 사용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97280" y="3026664"/>
            <a:ext cx="22402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HBM 절감 배수 (Baseline GiB ÷ 후보 GiB, 시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간 평균 점유)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337560" y="3026664"/>
            <a:ext cx="14173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0.95배 미만 (HBM을 5%+ 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더 씀)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54880" y="3026664"/>
            <a:ext cx="15544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0.95 이상 1.25 미만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3026664"/>
            <a:ext cx="15544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1.25배 이상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863840" y="3026664"/>
            <a:ext cx="29260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★/★★ 경계: Baseline끼리 0.984~1.016배(측정), 느슨하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게 0.95. ★★★ 경계: 1.25배 = HBM 20% 감소(평균 146.6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GiB 중 약 29 GiB, 8K KV object 약 1.6개분, 환산)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789920" y="3026664"/>
            <a:ext cx="10972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C1 ★★ x1.03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C2 ★ x0.82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20040" y="3877056"/>
            <a:ext cx="777240" cy="8229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800" b="1">
                <a:solidFill>
                  <a:srgbClr val="1A1A1A"/>
                </a:solidFill>
                <a:latin typeface="맑은 고딕"/>
                <a:ea typeface="맑은 고딕"/>
              </a:rPr>
              <a:t>QA4</a:t>
            </a:r>
          </a:p>
          <a:p>
            <a:pPr algn="ctr"/>
            <a:r>
              <a:rPr sz="800" b="1">
                <a:solidFill>
                  <a:srgbClr val="1A1A1A"/>
                </a:solidFill>
                <a:latin typeface="맑은 고딕"/>
                <a:ea typeface="맑은 고딕"/>
              </a:rPr>
              <a:t>변경 비용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97280" y="3877056"/>
            <a:ext cx="22402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변경 module 수 · 개발 공수(man-month) · 에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이전트 비용($) 3개 sub-star의 중앙값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337560" y="3877056"/>
            <a:ext cx="14173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module 6개 이상 · 공수 1.0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초과 · $10 초과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754880" y="3877056"/>
            <a:ext cx="15544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module 3~5개 · 공수 1.0 이하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· $10 이하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877056"/>
            <a:ext cx="15544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module 2개 이하 · 공수 0.5 이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하 · $3 이하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863840" y="3877056"/>
            <a:ext cx="29260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module 수 경계는 공통 룰 문서. 공수와 $ 경계는 사전 등록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한 가정값(ASSUMED)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789920" y="3877056"/>
            <a:ext cx="10972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C1 ★★★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C2 ★★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20040" y="4773168"/>
            <a:ext cx="5669280" cy="182880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850" b="1">
                <a:solidFill>
                  <a:srgbClr val="1A1A1A"/>
                </a:solidFill>
                <a:latin typeface="맑은 고딕"/>
                <a:ea typeface="맑은 고딕"/>
              </a:rPr>
              <a:t>부가 설명: 근거의 강도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- ★/★★ 하한은 측정: Baseline을 seed 묶음 5개로 돌려 서로 비교한 20회의 집계 범위(효과가 없을 때의 잡음).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- ★★★ 상한은 측정할 수 없다. 환산(GPU 수, ms, GiB)으로 의미만 붙인 정책 선택이고, 특히 QA1의 1.30은 결과를 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본 뒤 정했다.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- 상한을 QA1/2/3에 같게 적용하면 선택이 바뀐다: 상한 1.25 이하 또는 1.45 이상이면 C1, 1.30~1.40이면 동점이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라 QA1 우선순위로 C2. 현재 경계는 C1의 QA1(x1.298)과 0.2% 차이다.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- 위 기준은 5개 시스템 구성이 아닌 H100+B200 통합 21쌍 기준이며 Evidence는 [B+C].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72200" y="4773168"/>
            <a:ext cx="5715000" cy="18288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부가 설명: 문헌 자료와 Oracle 달성률 (참고, 공식 별 아님)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- Oracle(미래 접근률을 알고 이동 비용이 0인 상한) 이득 중 얻은 비율: QA1 C1 62% / C2 83%, QA2 C1 23% / C2 42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%, QA3 C1 3% / C2 -15%.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- 문헌 달성률(원문 확인): Mockingjay HPCA'22 Table I (Belady MIN 대비 IPC 개선) SHiP 57%, Hawkeye 75%, Mockingj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ay 95%; ARMS arXiv 2508.04417 튜닝 최적의 97% 이상 = 87% 이상(환산). 중앙값 81%.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- 참고: Colloid SOSP'24는 HeMem/TPP/MEMTIS가 best-case 처리량의 98.5/95.4/89.9%, LRB NSDI'20은 기존 최고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와 Belady 격차의 약 1/4 해소. 반증: arXiv 2609.16215는 대역폭 경합 시 oracle prefetch도 이득이 없었다고 보고.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- 한계: LLM 서빙 직접 문헌 없음(CPU 캐시/tiered memory), Oracle은 근사 상한. 출처 5개와 제외 사유: qa-capture-lite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rature.md.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평가에서 고려한 시나리오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11430000" cy="5486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1000" b="1">
                <a:solidFill>
                  <a:srgbClr val="404040"/>
                </a:solidFill>
                <a:latin typeface="맑은 고딕"/>
                <a:ea typeface="맑은 고딕"/>
              </a:rPr>
              <a:t>32개 시나리오를 H100과 B200에 각각 돌렸다(64쌍). Common 3개 (쌍: 비교 5, 포화 1, 불가 0) · DP1 Stress 23개 (쌍: 비교 8, 포화 9, 불가 29) · DP1 Dynamic 6개 (쌍: 비교 8, 포화 0, 불가 </a:t>
            </a:r>
          </a:p>
          <a:p>
            <a:pPr algn="l"/>
            <a:r>
              <a:rPr sz="1000" b="0">
                <a:solidFill>
                  <a:srgbClr val="404040"/>
                </a:solidFill>
                <a:latin typeface="맑은 고딕"/>
                <a:ea typeface="맑은 고딕"/>
              </a:rPr>
              <a:t>4). 비교 불가 쌍은 결과에서 빼지 않고 별도 표시했다.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1737360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기본 서비스 상황 (공통)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1737360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8K 토큰 입력, 256 토큰 생성, 동시 32 요청의 대화 서비스. HBM이 빠듯한 경우 / 시간이 갈수록 여유가 줄어드는 경우 / KV cache에 Lo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RA·MoE·Agent 데이터가 섞이는 경우. 결과: 두 후보 모두 처리량은 Baseline과 같다.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2624328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데이터 종류별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2624328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대화 문맥(KV cache, 32K~512K 토큰, 동시 1~256) · 여러 고객이 쓰는 LoRA 어댑터(몇 개만 인기) · MoE expert(라우팅 쏠림) · 수 TiB 벡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터 DB(RAG) · 오래 보관되는 Agent 기억과 Tool 결과(드물게 재사용 / 한꺼번에 생성 후 반복 참조).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3511296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접근이 쏠리는 정도(hotness)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511296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소수만 인기 있는 skew · 거의 안 쓰이는 cold 데이터가 상위 메모리를 차지 · 갑자기 hot해지는 burst · hot/cold 급반전 · hot 대상이 옮겨 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감(최근 세션으로 이동, 사용자 그룹이 번갈아 활성, 인기 검색 shard가 바뀜). 고르게 접근되는 전용 시나리오는 아직 없음(중간 KV 기준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선이 대조군).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398264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자원 조건이 바뀌는 경우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17520" y="4398264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HBM 용량 압박(고정 / 점진 증가) · HBM 대역폭 급락 · 다른 작업과 공유하는 host 링크 경합(대역폭 25%로 저하) · 6개 메모리 용량을 모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두 써야 하는 큰 용량 부담.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5285231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처음엔 문제없다가 나빠지는 경우 (Dynami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 6개)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5285231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Baseline이 처음엔 SLO를 만족하다 중간에 working set이 바뀐다. 예: 오래 보관만 되던 Agent 기억이 HBM을 차지한 채 채팅이 몰림 / ho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t 대화가 초기 세션에서 최근 세션으로 이동. Baseline의 실패 양상을 알고 설계했으므로 이득은 이 상황에 한정.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
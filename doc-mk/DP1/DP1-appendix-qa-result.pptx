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9"/>
  </p:notesMasterIdLst>
  <p:sldIdLst>
    <p:sldId id="650" r:id="rId24"/>
    <p:sldId id="651" r:id="rId25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006" autoAdjust="0"/>
    <p:restoredTop sz="94660"/>
  </p:normalViewPr>
  <p:slideViewPr>
    <p:cSldViewPr snapToGrid="0">
      <p:cViewPr varScale="1">
        <p:scale>
          <a:sx n="90" d="100"/>
          <a:sy n="90" d="100"/>
        </p:scale>
        <p:origin x="132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35F5D58-863F-4F8A-9CDC-0AFD97F68163}" type="datetimeFigureOut">
              <a:rPr lang="ko-KR" altLang="en-US" smtClean="0"/>
              <a:t>2026-10-01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5F56981-8A65-4F3E-9859-015D93710B0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973943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ECF88C4-AEBB-48AA-B70A-6EC491E392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63297DB7-7C40-42BC-80A5-FD747209ECC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A048312-3256-4A93-9D36-F083315268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5A236D-9762-4032-9321-D32C6F6792AF}" type="datetimeFigureOut">
              <a:rPr lang="ko-KR" altLang="en-US" smtClean="0"/>
              <a:t>2026-10-01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01D4BCC-BBCA-4118-AA23-404F01C670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7404850-FD27-4423-8869-67E4CBE645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76138B-95D0-41FF-9A1B-079D07CC85C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014729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D9FEFC4-2952-42C6-BE71-DBD052AC5C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F5EFE10-E3FB-47F4-8033-A860CB3DB36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BB3FAB0-5711-4C00-B7AB-8100C870E2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5A236D-9762-4032-9321-D32C6F6792AF}" type="datetimeFigureOut">
              <a:rPr lang="ko-KR" altLang="en-US" smtClean="0"/>
              <a:t>2026-10-01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686A56D-3130-42FB-824E-0B3016658A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9E7EEAE-7123-47AC-9A56-D0B2F66AFA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76138B-95D0-41FF-9A1B-079D07CC85C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404181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75B76C3-9A1E-497D-A2EB-ED6820D521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0060CE8-6710-4FF3-934C-0ACEEC8CD0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FEBAE3C-55FA-4F75-B99C-BAB54592E8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5A236D-9762-4032-9321-D32C6F6792AF}" type="datetimeFigureOut">
              <a:rPr lang="ko-KR" altLang="en-US" smtClean="0"/>
              <a:t>2026-10-01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24E5002-A22E-4FF6-9BFE-E0AA83558E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1119500-EA4E-4B8A-B440-FABCFDB986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76138B-95D0-41FF-9A1B-079D07CC85C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082738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60F0C29-EA40-44DC-B84D-A6D4CD7C8D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9ABF545-1B61-4740-899B-8C353F38AF1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42F40A9B-2F7D-47E8-B2EF-9B53B5A76CA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1DE563D1-151A-4BA0-A1D5-890E66FB3D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5A236D-9762-4032-9321-D32C6F6792AF}" type="datetimeFigureOut">
              <a:rPr lang="ko-KR" altLang="en-US" smtClean="0"/>
              <a:t>2026-10-01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C2FCA36F-249F-4A97-9C45-E6C5825E9F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DF8FC145-E980-44EC-B197-3710B32A86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76138B-95D0-41FF-9A1B-079D07CC85C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91310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D434856-F92B-4894-AB6C-7ABF84D5CA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A3618AD-0A52-4862-944F-F2327F7DAE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AD8ED2E3-4562-47AE-8AD8-2446BF02901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53EAED75-044E-40D8-B474-24A15D6E9C4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EAAC5C1B-F86A-475B-9398-00FDD01C59D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458F03C6-988B-4EEB-8ADB-6F8F290932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5A236D-9762-4032-9321-D32C6F6792AF}" type="datetimeFigureOut">
              <a:rPr lang="ko-KR" altLang="en-US" smtClean="0"/>
              <a:t>2026-10-01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2369998B-E067-4834-94B4-BB8DFF7E40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34CD66B5-71E0-4F15-8A13-CC9B61F232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76138B-95D0-41FF-9A1B-079D07CC85C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214162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7C094E7-7B2F-43E3-AE38-2F6858827C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9516DBD5-0087-4D39-B73F-381E96627D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5A236D-9762-4032-9321-D32C6F6792AF}" type="datetimeFigureOut">
              <a:rPr lang="ko-KR" altLang="en-US" smtClean="0"/>
              <a:t>2026-10-01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032F6697-2541-4401-A80C-156513D2A4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B568EA56-5214-45F8-9874-35DA5B4281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76138B-95D0-41FF-9A1B-079D07CC85C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80270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607B5D05-1EB0-4B84-A4EA-3D6DCA7244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5A236D-9762-4032-9321-D32C6F6792AF}" type="datetimeFigureOut">
              <a:rPr lang="ko-KR" altLang="en-US" smtClean="0"/>
              <a:t>2026-10-01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02E19244-B07B-4893-9945-50E051075C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6D95CF3-FA20-404B-A3F9-3C62331D32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76138B-95D0-41FF-9A1B-079D07CC85C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56773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8ACD6F9-3720-460B-9571-4A160B8FB9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A60710D-C685-4F47-A667-97E1308CD3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5464C01F-08F5-4FFF-873C-7EF969446EC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22B0C87D-E82D-4707-BC8F-982AA497E1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5A236D-9762-4032-9321-D32C6F6792AF}" type="datetimeFigureOut">
              <a:rPr lang="ko-KR" altLang="en-US" smtClean="0"/>
              <a:t>2026-10-01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E6101179-413D-4B0D-91AE-0EAEFF447E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59D5D949-E6E5-4EBD-882A-E572AF6883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76138B-95D0-41FF-9A1B-079D07CC85C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208341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C29C5D6-4E48-4907-9077-C21FC14586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0F182103-419E-4630-A11D-276422A83A5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5CDB647B-BD9F-4F19-BA7B-5278BE6FFEA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5FB0F1D0-4D11-423F-BE06-ADC97BF9B7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5A236D-9762-4032-9321-D32C6F6792AF}" type="datetimeFigureOut">
              <a:rPr lang="ko-KR" altLang="en-US" smtClean="0"/>
              <a:t>2026-10-01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F06751E5-2CED-4DA3-86A7-13AB7485AD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0FA6F829-E3E6-4CAC-A997-F0BFA61917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76138B-95D0-41FF-9A1B-079D07CC85C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455719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6A5E6D9-4DA1-4FF3-B9CD-6107ABDB01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486E7429-0C4A-45A9-8750-5FC7BBAF600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57D54CF-A3A4-4A54-9CAF-737F6D2A9E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5A236D-9762-4032-9321-D32C6F6792AF}" type="datetimeFigureOut">
              <a:rPr lang="ko-KR" altLang="en-US" smtClean="0"/>
              <a:t>2026-10-01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55B9C34-27EB-4D1C-BA42-70A6C5E975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6D49AF7-E8AA-433E-853F-AB9618B3E5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76138B-95D0-41FF-9A1B-079D07CC85C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012619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CC1CA7D7-EF8A-4259-B5D4-2ECA35B16A8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C4172DE0-808E-4E27-A7FC-6FCE852D296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B9FA54A-0512-4F37-8144-DC509519C2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5A236D-9762-4032-9321-D32C6F6792AF}" type="datetimeFigureOut">
              <a:rPr lang="ko-KR" altLang="en-US" smtClean="0"/>
              <a:t>2026-10-01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E5530AA-7D8D-40D1-8B5A-714DAEC05F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DA65708-83E1-4B4A-8091-CBF555ABF2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76138B-95D0-41FF-9A1B-079D07CC85C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609204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" name="직선 연결선 11"/>
          <p:cNvCxnSpPr/>
          <p:nvPr userDrawn="1"/>
        </p:nvCxnSpPr>
        <p:spPr>
          <a:xfrm>
            <a:off x="234950" y="6540500"/>
            <a:ext cx="11766550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5620080" y="6597650"/>
            <a:ext cx="456466" cy="2095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F889C64-266A-4D07-AD8F-5B592E61CCE1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cxnSp>
        <p:nvCxnSpPr>
          <p:cNvPr id="20" name="직선 연결선 19"/>
          <p:cNvCxnSpPr/>
          <p:nvPr userDrawn="1"/>
        </p:nvCxnSpPr>
        <p:spPr>
          <a:xfrm>
            <a:off x="234950" y="539750"/>
            <a:ext cx="11766550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제목 개체 틀 1"/>
          <p:cNvSpPr>
            <a:spLocks noGrp="1"/>
          </p:cNvSpPr>
          <p:nvPr>
            <p:ph type="title"/>
          </p:nvPr>
        </p:nvSpPr>
        <p:spPr>
          <a:xfrm>
            <a:off x="234948" y="137379"/>
            <a:ext cx="7655985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defRPr sz="1800" b="1"/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BF6FB25F-7B1E-410A-903C-9DE680EED1C3}"/>
              </a:ext>
            </a:extLst>
          </p:cNvPr>
          <p:cNvGrpSpPr/>
          <p:nvPr userDrawn="1"/>
        </p:nvGrpSpPr>
        <p:grpSpPr>
          <a:xfrm>
            <a:off x="7995393" y="137379"/>
            <a:ext cx="4006094" cy="357521"/>
            <a:chOff x="7522576" y="137379"/>
            <a:chExt cx="4478924" cy="357521"/>
          </a:xfrm>
        </p:grpSpPr>
        <p:sp>
          <p:nvSpPr>
            <p:cNvPr id="22" name="갈매기형 수장 21"/>
            <p:cNvSpPr/>
            <p:nvPr userDrawn="1"/>
          </p:nvSpPr>
          <p:spPr>
            <a:xfrm>
              <a:off x="7522576" y="137379"/>
              <a:ext cx="1031887" cy="357521"/>
            </a:xfrm>
            <a:prstGeom prst="chevron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lvl="0" algn="ctr"/>
              <a:r>
                <a:rPr lang="ko-KR" altLang="en-US" sz="1000" b="1" dirty="0">
                  <a:solidFill>
                    <a:schemeClr val="bg1"/>
                  </a:solidFill>
                </a:rPr>
                <a:t>과제 소개</a:t>
              </a:r>
            </a:p>
          </p:txBody>
        </p:sp>
        <p:sp>
          <p:nvSpPr>
            <p:cNvPr id="23" name="갈매기형 수장 22"/>
            <p:cNvSpPr/>
            <p:nvPr userDrawn="1"/>
          </p:nvSpPr>
          <p:spPr>
            <a:xfrm>
              <a:off x="8415057" y="137379"/>
              <a:ext cx="1031887" cy="357521"/>
            </a:xfrm>
            <a:prstGeom prst="chevron">
              <a:avLst/>
            </a:prstGeom>
            <a:ln>
              <a:noFill/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lIns="0" tIns="0" rIns="0" bIns="0" rtlCol="0" anchor="ctr"/>
            <a:lstStyle/>
            <a:p>
              <a:pPr lvl="0" algn="ctr"/>
              <a:r>
                <a:rPr lang="ko-KR" altLang="en-US" sz="1000" b="1" dirty="0">
                  <a:solidFill>
                    <a:schemeClr val="bg1"/>
                  </a:solidFill>
                </a:rPr>
                <a:t>요구사항</a:t>
              </a:r>
            </a:p>
          </p:txBody>
        </p:sp>
        <p:sp>
          <p:nvSpPr>
            <p:cNvPr id="25" name="갈매기형 수장 24"/>
            <p:cNvSpPr/>
            <p:nvPr userDrawn="1"/>
          </p:nvSpPr>
          <p:spPr>
            <a:xfrm>
              <a:off x="9313975" y="137379"/>
              <a:ext cx="1031887" cy="357521"/>
            </a:xfrm>
            <a:prstGeom prst="chevron">
              <a:avLst/>
            </a:prstGeom>
            <a:ln>
              <a:noFill/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lIns="0" tIns="0" rIns="0" bIns="0" rtlCol="0" anchor="ctr"/>
            <a:lstStyle/>
            <a:p>
              <a:pPr lvl="0" algn="ctr"/>
              <a:r>
                <a:rPr lang="ko-KR" altLang="en-US" sz="1000" b="1" dirty="0">
                  <a:solidFill>
                    <a:schemeClr val="bg1"/>
                  </a:solidFill>
                </a:rPr>
                <a:t>설계</a:t>
              </a:r>
            </a:p>
          </p:txBody>
        </p:sp>
        <p:sp>
          <p:nvSpPr>
            <p:cNvPr id="26" name="갈매기형 수장 25"/>
            <p:cNvSpPr/>
            <p:nvPr userDrawn="1"/>
          </p:nvSpPr>
          <p:spPr>
            <a:xfrm>
              <a:off x="10206457" y="137379"/>
              <a:ext cx="1031887" cy="357521"/>
            </a:xfrm>
            <a:prstGeom prst="chevron">
              <a:avLst/>
            </a:prstGeom>
            <a:ln>
              <a:noFill/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lIns="0" tIns="0" rIns="0" bIns="0" rtlCol="0" anchor="ctr"/>
            <a:lstStyle/>
            <a:p>
              <a:pPr lvl="0" algn="ctr"/>
              <a:r>
                <a:rPr lang="ko-KR" altLang="en-US" sz="1000" b="1" dirty="0">
                  <a:solidFill>
                    <a:schemeClr val="bg1"/>
                  </a:solidFill>
                </a:rPr>
                <a:t>구현</a:t>
              </a:r>
              <a:r>
                <a:rPr lang="en-US" altLang="ko-KR" sz="1000" b="1" dirty="0">
                  <a:solidFill>
                    <a:schemeClr val="bg1"/>
                  </a:solidFill>
                </a:rPr>
                <a:t>/</a:t>
              </a:r>
              <a:r>
                <a:rPr lang="ko-KR" altLang="en-US" sz="1000" b="1" dirty="0">
                  <a:solidFill>
                    <a:schemeClr val="bg1"/>
                  </a:solidFill>
                </a:rPr>
                <a:t>검증</a:t>
              </a:r>
            </a:p>
          </p:txBody>
        </p:sp>
        <p:sp>
          <p:nvSpPr>
            <p:cNvPr id="27" name="갈매기형 수장 26"/>
            <p:cNvSpPr/>
            <p:nvPr userDrawn="1"/>
          </p:nvSpPr>
          <p:spPr>
            <a:xfrm>
              <a:off x="11105815" y="137379"/>
              <a:ext cx="892483" cy="357521"/>
            </a:xfrm>
            <a:prstGeom prst="chevron">
              <a:avLst/>
            </a:prstGeom>
            <a:ln>
              <a:noFill/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lIns="0" tIns="0" rIns="0" bIns="0" rtlCol="0" anchor="ctr"/>
            <a:lstStyle/>
            <a:p>
              <a:pPr lvl="0" algn="ctr"/>
              <a:r>
                <a:rPr lang="ko-KR" altLang="en-US" sz="1000" b="1" dirty="0">
                  <a:solidFill>
                    <a:schemeClr val="bg1"/>
                  </a:solidFill>
                </a:rPr>
                <a:t>결론</a:t>
              </a:r>
            </a:p>
          </p:txBody>
        </p:sp>
        <p:sp>
          <p:nvSpPr>
            <p:cNvPr id="29" name="직사각형 28"/>
            <p:cNvSpPr/>
            <p:nvPr userDrawn="1"/>
          </p:nvSpPr>
          <p:spPr>
            <a:xfrm>
              <a:off x="11789373" y="137379"/>
              <a:ext cx="212127" cy="357521"/>
            </a:xfrm>
            <a:prstGeom prst="rect">
              <a:avLst/>
            </a:prstGeom>
            <a:ln>
              <a:noFill/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lIns="0" tIns="0" rIns="0" bIns="0" rtlCol="0" anchor="ctr"/>
            <a:lstStyle/>
            <a:p>
              <a:pPr lvl="0" algn="ctr"/>
              <a:endParaRPr lang="ko-KR" altLang="en-US" sz="1000" b="1">
                <a:solidFill>
                  <a:schemeClr val="bg1"/>
                </a:solidFill>
              </a:endParaRPr>
            </a:p>
          </p:txBody>
        </p:sp>
        <p:sp>
          <p:nvSpPr>
            <p:cNvPr id="30" name="직사각형 29"/>
            <p:cNvSpPr/>
            <p:nvPr userDrawn="1"/>
          </p:nvSpPr>
          <p:spPr>
            <a:xfrm>
              <a:off x="7528835" y="137379"/>
              <a:ext cx="212127" cy="357521"/>
            </a:xfrm>
            <a:prstGeom prst="rect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lvl="0" algn="ctr"/>
              <a:endParaRPr lang="ko-KR" altLang="en-US" sz="1000" b="1" dirty="0">
                <a:solidFill>
                  <a:schemeClr val="bg1"/>
                </a:solidFill>
              </a:endParaRPr>
            </a:p>
          </p:txBody>
        </p:sp>
      </p:grpSp>
      <p:sp>
        <p:nvSpPr>
          <p:cNvPr id="2" name="TextBox 1"/>
          <p:cNvSpPr txBox="1"/>
          <p:nvPr userDrawn="1"/>
        </p:nvSpPr>
        <p:spPr>
          <a:xfrm>
            <a:off x="5975555" y="6563925"/>
            <a:ext cx="47064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>
                <a:solidFill>
                  <a:schemeClr val="bg1">
                    <a:lumMod val="50000"/>
                  </a:schemeClr>
                </a:solidFill>
              </a:rPr>
              <a:t>/ 23</a:t>
            </a:r>
            <a:endParaRPr lang="ko-KR" altLang="en-US" sz="1200" dirty="0">
              <a:solidFill>
                <a:schemeClr val="bg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5234217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직선 연결선 5"/>
          <p:cNvCxnSpPr/>
          <p:nvPr userDrawn="1"/>
        </p:nvCxnSpPr>
        <p:spPr>
          <a:xfrm>
            <a:off x="234950" y="539750"/>
            <a:ext cx="11766550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 userDrawn="1"/>
        </p:nvSpPr>
        <p:spPr>
          <a:xfrm>
            <a:off x="184150" y="145018"/>
            <a:ext cx="67627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/>
              <a:t>CONTENTS</a:t>
            </a:r>
            <a:endParaRPr lang="ko-KR" altLang="en-US" b="1" dirty="0"/>
          </a:p>
        </p:txBody>
      </p:sp>
      <p:cxnSp>
        <p:nvCxnSpPr>
          <p:cNvPr id="9" name="직선 연결선 8"/>
          <p:cNvCxnSpPr/>
          <p:nvPr userDrawn="1"/>
        </p:nvCxnSpPr>
        <p:spPr>
          <a:xfrm>
            <a:off x="234950" y="6540500"/>
            <a:ext cx="11766550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직사각형 9"/>
          <p:cNvSpPr/>
          <p:nvPr userDrawn="1"/>
        </p:nvSpPr>
        <p:spPr>
          <a:xfrm>
            <a:off x="11118522" y="118329"/>
            <a:ext cx="953810" cy="40237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>
                <a:solidFill>
                  <a:schemeClr val="bg1">
                    <a:lumMod val="85000"/>
                  </a:schemeClr>
                </a:solidFill>
              </a:rPr>
              <a:t>SAMSUNG</a:t>
            </a:r>
          </a:p>
          <a:p>
            <a:pPr algn="ctr"/>
            <a:r>
              <a:rPr lang="en-US" altLang="ko-KR" sz="1100" dirty="0">
                <a:solidFill>
                  <a:schemeClr val="bg1">
                    <a:lumMod val="85000"/>
                  </a:schemeClr>
                </a:solidFill>
              </a:rPr>
              <a:t>Confidential</a:t>
            </a:r>
            <a:endParaRPr lang="ko-KR" altLang="en-US" sz="1100" dirty="0">
              <a:solidFill>
                <a:schemeClr val="bg1">
                  <a:lumMod val="8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34684465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C1132D1B-70AA-4E48-9B44-5AE4F7E8A4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99A4856-08FE-4CE2-9ED9-6E66C5593A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D928EB7-8F03-43F3-80F0-A76E71294B0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85A236D-9762-4032-9321-D32C6F6792AF}" type="datetimeFigureOut">
              <a:rPr lang="ko-KR" altLang="en-US" smtClean="0"/>
              <a:t>2026-10-01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04DC83A-1332-4811-A9B3-C4957D3F819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BA4A231-6D85-4740-B10F-E9C466D2740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76138B-95D0-41FF-9A1B-079D07CC85C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080553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제목 2"/>
          <p:cNvSpPr>
            <a:spLocks noGrp="1"/>
          </p:cNvSpPr>
          <p:nvPr>
            <p:ph type="title"/>
          </p:nvPr>
        </p:nvSpPr>
        <p:spPr>
          <a:xfrm>
            <a:off x="234949" y="137379"/>
            <a:ext cx="7631530" cy="365125"/>
          </a:xfrm>
        </p:spPr>
        <p:txBody>
          <a:bodyPr/>
          <a:lstStyle/>
          <a:p>
            <a:r>
              <a:rPr lang="en-US" altLang="ko-KR" dirty="0"/>
              <a:t>DP1. 이기종 메모리 기반 Data Migration 구조 - Appendix</a:t>
            </a:r>
            <a:r>
              <a:rPr lang="ko-KR" altLang="en-US" dirty="0"/>
              <a:t/>
            </a:r>
            <a:r>
              <a:rPr lang="en-US" altLang="ko-KR" dirty="0"/>
              <a:t/>
            </a:r>
            <a:r>
              <a:rPr lang="ko-KR" altLang="en-US" dirty="0"/>
              <a:t/>
            </a:r>
            <a:r>
              <a:rPr lang="en-US" altLang="ko-KR" dirty="0"/>
              <a:t/>
            </a:r>
            <a:r>
              <a:rPr lang="ko-KR" altLang="en-US" dirty="0"/>
              <a:t/>
            </a:r>
          </a:p>
        </p:txBody>
      </p:sp>
      <p:sp>
        <p:nvSpPr>
          <p:cNvPr id="5" name="직사각형 4"/>
          <p:cNvSpPr/>
          <p:nvPr/>
        </p:nvSpPr>
        <p:spPr>
          <a:xfrm>
            <a:off x="234949" y="596176"/>
            <a:ext cx="11747501" cy="396603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TextBox 7"/>
          <p:cNvSpPr txBox="1"/>
          <p:nvPr/>
        </p:nvSpPr>
        <p:spPr>
          <a:xfrm>
            <a:off x="469760" y="627926"/>
            <a:ext cx="114300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ko-KR" altLang="en-US" sz="1400" b="1" dirty="0">
                <a:solidFill>
                  <a:schemeClr val="bg1"/>
                </a:solidFill>
              </a:rPr>
              <a:t>DP1 평가 결과 - QA별 후보 비교 (H100 + B200 통합)</a:t>
            </a:r>
            <a:r>
              <a:rPr lang="en-US" altLang="ko-KR" sz="1400" b="1" dirty="0">
                <a:solidFill>
                  <a:schemeClr val="bg1"/>
                </a:solidFill>
              </a:rPr>
              <a:t/>
            </a:r>
            <a:r>
              <a:rPr lang="ko-KR" altLang="en-US" sz="1400" b="1" dirty="0">
                <a:solidFill>
                  <a:schemeClr val="bg1"/>
                </a:solidFill>
              </a:rPr>
              <a:t/>
            </a:r>
            <a:r>
              <a:rPr lang="en-US" altLang="ko-KR" sz="1400" b="1" dirty="0">
                <a:solidFill>
                  <a:schemeClr val="bg1"/>
                </a:solidFill>
              </a:rPr>
              <a:t/>
            </a:r>
            <a:r>
              <a:rPr lang="ko-KR" altLang="en-US" sz="1400" b="1" dirty="0">
                <a:solidFill>
                  <a:schemeClr val="bg1"/>
                </a:solidFill>
              </a:rPr>
              <a:t/>
            </a:r>
          </a:p>
        </p:txBody>
      </p:sp>
      <p:sp>
        <p:nvSpPr>
          <p:cNvPr id="39" name="직사각형 38"/>
          <p:cNvSpPr/>
          <p:nvPr/>
        </p:nvSpPr>
        <p:spPr>
          <a:xfrm>
            <a:off x="403086" y="678726"/>
            <a:ext cx="66675" cy="216270"/>
          </a:xfrm>
          <a:prstGeom prst="rect">
            <a:avLst/>
          </a:prstGeom>
          <a:solidFill>
            <a:schemeClr val="bg1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00"/>
          </a:p>
        </p:txBody>
      </p:sp>
      <p:sp>
        <p:nvSpPr>
          <p:cNvPr id="57" name="슬라이드 번호 개체 틀 1"/>
          <p:cNvSpPr>
            <a:spLocks noGrp="1"/>
          </p:cNvSpPr>
          <p:nvPr>
            <p:ph type="sldNum" sz="quarter" idx="4"/>
          </p:nvPr>
        </p:nvSpPr>
        <p:spPr>
          <a:xfrm>
            <a:off x="5620080" y="6597650"/>
            <a:ext cx="456466" cy="209550"/>
          </a:xfrm>
        </p:spPr>
        <p:txBody>
          <a:bodyPr/>
          <a:lstStyle/>
          <a:p>
            <a:fld id="{7F889C64-266A-4D07-AD8F-5B592E61CCE1}" type="slidenum">
              <a:rPr lang="ko-KR" altLang="en-US" smtClean="0"/>
              <a:pPr/>
              <a:t>9</a:t>
            </a:fld>
            <a:endParaRPr lang="ko-KR" altLang="en-US" dirty="0"/>
          </a:p>
        </p:txBody>
      </p:sp>
      <p:sp>
        <p:nvSpPr>
          <p:cNvPr id="58" name="Rectangle 57"/>
          <p:cNvSpPr/>
          <p:nvPr/>
        </p:nvSpPr>
        <p:spPr>
          <a:xfrm>
            <a:off x="365760" y="1097280"/>
            <a:ext cx="2926080" cy="310896"/>
          </a:xfrm>
          <a:prstGeom prst="rect">
            <a:avLst/>
          </a:prstGeom>
          <a:solidFill>
            <a:srgbClr val="1F4E79"/>
          </a:solidFill>
          <a:ln w="952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sz="1000" b="1">
                <a:solidFill>
                  <a:srgbClr val="FFFFFF"/>
                </a:solidFill>
                <a:latin typeface="맑은 고딕"/>
                <a:ea typeface="맑은 고딕"/>
              </a:rPr>
              <a:t>QA / 지표</a:t>
            </a:r>
          </a:p>
        </p:txBody>
      </p:sp>
      <p:sp>
        <p:nvSpPr>
          <p:cNvPr id="59" name="Rectangle 58"/>
          <p:cNvSpPr/>
          <p:nvPr/>
        </p:nvSpPr>
        <p:spPr>
          <a:xfrm>
            <a:off x="3291840" y="1097280"/>
            <a:ext cx="4251960" cy="310896"/>
          </a:xfrm>
          <a:prstGeom prst="rect">
            <a:avLst/>
          </a:prstGeom>
          <a:solidFill>
            <a:srgbClr val="1F4E79"/>
          </a:solidFill>
          <a:ln w="952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sz="1000" b="1">
                <a:solidFill>
                  <a:srgbClr val="FFFFFF"/>
                </a:solidFill>
                <a:latin typeface="맑은 고딕"/>
                <a:ea typeface="맑은 고딕"/>
              </a:rPr>
              <a:t>C1 Resource-driven</a:t>
            </a:r>
          </a:p>
        </p:txBody>
      </p:sp>
      <p:sp>
        <p:nvSpPr>
          <p:cNvPr id="60" name="Rectangle 59"/>
          <p:cNvSpPr/>
          <p:nvPr/>
        </p:nvSpPr>
        <p:spPr>
          <a:xfrm>
            <a:off x="7543800" y="1097280"/>
            <a:ext cx="4251960" cy="310896"/>
          </a:xfrm>
          <a:prstGeom prst="rect">
            <a:avLst/>
          </a:prstGeom>
          <a:solidFill>
            <a:srgbClr val="1F4E79"/>
          </a:solidFill>
          <a:ln w="952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sz="1000" b="1">
                <a:solidFill>
                  <a:srgbClr val="FFFFFF"/>
                </a:solidFill>
                <a:latin typeface="맑은 고딕"/>
                <a:ea typeface="맑은 고딕"/>
              </a:rPr>
              <a:t>C2 Behavior-driven</a:t>
            </a:r>
          </a:p>
        </p:txBody>
      </p:sp>
      <p:sp>
        <p:nvSpPr>
          <p:cNvPr id="61" name="Rectangle 60"/>
          <p:cNvSpPr/>
          <p:nvPr/>
        </p:nvSpPr>
        <p:spPr>
          <a:xfrm>
            <a:off x="365760" y="1444752"/>
            <a:ext cx="2926080" cy="566928"/>
          </a:xfrm>
          <a:prstGeom prst="rect">
            <a:avLst/>
          </a:prstGeom>
          <a:solidFill>
            <a:srgbClr val="DCE9F5"/>
          </a:solidFill>
          <a:ln w="9525">
            <a:solidFill>
              <a:srgbClr val="4D7E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l"/>
            <a:r>
              <a:rPr sz="950" b="1">
                <a:solidFill>
                  <a:srgbClr val="1A1A1A"/>
                </a:solidFill>
                <a:latin typeface="맑은 고딕"/>
                <a:ea typeface="맑은 고딕"/>
              </a:rPr>
              <a:t>QA1 Throughput [B]</a:t>
            </a:r>
          </a:p>
          <a:p>
            <a:pPr algn="l"/>
            <a:r>
              <a:rPr sz="950" b="1">
                <a:solidFill>
                  <a:srgbClr val="1A1A1A"/>
                </a:solidFill>
                <a:latin typeface="맑은 고딕"/>
                <a:ea typeface="맑은 고딕"/>
              </a:rPr>
              <a:t>Baseline 대비 SLO goodput 배수, 승/무/패</a:t>
            </a:r>
          </a:p>
        </p:txBody>
      </p:sp>
      <p:sp>
        <p:nvSpPr>
          <p:cNvPr id="62" name="Rectangle 61"/>
          <p:cNvSpPr/>
          <p:nvPr/>
        </p:nvSpPr>
        <p:spPr>
          <a:xfrm>
            <a:off x="3291840" y="1444752"/>
            <a:ext cx="425196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sz="1000" b="0">
                <a:solidFill>
                  <a:srgbClr val="1A1A1A"/>
                </a:solidFill>
                <a:latin typeface="맑은 고딕"/>
                <a:ea typeface="맑은 고딕"/>
              </a:rPr>
              <a:t>★★  x1.30 (±0.06)</a:t>
            </a:r>
          </a:p>
          <a:p>
            <a:pPr algn="ctr"/>
            <a:r>
              <a:rPr sz="1000" b="0">
                <a:solidFill>
                  <a:srgbClr val="1A1A1A"/>
                </a:solidFill>
                <a:latin typeface="맑은 고딕"/>
                <a:ea typeface="맑은 고딕"/>
              </a:rPr>
              <a:t>6승 25무 0패</a:t>
            </a:r>
          </a:p>
        </p:txBody>
      </p:sp>
      <p:sp>
        <p:nvSpPr>
          <p:cNvPr id="63" name="Rectangle 62"/>
          <p:cNvSpPr/>
          <p:nvPr/>
        </p:nvSpPr>
        <p:spPr>
          <a:xfrm>
            <a:off x="7543800" y="1444752"/>
            <a:ext cx="425196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sz="1000" b="0">
                <a:solidFill>
                  <a:srgbClr val="1A1A1A"/>
                </a:solidFill>
                <a:latin typeface="맑은 고딕"/>
                <a:ea typeface="맑은 고딕"/>
              </a:rPr>
              <a:t>★★★  x1.42 (±0.05)</a:t>
            </a:r>
          </a:p>
          <a:p>
            <a:pPr algn="ctr"/>
            <a:r>
              <a:rPr sz="1000" b="0">
                <a:solidFill>
                  <a:srgbClr val="1A1A1A"/>
                </a:solidFill>
                <a:latin typeface="맑은 고딕"/>
                <a:ea typeface="맑은 고딕"/>
              </a:rPr>
              <a:t>10승 21무 0패</a:t>
            </a:r>
          </a:p>
        </p:txBody>
      </p:sp>
      <p:sp>
        <p:nvSpPr>
          <p:cNvPr id="64" name="Rectangle 63"/>
          <p:cNvSpPr/>
          <p:nvPr/>
        </p:nvSpPr>
        <p:spPr>
          <a:xfrm>
            <a:off x="365760" y="2029968"/>
            <a:ext cx="2926080" cy="566928"/>
          </a:xfrm>
          <a:prstGeom prst="rect">
            <a:avLst/>
          </a:prstGeom>
          <a:solidFill>
            <a:srgbClr val="DCE9F5"/>
          </a:solidFill>
          <a:ln w="9525">
            <a:solidFill>
              <a:srgbClr val="4D7E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l"/>
            <a:r>
              <a:rPr sz="950" b="1">
                <a:solidFill>
                  <a:srgbClr val="1A1A1A"/>
                </a:solidFill>
                <a:latin typeface="맑은 고딕"/>
                <a:ea typeface="맑은 고딕"/>
              </a:rPr>
              <a:t>QA2 Latency [B]</a:t>
            </a:r>
          </a:p>
          <a:p>
            <a:pPr algn="l"/>
            <a:r>
              <a:rPr sz="950" b="1">
                <a:solidFill>
                  <a:srgbClr val="1A1A1A"/>
                </a:solidFill>
                <a:latin typeface="맑은 고딕"/>
                <a:ea typeface="맑은 고딕"/>
              </a:rPr>
              <a:t>TTFT와 TPOT 개선 배수(따로), 중앙값 TTFT</a:t>
            </a:r>
          </a:p>
        </p:txBody>
      </p:sp>
      <p:sp>
        <p:nvSpPr>
          <p:cNvPr id="65" name="Rectangle 64"/>
          <p:cNvSpPr/>
          <p:nvPr/>
        </p:nvSpPr>
        <p:spPr>
          <a:xfrm>
            <a:off x="3291840" y="2029968"/>
            <a:ext cx="425196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sz="1000" b="0">
                <a:solidFill>
                  <a:srgbClr val="1A1A1A"/>
                </a:solidFill>
                <a:latin typeface="맑은 고딕"/>
                <a:ea typeface="맑은 고딕"/>
              </a:rPr>
              <a:t>★★★  x1.28 (TTFT x1.58 · TPOT x1.04)</a:t>
            </a:r>
          </a:p>
          <a:p>
            <a:pPr algn="ctr"/>
            <a:r>
              <a:rPr sz="1000" b="0">
                <a:solidFill>
                  <a:srgbClr val="1A1A1A"/>
                </a:solidFill>
                <a:latin typeface="맑은 고딕"/>
                <a:ea typeface="맑은 고딕"/>
              </a:rPr>
              <a:t>TTFT P50/P95/P99 119/446/1,411 ms</a:t>
            </a:r>
          </a:p>
        </p:txBody>
      </p:sp>
      <p:sp>
        <p:nvSpPr>
          <p:cNvPr id="66" name="Rectangle 65"/>
          <p:cNvSpPr/>
          <p:nvPr/>
        </p:nvSpPr>
        <p:spPr>
          <a:xfrm>
            <a:off x="7543800" y="2029968"/>
            <a:ext cx="425196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sz="1000" b="0">
                <a:solidFill>
                  <a:srgbClr val="1A1A1A"/>
                </a:solidFill>
                <a:latin typeface="맑은 고딕"/>
                <a:ea typeface="맑은 고딕"/>
              </a:rPr>
              <a:t>★★★  x1.56 (TTFT x2.18 · TPOT x1.12)</a:t>
            </a:r>
          </a:p>
          <a:p>
            <a:pPr algn="ctr"/>
            <a:r>
              <a:rPr sz="1000" b="0">
                <a:solidFill>
                  <a:srgbClr val="1A1A1A"/>
                </a:solidFill>
                <a:latin typeface="맑은 고딕"/>
                <a:ea typeface="맑은 고딕"/>
              </a:rPr>
              <a:t>TTFT P50/P95/P99 118/335/663 ms</a:t>
            </a:r>
          </a:p>
        </p:txBody>
      </p:sp>
      <p:sp>
        <p:nvSpPr>
          <p:cNvPr id="67" name="Rectangle 66"/>
          <p:cNvSpPr/>
          <p:nvPr/>
        </p:nvSpPr>
        <p:spPr>
          <a:xfrm>
            <a:off x="365760" y="2615184"/>
            <a:ext cx="2926080" cy="566928"/>
          </a:xfrm>
          <a:prstGeom prst="rect">
            <a:avLst/>
          </a:prstGeom>
          <a:solidFill>
            <a:srgbClr val="DCE9F5"/>
          </a:solidFill>
          <a:ln w="9525">
            <a:solidFill>
              <a:srgbClr val="4D7E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l"/>
            <a:r>
              <a:rPr sz="950" b="1">
                <a:solidFill>
                  <a:srgbClr val="1A1A1A"/>
                </a:solidFill>
                <a:latin typeface="맑은 고딕"/>
                <a:ea typeface="맑은 고딕"/>
              </a:rPr>
              <a:t>QA3 Resource usage [B]</a:t>
            </a:r>
          </a:p>
          <a:p>
            <a:pPr algn="l"/>
            <a:r>
              <a:rPr sz="950" b="1">
                <a:solidFill>
                  <a:srgbClr val="1A1A1A"/>
                </a:solidFill>
                <a:latin typeface="맑은 고딕"/>
                <a:ea typeface="맑은 고딕"/>
              </a:rPr>
              <a:t>HBM 사용량 Baseline 대비(낮을수록 좋음), 줄인/</a:t>
            </a:r>
          </a:p>
          <a:p>
            <a:pPr algn="l"/>
            <a:r>
              <a:rPr sz="950" b="1">
                <a:solidFill>
                  <a:srgbClr val="1A1A1A"/>
                </a:solidFill>
                <a:latin typeface="맑은 고딕"/>
                <a:ea typeface="맑은 고딕"/>
              </a:rPr>
              <a:t>늘린 시나리오</a:t>
            </a:r>
          </a:p>
        </p:txBody>
      </p:sp>
      <p:sp>
        <p:nvSpPr>
          <p:cNvPr id="68" name="Rectangle 67"/>
          <p:cNvSpPr/>
          <p:nvPr/>
        </p:nvSpPr>
        <p:spPr>
          <a:xfrm>
            <a:off x="3291840" y="2615184"/>
            <a:ext cx="425196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sz="1000" b="0">
                <a:solidFill>
                  <a:srgbClr val="1A1A1A"/>
                </a:solidFill>
                <a:latin typeface="맑은 고딕"/>
                <a:ea typeface="맑은 고딕"/>
              </a:rPr>
              <a:t>★★  HBM x0.97 (절감 1.03)</a:t>
            </a:r>
          </a:p>
          <a:p>
            <a:pPr algn="ctr"/>
            <a:r>
              <a:rPr sz="1000" b="0">
                <a:solidFill>
                  <a:srgbClr val="1A1A1A"/>
                </a:solidFill>
                <a:latin typeface="맑은 고딕"/>
                <a:ea typeface="맑은 고딕"/>
              </a:rPr>
              <a:t>9개 줄임 / 3개 늘림 · 가중 점유 x0.94</a:t>
            </a:r>
          </a:p>
        </p:txBody>
      </p:sp>
      <p:sp>
        <p:nvSpPr>
          <p:cNvPr id="69" name="Rectangle 68"/>
          <p:cNvSpPr/>
          <p:nvPr/>
        </p:nvSpPr>
        <p:spPr>
          <a:xfrm>
            <a:off x="7543800" y="2615184"/>
            <a:ext cx="425196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sz="1000" b="0">
                <a:solidFill>
                  <a:srgbClr val="1A1A1A"/>
                </a:solidFill>
                <a:latin typeface="맑은 고딕"/>
                <a:ea typeface="맑은 고딕"/>
              </a:rPr>
              <a:t>★  HBM x1.21 (절감 0.82)</a:t>
            </a:r>
          </a:p>
          <a:p>
            <a:pPr algn="ctr"/>
            <a:r>
              <a:rPr sz="1000" b="0">
                <a:solidFill>
                  <a:srgbClr val="1A1A1A"/>
                </a:solidFill>
                <a:latin typeface="맑은 고딕"/>
                <a:ea typeface="맑은 고딕"/>
              </a:rPr>
              <a:t>1개 줄임 / 18개 늘림 · 가중 점유 x1.04</a:t>
            </a:r>
          </a:p>
        </p:txBody>
      </p:sp>
      <p:sp>
        <p:nvSpPr>
          <p:cNvPr id="70" name="Rectangle 69"/>
          <p:cNvSpPr/>
          <p:nvPr/>
        </p:nvSpPr>
        <p:spPr>
          <a:xfrm>
            <a:off x="365760" y="3200400"/>
            <a:ext cx="2926080" cy="566928"/>
          </a:xfrm>
          <a:prstGeom prst="rect">
            <a:avLst/>
          </a:prstGeom>
          <a:solidFill>
            <a:srgbClr val="DCE9F5"/>
          </a:solidFill>
          <a:ln w="9525">
            <a:solidFill>
              <a:srgbClr val="4D7E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l"/>
            <a:r>
              <a:rPr sz="950" b="1">
                <a:solidFill>
                  <a:srgbClr val="1A1A1A"/>
                </a:solidFill>
                <a:latin typeface="맑은 고딕"/>
                <a:ea typeface="맑은 고딕"/>
              </a:rPr>
              <a:t>QA4 Modifiability [B+C]</a:t>
            </a:r>
          </a:p>
          <a:p>
            <a:pPr algn="l"/>
            <a:r>
              <a:rPr sz="950" b="1">
                <a:solidFill>
                  <a:srgbClr val="1A1A1A"/>
                </a:solidFill>
                <a:latin typeface="맑은 고딕"/>
                <a:ea typeface="맑은 고딕"/>
              </a:rPr>
              <a:t>변경 4종 평균: module, 공수, 에이전트 비용</a:t>
            </a:r>
          </a:p>
        </p:txBody>
      </p:sp>
      <p:sp>
        <p:nvSpPr>
          <p:cNvPr id="71" name="Rectangle 70"/>
          <p:cNvSpPr/>
          <p:nvPr/>
        </p:nvSpPr>
        <p:spPr>
          <a:xfrm>
            <a:off x="3291840" y="3200400"/>
            <a:ext cx="425196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sz="1000" b="0">
                <a:solidFill>
                  <a:srgbClr val="1A1A1A"/>
                </a:solidFill>
                <a:latin typeface="맑은 고딕"/>
                <a:ea typeface="맑은 고딕"/>
              </a:rPr>
              <a:t>★★★  module 1.75</a:t>
            </a:r>
          </a:p>
          <a:p>
            <a:pPr algn="ctr"/>
            <a:r>
              <a:rPr sz="1000" b="0">
                <a:solidFill>
                  <a:srgbClr val="1A1A1A"/>
                </a:solidFill>
                <a:latin typeface="맑은 고딕"/>
                <a:ea typeface="맑은 고딕"/>
              </a:rPr>
              <a:t>0.38 man-month · $1.16</a:t>
            </a:r>
          </a:p>
        </p:txBody>
      </p:sp>
      <p:sp>
        <p:nvSpPr>
          <p:cNvPr id="72" name="Rectangle 71"/>
          <p:cNvSpPr/>
          <p:nvPr/>
        </p:nvSpPr>
        <p:spPr>
          <a:xfrm>
            <a:off x="7543800" y="3200400"/>
            <a:ext cx="425196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sz="1000" b="0">
                <a:solidFill>
                  <a:srgbClr val="1A1A1A"/>
                </a:solidFill>
                <a:latin typeface="맑은 고딕"/>
                <a:ea typeface="맑은 고딕"/>
              </a:rPr>
              <a:t>★★  module 2.50</a:t>
            </a:r>
          </a:p>
          <a:p>
            <a:pPr algn="ctr"/>
            <a:r>
              <a:rPr sz="1000" b="0">
                <a:solidFill>
                  <a:srgbClr val="1A1A1A"/>
                </a:solidFill>
                <a:latin typeface="맑은 고딕"/>
                <a:ea typeface="맑은 고딕"/>
              </a:rPr>
              <a:t>0.51 man-month · $1.49</a:t>
            </a:r>
          </a:p>
        </p:txBody>
      </p:sp>
      <p:sp>
        <p:nvSpPr>
          <p:cNvPr id="73" name="Rectangle 72"/>
          <p:cNvSpPr/>
          <p:nvPr/>
        </p:nvSpPr>
        <p:spPr>
          <a:xfrm>
            <a:off x="365760" y="3785616"/>
            <a:ext cx="2926080" cy="365760"/>
          </a:xfrm>
          <a:prstGeom prst="rect">
            <a:avLst/>
          </a:prstGeom>
          <a:solidFill>
            <a:srgbClr val="DCE9F5"/>
          </a:solidFill>
          <a:ln w="9525">
            <a:solidFill>
              <a:srgbClr val="4D7E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l"/>
            <a:r>
              <a:rPr sz="1000" b="1">
                <a:solidFill>
                  <a:srgbClr val="1A1A1A"/>
                </a:solidFill>
                <a:latin typeface="맑은 고딕"/>
                <a:ea typeface="맑은 고딕"/>
              </a:rPr>
              <a:t>별 합계</a:t>
            </a:r>
          </a:p>
        </p:txBody>
      </p:sp>
      <p:sp>
        <p:nvSpPr>
          <p:cNvPr id="74" name="Rectangle 73"/>
          <p:cNvSpPr/>
          <p:nvPr/>
        </p:nvSpPr>
        <p:spPr>
          <a:xfrm>
            <a:off x="3291840" y="3785616"/>
            <a:ext cx="4251960" cy="365760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sz="1100" b="1">
                <a:solidFill>
                  <a:srgbClr val="1A1A1A"/>
                </a:solidFill>
                <a:latin typeface="맑은 고딕"/>
                <a:ea typeface="맑은 고딕"/>
              </a:rPr>
              <a:t>10</a:t>
            </a:r>
          </a:p>
        </p:txBody>
      </p:sp>
      <p:sp>
        <p:nvSpPr>
          <p:cNvPr id="75" name="Rectangle 74"/>
          <p:cNvSpPr/>
          <p:nvPr/>
        </p:nvSpPr>
        <p:spPr>
          <a:xfrm>
            <a:off x="7543800" y="3785616"/>
            <a:ext cx="4251960" cy="365760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sz="1100" b="1">
                <a:solidFill>
                  <a:srgbClr val="1A1A1A"/>
                </a:solidFill>
                <a:latin typeface="맑은 고딕"/>
                <a:ea typeface="맑은 고딕"/>
              </a:rPr>
              <a:t>9</a:t>
            </a:r>
          </a:p>
        </p:txBody>
      </p:sp>
      <p:sp>
        <p:nvSpPr>
          <p:cNvPr id="76" name="Rectangle 75"/>
          <p:cNvSpPr/>
          <p:nvPr/>
        </p:nvSpPr>
        <p:spPr>
          <a:xfrm>
            <a:off x="365760" y="4261104"/>
            <a:ext cx="5669280" cy="1965960"/>
          </a:xfrm>
          <a:prstGeom prst="rect">
            <a:avLst/>
          </a:prstGeom>
          <a:solidFill>
            <a:srgbClr val="F2F2F2"/>
          </a:solidFill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5720" rIns="45720" tIns="27432" bIns="27432"/>
          <a:lstStyle/>
          <a:p>
            <a:pPr algn="l"/>
            <a:r>
              <a:rPr sz="950" b="1">
                <a:solidFill>
                  <a:srgbClr val="404040"/>
                </a:solidFill>
                <a:latin typeface="맑은 고딕"/>
                <a:ea typeface="맑은 고딕"/>
              </a:rPr>
              <a:t>Trade-off와 이유</a:t>
            </a:r>
          </a:p>
          <a:p>
            <a:pPr algn="l"/>
            <a:r>
              <a:rPr sz="950" b="0">
                <a:solidFill>
                  <a:srgbClr val="404040"/>
                </a:solidFill>
                <a:latin typeface="맑은 고딕"/>
                <a:ea typeface="맑은 고딕"/>
              </a:rPr>
              <a:t>- 성능은 C2: 데이터마다 접근 빈도·재사용·유휴를 보고 이동해, 같은 종류(KV) 안의 hot/cold를 구분</a:t>
            </a:r>
          </a:p>
          <a:p>
            <a:pPr algn="l"/>
            <a:r>
              <a:rPr sz="950" b="0">
                <a:solidFill>
                  <a:srgbClr val="404040"/>
                </a:solidFill>
                <a:latin typeface="맑은 고딕"/>
                <a:ea typeface="맑은 고딕"/>
              </a:rPr>
              <a:t>한다. C1은 자원 압박에만 반응해 구분 못 함.</a:t>
            </a:r>
          </a:p>
          <a:p>
            <a:pPr algn="l"/>
            <a:r>
              <a:rPr sz="950" b="0">
                <a:solidFill>
                  <a:srgbClr val="404040"/>
                </a:solidFill>
                <a:latin typeface="맑은 고딕"/>
                <a:ea typeface="맑은 고딕"/>
              </a:rPr>
              <a:t>- 자원 사용은 C1: HBM 사용량 C1 x0.97 대 C2 x1.21. C2는 성능을 위해 hot 데이터를 HBM에 올려 </a:t>
            </a:r>
          </a:p>
          <a:p>
            <a:pPr algn="l"/>
            <a:r>
              <a:rPr sz="950" b="0">
                <a:solidFill>
                  <a:srgbClr val="404040"/>
                </a:solidFill>
                <a:latin typeface="맑은 고딕"/>
                <a:ea typeface="맑은 고딕"/>
              </a:rPr>
              <a:t>HBM을 더 쓰고, C1은 덜 쓰되 이득이 작음(성능과 자원은 반대 방향).</a:t>
            </a:r>
          </a:p>
          <a:p>
            <a:pPr algn="l"/>
            <a:r>
              <a:rPr sz="950" b="0">
                <a:solidFill>
                  <a:srgbClr val="404040"/>
                </a:solidFill>
                <a:latin typeface="맑은 고딕"/>
                <a:ea typeface="맑은 고딕"/>
              </a:rPr>
              <a:t>- 이동 비용은 링크 간섭으로 지연에 반영(C2 migration 1,339 GiB, 링크 10.5%).</a:t>
            </a:r>
          </a:p>
          <a:p>
            <a:pPr algn="l"/>
            <a:r>
              <a:rPr sz="950" b="0">
                <a:solidFill>
                  <a:srgbClr val="404040"/>
                </a:solidFill>
                <a:latin typeface="맑은 고딕"/>
                <a:ea typeface="맑은 고딕"/>
              </a:rPr>
              <a:t>- 확장성은 C1: 종류를 모르는 구조라 새 데이터 종류 추가 시 module 1개 (C2 3개).</a:t>
            </a:r>
          </a:p>
          <a:p>
            <a:pPr algn="l"/>
            <a:r>
              <a:rPr sz="950" b="0">
                <a:solidFill>
                  <a:srgbClr val="404040"/>
                </a:solidFill>
                <a:latin typeface="맑은 고딕"/>
                <a:ea typeface="맑은 고딕"/>
              </a:rPr>
              <a:t>- 지연(QA2)은 둘 다 ★★★ 경계를 넘어 별이 같지만 값은 C2가 높다. TPOT은 거의 변하지 않고 개</a:t>
            </a:r>
          </a:p>
          <a:p>
            <a:pPr algn="l"/>
            <a:r>
              <a:rPr sz="950" b="0">
                <a:solidFill>
                  <a:srgbClr val="404040"/>
                </a:solidFill>
                <a:latin typeface="맑은 고딕"/>
                <a:ea typeface="맑은 고딕"/>
              </a:rPr>
              <a:t>선은 TTFT에서 나온다.</a:t>
            </a:r>
          </a:p>
        </p:txBody>
      </p:sp>
      <p:sp>
        <p:nvSpPr>
          <p:cNvPr id="77" name="Rectangle 76"/>
          <p:cNvSpPr/>
          <p:nvPr/>
        </p:nvSpPr>
        <p:spPr>
          <a:xfrm>
            <a:off x="6217920" y="4261104"/>
            <a:ext cx="5577840" cy="1965960"/>
          </a:xfrm>
          <a:prstGeom prst="rect">
            <a:avLst/>
          </a:prstGeom>
          <a:solidFill>
            <a:srgbClr val="E3F1E3"/>
          </a:solidFill>
          <a:ln w="9525">
            <a:solidFill>
              <a:srgbClr val="5B9B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5720" rIns="45720" tIns="27432" bIns="27432"/>
          <a:lstStyle/>
          <a:p>
            <a:pPr algn="l"/>
            <a:r>
              <a:rPr sz="950" b="1">
                <a:solidFill>
                  <a:srgbClr val="1A1A1A"/>
                </a:solidFill>
                <a:latin typeface="맑은 고딕"/>
                <a:ea typeface="맑은 고딕"/>
              </a:rPr>
              <a:t>선택: C1</a:t>
            </a:r>
          </a:p>
          <a:p>
            <a:pPr algn="l"/>
            <a:r>
              <a:rPr sz="950" b="0">
                <a:solidFill>
                  <a:srgbClr val="1A1A1A"/>
                </a:solidFill>
                <a:latin typeface="맑은 고딕"/>
                <a:ea typeface="맑은 고딕"/>
              </a:rPr>
              <a:t>- 규칙: 별 합계가 높은 후보, 같을 때만 QA 우선순위(QA1 &gt; QA2 &gt; QA3 &gt; QA4).</a:t>
            </a:r>
          </a:p>
          <a:p>
            <a:pPr algn="l"/>
            <a:r>
              <a:rPr sz="950" b="0">
                <a:solidFill>
                  <a:srgbClr val="1A1A1A"/>
                </a:solidFill>
                <a:latin typeface="맑은 고딕"/>
                <a:ea typeface="맑은 고딕"/>
              </a:rPr>
              <a:t>- 별 합계가 높은 C1.</a:t>
            </a:r>
          </a:p>
          <a:p>
            <a:pPr algn="l"/>
            <a:r>
              <a:rPr sz="950" b="0">
                <a:solidFill>
                  <a:srgbClr val="1A1A1A"/>
                </a:solidFill>
                <a:latin typeface="맑은 고딕"/>
                <a:ea typeface="맑은 고딕"/>
              </a:rPr>
              <a:t>- 우선순위를 뒤집으면 C1.</a:t>
            </a:r>
          </a:p>
          <a:p>
            <a:pPr algn="l"/>
            <a:r>
              <a:rPr sz="950" b="0">
                <a:solidFill>
                  <a:srgbClr val="1A1A1A"/>
                </a:solidFill>
                <a:latin typeface="맑은 고딕"/>
                <a:ea typeface="맑은 고딕"/>
              </a:rPr>
              <a:t>- 한계: [B] simulation. 별 경계(QA1 1.30), QA3 정의, QA4 평균 집계는 결과를 본 뒤 정함. 메모리 </a:t>
            </a:r>
          </a:p>
          <a:p>
            <a:pPr algn="l"/>
            <a:r>
              <a:rPr sz="950" b="0">
                <a:solidFill>
                  <a:srgbClr val="1A1A1A"/>
                </a:solidFill>
                <a:latin typeface="맑은 고딕"/>
                <a:ea typeface="맑은 고딕"/>
              </a:rPr>
              <a:t>가격 가중치(QA3)와 QA4 공수·비용은 ASSUMED.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제목 2"/>
          <p:cNvSpPr>
            <a:spLocks noGrp="1"/>
          </p:cNvSpPr>
          <p:nvPr>
            <p:ph type="title"/>
          </p:nvPr>
        </p:nvSpPr>
        <p:spPr>
          <a:xfrm>
            <a:off x="234949" y="137379"/>
            <a:ext cx="7631530" cy="365125"/>
          </a:xfrm>
        </p:spPr>
        <p:txBody>
          <a:bodyPr/>
          <a:lstStyle/>
          <a:p>
            <a:r>
              <a:rPr lang="en-US" altLang="ko-KR" dirty="0"/>
              <a:t>DP1. 이기종 메모리 기반 Data Migration 구조 - Appendix</a:t>
            </a:r>
            <a:r>
              <a:rPr lang="ko-KR" altLang="en-US" dirty="0"/>
              <a:t/>
            </a:r>
            <a:r>
              <a:rPr lang="en-US" altLang="ko-KR" dirty="0"/>
              <a:t/>
            </a:r>
            <a:r>
              <a:rPr lang="ko-KR" altLang="en-US" dirty="0"/>
              <a:t/>
            </a:r>
            <a:r>
              <a:rPr lang="en-US" altLang="ko-KR" dirty="0"/>
              <a:t/>
            </a:r>
            <a:r>
              <a:rPr lang="ko-KR" altLang="en-US" dirty="0"/>
              <a:t/>
            </a:r>
          </a:p>
        </p:txBody>
      </p:sp>
      <p:sp>
        <p:nvSpPr>
          <p:cNvPr id="5" name="직사각형 4"/>
          <p:cNvSpPr/>
          <p:nvPr/>
        </p:nvSpPr>
        <p:spPr>
          <a:xfrm>
            <a:off x="234949" y="596176"/>
            <a:ext cx="11747501" cy="396603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TextBox 7"/>
          <p:cNvSpPr txBox="1"/>
          <p:nvPr/>
        </p:nvSpPr>
        <p:spPr>
          <a:xfrm>
            <a:off x="469760" y="627926"/>
            <a:ext cx="114300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ko-KR" altLang="en-US" sz="1400" b="1" dirty="0">
                <a:solidFill>
                  <a:schemeClr val="bg1"/>
                </a:solidFill>
              </a:rPr>
              <a:t>DP1 평가에서 고려한 시나리오</a:t>
            </a:r>
            <a:r>
              <a:rPr lang="en-US" altLang="ko-KR" sz="1400" b="1" dirty="0">
                <a:solidFill>
                  <a:schemeClr val="bg1"/>
                </a:solidFill>
              </a:rPr>
              <a:t/>
            </a:r>
            <a:r>
              <a:rPr lang="ko-KR" altLang="en-US" sz="1400" b="1" dirty="0">
                <a:solidFill>
                  <a:schemeClr val="bg1"/>
                </a:solidFill>
              </a:rPr>
              <a:t/>
            </a:r>
            <a:r>
              <a:rPr lang="en-US" altLang="ko-KR" sz="1400" b="1" dirty="0">
                <a:solidFill>
                  <a:schemeClr val="bg1"/>
                </a:solidFill>
              </a:rPr>
              <a:t/>
            </a:r>
            <a:r>
              <a:rPr lang="ko-KR" altLang="en-US" sz="1400" b="1" dirty="0">
                <a:solidFill>
                  <a:schemeClr val="bg1"/>
                </a:solidFill>
              </a:rPr>
              <a:t/>
            </a:r>
          </a:p>
        </p:txBody>
      </p:sp>
      <p:sp>
        <p:nvSpPr>
          <p:cNvPr id="39" name="직사각형 38"/>
          <p:cNvSpPr/>
          <p:nvPr/>
        </p:nvSpPr>
        <p:spPr>
          <a:xfrm>
            <a:off x="403086" y="678726"/>
            <a:ext cx="66675" cy="216270"/>
          </a:xfrm>
          <a:prstGeom prst="rect">
            <a:avLst/>
          </a:prstGeom>
          <a:solidFill>
            <a:schemeClr val="bg1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00"/>
          </a:p>
        </p:txBody>
      </p:sp>
      <p:sp>
        <p:nvSpPr>
          <p:cNvPr id="57" name="슬라이드 번호 개체 틀 1"/>
          <p:cNvSpPr>
            <a:spLocks noGrp="1"/>
          </p:cNvSpPr>
          <p:nvPr>
            <p:ph type="sldNum" sz="quarter" idx="4"/>
          </p:nvPr>
        </p:nvSpPr>
        <p:spPr>
          <a:xfrm>
            <a:off x="5620080" y="6597650"/>
            <a:ext cx="456466" cy="209550"/>
          </a:xfrm>
        </p:spPr>
        <p:txBody>
          <a:bodyPr/>
          <a:lstStyle/>
          <a:p>
            <a:fld id="{7F889C64-266A-4D07-AD8F-5B592E61CCE1}" type="slidenum">
              <a:rPr lang="ko-KR" altLang="en-US" smtClean="0"/>
              <a:pPr/>
              <a:t>9</a:t>
            </a:fld>
            <a:endParaRPr lang="ko-KR" altLang="en-US" dirty="0"/>
          </a:p>
        </p:txBody>
      </p:sp>
      <p:sp>
        <p:nvSpPr>
          <p:cNvPr id="58" name="Rectangle 57"/>
          <p:cNvSpPr/>
          <p:nvPr/>
        </p:nvSpPr>
        <p:spPr>
          <a:xfrm>
            <a:off x="365760" y="1097280"/>
            <a:ext cx="11430000" cy="502920"/>
          </a:xfrm>
          <a:prstGeom prst="rect">
            <a:avLst/>
          </a:prstGeom>
          <a:solidFill>
            <a:srgbClr val="F2F2F2"/>
          </a:solidFill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5720" rIns="45720" tIns="27432" bIns="27432"/>
          <a:lstStyle/>
          <a:p>
            <a:pPr algn="l"/>
            <a:r>
              <a:rPr sz="1000" b="1">
                <a:solidFill>
                  <a:srgbClr val="404040"/>
                </a:solidFill>
                <a:latin typeface="맑은 고딕"/>
                <a:ea typeface="맑은 고딕"/>
              </a:rPr>
              <a:t>32개 시나리오를 H100과 B200에 각각 돌렸다(64쌍): 비교 가능 21쌍, 포화 10쌍, Baseline도 SLO 불가라 비교 제외 33쌍.</a:t>
            </a:r>
          </a:p>
        </p:txBody>
      </p:sp>
      <p:sp>
        <p:nvSpPr>
          <p:cNvPr id="59" name="Rectangle 58"/>
          <p:cNvSpPr/>
          <p:nvPr/>
        </p:nvSpPr>
        <p:spPr>
          <a:xfrm>
            <a:off x="365760" y="1691640"/>
            <a:ext cx="2651760" cy="841248"/>
          </a:xfrm>
          <a:prstGeom prst="rect">
            <a:avLst/>
          </a:prstGeom>
          <a:solidFill>
            <a:srgbClr val="DCE9F5"/>
          </a:solidFill>
          <a:ln w="9525">
            <a:solidFill>
              <a:srgbClr val="4D7E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l"/>
            <a:r>
              <a:rPr sz="1000" b="1">
                <a:solidFill>
                  <a:srgbClr val="1A1A1A"/>
                </a:solidFill>
                <a:latin typeface="맑은 고딕"/>
                <a:ea typeface="맑은 고딕"/>
              </a:rPr>
              <a:t>기본 서비스 상황 (공통)</a:t>
            </a:r>
          </a:p>
        </p:txBody>
      </p:sp>
      <p:sp>
        <p:nvSpPr>
          <p:cNvPr id="60" name="Rectangle 59"/>
          <p:cNvSpPr/>
          <p:nvPr/>
        </p:nvSpPr>
        <p:spPr>
          <a:xfrm>
            <a:off x="3017520" y="1691640"/>
            <a:ext cx="8778240" cy="841248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l"/>
            <a:r>
              <a:rPr sz="1100" b="0">
                <a:solidFill>
                  <a:srgbClr val="1A1A1A"/>
                </a:solidFill>
                <a:latin typeface="맑은 고딕"/>
                <a:ea typeface="맑은 고딕"/>
              </a:rPr>
              <a:t>8K 토큰 입력, 256 토큰 생성, 동시 32 요청의 대화 서비스. HBM이 빠듯한 경우 / 시간이 갈수록 여유가 줄어드는 경우 / KV cache에 Lo</a:t>
            </a:r>
          </a:p>
          <a:p>
            <a:pPr algn="l"/>
            <a:r>
              <a:rPr sz="1100" b="0">
                <a:solidFill>
                  <a:srgbClr val="1A1A1A"/>
                </a:solidFill>
                <a:latin typeface="맑은 고딕"/>
                <a:ea typeface="맑은 고딕"/>
              </a:rPr>
              <a:t>RA·MoE·Agent 데이터가 섞이는 경우. 결과: 두 후보 모두 Baseline과 같다.</a:t>
            </a:r>
          </a:p>
        </p:txBody>
      </p:sp>
      <p:sp>
        <p:nvSpPr>
          <p:cNvPr id="61" name="Rectangle 60"/>
          <p:cNvSpPr/>
          <p:nvPr/>
        </p:nvSpPr>
        <p:spPr>
          <a:xfrm>
            <a:off x="365760" y="2578608"/>
            <a:ext cx="2651760" cy="841248"/>
          </a:xfrm>
          <a:prstGeom prst="rect">
            <a:avLst/>
          </a:prstGeom>
          <a:solidFill>
            <a:srgbClr val="DCE9F5"/>
          </a:solidFill>
          <a:ln w="9525">
            <a:solidFill>
              <a:srgbClr val="4D7E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l"/>
            <a:r>
              <a:rPr sz="1000" b="1">
                <a:solidFill>
                  <a:srgbClr val="1A1A1A"/>
                </a:solidFill>
                <a:latin typeface="맑은 고딕"/>
                <a:ea typeface="맑은 고딕"/>
              </a:rPr>
              <a:t>데이터 종류별</a:t>
            </a:r>
          </a:p>
        </p:txBody>
      </p:sp>
      <p:sp>
        <p:nvSpPr>
          <p:cNvPr id="62" name="Rectangle 61"/>
          <p:cNvSpPr/>
          <p:nvPr/>
        </p:nvSpPr>
        <p:spPr>
          <a:xfrm>
            <a:off x="3017520" y="2578608"/>
            <a:ext cx="8778240" cy="841248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l"/>
            <a:r>
              <a:rPr sz="1100" b="0">
                <a:solidFill>
                  <a:srgbClr val="1A1A1A"/>
                </a:solidFill>
                <a:latin typeface="맑은 고딕"/>
                <a:ea typeface="맑은 고딕"/>
              </a:rPr>
              <a:t>대화 문맥(KV cache, 32K~512K 토큰, 동시 1~256) · 여러 고객이 쓰는 LoRA 어댑터(몇 개만 인기) · MoE expert(라우팅 쏠림) · 수 TiB 벡</a:t>
            </a:r>
          </a:p>
          <a:p>
            <a:pPr algn="l"/>
            <a:r>
              <a:rPr sz="1100" b="0">
                <a:solidFill>
                  <a:srgbClr val="1A1A1A"/>
                </a:solidFill>
                <a:latin typeface="맑은 고딕"/>
                <a:ea typeface="맑은 고딕"/>
              </a:rPr>
              <a:t>터 DB(RAG) · 오래 보관되는 Agent 기억과 Tool 결과(드물게 재사용 / 한꺼번에 생성 후 반복 참조).</a:t>
            </a:r>
          </a:p>
        </p:txBody>
      </p:sp>
      <p:sp>
        <p:nvSpPr>
          <p:cNvPr id="63" name="Rectangle 62"/>
          <p:cNvSpPr/>
          <p:nvPr/>
        </p:nvSpPr>
        <p:spPr>
          <a:xfrm>
            <a:off x="365760" y="3465576"/>
            <a:ext cx="2651760" cy="841248"/>
          </a:xfrm>
          <a:prstGeom prst="rect">
            <a:avLst/>
          </a:prstGeom>
          <a:solidFill>
            <a:srgbClr val="DCE9F5"/>
          </a:solidFill>
          <a:ln w="9525">
            <a:solidFill>
              <a:srgbClr val="4D7E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l"/>
            <a:r>
              <a:rPr sz="1000" b="1">
                <a:solidFill>
                  <a:srgbClr val="1A1A1A"/>
                </a:solidFill>
                <a:latin typeface="맑은 고딕"/>
                <a:ea typeface="맑은 고딕"/>
              </a:rPr>
              <a:t>접근이 쏠리는 정도(hotness)</a:t>
            </a:r>
          </a:p>
        </p:txBody>
      </p:sp>
      <p:sp>
        <p:nvSpPr>
          <p:cNvPr id="64" name="Rectangle 63"/>
          <p:cNvSpPr/>
          <p:nvPr/>
        </p:nvSpPr>
        <p:spPr>
          <a:xfrm>
            <a:off x="3017520" y="3465576"/>
            <a:ext cx="8778240" cy="841248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l"/>
            <a:r>
              <a:rPr sz="1100" b="0">
                <a:solidFill>
                  <a:srgbClr val="1A1A1A"/>
                </a:solidFill>
                <a:latin typeface="맑은 고딕"/>
                <a:ea typeface="맑은 고딕"/>
              </a:rPr>
              <a:t>소수만 인기 있는 skew · 거의 안 쓰이는 cold 데이터가 상위 메모리를 차지 · 갑자기 hot해지는 burst · hot/cold 급반전 · hot 대상이 옮겨 </a:t>
            </a:r>
          </a:p>
          <a:p>
            <a:pPr algn="l"/>
            <a:r>
              <a:rPr sz="1100" b="0">
                <a:solidFill>
                  <a:srgbClr val="1A1A1A"/>
                </a:solidFill>
                <a:latin typeface="맑은 고딕"/>
                <a:ea typeface="맑은 고딕"/>
              </a:rPr>
              <a:t>감(최근 세션으로 이동, 사용자 그룹이 번갈아 활성, 인기 검색 shard가 바뀜). 고르게 접근되는 전용 시나리오는 아직 없음(중간 KV 기준</a:t>
            </a:r>
          </a:p>
          <a:p>
            <a:pPr algn="l"/>
            <a:r>
              <a:rPr sz="1100" b="0">
                <a:solidFill>
                  <a:srgbClr val="1A1A1A"/>
                </a:solidFill>
                <a:latin typeface="맑은 고딕"/>
                <a:ea typeface="맑은 고딕"/>
              </a:rPr>
              <a:t>선이 대조군).</a:t>
            </a:r>
          </a:p>
        </p:txBody>
      </p:sp>
      <p:sp>
        <p:nvSpPr>
          <p:cNvPr id="65" name="Rectangle 64"/>
          <p:cNvSpPr/>
          <p:nvPr/>
        </p:nvSpPr>
        <p:spPr>
          <a:xfrm>
            <a:off x="365760" y="4352544"/>
            <a:ext cx="2651760" cy="841248"/>
          </a:xfrm>
          <a:prstGeom prst="rect">
            <a:avLst/>
          </a:prstGeom>
          <a:solidFill>
            <a:srgbClr val="DCE9F5"/>
          </a:solidFill>
          <a:ln w="9525">
            <a:solidFill>
              <a:srgbClr val="4D7E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l"/>
            <a:r>
              <a:rPr sz="1000" b="1">
                <a:solidFill>
                  <a:srgbClr val="1A1A1A"/>
                </a:solidFill>
                <a:latin typeface="맑은 고딕"/>
                <a:ea typeface="맑은 고딕"/>
              </a:rPr>
              <a:t>자원 조건이 바뀌는 경우</a:t>
            </a:r>
          </a:p>
        </p:txBody>
      </p:sp>
      <p:sp>
        <p:nvSpPr>
          <p:cNvPr id="66" name="Rectangle 65"/>
          <p:cNvSpPr/>
          <p:nvPr/>
        </p:nvSpPr>
        <p:spPr>
          <a:xfrm>
            <a:off x="3017520" y="4352544"/>
            <a:ext cx="8778240" cy="841248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l"/>
            <a:r>
              <a:rPr sz="1100" b="0">
                <a:solidFill>
                  <a:srgbClr val="1A1A1A"/>
                </a:solidFill>
                <a:latin typeface="맑은 고딕"/>
                <a:ea typeface="맑은 고딕"/>
              </a:rPr>
              <a:t>HBM 용량 압박(고정 / 점진 증가) · HBM 대역폭 급락 · 다른 작업과 공유하는 host 링크 경합(대역폭 25%로 저하) · 6개 메모리 용량을 모</a:t>
            </a:r>
          </a:p>
          <a:p>
            <a:pPr algn="l"/>
            <a:r>
              <a:rPr sz="1100" b="0">
                <a:solidFill>
                  <a:srgbClr val="1A1A1A"/>
                </a:solidFill>
                <a:latin typeface="맑은 고딕"/>
                <a:ea typeface="맑은 고딕"/>
              </a:rPr>
              <a:t>두 써야 하는 큰 용량 부담.</a:t>
            </a:r>
          </a:p>
        </p:txBody>
      </p:sp>
      <p:sp>
        <p:nvSpPr>
          <p:cNvPr id="67" name="Rectangle 66"/>
          <p:cNvSpPr/>
          <p:nvPr/>
        </p:nvSpPr>
        <p:spPr>
          <a:xfrm>
            <a:off x="365760" y="5239512"/>
            <a:ext cx="2651760" cy="841248"/>
          </a:xfrm>
          <a:prstGeom prst="rect">
            <a:avLst/>
          </a:prstGeom>
          <a:solidFill>
            <a:srgbClr val="DCE9F5"/>
          </a:solidFill>
          <a:ln w="9525">
            <a:solidFill>
              <a:srgbClr val="4D7E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l"/>
            <a:r>
              <a:rPr sz="1000" b="1">
                <a:solidFill>
                  <a:srgbClr val="1A1A1A"/>
                </a:solidFill>
                <a:latin typeface="맑은 고딕"/>
                <a:ea typeface="맑은 고딕"/>
              </a:rPr>
              <a:t>처음엔 문제없다가 나빠지는 경우 (Dynami</a:t>
            </a:r>
          </a:p>
          <a:p>
            <a:pPr algn="l"/>
            <a:r>
              <a:rPr sz="1000" b="1">
                <a:solidFill>
                  <a:srgbClr val="1A1A1A"/>
                </a:solidFill>
                <a:latin typeface="맑은 고딕"/>
                <a:ea typeface="맑은 고딕"/>
              </a:rPr>
              <a:t>c 6개)</a:t>
            </a:r>
          </a:p>
        </p:txBody>
      </p:sp>
      <p:sp>
        <p:nvSpPr>
          <p:cNvPr id="68" name="Rectangle 67"/>
          <p:cNvSpPr/>
          <p:nvPr/>
        </p:nvSpPr>
        <p:spPr>
          <a:xfrm>
            <a:off x="3017520" y="5239512"/>
            <a:ext cx="8778240" cy="841248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l"/>
            <a:r>
              <a:rPr sz="1100" b="0">
                <a:solidFill>
                  <a:srgbClr val="1A1A1A"/>
                </a:solidFill>
                <a:latin typeface="맑은 고딕"/>
                <a:ea typeface="맑은 고딕"/>
              </a:rPr>
              <a:t>Baseline이 처음엔 SLO를 만족하다 중간에 working set이 바뀐다. 예: 오래 보관만 되던 Agent 기억이 HBM을 차지한 채 채팅이 몰림 / ho</a:t>
            </a:r>
          </a:p>
          <a:p>
            <a:pPr algn="l"/>
            <a:r>
              <a:rPr sz="1100" b="0">
                <a:solidFill>
                  <a:srgbClr val="1A1A1A"/>
                </a:solidFill>
                <a:latin typeface="맑은 고딕"/>
                <a:ea typeface="맑은 고딕"/>
              </a:rPr>
              <a:t>t 대화가 초기 세션에서 최근 세션으로 이동. Baseline의 실패 양상을 알고 설계했으므로 이득은 이 상황에 한정.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192</TotalTime>
  <Words>4205</Words>
  <Application>Microsoft Office PowerPoint</Application>
  <PresentationFormat>와이드스크린</PresentationFormat>
  <Paragraphs>786</Paragraphs>
  <Slides>17</Slides>
  <Notes>12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17</vt:i4>
      </vt:variant>
    </vt:vector>
  </HeadingPairs>
  <TitlesOfParts>
    <vt:vector size="23" baseType="lpstr">
      <vt:lpstr>Samsung Sharp Sans Bold</vt:lpstr>
      <vt:lpstr>맑은 고딕</vt:lpstr>
      <vt:lpstr>맑은 고딕</vt:lpstr>
      <vt:lpstr>Arial</vt:lpstr>
      <vt:lpstr>Wingdings</vt:lpstr>
      <vt:lpstr>Office 테마</vt:lpstr>
      <vt:lpstr>전체 DP 연결</vt:lpstr>
      <vt:lpstr>PowerPoint 프레젠테이션</vt:lpstr>
      <vt:lpstr>DP0. ~~- 배경</vt:lpstr>
      <vt:lpstr>DP0. ~~ - 배경</vt:lpstr>
      <vt:lpstr>DP0. ~~- 설계</vt:lpstr>
      <vt:lpstr>PowerPoint 프레젠테이션</vt:lpstr>
      <vt:lpstr>DP1. 이기종 메모리 기반 Data Migration 구조 - 배경</vt:lpstr>
      <vt:lpstr>DP1. 이기종 메모리 기반 Data Migration 구조 - 배경</vt:lpstr>
      <vt:lpstr>DP1. 이기종 메모리 기반 Data Migration 구조 - 설계</vt:lpstr>
      <vt:lpstr>DP1. 이기종 메모리 기반 Data Migration 구조 - 설계</vt:lpstr>
      <vt:lpstr>PowerPoint 프레젠테이션</vt:lpstr>
      <vt:lpstr>DP2. 이기종 메모리 환경의 Prefill 실행 위치 결정 구조 - 사전 지식</vt:lpstr>
      <vt:lpstr>DP2. 이기종 메모리 환경의 Prefill 실행 위치 결정 구조 - 배경</vt:lpstr>
      <vt:lpstr>DP2. 이기종 메모리 환경의 Prefill 실행 위치 결정 구조 - 설계</vt:lpstr>
      <vt:lpstr>PowerPoint 프레젠테이션</vt:lpstr>
      <vt:lpstr>DP3. Long Context를 위한 KV 캐시 압축 및 재사용 구조 – 배경 </vt:lpstr>
      <vt:lpstr>DP3. Long Context를 위한 KV 캐시 압축 및 재사용 구조 – 설계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DP1. 이기종 메모리 기반 Data Migration 구조 - 배경</dc:title>
  <dc:creator>SAMSUNG</dc:creator>
  <cp:lastModifiedBy>SAMSUNG</cp:lastModifiedBy>
  <cp:revision>9</cp:revision>
  <dcterms:created xsi:type="dcterms:W3CDTF">2026-10-01T14:27:36Z</dcterms:created>
  <dcterms:modified xsi:type="dcterms:W3CDTF">2026-10-01T17:40:33Z</dcterms:modified>
</cp:coreProperties>
</file>
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650" r:id="rId24"/>
    <p:sldId id="651" r:id="rId2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06" autoAdjust="0"/>
    <p:restoredTop sz="94660"/>
  </p:normalViewPr>
  <p:slideViewPr>
    <p:cSldViewPr snapToGrid="0">
      <p:cViewPr varScale="1">
        <p:scale>
          <a:sx n="90" d="100"/>
          <a:sy n="90" d="100"/>
        </p:scale>
        <p:origin x="1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5F5D58-863F-4F8A-9CDC-0AFD97F68163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F56981-8A65-4F3E-9859-015D93710B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394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CF88C4-AEBB-48AA-B70A-6EC491E392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3297DB7-7C40-42BC-80A5-FD747209EC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048312-3256-4A93-9D36-F08331526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1D4BCC-BBCA-4118-AA23-404F01C67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404850-FD27-4423-8869-67E4CBE64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14729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9FEFC4-2952-42C6-BE71-DBD052AC5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5EFE10-E3FB-47F4-8033-A860CB3DB3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B3FAB0-5711-4C00-B7AB-8100C870E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86A56D-3130-42FB-824E-0B3016658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E7EEAE-7123-47AC-9A56-D0B2F66AF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0418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5B76C3-9A1E-497D-A2EB-ED6820D52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0060CE8-6710-4FF3-934C-0ACEEC8CD0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EBAE3C-55FA-4F75-B99C-BAB54592E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4E5002-A22E-4FF6-9BFE-E0AA83558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119500-EA4E-4B8A-B440-FABCFDB98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8273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0F0C29-EA40-44DC-B84D-A6D4CD7C8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ABF545-1B61-4740-899B-8C353F38AF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F40A9B-2F7D-47E8-B2EF-9B53B5A76C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E563D1-151A-4BA0-A1D5-890E66FB3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2FCA36F-249F-4A97-9C45-E6C5825E9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F8FC145-E980-44EC-B197-3710B32A8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1310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434856-F92B-4894-AB6C-7ABF84D5C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3618AD-0A52-4862-944F-F2327F7DAE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D8ED2E3-4562-47AE-8AD8-2446BF0290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3EAED75-044E-40D8-B474-24A15D6E9C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AAC5C1B-F86A-475B-9398-00FDD01C59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58F03C6-988B-4EEB-8ADB-6F8F29093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369998B-E067-4834-94B4-BB8DFF7E4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4CD66B5-71E0-4F15-8A13-CC9B61F23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1416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C094E7-7B2F-43E3-AE38-2F6858827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516DBD5-0087-4D39-B73F-381E96627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32F6697-2541-4401-A80C-156513D2A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568EA56-5214-45F8-9874-35DA5B428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0270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07B5D05-1EB0-4B84-A4EA-3D6DCA724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2E19244-B07B-4893-9945-50E051075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95CF3-FA20-404B-A3F9-3C62331D3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677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ACD6F9-3720-460B-9571-4A160B8F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60710D-C685-4F47-A667-97E1308CD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464C01F-08F5-4FFF-873C-7EF969446E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B0C87D-E82D-4707-BC8F-982AA497E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6101179-413D-4B0D-91AE-0EAEFF447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9D5D949-E6E5-4EBD-882A-E572AF688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08341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29C5D6-4E48-4907-9077-C21FC1458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F182103-419E-4630-A11D-276422A83A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CDB647B-BD9F-4F19-BA7B-5278BE6FFE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FB0F1D0-4D11-423F-BE06-ADC97BF9B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06751E5-2CED-4DA3-86A7-13AB7485A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A6F829-E3E6-4CAC-A997-F0BFA6191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571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A5E6D9-4DA1-4FF3-B9CD-6107ABDB0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86E7429-0C4A-45A9-8750-5FC7BBAF60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7D54CF-A3A4-4A54-9CAF-737F6D2A9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5B9C34-27EB-4D1C-BA42-70A6C5E97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D49AF7-E8AA-433E-853F-AB9618B3E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1261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C1CA7D7-EF8A-4259-B5D4-2ECA35B16A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172DE0-808E-4E27-A7FC-6FCE852D29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9FA54A-0512-4F37-8144-DC509519C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E5530AA-7D8D-40D1-8B5A-714DAEC05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A65708-83E1-4B4A-8091-CBF555ABF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0920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2" name="TextBox 1"/>
          <p:cNvSpPr txBox="1"/>
          <p:nvPr userDrawn="1"/>
        </p:nvSpPr>
        <p:spPr>
          <a:xfrm>
            <a:off x="5975555" y="6563925"/>
            <a:ext cx="470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</a:rPr>
              <a:t>/ 23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23421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184150" y="145018"/>
            <a:ext cx="6762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CONTENTS</a:t>
            </a:r>
            <a:endParaRPr lang="ko-KR" altLang="en-US" b="1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/>
          <p:cNvSpPr/>
          <p:nvPr userDrawn="1"/>
        </p:nvSpPr>
        <p:spPr>
          <a:xfrm>
            <a:off x="11118522" y="118329"/>
            <a:ext cx="953810" cy="4023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SAMSUNG</a:t>
            </a:r>
          </a:p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Confidential</a:t>
            </a:r>
            <a:endParaRPr lang="ko-KR" altLang="en-US" sz="11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468446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1132D1B-70AA-4E48-9B44-5AE4F7E8A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9A4856-08FE-4CE2-9ED9-6E66C5593A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D928EB7-8F03-43F3-80F0-A76E71294B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4DC83A-1332-4811-A9B3-C4957D3F81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A4A231-6D85-4740-B10F-E9C466D274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8055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평가 결과 - QA별 정량 metric (H100 + B200 통합)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51560"/>
            <a:ext cx="274320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QA / 평가 metric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08960" y="1051560"/>
            <a:ext cx="173736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Baseline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46320" y="1051560"/>
            <a:ext cx="347472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C1 Resource-driven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21040" y="1051560"/>
            <a:ext cx="347472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C2 Behavior-driven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1362456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QA1 Throughput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Max SLO goodput (tok/s) ↑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108960" y="1362456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336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846320" y="1362456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436 (x1.30)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21040" y="1362456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★★★  478 (x1.42)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1837943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QA2 Latency — TTFT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P99 · P50 (ms) ↓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108960" y="1837943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1,084 · P50 407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846320" y="1837943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1,128 (x1.04) · P50 181 (x0.44)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321040" y="1837943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P99 785 (x0.72) · P50 118 (x0.29)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2313432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QA2 Latency — TPOT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P99 · P50 (ms) ↓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108960" y="2313432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17.1 · P50 14.0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846320" y="2313432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18.3 (x1.07) · P50 12.7 (x0.91)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321040" y="2313432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16.0 (x0.94) · P50 12.0 (x0.86)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65760" y="2788920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QA2 별점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6개 지표 개선 배수 geomean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108960" y="2788920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x1.00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846320" y="2788920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★★★  x1.28 (TTFT x1.58 · TPOT x1.04)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321040" y="2788920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★★★  x1.56 (TTFT x2.18 · TPOT x1.12)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3264408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QA3 Resource usage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HBM 사용량 (GiB) ↓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108960" y="3264408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146.6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846320" y="3264408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142.7 (x0.97)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321040" y="3264408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  178.0 (x1.21)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65760" y="3739896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QA4 Modifiability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module · 공수(MM) · 에이전트 비용 ↓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108960" y="3739896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846320" y="3739896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★★★  1.75 · 0.38 · $1.16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321040" y="3739896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2.50 · 0.51 · $1.49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65760" y="4215383"/>
            <a:ext cx="2743200" cy="329184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별 합계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87" name="Rectangle 86"/>
          <p:cNvSpPr/>
          <p:nvPr/>
        </p:nvSpPr>
        <p:spPr>
          <a:xfrm>
            <a:off x="3108960" y="4215383"/>
            <a:ext cx="173736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846320" y="4215383"/>
            <a:ext cx="347472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321040" y="4215383"/>
            <a:ext cx="347472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9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65760" y="4608575"/>
            <a:ext cx="11430000" cy="658368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평가한 시스템: SYS-H100 (H100x8 (Hopper-class), HBM3 (H100 SXM5 80GB), PCIe 5.0, DDR5-4800); SYS-B200 (B200x8 (Blackwell-class), HBM3e (B200), PCIe 5.0, DDR5-6400). 모두 6종 메모리(HBM, Custom HBM, DRAM, CXL-PNM, 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HBF, SSD-PIM)를 갖춘 8-GPU 1노드, Llama-3.1-70B BF16이며 두 시스템을 통합했다. 집계 단위는 (시나리오, 시스템) 쌍 64개 중 Baseline도 SLO를 만족하는 비교 가능 쌍(통합 21쌍: H100 9쌍, B200 12쌍). 값은 쌍별 값의 기하평균, 괄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호는 후보 ÷ Baseline 배수(↑ 높을수록 좋음, ↓ 낮을수록 좋음)이다. Evidence [B+C].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65760" y="5340095"/>
            <a:ext cx="5669280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00" b="1">
                <a:solidFill>
                  <a:srgbClr val="404040"/>
                </a:solidFill>
                <a:latin typeface="맑은 고딕"/>
                <a:ea typeface="맑은 고딕"/>
              </a:rPr>
              <a:t>Trade-off와 이유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맑은 고딕"/>
                <a:ea typeface="맑은 고딕"/>
              </a:rPr>
              <a:t>- 성능은 C2: 데이터마다 접근 빈도·재사용·유휴를 보고 이동해 같은 종류(KV) 안의 hot/cold를 구분. C1은 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맑은 고딕"/>
                <a:ea typeface="맑은 고딕"/>
              </a:rPr>
              <a:t>자원 압박에만 반응.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맑은 고딕"/>
                <a:ea typeface="맑은 고딕"/>
              </a:rPr>
              <a:t>- 자원은 C1: HBM 사용량 C1 x0.97 대 C2 x1.21. C2는 성능을 위해 hot 데이터를 HBM에 올림(성능과 자원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맑은 고딕"/>
                <a:ea typeface="맑은 고딕"/>
              </a:rPr>
              <a:t>은 반대 방향).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맑은 고딕"/>
                <a:ea typeface="맑은 고딕"/>
              </a:rPr>
              <a:t>- 확장성은 C1: 새 데이터 종류 추가 시 module 1개 (C2 3개).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맑은 고딕"/>
                <a:ea typeface="맑은 고딕"/>
              </a:rPr>
              <a:t>- 지연: C1은 TTFT P50은 줄었지만 P99는 x1.04로 개선 없음. C2는 P99도 x0.72. TPOT은 거의 불변.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217920" y="5340095"/>
            <a:ext cx="5577840" cy="141732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선택: C1</a:t>
            </a:r>
          </a:p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- 규칙: 별 합계가 높은 후보, 같을 때만 QA 우선순위(QA1 &gt; QA2 &gt; QA3 &gt; QA4).</a:t>
            </a:r>
          </a:p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- 별 합계가 높은 C1 후보 (10 대 9). 합계 차이 1점이라 별 경계에 민감.</a:t>
            </a:r>
          </a:p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- 한계: [B] simulation. QA1 경계(1.30), QA3 정의(선택을 C2에서 C1로 바꿈), QA4 평균 집계는 결과를 본 </a:t>
            </a:r>
          </a:p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뒤 정함. QA4 공수·비용은 ASSUMED.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평가에서 고려한 시나리오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97280"/>
            <a:ext cx="11430000" cy="50292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1000" b="1">
                <a:solidFill>
                  <a:srgbClr val="404040"/>
                </a:solidFill>
                <a:latin typeface="맑은 고딕"/>
                <a:ea typeface="맑은 고딕"/>
              </a:rPr>
              <a:t>32개 시나리오를 H100과 B200에 각각 돌렸다(64쌍): 비교 가능 21쌍, 포화 10쌍, Baseline도 SLO 불가라 비교 제외 33쌍.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1691640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기본 서비스 상황 (공통)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017520" y="1691640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8K 토큰 입력, 256 토큰 생성, 동시 32 요청의 대화 서비스. HBM이 빠듯한 경우 / 시간이 갈수록 여유가 줄어드는 경우 / KV cache에 Lo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RA·MoE·Agent 데이터가 섞이는 경우. 결과: 두 후보 모두 Baseline과 같다.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2578608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데이터 종류별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017520" y="2578608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대화 문맥(KV cache, 32K~512K 토큰, 동시 1~256) · 여러 고객이 쓰는 LoRA 어댑터(몇 개만 인기) · MoE expert(라우팅 쏠림) · 수 TiB 벡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터 DB(RAG) · 오래 보관되는 Agent 기억과 Tool 결과(드물게 재사용 / 한꺼번에 생성 후 반복 참조).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3465576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접근이 쏠리는 정도(hotness)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465576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소수만 인기 있는 skew · 거의 안 쓰이는 cold 데이터가 상위 메모리를 차지 · 갑자기 hot해지는 burst · hot/cold 급반전 · hot 대상이 옮겨 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감(최근 세션으로 이동, 사용자 그룹이 번갈아 활성, 인기 검색 shard가 바뀜). 고르게 접근되는 전용 시나리오는 아직 없음(중간 KV 기준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선이 대조군).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352544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자원 조건이 바뀌는 경우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017520" y="4352544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HBM 용량 압박(고정 / 점진 증가) · HBM 대역폭 급락 · 다른 작업과 공유하는 host 링크 경합(대역폭 25%로 저하) · 6개 메모리 용량을 모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두 써야 하는 큰 용량 부담.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5239512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처음엔 문제없다가 나빠지는 경우 (Dynami</a:t>
            </a:r>
          </a:p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c 6개)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017520" y="5239512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Baseline이 처음엔 SLO를 만족하다 중간에 working set이 바뀐다. 예: 오래 보관만 되던 Agent 기억이 HBM을 차지한 채 채팅이 몰림 / ho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t 대화가 초기 세션에서 최근 세션으로 이동. Baseline의 실패 양상을 알고 설계했으므로 이득은 이 상황에 한정.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4205</Words>
  <Application>Microsoft Office PowerPoint</Application>
  <PresentationFormat>와이드스크린</PresentationFormat>
  <Paragraphs>786</Paragraphs>
  <Slides>17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3" baseType="lpstr">
      <vt:lpstr>Samsung Sharp Sans Bold</vt:lpstr>
      <vt:lpstr>맑은 고딕</vt:lpstr>
      <vt:lpstr>맑은 고딕</vt:lpstr>
      <vt:lpstr>Arial</vt:lpstr>
      <vt:lpstr>Wingdings</vt:lpstr>
      <vt:lpstr>Office 테마</vt:lpstr>
      <vt:lpstr>전체 DP 연결</vt:lpstr>
      <vt:lpstr>PowerPoint 프레젠테이션</vt:lpstr>
      <vt:lpstr>DP0. ~~- 배경</vt:lpstr>
      <vt:lpstr>DP0. ~~ - 배경</vt:lpstr>
      <vt:lpstr>DP0. ~~- 설계</vt:lpstr>
      <vt:lpstr>PowerPoint 프레젠테이션</vt:lpstr>
      <vt:lpstr>DP1. 이기종 메모리 기반 Data Migration 구조 - 배경</vt:lpstr>
      <vt:lpstr>DP1. 이기종 메모리 기반 Data Migration 구조 - 배경</vt:lpstr>
      <vt:lpstr>DP1. 이기종 메모리 기반 Data Migration 구조 - 설계</vt:lpstr>
      <vt:lpstr>DP1. 이기종 메모리 기반 Data Migration 구조 - 설계</vt:lpstr>
      <vt:lpstr>PowerPoint 프레젠테이션</vt:lpstr>
      <vt:lpstr>DP2. 이기종 메모리 환경의 Prefill 실행 위치 결정 구조 - 사전 지식</vt:lpstr>
      <vt:lpstr>DP2. 이기종 메모리 환경의 Prefill 실행 위치 결정 구조 - 배경</vt:lpstr>
      <vt:lpstr>DP2. 이기종 메모리 환경의 Prefill 실행 위치 결정 구조 - 설계</vt:lpstr>
      <vt:lpstr>PowerPoint 프레젠테이션</vt:lpstr>
      <vt:lpstr>DP3. Long Context를 위한 KV 캐시 압축 및 재사용 구조 – 배경 </vt:lpstr>
      <vt:lpstr>DP3. Long Context를 위한 KV 캐시 압축 및 재사용 구조 – 설계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DP1. 이기종 메모리 기반 Data Migration 구조 - 배경</dc:title>
  <dc:creator>SAMSUNG</dc:creator>
  <cp:lastModifiedBy>SAMSUNG</cp:lastModifiedBy>
  <cp:revision>9</cp:revision>
  <dcterms:created xsi:type="dcterms:W3CDTF">2026-10-01T14:27:36Z</dcterms:created>
  <dcterms:modified xsi:type="dcterms:W3CDTF">2026-10-01T17:40:33Z</dcterms:modified>
</cp:coreProperties>
</file>
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650" r:id="rId2"/>
    <p:sldId id="624" r:id="rId3"/>
    <p:sldId id="658" r:id="rId4"/>
    <p:sldId id="741" r:id="rId5"/>
    <p:sldId id="642" r:id="rId6"/>
    <p:sldId id="666" r:id="rId7"/>
    <p:sldId id="643" r:id="rId8"/>
    <p:sldId id="671" r:id="rId9"/>
    <p:sldId id="812" r:id="rId10"/>
    <p:sldId id="815" r:id="rId11"/>
    <p:sldId id="794" r:id="rId12"/>
    <p:sldId id="817" r:id="rId42"/>
    <p:sldId id="818" r:id="rId43"/>
    <p:sldId id="819" r:id="rId44"/>
    <p:sldId id="820" r:id="rId45"/>
    <p:sldId id="821" r:id="rId46"/>
    <p:sldId id="822" r:id="rId47"/>
    <p:sldId id="823" r:id="rId48"/>
    <p:sldId id="824" r:id="rId49"/>
    <p:sldId id="825" r:id="rId50"/>
    <p:sldId id="826" r:id="rId51"/>
    <p:sldId id="827" r:id="rId52"/>
    <p:sldId id="828" r:id="rId53"/>
    <p:sldId id="829" r:id="rId54"/>
    <p:sldId id="830" r:id="rId55"/>
    <p:sldId id="831" r:id="rId56"/>
    <p:sldId id="832" r:id="rId57"/>
    <p:sldId id="833" r:id="rId58"/>
    <p:sldId id="834" r:id="rId59"/>
    <p:sldId id="835" r:id="rId60"/>
    <p:sldId id="816" r:id="rId13"/>
    <p:sldId id="795" r:id="rId14"/>
    <p:sldId id="796" r:id="rId15"/>
    <p:sldId id="797" r:id="rId16"/>
    <p:sldId id="798" r:id="rId17"/>
    <p:sldId id="799" r:id="rId18"/>
    <p:sldId id="800" r:id="rId19"/>
    <p:sldId id="801" r:id="rId20"/>
    <p:sldId id="802" r:id="rId21"/>
    <p:sldId id="803" r:id="rId22"/>
    <p:sldId id="804" r:id="rId23"/>
    <p:sldId id="805" r:id="rId24"/>
    <p:sldId id="806" r:id="rId25"/>
    <p:sldId id="793" r:id="rId26"/>
    <p:sldId id="768" r:id="rId27"/>
    <p:sldId id="769" r:id="rId28"/>
    <p:sldId id="770" r:id="rId29"/>
    <p:sldId id="771" r:id="rId30"/>
    <p:sldId id="772" r:id="rId31"/>
    <p:sldId id="773" r:id="rId32"/>
    <p:sldId id="774" r:id="rId33"/>
    <p:sldId id="775" r:id="rId34"/>
    <p:sldId id="776" r:id="rId35"/>
    <p:sldId id="777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F3DA5-8DDA-4140-8EBF-88E0D7139CB2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A0972-9741-4724-9C7C-1A397EBCD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656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Resource</a:t>
            </a:r>
            <a:r>
              <a:rPr lang="en-US" altLang="ko-KR" baseline="0" dirty="0"/>
              <a:t> Plane: </a:t>
            </a:r>
            <a:r>
              <a:rPr lang="ko-KR" altLang="en-US" dirty="0"/>
              <a:t>물리</a:t>
            </a:r>
            <a:r>
              <a:rPr lang="en-US" altLang="ko-KR" dirty="0"/>
              <a:t>/</a:t>
            </a:r>
            <a:r>
              <a:rPr lang="ko-KR" altLang="en-US" dirty="0"/>
              <a:t>논리 디바이스</a:t>
            </a:r>
            <a:r>
              <a:rPr lang="en-US" altLang="ko-KR" dirty="0"/>
              <a:t>(HBM, CXL, DDR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등록 및 메타 관리</a:t>
            </a:r>
            <a:r>
              <a:rPr lang="en-US" altLang="ko-KR" dirty="0"/>
              <a:t>, </a:t>
            </a:r>
            <a:r>
              <a:rPr lang="ko-KR" altLang="en-US" dirty="0"/>
              <a:t>순수 하드웨어 </a:t>
            </a:r>
            <a:r>
              <a:rPr lang="ko-KR" altLang="en-US" dirty="0" err="1"/>
              <a:t>메트릭</a:t>
            </a:r>
            <a:r>
              <a:rPr lang="en-US" altLang="ko-KR" dirty="0"/>
              <a:t>(</a:t>
            </a:r>
            <a:r>
              <a:rPr lang="ko-KR" altLang="en-US" dirty="0"/>
              <a:t>대역폭</a:t>
            </a:r>
            <a:r>
              <a:rPr lang="en-US" altLang="ko-KR" dirty="0"/>
              <a:t>, </a:t>
            </a:r>
            <a:r>
              <a:rPr lang="ko-KR" altLang="en-US" dirty="0"/>
              <a:t>남은 용량</a:t>
            </a:r>
            <a:r>
              <a:rPr lang="en-US" altLang="ko-KR" dirty="0"/>
              <a:t>, </a:t>
            </a:r>
            <a:r>
              <a:rPr lang="ko-KR" altLang="en-US" dirty="0"/>
              <a:t>지연시간</a:t>
            </a:r>
            <a:r>
              <a:rPr lang="en-US" altLang="ko-KR" dirty="0"/>
              <a:t>) </a:t>
            </a:r>
            <a:r>
              <a:rPr lang="ko-KR" altLang="en-US" dirty="0"/>
              <a:t>수집 및 현재 상태 노출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Control Plane: </a:t>
            </a:r>
            <a:r>
              <a:rPr lang="ko-KR" altLang="en-US" dirty="0"/>
              <a:t>수집된 </a:t>
            </a:r>
            <a:r>
              <a:rPr lang="ko-KR" altLang="en-US" dirty="0" err="1"/>
              <a:t>메트릭</a:t>
            </a:r>
            <a:r>
              <a:rPr lang="ko-KR" altLang="en-US" dirty="0"/>
              <a:t> 트렌드 분석</a:t>
            </a:r>
            <a:r>
              <a:rPr lang="en-US" altLang="ko-KR" dirty="0"/>
              <a:t>, </a:t>
            </a:r>
            <a:r>
              <a:rPr lang="ko-KR" altLang="en-US" dirty="0"/>
              <a:t>어느 계층</a:t>
            </a:r>
            <a:r>
              <a:rPr lang="en-US" altLang="ko-KR" dirty="0"/>
              <a:t>(Tier)</a:t>
            </a:r>
            <a:r>
              <a:rPr lang="ko-KR" altLang="en-US" dirty="0"/>
              <a:t>으로 보낼지 정책 결정</a:t>
            </a:r>
            <a:r>
              <a:rPr lang="en-US" altLang="ko-KR" dirty="0"/>
              <a:t>, </a:t>
            </a:r>
            <a:r>
              <a:rPr lang="ko-KR" altLang="en-US" dirty="0"/>
              <a:t>어떤 데이터 블록을 마이그레이션</a:t>
            </a:r>
            <a:r>
              <a:rPr lang="en-US" altLang="ko-KR" dirty="0"/>
              <a:t>/</a:t>
            </a:r>
            <a:r>
              <a:rPr lang="ko-KR" altLang="en-US" dirty="0"/>
              <a:t>축출</a:t>
            </a:r>
            <a:r>
              <a:rPr lang="en-US" altLang="ko-KR" dirty="0"/>
              <a:t>(Eviction)</a:t>
            </a:r>
            <a:r>
              <a:rPr lang="ko-KR" altLang="en-US" dirty="0"/>
              <a:t>할지 대상 선정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Data Plane: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결정된 지침에 따라 실제 메모리 블록을 날리거나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(Free), DMA/P2P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전송을 수행하는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Fast-path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실행부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행위를 분석하고 마이그레이션 정책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(Migration Policy Engine, Scheduler)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결정하는 두뇌 역할 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 장치의 제원과 텔레메트리를 추상화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제공하는 메타데이터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지식 저장소 역할 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복사 및 전송을 전담하는 실행 계층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(Executor, Transfer Handler)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115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대상이 되는 </a:t>
            </a:r>
            <a:r>
              <a:rPr lang="en-US" altLang="ko-KR" dirty="0"/>
              <a:t>KV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ko-KR" dirty="0"/>
              <a:t>preempt</a:t>
            </a:r>
            <a:r>
              <a:rPr lang="ko-KR" altLang="en-US" dirty="0"/>
              <a:t>된 </a:t>
            </a:r>
            <a:r>
              <a:rPr lang="en-US" altLang="ko-KR" dirty="0"/>
              <a:t>request</a:t>
            </a:r>
            <a:r>
              <a:rPr lang="ko-KR" altLang="en-US" dirty="0"/>
              <a:t>의 </a:t>
            </a:r>
            <a:r>
              <a:rPr lang="en-US" altLang="ko-KR" dirty="0"/>
              <a:t>KV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ko-KR" dirty="0"/>
              <a:t>tool-call </a:t>
            </a:r>
            <a:r>
              <a:rPr lang="ko-KR" altLang="en-US" dirty="0"/>
              <a:t>대기 중인 </a:t>
            </a:r>
            <a:r>
              <a:rPr lang="en-US" altLang="ko-KR" dirty="0"/>
              <a:t>Agent session</a:t>
            </a:r>
            <a:r>
              <a:rPr lang="ko-KR" altLang="en-US" dirty="0"/>
              <a:t>의 </a:t>
            </a:r>
            <a:r>
              <a:rPr lang="en-US" altLang="ko-KR" dirty="0"/>
              <a:t>KV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altLang="ko-KR" dirty="0" err="1"/>
              <a:t>ref_cnt</a:t>
            </a:r>
            <a:r>
              <a:rPr lang="en-US" altLang="ko-KR" dirty="0"/>
              <a:t>=0</a:t>
            </a:r>
            <a:r>
              <a:rPr lang="ko-KR" altLang="en-US" dirty="0"/>
              <a:t>인 </a:t>
            </a:r>
            <a:r>
              <a:rPr lang="en-US" altLang="ko-KR" dirty="0"/>
              <a:t>prefix cache block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ko-KR" altLang="en-US" dirty="0"/>
              <a:t>종료됐지만 재사용 가능성이 있는 </a:t>
            </a:r>
            <a:r>
              <a:rPr lang="en-US" altLang="ko-KR" dirty="0"/>
              <a:t>session KV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613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MISMATCH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altLang="ko-KR" dirty="0"/>
              <a:t>. ranked alt </a:t>
            </a:r>
            <a:r>
              <a:rPr lang="ko-KR" altLang="en-US" dirty="0"/>
              <a:t>중 </a:t>
            </a:r>
            <a:r>
              <a:rPr lang="en-US" altLang="ko-KR" dirty="0"/>
              <a:t>guard </a:t>
            </a:r>
            <a:r>
              <a:rPr lang="ko-KR" altLang="en-US" dirty="0"/>
              <a:t>통과하는 것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altLang="ko-KR" dirty="0"/>
              <a:t>. fallback </a:t>
            </a:r>
            <a:r>
              <a:rPr lang="ko-KR" altLang="en-US" dirty="0"/>
              <a:t>규칙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altLang="ko-KR" dirty="0"/>
              <a:t>. </a:t>
            </a:r>
            <a:r>
              <a:rPr lang="ko-KR" altLang="en-US" dirty="0"/>
              <a:t>동기 </a:t>
            </a:r>
            <a:r>
              <a:rPr lang="en-US" altLang="ko-KR" dirty="0"/>
              <a:t>re-plan --&gt; </a:t>
            </a:r>
            <a:r>
              <a:rPr lang="ko-KR" altLang="en-US" dirty="0"/>
              <a:t>결과 직접 반환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(</a:t>
            </a:r>
            <a:r>
              <a:rPr lang="ko-KR" altLang="en-US" dirty="0"/>
              <a:t>비동기</a:t>
            </a:r>
            <a:r>
              <a:rPr lang="en-US" altLang="ko-KR" dirty="0"/>
              <a:t>)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</a:t>
            </a:r>
            <a:r>
              <a:rPr lang="en-US" altLang="ko-KR" dirty="0"/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en-US" altLang="ko-KR" dirty="0"/>
              <a:t> </a:t>
            </a:r>
            <a:r>
              <a:rPr lang="ko-KR" altLang="en-US" dirty="0"/>
              <a:t>갱신 </a:t>
            </a:r>
            <a:r>
              <a:rPr lang="en-US" altLang="ko-KR" dirty="0"/>
              <a:t>= </a:t>
            </a:r>
            <a:r>
              <a:rPr lang="ko-KR" altLang="en-US" dirty="0"/>
              <a:t>다음 </a:t>
            </a:r>
            <a:r>
              <a:rPr lang="ko-KR" altLang="en-US" dirty="0" err="1"/>
              <a:t>요청용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306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[DP3 설계 - 1안 오프라인 vs 2안 온라인]</a:t>
            </a:r>
          </a:p>
          <a:p>
            <a:r>
              <a:t>두 안 모두 압축 및 재사용 구조가 같은 모듈(KV Sampler, KV Cache Compressor, Recompute Token Selector)로 이루어지고, 갈리는 것은 중요도를 언제 평가하느냐입니다. 이 그림은 모듈만이 아니라 주변 구조와의 연결을 함께 보여 줍니다. 오른쪽 KV 저장소는 DP1이 어느 메모리 계층에 둘지 결정하는 대상이고, Selective Recomputer가 실행되는 자원은 DP2가 결정합니다.</a:t>
            </a:r>
          </a:p>
          <a:p>
            <a:r>
              <a:t>1안(오프라인)은 서빙 전에 대표 Query로 attention을 돌려 중요한 토큰만 남긴 Comp.KV를 만들어 저장합니다(점선 ①~⑤). 이 Comp.KV는 요청 간에 공유되고, 서빙 시에는 저장된 Comp.KV를 읽어 와 선정된 재계산 토큰만 다시 계산합니다(실선 ⑥~⑧). 사전에 해 두므로 서빙 지연이 낮은 대신 대표 Query와 실제 Query가 다르면 정확도가 떨어집니다.</a:t>
            </a:r>
          </a:p>
          <a:p>
            <a:r>
              <a:t>2안(온라인)은 요청이 들어온 뒤 실제 Query로 먼저 attention(Stage 1)을 돌려 점수를 얻고(①~③), 점수가 낮은 토큰을 제거하고 재계산 토큰을 고릅니다(④~⑤). 정확도는 높지만 이 계산이 요청 경로에 들어가 TTFT 절감이 작습니다.</a:t>
            </a:r>
          </a:p>
          <a:p>
            <a:r>
              <a:t>일반 SW로 비유하면 1안은 배치로 미리 만들어 두는 사전 계산(캐시 워밍), 2안은 요청 시점에 계산하는 온디맨드 방식입니다.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100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[DP0 </a:t>
            </a:r>
            <a:r>
              <a:rPr lang="ko-KR" altLang="en-US" dirty="0"/>
              <a:t>설계 </a:t>
            </a:r>
            <a:r>
              <a:rPr lang="en-US" altLang="ko-KR" dirty="0"/>
              <a:t>- </a:t>
            </a:r>
            <a:r>
              <a:rPr lang="ko-KR" altLang="en-US" dirty="0"/>
              <a:t>구조</a:t>
            </a:r>
            <a:r>
              <a:rPr lang="en-US" altLang="ko-KR" dirty="0"/>
              <a:t>(</a:t>
            </a:r>
            <a:r>
              <a:rPr lang="ko-KR" altLang="en-US" dirty="0"/>
              <a:t>컴포넌트 뷰</a:t>
            </a:r>
            <a:r>
              <a:rPr lang="en-US" altLang="ko-KR" dirty="0"/>
              <a:t>)]</a:t>
            </a:r>
          </a:p>
          <a:p>
            <a:r>
              <a:rPr lang="ko-KR" altLang="en-US" dirty="0"/>
              <a:t>두 후보를 같은 기능 블록</a:t>
            </a:r>
            <a:r>
              <a:rPr lang="en-US" altLang="ko-KR" dirty="0"/>
              <a:t>(A~F)</a:t>
            </a:r>
            <a:r>
              <a:rPr lang="ko-KR" altLang="en-US" dirty="0"/>
              <a:t>과 같은 표기로 그렸습니다</a:t>
            </a:r>
            <a:r>
              <a:rPr lang="en-US" altLang="ko-KR" dirty="0"/>
              <a:t>. </a:t>
            </a:r>
            <a:r>
              <a:rPr lang="ko-KR" altLang="en-US" dirty="0"/>
              <a:t>회색은 우리가 못 바꾸는 </a:t>
            </a:r>
            <a:r>
              <a:rPr lang="en-US" altLang="ko-KR" dirty="0" err="1"/>
              <a:t>vLLM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안</a:t>
            </a:r>
            <a:r>
              <a:rPr lang="en-US" altLang="ko-KR" dirty="0"/>
              <a:t>(</a:t>
            </a:r>
            <a:r>
              <a:rPr lang="ko-KR" altLang="en-US" dirty="0"/>
              <a:t>왼쪽</a:t>
            </a:r>
            <a:r>
              <a:rPr lang="en-US" altLang="ko-KR" dirty="0"/>
              <a:t>)</a:t>
            </a:r>
            <a:r>
              <a:rPr lang="ko-KR" altLang="en-US" dirty="0"/>
              <a:t>은 오픈소스</a:t>
            </a:r>
            <a:r>
              <a:rPr lang="en-US" altLang="ko-KR" dirty="0"/>
              <a:t>(</a:t>
            </a:r>
            <a:r>
              <a:rPr lang="en-US" altLang="ko-KR" dirty="0" err="1"/>
              <a:t>llm</a:t>
            </a:r>
            <a:r>
              <a:rPr lang="en-US" altLang="ko-KR" dirty="0"/>
              <a:t>-d)</a:t>
            </a:r>
            <a:r>
              <a:rPr lang="ko-KR" altLang="en-US" dirty="0"/>
              <a:t>를 그대로 쓰고 우리 </a:t>
            </a:r>
            <a:r>
              <a:rPr lang="ko-KR" altLang="en-US" dirty="0" err="1"/>
              <a:t>로직만</a:t>
            </a:r>
            <a:r>
              <a:rPr lang="ko-KR" altLang="en-US" dirty="0"/>
              <a:t> 얹습니다</a:t>
            </a:r>
            <a:r>
              <a:rPr lang="en-US" altLang="ko-KR" dirty="0"/>
              <a:t>. </a:t>
            </a:r>
            <a:r>
              <a:rPr lang="ko-KR" altLang="en-US" dirty="0"/>
              <a:t>프록시가 요청을 받아 </a:t>
            </a:r>
            <a:r>
              <a:rPr lang="en-US" altLang="ko-KR" dirty="0"/>
              <a:t>Router(</a:t>
            </a:r>
            <a:r>
              <a:rPr lang="ko-KR" altLang="en-US" dirty="0"/>
              <a:t>결정 프로세스</a:t>
            </a:r>
            <a:r>
              <a:rPr lang="en-US" altLang="ko-KR" dirty="0"/>
              <a:t>)</a:t>
            </a:r>
            <a:r>
              <a:rPr lang="ko-KR" altLang="en-US" dirty="0"/>
              <a:t>에 원격으로 물어보고</a:t>
            </a:r>
            <a:r>
              <a:rPr lang="en-US" altLang="ko-KR" dirty="0"/>
              <a:t>(②, </a:t>
            </a:r>
            <a:r>
              <a:rPr lang="ko-KR" altLang="en-US" dirty="0"/>
              <a:t>원격 호출 </a:t>
            </a:r>
            <a:r>
              <a:rPr lang="en-US" altLang="ko-KR" dirty="0"/>
              <a:t>1</a:t>
            </a:r>
            <a:r>
              <a:rPr lang="ko-KR" altLang="en-US" dirty="0"/>
              <a:t>회</a:t>
            </a:r>
            <a:r>
              <a:rPr lang="en-US" altLang="ko-KR" dirty="0"/>
              <a:t>), </a:t>
            </a:r>
            <a:r>
              <a:rPr lang="ko-KR" altLang="en-US" dirty="0"/>
              <a:t>선택된 서버 옆의 </a:t>
            </a:r>
            <a:r>
              <a:rPr lang="en-US" altLang="ko-KR" dirty="0"/>
              <a:t>P/D </a:t>
            </a:r>
            <a:r>
              <a:rPr lang="ko-KR" altLang="en-US" dirty="0"/>
              <a:t>보조 프로세스가 </a:t>
            </a:r>
            <a:r>
              <a:rPr lang="en-US" altLang="ko-KR" dirty="0"/>
              <a:t>Prefill </a:t>
            </a:r>
            <a:r>
              <a:rPr lang="ko-KR" altLang="en-US" dirty="0"/>
              <a:t>서버를 호출해 </a:t>
            </a:r>
            <a:r>
              <a:rPr lang="en-US" altLang="ko-KR" dirty="0"/>
              <a:t>P/D</a:t>
            </a:r>
            <a:r>
              <a:rPr lang="ko-KR" altLang="en-US" dirty="0"/>
              <a:t>를 조율합니다</a:t>
            </a:r>
            <a:r>
              <a:rPr lang="en-US" altLang="ko-KR" dirty="0"/>
              <a:t>. </a:t>
            </a:r>
            <a:r>
              <a:rPr lang="ko-KR" altLang="en-US" dirty="0"/>
              <a:t>노란색이 우리가 추가하는 부분</a:t>
            </a:r>
            <a:r>
              <a:rPr lang="en-US" altLang="ko-KR" dirty="0"/>
              <a:t>(P1·P2</a:t>
            </a:r>
            <a:r>
              <a:rPr lang="ko-KR" altLang="en-US" dirty="0"/>
              <a:t>는 설정</a:t>
            </a:r>
            <a:r>
              <a:rPr lang="en-US" altLang="ko-KR" dirty="0"/>
              <a:t>, P3·P4</a:t>
            </a:r>
            <a:r>
              <a:rPr lang="ko-KR" altLang="en-US" dirty="0"/>
              <a:t>는 확장 모듈</a:t>
            </a:r>
            <a:r>
              <a:rPr lang="en-US" altLang="ko-KR" dirty="0"/>
              <a:t>)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빨간 테두리는 </a:t>
            </a:r>
          </a:p>
          <a:p>
            <a:r>
              <a:rPr lang="ko-KR" altLang="en-US" dirty="0"/>
              <a:t>기존 모듈을 고쳐야 하는 유일한 곳</a:t>
            </a:r>
            <a:r>
              <a:rPr lang="en-US" altLang="ko-KR" dirty="0"/>
              <a:t>(P/D </a:t>
            </a:r>
            <a:r>
              <a:rPr lang="ko-KR" altLang="en-US" dirty="0"/>
              <a:t>경로의 노드 지시</a:t>
            </a:r>
            <a:r>
              <a:rPr lang="en-US" altLang="ko-KR" dirty="0"/>
              <a:t>, P5)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(</a:t>
            </a:r>
            <a:r>
              <a:rPr lang="ko-KR" altLang="en-US" dirty="0"/>
              <a:t>오른쪽</a:t>
            </a:r>
            <a:r>
              <a:rPr lang="en-US" altLang="ko-KR" dirty="0"/>
              <a:t>)</a:t>
            </a:r>
            <a:r>
              <a:rPr lang="ko-KR" altLang="en-US" dirty="0"/>
              <a:t>은 전부 우리가 소유하는 </a:t>
            </a:r>
            <a:r>
              <a:rPr lang="ko-KR" altLang="en-US" dirty="0" err="1"/>
              <a:t>계층형</a:t>
            </a:r>
            <a:r>
              <a:rPr lang="ko-KR" altLang="en-US" dirty="0"/>
              <a:t> 구조입니다</a:t>
            </a:r>
            <a:r>
              <a:rPr lang="en-US" altLang="ko-KR" dirty="0"/>
              <a:t>. </a:t>
            </a:r>
            <a:r>
              <a:rPr lang="ko-KR" altLang="en-US" dirty="0"/>
              <a:t>한 프로세스 안에 </a:t>
            </a:r>
            <a:r>
              <a:rPr lang="en-US" altLang="ko-KR" dirty="0"/>
              <a:t>Ingress, Pipeline(Admission → </a:t>
            </a:r>
            <a:r>
              <a:rPr lang="en-US" altLang="ko-KR" dirty="0" err="1"/>
              <a:t>PolicyEngine</a:t>
            </a:r>
            <a:r>
              <a:rPr lang="ko-KR" altLang="en-US" dirty="0"/>
              <a:t> → </a:t>
            </a:r>
            <a:r>
              <a:rPr lang="en-US" altLang="ko-KR" dirty="0"/>
              <a:t>P/D </a:t>
            </a:r>
            <a:r>
              <a:rPr lang="ko-KR" altLang="en-US" dirty="0"/>
              <a:t>조율</a:t>
            </a:r>
            <a:r>
              <a:rPr lang="en-US" altLang="ko-KR" dirty="0"/>
              <a:t>), State Plane(</a:t>
            </a:r>
            <a:r>
              <a:rPr lang="ko-KR" altLang="en-US" dirty="0"/>
              <a:t>상태 저장소</a:t>
            </a:r>
            <a:r>
              <a:rPr lang="en-US" altLang="ko-KR" dirty="0"/>
              <a:t>, </a:t>
            </a:r>
            <a:r>
              <a:rPr lang="ko-KR" altLang="en-US" dirty="0"/>
              <a:t>이벤트 구독</a:t>
            </a:r>
            <a:r>
              <a:rPr lang="en-US" altLang="ko-KR" dirty="0"/>
              <a:t>, </a:t>
            </a:r>
            <a:r>
              <a:rPr lang="ko-KR" altLang="en-US" dirty="0" err="1"/>
              <a:t>메트릭</a:t>
            </a:r>
            <a:r>
              <a:rPr lang="ko-KR" altLang="en-US" dirty="0"/>
              <a:t> 수집</a:t>
            </a:r>
            <a:r>
              <a:rPr lang="en-US" altLang="ko-KR" dirty="0"/>
              <a:t>, </a:t>
            </a:r>
            <a:r>
              <a:rPr lang="ko-KR" altLang="en-US" dirty="0"/>
              <a:t>서버 등록</a:t>
            </a:r>
            <a:r>
              <a:rPr lang="en-US" altLang="ko-KR" dirty="0"/>
              <a:t>)</a:t>
            </a:r>
            <a:r>
              <a:rPr lang="ko-KR" altLang="en-US" dirty="0"/>
              <a:t>을 나눴고</a:t>
            </a:r>
            <a:r>
              <a:rPr lang="en-US" altLang="ko-KR" dirty="0"/>
              <a:t>, </a:t>
            </a:r>
            <a:r>
              <a:rPr lang="ko-KR" altLang="en-US" dirty="0"/>
              <a:t>정책은 </a:t>
            </a:r>
            <a:r>
              <a:rPr lang="en-US" altLang="ko-KR" dirty="0" err="1"/>
              <a:t>PolicyEngine</a:t>
            </a:r>
            <a:r>
              <a:rPr lang="ko-KR" altLang="en-US" dirty="0"/>
              <a:t>의 </a:t>
            </a:r>
            <a:r>
              <a:rPr lang="en-US" altLang="ko-KR" dirty="0"/>
              <a:t>SPI(P1~P3 Scorer, P4 Planner)</a:t>
            </a:r>
            <a:r>
              <a:rPr lang="ko-KR" altLang="en-US" dirty="0"/>
              <a:t>로 꽂고</a:t>
            </a:r>
            <a:r>
              <a:rPr lang="en-US" altLang="ko-KR" dirty="0"/>
              <a:t>, </a:t>
            </a:r>
            <a:r>
              <a:rPr lang="ko-KR" altLang="en-US" dirty="0"/>
              <a:t>상태는 읽기 전용 </a:t>
            </a:r>
            <a:r>
              <a:rPr lang="en-US" altLang="ko-KR" dirty="0" err="1"/>
              <a:t>StateView</a:t>
            </a:r>
            <a:r>
              <a:rPr lang="ko-KR" altLang="en-US" dirty="0"/>
              <a:t> 인터페이스로만 읽습니다</a:t>
            </a:r>
            <a:r>
              <a:rPr lang="en-US" altLang="ko-KR" dirty="0"/>
              <a:t>. </a:t>
            </a:r>
            <a:r>
              <a:rPr lang="ko-KR" altLang="en-US" dirty="0"/>
              <a:t>이전 안은 단일 프로세스</a:t>
            </a:r>
            <a:r>
              <a:rPr lang="en-US" altLang="ko-KR" dirty="0"/>
              <a:t>·</a:t>
            </a:r>
            <a:r>
              <a:rPr lang="ko-KR" altLang="en-US" dirty="0"/>
              <a:t>정적 설정의 최소 구성이어서 확장성이 일방적으로 약했는데</a:t>
            </a:r>
            <a:r>
              <a:rPr lang="en-US" altLang="ko-KR" dirty="0"/>
              <a:t>, </a:t>
            </a:r>
            <a:r>
              <a:rPr lang="ko-KR" altLang="en-US" dirty="0"/>
              <a:t>이번에는 상태를 공유하지 않는 </a:t>
            </a:r>
            <a:r>
              <a:rPr lang="ko-KR" altLang="en-US" dirty="0" err="1"/>
              <a:t>레플리카</a:t>
            </a:r>
            <a:r>
              <a:rPr lang="ko-KR" altLang="en-US" dirty="0"/>
              <a:t> 여러 개를 </a:t>
            </a:r>
            <a:r>
              <a:rPr lang="en-US" altLang="ko-KR" dirty="0"/>
              <a:t>L4 </a:t>
            </a:r>
            <a:r>
              <a:rPr lang="ko-KR" altLang="en-US" dirty="0" err="1"/>
              <a:t>로드밸런서</a:t>
            </a:r>
            <a:r>
              <a:rPr lang="ko-KR" altLang="en-US" dirty="0"/>
              <a:t> 뒤에 두고 </a:t>
            </a:r>
            <a:r>
              <a:rPr lang="en-US" altLang="ko-KR" dirty="0" err="1"/>
              <a:t>etcd</a:t>
            </a:r>
            <a:r>
              <a:rPr lang="ko-KR" altLang="en-US" dirty="0"/>
              <a:t>로 서버를 등록하는 구성으로 같은 노력 수준에서 비교합니다</a:t>
            </a:r>
            <a:r>
              <a:rPr lang="en-US" altLang="ko-KR" dirty="0"/>
              <a:t>. </a:t>
            </a:r>
            <a:r>
              <a:rPr lang="ko-KR" altLang="en-US" dirty="0"/>
              <a:t>구현은 되어 있지 않은 </a:t>
            </a:r>
            <a:r>
              <a:rPr lang="ko-KR" altLang="en-US" dirty="0" err="1"/>
              <a:t>설계안입니다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P5 </a:t>
            </a:r>
            <a:r>
              <a:rPr lang="ko-KR" altLang="en-US" dirty="0"/>
              <a:t>범위</a:t>
            </a:r>
            <a:r>
              <a:rPr lang="en-US" altLang="ko-KR" dirty="0"/>
              <a:t>: </a:t>
            </a:r>
            <a:r>
              <a:rPr lang="ko-KR" altLang="en-US" dirty="0"/>
              <a:t>도식의 </a:t>
            </a:r>
            <a:r>
              <a:rPr lang="en-US" altLang="ko-KR" dirty="0"/>
              <a:t>P5</a:t>
            </a:r>
            <a:r>
              <a:rPr lang="ko-KR" altLang="en-US" dirty="0"/>
              <a:t>는 지시의 송신</a:t>
            </a:r>
            <a:r>
              <a:rPr lang="en-US" altLang="ko-KR" dirty="0"/>
              <a:t>(</a:t>
            </a:r>
            <a:r>
              <a:rPr lang="ko-KR" altLang="en-US" dirty="0"/>
              <a:t>오케스트레이션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지시를 받아 실행하는 쪽은 </a:t>
            </a:r>
            <a:r>
              <a:rPr lang="en-US" altLang="ko-KR" dirty="0" err="1"/>
              <a:t>vLLM</a:t>
            </a:r>
            <a:r>
              <a:rPr lang="en-US" altLang="ko-KR" dirty="0"/>
              <a:t>(</a:t>
            </a:r>
            <a:r>
              <a:rPr lang="ko-KR" altLang="en-US" dirty="0"/>
              <a:t>엔진</a:t>
            </a:r>
            <a:r>
              <a:rPr lang="en-US" altLang="ko-KR" dirty="0"/>
              <a:t>)</a:t>
            </a:r>
            <a:r>
              <a:rPr lang="ko-KR" altLang="en-US" dirty="0"/>
              <a:t>이고 두 안 공통 선결이며</a:t>
            </a:r>
            <a:r>
              <a:rPr lang="en-US" altLang="ko-KR" dirty="0"/>
              <a:t>, P/D </a:t>
            </a:r>
            <a:r>
              <a:rPr lang="ko-KR" altLang="en-US" dirty="0"/>
              <a:t>보조 프로세스는 엔진이 아니라 오케스트레이션 소프트웨어입니다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후보 </a:t>
            </a:r>
            <a:r>
              <a:rPr lang="en-US" altLang="ko-KR" dirty="0"/>
              <a:t>2</a:t>
            </a:r>
            <a:r>
              <a:rPr lang="ko-KR" altLang="en-US" dirty="0"/>
              <a:t>가 한 프로세스인 이유</a:t>
            </a:r>
            <a:r>
              <a:rPr lang="en-US" altLang="ko-KR" dirty="0"/>
              <a:t>: </a:t>
            </a:r>
            <a:r>
              <a:rPr lang="ko-KR" altLang="en-US" dirty="0"/>
              <a:t>우리에게 필요한 것은 요청 </a:t>
            </a:r>
            <a:r>
              <a:rPr lang="ko-KR" altLang="en-US" dirty="0" err="1"/>
              <a:t>파싱</a:t>
            </a:r>
            <a:r>
              <a:rPr lang="en-US" altLang="ko-KR" dirty="0"/>
              <a:t>, </a:t>
            </a:r>
            <a:r>
              <a:rPr lang="ko-KR" altLang="en-US" dirty="0"/>
              <a:t>서버 선택</a:t>
            </a:r>
            <a:r>
              <a:rPr lang="en-US" altLang="ko-KR" dirty="0"/>
              <a:t>, P/D </a:t>
            </a:r>
            <a:r>
              <a:rPr lang="ko-KR" altLang="en-US" dirty="0"/>
              <a:t>조율</a:t>
            </a:r>
            <a:r>
              <a:rPr lang="en-US" altLang="ko-KR" dirty="0"/>
              <a:t>, </a:t>
            </a:r>
            <a:r>
              <a:rPr lang="ko-KR" altLang="en-US" dirty="0"/>
              <a:t>토큰 스트림 중계 같은 </a:t>
            </a:r>
            <a:r>
              <a:rPr lang="en-US" altLang="ko-KR" dirty="0"/>
              <a:t>LLM </a:t>
            </a:r>
            <a:r>
              <a:rPr lang="ko-KR" altLang="en-US" dirty="0"/>
              <a:t>전용 </a:t>
            </a:r>
            <a:r>
              <a:rPr lang="ko-KR" altLang="en-US" dirty="0" err="1"/>
              <a:t>기능뿐이고</a:t>
            </a:r>
            <a:r>
              <a:rPr lang="ko-KR" altLang="en-US" dirty="0"/>
              <a:t> 인증</a:t>
            </a:r>
            <a:r>
              <a:rPr lang="en-US" altLang="ko-KR" dirty="0"/>
              <a:t>·</a:t>
            </a:r>
            <a:r>
              <a:rPr lang="ko-KR" altLang="en-US" dirty="0"/>
              <a:t>다중 프로토콜 같은 범용 프록시 기능은 필요하지 않습니다</a:t>
            </a:r>
            <a:r>
              <a:rPr lang="en-US" altLang="ko-KR" dirty="0"/>
              <a:t>. </a:t>
            </a:r>
            <a:r>
              <a:rPr lang="ko-KR" altLang="en-US" dirty="0"/>
              <a:t>그래서 프록시와 결정 </a:t>
            </a:r>
            <a:r>
              <a:rPr lang="ko-KR" altLang="en-US" dirty="0" err="1"/>
              <a:t>로직을</a:t>
            </a:r>
            <a:r>
              <a:rPr lang="ko-KR" altLang="en-US" dirty="0"/>
              <a:t> 나눌 이유가 없고</a:t>
            </a:r>
            <a:r>
              <a:rPr lang="en-US" altLang="ko-KR" dirty="0"/>
              <a:t>, </a:t>
            </a:r>
            <a:r>
              <a:rPr lang="ko-KR" altLang="en-US" dirty="0"/>
              <a:t>합쳐서 원격 호출 </a:t>
            </a:r>
            <a:r>
              <a:rPr lang="en-US" altLang="ko-KR" dirty="0"/>
              <a:t>1</a:t>
            </a:r>
            <a:r>
              <a:rPr lang="ko-KR" altLang="en-US" dirty="0"/>
              <a:t>회를 없앱니다</a:t>
            </a:r>
            <a:r>
              <a:rPr lang="en-US" altLang="ko-KR" dirty="0"/>
              <a:t>(</a:t>
            </a:r>
            <a:r>
              <a:rPr lang="ko-KR" altLang="en-US" dirty="0"/>
              <a:t>범용 기능이 나중에 필요하면 </a:t>
            </a:r>
            <a:r>
              <a:rPr lang="ko-KR" altLang="en-US" dirty="0" err="1"/>
              <a:t>앞단</a:t>
            </a:r>
            <a:r>
              <a:rPr lang="ko-KR" altLang="en-US" dirty="0"/>
              <a:t> </a:t>
            </a:r>
            <a:r>
              <a:rPr lang="ko-KR" altLang="en-US" dirty="0" err="1"/>
              <a:t>로드밸런서에</a:t>
            </a:r>
            <a:r>
              <a:rPr lang="ko-KR" altLang="en-US" dirty="0"/>
              <a:t> 맡깁니다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아래 표의 </a:t>
            </a:r>
            <a:r>
              <a:rPr lang="en-US" altLang="ko-KR" dirty="0"/>
              <a:t>D1~D3</a:t>
            </a:r>
            <a:r>
              <a:rPr lang="ko-KR" altLang="en-US" dirty="0"/>
              <a:t>이 두 안을 가르는 세 가지 설계 결정입니다</a:t>
            </a:r>
            <a:r>
              <a:rPr lang="en-US" altLang="ko-KR" dirty="0"/>
              <a:t>: </a:t>
            </a:r>
            <a:r>
              <a:rPr lang="ko-KR" altLang="en-US" dirty="0"/>
              <a:t>결정을 어디서 하는가</a:t>
            </a:r>
            <a:r>
              <a:rPr lang="en-US" altLang="ko-KR" dirty="0"/>
              <a:t>, P/D </a:t>
            </a:r>
            <a:r>
              <a:rPr lang="ko-KR" altLang="en-US" dirty="0"/>
              <a:t>조율을 어디서 하는가</a:t>
            </a:r>
            <a:r>
              <a:rPr lang="en-US" altLang="ko-KR" dirty="0"/>
              <a:t>, </a:t>
            </a:r>
            <a:r>
              <a:rPr lang="ko-KR" altLang="en-US" dirty="0"/>
              <a:t>기능을 누가 소유하는가</a:t>
            </a:r>
            <a:r>
              <a:rPr lang="en-US" altLang="ko-KR" dirty="0"/>
              <a:t>. </a:t>
            </a:r>
            <a:r>
              <a:rPr lang="ko-KR" altLang="en-US" dirty="0"/>
              <a:t>다음 장에서 이 결정들이 품질 속성을 어떻게 맞바꾸는지 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413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F56981-8A65-4F3E-9859-015D93710B0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638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38C75-2370-4255-83C5-EB39B0D78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1F8BF4-0CB1-4523-B832-82AC56AD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00692-F34E-4EFD-BCC7-052CB2CA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DCC88-B19D-41F1-B755-E7E84A13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76166-7FDD-4605-862A-3884EF7D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67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E5874-585E-471A-9EAD-8D397880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27AFD4-F8B5-4C07-BDAE-3E7ED7508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60B020-0025-4A5C-8C80-EA39621E2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5F8139-0A6C-4C14-90EF-2CBD0B93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4DC050-DDBA-4926-BCEF-3F0DF9E9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7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BE617-4C62-4933-96B7-91E4A29F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1EFF1F-80E0-41D2-B26A-DE9E06F7C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B49B39-08AD-4197-9FB3-05C1D03F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5D6156-1430-42DE-9A4B-68544D86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0ABFB-54DD-4BA7-A2DD-DDAAD7CF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46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1811B-EE79-4866-AF9F-BF1DBFBC0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2008AE-224C-4F1E-BF7F-BBF605612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5E2C1D-2620-4D04-98B4-0A65F2352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3BC29F-4234-4E86-9FDC-08E599DC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5EC005-6193-42EC-8343-C3975BEF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3A499E-F42C-4AC3-AFBB-AAEC1D82E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023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8B7A2-86D8-4743-957F-B2EEA5357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0F4619-BEE4-4664-8AB7-DCB766ECF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CFE3F1-3AED-4417-AAD7-AB28AFBDB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AA6966-3F86-4B65-9BE1-8B895658D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498CF2-ABA0-4CCD-A23C-3026BAED9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F05257-AA34-496A-8D38-27A17BEF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B91E20-B700-4708-AF09-BC75C64AC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D6F5E9-8FF0-4A09-8AB3-169C2AE5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043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70CB9-7FC6-463B-BF9B-951A74C4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105421B-DAD8-42C1-B304-F0B9D02D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2BA02-AA6C-42AC-B152-1542FD33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691211-3CF1-4585-9578-7E7CCD67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76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D200AF-5DA4-46E7-B773-6B61E676F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04ACBA-2479-45DF-B192-54A4575E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4DA6F5-5916-4804-B8BF-72CA6BFC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707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D6B54-1C49-493E-8E21-48617D4C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6D4217-3BDC-446D-A389-4BA41961D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066F60-B411-4BCB-A994-AFE2087E0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BE5DA6-3D1D-4EE7-8F7D-B0129C5A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F038F0-D28A-4990-B66D-1A64D69F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DF4170-6986-4496-896D-2ADEC9CC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600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B5B0A-D96E-48E4-B526-B611768A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509AA6-0B82-4D55-BD65-2746110C2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DC8CAD-2D92-4BC2-AC54-A2EEBEADD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3E0DC8-CC9B-4746-8AAA-B2306B1B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99F0A1-0112-4342-865E-DC7CEB60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22D419-3447-483B-A025-9A9B0E74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3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B754-E411-41A2-84A8-7A39034E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E90342-4DDF-4BFA-AF1E-49E124441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74705-3C7F-433B-80F6-3A8648A3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FDD0E-1828-411F-86F0-F7F376A95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BD2CB6-21BA-4195-9017-14AA8FA1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62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21B73AB-4073-4F12-9CD6-527C12501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1AE0C5-E4AE-442F-9F38-2E2576A1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E0BE2F-CF01-4866-8C5C-1D6F8A12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28B638-61A4-43A1-87DB-5E3A0495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670F1-0919-41A4-9D85-6BD8F6F2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717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891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574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9225D-0C02-485C-955E-4F30D093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083E9F-0D73-4382-9C5B-4FC35F571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3E810-9FD3-4921-B3F3-A8EA698D6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1855C-712A-41DC-896C-04B12FF9753C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59F47-D754-464A-B041-2E3BB3D7C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D95A9B-BD61-41B8-A729-103C2C66A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3E54A-320F-49F5-A795-C0DF397059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49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slide" Target="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slide" Target="slide3.xml"/><Relationship Id="rId4" Type="http://schemas.openxmlformats.org/officeDocument/2006/relationships/slide" Target="slide2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</a:t>
            </a:r>
            <a:r>
              <a:rPr lang="en-US" altLang="ko-KR" dirty="0"/>
              <a:t>DP </a:t>
            </a:r>
            <a:r>
              <a:rPr lang="ko-KR" altLang="en-US" dirty="0"/>
              <a:t>별 </a:t>
            </a:r>
            <a:r>
              <a:rPr lang="en-US" altLang="ko-KR" dirty="0"/>
              <a:t>QA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598962"/>
              </p:ext>
            </p:extLst>
          </p:nvPr>
        </p:nvGraphicFramePr>
        <p:xfrm>
          <a:off x="970030" y="829372"/>
          <a:ext cx="10504660" cy="3113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292">
                  <a:extLst>
                    <a:ext uri="{9D8B030D-6E8A-4147-A177-3AD203B41FA5}">
                      <a16:colId xmlns:a16="http://schemas.microsoft.com/office/drawing/2014/main" val="608747143"/>
                    </a:ext>
                  </a:extLst>
                </a:gridCol>
                <a:gridCol w="2403342">
                  <a:extLst>
                    <a:ext uri="{9D8B030D-6E8A-4147-A177-3AD203B41FA5}">
                      <a16:colId xmlns:a16="http://schemas.microsoft.com/office/drawing/2014/main" val="3801349448"/>
                    </a:ext>
                  </a:extLst>
                </a:gridCol>
                <a:gridCol w="2403342">
                  <a:extLst>
                    <a:ext uri="{9D8B030D-6E8A-4147-A177-3AD203B41FA5}">
                      <a16:colId xmlns:a16="http://schemas.microsoft.com/office/drawing/2014/main" val="39305247"/>
                    </a:ext>
                  </a:extLst>
                </a:gridCol>
                <a:gridCol w="2403342">
                  <a:extLst>
                    <a:ext uri="{9D8B030D-6E8A-4147-A177-3AD203B41FA5}">
                      <a16:colId xmlns:a16="http://schemas.microsoft.com/office/drawing/2014/main" val="1206807920"/>
                    </a:ext>
                  </a:extLst>
                </a:gridCol>
                <a:gridCol w="2403342">
                  <a:extLst>
                    <a:ext uri="{9D8B030D-6E8A-4147-A177-3AD203B41FA5}">
                      <a16:colId xmlns:a16="http://schemas.microsoft.com/office/drawing/2014/main" val="1743668983"/>
                    </a:ext>
                  </a:extLst>
                </a:gridCol>
              </a:tblGrid>
              <a:tr h="567924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DP1. 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이기종 메모리 기반 </a:t>
                      </a:r>
                      <a:r>
                        <a:rPr lang="en-US" altLang="ko-KR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데이터 배치 구조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DP2. 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이기종 메모리 기반 </a:t>
                      </a:r>
                      <a:r>
                        <a:rPr lang="ko-KR" altLang="en-US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연산</a:t>
                      </a:r>
                      <a:r>
                        <a:rPr lang="en-US" altLang="ko-KR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(Prefill/Decode)</a:t>
                      </a:r>
                      <a:r>
                        <a:rPr lang="en-US" altLang="ko-KR" sz="1200" strike="noStrike" kern="1200" baseline="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실행 구조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DP3. Long Context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를 위한</a:t>
                      </a:r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KV Eviction &amp; Reuse</a:t>
                      </a:r>
                      <a:endParaRPr lang="ko-KR" altLang="en-US" sz="1200" strike="noStrike" kern="120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DP4. 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이기종 메모리 기반 </a:t>
                      </a:r>
                      <a:r>
                        <a:rPr lang="ko-KR" altLang="en-US" sz="1200" b="1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다중 서버 간 요청 조율 구조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77196"/>
                  </a:ext>
                </a:extLst>
              </a:tr>
              <a:tr h="405660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QA1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37173"/>
                  </a:ext>
                </a:extLst>
              </a:tr>
              <a:tr h="567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QA2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 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3688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QA3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682426"/>
                  </a:ext>
                </a:extLst>
              </a:tr>
              <a:tr h="405660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QA4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445013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QA5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Functional Correctness (Accuracy)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768170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QA6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425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25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DP1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2585930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3315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206272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222978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38996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204608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메모리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자원 상태 기반 이동 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AI Data </a:t>
                      </a:r>
                      <a:r>
                        <a:rPr lang="ko-KR" altLang="en-US" sz="1200" b="1" strike="noStrike" baseline="0" dirty="0"/>
                        <a:t>특성 기반 이동 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낮은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overhead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state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변화에 즉시 반응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메모리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Pool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Utilization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관리에 유리 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특성에 맞는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배치 가능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고속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(High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tier)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메모리의 불필요한 점유 감소 가능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별 접근 특성 반영 한계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Characterization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예측을 위한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Overhead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증가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 오류 시 </a:t>
                      </a:r>
                      <a:r>
                        <a:rPr lang="en-US" altLang="ko-KR" sz="1200" strike="noStrike" baseline="0" dirty="0" err="1">
                          <a:solidFill>
                            <a:schemeClr val="tx1"/>
                          </a:solidFill>
                          <a:effectLst/>
                        </a:rPr>
                        <a:t>Mis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-placement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541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(HBM </a:t>
                      </a:r>
                      <a:r>
                        <a:rPr lang="ko-KR" altLang="en-US" sz="1000" b="0" strike="noStrike" dirty="0">
                          <a:solidFill>
                            <a:schemeClr val="tx1"/>
                          </a:solidFill>
                        </a:rPr>
                        <a:t>사용량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GiB)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(토큰 비용, M/M, </a:t>
                      </a:r>
                      <a:r>
                        <a:rPr lang="ko-KR" altLang="en-US" sz="1000" b="0" strike="noStrike" dirty="0">
                          <a:solidFill>
                            <a:schemeClr val="tx1"/>
                          </a:solidFill>
                        </a:rPr>
                        <a:t>모듈 수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b="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354</a:t>
                      </a:r>
                      <a:r>
                        <a:rPr lang="en-US" altLang="ko-KR" sz="10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(x1.05)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1,372</a:t>
                      </a:r>
                      <a:r>
                        <a:rPr lang="en-US" altLang="ko-KR" sz="10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(x1.27),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18.2</a:t>
                      </a:r>
                      <a:r>
                        <a:rPr lang="en-US" altLang="ko-KR" sz="10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(x1.06)</a:t>
                      </a:r>
                      <a:endParaRPr lang="en-US" altLang="ko-KR" sz="10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144.6</a:t>
                      </a:r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(x0.99)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$0.39, 0.38, 1.75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(HBM </a:t>
                      </a:r>
                      <a:r>
                        <a:rPr lang="ko-KR" altLang="en-US" sz="1000" b="0" strike="noStrike" dirty="0">
                          <a:solidFill>
                            <a:schemeClr val="tx1"/>
                          </a:solidFill>
                        </a:rPr>
                        <a:t>사용량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GiB)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(토큰 비용, M/M, </a:t>
                      </a:r>
                      <a:r>
                        <a:rPr lang="ko-KR" altLang="en-US" sz="1000" b="0" strike="noStrike" dirty="0">
                          <a:solidFill>
                            <a:schemeClr val="tx1"/>
                          </a:solidFill>
                        </a:rPr>
                        <a:t>모듈 수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478</a:t>
                      </a:r>
                      <a:r>
                        <a:rPr lang="en-US" altLang="ko-KR" sz="10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(x1.42)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785</a:t>
                      </a:r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(x0.72)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,16.0</a:t>
                      </a:r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(x0.94)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★☆☆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178</a:t>
                      </a:r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(x1.21)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 </a:t>
                      </a:r>
                      <a:r>
                        <a:rPr lang="en-US" altLang="ko-KR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$0.49, 0.51, 2.50</a:t>
                      </a:r>
                      <a:endParaRPr lang="en-US" altLang="ko-KR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이기종 메모리 기반 </a:t>
            </a:r>
            <a:r>
              <a:rPr lang="en-US" altLang="ko-KR" dirty="0"/>
              <a:t>Data Migration</a:t>
            </a:r>
            <a:r>
              <a:rPr lang="ko-KR" altLang="en-US" dirty="0"/>
              <a:t> 결정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5814" y="632567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이기종 메모리 환경에서 언제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무엇을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어느 </a:t>
            </a:r>
            <a:r>
              <a:rPr lang="en-US" altLang="ko-KR" sz="1400" b="1" dirty="0">
                <a:solidFill>
                  <a:schemeClr val="bg1"/>
                </a:solidFill>
              </a:rPr>
              <a:t>memory tier</a:t>
            </a:r>
            <a:r>
              <a:rPr lang="ko-KR" altLang="en-US" sz="1400" b="1" dirty="0">
                <a:solidFill>
                  <a:schemeClr val="bg1"/>
                </a:solidFill>
              </a:rPr>
              <a:t>로 이동할지 결정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7583966" y="617897"/>
            <a:ext cx="1101936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메모리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tier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간 복사</a:t>
            </a: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“Data</a:t>
            </a:r>
            <a:r>
              <a:rPr lang="ko-KR" altLang="en-US" sz="1100" dirty="0"/>
              <a:t> 종류 관계없이 </a:t>
            </a:r>
            <a:r>
              <a:rPr lang="ko-KR" altLang="en-US" sz="1100" dirty="0">
                <a:solidFill>
                  <a:srgbClr val="0066FF"/>
                </a:solidFill>
              </a:rPr>
              <a:t>메모리</a:t>
            </a:r>
            <a:r>
              <a:rPr lang="en-US" altLang="ko-KR" sz="1100" dirty="0">
                <a:solidFill>
                  <a:srgbClr val="0066FF"/>
                </a:solidFill>
              </a:rPr>
              <a:t> </a:t>
            </a:r>
            <a:r>
              <a:rPr lang="ko-KR" altLang="en-US" sz="1100" dirty="0">
                <a:solidFill>
                  <a:srgbClr val="0066FF"/>
                </a:solidFill>
              </a:rPr>
              <a:t>자원 상태</a:t>
            </a:r>
            <a:r>
              <a:rPr lang="en-US" altLang="ko-KR" sz="1100" dirty="0">
                <a:solidFill>
                  <a:srgbClr val="0066FF"/>
                </a:solidFill>
              </a:rPr>
              <a:t>(Capacity/BW/Load)</a:t>
            </a:r>
            <a:r>
              <a:rPr lang="ko-KR" altLang="en-US" sz="1100" dirty="0"/>
              <a:t>에 우선한 </a:t>
            </a:r>
            <a:r>
              <a:rPr lang="en-US" altLang="ko-KR" sz="1100" dirty="0"/>
              <a:t>Migration“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en-US" altLang="ko-KR" sz="1100" dirty="0">
                <a:solidFill>
                  <a:srgbClr val="0066FF"/>
                </a:solidFill>
              </a:rPr>
              <a:t>AI Data</a:t>
            </a:r>
            <a:r>
              <a:rPr lang="ko-KR" altLang="en-US" sz="1100" dirty="0">
                <a:solidFill>
                  <a:srgbClr val="0066FF"/>
                </a:solidFill>
              </a:rPr>
              <a:t> 특성</a:t>
            </a:r>
            <a:r>
              <a:rPr lang="en-US" altLang="ko-KR" sz="1100" dirty="0">
                <a:solidFill>
                  <a:srgbClr val="0066FF"/>
                </a:solidFill>
              </a:rPr>
              <a:t>(Type/Hotness/Lifetime/Agent Tool Info </a:t>
            </a:r>
            <a:r>
              <a:rPr lang="ko-KR" altLang="en-US" sz="1100" dirty="0">
                <a:solidFill>
                  <a:srgbClr val="0066FF"/>
                </a:solidFill>
              </a:rPr>
              <a:t>등</a:t>
            </a:r>
            <a:r>
              <a:rPr lang="en-US" altLang="ko-KR" sz="1100" dirty="0">
                <a:solidFill>
                  <a:srgbClr val="0066FF"/>
                </a:solidFill>
              </a:rPr>
              <a:t>)</a:t>
            </a:r>
            <a:r>
              <a:rPr lang="ko-KR" altLang="en-US" sz="1100" dirty="0"/>
              <a:t>에 우선한 </a:t>
            </a:r>
            <a:r>
              <a:rPr lang="en-US" altLang="ko-KR" sz="1100" dirty="0"/>
              <a:t>Migration“</a:t>
            </a:r>
            <a:endParaRPr lang="ko-KR" altLang="en-US" sz="1100" dirty="0"/>
          </a:p>
        </p:txBody>
      </p:sp>
      <p:sp>
        <p:nvSpPr>
          <p:cNvPr id="140" name="직사각형 139"/>
          <p:cNvSpPr/>
          <p:nvPr/>
        </p:nvSpPr>
        <p:spPr>
          <a:xfrm>
            <a:off x="6521412" y="46469"/>
            <a:ext cx="14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(When, What, </a:t>
            </a:r>
          </a:p>
          <a:p>
            <a:r>
              <a:rPr lang="en-US" altLang="ko-KR" sz="1200" b="1" dirty="0"/>
              <a:t>Where to locate?)</a:t>
            </a:r>
            <a:endParaRPr lang="ko-KR" altLang="en-US" sz="1200" dirty="0"/>
          </a:p>
        </p:txBody>
      </p:sp>
      <p:sp>
        <p:nvSpPr>
          <p:cNvPr id="118" name="DecisionPlane"/>
          <p:cNvSpPr/>
          <p:nvPr/>
        </p:nvSpPr>
        <p:spPr>
          <a:xfrm>
            <a:off x="1335759" y="1959311"/>
            <a:ext cx="4919889" cy="5846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Control Plane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19" name="DecisionPlane tab"/>
          <p:cNvSpPr/>
          <p:nvPr/>
        </p:nvSpPr>
        <p:spPr>
          <a:xfrm>
            <a:off x="1335759" y="1853363"/>
            <a:ext cx="251696" cy="1094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grpSp>
        <p:nvGrpSpPr>
          <p:cNvPr id="6" name="그룹 5"/>
          <p:cNvGrpSpPr/>
          <p:nvPr/>
        </p:nvGrpSpPr>
        <p:grpSpPr>
          <a:xfrm>
            <a:off x="1368902" y="2642127"/>
            <a:ext cx="2323127" cy="1571272"/>
            <a:chOff x="997398" y="2494119"/>
            <a:chExt cx="2436693" cy="2061682"/>
          </a:xfrm>
        </p:grpSpPr>
        <p:sp>
          <p:nvSpPr>
            <p:cNvPr id="114" name="DecisionPlane"/>
            <p:cNvSpPr/>
            <p:nvPr/>
          </p:nvSpPr>
          <p:spPr>
            <a:xfrm>
              <a:off x="997399" y="2621986"/>
              <a:ext cx="2436692" cy="193381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0" rtlCol="0" anchor="t"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Resource Plane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DecisionPlane tab"/>
            <p:cNvSpPr/>
            <p:nvPr/>
          </p:nvSpPr>
          <p:spPr>
            <a:xfrm>
              <a:off x="997398" y="2494119"/>
              <a:ext cx="264000" cy="13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endParaRPr lang="ko-KR"/>
            </a:p>
          </p:txBody>
        </p:sp>
        <p:sp>
          <p:nvSpPr>
            <p:cNvPr id="122" name="KV Cache Manager"/>
            <p:cNvSpPr/>
            <p:nvPr/>
          </p:nvSpPr>
          <p:spPr>
            <a:xfrm>
              <a:off x="1439913" y="2950432"/>
              <a:ext cx="1550000" cy="3090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Resource State Monitor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23" name="KV Cache Manager"/>
            <p:cNvSpPr/>
            <p:nvPr/>
          </p:nvSpPr>
          <p:spPr>
            <a:xfrm>
              <a:off x="1508045" y="3811725"/>
              <a:ext cx="1409091" cy="2809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Telemetry Collector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24" name="KV Cache Manager"/>
            <p:cNvSpPr/>
            <p:nvPr/>
          </p:nvSpPr>
          <p:spPr>
            <a:xfrm>
              <a:off x="1508043" y="4201270"/>
              <a:ext cx="1409091" cy="2809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Memory Registry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59" name="KV Cache Manager"/>
            <p:cNvSpPr/>
            <p:nvPr/>
          </p:nvSpPr>
          <p:spPr>
            <a:xfrm>
              <a:off x="1183388" y="3420196"/>
              <a:ext cx="2063051" cy="3090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Resource-based Trend Analyzer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28" name="KV Cache Manager"/>
          <p:cNvSpPr/>
          <p:nvPr/>
        </p:nvSpPr>
        <p:spPr>
          <a:xfrm>
            <a:off x="4617258" y="2201857"/>
            <a:ext cx="1475872" cy="2582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Migration Policy Engine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29" name="KV Cache Manager"/>
          <p:cNvSpPr/>
          <p:nvPr/>
        </p:nvSpPr>
        <p:spPr>
          <a:xfrm>
            <a:off x="1495682" y="2183542"/>
            <a:ext cx="1528573" cy="2582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Migration Scheduler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4314807" y="3220929"/>
            <a:ext cx="1858865" cy="1214998"/>
            <a:chOff x="4168897" y="2550266"/>
            <a:chExt cx="1879320" cy="1837097"/>
          </a:xfrm>
        </p:grpSpPr>
        <p:sp>
          <p:nvSpPr>
            <p:cNvPr id="116" name="DecisionPlane"/>
            <p:cNvSpPr/>
            <p:nvPr/>
          </p:nvSpPr>
          <p:spPr>
            <a:xfrm>
              <a:off x="4168899" y="2678899"/>
              <a:ext cx="1879318" cy="1708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0" rtlCol="0" anchor="t"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Data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Plane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DecisionPlane tab"/>
            <p:cNvSpPr/>
            <p:nvPr/>
          </p:nvSpPr>
          <p:spPr>
            <a:xfrm>
              <a:off x="4168897" y="2550266"/>
              <a:ext cx="264000" cy="13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endParaRPr lang="ko-KR"/>
            </a:p>
          </p:txBody>
        </p:sp>
        <p:sp>
          <p:nvSpPr>
            <p:cNvPr id="127" name="KV Cache Manager"/>
            <p:cNvSpPr/>
            <p:nvPr/>
          </p:nvSpPr>
          <p:spPr>
            <a:xfrm>
              <a:off x="4447534" y="3152142"/>
              <a:ext cx="1409091" cy="340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Migration Executor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130" name="KV Cache Manager"/>
            <p:cNvSpPr/>
            <p:nvPr/>
          </p:nvSpPr>
          <p:spPr>
            <a:xfrm>
              <a:off x="4447534" y="3793018"/>
              <a:ext cx="1409091" cy="3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Transfer Handler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37" name="① Event"/>
          <p:cNvCxnSpPr/>
          <p:nvPr/>
        </p:nvCxnSpPr>
        <p:spPr>
          <a:xfrm flipH="1">
            <a:off x="1955800" y="2440976"/>
            <a:ext cx="909" cy="534021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68" name="① Event"/>
          <p:cNvCxnSpPr/>
          <p:nvPr/>
        </p:nvCxnSpPr>
        <p:spPr>
          <a:xfrm>
            <a:off x="5668955" y="2449507"/>
            <a:ext cx="6208" cy="1187453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69" name="① Event"/>
          <p:cNvCxnSpPr>
            <a:stCxn id="359" idx="3"/>
            <a:endCxn id="128" idx="1"/>
          </p:cNvCxnSpPr>
          <p:nvPr/>
        </p:nvCxnSpPr>
        <p:spPr>
          <a:xfrm flipV="1">
            <a:off x="3513123" y="2330988"/>
            <a:ext cx="1104135" cy="1134716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178" name="① Event"/>
          <p:cNvCxnSpPr>
            <a:stCxn id="127" idx="2"/>
            <a:endCxn id="130" idx="0"/>
          </p:cNvCxnSpPr>
          <p:nvPr/>
        </p:nvCxnSpPr>
        <p:spPr>
          <a:xfrm>
            <a:off x="5287288" y="3843859"/>
            <a:ext cx="0" cy="198990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188" name="KV Cache Manager"/>
          <p:cNvSpPr/>
          <p:nvPr/>
        </p:nvSpPr>
        <p:spPr>
          <a:xfrm>
            <a:off x="1337482" y="4360245"/>
            <a:ext cx="2379948" cy="21344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Common Memory Backend Interface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197" name="① Event"/>
          <p:cNvCxnSpPr>
            <a:stCxn id="188" idx="0"/>
            <a:endCxn id="114" idx="2"/>
          </p:cNvCxnSpPr>
          <p:nvPr/>
        </p:nvCxnSpPr>
        <p:spPr>
          <a:xfrm flipV="1">
            <a:off x="2527456" y="4213399"/>
            <a:ext cx="3010" cy="146846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grpSp>
        <p:nvGrpSpPr>
          <p:cNvPr id="234" name="그룹 233"/>
          <p:cNvGrpSpPr/>
          <p:nvPr/>
        </p:nvGrpSpPr>
        <p:grpSpPr>
          <a:xfrm>
            <a:off x="7146041" y="3067164"/>
            <a:ext cx="1919939" cy="1090190"/>
            <a:chOff x="1208848" y="2542921"/>
            <a:chExt cx="2013795" cy="1376305"/>
          </a:xfrm>
        </p:grpSpPr>
        <p:sp>
          <p:nvSpPr>
            <p:cNvPr id="238" name="DecisionPlane"/>
            <p:cNvSpPr/>
            <p:nvPr/>
          </p:nvSpPr>
          <p:spPr>
            <a:xfrm>
              <a:off x="1208848" y="2678899"/>
              <a:ext cx="2013795" cy="124032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0" rtlCol="0" anchor="t"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Resource Plane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39" name="DecisionPlane tab"/>
            <p:cNvSpPr/>
            <p:nvPr/>
          </p:nvSpPr>
          <p:spPr>
            <a:xfrm>
              <a:off x="1208848" y="2542921"/>
              <a:ext cx="264000" cy="13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endParaRPr lang="ko-KR"/>
            </a:p>
          </p:txBody>
        </p:sp>
        <p:sp>
          <p:nvSpPr>
            <p:cNvPr id="242" name="KV Cache Manager"/>
            <p:cNvSpPr/>
            <p:nvPr/>
          </p:nvSpPr>
          <p:spPr>
            <a:xfrm>
              <a:off x="1508045" y="3262257"/>
              <a:ext cx="1409091" cy="2554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Telemetry Collector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43" name="KV Cache Manager"/>
            <p:cNvSpPr/>
            <p:nvPr/>
          </p:nvSpPr>
          <p:spPr>
            <a:xfrm>
              <a:off x="1508043" y="3597267"/>
              <a:ext cx="1409091" cy="2554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Memory Registry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00" name="KV Cache Manager"/>
            <p:cNvSpPr/>
            <p:nvPr/>
          </p:nvSpPr>
          <p:spPr>
            <a:xfrm>
              <a:off x="1508045" y="2930973"/>
              <a:ext cx="1409091" cy="25544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Data Object Registry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9" name="그룹 248"/>
          <p:cNvGrpSpPr/>
          <p:nvPr/>
        </p:nvGrpSpPr>
        <p:grpSpPr>
          <a:xfrm>
            <a:off x="9626708" y="3178189"/>
            <a:ext cx="1891050" cy="1160450"/>
            <a:chOff x="4173997" y="2581540"/>
            <a:chExt cx="1983494" cy="1477340"/>
          </a:xfrm>
        </p:grpSpPr>
        <p:sp>
          <p:nvSpPr>
            <p:cNvPr id="250" name="DecisionPlane"/>
            <p:cNvSpPr/>
            <p:nvPr/>
          </p:nvSpPr>
          <p:spPr>
            <a:xfrm>
              <a:off x="4173997" y="2708259"/>
              <a:ext cx="1983494" cy="135062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0" rtlCol="0" anchor="t"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Data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Plane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51" name="DecisionPlane tab"/>
            <p:cNvSpPr/>
            <p:nvPr/>
          </p:nvSpPr>
          <p:spPr>
            <a:xfrm>
              <a:off x="4176509" y="2581540"/>
              <a:ext cx="264000" cy="130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endParaRPr lang="ko-KR"/>
            </a:p>
          </p:txBody>
        </p:sp>
        <p:sp>
          <p:nvSpPr>
            <p:cNvPr id="252" name="KV Cache Manager"/>
            <p:cNvSpPr/>
            <p:nvPr/>
          </p:nvSpPr>
          <p:spPr>
            <a:xfrm>
              <a:off x="4493949" y="3060767"/>
              <a:ext cx="1409091" cy="280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Migration Executor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53" name="KV Cache Manager"/>
            <p:cNvSpPr/>
            <p:nvPr/>
          </p:nvSpPr>
          <p:spPr>
            <a:xfrm>
              <a:off x="4493807" y="3584303"/>
              <a:ext cx="1409091" cy="280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Transfer Handler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8" name="① Event"/>
          <p:cNvCxnSpPr>
            <a:stCxn id="252" idx="2"/>
            <a:endCxn id="253" idx="0"/>
          </p:cNvCxnSpPr>
          <p:nvPr/>
        </p:nvCxnSpPr>
        <p:spPr>
          <a:xfrm flipH="1">
            <a:off x="10603321" y="3775340"/>
            <a:ext cx="135" cy="190518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262" name="KV Cache Manager"/>
          <p:cNvSpPr/>
          <p:nvPr/>
        </p:nvSpPr>
        <p:spPr>
          <a:xfrm>
            <a:off x="6913701" y="4305333"/>
            <a:ext cx="2379948" cy="21344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Common Memory Backend Interface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264" name="① Event"/>
          <p:cNvCxnSpPr>
            <a:stCxn id="262" idx="0"/>
            <a:endCxn id="238" idx="2"/>
          </p:cNvCxnSpPr>
          <p:nvPr/>
        </p:nvCxnSpPr>
        <p:spPr>
          <a:xfrm flipV="1">
            <a:off x="8103675" y="4157354"/>
            <a:ext cx="2336" cy="147979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276" name="① Event"/>
          <p:cNvCxnSpPr>
            <a:stCxn id="127" idx="1"/>
            <a:endCxn id="123" idx="3"/>
          </p:cNvCxnSpPr>
          <p:nvPr/>
        </p:nvCxnSpPr>
        <p:spPr>
          <a:xfrm rot="10800000" flipV="1">
            <a:off x="3199167" y="3731425"/>
            <a:ext cx="1391244" cy="21967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279" name="① Event"/>
          <p:cNvCxnSpPr>
            <a:stCxn id="127" idx="1"/>
            <a:endCxn id="124" idx="3"/>
          </p:cNvCxnSpPr>
          <p:nvPr/>
        </p:nvCxnSpPr>
        <p:spPr>
          <a:xfrm rot="10800000" flipV="1">
            <a:off x="3199167" y="3731425"/>
            <a:ext cx="1391245" cy="318851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290" name="① Event"/>
          <p:cNvCxnSpPr>
            <a:stCxn id="252" idx="1"/>
            <a:endCxn id="242" idx="3"/>
          </p:cNvCxnSpPr>
          <p:nvPr/>
        </p:nvCxnSpPr>
        <p:spPr>
          <a:xfrm rot="10800000" flipV="1">
            <a:off x="8774711" y="3664980"/>
            <a:ext cx="1157036" cy="73151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293" name="① Event"/>
          <p:cNvCxnSpPr>
            <a:stCxn id="252" idx="1"/>
            <a:endCxn id="243" idx="3"/>
          </p:cNvCxnSpPr>
          <p:nvPr/>
        </p:nvCxnSpPr>
        <p:spPr>
          <a:xfrm rot="10800000" flipV="1">
            <a:off x="8774711" y="3664980"/>
            <a:ext cx="1157037" cy="338517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grpSp>
        <p:nvGrpSpPr>
          <p:cNvPr id="547" name="그룹 546"/>
          <p:cNvGrpSpPr/>
          <p:nvPr/>
        </p:nvGrpSpPr>
        <p:grpSpPr>
          <a:xfrm>
            <a:off x="6819037" y="1736827"/>
            <a:ext cx="4919889" cy="1623134"/>
            <a:chOff x="6819037" y="1867402"/>
            <a:chExt cx="4919889" cy="1623134"/>
          </a:xfrm>
        </p:grpSpPr>
        <p:sp>
          <p:nvSpPr>
            <p:cNvPr id="230" name="DecisionPlane"/>
            <p:cNvSpPr/>
            <p:nvPr/>
          </p:nvSpPr>
          <p:spPr>
            <a:xfrm>
              <a:off x="6819037" y="1973349"/>
              <a:ext cx="4919889" cy="113222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0" rtlCol="0" anchor="t"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Control Plane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32" name="DecisionPlane tab"/>
            <p:cNvSpPr/>
            <p:nvPr/>
          </p:nvSpPr>
          <p:spPr>
            <a:xfrm>
              <a:off x="6819037" y="1867402"/>
              <a:ext cx="251696" cy="10945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endParaRPr lang="ko-KR"/>
            </a:p>
          </p:txBody>
        </p:sp>
        <p:sp>
          <p:nvSpPr>
            <p:cNvPr id="233" name="KV Cache Manager"/>
            <p:cNvSpPr/>
            <p:nvPr/>
          </p:nvSpPr>
          <p:spPr>
            <a:xfrm>
              <a:off x="8552755" y="2242205"/>
              <a:ext cx="1343743" cy="3124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Data behavior Monitor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44" name="KV Cache Manager"/>
            <p:cNvSpPr/>
            <p:nvPr/>
          </p:nvSpPr>
          <p:spPr>
            <a:xfrm>
              <a:off x="10288514" y="2693105"/>
              <a:ext cx="1341702" cy="3124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Migration Policy Engine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48" name="KV Cache Manager"/>
            <p:cNvSpPr/>
            <p:nvPr/>
          </p:nvSpPr>
          <p:spPr>
            <a:xfrm>
              <a:off x="6940505" y="2246618"/>
              <a:ext cx="1148440" cy="3124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Migration Scheduler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54" name="① Event"/>
            <p:cNvCxnSpPr>
              <a:endCxn id="233" idx="1"/>
            </p:cNvCxnSpPr>
            <p:nvPr/>
          </p:nvCxnSpPr>
          <p:spPr>
            <a:xfrm>
              <a:off x="8088946" y="2398454"/>
              <a:ext cx="463809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  <p:cxnSp>
          <p:nvCxnSpPr>
            <p:cNvPr id="256" name="① Event"/>
            <p:cNvCxnSpPr>
              <a:stCxn id="267" idx="2"/>
              <a:endCxn id="244" idx="0"/>
            </p:cNvCxnSpPr>
            <p:nvPr/>
          </p:nvCxnSpPr>
          <p:spPr>
            <a:xfrm>
              <a:off x="10951301" y="2554703"/>
              <a:ext cx="8064" cy="138402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  <p:sp>
          <p:nvSpPr>
            <p:cNvPr id="266" name="KV Cache Manager"/>
            <p:cNvSpPr/>
            <p:nvPr/>
          </p:nvSpPr>
          <p:spPr>
            <a:xfrm>
              <a:off x="8552755" y="2706796"/>
              <a:ext cx="1343743" cy="3124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Behavior-based Trend Analyzer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67" name="KV Cache Manager"/>
            <p:cNvSpPr/>
            <p:nvPr/>
          </p:nvSpPr>
          <p:spPr>
            <a:xfrm>
              <a:off x="10279429" y="2242205"/>
              <a:ext cx="1343743" cy="3124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Behavior Predictor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68" name="① Event"/>
            <p:cNvCxnSpPr>
              <a:stCxn id="233" idx="2"/>
              <a:endCxn id="266" idx="0"/>
            </p:cNvCxnSpPr>
            <p:nvPr/>
          </p:nvCxnSpPr>
          <p:spPr>
            <a:xfrm>
              <a:off x="9224627" y="2554703"/>
              <a:ext cx="0" cy="15209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  <p:cxnSp>
          <p:nvCxnSpPr>
            <p:cNvPr id="269" name="① Event"/>
            <p:cNvCxnSpPr>
              <a:stCxn id="266" idx="3"/>
              <a:endCxn id="267" idx="1"/>
            </p:cNvCxnSpPr>
            <p:nvPr/>
          </p:nvCxnSpPr>
          <p:spPr>
            <a:xfrm flipV="1">
              <a:off x="9896498" y="2398454"/>
              <a:ext cx="382931" cy="46459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  <p:cxnSp>
          <p:nvCxnSpPr>
            <p:cNvPr id="304" name="① Event"/>
            <p:cNvCxnSpPr>
              <a:stCxn id="233" idx="1"/>
            </p:cNvCxnSpPr>
            <p:nvPr/>
          </p:nvCxnSpPr>
          <p:spPr>
            <a:xfrm rot="10800000" flipV="1">
              <a:off x="8273739" y="2398454"/>
              <a:ext cx="279016" cy="1092082"/>
            </a:xfrm>
            <a:prstGeom prst="bentConnector2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</p:grpSp>
      <p:cxnSp>
        <p:nvCxnSpPr>
          <p:cNvPr id="348" name="① Event"/>
          <p:cNvCxnSpPr>
            <a:stCxn id="244" idx="2"/>
          </p:cNvCxnSpPr>
          <p:nvPr/>
        </p:nvCxnSpPr>
        <p:spPr>
          <a:xfrm>
            <a:off x="10959365" y="2875027"/>
            <a:ext cx="0" cy="679594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366" name="① Event"/>
          <p:cNvCxnSpPr>
            <a:stCxn id="122" idx="2"/>
            <a:endCxn id="359" idx="0"/>
          </p:cNvCxnSpPr>
          <p:nvPr/>
        </p:nvCxnSpPr>
        <p:spPr>
          <a:xfrm>
            <a:off x="2529673" y="3225466"/>
            <a:ext cx="1" cy="122453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546" name="실행 단추: 앞으로 또는 다음 545">
            <a:hlinkClick r:id="rId3" action="ppaction://hlinksldjump" highlightClick="1"/>
          </p:cNvPr>
          <p:cNvSpPr/>
          <p:nvPr/>
        </p:nvSpPr>
        <p:spPr>
          <a:xfrm>
            <a:off x="6629355" y="670767"/>
            <a:ext cx="311150" cy="2721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8" name="직사각형 407"/>
          <p:cNvSpPr/>
          <p:nvPr/>
        </p:nvSpPr>
        <p:spPr>
          <a:xfrm>
            <a:off x="1428751" y="1987962"/>
            <a:ext cx="1660102" cy="200055"/>
          </a:xfrm>
          <a:prstGeom prst="rect">
            <a:avLst/>
          </a:prstGeom>
          <a:noFill/>
          <a:ln w="9525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Control/Decision: Event push(</a:t>
            </a:r>
            <a:r>
              <a:rPr lang="en-US" altLang="ko-KR" sz="700" dirty="0" err="1">
                <a:solidFill>
                  <a:schemeClr val="bg1">
                    <a:lumMod val="50000"/>
                  </a:schemeClr>
                </a:solidFill>
              </a:rPr>
              <a:t>async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9" name="직사각형 408"/>
          <p:cNvSpPr/>
          <p:nvPr/>
        </p:nvSpPr>
        <p:spPr>
          <a:xfrm>
            <a:off x="6855862" y="1919400"/>
            <a:ext cx="1605388" cy="200055"/>
          </a:xfrm>
          <a:prstGeom prst="rect">
            <a:avLst/>
          </a:prstGeom>
          <a:noFill/>
          <a:ln w="9525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Control/Decision: Event push(</a:t>
            </a:r>
            <a:r>
              <a:rPr lang="en-US" altLang="ko-KR" sz="700" dirty="0" err="1">
                <a:solidFill>
                  <a:schemeClr val="bg1">
                    <a:lumMod val="50000"/>
                  </a:schemeClr>
                </a:solidFill>
              </a:rPr>
              <a:t>async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0" name="직사각형 409"/>
          <p:cNvSpPr/>
          <p:nvPr/>
        </p:nvSpPr>
        <p:spPr>
          <a:xfrm>
            <a:off x="4522771" y="4235870"/>
            <a:ext cx="1529033" cy="200055"/>
          </a:xfrm>
          <a:prstGeom prst="rect">
            <a:avLst/>
          </a:prstGeom>
          <a:noFill/>
          <a:ln w="9525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Data Transfer: Background DMA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1" name="직사각형 410"/>
          <p:cNvSpPr/>
          <p:nvPr/>
        </p:nvSpPr>
        <p:spPr>
          <a:xfrm>
            <a:off x="9854376" y="4148915"/>
            <a:ext cx="1529033" cy="200055"/>
          </a:xfrm>
          <a:prstGeom prst="rect">
            <a:avLst/>
          </a:prstGeom>
          <a:noFill/>
          <a:ln w="9525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Data Transfer: Background DMA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7497631" y="815820"/>
            <a:ext cx="119473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solidFill>
                  <a:schemeClr val="bg1"/>
                </a:solidFill>
                <a:latin typeface="맑은 고딕"/>
              </a:rPr>
              <a:t>데이터 이동 스케줄링</a:t>
            </a:r>
            <a:endParaRPr lang="ko-KR" altLang="en-US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모서리가 둥근 직사각형 37">
            <a:extLst>
              <a:ext uri="{FF2B5EF4-FFF2-40B4-BE49-F238E27FC236}">
                <a16:creationId xmlns:a16="http://schemas.microsoft.com/office/drawing/2014/main" id="{693DBFDB-8F01-4E41-BD3C-DB0E8534BF09}"/>
              </a:ext>
            </a:extLst>
          </p:cNvPr>
          <p:cNvSpPr/>
          <p:nvPr/>
        </p:nvSpPr>
        <p:spPr>
          <a:xfrm>
            <a:off x="8817795" y="613358"/>
            <a:ext cx="772631" cy="16274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F7 </a:t>
            </a:r>
            <a:r>
              <a:rPr lang="en-US" altLang="ko-KR" sz="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88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727279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89" name="모서리가 둥근 직사각형 37">
            <a:extLst>
              <a:ext uri="{FF2B5EF4-FFF2-40B4-BE49-F238E27FC236}">
                <a16:creationId xmlns:a16="http://schemas.microsoft.com/office/drawing/2014/main" id="{0D4F3992-1F75-4D1E-BD6B-B6F5D7420B23}"/>
              </a:ext>
            </a:extLst>
          </p:cNvPr>
          <p:cNvSpPr/>
          <p:nvPr/>
        </p:nvSpPr>
        <p:spPr>
          <a:xfrm>
            <a:off x="9636626" y="813626"/>
            <a:ext cx="62876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Latency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90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10306660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91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1196246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변경용이성</a:t>
            </a:r>
          </a:p>
        </p:txBody>
      </p:sp>
      <p:sp>
        <p:nvSpPr>
          <p:cNvPr id="92" name="모서리가 둥근 직사각형 37">
            <a:extLst>
              <a:ext uri="{FF2B5EF4-FFF2-40B4-BE49-F238E27FC236}">
                <a16:creationId xmlns:a16="http://schemas.microsoft.com/office/drawing/2014/main" id="{943DD2A7-69DA-40E3-9733-EC321EE86A81}"/>
              </a:ext>
            </a:extLst>
          </p:cNvPr>
          <p:cNvSpPr/>
          <p:nvPr/>
        </p:nvSpPr>
        <p:spPr>
          <a:xfrm>
            <a:off x="9713845" y="616927"/>
            <a:ext cx="979555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</a:t>
            </a:r>
            <a:r>
              <a:rPr lang="ko-KR" altLang="en-US" sz="700" dirty="0"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latin typeface="맑은 고딕" panose="020B0503020000020004" pitchFamily="50" charset="-127"/>
              </a:rPr>
              <a:t>Device</a:t>
            </a:r>
            <a:r>
              <a:rPr lang="ko-KR" altLang="en-US" sz="700" dirty="0"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latin typeface="맑은 고딕" panose="020B0503020000020004" pitchFamily="50" charset="-127"/>
              </a:rPr>
              <a:t>SW</a:t>
            </a:r>
            <a:r>
              <a:rPr lang="ko-KR" altLang="en-US" sz="700" dirty="0">
                <a:latin typeface="맑은 고딕" panose="020B0503020000020004" pitchFamily="50" charset="-127"/>
              </a:rPr>
              <a:t> 제약</a:t>
            </a:r>
          </a:p>
        </p:txBody>
      </p:sp>
      <p:sp>
        <p:nvSpPr>
          <p:cNvPr id="93" name="모서리가 둥근 직사각형 37">
            <a:extLst>
              <a:ext uri="{FF2B5EF4-FFF2-40B4-BE49-F238E27FC236}">
                <a16:creationId xmlns:a16="http://schemas.microsoft.com/office/drawing/2014/main" id="{07C239D8-95A4-4B5E-86D7-14B5BB2BAB56}"/>
              </a:ext>
            </a:extLst>
          </p:cNvPr>
          <p:cNvSpPr/>
          <p:nvPr/>
        </p:nvSpPr>
        <p:spPr>
          <a:xfrm>
            <a:off x="10754020" y="616927"/>
            <a:ext cx="1203031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C2</a:t>
            </a:r>
            <a:r>
              <a:rPr lang="ko-KR" altLang="en-US" sz="700" dirty="0"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latin typeface="맑은 고딕" panose="020B0503020000020004" pitchFamily="50" charset="-127"/>
              </a:rPr>
              <a:t>Simulation </a:t>
            </a:r>
            <a:r>
              <a:rPr lang="ko-KR" altLang="en-US" sz="700" dirty="0">
                <a:latin typeface="맑은 고딕" panose="020B0503020000020004" pitchFamily="50" charset="-127"/>
              </a:rPr>
              <a:t>기반 평가</a:t>
            </a:r>
          </a:p>
        </p:txBody>
      </p:sp>
    </p:spTree>
    <p:extLst>
      <p:ext uri="{BB962C8B-B14F-4D97-AF65-F5344CB8AC3E}">
        <p14:creationId xmlns:p14="http://schemas.microsoft.com/office/powerpoint/2010/main" val="408341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697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206272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222978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38996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204608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메모리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자원 상태 기반 이동 </a:t>
                      </a:r>
                      <a:r>
                        <a:rPr lang="en-US" altLang="ko-KR" sz="1200" b="1" strike="noStrike" baseline="0" dirty="0">
                          <a:solidFill>
                            <a:srgbClr val="FF0000"/>
                          </a:solidFill>
                        </a:rPr>
                        <a:t>+ Data-Memory Affinity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AI Data </a:t>
                      </a:r>
                      <a:r>
                        <a:rPr lang="ko-KR" altLang="en-US" sz="1200" b="1" strike="noStrike" baseline="0" dirty="0"/>
                        <a:t>특성 기반 이동 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낮은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overhead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state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변화에 즉시 반응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메모리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Pool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Utilization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관리에 유리 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특성에 맞는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배치 가능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고속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(High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tier)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메모리의 불필요한 점유 감소 가능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별 접근 특성 반영 한계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사전에 알 수 있는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AI Data/operation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의 특성은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static hint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로 반영</a:t>
                      </a:r>
                      <a:endParaRPr lang="en-US" altLang="ko-KR" sz="1200" strike="noStrike" baseline="0" dirty="0">
                        <a:solidFill>
                          <a:srgbClr val="FF0000"/>
                        </a:solidFill>
                        <a:effectLst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KV 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캐시에 대한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behavior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는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prefill/decode 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연산 위치 결정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(DP2)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으로 보완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Characterization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예측을 위한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Overhead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증가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 오류 시 </a:t>
                      </a:r>
                      <a:r>
                        <a:rPr lang="en-US" altLang="ko-KR" sz="1200" strike="noStrike" baseline="0" dirty="0" err="1">
                          <a:solidFill>
                            <a:schemeClr val="tx1"/>
                          </a:solidFill>
                          <a:effectLst/>
                        </a:rPr>
                        <a:t>Mis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-placement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541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(HBM </a:t>
                      </a:r>
                      <a:r>
                        <a:rPr lang="ko-KR" altLang="en-US" sz="1000" b="0" strike="noStrike" dirty="0">
                          <a:solidFill>
                            <a:schemeClr val="tx1"/>
                          </a:solidFill>
                        </a:rPr>
                        <a:t>사용량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GiB)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(토큰 비용, M/M, </a:t>
                      </a:r>
                      <a:r>
                        <a:rPr lang="ko-KR" altLang="en-US" sz="1000" b="0" strike="noStrike" dirty="0">
                          <a:solidFill>
                            <a:schemeClr val="tx1"/>
                          </a:solidFill>
                        </a:rPr>
                        <a:t>모듈 수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436(x1.298)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00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1128(x1.04), 18.3(x1.07)</a:t>
                      </a:r>
                      <a:endParaRPr lang="en-US" altLang="ko-KR" sz="1000" strike="noStrik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142.7(x0.97)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$0.39, 0.38, 1.75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(HBM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사용량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GiB)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 (토큰 비용, M/M,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모듈 수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478</a:t>
                      </a:r>
                      <a:r>
                        <a:rPr lang="en-US" altLang="ko-KR" sz="10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(x1.42)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785</a:t>
                      </a:r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(x0.72)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,16.0</a:t>
                      </a:r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(x0.94)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★☆☆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178</a:t>
                      </a:r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(x1.21)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 </a:t>
                      </a:r>
                      <a:r>
                        <a:rPr lang="en-US" altLang="ko-KR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$0.49, 0.51, 2.50</a:t>
                      </a:r>
                      <a:endParaRPr lang="en-US" altLang="ko-KR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이기종 메모리 기반 </a:t>
            </a:r>
            <a:r>
              <a:rPr lang="en-US" altLang="ko-KR" dirty="0"/>
              <a:t>Data Migration</a:t>
            </a:r>
            <a:r>
              <a:rPr lang="ko-KR" altLang="en-US" dirty="0"/>
              <a:t> 결정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이기종 메모리 환경에서 언제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무엇을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어느 </a:t>
            </a:r>
            <a:r>
              <a:rPr lang="en-US" altLang="ko-KR" sz="1400" b="1" dirty="0">
                <a:solidFill>
                  <a:schemeClr val="bg1"/>
                </a:solidFill>
              </a:rPr>
              <a:t>memory tier</a:t>
            </a:r>
            <a:r>
              <a:rPr lang="ko-KR" altLang="en-US" sz="1400" b="1" dirty="0">
                <a:solidFill>
                  <a:schemeClr val="bg1"/>
                </a:solidFill>
              </a:rPr>
              <a:t>로 이동할지 결정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“Data</a:t>
            </a:r>
            <a:r>
              <a:rPr lang="ko-KR" altLang="en-US" sz="1100" dirty="0"/>
              <a:t> 종류 관계없이 </a:t>
            </a:r>
            <a:r>
              <a:rPr lang="ko-KR" altLang="en-US" sz="1100" dirty="0">
                <a:solidFill>
                  <a:srgbClr val="0066FF"/>
                </a:solidFill>
              </a:rPr>
              <a:t>메모리</a:t>
            </a:r>
            <a:r>
              <a:rPr lang="en-US" altLang="ko-KR" sz="1100" dirty="0">
                <a:solidFill>
                  <a:srgbClr val="0066FF"/>
                </a:solidFill>
              </a:rPr>
              <a:t> </a:t>
            </a:r>
            <a:r>
              <a:rPr lang="ko-KR" altLang="en-US" sz="1100" dirty="0">
                <a:solidFill>
                  <a:srgbClr val="0066FF"/>
                </a:solidFill>
              </a:rPr>
              <a:t>자원 상태</a:t>
            </a:r>
            <a:r>
              <a:rPr lang="en-US" altLang="ko-KR" sz="1100" dirty="0">
                <a:solidFill>
                  <a:srgbClr val="0066FF"/>
                </a:solidFill>
              </a:rPr>
              <a:t>(Capacity/BW/Load)</a:t>
            </a:r>
            <a:r>
              <a:rPr lang="ko-KR" altLang="en-US" sz="1100" dirty="0"/>
              <a:t>에 우선한 </a:t>
            </a:r>
            <a:r>
              <a:rPr lang="en-US" altLang="ko-KR" sz="1100" dirty="0"/>
              <a:t>Migration“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en-US" altLang="ko-KR" sz="1100" dirty="0">
                <a:solidFill>
                  <a:srgbClr val="0066FF"/>
                </a:solidFill>
              </a:rPr>
              <a:t>AI Data</a:t>
            </a:r>
            <a:r>
              <a:rPr lang="ko-KR" altLang="en-US" sz="1100" dirty="0">
                <a:solidFill>
                  <a:srgbClr val="0066FF"/>
                </a:solidFill>
              </a:rPr>
              <a:t> 특성</a:t>
            </a:r>
            <a:r>
              <a:rPr lang="en-US" altLang="ko-KR" sz="1100" dirty="0">
                <a:solidFill>
                  <a:srgbClr val="0066FF"/>
                </a:solidFill>
              </a:rPr>
              <a:t>(Type/Hotness/Lifetime/Agent Tool Info </a:t>
            </a:r>
            <a:r>
              <a:rPr lang="ko-KR" altLang="en-US" sz="1100" dirty="0">
                <a:solidFill>
                  <a:srgbClr val="0066FF"/>
                </a:solidFill>
              </a:rPr>
              <a:t>등</a:t>
            </a:r>
            <a:r>
              <a:rPr lang="en-US" altLang="ko-KR" sz="1100" dirty="0">
                <a:solidFill>
                  <a:srgbClr val="0066FF"/>
                </a:solidFill>
              </a:rPr>
              <a:t>)</a:t>
            </a:r>
            <a:r>
              <a:rPr lang="ko-KR" altLang="en-US" sz="1100" dirty="0"/>
              <a:t>에 우선한 </a:t>
            </a:r>
            <a:r>
              <a:rPr lang="en-US" altLang="ko-KR" sz="1100" dirty="0"/>
              <a:t>Migration“</a:t>
            </a:r>
            <a:endParaRPr lang="ko-KR" altLang="en-US" sz="1100" dirty="0"/>
          </a:p>
        </p:txBody>
      </p:sp>
      <p:sp>
        <p:nvSpPr>
          <p:cNvPr id="140" name="직사각형 139"/>
          <p:cNvSpPr/>
          <p:nvPr/>
        </p:nvSpPr>
        <p:spPr>
          <a:xfrm>
            <a:off x="6521412" y="46469"/>
            <a:ext cx="14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(When, What, </a:t>
            </a:r>
          </a:p>
          <a:p>
            <a:r>
              <a:rPr lang="en-US" altLang="ko-KR" sz="1200" b="1" dirty="0"/>
              <a:t>Where to locate?)</a:t>
            </a:r>
            <a:endParaRPr lang="ko-KR" altLang="en-US" sz="1200" dirty="0"/>
          </a:p>
        </p:txBody>
      </p:sp>
      <p:sp>
        <p:nvSpPr>
          <p:cNvPr id="182" name="DecisionPlane"/>
          <p:cNvSpPr/>
          <p:nvPr/>
        </p:nvSpPr>
        <p:spPr>
          <a:xfrm>
            <a:off x="1335759" y="1959311"/>
            <a:ext cx="4919889" cy="12400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0" rtlCol="0" anchor="t">
            <a:noAutofit/>
          </a:bodyPr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Control Plane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83" name="DecisionPlane tab"/>
          <p:cNvSpPr/>
          <p:nvPr/>
        </p:nvSpPr>
        <p:spPr>
          <a:xfrm>
            <a:off x="1335759" y="1853363"/>
            <a:ext cx="251696" cy="1094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endParaRPr lang="ko-KR"/>
          </a:p>
        </p:txBody>
      </p:sp>
      <p:sp>
        <p:nvSpPr>
          <p:cNvPr id="184" name="KV Cache Manager"/>
          <p:cNvSpPr/>
          <p:nvPr/>
        </p:nvSpPr>
        <p:spPr>
          <a:xfrm>
            <a:off x="3164079" y="2193913"/>
            <a:ext cx="1475872" cy="789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t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Migration Policy Engine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85" name="KV Cache Manager"/>
          <p:cNvSpPr/>
          <p:nvPr/>
        </p:nvSpPr>
        <p:spPr>
          <a:xfrm>
            <a:off x="1495682" y="2183542"/>
            <a:ext cx="1528573" cy="2582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Migration Scheduler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187" name="① Event"/>
          <p:cNvCxnSpPr>
            <a:stCxn id="238" idx="1"/>
            <a:endCxn id="184" idx="3"/>
          </p:cNvCxnSpPr>
          <p:nvPr/>
        </p:nvCxnSpPr>
        <p:spPr>
          <a:xfrm rot="10800000" flipV="1">
            <a:off x="4639951" y="2357098"/>
            <a:ext cx="282218" cy="231496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grpSp>
        <p:nvGrpSpPr>
          <p:cNvPr id="226" name="그룹 225"/>
          <p:cNvGrpSpPr/>
          <p:nvPr/>
        </p:nvGrpSpPr>
        <p:grpSpPr>
          <a:xfrm>
            <a:off x="1338169" y="3397737"/>
            <a:ext cx="2307208" cy="1111995"/>
            <a:chOff x="1368902" y="2641933"/>
            <a:chExt cx="2323127" cy="1082212"/>
          </a:xfrm>
        </p:grpSpPr>
        <p:grpSp>
          <p:nvGrpSpPr>
            <p:cNvPr id="227" name="그룹 226"/>
            <p:cNvGrpSpPr/>
            <p:nvPr/>
          </p:nvGrpSpPr>
          <p:grpSpPr>
            <a:xfrm>
              <a:off x="1368902" y="2641933"/>
              <a:ext cx="2323127" cy="1082212"/>
              <a:chOff x="997398" y="2493864"/>
              <a:chExt cx="2436692" cy="1419981"/>
            </a:xfrm>
          </p:grpSpPr>
          <p:sp>
            <p:nvSpPr>
              <p:cNvPr id="229" name="DecisionPlane"/>
              <p:cNvSpPr/>
              <p:nvPr/>
            </p:nvSpPr>
            <p:spPr>
              <a:xfrm>
                <a:off x="997399" y="2621986"/>
                <a:ext cx="2436691" cy="129185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0" rtlCol="0" anchor="t"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Resource Plane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DecisionPlane tab"/>
              <p:cNvSpPr/>
              <p:nvPr/>
            </p:nvSpPr>
            <p:spPr>
              <a:xfrm>
                <a:off x="997398" y="2493864"/>
                <a:ext cx="264000" cy="131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>
                <a:noAutofit/>
              </a:bodyPr>
              <a:lstStyle/>
              <a:p>
                <a:endParaRPr lang="ko-KR"/>
              </a:p>
            </p:txBody>
          </p:sp>
          <p:sp>
            <p:nvSpPr>
              <p:cNvPr id="232" name="KV Cache Manager"/>
              <p:cNvSpPr/>
              <p:nvPr/>
            </p:nvSpPr>
            <p:spPr>
              <a:xfrm>
                <a:off x="1439913" y="2950432"/>
                <a:ext cx="1550000" cy="30909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>
                <a:noAutofit/>
              </a:bodyPr>
              <a:lstStyle/>
              <a:p>
                <a:pPr algn="ctr"/>
                <a:r>
                  <a:rPr lang="en-US" altLang="ko-KR" sz="900" b="1" dirty="0">
                    <a:solidFill>
                      <a:schemeClr val="tx1"/>
                    </a:solidFill>
                  </a:rPr>
                  <a:t>Resource State Monitor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KV Cache Manager"/>
              <p:cNvSpPr/>
              <p:nvPr/>
            </p:nvSpPr>
            <p:spPr>
              <a:xfrm>
                <a:off x="1183388" y="3469661"/>
                <a:ext cx="2063051" cy="309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>
                <a:noAutofit/>
              </a:bodyPr>
              <a:lstStyle/>
              <a:p>
                <a:pPr algn="ctr"/>
                <a:r>
                  <a:rPr lang="en-US" altLang="ko-KR" sz="900" b="1" dirty="0">
                    <a:solidFill>
                      <a:schemeClr val="tx1"/>
                    </a:solidFill>
                  </a:rPr>
                  <a:t>Resource-based Trend Analyzer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28" name="① Event"/>
            <p:cNvCxnSpPr>
              <a:stCxn id="232" idx="2"/>
              <a:endCxn id="233" idx="0"/>
            </p:cNvCxnSpPr>
            <p:nvPr/>
          </p:nvCxnSpPr>
          <p:spPr>
            <a:xfrm>
              <a:off x="2529673" y="3225468"/>
              <a:ext cx="1" cy="160152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</p:grpSp>
      <p:cxnSp>
        <p:nvCxnSpPr>
          <p:cNvPr id="234" name="① Event"/>
          <p:cNvCxnSpPr/>
          <p:nvPr/>
        </p:nvCxnSpPr>
        <p:spPr>
          <a:xfrm flipH="1">
            <a:off x="1956709" y="2440976"/>
            <a:ext cx="1" cy="1288392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238" name="KV Cache Manager"/>
          <p:cNvSpPr/>
          <p:nvPr/>
        </p:nvSpPr>
        <p:spPr>
          <a:xfrm>
            <a:off x="4922169" y="2200849"/>
            <a:ext cx="1219729" cy="3124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Data-Memory</a:t>
            </a: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Affinity Mapper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39" name="KV Cache Manager"/>
          <p:cNvSpPr/>
          <p:nvPr/>
        </p:nvSpPr>
        <p:spPr>
          <a:xfrm>
            <a:off x="4939051" y="2670778"/>
            <a:ext cx="1219729" cy="3124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Access Cost Estimator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240" name="① Event"/>
          <p:cNvCxnSpPr>
            <a:stCxn id="233" idx="3"/>
            <a:endCxn id="184" idx="2"/>
          </p:cNvCxnSpPr>
          <p:nvPr/>
        </p:nvCxnSpPr>
        <p:spPr>
          <a:xfrm flipV="1">
            <a:off x="3467698" y="2983274"/>
            <a:ext cx="434317" cy="1299641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242" name="KV Cache Manager"/>
          <p:cNvSpPr/>
          <p:nvPr/>
        </p:nvSpPr>
        <p:spPr>
          <a:xfrm>
            <a:off x="3304005" y="2572776"/>
            <a:ext cx="1219729" cy="2582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Migration Budget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243" name="① Event"/>
          <p:cNvCxnSpPr>
            <a:stCxn id="239" idx="1"/>
            <a:endCxn id="184" idx="3"/>
          </p:cNvCxnSpPr>
          <p:nvPr/>
        </p:nvCxnSpPr>
        <p:spPr>
          <a:xfrm rot="10800000">
            <a:off x="4639951" y="2588595"/>
            <a:ext cx="299100" cy="238433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grpSp>
        <p:nvGrpSpPr>
          <p:cNvPr id="248" name="그룹 247"/>
          <p:cNvGrpSpPr/>
          <p:nvPr/>
        </p:nvGrpSpPr>
        <p:grpSpPr>
          <a:xfrm>
            <a:off x="4308029" y="3331134"/>
            <a:ext cx="1858865" cy="1187640"/>
            <a:chOff x="4314807" y="3220931"/>
            <a:chExt cx="1858865" cy="1187640"/>
          </a:xfrm>
        </p:grpSpPr>
        <p:grpSp>
          <p:nvGrpSpPr>
            <p:cNvPr id="249" name="그룹 248"/>
            <p:cNvGrpSpPr/>
            <p:nvPr/>
          </p:nvGrpSpPr>
          <p:grpSpPr>
            <a:xfrm>
              <a:off x="4314807" y="3220931"/>
              <a:ext cx="1858865" cy="1187640"/>
              <a:chOff x="4168897" y="2550266"/>
              <a:chExt cx="1879320" cy="1795730"/>
            </a:xfrm>
          </p:grpSpPr>
          <p:sp>
            <p:nvSpPr>
              <p:cNvPr id="251" name="DecisionPlane"/>
              <p:cNvSpPr/>
              <p:nvPr/>
            </p:nvSpPr>
            <p:spPr>
              <a:xfrm>
                <a:off x="4168899" y="2678898"/>
                <a:ext cx="1879318" cy="166709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0" rtlCol="0" anchor="t"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Data </a:t>
                </a:r>
                <a:r>
                  <a:rPr lang="ko-KR" altLang="en-US" sz="1000" b="1" dirty="0" err="1">
                    <a:solidFill>
                      <a:schemeClr val="tx1"/>
                    </a:solidFill>
                  </a:rPr>
                  <a:t>Plane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2" name="DecisionPlane tab"/>
              <p:cNvSpPr/>
              <p:nvPr/>
            </p:nvSpPr>
            <p:spPr>
              <a:xfrm>
                <a:off x="4168897" y="2550266"/>
                <a:ext cx="264000" cy="131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>
                <a:noAutofit/>
              </a:bodyPr>
              <a:lstStyle/>
              <a:p>
                <a:endParaRPr lang="ko-KR"/>
              </a:p>
            </p:txBody>
          </p:sp>
          <p:sp>
            <p:nvSpPr>
              <p:cNvPr id="253" name="KV Cache Manager"/>
              <p:cNvSpPr/>
              <p:nvPr/>
            </p:nvSpPr>
            <p:spPr>
              <a:xfrm>
                <a:off x="4447534" y="3152142"/>
                <a:ext cx="1409091" cy="3400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>
                <a:noAutofit/>
              </a:bodyPr>
              <a:lstStyle/>
              <a:p>
                <a:pPr algn="ctr"/>
                <a:r>
                  <a:rPr lang="en-US" altLang="ko-KR" sz="900" b="1" dirty="0">
                    <a:solidFill>
                      <a:schemeClr val="tx1"/>
                    </a:solidFill>
                  </a:rPr>
                  <a:t>Migration Executor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KV Cache Manager"/>
              <p:cNvSpPr/>
              <p:nvPr/>
            </p:nvSpPr>
            <p:spPr>
              <a:xfrm>
                <a:off x="4447534" y="3793018"/>
                <a:ext cx="1409091" cy="34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>
                <a:noAutofit/>
              </a:bodyPr>
              <a:lstStyle/>
              <a:p>
                <a:pPr algn="ctr"/>
                <a:r>
                  <a:rPr lang="en-US" altLang="ko-KR" sz="900" b="1" dirty="0">
                    <a:solidFill>
                      <a:schemeClr val="tx1"/>
                    </a:solidFill>
                  </a:rPr>
                  <a:t>Transfer Handler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50" name="① Event"/>
            <p:cNvCxnSpPr/>
            <p:nvPr/>
          </p:nvCxnSpPr>
          <p:spPr>
            <a:xfrm>
              <a:off x="5287288" y="3843859"/>
              <a:ext cx="0" cy="19899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</p:grpSp>
      <p:sp>
        <p:nvSpPr>
          <p:cNvPr id="256" name="직사각형 255"/>
          <p:cNvSpPr/>
          <p:nvPr/>
        </p:nvSpPr>
        <p:spPr>
          <a:xfrm>
            <a:off x="1428751" y="1987962"/>
            <a:ext cx="1660102" cy="20005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Control/Decision: Event push(</a:t>
            </a:r>
            <a:r>
              <a:rPr lang="en-US" altLang="ko-KR" sz="700" dirty="0" err="1">
                <a:solidFill>
                  <a:schemeClr val="bg1">
                    <a:lumMod val="50000"/>
                  </a:schemeClr>
                </a:solidFill>
              </a:rPr>
              <a:t>async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7" name="직사각형 256"/>
          <p:cNvSpPr/>
          <p:nvPr/>
        </p:nvSpPr>
        <p:spPr>
          <a:xfrm>
            <a:off x="4522771" y="4340716"/>
            <a:ext cx="1529033" cy="20005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Data Transfer: Background DMA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8" name="그룹 257"/>
          <p:cNvGrpSpPr/>
          <p:nvPr/>
        </p:nvGrpSpPr>
        <p:grpSpPr>
          <a:xfrm>
            <a:off x="7146041" y="3067164"/>
            <a:ext cx="1919939" cy="1090190"/>
            <a:chOff x="1208848" y="2542921"/>
            <a:chExt cx="2013795" cy="1376305"/>
          </a:xfrm>
        </p:grpSpPr>
        <p:sp>
          <p:nvSpPr>
            <p:cNvPr id="260" name="DecisionPlane"/>
            <p:cNvSpPr/>
            <p:nvPr/>
          </p:nvSpPr>
          <p:spPr>
            <a:xfrm>
              <a:off x="1208848" y="2678899"/>
              <a:ext cx="2013795" cy="124032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0" rtlCol="0" anchor="t"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Resource Plane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61" name="DecisionPlane tab"/>
            <p:cNvSpPr/>
            <p:nvPr/>
          </p:nvSpPr>
          <p:spPr>
            <a:xfrm>
              <a:off x="1208848" y="2542921"/>
              <a:ext cx="264000" cy="13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endParaRPr lang="ko-KR"/>
            </a:p>
          </p:txBody>
        </p:sp>
        <p:sp>
          <p:nvSpPr>
            <p:cNvPr id="262" name="KV Cache Manager"/>
            <p:cNvSpPr/>
            <p:nvPr/>
          </p:nvSpPr>
          <p:spPr>
            <a:xfrm>
              <a:off x="1508045" y="3262257"/>
              <a:ext cx="1409091" cy="2554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Telemetry Collector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63" name="KV Cache Manager"/>
            <p:cNvSpPr/>
            <p:nvPr/>
          </p:nvSpPr>
          <p:spPr>
            <a:xfrm>
              <a:off x="1508043" y="3597267"/>
              <a:ext cx="1409091" cy="2554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Memory Registry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64" name="KV Cache Manager"/>
            <p:cNvSpPr/>
            <p:nvPr/>
          </p:nvSpPr>
          <p:spPr>
            <a:xfrm>
              <a:off x="1508045" y="2930973"/>
              <a:ext cx="1409091" cy="25544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Data Object Registry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5" name="그룹 264"/>
          <p:cNvGrpSpPr/>
          <p:nvPr/>
        </p:nvGrpSpPr>
        <p:grpSpPr>
          <a:xfrm>
            <a:off x="9626708" y="3178189"/>
            <a:ext cx="1891050" cy="1160450"/>
            <a:chOff x="4173997" y="2581540"/>
            <a:chExt cx="1983494" cy="1477340"/>
          </a:xfrm>
        </p:grpSpPr>
        <p:sp>
          <p:nvSpPr>
            <p:cNvPr id="266" name="DecisionPlane"/>
            <p:cNvSpPr/>
            <p:nvPr/>
          </p:nvSpPr>
          <p:spPr>
            <a:xfrm>
              <a:off x="4173997" y="2708259"/>
              <a:ext cx="1983494" cy="135062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0" rtlCol="0" anchor="t"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Data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Plane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67" name="DecisionPlane tab"/>
            <p:cNvSpPr/>
            <p:nvPr/>
          </p:nvSpPr>
          <p:spPr>
            <a:xfrm>
              <a:off x="4176509" y="2581540"/>
              <a:ext cx="264000" cy="130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endParaRPr lang="ko-KR"/>
            </a:p>
          </p:txBody>
        </p:sp>
        <p:sp>
          <p:nvSpPr>
            <p:cNvPr id="268" name="KV Cache Manager"/>
            <p:cNvSpPr/>
            <p:nvPr/>
          </p:nvSpPr>
          <p:spPr>
            <a:xfrm>
              <a:off x="4493949" y="3060767"/>
              <a:ext cx="1409091" cy="280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Migration Executor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69" name="KV Cache Manager"/>
            <p:cNvSpPr/>
            <p:nvPr/>
          </p:nvSpPr>
          <p:spPr>
            <a:xfrm>
              <a:off x="4493807" y="3584303"/>
              <a:ext cx="1409091" cy="280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Transfer Handler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74" name="① Event"/>
          <p:cNvCxnSpPr>
            <a:stCxn id="268" idx="2"/>
            <a:endCxn id="269" idx="0"/>
          </p:cNvCxnSpPr>
          <p:nvPr/>
        </p:nvCxnSpPr>
        <p:spPr>
          <a:xfrm flipH="1">
            <a:off x="10603321" y="3775340"/>
            <a:ext cx="135" cy="19051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sp>
        <p:nvSpPr>
          <p:cNvPr id="275" name="KV Cache Manager"/>
          <p:cNvSpPr/>
          <p:nvPr/>
        </p:nvSpPr>
        <p:spPr>
          <a:xfrm>
            <a:off x="6913701" y="4298076"/>
            <a:ext cx="2379948" cy="21344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Common Memory Backend Interface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276" name="① Event"/>
          <p:cNvCxnSpPr>
            <a:stCxn id="275" idx="0"/>
            <a:endCxn id="260" idx="2"/>
          </p:cNvCxnSpPr>
          <p:nvPr/>
        </p:nvCxnSpPr>
        <p:spPr>
          <a:xfrm flipV="1">
            <a:off x="8103675" y="4157354"/>
            <a:ext cx="2336" cy="14072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277" name="① Event"/>
          <p:cNvCxnSpPr>
            <a:stCxn id="268" idx="1"/>
            <a:endCxn id="262" idx="3"/>
          </p:cNvCxnSpPr>
          <p:nvPr/>
        </p:nvCxnSpPr>
        <p:spPr>
          <a:xfrm rot="10800000" flipV="1">
            <a:off x="8774711" y="3664980"/>
            <a:ext cx="1157036" cy="73151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cxnSp>
        <p:nvCxnSpPr>
          <p:cNvPr id="278" name="① Event"/>
          <p:cNvCxnSpPr>
            <a:stCxn id="268" idx="1"/>
            <a:endCxn id="263" idx="3"/>
          </p:cNvCxnSpPr>
          <p:nvPr/>
        </p:nvCxnSpPr>
        <p:spPr>
          <a:xfrm rot="10800000" flipV="1">
            <a:off x="8774711" y="3664980"/>
            <a:ext cx="1157037" cy="338517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grpSp>
        <p:nvGrpSpPr>
          <p:cNvPr id="279" name="그룹 278"/>
          <p:cNvGrpSpPr/>
          <p:nvPr/>
        </p:nvGrpSpPr>
        <p:grpSpPr>
          <a:xfrm>
            <a:off x="6819037" y="1736827"/>
            <a:ext cx="4919889" cy="1623134"/>
            <a:chOff x="6819037" y="1867402"/>
            <a:chExt cx="4919889" cy="1623134"/>
          </a:xfrm>
        </p:grpSpPr>
        <p:sp>
          <p:nvSpPr>
            <p:cNvPr id="280" name="DecisionPlane"/>
            <p:cNvSpPr/>
            <p:nvPr/>
          </p:nvSpPr>
          <p:spPr>
            <a:xfrm>
              <a:off x="6819037" y="1973349"/>
              <a:ext cx="4919889" cy="113222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0" rtlCol="0" anchor="t"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Control Plane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81" name="DecisionPlane tab"/>
            <p:cNvSpPr/>
            <p:nvPr/>
          </p:nvSpPr>
          <p:spPr>
            <a:xfrm>
              <a:off x="6819037" y="1867402"/>
              <a:ext cx="251696" cy="10945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endParaRPr lang="ko-KR"/>
            </a:p>
          </p:txBody>
        </p:sp>
        <p:sp>
          <p:nvSpPr>
            <p:cNvPr id="282" name="KV Cache Manager"/>
            <p:cNvSpPr/>
            <p:nvPr/>
          </p:nvSpPr>
          <p:spPr>
            <a:xfrm>
              <a:off x="8552755" y="2242205"/>
              <a:ext cx="1343743" cy="3124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Data behavior Monitor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83" name="KV Cache Manager"/>
            <p:cNvSpPr/>
            <p:nvPr/>
          </p:nvSpPr>
          <p:spPr>
            <a:xfrm>
              <a:off x="10288514" y="2693105"/>
              <a:ext cx="1341702" cy="3124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Migration Policy Engine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84" name="KV Cache Manager"/>
            <p:cNvSpPr/>
            <p:nvPr/>
          </p:nvSpPr>
          <p:spPr>
            <a:xfrm>
              <a:off x="6940505" y="2246618"/>
              <a:ext cx="1148440" cy="3124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Migration Scheduler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85" name="① Event"/>
            <p:cNvCxnSpPr>
              <a:endCxn id="282" idx="1"/>
            </p:cNvCxnSpPr>
            <p:nvPr/>
          </p:nvCxnSpPr>
          <p:spPr>
            <a:xfrm>
              <a:off x="8088946" y="2398454"/>
              <a:ext cx="463809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  <p:cxnSp>
          <p:nvCxnSpPr>
            <p:cNvPr id="286" name="① Event"/>
            <p:cNvCxnSpPr>
              <a:stCxn id="288" idx="2"/>
              <a:endCxn id="283" idx="0"/>
            </p:cNvCxnSpPr>
            <p:nvPr/>
          </p:nvCxnSpPr>
          <p:spPr>
            <a:xfrm>
              <a:off x="10951301" y="2554703"/>
              <a:ext cx="8064" cy="138402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  <p:sp>
          <p:nvSpPr>
            <p:cNvPr id="287" name="KV Cache Manager"/>
            <p:cNvSpPr/>
            <p:nvPr/>
          </p:nvSpPr>
          <p:spPr>
            <a:xfrm>
              <a:off x="8552755" y="2706796"/>
              <a:ext cx="1343743" cy="3124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Behavior-based Trend Analyzer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288" name="KV Cache Manager"/>
            <p:cNvSpPr/>
            <p:nvPr/>
          </p:nvSpPr>
          <p:spPr>
            <a:xfrm>
              <a:off x="10279429" y="2242205"/>
              <a:ext cx="1343743" cy="3124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</a:rPr>
                <a:t>Behavior Predictor</a:t>
              </a:r>
              <a:endParaRPr lang="ko-KR" altLang="en-US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89" name="① Event"/>
            <p:cNvCxnSpPr>
              <a:stCxn id="282" idx="2"/>
              <a:endCxn id="287" idx="0"/>
            </p:cNvCxnSpPr>
            <p:nvPr/>
          </p:nvCxnSpPr>
          <p:spPr>
            <a:xfrm>
              <a:off x="9224627" y="2554703"/>
              <a:ext cx="0" cy="15209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  <p:cxnSp>
          <p:nvCxnSpPr>
            <p:cNvPr id="290" name="① Event"/>
            <p:cNvCxnSpPr>
              <a:stCxn id="287" idx="3"/>
              <a:endCxn id="288" idx="1"/>
            </p:cNvCxnSpPr>
            <p:nvPr/>
          </p:nvCxnSpPr>
          <p:spPr>
            <a:xfrm flipV="1">
              <a:off x="9896498" y="2398454"/>
              <a:ext cx="382931" cy="46459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  <p:cxnSp>
          <p:nvCxnSpPr>
            <p:cNvPr id="291" name="① Event"/>
            <p:cNvCxnSpPr>
              <a:stCxn id="282" idx="1"/>
            </p:cNvCxnSpPr>
            <p:nvPr/>
          </p:nvCxnSpPr>
          <p:spPr>
            <a:xfrm rot="10800000" flipV="1">
              <a:off x="8273739" y="2398454"/>
              <a:ext cx="279016" cy="1092082"/>
            </a:xfrm>
            <a:prstGeom prst="bentConnector2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</p:spPr>
        </p:cxnSp>
      </p:grpSp>
      <p:cxnSp>
        <p:nvCxnSpPr>
          <p:cNvPr id="292" name="① Event"/>
          <p:cNvCxnSpPr>
            <a:stCxn id="283" idx="2"/>
          </p:cNvCxnSpPr>
          <p:nvPr/>
        </p:nvCxnSpPr>
        <p:spPr>
          <a:xfrm>
            <a:off x="10959365" y="2875027"/>
            <a:ext cx="0" cy="679594"/>
          </a:xfrm>
          <a:prstGeom prst="line">
            <a:avLst/>
          </a:prstGeom>
          <a:ln w="9525">
            <a:solidFill>
              <a:schemeClr val="tx1"/>
            </a:solidFill>
            <a:prstDash val="dash"/>
            <a:tailEnd type="arrow"/>
          </a:ln>
        </p:spPr>
      </p:cxnSp>
      <p:sp>
        <p:nvSpPr>
          <p:cNvPr id="293" name="직사각형 292"/>
          <p:cNvSpPr/>
          <p:nvPr/>
        </p:nvSpPr>
        <p:spPr>
          <a:xfrm>
            <a:off x="6855862" y="1919400"/>
            <a:ext cx="1605388" cy="20005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Control/Decision: Event push(</a:t>
            </a:r>
            <a:r>
              <a:rPr lang="en-US" altLang="ko-KR" sz="700" dirty="0" err="1">
                <a:solidFill>
                  <a:schemeClr val="bg1">
                    <a:lumMod val="50000"/>
                  </a:schemeClr>
                </a:solidFill>
              </a:rPr>
              <a:t>async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4" name="직사각형 293"/>
          <p:cNvSpPr/>
          <p:nvPr/>
        </p:nvSpPr>
        <p:spPr>
          <a:xfrm>
            <a:off x="9854376" y="4148915"/>
            <a:ext cx="1529033" cy="20005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Data Transfer: Background DMA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605858" y="1090462"/>
            <a:ext cx="5376592" cy="5623728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모서리가 둥근 직사각형 37">
            <a:extLst>
              <a:ext uri="{FF2B5EF4-FFF2-40B4-BE49-F238E27FC236}">
                <a16:creationId xmlns:a16="http://schemas.microsoft.com/office/drawing/2014/main" id="{417B821A-6BD1-4494-A3DB-3C97F9749DDD}"/>
              </a:ext>
            </a:extLst>
          </p:cNvPr>
          <p:cNvSpPr/>
          <p:nvPr/>
        </p:nvSpPr>
        <p:spPr>
          <a:xfrm>
            <a:off x="7583966" y="617897"/>
            <a:ext cx="1101936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메모리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tier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간 복사</a:t>
            </a:r>
          </a:p>
        </p:txBody>
      </p:sp>
      <p:sp>
        <p:nvSpPr>
          <p:cNvPr id="87" name="모서리가 둥근 직사각형 37">
            <a:extLst>
              <a:ext uri="{FF2B5EF4-FFF2-40B4-BE49-F238E27FC236}">
                <a16:creationId xmlns:a16="http://schemas.microsoft.com/office/drawing/2014/main" id="{9FE1C5FB-8F4A-45B4-856E-6159278697A5}"/>
              </a:ext>
            </a:extLst>
          </p:cNvPr>
          <p:cNvSpPr/>
          <p:nvPr/>
        </p:nvSpPr>
        <p:spPr>
          <a:xfrm>
            <a:off x="7497631" y="815820"/>
            <a:ext cx="119473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solidFill>
                  <a:schemeClr val="bg1"/>
                </a:solidFill>
                <a:latin typeface="맑은 고딕"/>
              </a:rPr>
              <a:t>데이터 이동 스케줄링</a:t>
            </a:r>
            <a:endParaRPr lang="ko-KR" altLang="en-US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모서리가 둥근 직사각형 37">
            <a:extLst>
              <a:ext uri="{FF2B5EF4-FFF2-40B4-BE49-F238E27FC236}">
                <a16:creationId xmlns:a16="http://schemas.microsoft.com/office/drawing/2014/main" id="{2C85F29C-5533-493D-93D7-CCFFBE236B11}"/>
              </a:ext>
            </a:extLst>
          </p:cNvPr>
          <p:cNvSpPr/>
          <p:nvPr/>
        </p:nvSpPr>
        <p:spPr>
          <a:xfrm>
            <a:off x="8817795" y="613358"/>
            <a:ext cx="772631" cy="16274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F7 </a:t>
            </a:r>
            <a:r>
              <a:rPr lang="en-US" altLang="ko-KR" sz="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89" name="모서리가 둥근 직사각형 37">
            <a:extLst>
              <a:ext uri="{FF2B5EF4-FFF2-40B4-BE49-F238E27FC236}">
                <a16:creationId xmlns:a16="http://schemas.microsoft.com/office/drawing/2014/main" id="{0553D3DF-E52D-42C8-A5E9-8DCC0726A6BD}"/>
              </a:ext>
            </a:extLst>
          </p:cNvPr>
          <p:cNvSpPr/>
          <p:nvPr/>
        </p:nvSpPr>
        <p:spPr>
          <a:xfrm>
            <a:off x="8727279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90" name="모서리가 둥근 직사각형 37">
            <a:extLst>
              <a:ext uri="{FF2B5EF4-FFF2-40B4-BE49-F238E27FC236}">
                <a16:creationId xmlns:a16="http://schemas.microsoft.com/office/drawing/2014/main" id="{FE6444A3-81BD-43D3-BDB3-2209EE6269B3}"/>
              </a:ext>
            </a:extLst>
          </p:cNvPr>
          <p:cNvSpPr/>
          <p:nvPr/>
        </p:nvSpPr>
        <p:spPr>
          <a:xfrm>
            <a:off x="9636626" y="813626"/>
            <a:ext cx="62876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Latency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91" name="모서리가 둥근 직사각형 37">
            <a:extLst>
              <a:ext uri="{FF2B5EF4-FFF2-40B4-BE49-F238E27FC236}">
                <a16:creationId xmlns:a16="http://schemas.microsoft.com/office/drawing/2014/main" id="{08551BD6-BE50-4375-9AF9-E34E3E37AB0B}"/>
              </a:ext>
            </a:extLst>
          </p:cNvPr>
          <p:cNvSpPr/>
          <p:nvPr/>
        </p:nvSpPr>
        <p:spPr>
          <a:xfrm>
            <a:off x="10306660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92" name="모서리가 둥근 직사각형 37">
            <a:extLst>
              <a:ext uri="{FF2B5EF4-FFF2-40B4-BE49-F238E27FC236}">
                <a16:creationId xmlns:a16="http://schemas.microsoft.com/office/drawing/2014/main" id="{9CC04034-DEE9-4C9A-B3C1-336F766A5A8F}"/>
              </a:ext>
            </a:extLst>
          </p:cNvPr>
          <p:cNvSpPr/>
          <p:nvPr/>
        </p:nvSpPr>
        <p:spPr>
          <a:xfrm>
            <a:off x="11196246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변경용이성</a:t>
            </a:r>
          </a:p>
        </p:txBody>
      </p:sp>
      <p:sp>
        <p:nvSpPr>
          <p:cNvPr id="93" name="모서리가 둥근 직사각형 37">
            <a:extLst>
              <a:ext uri="{FF2B5EF4-FFF2-40B4-BE49-F238E27FC236}">
                <a16:creationId xmlns:a16="http://schemas.microsoft.com/office/drawing/2014/main" id="{B8713FCC-615B-4D3E-88F8-81D5D145FBB1}"/>
              </a:ext>
            </a:extLst>
          </p:cNvPr>
          <p:cNvSpPr/>
          <p:nvPr/>
        </p:nvSpPr>
        <p:spPr>
          <a:xfrm>
            <a:off x="9713845" y="616927"/>
            <a:ext cx="979555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</a:t>
            </a:r>
            <a:r>
              <a:rPr lang="ko-KR" altLang="en-US" sz="700" dirty="0"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latin typeface="맑은 고딕" panose="020B0503020000020004" pitchFamily="50" charset="-127"/>
              </a:rPr>
              <a:t>Device</a:t>
            </a:r>
            <a:r>
              <a:rPr lang="ko-KR" altLang="en-US" sz="700" dirty="0"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latin typeface="맑은 고딕" panose="020B0503020000020004" pitchFamily="50" charset="-127"/>
              </a:rPr>
              <a:t>SW</a:t>
            </a:r>
            <a:r>
              <a:rPr lang="ko-KR" altLang="en-US" sz="700" dirty="0">
                <a:latin typeface="맑은 고딕" panose="020B0503020000020004" pitchFamily="50" charset="-127"/>
              </a:rPr>
              <a:t> 제약</a:t>
            </a:r>
          </a:p>
        </p:txBody>
      </p:sp>
      <p:sp>
        <p:nvSpPr>
          <p:cNvPr id="94" name="모서리가 둥근 직사각형 37">
            <a:extLst>
              <a:ext uri="{FF2B5EF4-FFF2-40B4-BE49-F238E27FC236}">
                <a16:creationId xmlns:a16="http://schemas.microsoft.com/office/drawing/2014/main" id="{3E798323-B6FB-41AC-B5BE-6A31A679A67C}"/>
              </a:ext>
            </a:extLst>
          </p:cNvPr>
          <p:cNvSpPr/>
          <p:nvPr/>
        </p:nvSpPr>
        <p:spPr>
          <a:xfrm>
            <a:off x="10754020" y="616927"/>
            <a:ext cx="1203031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C2</a:t>
            </a:r>
            <a:r>
              <a:rPr lang="ko-KR" altLang="en-US" sz="700" dirty="0"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latin typeface="맑은 고딕" panose="020B0503020000020004" pitchFamily="50" charset="-127"/>
              </a:rPr>
              <a:t>Simulation </a:t>
            </a:r>
            <a:r>
              <a:rPr lang="ko-KR" altLang="en-US" sz="700" dirty="0">
                <a:latin typeface="맑은 고딕" panose="020B0503020000020004" pitchFamily="50" charset="-127"/>
              </a:rPr>
              <a:t>기반 평가</a:t>
            </a:r>
          </a:p>
        </p:txBody>
      </p:sp>
    </p:spTree>
    <p:extLst>
      <p:ext uri="{BB962C8B-B14F-4D97-AF65-F5344CB8AC3E}">
        <p14:creationId xmlns:p14="http://schemas.microsoft.com/office/powerpoint/2010/main" val="2148735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DP2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217754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906670"/>
              </p:ext>
            </p:extLst>
          </p:nvPr>
        </p:nvGraphicFramePr>
        <p:xfrm>
          <a:off x="249035" y="1044054"/>
          <a:ext cx="11759184" cy="51486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39242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스케줄링 시점 결정 </a:t>
                      </a:r>
                      <a:r>
                        <a:rPr lang="en-US" altLang="ko-KR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(Client-Dispatcher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구조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사전 계획 결정 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(Shared Repository </a:t>
                      </a:r>
                      <a:r>
                        <a:rPr lang="ko-KR" altLang="en-US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구조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최신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상태와 실제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batch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반영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Latest load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반영하여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utilization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유리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Prefill/Decode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실행 위치 계산을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critical path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밖으로 분리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연산 자원 증가 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Cost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계산 복잡도 증가 시 유리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Scheduler critical path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Cost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계산 포함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연산 자원 증가 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Cost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계산 복잡도 증가 시 성능 저하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계획 시점과 실행 시점 상태 차이로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validation/re-planning overhead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mis-selection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가능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(tokens/second)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-TTFT,TPOT)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토큰 비용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M/M,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모듈 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954(x1.66)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984(x0.40), 12.0(x1.35)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$0.34, 0.27, 1.50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(tokens/second)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-TTFT,TPOT)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토큰 비용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M/M,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모듈 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956(x1.66)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1,015(x0.41), 12.0(x1.35)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$0.36, 0.31, 1.75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8206878" cy="365125"/>
          </a:xfrm>
        </p:spPr>
        <p:txBody>
          <a:bodyPr/>
          <a:lstStyle/>
          <a:p>
            <a:r>
              <a:rPr lang="en-US" altLang="ko-KR" dirty="0"/>
              <a:t>DP2. </a:t>
            </a:r>
            <a:r>
              <a:rPr lang="ko-KR" altLang="en-US" dirty="0"/>
              <a:t>이기종 메모리 환경의 연산</a:t>
            </a:r>
            <a:r>
              <a:rPr lang="en-US" altLang="ko-KR" dirty="0"/>
              <a:t>(Prefill/Decode) </a:t>
            </a:r>
            <a:r>
              <a:rPr lang="ko-KR" altLang="en-US" dirty="0"/>
              <a:t>실행 위치 결정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연산 가능 후보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조합에 대해 Cost를 계산하고 Turn별 실행 위치를 결정하는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스케줄링하는 시점에 </a:t>
            </a:r>
            <a:r>
              <a:rPr lang="en-US" altLang="ko-KR" sz="1100" dirty="0"/>
              <a:t>Cost</a:t>
            </a:r>
            <a:r>
              <a:rPr lang="ko-KR" altLang="en-US" sz="1100" dirty="0"/>
              <a:t>를 계산하여 </a:t>
            </a:r>
            <a:r>
              <a:rPr lang="en-US" altLang="ko-KR" sz="1100" dirty="0"/>
              <a:t>Prefill/Decode </a:t>
            </a:r>
            <a:r>
              <a:rPr lang="ko-KR" altLang="en-US" sz="1100" dirty="0"/>
              <a:t>실행 위치 결정 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“Request</a:t>
            </a:r>
            <a:r>
              <a:rPr lang="ko-KR" altLang="en-US" sz="1100" dirty="0"/>
              <a:t>가 </a:t>
            </a:r>
            <a:r>
              <a:rPr lang="en-US" altLang="ko-KR" sz="1100" dirty="0"/>
              <a:t>waiting </a:t>
            </a:r>
            <a:r>
              <a:rPr lang="ko-KR" altLang="en-US" sz="1100" dirty="0"/>
              <a:t>상태에 있을 때 </a:t>
            </a:r>
            <a:r>
              <a:rPr lang="en-US" altLang="ko-KR" sz="1100" dirty="0"/>
              <a:t>Cost</a:t>
            </a:r>
            <a:r>
              <a:rPr lang="ko-KR" altLang="en-US" sz="1100" dirty="0"/>
              <a:t>를 미리 계산하여 </a:t>
            </a:r>
            <a:r>
              <a:rPr lang="en-US" altLang="ko-KR" sz="1100" dirty="0"/>
              <a:t>Prefill/Decode </a:t>
            </a:r>
            <a:r>
              <a:rPr lang="ko-KR" altLang="en-US" sz="1100" dirty="0"/>
              <a:t>실행 위치 결정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872267" y="522147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720FB538-39AD-4DFE-A22C-165BAB71ACE9}"/>
              </a:ext>
            </a:extLst>
          </p:cNvPr>
          <p:cNvGrpSpPr/>
          <p:nvPr/>
        </p:nvGrpSpPr>
        <p:grpSpPr>
          <a:xfrm>
            <a:off x="1769157" y="1653568"/>
            <a:ext cx="3850923" cy="2840274"/>
            <a:chOff x="2540917" y="1891482"/>
            <a:chExt cx="3850923" cy="2840274"/>
          </a:xfrm>
        </p:grpSpPr>
        <p:sp>
          <p:nvSpPr>
            <p:cNvPr id="112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3721280" y="1891482"/>
              <a:ext cx="1411795" cy="292607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Request Scheduler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23D65B1-2DBC-45BA-89D9-DF8AE2802551}"/>
                </a:ext>
              </a:extLst>
            </p:cNvPr>
            <p:cNvGrpSpPr/>
            <p:nvPr/>
          </p:nvGrpSpPr>
          <p:grpSpPr>
            <a:xfrm>
              <a:off x="3012045" y="2342737"/>
              <a:ext cx="2830275" cy="1425805"/>
              <a:chOff x="1371273" y="2785393"/>
              <a:chExt cx="2572977" cy="1178351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55E86E1C-7256-4E05-BD39-53AA3DC3041A}"/>
                  </a:ext>
                </a:extLst>
              </p:cNvPr>
              <p:cNvGrpSpPr/>
              <p:nvPr/>
            </p:nvGrpSpPr>
            <p:grpSpPr>
              <a:xfrm>
                <a:off x="1371281" y="2985575"/>
                <a:ext cx="2572969" cy="978169"/>
                <a:chOff x="2866277" y="1960495"/>
                <a:chExt cx="1933110" cy="978169"/>
              </a:xfrm>
            </p:grpSpPr>
            <p:sp>
              <p:nvSpPr>
                <p:cNvPr id="115" name="Shape 39">
                  <a:extLst>
                    <a:ext uri="{FF2B5EF4-FFF2-40B4-BE49-F238E27FC236}">
                      <a16:creationId xmlns:a16="http://schemas.microsoft.com/office/drawing/2014/main" id="{6868F6CD-24B6-42CB-9385-562D6F007FDF}"/>
                    </a:ext>
                  </a:extLst>
                </p:cNvPr>
                <p:cNvSpPr/>
                <p:nvPr/>
              </p:nvSpPr>
              <p:spPr>
                <a:xfrm>
                  <a:off x="2866277" y="1960495"/>
                  <a:ext cx="1933110" cy="978169"/>
                </a:xfrm>
                <a:prstGeom prst="rect">
                  <a:avLst/>
                </a:prstGeom>
                <a:solidFill>
                  <a:srgbClr val="D9EAF7">
                    <a:alpha val="98000"/>
                  </a:srgbClr>
                </a:solidFill>
                <a:ln w="15240">
                  <a:solidFill>
                    <a:srgbClr val="2F75B5"/>
                  </a:solidFill>
                  <a:prstDash val="solid"/>
                </a:ln>
              </p:spPr>
            </p:sp>
            <p:sp>
              <p:nvSpPr>
                <p:cNvPr id="116" name="Shape 39">
                  <a:extLst>
                    <a:ext uri="{FF2B5EF4-FFF2-40B4-BE49-F238E27FC236}">
                      <a16:creationId xmlns:a16="http://schemas.microsoft.com/office/drawing/2014/main" id="{F7D82DE9-0B6E-4CB1-A5F0-9E4D7591B816}"/>
                    </a:ext>
                  </a:extLst>
                </p:cNvPr>
                <p:cNvSpPr/>
                <p:nvPr/>
              </p:nvSpPr>
              <p:spPr>
                <a:xfrm>
                  <a:off x="3300960" y="2609060"/>
                  <a:ext cx="1044935" cy="231426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D7EA8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Cost Evaluator</a:t>
                  </a:r>
                </a:p>
              </p:txBody>
            </p:sp>
            <p:sp>
              <p:nvSpPr>
                <p:cNvPr id="117" name="Shape 37">
                  <a:extLst>
                    <a:ext uri="{FF2B5EF4-FFF2-40B4-BE49-F238E27FC236}">
                      <a16:creationId xmlns:a16="http://schemas.microsoft.com/office/drawing/2014/main" id="{306B7634-9A5E-4F0E-A947-927E7282352F}"/>
                    </a:ext>
                  </a:extLst>
                </p:cNvPr>
                <p:cNvSpPr/>
                <p:nvPr/>
              </p:nvSpPr>
              <p:spPr>
                <a:xfrm>
                  <a:off x="3924097" y="2058739"/>
                  <a:ext cx="784060" cy="270187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D7EA8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</a:rPr>
                    <a:t>Resource State</a:t>
                  </a:r>
                </a:p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</a:rPr>
                    <a:t>Monitor</a:t>
                  </a:r>
                  <a:endPara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A1A1A"/>
                    </a:solidFill>
                    <a:effectLst/>
                    <a:uLnTx/>
                    <a:uFillTx/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  <p:cxnSp>
              <p:nvCxnSpPr>
                <p:cNvPr id="118" name="직선 화살표 연결선 185">
                  <a:extLst>
                    <a:ext uri="{FF2B5EF4-FFF2-40B4-BE49-F238E27FC236}">
                      <a16:creationId xmlns:a16="http://schemas.microsoft.com/office/drawing/2014/main" id="{63055888-A989-4681-8232-E5AD42EA4D88}"/>
                    </a:ext>
                  </a:extLst>
                </p:cNvPr>
                <p:cNvCxnSpPr>
                  <a:cxnSpLocks/>
                  <a:stCxn id="116" idx="0"/>
                  <a:endCxn id="117" idx="2"/>
                </p:cNvCxnSpPr>
                <p:nvPr/>
              </p:nvCxnSpPr>
              <p:spPr>
                <a:xfrm rot="5400000" flipH="1" flipV="1">
                  <a:off x="3929710" y="2222643"/>
                  <a:ext cx="280134" cy="492699"/>
                </a:xfrm>
                <a:prstGeom prst="bentConnector3">
                  <a:avLst>
                    <a:gd name="adj1" fmla="val 50000"/>
                  </a:avLst>
                </a:prstGeom>
                <a:noFill/>
                <a:ln w="11430">
                  <a:solidFill>
                    <a:schemeClr val="accent1"/>
                  </a:solidFill>
                  <a:prstDash val="solid"/>
                  <a:headEnd type="triangle" w="med" len="med"/>
                  <a:tailEnd type="none" w="med" len="med"/>
                </a:ln>
              </p:spPr>
            </p:cxnSp>
            <p:sp>
              <p:nvSpPr>
                <p:cNvPr id="71" name="Shape 37">
                  <a:extLst>
                    <a:ext uri="{FF2B5EF4-FFF2-40B4-BE49-F238E27FC236}">
                      <a16:creationId xmlns:a16="http://schemas.microsoft.com/office/drawing/2014/main" id="{306B7634-9A5E-4F0E-A947-927E7282352F}"/>
                    </a:ext>
                  </a:extLst>
                </p:cNvPr>
                <p:cNvSpPr/>
                <p:nvPr/>
              </p:nvSpPr>
              <p:spPr>
                <a:xfrm>
                  <a:off x="3039367" y="2058739"/>
                  <a:ext cx="784060" cy="270187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D7EA8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</a:rPr>
                    <a:t>KV State</a:t>
                  </a:r>
                </a:p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</a:rPr>
                    <a:t>Monitor</a:t>
                  </a:r>
                  <a:endPara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A1A1A"/>
                    </a:solidFill>
                    <a:effectLst/>
                    <a:uLnTx/>
                    <a:uFillTx/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</p:grpSp>
          <p:sp>
            <p:nvSpPr>
              <p:cNvPr id="119" name="Shape 40">
                <a:extLst>
                  <a:ext uri="{FF2B5EF4-FFF2-40B4-BE49-F238E27FC236}">
                    <a16:creationId xmlns:a16="http://schemas.microsoft.com/office/drawing/2014/main" id="{23DF7C3D-B06F-4B81-8EBA-A450F264EFE2}"/>
                  </a:ext>
                </a:extLst>
              </p:cNvPr>
              <p:cNvSpPr/>
              <p:nvPr/>
            </p:nvSpPr>
            <p:spPr>
              <a:xfrm>
                <a:off x="1371273" y="2785393"/>
                <a:ext cx="2572975" cy="200098"/>
              </a:xfrm>
              <a:prstGeom prst="rect">
                <a:avLst/>
              </a:prstGeom>
              <a:solidFill>
                <a:srgbClr val="2F75B5">
                  <a:alpha val="92000"/>
                </a:srgbClr>
              </a:solidFill>
              <a:ln w="12700">
                <a:solidFill>
                  <a:srgbClr val="2F75B5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</a:rPr>
                  <a:t>Execution Planner</a:t>
                </a:r>
                <a:endParaRPr lang="ko-KR" altLang="en-US" sz="1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0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3672697" y="3905530"/>
              <a:ext cx="1508969" cy="292295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Execution Router</a:t>
              </a:r>
            </a:p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(Dispatcher)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cxnSp>
          <p:nvCxnSpPr>
            <p:cNvPr id="19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12" idx="2"/>
              <a:endCxn id="119" idx="0"/>
            </p:cNvCxnSpPr>
            <p:nvPr/>
          </p:nvCxnSpPr>
          <p:spPr>
            <a:xfrm>
              <a:off x="4427178" y="2184089"/>
              <a:ext cx="4" cy="158648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97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15" idx="2"/>
              <a:endCxn id="120" idx="0"/>
            </p:cNvCxnSpPr>
            <p:nvPr/>
          </p:nvCxnSpPr>
          <p:spPr>
            <a:xfrm flipH="1">
              <a:off x="4427182" y="3768542"/>
              <a:ext cx="4" cy="136988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2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0" idx="2"/>
              <a:endCxn id="124" idx="0"/>
            </p:cNvCxnSpPr>
            <p:nvPr/>
          </p:nvCxnSpPr>
          <p:spPr>
            <a:xfrm flipH="1">
              <a:off x="4427177" y="4197825"/>
              <a:ext cx="5" cy="292365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124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3844564" y="4490190"/>
              <a:ext cx="1165225" cy="24156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 err="1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ScHBM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125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2540917" y="4490190"/>
              <a:ext cx="1165225" cy="24156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GPU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126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5226615" y="4490190"/>
              <a:ext cx="1165225" cy="24156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CXL-PNM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cxnSp>
          <p:nvCxnSpPr>
            <p:cNvPr id="128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0" idx="2"/>
              <a:endCxn id="125" idx="0"/>
            </p:cNvCxnSpPr>
            <p:nvPr/>
          </p:nvCxnSpPr>
          <p:spPr>
            <a:xfrm rot="5400000">
              <a:off x="3629174" y="3692181"/>
              <a:ext cx="292365" cy="1303652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3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0" idx="2"/>
              <a:endCxn id="126" idx="0"/>
            </p:cNvCxnSpPr>
            <p:nvPr/>
          </p:nvCxnSpPr>
          <p:spPr>
            <a:xfrm rot="16200000" flipH="1">
              <a:off x="4972023" y="3652984"/>
              <a:ext cx="292365" cy="1382046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</p:grpSp>
      <p:sp>
        <p:nvSpPr>
          <p:cNvPr id="122" name="Shape 31">
            <a:extLst>
              <a:ext uri="{FF2B5EF4-FFF2-40B4-BE49-F238E27FC236}">
                <a16:creationId xmlns:a16="http://schemas.microsoft.com/office/drawing/2014/main" id="{2CB8AAFC-DFAB-4056-A6EA-BB95D28E11E9}"/>
              </a:ext>
            </a:extLst>
          </p:cNvPr>
          <p:cNvSpPr/>
          <p:nvPr/>
        </p:nvSpPr>
        <p:spPr>
          <a:xfrm>
            <a:off x="7168437" y="2108344"/>
            <a:ext cx="1332516" cy="292607"/>
          </a:xfrm>
          <a:prstGeom prst="roundRect">
            <a:avLst>
              <a:gd name="adj" fmla="val 37674"/>
            </a:avLst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Request  Arrival/</a:t>
            </a:r>
          </a:p>
          <a:p>
            <a:pPr algn="ctr" latinLnBrk="0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Waiting Queue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6" name="원통 5"/>
          <p:cNvSpPr/>
          <p:nvPr/>
        </p:nvSpPr>
        <p:spPr>
          <a:xfrm>
            <a:off x="7098329" y="4218886"/>
            <a:ext cx="1472732" cy="364338"/>
          </a:xfrm>
          <a:prstGeom prst="can">
            <a:avLst/>
          </a:prstGeom>
          <a:solidFill>
            <a:srgbClr val="FFFFFF"/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Cache</a:t>
            </a:r>
          </a:p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(Shared Repository)</a:t>
            </a:r>
            <a:endParaRPr lang="ko-KR" altLang="en-US" sz="1000" b="1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164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56" idx="2"/>
            <a:endCxn id="6" idx="1"/>
          </p:cNvCxnSpPr>
          <p:nvPr/>
        </p:nvCxnSpPr>
        <p:spPr>
          <a:xfrm flipH="1">
            <a:off x="7834695" y="3976053"/>
            <a:ext cx="127" cy="242833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6827002" y="3990632"/>
            <a:ext cx="991013" cy="224346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Execution Plan</a:t>
            </a:r>
          </a:p>
        </p:txBody>
      </p:sp>
      <p:cxnSp>
        <p:nvCxnSpPr>
          <p:cNvPr id="190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6" idx="4"/>
            <a:endCxn id="187" idx="1"/>
          </p:cNvCxnSpPr>
          <p:nvPr/>
        </p:nvCxnSpPr>
        <p:spPr>
          <a:xfrm flipV="1">
            <a:off x="8571061" y="2861045"/>
            <a:ext cx="1646925" cy="154001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20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86" idx="2"/>
            <a:endCxn id="187" idx="0"/>
          </p:cNvCxnSpPr>
          <p:nvPr/>
        </p:nvCxnSpPr>
        <p:spPr>
          <a:xfrm>
            <a:off x="10700124" y="2548568"/>
            <a:ext cx="0" cy="166173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6766543" y="1810843"/>
            <a:ext cx="2152357" cy="271459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Planning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Critical path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밖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F768021-5962-4FEE-86A6-9A65D654BAE1}"/>
              </a:ext>
            </a:extLst>
          </p:cNvPr>
          <p:cNvGrpSpPr/>
          <p:nvPr/>
        </p:nvGrpSpPr>
        <p:grpSpPr>
          <a:xfrm>
            <a:off x="9994226" y="2282562"/>
            <a:ext cx="1411795" cy="1666182"/>
            <a:chOff x="13094537" y="2383427"/>
            <a:chExt cx="1411795" cy="1666182"/>
          </a:xfrm>
        </p:grpSpPr>
        <p:sp>
          <p:nvSpPr>
            <p:cNvPr id="186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13094537" y="2383427"/>
              <a:ext cx="1411795" cy="26600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Request Scheduler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187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13318297" y="2815606"/>
              <a:ext cx="964275" cy="292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Plan Lookup</a:t>
              </a:r>
              <a:endParaRPr lang="ko-KR" alt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</p:txBody>
        </p:sp>
        <p:sp>
          <p:nvSpPr>
            <p:cNvPr id="188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13158709" y="3783603"/>
              <a:ext cx="1283450" cy="26600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Execution Router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241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13270083" y="3349368"/>
              <a:ext cx="1060703" cy="26600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Late Validator</a:t>
              </a:r>
              <a:endParaRPr lang="ko-KR" alt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  <p:cxnSp>
        <p:nvCxnSpPr>
          <p:cNvPr id="246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241" idx="2"/>
            <a:endCxn id="188" idx="0"/>
          </p:cNvCxnSpPr>
          <p:nvPr/>
        </p:nvCxnSpPr>
        <p:spPr>
          <a:xfrm flipH="1">
            <a:off x="10700123" y="3514509"/>
            <a:ext cx="1" cy="168229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00" name="직선 화살표 연결선 185">
            <a:extLst>
              <a:ext uri="{FF2B5EF4-FFF2-40B4-BE49-F238E27FC236}">
                <a16:creationId xmlns:a16="http://schemas.microsoft.com/office/drawing/2014/main" id="{56498C45-0D93-4C3F-B12A-A34B786B2E88}"/>
              </a:ext>
            </a:extLst>
          </p:cNvPr>
          <p:cNvCxnSpPr>
            <a:cxnSpLocks/>
            <a:stCxn id="187" idx="2"/>
            <a:endCxn id="241" idx="0"/>
          </p:cNvCxnSpPr>
          <p:nvPr/>
        </p:nvCxnSpPr>
        <p:spPr>
          <a:xfrm>
            <a:off x="10700124" y="3007348"/>
            <a:ext cx="0" cy="241155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7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16" idx="0"/>
            <a:endCxn id="71" idx="2"/>
          </p:cNvCxnSpPr>
          <p:nvPr/>
        </p:nvCxnSpPr>
        <p:spPr>
          <a:xfrm rot="16200000" flipV="1">
            <a:off x="3185192" y="2675340"/>
            <a:ext cx="338963" cy="573972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triangle" w="med" len="med"/>
            <a:tailEnd type="none" w="med" len="med"/>
          </a:ln>
        </p:spPr>
      </p:cxnSp>
      <p:grpSp>
        <p:nvGrpSpPr>
          <p:cNvPr id="35" name="그룹 34"/>
          <p:cNvGrpSpPr/>
          <p:nvPr/>
        </p:nvGrpSpPr>
        <p:grpSpPr>
          <a:xfrm>
            <a:off x="6665290" y="2570168"/>
            <a:ext cx="2341529" cy="1405885"/>
            <a:chOff x="6670800" y="2204623"/>
            <a:chExt cx="2575682" cy="1405885"/>
          </a:xfrm>
        </p:grpSpPr>
        <p:sp>
          <p:nvSpPr>
            <p:cNvPr id="156" name="Shape 39">
              <a:extLst>
                <a:ext uri="{FF2B5EF4-FFF2-40B4-BE49-F238E27FC236}">
                  <a16:creationId xmlns:a16="http://schemas.microsoft.com/office/drawing/2014/main" id="{6868F6CD-24B6-42CB-9385-562D6F007FDF}"/>
                </a:ext>
              </a:extLst>
            </p:cNvPr>
            <p:cNvSpPr/>
            <p:nvPr/>
          </p:nvSpPr>
          <p:spPr>
            <a:xfrm>
              <a:off x="6670800" y="2453287"/>
              <a:ext cx="2572970" cy="1157221"/>
            </a:xfrm>
            <a:prstGeom prst="rect">
              <a:avLst/>
            </a:prstGeom>
            <a:solidFill>
              <a:srgbClr val="FCE4D6">
                <a:alpha val="98000"/>
              </a:srgbClr>
            </a:solidFill>
            <a:ln w="15240">
              <a:solidFill>
                <a:srgbClr val="C65911"/>
              </a:solidFill>
              <a:prstDash val="solid"/>
            </a:ln>
          </p:spPr>
        </p:sp>
        <p:sp>
          <p:nvSpPr>
            <p:cNvPr id="162" name="Shape 40">
              <a:extLst>
                <a:ext uri="{FF2B5EF4-FFF2-40B4-BE49-F238E27FC236}">
                  <a16:creationId xmlns:a16="http://schemas.microsoft.com/office/drawing/2014/main" id="{23DF7C3D-B06F-4B81-8EBA-A450F264EFE2}"/>
                </a:ext>
              </a:extLst>
            </p:cNvPr>
            <p:cNvSpPr/>
            <p:nvPr/>
          </p:nvSpPr>
          <p:spPr>
            <a:xfrm>
              <a:off x="6670800" y="2204623"/>
              <a:ext cx="2575682" cy="250430"/>
            </a:xfrm>
            <a:prstGeom prst="rect">
              <a:avLst/>
            </a:prstGeom>
            <a:solidFill>
              <a:srgbClr val="C65911">
                <a:alpha val="92000"/>
              </a:srgbClr>
            </a:solidFill>
            <a:ln w="12700">
              <a:solidFill>
                <a:srgbClr val="C6591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Execution Planner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Shape 39">
              <a:extLst>
                <a:ext uri="{FF2B5EF4-FFF2-40B4-BE49-F238E27FC236}">
                  <a16:creationId xmlns:a16="http://schemas.microsoft.com/office/drawing/2014/main" id="{F7D82DE9-0B6E-4CB1-A5F0-9E4D7591B816}"/>
                </a:ext>
              </a:extLst>
            </p:cNvPr>
            <p:cNvSpPr/>
            <p:nvPr/>
          </p:nvSpPr>
          <p:spPr>
            <a:xfrm>
              <a:off x="7247100" y="3265513"/>
              <a:ext cx="1529889" cy="2800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Cost Evaluator</a:t>
              </a:r>
            </a:p>
          </p:txBody>
        </p:sp>
        <p:sp>
          <p:nvSpPr>
            <p:cNvPr id="82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7923536" y="2574326"/>
              <a:ext cx="1262735" cy="35961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Resource State</a:t>
              </a:r>
            </a:p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Monitor</a:t>
              </a:r>
            </a:p>
          </p:txBody>
        </p:sp>
        <p:sp>
          <p:nvSpPr>
            <p:cNvPr id="83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6770378" y="2574326"/>
              <a:ext cx="1043584" cy="35961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KV State</a:t>
              </a:r>
            </a:p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Monitor</a:t>
              </a:r>
            </a:p>
          </p:txBody>
        </p:sp>
        <p:cxnSp>
          <p:nvCxnSpPr>
            <p:cNvPr id="85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82" idx="2"/>
              <a:endCxn id="80" idx="0"/>
            </p:cNvCxnSpPr>
            <p:nvPr/>
          </p:nvCxnSpPr>
          <p:spPr>
            <a:xfrm rot="5400000">
              <a:off x="8117691" y="2828300"/>
              <a:ext cx="331568" cy="542860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C76E3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86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83" idx="2"/>
              <a:endCxn id="80" idx="0"/>
            </p:cNvCxnSpPr>
            <p:nvPr/>
          </p:nvCxnSpPr>
          <p:spPr>
            <a:xfrm rot="16200000" flipH="1">
              <a:off x="7486323" y="2739791"/>
              <a:ext cx="331568" cy="719874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C76E31"/>
              </a:solidFill>
              <a:prstDash val="solid"/>
              <a:headEnd type="none" w="med" len="med"/>
              <a:tailEnd type="triangle" w="med" len="med"/>
            </a:ln>
          </p:spPr>
        </p:cxnSp>
      </p:grpSp>
      <p:cxnSp>
        <p:nvCxnSpPr>
          <p:cNvPr id="99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241" idx="1"/>
            <a:endCxn id="162" idx="3"/>
          </p:cNvCxnSpPr>
          <p:nvPr/>
        </p:nvCxnSpPr>
        <p:spPr>
          <a:xfrm rot="10800000">
            <a:off x="9006820" y="2695384"/>
            <a:ext cx="1162953" cy="68612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37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10302194" y="4218886"/>
            <a:ext cx="657739" cy="292295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0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ScHBM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8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9540862" y="4218886"/>
            <a:ext cx="657739" cy="292295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GPU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9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11083019" y="4218886"/>
            <a:ext cx="657739" cy="292295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CXL-PNM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140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88" idx="2"/>
            <a:endCxn id="138" idx="0"/>
          </p:cNvCxnSpPr>
          <p:nvPr/>
        </p:nvCxnSpPr>
        <p:spPr>
          <a:xfrm rot="5400000">
            <a:off x="10149857" y="3668620"/>
            <a:ext cx="270142" cy="830391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41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88" idx="2"/>
            <a:endCxn id="139" idx="0"/>
          </p:cNvCxnSpPr>
          <p:nvPr/>
        </p:nvCxnSpPr>
        <p:spPr>
          <a:xfrm rot="16200000" flipH="1">
            <a:off x="10920935" y="3727932"/>
            <a:ext cx="270142" cy="711766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48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88" idx="2"/>
            <a:endCxn id="137" idx="0"/>
          </p:cNvCxnSpPr>
          <p:nvPr/>
        </p:nvCxnSpPr>
        <p:spPr>
          <a:xfrm rot="5400000">
            <a:off x="10530523" y="4049286"/>
            <a:ext cx="270142" cy="69059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6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22" idx="2"/>
            <a:endCxn id="162" idx="0"/>
          </p:cNvCxnSpPr>
          <p:nvPr/>
        </p:nvCxnSpPr>
        <p:spPr>
          <a:xfrm>
            <a:off x="7834695" y="2400951"/>
            <a:ext cx="1360" cy="169217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77" name="TextBox 76"/>
          <p:cNvSpPr txBox="1"/>
          <p:nvPr/>
        </p:nvSpPr>
        <p:spPr>
          <a:xfrm>
            <a:off x="5120640" y="2286000"/>
            <a:ext cx="91440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</a:rPr>
              <a:t>Cost 계산이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</a:rPr>
              <a:t>critical path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08080"/>
                </a:solidFill>
                <a:latin typeface="맑은 고딕"/>
                <a:ea typeface="맑은 고딕"/>
              </a:rPr>
              <a:t>내부에서 수행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1305" y="3104507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 dirty="0" err="1">
                <a:solidFill>
                  <a:srgbClr val="C55A11"/>
                </a:solidFill>
                <a:latin typeface="맑은 고딕"/>
                <a:ea typeface="맑은 고딕"/>
              </a:rPr>
              <a:t>Async</a:t>
            </a:r>
            <a:endParaRPr sz="700" b="0" i="0" dirty="0">
              <a:solidFill>
                <a:srgbClr val="C55A11"/>
              </a:solidFill>
              <a:latin typeface="맑은 고딕"/>
              <a:ea typeface="맑은 고딕"/>
            </a:endParaRPr>
          </a:p>
          <a:p>
            <a:pPr algn="l">
              <a:lnSpc>
                <a:spcPct val="100000"/>
              </a:lnSpc>
            </a:pPr>
            <a:r>
              <a:rPr sz="700" b="0" i="0" dirty="0">
                <a:solidFill>
                  <a:srgbClr val="C55A11"/>
                </a:solidFill>
                <a:latin typeface="맑은 고딕"/>
                <a:ea typeface="맑은 고딕"/>
              </a:rPr>
              <a:t>re-plan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97946" y="2714230"/>
            <a:ext cx="64008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b="0" i="0" dirty="0">
                <a:solidFill>
                  <a:schemeClr val="accent1"/>
                </a:solidFill>
                <a:latin typeface="맑은 고딕"/>
                <a:ea typeface="맑은 고딕"/>
              </a:rPr>
              <a:t>read</a:t>
            </a:r>
            <a:endParaRPr sz="700" b="0" i="0" dirty="0">
              <a:solidFill>
                <a:schemeClr val="accent1"/>
              </a:solidFill>
              <a:latin typeface="맑은 고딕"/>
              <a:ea typeface="맑은 고딕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9528263" y="1836885"/>
            <a:ext cx="2152357" cy="271459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Serving - Critical path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내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1335087" y="3138623"/>
            <a:ext cx="6400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700" b="0" i="0" dirty="0">
                <a:solidFill>
                  <a:srgbClr val="C55A11"/>
                </a:solidFill>
                <a:latin typeface="맑은 고딕"/>
                <a:ea typeface="맑은 고딕"/>
              </a:rPr>
              <a:t>If mismatch</a:t>
            </a:r>
          </a:p>
          <a:p>
            <a:pPr marL="228600" indent="-228600" algn="l">
              <a:lnSpc>
                <a:spcPct val="100000"/>
              </a:lnSpc>
              <a:buAutoNum type="arabicParenR"/>
            </a:pPr>
            <a:r>
              <a:rPr lang="ko-KR" altLang="en-US" sz="700" b="0" i="0" dirty="0" err="1">
                <a:solidFill>
                  <a:srgbClr val="C55A11"/>
                </a:solidFill>
                <a:latin typeface="맑은 고딕"/>
                <a:ea typeface="맑은 고딕"/>
              </a:rPr>
              <a:t>차순위</a:t>
            </a:r>
            <a:endParaRPr lang="en-US" altLang="ko-KR" sz="700" b="0" i="0" dirty="0">
              <a:solidFill>
                <a:srgbClr val="C55A11"/>
              </a:solidFill>
              <a:latin typeface="맑은 고딕"/>
              <a:ea typeface="맑은 고딕"/>
            </a:endParaRPr>
          </a:p>
          <a:p>
            <a:pPr marL="228600" indent="-228600" algn="l">
              <a:lnSpc>
                <a:spcPct val="100000"/>
              </a:lnSpc>
              <a:buAutoNum type="arabicParenR"/>
            </a:pPr>
            <a:r>
              <a:rPr lang="en-US" sz="700" dirty="0">
                <a:solidFill>
                  <a:srgbClr val="C55A11"/>
                </a:solidFill>
                <a:latin typeface="맑은 고딕"/>
                <a:ea typeface="맑은 고딕"/>
              </a:rPr>
              <a:t>Fallback</a:t>
            </a:r>
          </a:p>
          <a:p>
            <a:pPr marL="228600" indent="-228600" algn="l">
              <a:lnSpc>
                <a:spcPct val="100000"/>
              </a:lnSpc>
              <a:buAutoNum type="arabicParenR"/>
            </a:pPr>
            <a:r>
              <a:rPr lang="en-US" sz="700" b="0" i="0" dirty="0">
                <a:solidFill>
                  <a:srgbClr val="C55A11"/>
                </a:solidFill>
                <a:latin typeface="맑은 고딕"/>
                <a:ea typeface="맑은 고딕"/>
              </a:rPr>
              <a:t>Re-plan</a:t>
            </a:r>
            <a:endParaRPr sz="700" b="0" i="0" dirty="0">
              <a:solidFill>
                <a:srgbClr val="C55A1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1954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DP3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421994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59184" cy="53902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339242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Query </a:t>
                      </a:r>
                      <a:r>
                        <a:rPr lang="en-US" altLang="ko-KR" sz="1200" b="1" baseline="0" dirty="0"/>
                        <a:t>Agnostic </a:t>
                      </a:r>
                      <a:r>
                        <a:rPr lang="ko-KR" altLang="en-US" sz="1200" b="1" baseline="0" dirty="0" err="1"/>
                        <a:t>압축</a:t>
                      </a:r>
                      <a:r>
                        <a:rPr lang="ko-KR" altLang="en-US" sz="1200" b="1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</a:t>
                      </a:r>
                      <a:r>
                        <a:rPr lang="ko-KR" altLang="en-US" sz="1200" b="1" baseline="0" dirty="0" err="1"/>
                        <a:t>재사용</a:t>
                      </a:r>
                      <a:r>
                        <a:rPr lang="ko-KR" altLang="en-US" sz="1200" b="1" baseline="0" dirty="0"/>
                        <a:t> </a:t>
                      </a:r>
                      <a:r>
                        <a:rPr lang="en-US" altLang="ko-KR" sz="1200" b="1" baseline="0" dirty="0"/>
                        <a:t>(Offline)</a:t>
                      </a:r>
                      <a:r>
                        <a:rPr lang="ko-KR" altLang="en-US" sz="1200" b="1" baseline="0" dirty="0"/>
                        <a:t> </a:t>
                      </a:r>
                      <a:r>
                        <a:rPr lang="en-US" altLang="ko-KR" sz="105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(Batch-Sequential + Repository)</a:t>
                      </a:r>
                      <a:endParaRPr lang="ko-KR" altLang="en-US" sz="12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Query Aware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 err="1"/>
                        <a:t>압축</a:t>
                      </a:r>
                      <a:r>
                        <a:rPr lang="ko-KR" altLang="en-US" sz="1200" b="1" baseline="0" dirty="0" err="1"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1200" b="1" baseline="0" dirty="0" err="1"/>
                        <a:t>재사용</a:t>
                      </a:r>
                      <a:r>
                        <a:rPr lang="ko-KR" altLang="en-US" sz="1200" b="1" baseline="0" dirty="0"/>
                        <a:t> 구조 </a:t>
                      </a:r>
                      <a:r>
                        <a:rPr lang="en-US" altLang="ko-KR" sz="1200" b="1" baseline="0" dirty="0"/>
                        <a:t>(Online) 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(Pipe-and-Filter)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460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사전에 압축을 진행하는 것으로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TTFT </a:t>
                      </a:r>
                      <a:r>
                        <a:rPr lang="ko-KR" altLang="en-US" sz="1200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절감률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높음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 압축된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KV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캐시를 읽어와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I/O latency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절감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사용자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 aware</a:t>
                      </a:r>
                      <a:r>
                        <a:rPr lang="ko-KR" altLang="en-US" sz="1200" strike="noStrike" baseline="0" dirty="0">
                          <a:effectLst/>
                        </a:rPr>
                        <a:t>한 압축으로 정확도 높음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사용자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가 아닌 대표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로 압축한 것이므로 정확도 낮음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온라인으로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와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Context</a:t>
                      </a:r>
                      <a:r>
                        <a:rPr lang="ko-KR" altLang="en-US" sz="1200" strike="noStrike" baseline="0" dirty="0">
                          <a:effectLst/>
                        </a:rPr>
                        <a:t>간의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Attention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연산에 기반한 압축으로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TTFT </a:t>
                      </a:r>
                      <a:r>
                        <a:rPr lang="ko-KR" altLang="en-US" sz="1200" strike="noStrike" baseline="0" dirty="0" err="1">
                          <a:effectLst/>
                        </a:rPr>
                        <a:t>절감률</a:t>
                      </a:r>
                      <a:r>
                        <a:rPr lang="ko-KR" altLang="en-US" sz="1200" strike="noStrike" baseline="0" dirty="0">
                          <a:effectLst/>
                        </a:rPr>
                        <a:t> 낮음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(HBM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사용량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GiB)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Functional Correctness (F1 score)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268(x0.47), 8.4(x1.02)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30.3(x0.28)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★☆☆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F1 하락 10.0%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(HBM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사용량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GiB)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Functional Correctness (F1 score)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693(x1.21), 8.7(x1.06)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85.1(x0.80)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F1 하락 -12.0%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DP3. Long Context</a:t>
            </a:r>
            <a:r>
              <a:rPr lang="ko-KR" altLang="en-US" dirty="0"/>
              <a:t>를 위한 </a:t>
            </a:r>
            <a:r>
              <a:rPr lang="en-US" altLang="ko-KR" dirty="0"/>
              <a:t>KV </a:t>
            </a:r>
            <a:r>
              <a:rPr lang="ko-KR" altLang="en-US" dirty="0"/>
              <a:t>캐시 압축 및 재사용 구조 </a:t>
            </a:r>
            <a:r>
              <a:rPr lang="en-US" altLang="ko-KR" dirty="0"/>
              <a:t>– </a:t>
            </a:r>
            <a:r>
              <a:rPr lang="ko-KR" altLang="en-US" dirty="0"/>
              <a:t>설계 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Long Context</a:t>
            </a:r>
            <a:r>
              <a:rPr lang="ko-KR" altLang="en-US" sz="1400" b="1" dirty="0">
                <a:solidFill>
                  <a:schemeClr val="bg1"/>
                </a:solidFill>
              </a:rPr>
              <a:t>에서 </a:t>
            </a:r>
            <a:r>
              <a:rPr lang="en-US" altLang="ko-KR" sz="1400" b="1" dirty="0">
                <a:solidFill>
                  <a:schemeClr val="bg1"/>
                </a:solidFill>
              </a:rPr>
              <a:t>Accuracy</a:t>
            </a:r>
            <a:r>
              <a:rPr lang="ko-KR" altLang="en-US" sz="1400" b="1" dirty="0">
                <a:solidFill>
                  <a:schemeClr val="bg1"/>
                </a:solidFill>
              </a:rPr>
              <a:t>를 유지하며 </a:t>
            </a:r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>
                <a:solidFill>
                  <a:schemeClr val="bg1"/>
                </a:solidFill>
              </a:rPr>
              <a:t>캐시와 </a:t>
            </a:r>
            <a:r>
              <a:rPr lang="en-US" altLang="ko-KR" sz="1400" b="1" dirty="0">
                <a:solidFill>
                  <a:schemeClr val="bg1"/>
                </a:solidFill>
              </a:rPr>
              <a:t>Latency </a:t>
            </a:r>
            <a:r>
              <a:rPr lang="ko-KR" altLang="en-US" sz="1400" b="1" dirty="0">
                <a:solidFill>
                  <a:schemeClr val="bg1"/>
                </a:solidFill>
              </a:rPr>
              <a:t>를 줄이는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“W/L</a:t>
            </a:r>
            <a:r>
              <a:rPr lang="ko-KR" altLang="en-US" sz="1100" dirty="0"/>
              <a:t>별 대표 </a:t>
            </a:r>
            <a:r>
              <a:rPr lang="en-US" altLang="ko-KR" sz="1100" dirty="0"/>
              <a:t>Query</a:t>
            </a:r>
            <a:r>
              <a:rPr lang="ko-KR" altLang="en-US" sz="1100" dirty="0"/>
              <a:t>와 </a:t>
            </a:r>
            <a:r>
              <a:rPr lang="en-US" altLang="ko-KR" sz="1100" dirty="0"/>
              <a:t>KV </a:t>
            </a:r>
            <a:r>
              <a:rPr lang="ko-KR" altLang="en-US" sz="1100" dirty="0"/>
              <a:t>캐시 간 </a:t>
            </a:r>
            <a:r>
              <a:rPr lang="en-US" altLang="ko-KR" sz="1100" dirty="0"/>
              <a:t>Attention</a:t>
            </a:r>
            <a:r>
              <a:rPr lang="ko-KR" altLang="en-US" sz="1100" dirty="0"/>
              <a:t>을 활용하여 압축 및 재계산 토큰 선정</a:t>
            </a:r>
            <a:r>
              <a:rPr lang="en-US" altLang="ko-KR" sz="1100" dirty="0"/>
              <a:t>“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"</a:t>
            </a:r>
            <a:r>
              <a:rPr lang="ko-KR" altLang="en-US" sz="1100" dirty="0"/>
              <a:t>입력되는 </a:t>
            </a:r>
            <a:r>
              <a:rPr lang="en-US" altLang="ko-KR" sz="1100" dirty="0"/>
              <a:t>Query</a:t>
            </a:r>
            <a:r>
              <a:rPr lang="ko-KR" altLang="en-US" sz="1100" dirty="0"/>
              <a:t>와의 </a:t>
            </a:r>
            <a:r>
              <a:rPr lang="en-US" altLang="ko-KR" sz="1100" dirty="0"/>
              <a:t>KV </a:t>
            </a:r>
            <a:r>
              <a:rPr lang="ko-KR" altLang="en-US" sz="1100" dirty="0"/>
              <a:t>간 </a:t>
            </a:r>
            <a:r>
              <a:rPr lang="en-US" altLang="ko-KR" sz="1100" dirty="0"/>
              <a:t>Attention</a:t>
            </a:r>
            <a:r>
              <a:rPr lang="ko-KR" altLang="en-US" sz="1100" dirty="0"/>
              <a:t>을 활용하여 압축 및 재계산 토큰 선정</a:t>
            </a:r>
            <a:r>
              <a:rPr lang="en-US" altLang="ko-KR" sz="1100" dirty="0"/>
              <a:t>“</a:t>
            </a:r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537074" y="6217803"/>
            <a:ext cx="234199" cy="23477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9" name="Rectangle 138"/>
          <p:cNvSpPr/>
          <p:nvPr/>
        </p:nvSpPr>
        <p:spPr>
          <a:xfrm>
            <a:off x="1993392" y="1764792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1" i="0" dirty="0">
                <a:solidFill>
                  <a:srgbClr val="000000"/>
                </a:solidFill>
                <a:latin typeface="맑은 고딕"/>
                <a:ea typeface="맑은 고딕"/>
              </a:rPr>
              <a:t>Query Sampler</a:t>
            </a:r>
          </a:p>
          <a:p>
            <a:pPr algn="ctr"/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대표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Query </a:t>
            </a:r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선정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(</a:t>
            </a:r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사전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456432" y="1764792"/>
            <a:ext cx="1325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User Query Manager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실제 Query (서빙 시)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216152" y="2240280"/>
            <a:ext cx="3474720" cy="86868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216152" y="2240280"/>
            <a:ext cx="1196035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«layer» LLM </a:t>
            </a:r>
            <a:r>
              <a:rPr lang="en-US" sz="700" b="1" dirty="0">
                <a:solidFill>
                  <a:srgbClr val="FFFFFF"/>
                </a:solidFill>
                <a:latin typeface="맑은 고딕"/>
                <a:ea typeface="맑은 고딕"/>
              </a:rPr>
              <a:t>generation</a:t>
            </a:r>
            <a:endParaRPr sz="7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444752" y="2606040"/>
            <a:ext cx="1280160" cy="420624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Attention Manager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Query × KV Attention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399032" y="266090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1399032" y="275234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3182112" y="2606040"/>
            <a:ext cx="1371600" cy="420624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 dirty="0">
                <a:solidFill>
                  <a:srgbClr val="000000"/>
                </a:solidFill>
                <a:latin typeface="맑은 고딕"/>
                <a:ea typeface="맑은 고딕"/>
              </a:rPr>
              <a:t>Selective </a:t>
            </a:r>
            <a:r>
              <a:rPr sz="750" b="1" i="0" dirty="0" err="1">
                <a:solidFill>
                  <a:srgbClr val="000000"/>
                </a:solidFill>
                <a:latin typeface="맑은 고딕"/>
                <a:ea typeface="맑은 고딕"/>
              </a:rPr>
              <a:t>Recomputer</a:t>
            </a:r>
            <a:endParaRPr sz="750" b="1" i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/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선정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토큰만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재계산</a:t>
            </a:r>
            <a:endParaRPr sz="700" b="0" i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3136392" y="266090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136392" y="275234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4215384" y="2523744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639453" y="2258568"/>
            <a:ext cx="109728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 dirty="0">
                <a:solidFill>
                  <a:srgbClr val="7F7F7F"/>
                </a:solidFill>
                <a:latin typeface="맑은 고딕"/>
                <a:ea typeface="맑은 고딕"/>
              </a:rPr>
              <a:t>→ Prefill/Decode </a:t>
            </a:r>
            <a:r>
              <a:rPr sz="700" b="0" i="0" dirty="0" err="1">
                <a:solidFill>
                  <a:srgbClr val="7F7F7F"/>
                </a:solidFill>
                <a:latin typeface="맑은 고딕"/>
                <a:ea typeface="맑은 고딕"/>
              </a:rPr>
              <a:t>생성</a:t>
            </a:r>
            <a:endParaRPr sz="700" b="0" i="0" dirty="0">
              <a:solidFill>
                <a:srgbClr val="7F7F7F"/>
              </a:solidFill>
              <a:latin typeface="맑은 고딕"/>
              <a:ea typeface="맑은 고딕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1216152" y="3246120"/>
            <a:ext cx="3474720" cy="841248"/>
          </a:xfrm>
          <a:prstGeom prst="rect">
            <a:avLst/>
          </a:prstGeom>
          <a:solidFill>
            <a:srgbClr val="FFF8F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216151" y="3246120"/>
            <a:ext cx="1385761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«layer» </a:t>
            </a:r>
            <a:r>
              <a:rPr lang="en-US"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KV Compress &amp; Blend</a:t>
            </a:r>
            <a:endParaRPr sz="7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1444752" y="3566160"/>
            <a:ext cx="86868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 dirty="0">
                <a:solidFill>
                  <a:srgbClr val="000000"/>
                </a:solidFill>
                <a:latin typeface="맑은 고딕"/>
                <a:ea typeface="맑은 고딕"/>
              </a:rPr>
              <a:t>KV Cache </a:t>
            </a:r>
            <a:endParaRPr lang="en-US" sz="750" b="1" i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/>
            <a:r>
              <a:rPr sz="750" b="1" i="0" dirty="0">
                <a:solidFill>
                  <a:srgbClr val="000000"/>
                </a:solidFill>
                <a:latin typeface="맑은 고딕"/>
                <a:ea typeface="맑은 고딕"/>
              </a:rPr>
              <a:t>Compressor</a:t>
            </a:r>
          </a:p>
          <a:p>
            <a:pPr algn="ctr"/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낮은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evict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399032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399032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633472" y="3566160"/>
            <a:ext cx="7772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KV Sampler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점수로 토큰 선정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587752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2587752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3730752" y="3566160"/>
            <a:ext cx="86868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Recompute Token Selector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85032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685032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5010912" y="2240280"/>
            <a:ext cx="1417320" cy="2560320"/>
          </a:xfrm>
          <a:prstGeom prst="rect">
            <a:avLst/>
          </a:prstGeom>
          <a:solidFill>
            <a:srgbClr val="F7F7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5010912" y="2240280"/>
            <a:ext cx="1009497" cy="1737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«store» KV </a:t>
            </a:r>
            <a:r>
              <a:rPr lang="en-US"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Store</a:t>
            </a:r>
            <a:endParaRPr sz="7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64" name="Rounded Rectangle 163"/>
          <p:cNvSpPr/>
          <p:nvPr/>
        </p:nvSpPr>
        <p:spPr>
          <a:xfrm>
            <a:off x="6062472" y="2258568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56632" y="2450592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HBM · DRAM · CXL · SSD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102352" y="2633472"/>
            <a:ext cx="1234440" cy="24688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Context KV 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102352" y="2926080"/>
            <a:ext cx="1234440" cy="24688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Context KV 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336327" y="3474720"/>
            <a:ext cx="766490" cy="246888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Comp.KV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336327" y="3767328"/>
            <a:ext cx="766490" cy="246888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Comp.KV 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02352" y="406908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 dirty="0" err="1">
                <a:solidFill>
                  <a:srgbClr val="C55A11"/>
                </a:solidFill>
                <a:latin typeface="맑은 고딕"/>
                <a:ea typeface="맑은 고딕"/>
              </a:rPr>
              <a:t>Comp.KV는</a:t>
            </a:r>
            <a:r>
              <a:rPr sz="650" b="1" i="0" dirty="0">
                <a:solidFill>
                  <a:srgbClr val="C55A11"/>
                </a:solidFill>
                <a:latin typeface="맑은 고딕"/>
                <a:ea typeface="맑은 고딕"/>
              </a:rPr>
              <a:t> </a:t>
            </a:r>
            <a:r>
              <a:rPr sz="650" b="1" i="0" dirty="0" err="1">
                <a:solidFill>
                  <a:srgbClr val="C55A11"/>
                </a:solidFill>
                <a:latin typeface="맑은 고딕"/>
                <a:ea typeface="맑은 고딕"/>
              </a:rPr>
              <a:t>요청</a:t>
            </a:r>
            <a:r>
              <a:rPr sz="650" b="1" i="0" dirty="0">
                <a:solidFill>
                  <a:srgbClr val="C55A11"/>
                </a:solidFill>
                <a:latin typeface="맑은 고딕"/>
                <a:ea typeface="맑은 고딕"/>
              </a:rPr>
              <a:t> 간 </a:t>
            </a:r>
            <a:r>
              <a:rPr sz="650" b="1" i="0" dirty="0" err="1">
                <a:solidFill>
                  <a:srgbClr val="C55A11"/>
                </a:solidFill>
                <a:latin typeface="맑은 고딕"/>
                <a:ea typeface="맑은 고딕"/>
              </a:rPr>
              <a:t>공유</a:t>
            </a:r>
            <a:endParaRPr sz="650" b="1" i="0" dirty="0">
              <a:solidFill>
                <a:srgbClr val="C55A11"/>
              </a:solidFill>
              <a:latin typeface="맑은 고딕"/>
              <a:ea typeface="맑은 고딕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5056632" y="4434840"/>
            <a:ext cx="13258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tier 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배치는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DP1이 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결정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endParaRPr lang="en-US" sz="650" b="0" i="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algn="ctr"/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저장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위치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무관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2587752" y="2130552"/>
            <a:ext cx="0" cy="475488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2510028" y="2290572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174" name="Connector 173"/>
          <p:cNvCxnSpPr/>
          <p:nvPr/>
        </p:nvCxnSpPr>
        <p:spPr>
          <a:xfrm flipH="1">
            <a:off x="4690872" y="2697480"/>
            <a:ext cx="3200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4773168" y="2619756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2496312" y="3026664"/>
            <a:ext cx="411479" cy="539496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Oval 176"/>
          <p:cNvSpPr/>
          <p:nvPr/>
        </p:nvSpPr>
        <p:spPr>
          <a:xfrm>
            <a:off x="2624328" y="3218688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178" name="Connector 177"/>
          <p:cNvCxnSpPr/>
          <p:nvPr/>
        </p:nvCxnSpPr>
        <p:spPr>
          <a:xfrm flipH="1">
            <a:off x="2313432" y="3794760"/>
            <a:ext cx="3200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2395728" y="3717036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3410712" y="3794760"/>
            <a:ext cx="3200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4690872" y="3840480"/>
            <a:ext cx="320040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4773168" y="3762756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3913632" y="2130552"/>
            <a:ext cx="0" cy="475488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3835908" y="2290572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cxnSp>
        <p:nvCxnSpPr>
          <p:cNvPr id="185" name="Connector 184"/>
          <p:cNvCxnSpPr/>
          <p:nvPr/>
        </p:nvCxnSpPr>
        <p:spPr>
          <a:xfrm flipH="1">
            <a:off x="4690872" y="292608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4773168" y="284835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187" name="Connector 186"/>
          <p:cNvCxnSpPr/>
          <p:nvPr/>
        </p:nvCxnSpPr>
        <p:spPr>
          <a:xfrm flipV="1">
            <a:off x="4187952" y="3026664"/>
            <a:ext cx="0" cy="539496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4110228" y="32186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243584" y="4139183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627632" y="41513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Comp.KV(사전 산출물)는 요청 간 공유, 저장 tier는 DP1이 결정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243584" y="4424934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627632" y="442569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선택 재계산(Prefill 유사 연산)을 실행할 자원은 DP2가 결정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406640" y="1764792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User Query Manager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실제 Query (요청 시점)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629400" y="2240280"/>
            <a:ext cx="3474720" cy="86868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6629400" y="2240280"/>
            <a:ext cx="1196035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lang="en-US" altLang="ko-KR"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«layer» LLM </a:t>
            </a:r>
            <a:r>
              <a:rPr lang="en-US" altLang="ko-KR" sz="700" b="1" dirty="0">
                <a:solidFill>
                  <a:srgbClr val="FFFFFF"/>
                </a:solidFill>
                <a:latin typeface="맑은 고딕"/>
                <a:ea typeface="맑은 고딕"/>
              </a:rPr>
              <a:t>generation</a:t>
            </a:r>
            <a:endParaRPr lang="en-US" altLang="ko-KR" sz="7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6858000" y="2606040"/>
            <a:ext cx="1280160" cy="420624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Attention Manager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Query × KV Attention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812280" y="266090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6812280" y="275234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8595360" y="2606040"/>
            <a:ext cx="1371600" cy="420624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Selective Recomputer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선정 토큰만 재계산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49640" y="266090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8549640" y="2752344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3" name="Rounded Rectangle 202"/>
          <p:cNvSpPr/>
          <p:nvPr/>
        </p:nvSpPr>
        <p:spPr>
          <a:xfrm>
            <a:off x="9628632" y="2523744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183879" y="225856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→ Prefill/Decode 생성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629400" y="3246120"/>
            <a:ext cx="3474720" cy="841248"/>
          </a:xfrm>
          <a:prstGeom prst="rect">
            <a:avLst/>
          </a:prstGeom>
          <a:solidFill>
            <a:srgbClr val="FFF8F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6629400" y="3246120"/>
            <a:ext cx="1371600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lang="en-US" altLang="ko-KR"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«layer» KV Compress &amp; Blend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858000" y="3566160"/>
            <a:ext cx="86868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 dirty="0">
                <a:solidFill>
                  <a:srgbClr val="000000"/>
                </a:solidFill>
                <a:latin typeface="맑은 고딕"/>
                <a:ea typeface="맑은 고딕"/>
              </a:rPr>
              <a:t>KV Cache </a:t>
            </a:r>
            <a:endParaRPr lang="en-US" sz="750" b="1" i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/>
            <a:r>
              <a:rPr sz="750" b="1" i="0" dirty="0">
                <a:solidFill>
                  <a:srgbClr val="000000"/>
                </a:solidFill>
                <a:latin typeface="맑은 고딕"/>
                <a:ea typeface="맑은 고딕"/>
              </a:rPr>
              <a:t>Compressor</a:t>
            </a:r>
          </a:p>
          <a:p>
            <a:pPr algn="ctr"/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낮은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 evict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6812280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6812280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046720" y="3566160"/>
            <a:ext cx="7772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KV Sampler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점수로 토큰 선정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001000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001000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9144000" y="3566160"/>
            <a:ext cx="86868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Recompute Token Selector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098280" y="3621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9098280" y="3712463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10424160" y="2240280"/>
            <a:ext cx="1417320" cy="2560320"/>
          </a:xfrm>
          <a:prstGeom prst="rect">
            <a:avLst/>
          </a:prstGeom>
          <a:solidFill>
            <a:srgbClr val="F7F7F7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10424160" y="2240280"/>
            <a:ext cx="1009497" cy="1737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«store» KV </a:t>
            </a:r>
            <a:r>
              <a:rPr lang="en-US"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Store</a:t>
            </a:r>
            <a:endParaRPr sz="7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8" name="Rounded Rectangle 217"/>
          <p:cNvSpPr/>
          <p:nvPr/>
        </p:nvSpPr>
        <p:spPr>
          <a:xfrm>
            <a:off x="11475720" y="2258568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469880" y="2450592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7F7F7F"/>
                </a:solidFill>
                <a:latin typeface="맑은 고딕"/>
                <a:ea typeface="맑은 고딕"/>
              </a:rPr>
              <a:t>HBM · DRAM · CXL · SSD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0515600" y="2633472"/>
            <a:ext cx="1234440" cy="24688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Context KV 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515600" y="2926080"/>
            <a:ext cx="1234440" cy="24688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Context KV 2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0711251" y="3429000"/>
            <a:ext cx="843139" cy="50292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1" i="0" dirty="0" err="1">
                <a:solidFill>
                  <a:srgbClr val="000000"/>
                </a:solidFill>
                <a:latin typeface="맑은 고딕"/>
                <a:ea typeface="맑은 고딕"/>
              </a:rPr>
              <a:t>요청별</a:t>
            </a:r>
            <a:r>
              <a:rPr sz="700" b="1" i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1" i="0" dirty="0" err="1">
                <a:solidFill>
                  <a:srgbClr val="000000"/>
                </a:solidFill>
                <a:latin typeface="맑은 고딕"/>
                <a:ea typeface="맑은 고딕"/>
              </a:rPr>
              <a:t>Comp.KV</a:t>
            </a:r>
            <a:endParaRPr sz="700" b="1" i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/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(Query </a:t>
            </a:r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의존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700" b="0" i="0" dirty="0" err="1">
                <a:solidFill>
                  <a:srgbClr val="000000"/>
                </a:solidFill>
                <a:latin typeface="맑은 고딕"/>
                <a:ea typeface="맑은 고딕"/>
              </a:rPr>
              <a:t>임시</a:t>
            </a:r>
            <a:r>
              <a:rPr sz="700" b="0" i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0469880" y="4434840"/>
            <a:ext cx="13258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tier 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배치는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DP1이 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결정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endParaRPr lang="en-US" sz="650" b="0" i="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algn="ctr"/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저장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위치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무관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7909560" y="2130552"/>
            <a:ext cx="0" cy="475488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224"/>
          <p:cNvSpPr/>
          <p:nvPr/>
        </p:nvSpPr>
        <p:spPr>
          <a:xfrm>
            <a:off x="7831836" y="2290572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226" name="Connector 225"/>
          <p:cNvCxnSpPr/>
          <p:nvPr/>
        </p:nvCxnSpPr>
        <p:spPr>
          <a:xfrm flipH="1">
            <a:off x="10104120" y="274320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Oval 226"/>
          <p:cNvSpPr/>
          <p:nvPr/>
        </p:nvSpPr>
        <p:spPr>
          <a:xfrm>
            <a:off x="10186416" y="266547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7909560" y="3026664"/>
            <a:ext cx="411480" cy="539496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Oval 228"/>
          <p:cNvSpPr/>
          <p:nvPr/>
        </p:nvSpPr>
        <p:spPr>
          <a:xfrm>
            <a:off x="8037575" y="32186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230" name="Connector 229"/>
          <p:cNvCxnSpPr/>
          <p:nvPr/>
        </p:nvCxnSpPr>
        <p:spPr>
          <a:xfrm flipH="1">
            <a:off x="7726679" y="3794760"/>
            <a:ext cx="320041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7808975" y="371703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8823960" y="379476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326880" y="3026664"/>
            <a:ext cx="0" cy="539496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9249155" y="32186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656832" y="4146804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040880" y="41513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Context KV의 tier 배치는 DP1이 결정, 압축 결과는 요청 단위로 생성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6670548" y="4357116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054596" y="4372938"/>
            <a:ext cx="3017520" cy="206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선택 재계산(Prefill 유사 연산)을 실행할 자원은 DP2가 결정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1342065" y="4689663"/>
            <a:ext cx="1009528" cy="100027"/>
            <a:chOff x="600198" y="4114184"/>
            <a:chExt cx="1009528" cy="100027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rgbClr val="40404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650" b="0" i="0" dirty="0" err="1">
                  <a:solidFill>
                    <a:srgbClr val="7F7F7F"/>
                  </a:solidFill>
                  <a:latin typeface="맑은 고딕"/>
                  <a:ea typeface="맑은 고딕"/>
                </a:rPr>
                <a:t>사전</a:t>
              </a:r>
              <a:r>
                <a:rPr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(</a:t>
              </a:r>
              <a:r>
                <a:rPr sz="650" b="0" i="0" dirty="0" err="1">
                  <a:solidFill>
                    <a:srgbClr val="7F7F7F"/>
                  </a:solidFill>
                  <a:latin typeface="맑은 고딕"/>
                  <a:ea typeface="맑은 고딕"/>
                </a:rPr>
                <a:t>오프라인</a:t>
              </a:r>
              <a:r>
                <a:rPr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)</a:t>
              </a:r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 단계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2473452" y="4689663"/>
            <a:ext cx="1009528" cy="100027"/>
            <a:chOff x="2473452" y="4689663"/>
            <a:chExt cx="1009528" cy="100027"/>
          </a:xfrm>
        </p:grpSpPr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서빙 시</a:t>
              </a:r>
              <a:r>
                <a:rPr lang="en-US" altLang="ko-KR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(</a:t>
              </a:r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요청 경로</a:t>
              </a:r>
              <a:r>
                <a:rPr lang="en-US" altLang="ko-KR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)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1836876-5FD3-4E66-B38B-43E19A9A12BB}"/>
              </a:ext>
            </a:extLst>
          </p:cNvPr>
          <p:cNvGrpSpPr/>
          <p:nvPr/>
        </p:nvGrpSpPr>
        <p:grpSpPr>
          <a:xfrm>
            <a:off x="6779192" y="4689663"/>
            <a:ext cx="1009528" cy="100027"/>
            <a:chOff x="6779192" y="4689663"/>
            <a:chExt cx="1009528" cy="100027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704963F3-B0DB-4923-BB3B-1D2732213670}"/>
                </a:ext>
              </a:extLst>
            </p:cNvPr>
            <p:cNvCxnSpPr>
              <a:cxnSpLocks/>
            </p:cNvCxnSpPr>
            <p:nvPr/>
          </p:nvCxnSpPr>
          <p:spPr>
            <a:xfrm>
              <a:off x="677919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E8F293CD-188C-4877-99B3-D91646C7B15E}"/>
                </a:ext>
              </a:extLst>
            </p:cNvPr>
            <p:cNvSpPr txBox="1"/>
            <p:nvPr/>
          </p:nvSpPr>
          <p:spPr>
            <a:xfrm>
              <a:off x="702721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서빙 시</a:t>
              </a:r>
              <a:r>
                <a:rPr lang="en-US" altLang="ko-KR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(</a:t>
              </a:r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요청 경로</a:t>
              </a:r>
              <a:r>
                <a:rPr lang="en-US" altLang="ko-KR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)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93" name="모서리가 둥근 직사각형 37">
            <a:extLst>
              <a:ext uri="{FF2B5EF4-FFF2-40B4-BE49-F238E27FC236}">
                <a16:creationId xmlns:a16="http://schemas.microsoft.com/office/drawing/2014/main" id="{6B693242-5EEF-4D32-8F09-9F360043D5FB}"/>
              </a:ext>
            </a:extLst>
          </p:cNvPr>
          <p:cNvSpPr/>
          <p:nvPr/>
        </p:nvSpPr>
        <p:spPr>
          <a:xfrm>
            <a:off x="9911385" y="617897"/>
            <a:ext cx="120843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</a:t>
            </a:r>
            <a:r>
              <a:rPr lang="ko-KR" altLang="en-US" sz="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압축∙재사용</a:t>
            </a:r>
            <a:endParaRPr lang="ko-KR" altLang="en-US" sz="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1" name="모서리가 둥근 직사각형 37">
            <a:extLst>
              <a:ext uri="{FF2B5EF4-FFF2-40B4-BE49-F238E27FC236}">
                <a16:creationId xmlns:a16="http://schemas.microsoft.com/office/drawing/2014/main" id="{599DDDE6-832F-4D7D-A8E4-07CB8D8FAB19}"/>
              </a:ext>
            </a:extLst>
          </p:cNvPr>
          <p:cNvSpPr/>
          <p:nvPr/>
        </p:nvSpPr>
        <p:spPr>
          <a:xfrm>
            <a:off x="11145214" y="613358"/>
            <a:ext cx="772631" cy="16274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F7 </a:t>
            </a:r>
            <a:r>
              <a:rPr lang="en-US" altLang="ko-KR" sz="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243" name="모서리가 둥근 직사각형 37">
            <a:extLst>
              <a:ext uri="{FF2B5EF4-FFF2-40B4-BE49-F238E27FC236}">
                <a16:creationId xmlns:a16="http://schemas.microsoft.com/office/drawing/2014/main" id="{7D2F8ED5-0EFB-410C-A2C3-3568EEE141C3}"/>
              </a:ext>
            </a:extLst>
          </p:cNvPr>
          <p:cNvSpPr/>
          <p:nvPr/>
        </p:nvSpPr>
        <p:spPr>
          <a:xfrm>
            <a:off x="9636626" y="813626"/>
            <a:ext cx="62876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Latency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244" name="모서리가 둥근 직사각형 37">
            <a:extLst>
              <a:ext uri="{FF2B5EF4-FFF2-40B4-BE49-F238E27FC236}">
                <a16:creationId xmlns:a16="http://schemas.microsoft.com/office/drawing/2014/main" id="{D6402B05-EBC0-4E87-AEC1-F112EEA19579}"/>
              </a:ext>
            </a:extLst>
          </p:cNvPr>
          <p:cNvSpPr/>
          <p:nvPr/>
        </p:nvSpPr>
        <p:spPr>
          <a:xfrm>
            <a:off x="10306660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245" name="모서리가 둥근 직사각형 37">
            <a:extLst>
              <a:ext uri="{FF2B5EF4-FFF2-40B4-BE49-F238E27FC236}">
                <a16:creationId xmlns:a16="http://schemas.microsoft.com/office/drawing/2014/main" id="{4D0981FB-60C2-441C-9C62-6858891AED7C}"/>
              </a:ext>
            </a:extLst>
          </p:cNvPr>
          <p:cNvSpPr/>
          <p:nvPr/>
        </p:nvSpPr>
        <p:spPr>
          <a:xfrm>
            <a:off x="11196246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Q5 </a:t>
            </a:r>
            <a:r>
              <a:rPr lang="ko-KR" altLang="en-US" sz="700" dirty="0">
                <a:latin typeface="맑은 고딕" panose="020B0503020000020004" pitchFamily="50" charset="-127"/>
              </a:rPr>
              <a:t>출력 정확성</a:t>
            </a:r>
          </a:p>
        </p:txBody>
      </p:sp>
    </p:spTree>
    <p:extLst>
      <p:ext uri="{BB962C8B-B14F-4D97-AF65-F5344CB8AC3E}">
        <p14:creationId xmlns:p14="http://schemas.microsoft.com/office/powerpoint/2010/main" val="231215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DP4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1245660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6259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206272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222978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25407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218197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baseline="0" dirty="0"/>
                        <a:t>(1</a:t>
                      </a:r>
                      <a:r>
                        <a:rPr lang="ko-KR" altLang="en-US" sz="1200" b="1" strike="noStrike" baseline="0" dirty="0"/>
                        <a:t>안</a:t>
                      </a:r>
                      <a:r>
                        <a:rPr lang="en-US" altLang="ko-KR" sz="1200" b="1" strike="noStrike" baseline="0" dirty="0"/>
                        <a:t>) OSS </a:t>
                      </a:r>
                      <a:r>
                        <a:rPr lang="ko-KR" altLang="en-US" sz="1200" b="1" strike="noStrike" baseline="0" dirty="0"/>
                        <a:t>확장 구조 </a:t>
                      </a:r>
                      <a:r>
                        <a:rPr lang="en-US" altLang="ko-KR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lang="en-US" altLang="ko-KR" sz="850" b="0" kern="1200" dirty="0" err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llm</a:t>
                      </a:r>
                      <a:r>
                        <a:rPr lang="en-US" altLang="ko-KR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-d </a:t>
                      </a:r>
                      <a:r>
                        <a:rPr lang="ko-KR" altLang="en-US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기준</a:t>
                      </a:r>
                      <a:r>
                        <a:rPr lang="en-US" altLang="ko-KR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: </a:t>
                      </a:r>
                      <a:r>
                        <a:rPr lang="ko-KR" altLang="en-US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기존 모듈 </a:t>
                      </a:r>
                      <a:r>
                        <a:rPr lang="en-US" altLang="ko-KR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+ </a:t>
                      </a:r>
                      <a:r>
                        <a:rPr lang="ko-KR" altLang="en-US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우리 확장</a:t>
                      </a:r>
                      <a:r>
                        <a:rPr lang="en-US" altLang="ko-KR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r>
                        <a:rPr lang="ko-KR" altLang="en-US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자체 구현 구조 </a:t>
                      </a:r>
                      <a:r>
                        <a:rPr lang="en-US" altLang="ko-KR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(Own Router: </a:t>
                      </a:r>
                      <a:r>
                        <a:rPr lang="ko-KR" altLang="en-US" sz="850" b="0" kern="1200" dirty="0" err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계층형</a:t>
                      </a:r>
                      <a:r>
                        <a:rPr lang="ko-KR" altLang="en-US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· </a:t>
                      </a:r>
                      <a:r>
                        <a:rPr lang="ko-KR" altLang="en-US" sz="850" b="0" kern="1200" dirty="0" err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레플리카</a:t>
                      </a:r>
                      <a:r>
                        <a:rPr lang="ko-KR" altLang="en-US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확장</a:t>
                      </a:r>
                      <a:r>
                        <a:rPr lang="en-US" altLang="ko-KR" sz="850" b="0" kern="1200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3839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OSS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재사용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경로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·KV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인덱스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흐름 제어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구현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유지 부담 적음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기능 재활용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서비스 관점 유리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(Heavy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인증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∙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재시도 처리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서버 증설 등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한 프로세스 내부 호출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-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원격 호출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·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보조 프로세스 경유 없음 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비용 함수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, P/D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결정 정책 변경 용이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시스템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POC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관점 유리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(K8s·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프록시 불필요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프로세스간 호출 및 경유를 통해 시간 증가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K8s,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프록시로 인한 운영 부담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OSS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버전업 시 유지보수 부담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Routing, Dispatching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이 단일 프로세스 내 처리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-&gt;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병목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장애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(SPOF)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위험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각 </a:t>
                      </a:r>
                      <a:r>
                        <a:rPr lang="ko-KR" altLang="en-US" sz="1200" strike="noStrike" baseline="0" dirty="0" err="1">
                          <a:solidFill>
                            <a:schemeClr val="tx1"/>
                          </a:solidFill>
                          <a:effectLst/>
                        </a:rPr>
                        <a:t>레플리카가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전체 서버의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를 처리하므로 서버 </a:t>
                      </a:r>
                      <a:r>
                        <a:rPr lang="ko-KR" altLang="en-US" sz="1200" strike="noStrike" baseline="0" dirty="0" err="1">
                          <a:solidFill>
                            <a:schemeClr val="tx1"/>
                          </a:solidFill>
                          <a:effectLst/>
                        </a:rPr>
                        <a:t>확장시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갱신 부하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541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strike="noStrike" dirty="0">
                          <a:solidFill>
                            <a:schemeClr val="tx1"/>
                          </a:solidFill>
                        </a:rPr>
                        <a:t>토큰 비용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, M/M</a:t>
                      </a:r>
                      <a:r>
                        <a:rPr lang="en-US" altLang="ko-KR" sz="1000" b="0" strike="noStrik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strike="noStrike" baseline="0" dirty="0">
                          <a:solidFill>
                            <a:schemeClr val="tx1"/>
                          </a:solidFill>
                        </a:rPr>
                        <a:t>모듈 수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Scalability</a:t>
                      </a:r>
                      <a:r>
                        <a:rPr lang="en-US" altLang="ko-KR" sz="1000" b="0" strike="noStrike" baseline="0" dirty="0">
                          <a:solidFill>
                            <a:schemeClr val="tx1"/>
                          </a:solidFill>
                        </a:rPr>
                        <a:t>(Scaling Efficiency)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050" b="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3,360</a:t>
                      </a:r>
                      <a:r>
                        <a:rPr lang="en-US" altLang="ko-KR" sz="8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(x1.05)</a:t>
                      </a:r>
                      <a:endParaRPr lang="en-US" altLang="ko-KR" sz="9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05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2,060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(×0.90)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,</a:t>
                      </a:r>
                      <a:r>
                        <a:rPr lang="en-US" altLang="ko-KR" sz="10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48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(×0.91)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05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/>
                      </a:r>
                      <a:r>
                        <a:rPr lang="en-US" altLang="ko-KR" sz="1050" b="0" baseline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$1.02, 0.16, 2.7</a:t>
                      </a:r>
                      <a:endParaRPr lang="en-US" altLang="ko-KR" sz="105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ko-KR" altLang="en-US" sz="1050" b="0" dirty="0">
                          <a:solidFill>
                            <a:schemeClr val="accent1"/>
                          </a:solidFill>
                          <a:latin typeface="+mn-lt"/>
                          <a:ea typeface="맑은 고딕"/>
                        </a:rPr>
                        <a:t>★★</a:t>
                      </a:r>
                      <a:r>
                        <a:rPr lang="ko-KR" altLang="en-US" sz="105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93%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strike="noStrike" dirty="0">
                          <a:solidFill>
                            <a:schemeClr val="tx1"/>
                          </a:solidFill>
                        </a:rPr>
                        <a:t>토큰 비용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, M/M</a:t>
                      </a:r>
                      <a:r>
                        <a:rPr lang="en-US" altLang="ko-KR" sz="1000" b="0" strike="noStrik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strike="noStrike" baseline="0" dirty="0">
                          <a:solidFill>
                            <a:schemeClr val="tx1"/>
                          </a:solidFill>
                        </a:rPr>
                        <a:t>모듈 수</a:t>
                      </a:r>
                      <a:r>
                        <a:rPr lang="en-US" altLang="ko-KR" sz="1000" b="0" strike="noStrike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Scalability</a:t>
                      </a:r>
                      <a:r>
                        <a:rPr lang="en-US" altLang="ko-KR" sz="1000" b="0" strike="noStrike" baseline="0" dirty="0">
                          <a:solidFill>
                            <a:schemeClr val="tx1"/>
                          </a:solidFill>
                        </a:rPr>
                        <a:t>(Scaling Efficiency)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b="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3,340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(×1.04)</a:t>
                      </a:r>
                      <a:endParaRPr lang="en-US" altLang="ko-KR" sz="8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</a:t>
                      </a:r>
                      <a:r>
                        <a:rPr lang="ko-KR" altLang="en-US" sz="1200" b="0" dirty="0">
                          <a:solidFill>
                            <a:srgbClr val="0000FF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05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1,940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(×0.84)</a:t>
                      </a:r>
                      <a:r>
                        <a:rPr lang="en-US" altLang="ko-KR" sz="105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, 48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(×0.91)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</a:t>
                      </a:r>
                      <a:r>
                        <a:rPr lang="ko-KR" altLang="en-US" sz="1200" b="0" dirty="0">
                          <a:solidFill>
                            <a:srgbClr val="0000FF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/>
                      </a:r>
                      <a:r>
                        <a:rPr lang="en-US" altLang="ko-KR" sz="105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$0.48, 0.15, 2.3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★☆☆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5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64%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DP0. </a:t>
            </a:r>
            <a:r>
              <a:rPr lang="en-US" altLang="ko-KR" dirty="0" err="1"/>
              <a:t>요청</a:t>
            </a:r>
            <a:r>
              <a:rPr lang="en-US" altLang="ko-KR" dirty="0"/>
              <a:t> </a:t>
            </a:r>
            <a:r>
              <a:rPr lang="en-US" altLang="ko-KR" dirty="0" err="1"/>
              <a:t>조율</a:t>
            </a:r>
            <a:r>
              <a:rPr lang="en-US" altLang="ko-KR" dirty="0"/>
              <a:t> </a:t>
            </a:r>
            <a:r>
              <a:rPr lang="en-US" altLang="ko-KR" dirty="0" err="1"/>
              <a:t>계층</a:t>
            </a:r>
            <a:r>
              <a:rPr lang="en-US" altLang="ko-KR" dirty="0"/>
              <a:t> (Orchestration) </a:t>
            </a:r>
            <a:r>
              <a:rPr lang="en-US" altLang="ko-KR" dirty="0" err="1"/>
              <a:t>설계</a:t>
            </a:r>
            <a:r>
              <a:rPr lang="en-US" altLang="ko-KR" dirty="0"/>
              <a:t> - </a:t>
            </a:r>
            <a:r>
              <a:rPr lang="en-US" altLang="ko-KR" dirty="0" err="1"/>
              <a:t>구조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요청을 어떤 서버로 전달할 것인가</a:t>
            </a:r>
            <a:r>
              <a:rPr lang="en-US" altLang="ko-KR" sz="1400" b="1" dirty="0">
                <a:solidFill>
                  <a:schemeClr val="bg1"/>
                </a:solidFill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</a:rPr>
              <a:t>요청 조율</a:t>
            </a:r>
            <a:r>
              <a:rPr lang="en-US" altLang="ko-KR" sz="1400" b="1" dirty="0">
                <a:solidFill>
                  <a:schemeClr val="bg1"/>
                </a:solidFill>
              </a:rPr>
              <a:t>)</a:t>
            </a:r>
            <a:r>
              <a:rPr lang="ko-KR" altLang="en-US" sz="1400" b="1" dirty="0">
                <a:solidFill>
                  <a:schemeClr val="bg1"/>
                </a:solidFill>
              </a:rPr>
              <a:t>를 담당하는 계층 설계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404040"/>
                </a:solidFill>
                <a:ea typeface="맑은 고딕"/>
              </a:rPr>
              <a:t>“검증된 </a:t>
            </a:r>
            <a:r>
              <a:rPr lang="en-US" altLang="ko-KR" sz="1100" dirty="0">
                <a:solidFill>
                  <a:srgbClr val="404040"/>
                </a:solidFill>
                <a:ea typeface="맑은 고딕"/>
              </a:rPr>
              <a:t>OSS </a:t>
            </a:r>
            <a:r>
              <a:rPr lang="ko-KR" altLang="en-US" sz="1100" dirty="0">
                <a:solidFill>
                  <a:srgbClr val="404040"/>
                </a:solidFill>
                <a:ea typeface="맑은 고딕"/>
              </a:rPr>
              <a:t>위에 설정</a:t>
            </a:r>
            <a:r>
              <a:rPr lang="en-US" altLang="ko-KR" sz="1100" dirty="0">
                <a:solidFill>
                  <a:srgbClr val="404040"/>
                </a:solidFill>
                <a:ea typeface="맑은 고딕"/>
              </a:rPr>
              <a:t>·</a:t>
            </a:r>
            <a:r>
              <a:rPr lang="ko-KR" altLang="en-US" sz="1100" dirty="0">
                <a:solidFill>
                  <a:srgbClr val="404040"/>
                </a:solidFill>
                <a:ea typeface="맑은 고딕"/>
              </a:rPr>
              <a:t>확장 모듈</a:t>
            </a:r>
            <a:r>
              <a:rPr lang="en-US" altLang="ko-KR" sz="1100" dirty="0">
                <a:solidFill>
                  <a:srgbClr val="404040"/>
                </a:solidFill>
                <a:ea typeface="맑은 고딕"/>
              </a:rPr>
              <a:t>(plugin)</a:t>
            </a:r>
            <a:r>
              <a:rPr lang="ko-KR" altLang="en-US" sz="1100" dirty="0">
                <a:solidFill>
                  <a:srgbClr val="404040"/>
                </a:solidFill>
                <a:ea typeface="맑은 고딕"/>
              </a:rPr>
              <a:t>로 이기종 메모리 인지 정책을 얹는 구조”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404040"/>
                </a:solidFill>
                <a:ea typeface="맑은 고딕"/>
              </a:rPr>
              <a:t>“</a:t>
            </a:r>
            <a:r>
              <a:rPr lang="en-US" altLang="ko-KR" sz="1100" dirty="0">
                <a:solidFill>
                  <a:srgbClr val="404040"/>
                </a:solidFill>
                <a:ea typeface="맑은 고딕"/>
              </a:rPr>
              <a:t>Routing, Dispatching</a:t>
            </a:r>
            <a:r>
              <a:rPr lang="ko-KR" altLang="en-US" sz="1100" dirty="0">
                <a:solidFill>
                  <a:srgbClr val="404040"/>
                </a:solidFill>
                <a:ea typeface="맑은 고딕"/>
              </a:rPr>
              <a:t>을 한 프로세스에 모아 호출 경로를 줄이고</a:t>
            </a:r>
            <a:r>
              <a:rPr lang="en-US" altLang="ko-KR" sz="1100" dirty="0">
                <a:solidFill>
                  <a:srgbClr val="404040"/>
                </a:solidFill>
                <a:ea typeface="맑은 고딕"/>
              </a:rPr>
              <a:t>, </a:t>
            </a:r>
            <a:r>
              <a:rPr lang="ko-KR" altLang="en-US" sz="1100" dirty="0" err="1">
                <a:solidFill>
                  <a:srgbClr val="404040"/>
                </a:solidFill>
                <a:ea typeface="맑은 고딕"/>
              </a:rPr>
              <a:t>레플리카로</a:t>
            </a:r>
            <a:r>
              <a:rPr lang="ko-KR" altLang="en-US" sz="1100" dirty="0">
                <a:solidFill>
                  <a:srgbClr val="404040"/>
                </a:solidFill>
                <a:ea typeface="맑은 고딕"/>
              </a:rPr>
              <a:t> 늘리는 구조”</a:t>
            </a:r>
          </a:p>
        </p:txBody>
      </p:sp>
      <p:sp>
        <p:nvSpPr>
          <p:cNvPr id="546" name="실행 단추: 앞으로 또는 다음 545">
            <a:hlinkClick r:id="rId3" action="ppaction://hlinksldjump" highlightClick="1"/>
          </p:cNvPr>
          <p:cNvSpPr/>
          <p:nvPr/>
        </p:nvSpPr>
        <p:spPr>
          <a:xfrm>
            <a:off x="508836" y="3269217"/>
            <a:ext cx="311150" cy="2721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Rectangle 172"/>
          <p:cNvSpPr/>
          <p:nvPr/>
        </p:nvSpPr>
        <p:spPr>
          <a:xfrm>
            <a:off x="7337372" y="1782134"/>
            <a:ext cx="3566160" cy="2570877"/>
          </a:xfrm>
          <a:prstGeom prst="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172"/>
          <p:cNvSpPr/>
          <p:nvPr/>
        </p:nvSpPr>
        <p:spPr>
          <a:xfrm>
            <a:off x="7293028" y="1814280"/>
            <a:ext cx="3566160" cy="2598429"/>
          </a:xfrm>
          <a:prstGeom prst="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111"/>
          <p:cNvCxnSpPr/>
          <p:nvPr/>
        </p:nvCxnSpPr>
        <p:spPr>
          <a:xfrm>
            <a:off x="2103120" y="2861199"/>
            <a:ext cx="2971800" cy="0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</p:cxnSp>
      <p:sp>
        <p:nvSpPr>
          <p:cNvPr id="89" name="Rectangle 112"/>
          <p:cNvSpPr/>
          <p:nvPr/>
        </p:nvSpPr>
        <p:spPr>
          <a:xfrm>
            <a:off x="1234440" y="1827927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Client</a:t>
            </a:r>
          </a:p>
        </p:txBody>
      </p:sp>
      <p:sp>
        <p:nvSpPr>
          <p:cNvPr id="90" name="Rectangle 113"/>
          <p:cNvSpPr/>
          <p:nvPr/>
        </p:nvSpPr>
        <p:spPr>
          <a:xfrm>
            <a:off x="1188719" y="2312559"/>
            <a:ext cx="973835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114"/>
          <p:cNvSpPr/>
          <p:nvPr/>
        </p:nvSpPr>
        <p:spPr>
          <a:xfrm>
            <a:off x="1188720" y="2312559"/>
            <a:ext cx="960120" cy="1737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  <a:effectLst/>
        </p:spPr>
        <p:txBody>
          <a:bodyPr wrap="square" lIns="45720" tIns="0" rIns="18288" bIns="0" rtlCol="0" anchor="ctr"/>
          <a:lstStyle/>
          <a:p>
            <a:pPr algn="l"/>
            <a:r>
              <a:rPr sz="800" b="1" dirty="0">
                <a:solidFill>
                  <a:srgbClr val="FFFFFF"/>
                </a:solidFill>
                <a:latin typeface="맑은 고딕"/>
                <a:ea typeface="맑은 고딕"/>
              </a:rPr>
              <a:t>«</a:t>
            </a:r>
            <a:r>
              <a:rPr lang="en-US" sz="800" b="1" dirty="0">
                <a:solidFill>
                  <a:srgbClr val="FFFFFF"/>
                </a:solidFill>
                <a:latin typeface="맑은 고딕"/>
                <a:ea typeface="맑은 고딕"/>
              </a:rPr>
              <a:t>process</a:t>
            </a:r>
            <a:r>
              <a:rPr sz="800" b="1" dirty="0">
                <a:solidFill>
                  <a:srgbClr val="FFFFFF"/>
                </a:solidFill>
                <a:latin typeface="맑은 고딕"/>
                <a:ea typeface="맑은 고딕"/>
              </a:rPr>
              <a:t>» </a:t>
            </a:r>
            <a:r>
              <a:rPr sz="800" b="1" dirty="0" err="1">
                <a:solidFill>
                  <a:srgbClr val="FFFFFF"/>
                </a:solidFill>
                <a:latin typeface="맑은 고딕"/>
                <a:ea typeface="맑은 고딕"/>
              </a:rPr>
              <a:t>프록시</a:t>
            </a:r>
            <a:endParaRPr sz="8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2" name="Rectangle 123"/>
          <p:cNvSpPr/>
          <p:nvPr/>
        </p:nvSpPr>
        <p:spPr>
          <a:xfrm>
            <a:off x="2395728" y="1855359"/>
            <a:ext cx="2395728" cy="2583351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9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124"/>
          <p:cNvSpPr/>
          <p:nvPr/>
        </p:nvSpPr>
        <p:spPr>
          <a:xfrm>
            <a:off x="2395728" y="1855359"/>
            <a:ext cx="2395728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txBody>
          <a:bodyPr wrap="square" lIns="45720" tIns="0" rIns="18288" bIns="0" rtlCol="0" anchor="ctr"/>
          <a:lstStyle/>
          <a:p>
            <a:pPr algn="l"/>
            <a:r>
              <a:rPr sz="800" b="1" dirty="0">
                <a:solidFill>
                  <a:srgbClr val="FFFFFF"/>
                </a:solidFill>
                <a:latin typeface="맑은 고딕"/>
                <a:ea typeface="맑은 고딕"/>
              </a:rPr>
              <a:t>«process» Router  (</a:t>
            </a:r>
            <a:r>
              <a:rPr sz="800" b="1" dirty="0" err="1">
                <a:solidFill>
                  <a:srgbClr val="FFFFFF"/>
                </a:solidFill>
                <a:latin typeface="맑은 고딕"/>
                <a:ea typeface="맑은 고딕"/>
              </a:rPr>
              <a:t>llm</a:t>
            </a:r>
            <a:r>
              <a:rPr sz="800" b="1" dirty="0">
                <a:solidFill>
                  <a:srgbClr val="FFFFFF"/>
                </a:solidFill>
                <a:latin typeface="맑은 고딕"/>
                <a:ea typeface="맑은 고딕"/>
              </a:rPr>
              <a:t>-d </a:t>
            </a:r>
            <a:r>
              <a:rPr sz="800" b="1" dirty="0" err="1">
                <a:solidFill>
                  <a:srgbClr val="FFFFFF"/>
                </a:solidFill>
                <a:latin typeface="맑은 고딕"/>
                <a:ea typeface="맑은 고딕"/>
              </a:rPr>
              <a:t>기준</a:t>
            </a:r>
            <a:r>
              <a:rPr sz="800" b="1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94" name="Rectangle 125"/>
          <p:cNvSpPr/>
          <p:nvPr/>
        </p:nvSpPr>
        <p:spPr>
          <a:xfrm>
            <a:off x="2619756" y="2102247"/>
            <a:ext cx="777240" cy="38404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50" b="1" dirty="0" err="1">
                <a:solidFill>
                  <a:srgbClr val="000000"/>
                </a:solidFill>
                <a:latin typeface="맑은 고딕"/>
                <a:ea typeface="맑은 고딕"/>
              </a:rPr>
              <a:t>요청</a:t>
            </a:r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50" b="1" dirty="0" err="1">
                <a:solidFill>
                  <a:srgbClr val="000000"/>
                </a:solidFill>
                <a:latin typeface="맑은 고딕"/>
                <a:ea typeface="맑은 고딕"/>
              </a:rPr>
              <a:t>핸들러</a:t>
            </a:r>
            <a:endParaRPr sz="75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5" name="Rectangle 126"/>
          <p:cNvSpPr/>
          <p:nvPr/>
        </p:nvSpPr>
        <p:spPr>
          <a:xfrm>
            <a:off x="2574036" y="2179056"/>
            <a:ext cx="91440" cy="54864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127"/>
          <p:cNvSpPr/>
          <p:nvPr/>
        </p:nvSpPr>
        <p:spPr>
          <a:xfrm>
            <a:off x="2574036" y="2294271"/>
            <a:ext cx="91440" cy="54864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132"/>
          <p:cNvSpPr/>
          <p:nvPr/>
        </p:nvSpPr>
        <p:spPr>
          <a:xfrm>
            <a:off x="2468880" y="2632599"/>
            <a:ext cx="1426464" cy="1677957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133"/>
          <p:cNvSpPr/>
          <p:nvPr/>
        </p:nvSpPr>
        <p:spPr>
          <a:xfrm>
            <a:off x="2468880" y="2632599"/>
            <a:ext cx="1426464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txBody>
          <a:bodyPr wrap="square" lIns="36576" tIns="0" rIns="0" bIns="0" rtlCol="0" anchor="ctr"/>
          <a:lstStyle/>
          <a:p>
            <a:pPr algn="l"/>
            <a:r>
              <a:rPr sz="750" b="1" dirty="0">
                <a:solidFill>
                  <a:srgbClr val="FFFFFF"/>
                </a:solidFill>
                <a:latin typeface="맑은 고딕"/>
                <a:ea typeface="맑은 고딕"/>
              </a:rPr>
              <a:t>Scheduler</a:t>
            </a:r>
          </a:p>
        </p:txBody>
      </p:sp>
      <p:sp>
        <p:nvSpPr>
          <p:cNvPr id="102" name="Rectangle 135"/>
          <p:cNvSpPr/>
          <p:nvPr/>
        </p:nvSpPr>
        <p:spPr>
          <a:xfrm>
            <a:off x="2542032" y="2898744"/>
            <a:ext cx="1280160" cy="381258"/>
          </a:xfrm>
          <a:prstGeom prst="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Score</a:t>
            </a:r>
            <a:r>
              <a:rPr lang="en-US" sz="750" b="1" dirty="0">
                <a:solidFill>
                  <a:srgbClr val="000000"/>
                </a:solidFill>
                <a:latin typeface="맑은 고딕"/>
                <a:ea typeface="맑은 고딕"/>
              </a:rPr>
              <a:t>r</a:t>
            </a:r>
          </a:p>
          <a:p>
            <a:pPr algn="ctr"/>
            <a:r>
              <a:rPr lang="ko-KR" altLang="en-US" sz="750" dirty="0">
                <a:solidFill>
                  <a:srgbClr val="000000"/>
                </a:solidFill>
                <a:ea typeface="맑은 고딕"/>
              </a:rPr>
              <a:t>비용 기반 점수</a:t>
            </a:r>
          </a:p>
        </p:txBody>
      </p:sp>
      <p:sp>
        <p:nvSpPr>
          <p:cNvPr id="103" name="Rectangle 136"/>
          <p:cNvSpPr/>
          <p:nvPr/>
        </p:nvSpPr>
        <p:spPr>
          <a:xfrm>
            <a:off x="2542032" y="3348646"/>
            <a:ext cx="1280160" cy="392965"/>
          </a:xfrm>
          <a:prstGeom prst="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en-US" altLang="ko-KR" sz="750" b="1" dirty="0">
                <a:solidFill>
                  <a:srgbClr val="000000"/>
                </a:solidFill>
                <a:ea typeface="맑은 고딕"/>
              </a:rPr>
              <a:t>P/D </a:t>
            </a:r>
            <a:r>
              <a:rPr lang="ko-KR" altLang="en-US" sz="750" b="1" dirty="0">
                <a:solidFill>
                  <a:srgbClr val="000000"/>
                </a:solidFill>
                <a:ea typeface="맑은 고딕"/>
              </a:rPr>
              <a:t>결정 모듈</a:t>
            </a:r>
            <a:endParaRPr lang="en-US" altLang="ko-KR" sz="750" b="1" dirty="0">
              <a:solidFill>
                <a:srgbClr val="000000"/>
              </a:solidFill>
              <a:ea typeface="맑은 고딕"/>
            </a:endParaRPr>
          </a:p>
          <a:p>
            <a:pPr algn="ctr"/>
            <a:r>
              <a:rPr lang="ko-KR" altLang="en-US" sz="750" dirty="0">
                <a:solidFill>
                  <a:srgbClr val="000000"/>
                </a:solidFill>
                <a:ea typeface="맑은 고딕"/>
              </a:rPr>
              <a:t>점수 기반 </a:t>
            </a:r>
            <a:r>
              <a:rPr lang="en-US" altLang="ko-KR" sz="750" dirty="0">
                <a:solidFill>
                  <a:srgbClr val="000000"/>
                </a:solidFill>
                <a:ea typeface="맑은 고딕"/>
              </a:rPr>
              <a:t>P/D </a:t>
            </a:r>
            <a:r>
              <a:rPr lang="ko-KR" altLang="en-US" sz="750" dirty="0">
                <a:solidFill>
                  <a:srgbClr val="000000"/>
                </a:solidFill>
                <a:ea typeface="맑은 고딕"/>
              </a:rPr>
              <a:t>결정</a:t>
            </a:r>
          </a:p>
        </p:txBody>
      </p:sp>
      <p:cxnSp>
        <p:nvCxnSpPr>
          <p:cNvPr id="104" name="Connector 138"/>
          <p:cNvCxnSpPr/>
          <p:nvPr/>
        </p:nvCxnSpPr>
        <p:spPr>
          <a:xfrm>
            <a:off x="3840480" y="2486295"/>
            <a:ext cx="0" cy="146304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</p:cxnSp>
      <p:sp>
        <p:nvSpPr>
          <p:cNvPr id="105" name="Rectangle 139"/>
          <p:cNvSpPr/>
          <p:nvPr/>
        </p:nvSpPr>
        <p:spPr>
          <a:xfrm>
            <a:off x="4023360" y="2632599"/>
            <a:ext cx="713232" cy="1677957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40"/>
          <p:cNvSpPr/>
          <p:nvPr/>
        </p:nvSpPr>
        <p:spPr>
          <a:xfrm>
            <a:off x="4023360" y="2632599"/>
            <a:ext cx="713232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txBody>
          <a:bodyPr wrap="square" lIns="27432" tIns="0" rIns="0" bIns="0" rtlCol="0" anchor="ctr"/>
          <a:lstStyle/>
          <a:p>
            <a:pPr algn="l"/>
            <a:r>
              <a:rPr sz="700" b="1" dirty="0" err="1">
                <a:solidFill>
                  <a:srgbClr val="FFFFFF"/>
                </a:solidFill>
                <a:latin typeface="맑은 고딕"/>
                <a:ea typeface="맑은 고딕"/>
              </a:rPr>
              <a:t>상태</a:t>
            </a:r>
            <a:r>
              <a:rPr sz="7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맑은 고딕"/>
                <a:ea typeface="맑은 고딕"/>
              </a:rPr>
              <a:t>계층</a:t>
            </a:r>
            <a:endParaRPr sz="7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8" name="Rectangle 141"/>
          <p:cNvSpPr/>
          <p:nvPr/>
        </p:nvSpPr>
        <p:spPr>
          <a:xfrm>
            <a:off x="4069080" y="2900536"/>
            <a:ext cx="621792" cy="343501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KV Indexer</a:t>
            </a:r>
          </a:p>
        </p:txBody>
      </p:sp>
      <p:sp>
        <p:nvSpPr>
          <p:cNvPr id="109" name="Rectangle 142"/>
          <p:cNvSpPr/>
          <p:nvPr/>
        </p:nvSpPr>
        <p:spPr>
          <a:xfrm>
            <a:off x="4069080" y="3333293"/>
            <a:ext cx="621792" cy="343501"/>
          </a:xfrm>
          <a:prstGeom prst="rect">
            <a:avLst/>
          </a:prstGeom>
          <a:solidFill>
            <a:srgbClr val="FFFFFF"/>
          </a:solidFill>
          <a:ln w="19050">
            <a:solidFill>
              <a:srgbClr val="BF9000"/>
            </a:solidFill>
            <a:prstDash val="dash"/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메모리</a:t>
            </a:r>
            <a:r>
              <a:rPr sz="6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종류</a:t>
            </a:r>
            <a:r>
              <a:rPr sz="6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가중치</a:t>
            </a:r>
            <a:endParaRPr sz="65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10" name="Rectangle 143"/>
          <p:cNvSpPr/>
          <p:nvPr/>
        </p:nvSpPr>
        <p:spPr>
          <a:xfrm>
            <a:off x="4069080" y="3824283"/>
            <a:ext cx="621792" cy="343501"/>
          </a:xfrm>
          <a:prstGeom prst="rect">
            <a:avLst/>
          </a:prstGeom>
          <a:solidFill>
            <a:srgbClr val="FFFFFF"/>
          </a:solidFill>
          <a:ln w="19050">
            <a:solidFill>
              <a:srgbClr val="BF9000"/>
            </a:solidFill>
            <a:prstDash val="dash"/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실시간</a:t>
            </a:r>
            <a:r>
              <a:rPr sz="6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상태</a:t>
            </a:r>
            <a:r>
              <a:rPr sz="6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수치</a:t>
            </a:r>
            <a:endParaRPr sz="65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cxnSp>
        <p:nvCxnSpPr>
          <p:cNvPr id="111" name="Connector 144"/>
          <p:cNvCxnSpPr/>
          <p:nvPr/>
        </p:nvCxnSpPr>
        <p:spPr>
          <a:xfrm flipH="1">
            <a:off x="3895344" y="3272679"/>
            <a:ext cx="128016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</p:cxnSp>
      <p:cxnSp>
        <p:nvCxnSpPr>
          <p:cNvPr id="112" name="Connector 155"/>
          <p:cNvCxnSpPr/>
          <p:nvPr/>
        </p:nvCxnSpPr>
        <p:spPr>
          <a:xfrm>
            <a:off x="1517904" y="2083959"/>
            <a:ext cx="0" cy="22860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</p:cxnSp>
      <p:sp>
        <p:nvSpPr>
          <p:cNvPr id="113" name="Oval 156"/>
          <p:cNvSpPr/>
          <p:nvPr/>
        </p:nvSpPr>
        <p:spPr>
          <a:xfrm>
            <a:off x="1275588" y="2125107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120" name="Connector 157"/>
          <p:cNvCxnSpPr/>
          <p:nvPr/>
        </p:nvCxnSpPr>
        <p:spPr>
          <a:xfrm flipV="1">
            <a:off x="2103120" y="2294271"/>
            <a:ext cx="438912" cy="384048"/>
          </a:xfrm>
          <a:prstGeom prst="line">
            <a:avLst/>
          </a:prstGeom>
          <a:ln w="15875">
            <a:solidFill>
              <a:srgbClr val="404040"/>
            </a:solidFill>
            <a:headEnd type="triangle"/>
            <a:tailEnd type="triangle"/>
          </a:ln>
        </p:spPr>
      </p:cxnSp>
      <p:sp>
        <p:nvSpPr>
          <p:cNvPr id="121" name="Oval 158"/>
          <p:cNvSpPr/>
          <p:nvPr/>
        </p:nvSpPr>
        <p:spPr>
          <a:xfrm>
            <a:off x="2208276" y="2335419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25" name="Oval 159"/>
          <p:cNvSpPr/>
          <p:nvPr/>
        </p:nvSpPr>
        <p:spPr>
          <a:xfrm>
            <a:off x="4807959" y="2617141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126" name="Connector 163"/>
          <p:cNvCxnSpPr/>
          <p:nvPr/>
        </p:nvCxnSpPr>
        <p:spPr>
          <a:xfrm flipH="1">
            <a:off x="4736592" y="4278519"/>
            <a:ext cx="338328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</p:cxnSp>
      <p:sp>
        <p:nvSpPr>
          <p:cNvPr id="131" name="Oval 164"/>
          <p:cNvSpPr/>
          <p:nvPr/>
        </p:nvSpPr>
        <p:spPr>
          <a:xfrm>
            <a:off x="4805172" y="4086495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32" name="Rectangle 167"/>
          <p:cNvSpPr/>
          <p:nvPr/>
        </p:nvSpPr>
        <p:spPr>
          <a:xfrm>
            <a:off x="1188720" y="4518732"/>
            <a:ext cx="1261872" cy="15544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기존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 OSS 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그대로</a:t>
            </a:r>
            <a:endParaRPr sz="7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33" name="Rectangle 168"/>
          <p:cNvSpPr/>
          <p:nvPr/>
        </p:nvSpPr>
        <p:spPr>
          <a:xfrm>
            <a:off x="2505456" y="4518732"/>
            <a:ext cx="1261872" cy="155448"/>
          </a:xfrm>
          <a:prstGeom prst="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★ 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확장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모듈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(plugin)</a:t>
            </a:r>
          </a:p>
        </p:txBody>
      </p:sp>
      <p:sp>
        <p:nvSpPr>
          <p:cNvPr id="134" name="Rectangle 169"/>
          <p:cNvSpPr/>
          <p:nvPr/>
        </p:nvSpPr>
        <p:spPr>
          <a:xfrm>
            <a:off x="3822191" y="4518732"/>
            <a:ext cx="1261872" cy="155448"/>
          </a:xfrm>
          <a:prstGeom prst="rect">
            <a:avLst/>
          </a:prstGeom>
          <a:solidFill>
            <a:srgbClr val="FFFFFF"/>
          </a:solidFill>
          <a:ln w="19050">
            <a:solidFill>
              <a:srgbClr val="BF9000"/>
            </a:solidFill>
            <a:prstDash val="dash"/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00" b="1">
                <a:solidFill>
                  <a:srgbClr val="000000"/>
                </a:solidFill>
                <a:latin typeface="맑은 고딕"/>
                <a:ea typeface="맑은 고딕"/>
              </a:rPr>
              <a:t>★ 설정만 변경</a:t>
            </a:r>
          </a:p>
        </p:txBody>
      </p:sp>
      <p:sp>
        <p:nvSpPr>
          <p:cNvPr id="135" name="Rectangle 125"/>
          <p:cNvSpPr/>
          <p:nvPr/>
        </p:nvSpPr>
        <p:spPr>
          <a:xfrm>
            <a:off x="3636263" y="2095897"/>
            <a:ext cx="777240" cy="38404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ko-KR" altLang="en-US" sz="750" b="1" dirty="0">
                <a:solidFill>
                  <a:srgbClr val="000000"/>
                </a:solidFill>
                <a:latin typeface="맑은 고딕"/>
                <a:ea typeface="맑은 고딕"/>
              </a:rPr>
              <a:t>큐</a:t>
            </a:r>
            <a:r>
              <a:rPr lang="en-US" altLang="ko-KR" sz="750" b="1" dirty="0">
                <a:solidFill>
                  <a:srgbClr val="000000"/>
                </a:solidFill>
                <a:latin typeface="맑은 고딕"/>
                <a:ea typeface="맑은 고딕"/>
              </a:rPr>
              <a:t>/Load</a:t>
            </a:r>
            <a:r>
              <a:rPr lang="ko-KR" altLang="en-US" sz="750" b="1" dirty="0">
                <a:solidFill>
                  <a:srgbClr val="000000"/>
                </a:solidFill>
                <a:latin typeface="맑은 고딕"/>
                <a:ea typeface="맑은 고딕"/>
              </a:rPr>
              <a:t> 제어</a:t>
            </a:r>
            <a:endParaRPr sz="75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36" name="Rectangle 126"/>
          <p:cNvSpPr/>
          <p:nvPr/>
        </p:nvSpPr>
        <p:spPr>
          <a:xfrm>
            <a:off x="3590543" y="2172706"/>
            <a:ext cx="91440" cy="54864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27"/>
          <p:cNvSpPr/>
          <p:nvPr/>
        </p:nvSpPr>
        <p:spPr>
          <a:xfrm>
            <a:off x="3590543" y="2287921"/>
            <a:ext cx="91440" cy="54864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7"/>
          <p:cNvSpPr/>
          <p:nvPr/>
        </p:nvSpPr>
        <p:spPr>
          <a:xfrm>
            <a:off x="2542032" y="3812756"/>
            <a:ext cx="1280160" cy="389245"/>
          </a:xfrm>
          <a:prstGeom prst="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en-US" altLang="ko-KR" sz="750" b="1" dirty="0">
                <a:solidFill>
                  <a:srgbClr val="000000"/>
                </a:solidFill>
                <a:latin typeface="맑은 고딕"/>
                <a:ea typeface="맑은 고딕"/>
              </a:rPr>
              <a:t>P/D </a:t>
            </a:r>
            <a:r>
              <a:rPr lang="ko-KR" altLang="en-US" sz="750" b="1" dirty="0">
                <a:solidFill>
                  <a:srgbClr val="000000"/>
                </a:solidFill>
                <a:latin typeface="맑은 고딕"/>
                <a:ea typeface="맑은 고딕"/>
              </a:rPr>
              <a:t>보조 </a:t>
            </a:r>
            <a:endParaRPr lang="en-US" altLang="ko-KR" sz="75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/>
            <a:r>
              <a:rPr lang="ko-KR" altLang="en-US" sz="750" b="1" dirty="0">
                <a:solidFill>
                  <a:srgbClr val="000000"/>
                </a:solidFill>
                <a:latin typeface="맑은 고딕"/>
                <a:ea typeface="맑은 고딕"/>
              </a:rPr>
              <a:t>프로세스 통신</a:t>
            </a:r>
            <a:endParaRPr sz="75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41" name="Rectangle 120"/>
          <p:cNvSpPr/>
          <p:nvPr/>
        </p:nvSpPr>
        <p:spPr>
          <a:xfrm>
            <a:off x="1275588" y="2542683"/>
            <a:ext cx="804672" cy="32766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맑은 고딕"/>
                <a:ea typeface="맑은 고딕"/>
              </a:rPr>
              <a:t>요청 </a:t>
            </a:r>
            <a:endParaRPr lang="en-US" altLang="ko-KR" sz="85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맑은 고딕"/>
                <a:ea typeface="맑은 고딕"/>
              </a:rPr>
              <a:t>전달</a:t>
            </a:r>
            <a:r>
              <a:rPr lang="en-US" altLang="ko-KR" sz="850" b="1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850" b="1" dirty="0">
                <a:solidFill>
                  <a:srgbClr val="000000"/>
                </a:solidFill>
                <a:latin typeface="맑은 고딕"/>
                <a:ea typeface="맑은 고딕"/>
              </a:rPr>
              <a:t>응답</a:t>
            </a:r>
            <a:endParaRPr sz="75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42" name="Rectangle 146"/>
          <p:cNvSpPr/>
          <p:nvPr/>
        </p:nvSpPr>
        <p:spPr>
          <a:xfrm>
            <a:off x="5010912" y="1855359"/>
            <a:ext cx="137160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7"/>
          <p:cNvSpPr/>
          <p:nvPr/>
        </p:nvSpPr>
        <p:spPr>
          <a:xfrm>
            <a:off x="5010912" y="1855359"/>
            <a:ext cx="1371600" cy="1737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  <a:effectLst/>
        </p:spPr>
        <p:txBody>
          <a:bodyPr wrap="square" lIns="45720" tIns="0" rIns="18288" bIns="0" rtlCol="0" anchor="ctr"/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«pod» Decode 서버</a:t>
            </a:r>
          </a:p>
        </p:txBody>
      </p:sp>
      <p:sp>
        <p:nvSpPr>
          <p:cNvPr id="144" name="Rectangle 148"/>
          <p:cNvSpPr/>
          <p:nvPr/>
        </p:nvSpPr>
        <p:spPr>
          <a:xfrm>
            <a:off x="5084063" y="2074815"/>
            <a:ext cx="12435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9"/>
          <p:cNvSpPr/>
          <p:nvPr/>
        </p:nvSpPr>
        <p:spPr>
          <a:xfrm>
            <a:off x="5074920" y="2083959"/>
            <a:ext cx="1243584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txBody>
          <a:bodyPr wrap="square" lIns="36576" tIns="0" rIns="0" bIns="0" rtlCol="0" anchor="ctr"/>
          <a:lstStyle/>
          <a:p>
            <a:pPr algn="l"/>
            <a:r>
              <a:rPr sz="750" b="1" dirty="0">
                <a:solidFill>
                  <a:srgbClr val="FFFFFF"/>
                </a:solidFill>
                <a:latin typeface="맑은 고딕"/>
                <a:ea typeface="맑은 고딕"/>
              </a:rPr>
              <a:t>P/D </a:t>
            </a:r>
            <a:r>
              <a:rPr sz="750" b="1" dirty="0" err="1">
                <a:solidFill>
                  <a:srgbClr val="FFFFFF"/>
                </a:solidFill>
                <a:latin typeface="맑은 고딕"/>
                <a:ea typeface="맑은 고딕"/>
              </a:rPr>
              <a:t>보조</a:t>
            </a:r>
            <a:r>
              <a:rPr sz="7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750" b="1" dirty="0" err="1">
                <a:solidFill>
                  <a:srgbClr val="FFFFFF"/>
                </a:solidFill>
                <a:latin typeface="맑은 고딕"/>
                <a:ea typeface="맑은 고딕"/>
              </a:rPr>
              <a:t>프로세스</a:t>
            </a:r>
            <a:endParaRPr sz="75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6" name="Rectangle 150"/>
          <p:cNvSpPr/>
          <p:nvPr/>
        </p:nvSpPr>
        <p:spPr>
          <a:xfrm>
            <a:off x="5120640" y="2303415"/>
            <a:ext cx="1152144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en-US" altLang="ko-KR" sz="750" b="1" dirty="0">
                <a:solidFill>
                  <a:srgbClr val="000000"/>
                </a:solidFill>
                <a:latin typeface="맑은 고딕"/>
                <a:ea typeface="맑은 고딕"/>
              </a:rPr>
              <a:t>KV </a:t>
            </a:r>
            <a:r>
              <a:rPr lang="ko-KR" altLang="en-US" sz="750" b="1" dirty="0">
                <a:solidFill>
                  <a:srgbClr val="000000"/>
                </a:solidFill>
                <a:latin typeface="맑은 고딕"/>
                <a:ea typeface="맑은 고딕"/>
              </a:rPr>
              <a:t>정보 수정</a:t>
            </a:r>
            <a:endParaRPr lang="en-US" altLang="ko-KR" sz="75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/>
            <a:r>
              <a:rPr lang="en-US" altLang="ko-KR" sz="70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700" dirty="0">
                <a:solidFill>
                  <a:srgbClr val="000000"/>
                </a:solidFill>
                <a:latin typeface="맑은 고딕"/>
                <a:ea typeface="맑은 고딕"/>
              </a:rPr>
              <a:t>메모리 </a:t>
            </a:r>
            <a:r>
              <a:rPr lang="en-US" altLang="ko-KR" sz="700" dirty="0">
                <a:solidFill>
                  <a:srgbClr val="000000"/>
                </a:solidFill>
                <a:latin typeface="맑은 고딕"/>
                <a:ea typeface="맑은 고딕"/>
              </a:rPr>
              <a:t>tier</a:t>
            </a:r>
            <a:r>
              <a:rPr lang="ko-KR" altLang="en-US" sz="700" dirty="0">
                <a:solidFill>
                  <a:srgbClr val="000000"/>
                </a:solidFill>
                <a:latin typeface="맑은 고딕"/>
                <a:ea typeface="맑은 고딕"/>
              </a:rPr>
              <a:t> 위치</a:t>
            </a:r>
            <a:r>
              <a:rPr lang="en-US" altLang="ko-KR" sz="70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endParaRPr sz="70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47" name="Rectangle 151"/>
          <p:cNvSpPr/>
          <p:nvPr/>
        </p:nvSpPr>
        <p:spPr>
          <a:xfrm>
            <a:off x="5074920" y="2998359"/>
            <a:ext cx="1243584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800" b="1" dirty="0" err="1">
                <a:solidFill>
                  <a:srgbClr val="000000"/>
                </a:solidFill>
                <a:latin typeface="맑은 고딕"/>
                <a:ea typeface="맑은 고딕"/>
              </a:rPr>
              <a:t>vLLM</a:t>
            </a:r>
            <a:r>
              <a:rPr sz="800" b="1" dirty="0">
                <a:solidFill>
                  <a:srgbClr val="000000"/>
                </a:solidFill>
                <a:latin typeface="맑은 고딕"/>
                <a:ea typeface="맑은 고딕"/>
              </a:rPr>
              <a:t> (decode)</a:t>
            </a:r>
          </a:p>
        </p:txBody>
      </p:sp>
      <p:sp>
        <p:nvSpPr>
          <p:cNvPr id="148" name="Rectangle 152"/>
          <p:cNvSpPr/>
          <p:nvPr/>
        </p:nvSpPr>
        <p:spPr>
          <a:xfrm>
            <a:off x="5010912" y="3631216"/>
            <a:ext cx="1371600" cy="81381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53"/>
          <p:cNvSpPr/>
          <p:nvPr/>
        </p:nvSpPr>
        <p:spPr>
          <a:xfrm>
            <a:off x="5010912" y="3631216"/>
            <a:ext cx="1371600" cy="1737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  <a:effectLst/>
        </p:spPr>
        <p:txBody>
          <a:bodyPr wrap="square" lIns="45720" tIns="0" rIns="18288" bIns="0" rtlCol="0" anchor="ctr"/>
          <a:lstStyle/>
          <a:p>
            <a:pPr algn="l"/>
            <a:r>
              <a:rPr sz="800" b="1" dirty="0">
                <a:solidFill>
                  <a:srgbClr val="FFFFFF"/>
                </a:solidFill>
                <a:latin typeface="맑은 고딕"/>
                <a:ea typeface="맑은 고딕"/>
              </a:rPr>
              <a:t>«pod» Prefill </a:t>
            </a:r>
            <a:r>
              <a:rPr sz="800" b="1" dirty="0" err="1">
                <a:solidFill>
                  <a:srgbClr val="FFFFFF"/>
                </a:solidFill>
                <a:latin typeface="맑은 고딕"/>
                <a:ea typeface="맑은 고딕"/>
              </a:rPr>
              <a:t>서버</a:t>
            </a:r>
            <a:endParaRPr sz="8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0" name="Rectangle 154"/>
          <p:cNvSpPr/>
          <p:nvPr/>
        </p:nvSpPr>
        <p:spPr>
          <a:xfrm>
            <a:off x="5074920" y="3889845"/>
            <a:ext cx="1243584" cy="442861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800" b="1" dirty="0" err="1">
                <a:solidFill>
                  <a:srgbClr val="000000"/>
                </a:solidFill>
                <a:latin typeface="맑은 고딕"/>
                <a:ea typeface="맑은 고딕"/>
              </a:rPr>
              <a:t>vLLM</a:t>
            </a:r>
            <a:r>
              <a:rPr sz="800" b="1" dirty="0">
                <a:solidFill>
                  <a:srgbClr val="000000"/>
                </a:solidFill>
                <a:latin typeface="맑은 고딕"/>
                <a:ea typeface="맑은 고딕"/>
              </a:rPr>
              <a:t> (prefill)</a:t>
            </a:r>
          </a:p>
        </p:txBody>
      </p:sp>
      <p:cxnSp>
        <p:nvCxnSpPr>
          <p:cNvPr id="151" name="Connector 160"/>
          <p:cNvCxnSpPr/>
          <p:nvPr/>
        </p:nvCxnSpPr>
        <p:spPr>
          <a:xfrm>
            <a:off x="6053328" y="3345831"/>
            <a:ext cx="0" cy="566928"/>
          </a:xfrm>
          <a:prstGeom prst="line">
            <a:avLst/>
          </a:prstGeom>
          <a:ln w="15875">
            <a:solidFill>
              <a:srgbClr val="404040"/>
            </a:solidFill>
            <a:headEnd type="triangle"/>
            <a:tailEnd type="triangle"/>
          </a:ln>
        </p:spPr>
      </p:cxnSp>
      <p:sp>
        <p:nvSpPr>
          <p:cNvPr id="152" name="Oval 161"/>
          <p:cNvSpPr/>
          <p:nvPr/>
        </p:nvSpPr>
        <p:spPr>
          <a:xfrm>
            <a:off x="5826150" y="3464703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53" name="Oval 162"/>
          <p:cNvSpPr/>
          <p:nvPr/>
        </p:nvSpPr>
        <p:spPr>
          <a:xfrm>
            <a:off x="6140196" y="3455202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54" name="Rectangle 170"/>
          <p:cNvSpPr/>
          <p:nvPr/>
        </p:nvSpPr>
        <p:spPr>
          <a:xfrm>
            <a:off x="5138928" y="4518732"/>
            <a:ext cx="1261872" cy="155448"/>
          </a:xfrm>
          <a:prstGeom prst="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★ 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기존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모듈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수정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(patch)</a:t>
            </a:r>
          </a:p>
        </p:txBody>
      </p:sp>
      <p:sp>
        <p:nvSpPr>
          <p:cNvPr id="155" name="Rectangle 167"/>
          <p:cNvSpPr/>
          <p:nvPr/>
        </p:nvSpPr>
        <p:spPr>
          <a:xfrm>
            <a:off x="6583680" y="1873647"/>
            <a:ext cx="56692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Client</a:t>
            </a:r>
          </a:p>
        </p:txBody>
      </p:sp>
      <p:sp>
        <p:nvSpPr>
          <p:cNvPr id="156" name="Rectangle 168"/>
          <p:cNvSpPr/>
          <p:nvPr/>
        </p:nvSpPr>
        <p:spPr>
          <a:xfrm>
            <a:off x="6583680" y="2358279"/>
            <a:ext cx="566928" cy="384048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en-US" sz="800" b="1" dirty="0">
                <a:solidFill>
                  <a:srgbClr val="000000"/>
                </a:solidFill>
                <a:latin typeface="맑은 고딕"/>
                <a:ea typeface="맑은 고딕"/>
              </a:rPr>
              <a:t>Load </a:t>
            </a:r>
          </a:p>
          <a:p>
            <a:pPr algn="ctr"/>
            <a:r>
              <a:rPr lang="en-US" sz="800" b="1" dirty="0">
                <a:solidFill>
                  <a:srgbClr val="000000"/>
                </a:solidFill>
                <a:latin typeface="맑은 고딕"/>
                <a:ea typeface="맑은 고딕"/>
              </a:rPr>
              <a:t>Balancer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cxnSp>
        <p:nvCxnSpPr>
          <p:cNvPr id="157" name="Connector 169"/>
          <p:cNvCxnSpPr/>
          <p:nvPr/>
        </p:nvCxnSpPr>
        <p:spPr>
          <a:xfrm>
            <a:off x="6867144" y="2129679"/>
            <a:ext cx="0" cy="22860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</p:cxnSp>
      <p:sp>
        <p:nvSpPr>
          <p:cNvPr id="158" name="Oval 170"/>
          <p:cNvSpPr/>
          <p:nvPr/>
        </p:nvSpPr>
        <p:spPr>
          <a:xfrm>
            <a:off x="6643116" y="2161683"/>
            <a:ext cx="155448" cy="15544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59" name="Rectangle 172"/>
          <p:cNvSpPr/>
          <p:nvPr/>
        </p:nvSpPr>
        <p:spPr>
          <a:xfrm>
            <a:off x="7242048" y="1855359"/>
            <a:ext cx="3566160" cy="2583351"/>
          </a:xfrm>
          <a:prstGeom prst="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73"/>
          <p:cNvSpPr/>
          <p:nvPr/>
        </p:nvSpPr>
        <p:spPr>
          <a:xfrm>
            <a:off x="7242048" y="1855359"/>
            <a:ext cx="3566160" cy="16459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txBody>
          <a:bodyPr wrap="square" lIns="45720" tIns="0" rIns="0" bIns="0" rtlCol="0" anchor="ctr"/>
          <a:lstStyle/>
          <a:p>
            <a:pPr algn="l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«process» Own Router 레플리카 1개 (한 프로세스)</a:t>
            </a:r>
          </a:p>
        </p:txBody>
      </p:sp>
      <p:cxnSp>
        <p:nvCxnSpPr>
          <p:cNvPr id="161" name="Connector 174"/>
          <p:cNvCxnSpPr/>
          <p:nvPr/>
        </p:nvCxnSpPr>
        <p:spPr>
          <a:xfrm flipV="1">
            <a:off x="7150608" y="2312559"/>
            <a:ext cx="164592" cy="237744"/>
          </a:xfrm>
          <a:prstGeom prst="line">
            <a:avLst/>
          </a:prstGeom>
          <a:ln w="12700">
            <a:solidFill>
              <a:srgbClr val="404040"/>
            </a:solidFill>
            <a:tailEnd type="triangle"/>
          </a:ln>
        </p:spPr>
      </p:cxnSp>
      <p:sp>
        <p:nvSpPr>
          <p:cNvPr id="162" name="Rectangle 175"/>
          <p:cNvSpPr/>
          <p:nvPr/>
        </p:nvSpPr>
        <p:spPr>
          <a:xfrm>
            <a:off x="7333488" y="2156202"/>
            <a:ext cx="3383280" cy="187365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Ingress / API   </a:t>
            </a:r>
            <a:r>
              <a:rPr sz="750" b="1" dirty="0" err="1">
                <a:solidFill>
                  <a:srgbClr val="000000"/>
                </a:solidFill>
                <a:latin typeface="맑은 고딕"/>
                <a:ea typeface="맑은 고딕"/>
              </a:rPr>
              <a:t>요청</a:t>
            </a:r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50" b="1" dirty="0" err="1">
                <a:solidFill>
                  <a:srgbClr val="000000"/>
                </a:solidFill>
                <a:latin typeface="맑은 고딕"/>
                <a:ea typeface="맑은 고딕"/>
              </a:rPr>
              <a:t>파싱</a:t>
            </a:r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 · </a:t>
            </a:r>
            <a:r>
              <a:rPr sz="750" b="1" dirty="0" err="1">
                <a:solidFill>
                  <a:srgbClr val="000000"/>
                </a:solidFill>
                <a:latin typeface="맑은 고딕"/>
                <a:ea typeface="맑은 고딕"/>
              </a:rPr>
              <a:t>스트리밍</a:t>
            </a:r>
            <a:endParaRPr sz="75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63" name="Rectangle 176"/>
          <p:cNvSpPr/>
          <p:nvPr/>
        </p:nvSpPr>
        <p:spPr>
          <a:xfrm>
            <a:off x="7333488" y="2626885"/>
            <a:ext cx="868680" cy="237744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Admission</a:t>
            </a:r>
          </a:p>
        </p:txBody>
      </p:sp>
      <p:sp>
        <p:nvSpPr>
          <p:cNvPr id="164" name="Rectangle 177"/>
          <p:cNvSpPr/>
          <p:nvPr/>
        </p:nvSpPr>
        <p:spPr>
          <a:xfrm>
            <a:off x="8321040" y="2626885"/>
            <a:ext cx="1051560" cy="237744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en-US" sz="750" b="1" dirty="0">
                <a:solidFill>
                  <a:srgbClr val="000000"/>
                </a:solidFill>
                <a:latin typeface="맑은 고딕"/>
                <a:ea typeface="맑은 고딕"/>
              </a:rPr>
              <a:t>P/D</a:t>
            </a:r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 Selector</a:t>
            </a:r>
          </a:p>
        </p:txBody>
      </p:sp>
      <p:sp>
        <p:nvSpPr>
          <p:cNvPr id="165" name="Rectangle 178"/>
          <p:cNvSpPr/>
          <p:nvPr/>
        </p:nvSpPr>
        <p:spPr>
          <a:xfrm>
            <a:off x="9491472" y="2626885"/>
            <a:ext cx="1225296" cy="237744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Dispatcher</a:t>
            </a:r>
          </a:p>
        </p:txBody>
      </p:sp>
      <p:cxnSp>
        <p:nvCxnSpPr>
          <p:cNvPr id="166" name="Connector 179"/>
          <p:cNvCxnSpPr>
            <a:stCxn id="163" idx="3"/>
            <a:endCxn id="164" idx="1"/>
          </p:cNvCxnSpPr>
          <p:nvPr/>
        </p:nvCxnSpPr>
        <p:spPr>
          <a:xfrm>
            <a:off x="8202168" y="2745757"/>
            <a:ext cx="118872" cy="0"/>
          </a:xfrm>
          <a:prstGeom prst="line">
            <a:avLst/>
          </a:prstGeom>
          <a:ln w="15875">
            <a:solidFill>
              <a:srgbClr val="C55A11"/>
            </a:solidFill>
            <a:tailEnd type="triangle"/>
          </a:ln>
        </p:spPr>
      </p:cxnSp>
      <p:cxnSp>
        <p:nvCxnSpPr>
          <p:cNvPr id="167" name="Connector 180"/>
          <p:cNvCxnSpPr>
            <a:stCxn id="164" idx="3"/>
            <a:endCxn id="165" idx="1"/>
          </p:cNvCxnSpPr>
          <p:nvPr/>
        </p:nvCxnSpPr>
        <p:spPr>
          <a:xfrm>
            <a:off x="9372600" y="2745757"/>
            <a:ext cx="118872" cy="0"/>
          </a:xfrm>
          <a:prstGeom prst="line">
            <a:avLst/>
          </a:prstGeom>
          <a:ln w="15875">
            <a:solidFill>
              <a:srgbClr val="C55A11"/>
            </a:solidFill>
            <a:tailEnd type="triangle"/>
          </a:ln>
        </p:spPr>
      </p:cxnSp>
      <p:cxnSp>
        <p:nvCxnSpPr>
          <p:cNvPr id="170" name="Connector 181"/>
          <p:cNvCxnSpPr/>
          <p:nvPr/>
        </p:nvCxnSpPr>
        <p:spPr>
          <a:xfrm>
            <a:off x="7884414" y="2351422"/>
            <a:ext cx="0" cy="210312"/>
          </a:xfrm>
          <a:prstGeom prst="line">
            <a:avLst/>
          </a:prstGeom>
          <a:ln w="15875">
            <a:solidFill>
              <a:srgbClr val="C55A11"/>
            </a:solidFill>
            <a:tailEnd type="triangle"/>
          </a:ln>
        </p:spPr>
      </p:cxnSp>
      <p:sp>
        <p:nvSpPr>
          <p:cNvPr id="171" name="Rectangle 183"/>
          <p:cNvSpPr/>
          <p:nvPr/>
        </p:nvSpPr>
        <p:spPr>
          <a:xfrm>
            <a:off x="7333488" y="3084427"/>
            <a:ext cx="1600200" cy="137160"/>
          </a:xfrm>
          <a:prstGeom prst="rect">
            <a:avLst/>
          </a:prstGeom>
          <a:solidFill>
            <a:srgbClr val="EDE7F6"/>
          </a:solidFill>
          <a:ln w="9525">
            <a:solidFill>
              <a:srgbClr val="5E35B1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/>
            <a:r>
              <a:rPr sz="600" b="1" dirty="0">
                <a:solidFill>
                  <a:srgbClr val="5E35B1"/>
                </a:solidFill>
                <a:latin typeface="맑은 고딕"/>
                <a:ea typeface="맑은 고딕"/>
              </a:rPr>
              <a:t>«Strategy» </a:t>
            </a:r>
            <a:r>
              <a:rPr sz="600" b="1" dirty="0" err="1">
                <a:solidFill>
                  <a:srgbClr val="5E35B1"/>
                </a:solidFill>
                <a:latin typeface="맑은 고딕"/>
                <a:ea typeface="맑은 고딕"/>
              </a:rPr>
              <a:t>점수</a:t>
            </a:r>
            <a:r>
              <a:rPr sz="600" b="1" dirty="0">
                <a:solidFill>
                  <a:srgbClr val="5E35B1"/>
                </a:solidFill>
                <a:latin typeface="맑은 고딕"/>
                <a:ea typeface="맑은 고딕"/>
              </a:rPr>
              <a:t> </a:t>
            </a:r>
            <a:r>
              <a:rPr sz="600" b="1" dirty="0" err="1">
                <a:solidFill>
                  <a:srgbClr val="5E35B1"/>
                </a:solidFill>
                <a:latin typeface="맑은 고딕"/>
                <a:ea typeface="맑은 고딕"/>
              </a:rPr>
              <a:t>정책</a:t>
            </a:r>
            <a:r>
              <a:rPr sz="600" b="1" dirty="0">
                <a:solidFill>
                  <a:srgbClr val="5E35B1"/>
                </a:solidFill>
                <a:latin typeface="맑은 고딕"/>
                <a:ea typeface="맑은 고딕"/>
              </a:rPr>
              <a:t> ↔ 1안 plugin </a:t>
            </a:r>
            <a:r>
              <a:rPr sz="600" b="1" dirty="0" err="1">
                <a:solidFill>
                  <a:srgbClr val="5E35B1"/>
                </a:solidFill>
                <a:latin typeface="맑은 고딕"/>
                <a:ea typeface="맑은 고딕"/>
              </a:rPr>
              <a:t>대응</a:t>
            </a:r>
            <a:endParaRPr sz="600" b="1" dirty="0">
              <a:solidFill>
                <a:srgbClr val="5E35B1"/>
              </a:solidFill>
              <a:latin typeface="맑은 고딕"/>
              <a:ea typeface="맑은 고딕"/>
            </a:endParaRPr>
          </a:p>
        </p:txBody>
      </p:sp>
      <p:sp>
        <p:nvSpPr>
          <p:cNvPr id="172" name="Rectangle 184"/>
          <p:cNvSpPr/>
          <p:nvPr/>
        </p:nvSpPr>
        <p:spPr>
          <a:xfrm>
            <a:off x="7333488" y="3239874"/>
            <a:ext cx="1783080" cy="281487"/>
          </a:xfrm>
          <a:prstGeom prst="rect">
            <a:avLst/>
          </a:prstGeom>
          <a:solidFill>
            <a:srgbClr val="FFFFFF"/>
          </a:solidFill>
          <a:ln w="15875">
            <a:solidFill>
              <a:srgbClr val="5E35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7665475" y="3308835"/>
            <a:ext cx="1186641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dirty="0">
                <a:solidFill>
                  <a:srgbClr val="5E35B1"/>
                </a:solidFill>
                <a:latin typeface="맑은 고딕"/>
                <a:ea typeface="맑은 고딕"/>
              </a:rPr>
              <a:t>«interface» </a:t>
            </a:r>
            <a:r>
              <a:rPr sz="650" b="1" dirty="0" err="1">
                <a:solidFill>
                  <a:srgbClr val="5E35B1"/>
                </a:solidFill>
                <a:latin typeface="맑은 고딕"/>
                <a:ea typeface="맑은 고딕"/>
              </a:rPr>
              <a:t>ScoreStrategy</a:t>
            </a:r>
            <a:endParaRPr sz="650" b="1" dirty="0">
              <a:solidFill>
                <a:srgbClr val="5E35B1"/>
              </a:solidFill>
              <a:latin typeface="맑은 고딕"/>
              <a:ea typeface="맑은 고딕"/>
            </a:endParaRPr>
          </a:p>
        </p:txBody>
      </p:sp>
      <p:cxnSp>
        <p:nvCxnSpPr>
          <p:cNvPr id="174" name="Connector 194"/>
          <p:cNvCxnSpPr/>
          <p:nvPr/>
        </p:nvCxnSpPr>
        <p:spPr>
          <a:xfrm>
            <a:off x="10408920" y="2888631"/>
            <a:ext cx="0" cy="201168"/>
          </a:xfrm>
          <a:prstGeom prst="line">
            <a:avLst/>
          </a:prstGeom>
          <a:ln w="15875">
            <a:solidFill>
              <a:srgbClr val="5E35B1"/>
            </a:solidFill>
            <a:tailEnd type="triangle"/>
          </a:ln>
        </p:spPr>
      </p:cxnSp>
      <p:sp>
        <p:nvSpPr>
          <p:cNvPr id="175" name="Rectangle 195"/>
          <p:cNvSpPr/>
          <p:nvPr/>
        </p:nvSpPr>
        <p:spPr>
          <a:xfrm>
            <a:off x="9217152" y="3391860"/>
            <a:ext cx="1536192" cy="137160"/>
          </a:xfrm>
          <a:prstGeom prst="rect">
            <a:avLst/>
          </a:prstGeom>
          <a:solidFill>
            <a:srgbClr val="EDE7F6"/>
          </a:solidFill>
          <a:ln w="9525">
            <a:solidFill>
              <a:srgbClr val="5E35B1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/>
            <a:r>
              <a:rPr sz="600" b="1" dirty="0">
                <a:solidFill>
                  <a:srgbClr val="5E35B1"/>
                </a:solidFill>
                <a:latin typeface="맑은 고딕"/>
                <a:ea typeface="맑은 고딕"/>
              </a:rPr>
              <a:t>«Decorator» </a:t>
            </a:r>
            <a:r>
              <a:rPr lang="ko-KR" altLang="en-US" sz="600" b="1" dirty="0">
                <a:solidFill>
                  <a:srgbClr val="5E35B1"/>
                </a:solidFill>
                <a:latin typeface="맑은 고딕"/>
                <a:ea typeface="맑은 고딕"/>
              </a:rPr>
              <a:t>메모리 </a:t>
            </a:r>
            <a:r>
              <a:rPr lang="en-US" altLang="ko-KR" sz="600" b="1" dirty="0">
                <a:solidFill>
                  <a:srgbClr val="5E35B1"/>
                </a:solidFill>
                <a:latin typeface="맑은 고딕"/>
                <a:ea typeface="맑은 고딕"/>
              </a:rPr>
              <a:t>tier</a:t>
            </a:r>
            <a:r>
              <a:rPr lang="ko-KR" altLang="en-US" sz="600" b="1" dirty="0">
                <a:solidFill>
                  <a:srgbClr val="5E35B1"/>
                </a:solidFill>
                <a:latin typeface="맑은 고딕"/>
                <a:ea typeface="맑은 고딕"/>
              </a:rPr>
              <a:t>별 비용</a:t>
            </a:r>
            <a:endParaRPr sz="600" b="1" dirty="0">
              <a:solidFill>
                <a:srgbClr val="5E35B1"/>
              </a:solidFill>
              <a:latin typeface="맑은 고딕"/>
              <a:ea typeface="맑은 고딕"/>
            </a:endParaRPr>
          </a:p>
        </p:txBody>
      </p:sp>
      <p:sp>
        <p:nvSpPr>
          <p:cNvPr id="176" name="Rectangle 196"/>
          <p:cNvSpPr/>
          <p:nvPr/>
        </p:nvSpPr>
        <p:spPr>
          <a:xfrm>
            <a:off x="9217152" y="3538164"/>
            <a:ext cx="1536192" cy="18288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ko-KR" altLang="en-US" sz="650" dirty="0">
                <a:solidFill>
                  <a:srgbClr val="000000"/>
                </a:solidFill>
                <a:latin typeface="맑은 고딕"/>
                <a:ea typeface="맑은 고딕"/>
              </a:rPr>
              <a:t>메모리 </a:t>
            </a:r>
            <a:r>
              <a:rPr lang="en-US" altLang="ko-KR" sz="650" dirty="0">
                <a:solidFill>
                  <a:srgbClr val="000000"/>
                </a:solidFill>
                <a:latin typeface="맑은 고딕"/>
                <a:ea typeface="맑은 고딕"/>
              </a:rPr>
              <a:t>Tier</a:t>
            </a:r>
            <a:r>
              <a:rPr lang="ko-KR" altLang="en-US" sz="650" dirty="0">
                <a:solidFill>
                  <a:srgbClr val="000000"/>
                </a:solidFill>
                <a:latin typeface="맑은 고딕"/>
                <a:ea typeface="맑은 고딕"/>
              </a:rPr>
              <a:t>별 비용</a:t>
            </a:r>
            <a:endParaRPr sz="65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77" name="Rectangle 197"/>
          <p:cNvSpPr/>
          <p:nvPr/>
        </p:nvSpPr>
        <p:spPr>
          <a:xfrm>
            <a:off x="7848674" y="3985863"/>
            <a:ext cx="777240" cy="312274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Event</a:t>
            </a:r>
          </a:p>
          <a:p>
            <a:pPr algn="ctr"/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Subscriber</a:t>
            </a:r>
          </a:p>
        </p:txBody>
      </p:sp>
      <p:sp>
        <p:nvSpPr>
          <p:cNvPr id="179" name="Rectangle 198"/>
          <p:cNvSpPr/>
          <p:nvPr/>
        </p:nvSpPr>
        <p:spPr>
          <a:xfrm>
            <a:off x="8744786" y="3932312"/>
            <a:ext cx="868680" cy="173812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650" b="1" dirty="0">
                <a:solidFill>
                  <a:srgbClr val="000000"/>
                </a:solidFill>
                <a:latin typeface="맑은 고딕"/>
                <a:ea typeface="맑은 고딕"/>
              </a:rPr>
              <a:t>KV Index </a:t>
            </a:r>
            <a:r>
              <a:rPr sz="650" b="1" dirty="0" err="1">
                <a:solidFill>
                  <a:srgbClr val="000000"/>
                </a:solidFill>
                <a:latin typeface="맑은 고딕"/>
                <a:ea typeface="맑은 고딕"/>
              </a:rPr>
              <a:t>갱신</a:t>
            </a:r>
            <a:endParaRPr sz="65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cxnSp>
        <p:nvCxnSpPr>
          <p:cNvPr id="180" name="Connector 199"/>
          <p:cNvCxnSpPr/>
          <p:nvPr/>
        </p:nvCxnSpPr>
        <p:spPr>
          <a:xfrm flipV="1">
            <a:off x="8625914" y="4023348"/>
            <a:ext cx="118872" cy="52898"/>
          </a:xfrm>
          <a:prstGeom prst="line">
            <a:avLst/>
          </a:prstGeom>
          <a:ln w="12700">
            <a:solidFill>
              <a:srgbClr val="C55A11"/>
            </a:solidFill>
            <a:tailEnd type="triangle"/>
          </a:ln>
        </p:spPr>
      </p:cxnSp>
      <p:sp>
        <p:nvSpPr>
          <p:cNvPr id="181" name="Rectangle 200"/>
          <p:cNvSpPr/>
          <p:nvPr/>
        </p:nvSpPr>
        <p:spPr>
          <a:xfrm>
            <a:off x="8744786" y="4179199"/>
            <a:ext cx="868680" cy="173812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650" b="1">
                <a:solidFill>
                  <a:srgbClr val="000000"/>
                </a:solidFill>
                <a:latin typeface="맑은 고딕"/>
                <a:ea typeface="맑은 고딕"/>
              </a:rPr>
              <a:t>Metrics 스냅샷</a:t>
            </a:r>
          </a:p>
        </p:txBody>
      </p:sp>
      <p:cxnSp>
        <p:nvCxnSpPr>
          <p:cNvPr id="182" name="Connector 201"/>
          <p:cNvCxnSpPr/>
          <p:nvPr/>
        </p:nvCxnSpPr>
        <p:spPr>
          <a:xfrm>
            <a:off x="8625914" y="4222930"/>
            <a:ext cx="118872" cy="37785"/>
          </a:xfrm>
          <a:prstGeom prst="line">
            <a:avLst/>
          </a:prstGeom>
          <a:ln w="12700">
            <a:solidFill>
              <a:srgbClr val="C55A11"/>
            </a:solidFill>
            <a:tailEnd type="triangle"/>
          </a:ln>
        </p:spPr>
      </p:cxnSp>
      <p:sp>
        <p:nvSpPr>
          <p:cNvPr id="183" name="Rectangle 202"/>
          <p:cNvSpPr/>
          <p:nvPr/>
        </p:nvSpPr>
        <p:spPr>
          <a:xfrm>
            <a:off x="9732338" y="3985863"/>
            <a:ext cx="731520" cy="312274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State</a:t>
            </a:r>
            <a:r>
              <a:rPr lang="en-US" sz="7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View</a:t>
            </a:r>
          </a:p>
        </p:txBody>
      </p:sp>
      <p:cxnSp>
        <p:nvCxnSpPr>
          <p:cNvPr id="184" name="Connector 203"/>
          <p:cNvCxnSpPr/>
          <p:nvPr/>
        </p:nvCxnSpPr>
        <p:spPr>
          <a:xfrm>
            <a:off x="9614474" y="4147871"/>
            <a:ext cx="118872" cy="0"/>
          </a:xfrm>
          <a:prstGeom prst="line">
            <a:avLst/>
          </a:prstGeom>
          <a:ln w="12700">
            <a:solidFill>
              <a:srgbClr val="C55A11"/>
            </a:solidFill>
            <a:tailEnd type="triangle"/>
          </a:ln>
        </p:spPr>
      </p:cxnSp>
      <p:cxnSp>
        <p:nvCxnSpPr>
          <p:cNvPr id="185" name="Connector 204"/>
          <p:cNvCxnSpPr>
            <a:stCxn id="183" idx="0"/>
            <a:endCxn id="172" idx="2"/>
          </p:cNvCxnSpPr>
          <p:nvPr/>
        </p:nvCxnSpPr>
        <p:spPr>
          <a:xfrm rot="16200000" flipV="1">
            <a:off x="8929312" y="2817077"/>
            <a:ext cx="464502" cy="1873070"/>
          </a:xfrm>
          <a:prstGeom prst="bentConnector3">
            <a:avLst>
              <a:gd name="adj1" fmla="val 50000"/>
            </a:avLst>
          </a:prstGeom>
          <a:ln w="15875">
            <a:solidFill>
              <a:srgbClr val="C55A11"/>
            </a:solidFill>
            <a:tailEnd type="triangle"/>
          </a:ln>
        </p:spPr>
      </p:cxnSp>
      <p:sp>
        <p:nvSpPr>
          <p:cNvPr id="186" name="Rectangle 213"/>
          <p:cNvSpPr/>
          <p:nvPr/>
        </p:nvSpPr>
        <p:spPr>
          <a:xfrm>
            <a:off x="10954512" y="1855359"/>
            <a:ext cx="9144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214"/>
          <p:cNvSpPr/>
          <p:nvPr/>
        </p:nvSpPr>
        <p:spPr>
          <a:xfrm>
            <a:off x="10954512" y="1855359"/>
            <a:ext cx="914400" cy="173736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</a:ln>
          <a:effectLst/>
        </p:spPr>
        <p:txBody>
          <a:bodyPr wrap="square" lIns="45720" tIns="0" rIns="18288" bIns="0" rtlCol="0" anchor="ctr"/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«pod» vLLM</a:t>
            </a:r>
          </a:p>
        </p:txBody>
      </p:sp>
      <p:sp>
        <p:nvSpPr>
          <p:cNvPr id="189" name="Rectangle 215"/>
          <p:cNvSpPr/>
          <p:nvPr/>
        </p:nvSpPr>
        <p:spPr>
          <a:xfrm>
            <a:off x="11009376" y="2102247"/>
            <a:ext cx="804672" cy="778374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en-US" altLang="ko-KR" sz="800" b="1" dirty="0" err="1">
                <a:solidFill>
                  <a:srgbClr val="000000"/>
                </a:solidFill>
                <a:ea typeface="맑은 고딕"/>
              </a:rPr>
              <a:t>vLLM</a:t>
            </a:r>
            <a:r>
              <a:rPr lang="en-US" altLang="ko-KR" sz="800" b="1" dirty="0">
                <a:solidFill>
                  <a:srgbClr val="000000"/>
                </a:solidFill>
                <a:ea typeface="맑은 고딕"/>
              </a:rPr>
              <a:t> (decode)</a:t>
            </a:r>
          </a:p>
        </p:txBody>
      </p:sp>
      <p:sp>
        <p:nvSpPr>
          <p:cNvPr id="190" name="Rectangle 216"/>
          <p:cNvSpPr/>
          <p:nvPr/>
        </p:nvSpPr>
        <p:spPr>
          <a:xfrm>
            <a:off x="10954512" y="3318399"/>
            <a:ext cx="914400" cy="1120311"/>
          </a:xfrm>
          <a:prstGeom prst="rect">
            <a:avLst/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217"/>
          <p:cNvSpPr/>
          <p:nvPr/>
        </p:nvSpPr>
        <p:spPr>
          <a:xfrm>
            <a:off x="10954512" y="3318399"/>
            <a:ext cx="914400" cy="173736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</a:ln>
          <a:effectLst/>
        </p:spPr>
        <p:txBody>
          <a:bodyPr wrap="square" lIns="45720" tIns="0" rIns="18288" bIns="0" rtlCol="0" anchor="ctr"/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«pod» vLLM</a:t>
            </a:r>
          </a:p>
        </p:txBody>
      </p:sp>
      <p:sp>
        <p:nvSpPr>
          <p:cNvPr id="192" name="Rectangle 218"/>
          <p:cNvSpPr/>
          <p:nvPr/>
        </p:nvSpPr>
        <p:spPr>
          <a:xfrm>
            <a:off x="11009376" y="3581876"/>
            <a:ext cx="804672" cy="736966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en-US" altLang="ko-KR" sz="800" b="1" dirty="0" err="1">
                <a:solidFill>
                  <a:srgbClr val="000000"/>
                </a:solidFill>
                <a:ea typeface="맑은 고딕"/>
              </a:rPr>
              <a:t>vLLM</a:t>
            </a:r>
            <a:r>
              <a:rPr lang="en-US" altLang="ko-KR" sz="800" b="1" dirty="0">
                <a:solidFill>
                  <a:srgbClr val="000000"/>
                </a:solidFill>
                <a:ea typeface="맑은 고딕"/>
              </a:rPr>
              <a:t> (prefill)</a:t>
            </a:r>
          </a:p>
        </p:txBody>
      </p:sp>
      <p:cxnSp>
        <p:nvCxnSpPr>
          <p:cNvPr id="193" name="Connector 219"/>
          <p:cNvCxnSpPr/>
          <p:nvPr/>
        </p:nvCxnSpPr>
        <p:spPr>
          <a:xfrm>
            <a:off x="11411712" y="2945781"/>
            <a:ext cx="0" cy="377851"/>
          </a:xfrm>
          <a:prstGeom prst="line">
            <a:avLst/>
          </a:prstGeom>
          <a:ln w="15875">
            <a:solidFill>
              <a:srgbClr val="404040"/>
            </a:solidFill>
            <a:headEnd type="triangle"/>
            <a:tailEnd type="triangle"/>
          </a:ln>
        </p:spPr>
      </p:cxnSp>
      <p:sp>
        <p:nvSpPr>
          <p:cNvPr id="194" name="Oval 220"/>
          <p:cNvSpPr/>
          <p:nvPr/>
        </p:nvSpPr>
        <p:spPr>
          <a:xfrm>
            <a:off x="11553443" y="3112659"/>
            <a:ext cx="155448" cy="15544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cxnSp>
        <p:nvCxnSpPr>
          <p:cNvPr id="195" name="Connector 221"/>
          <p:cNvCxnSpPr/>
          <p:nvPr/>
        </p:nvCxnSpPr>
        <p:spPr>
          <a:xfrm flipV="1">
            <a:off x="10716767" y="2513727"/>
            <a:ext cx="292609" cy="164592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</p:cxnSp>
      <p:cxnSp>
        <p:nvCxnSpPr>
          <p:cNvPr id="196" name="Connector 223"/>
          <p:cNvCxnSpPr/>
          <p:nvPr/>
        </p:nvCxnSpPr>
        <p:spPr>
          <a:xfrm flipH="1">
            <a:off x="10716767" y="4141358"/>
            <a:ext cx="292609" cy="0"/>
          </a:xfrm>
          <a:prstGeom prst="line">
            <a:avLst/>
          </a:prstGeom>
          <a:ln w="15875">
            <a:solidFill>
              <a:srgbClr val="404040"/>
            </a:solidFill>
            <a:prstDash val="solid"/>
            <a:tailEnd type="triangle"/>
          </a:ln>
        </p:spPr>
      </p:cxnSp>
      <p:sp>
        <p:nvSpPr>
          <p:cNvPr id="198" name="Oval 224"/>
          <p:cNvSpPr/>
          <p:nvPr/>
        </p:nvSpPr>
        <p:spPr>
          <a:xfrm>
            <a:off x="10785347" y="3917330"/>
            <a:ext cx="155448" cy="15544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99" name="Rectangle 229"/>
          <p:cNvSpPr/>
          <p:nvPr/>
        </p:nvSpPr>
        <p:spPr>
          <a:xfrm>
            <a:off x="9349052" y="4516373"/>
            <a:ext cx="1554480" cy="146304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ko-KR" altLang="en-US" sz="700" b="1" dirty="0">
                <a:solidFill>
                  <a:srgbClr val="000000"/>
                </a:solidFill>
                <a:latin typeface="맑은 고딕"/>
                <a:ea typeface="맑은 고딕"/>
              </a:rPr>
              <a:t>자체 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개발</a:t>
            </a:r>
            <a:endParaRPr sz="7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201" name="Rectangle 231"/>
          <p:cNvSpPr/>
          <p:nvPr/>
        </p:nvSpPr>
        <p:spPr>
          <a:xfrm>
            <a:off x="10972800" y="4523670"/>
            <a:ext cx="868680" cy="146304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외부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고정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700" b="1" dirty="0" err="1">
                <a:solidFill>
                  <a:srgbClr val="000000"/>
                </a:solidFill>
                <a:latin typeface="맑은 고딕"/>
                <a:ea typeface="맑은 고딕"/>
              </a:rPr>
              <a:t>vLLM</a:t>
            </a:r>
            <a:r>
              <a:rPr sz="700" b="1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202" name="Rectangle 186"/>
          <p:cNvSpPr/>
          <p:nvPr/>
        </p:nvSpPr>
        <p:spPr>
          <a:xfrm>
            <a:off x="7262121" y="2486295"/>
            <a:ext cx="3491223" cy="1295578"/>
          </a:xfrm>
          <a:prstGeom prst="rect">
            <a:avLst/>
          </a:prstGeom>
          <a:noFill/>
          <a:ln w="6350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7328917" y="2487130"/>
            <a:ext cx="441197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dirty="0">
                <a:solidFill>
                  <a:srgbClr val="C55A11"/>
                </a:solidFill>
                <a:latin typeface="맑은 고딕"/>
                <a:ea typeface="맑은 고딕"/>
              </a:rPr>
              <a:t>Pipeline</a:t>
            </a:r>
          </a:p>
        </p:txBody>
      </p:sp>
      <p:sp>
        <p:nvSpPr>
          <p:cNvPr id="204" name="Rectangle 186"/>
          <p:cNvSpPr/>
          <p:nvPr/>
        </p:nvSpPr>
        <p:spPr>
          <a:xfrm>
            <a:off x="7262121" y="3873002"/>
            <a:ext cx="3491223" cy="511943"/>
          </a:xfrm>
          <a:prstGeom prst="rect">
            <a:avLst/>
          </a:prstGeom>
          <a:noFill/>
          <a:ln w="6350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7301483" y="3896606"/>
            <a:ext cx="109728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650" b="1" dirty="0">
                <a:solidFill>
                  <a:srgbClr val="C55A11"/>
                </a:solidFill>
                <a:latin typeface="맑은 고딕"/>
                <a:ea typeface="맑은 고딕"/>
              </a:rPr>
              <a:t>State Plane</a:t>
            </a:r>
            <a:endParaRPr sz="650" b="1" dirty="0">
              <a:solidFill>
                <a:srgbClr val="C55A11"/>
              </a:solidFill>
              <a:latin typeface="맑은 고딕"/>
              <a:ea typeface="맑은 고딕"/>
            </a:endParaRPr>
          </a:p>
        </p:txBody>
      </p:sp>
      <p:cxnSp>
        <p:nvCxnSpPr>
          <p:cNvPr id="206" name="Connector 194"/>
          <p:cNvCxnSpPr/>
          <p:nvPr/>
        </p:nvCxnSpPr>
        <p:spPr>
          <a:xfrm>
            <a:off x="9007383" y="2888631"/>
            <a:ext cx="0" cy="201168"/>
          </a:xfrm>
          <a:prstGeom prst="line">
            <a:avLst/>
          </a:prstGeom>
          <a:ln w="15875">
            <a:solidFill>
              <a:srgbClr val="5E35B1"/>
            </a:solidFill>
            <a:tailEnd type="triangle"/>
          </a:ln>
        </p:spPr>
      </p:cxnSp>
      <p:sp>
        <p:nvSpPr>
          <p:cNvPr id="207" name="Rectangle 186"/>
          <p:cNvSpPr/>
          <p:nvPr/>
        </p:nvSpPr>
        <p:spPr>
          <a:xfrm>
            <a:off x="7262121" y="2045307"/>
            <a:ext cx="3491223" cy="374525"/>
          </a:xfrm>
          <a:prstGeom prst="rect">
            <a:avLst/>
          </a:prstGeom>
          <a:noFill/>
          <a:ln w="6350">
            <a:solidFill>
              <a:srgbClr val="C55A11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328917" y="2045307"/>
            <a:ext cx="441197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650" b="1" dirty="0">
                <a:solidFill>
                  <a:srgbClr val="C55A11"/>
                </a:solidFill>
                <a:latin typeface="맑은 고딕"/>
                <a:ea typeface="맑은 고딕"/>
              </a:rPr>
              <a:t>Ingress</a:t>
            </a:r>
            <a:endParaRPr sz="650" b="1" dirty="0">
              <a:solidFill>
                <a:srgbClr val="C55A11"/>
              </a:solidFill>
              <a:latin typeface="맑은 고딕"/>
              <a:ea typeface="맑은 고딕"/>
            </a:endParaRPr>
          </a:p>
        </p:txBody>
      </p:sp>
      <p:sp>
        <p:nvSpPr>
          <p:cNvPr id="209" name="Oval 166"/>
          <p:cNvSpPr/>
          <p:nvPr/>
        </p:nvSpPr>
        <p:spPr>
          <a:xfrm>
            <a:off x="3888485" y="3079262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 dirty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210" name="Oval 182"/>
          <p:cNvSpPr/>
          <p:nvPr/>
        </p:nvSpPr>
        <p:spPr>
          <a:xfrm>
            <a:off x="7932419" y="2380307"/>
            <a:ext cx="155448" cy="15544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 dirty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211" name="Connector 221"/>
          <p:cNvCxnSpPr/>
          <p:nvPr/>
        </p:nvCxnSpPr>
        <p:spPr>
          <a:xfrm>
            <a:off x="10730484" y="2834930"/>
            <a:ext cx="233171" cy="809225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</p:cxnSp>
      <p:sp>
        <p:nvSpPr>
          <p:cNvPr id="212" name="Oval 222"/>
          <p:cNvSpPr/>
          <p:nvPr/>
        </p:nvSpPr>
        <p:spPr>
          <a:xfrm>
            <a:off x="10771632" y="2701179"/>
            <a:ext cx="155448" cy="15544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3" name="Rectangle 190"/>
          <p:cNvSpPr/>
          <p:nvPr/>
        </p:nvSpPr>
        <p:spPr>
          <a:xfrm>
            <a:off x="9217152" y="2945781"/>
            <a:ext cx="1045464" cy="137160"/>
          </a:xfrm>
          <a:prstGeom prst="rect">
            <a:avLst/>
          </a:prstGeom>
          <a:solidFill>
            <a:srgbClr val="EDE7F6"/>
          </a:solidFill>
          <a:ln w="9525">
            <a:solidFill>
              <a:srgbClr val="5E35B1"/>
            </a:solidFill>
          </a:ln>
          <a:effectLst/>
        </p:spPr>
        <p:txBody>
          <a:bodyPr wrap="square" lIns="18288" tIns="0" rIns="18288" bIns="0" rtlCol="0" anchor="ctr"/>
          <a:lstStyle/>
          <a:p>
            <a:pPr algn="ctr"/>
            <a:r>
              <a:rPr sz="600" b="1" dirty="0">
                <a:solidFill>
                  <a:srgbClr val="5E35B1"/>
                </a:solidFill>
                <a:latin typeface="맑은 고딕"/>
                <a:ea typeface="맑은 고딕"/>
              </a:rPr>
              <a:t>«Strategy» P/D </a:t>
            </a:r>
            <a:r>
              <a:rPr lang="ko-KR" altLang="en-US" sz="600" b="1" dirty="0">
                <a:solidFill>
                  <a:srgbClr val="5E35B1"/>
                </a:solidFill>
                <a:latin typeface="맑은 고딕"/>
                <a:ea typeface="맑은 고딕"/>
              </a:rPr>
              <a:t>결정 </a:t>
            </a:r>
            <a:r>
              <a:rPr sz="600" b="1" dirty="0" err="1">
                <a:solidFill>
                  <a:srgbClr val="5E35B1"/>
                </a:solidFill>
                <a:latin typeface="맑은 고딕"/>
                <a:ea typeface="맑은 고딕"/>
              </a:rPr>
              <a:t>정책</a:t>
            </a:r>
            <a:endParaRPr sz="600" b="1" dirty="0">
              <a:solidFill>
                <a:srgbClr val="5E35B1"/>
              </a:solidFill>
              <a:latin typeface="맑은 고딕"/>
              <a:ea typeface="맑은 고딕"/>
            </a:endParaRPr>
          </a:p>
        </p:txBody>
      </p:sp>
      <p:sp>
        <p:nvSpPr>
          <p:cNvPr id="214" name="Rectangle 191"/>
          <p:cNvSpPr/>
          <p:nvPr/>
        </p:nvSpPr>
        <p:spPr>
          <a:xfrm>
            <a:off x="9217152" y="3113929"/>
            <a:ext cx="1536192" cy="217170"/>
          </a:xfrm>
          <a:prstGeom prst="rect">
            <a:avLst/>
          </a:prstGeom>
          <a:solidFill>
            <a:srgbClr val="FFFFFF"/>
          </a:solidFill>
          <a:ln w="15875">
            <a:solidFill>
              <a:srgbClr val="5E35B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9424327" y="3162223"/>
            <a:ext cx="12091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dirty="0">
                <a:solidFill>
                  <a:srgbClr val="5E35B1"/>
                </a:solidFill>
                <a:latin typeface="맑은 고딕"/>
                <a:ea typeface="맑은 고딕"/>
              </a:rPr>
              <a:t>«interface» </a:t>
            </a:r>
            <a:r>
              <a:rPr sz="650" b="1" dirty="0" err="1">
                <a:solidFill>
                  <a:srgbClr val="5E35B1"/>
                </a:solidFill>
                <a:latin typeface="맑은 고딕"/>
                <a:ea typeface="맑은 고딕"/>
              </a:rPr>
              <a:t>PDPlanStrategy</a:t>
            </a:r>
            <a:endParaRPr sz="650" b="1" dirty="0">
              <a:solidFill>
                <a:srgbClr val="5E35B1"/>
              </a:solidFill>
              <a:latin typeface="맑은 고딕"/>
              <a:ea typeface="맑은 고딕"/>
            </a:endParaRPr>
          </a:p>
        </p:txBody>
      </p:sp>
      <p:sp>
        <p:nvSpPr>
          <p:cNvPr id="218" name="Oval 205"/>
          <p:cNvSpPr/>
          <p:nvPr/>
        </p:nvSpPr>
        <p:spPr>
          <a:xfrm>
            <a:off x="8508745" y="3721044"/>
            <a:ext cx="155448" cy="155448"/>
          </a:xfrm>
          <a:prstGeom prst="ellipse">
            <a:avLst/>
          </a:prstGeom>
          <a:solidFill>
            <a:srgbClr val="C55A11"/>
          </a:solidFill>
          <a:ln w="9525">
            <a:solidFill>
              <a:srgbClr val="FFFFFF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26" name="실행 단추: 앞으로 또는 다음 225">
            <a:hlinkClick r:id="rId4" action="ppaction://hlinksldjump" highlightClick="1"/>
          </p:cNvPr>
          <p:cNvSpPr/>
          <p:nvPr/>
        </p:nvSpPr>
        <p:spPr>
          <a:xfrm>
            <a:off x="508836" y="6404267"/>
            <a:ext cx="250190" cy="19338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6583680" y="1044054"/>
            <a:ext cx="5524500" cy="5707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모서리가 둥근 직사각형 37">
            <a:extLst>
              <a:ext uri="{FF2B5EF4-FFF2-40B4-BE49-F238E27FC236}">
                <a16:creationId xmlns:a16="http://schemas.microsoft.com/office/drawing/2014/main" id="{4BD11893-311E-4F63-BB6E-C521E78A166E}"/>
              </a:ext>
            </a:extLst>
          </p:cNvPr>
          <p:cNvSpPr/>
          <p:nvPr/>
        </p:nvSpPr>
        <p:spPr>
          <a:xfrm>
            <a:off x="8280123" y="617897"/>
            <a:ext cx="1333343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Cluster-level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스케줄링</a:t>
            </a:r>
          </a:p>
        </p:txBody>
      </p:sp>
      <p:sp>
        <p:nvSpPr>
          <p:cNvPr id="168" name="모서리가 둥근 직사각형 37">
            <a:extLst>
              <a:ext uri="{FF2B5EF4-FFF2-40B4-BE49-F238E27FC236}">
                <a16:creationId xmlns:a16="http://schemas.microsoft.com/office/drawing/2014/main" id="{E7E38110-0CB7-47B4-8011-B921EB7B3995}"/>
              </a:ext>
            </a:extLst>
          </p:cNvPr>
          <p:cNvSpPr/>
          <p:nvPr/>
        </p:nvSpPr>
        <p:spPr>
          <a:xfrm>
            <a:off x="9689179" y="613358"/>
            <a:ext cx="772631" cy="16274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F7 </a:t>
            </a:r>
            <a:r>
              <a:rPr lang="en-US" altLang="ko-KR" sz="7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169" name="모서리가 둥근 직사각형 37">
            <a:extLst>
              <a:ext uri="{FF2B5EF4-FFF2-40B4-BE49-F238E27FC236}">
                <a16:creationId xmlns:a16="http://schemas.microsoft.com/office/drawing/2014/main" id="{DE1BF968-FFA4-46B4-90C6-B1E8DB8C91AF}"/>
              </a:ext>
            </a:extLst>
          </p:cNvPr>
          <p:cNvSpPr/>
          <p:nvPr/>
        </p:nvSpPr>
        <p:spPr>
          <a:xfrm>
            <a:off x="8628346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78" name="모서리가 둥근 직사각형 37">
            <a:extLst>
              <a:ext uri="{FF2B5EF4-FFF2-40B4-BE49-F238E27FC236}">
                <a16:creationId xmlns:a16="http://schemas.microsoft.com/office/drawing/2014/main" id="{2EE54A42-5B2F-4FE0-A422-DD03503EAEB5}"/>
              </a:ext>
            </a:extLst>
          </p:cNvPr>
          <p:cNvSpPr/>
          <p:nvPr/>
        </p:nvSpPr>
        <p:spPr>
          <a:xfrm>
            <a:off x="9537693" y="813626"/>
            <a:ext cx="62876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Latency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88" name="모서리가 둥근 직사각형 37">
            <a:extLst>
              <a:ext uri="{FF2B5EF4-FFF2-40B4-BE49-F238E27FC236}">
                <a16:creationId xmlns:a16="http://schemas.microsoft.com/office/drawing/2014/main" id="{0BDF1551-12B4-4B01-B90A-B811ECD76107}"/>
              </a:ext>
            </a:extLst>
          </p:cNvPr>
          <p:cNvSpPr/>
          <p:nvPr/>
        </p:nvSpPr>
        <p:spPr>
          <a:xfrm>
            <a:off x="10207727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변경용이성</a:t>
            </a:r>
          </a:p>
        </p:txBody>
      </p:sp>
      <p:sp>
        <p:nvSpPr>
          <p:cNvPr id="197" name="모서리가 둥근 직사각형 37">
            <a:extLst>
              <a:ext uri="{FF2B5EF4-FFF2-40B4-BE49-F238E27FC236}">
                <a16:creationId xmlns:a16="http://schemas.microsoft.com/office/drawing/2014/main" id="{0119A226-F96E-4BEF-A47B-105FF8B1123E}"/>
              </a:ext>
            </a:extLst>
          </p:cNvPr>
          <p:cNvSpPr/>
          <p:nvPr/>
        </p:nvSpPr>
        <p:spPr>
          <a:xfrm>
            <a:off x="11097786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Q6 </a:t>
            </a:r>
            <a:r>
              <a:rPr lang="ko-KR" altLang="en-US" sz="700" dirty="0">
                <a:latin typeface="맑은 고딕" panose="020B0503020000020004" pitchFamily="50" charset="-127"/>
              </a:rPr>
              <a:t>시스템 확장성</a:t>
            </a:r>
          </a:p>
        </p:txBody>
      </p:sp>
      <p:sp>
        <p:nvSpPr>
          <p:cNvPr id="200" name="모서리가 둥근 직사각형 37">
            <a:extLst>
              <a:ext uri="{FF2B5EF4-FFF2-40B4-BE49-F238E27FC236}">
                <a16:creationId xmlns:a16="http://schemas.microsoft.com/office/drawing/2014/main" id="{68735780-5A6B-456E-A271-9CF53087EB62}"/>
              </a:ext>
            </a:extLst>
          </p:cNvPr>
          <p:cNvSpPr/>
          <p:nvPr/>
        </p:nvSpPr>
        <p:spPr>
          <a:xfrm>
            <a:off x="10585229" y="616927"/>
            <a:ext cx="1349443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C3</a:t>
            </a:r>
            <a:r>
              <a:rPr lang="ko-KR" altLang="en-US" sz="700" dirty="0">
                <a:latin typeface="맑은 고딕" panose="020B0503020000020004" pitchFamily="50" charset="-127"/>
              </a:rPr>
              <a:t> 시스템 확장 </a:t>
            </a:r>
            <a:r>
              <a:rPr lang="en-US" altLang="ko-KR" sz="700" dirty="0">
                <a:latin typeface="맑은 고딕" panose="020B0503020000020004" pitchFamily="50" charset="-127"/>
              </a:rPr>
              <a:t>Simulation 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940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F40C0-89BE-4217-B5CC-E7954451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499F4C-4F30-4E46-AFBD-139C19B22FFE}"/>
              </a:ext>
            </a:extLst>
          </p:cNvPr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Appendix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4134072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F40C0-89BE-4217-B5CC-E7954451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499F4C-4F30-4E46-AFBD-139C19B22FFE}"/>
              </a:ext>
            </a:extLst>
          </p:cNvPr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DP1 </a:t>
            </a:r>
            <a:r>
              <a:rPr lang="ko-KR" altLang="en-US" sz="16600" b="1" dirty="0"/>
              <a:t>평가</a:t>
            </a:r>
          </a:p>
        </p:txBody>
      </p:sp>
    </p:spTree>
    <p:extLst>
      <p:ext uri="{BB962C8B-B14F-4D97-AF65-F5344CB8AC3E}">
        <p14:creationId xmlns:p14="http://schemas.microsoft.com/office/powerpoint/2010/main" val="903779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DP1 QA 평가 결과 — 정량 (H100 + B200 통합)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C1(Resource State-driven + Data-Memory Affinity) vs C2(Behavior-driven) · 공통 룰 §10 형식 · 괄호 = 후보 ÷ Baseline · 시뮬레이션 [B+C]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별 경계는 DP1 별점 기준 v5(Baseline 대비 경계, qa-criteria-dp1.md). 경계 일부는 결과를 본 뒤 정했다(defined_after_first_look). 수치는 시뮬레이션이며 실측 전까지 근거로 쓰지 않는다.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70432"/>
          <a:ext cx="1145743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metric (↑/↓ 좋음)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(Resource State-driven)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(Behavior-driven)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처리량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 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336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436 (×1.30)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478 (×1.42)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(TTFT)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1,084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1,128 (×1.04)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785 (×0.72)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(TPOT)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17.1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18.3 (×1.07)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16.0 (×0.94)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TTFT·TPOT × P50/P95/P99 6개 개선 배수 geomean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×1.28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×1.56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QA3 자원 (HBM)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사용량 (GiB, 시간 평균)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146.6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142.7 (×0.97)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 178.0 (×1.21)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① module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module 수 (4 시나리오 평균)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1.75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2.50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② 공수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개발 공수 (man-month)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0.38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0.51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③ 비용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에이전트 비용 $ (frontier tier)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$1.16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$1.49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세 sub-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star의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중앙값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 합계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+ QA2 + QA3 + QA4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2+3+2+3 = 10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3+3+1+2 = 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evidence"/>
          <p:cNvSpPr txBox="1"/>
          <p:nvPr/>
        </p:nvSpPr>
        <p:spPr>
          <a:xfrm>
            <a:off x="365760" y="4257952"/>
            <a:ext cx="11430000" cy="46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근거 수준 표기: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[B] 공개 spec · [C] 모델/시뮬레이션. DP1은 실측 Baseline이 없어 모든 값이 [B+C]다. 평가 시스템: SYS-H100, SYS-B200 (각 8-GPU 1노드), Llama-3.1-70B BF16, 입력 8K / 출력 256, SLO = TTFT P99 ≤ 2 s · TPOT P99 ≤ 50 ms. 집계 = 시나리오 × 시스템 쌍 21쌍(비교 가능, 64쌍 중)의 기하평균.</a:t>
            </a:r>
          </a:p>
        </p:txBody>
      </p:sp>
      <p:sp>
        <p:nvSpPr>
          <p:cNvPr id="8" name="selection"/>
          <p:cNvSpPr txBox="1"/>
          <p:nvPr/>
        </p:nvSpPr>
        <p:spPr>
          <a:xfrm>
            <a:off x="365760" y="4807952"/>
            <a:ext cx="6100000" cy="1612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선택 (별 합계 → 동점이면 QA 우선순위 QA1&gt;QA2&gt;QA3&gt;QA4)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합계 C1 10 대 C2 9 → C1 선택 (합계 차이 1점).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C2는 처리량(QA1)·지연 값이 높고, C1은 HBM 사용(QA3)·변경 비용(QA4)이 낫다.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선택이 근소하고 별 경계에 민감하다(오른쪽).</a:t>
            </a:r>
          </a:p>
        </p:txBody>
      </p:sp>
      <p:sp>
        <p:nvSpPr>
          <p:cNvPr id="9" name="caution"/>
          <p:cNvSpPr txBox="1"/>
          <p:nvPr/>
        </p:nvSpPr>
        <p:spPr>
          <a:xfrm>
            <a:off x="6580000" y="4807952"/>
            <a:ext cx="5215000" cy="161204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읽을 때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QA1 C1 ×1.298은 ★★★ 경계 1.30 바로 아래(0.2%). 경계를 1.25로 두면 합계가 달라지고, 1.30~1.40이면 동점(QA1 우선순위로 C2).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C1의 TTFT P99는 Baseline보다 나쁘다(×1.04). P50은 좋아지는데 꼬리가 나빠진다(이동이 링크를 점유).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평가는 mapping·commit·driver overhead를 0으로 가정한다(조건부 값).</a:t>
            </a:r>
          </a:p>
        </p:txBody>
      </p:sp>
      <p:sp>
        <p:nvSpPr>
          <p:cNvPr id="10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v2: DP1 C2 QA1은 ×1.42 &lt; 2.0이라 ★★(합계 8). QA2 별은 A·R 평균으로 바뀌었고 DP1 별은 그대로. C1 합계 10 불변.</a:t>
            </a:r>
          </a:p>
        </p:txBody>
      </p:sp>
    </p:spTree>
    <p:extLst>
      <p:ext uri="{BB962C8B-B14F-4D97-AF65-F5344CB8AC3E}">
        <p14:creationId xmlns:p14="http://schemas.microsoft.com/office/powerpoint/2010/main" val="422299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공통 시나리오(CB-1~3)만 본 값 — 다른 DP와 같은 시나리오·같은 형식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벤치마크 3개 × 2시스템 = 6쌍 중 비교 가능 5쌍 · 같은 QA의 같은 시나리오를 DP 간 비교할 수 있게 별도 표기 · 괄호 = 후보 ÷ Baseline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공통 별점은 공통 시나리오에서만 산출한다(common-benchmark.md §7). DP1의 공식 별(1장)은 Common+Stress+Dynamic 21쌍 기준이며(소유자 결정, H11), 이 장의 별은 공통 6쌍 기준의 참고값이다.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70432"/>
          <a:ext cx="11457432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metric (↑/↓ 좋음)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처리량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 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3,374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3,360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3,373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(TTFT)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356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1,051 (×2.95)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368 (×1.03)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(TPOT)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10.8 (×1.37)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7.9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6개 지표 개선 배수 geomean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 ×0.94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×1.22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QA3 자원 (HBM)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사용량 (GiB)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54.2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50.0 (×0.92)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 71.8 (×1.32)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2936352"/>
          <a:ext cx="11457432" cy="1728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시스템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fit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 goodput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goodput (×)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goodput (×)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TTFT P99 C1 (×)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TTFT P99 C2 (×)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  cb_kv_8k_b32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B200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3,564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3,578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×3.88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×1.16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  cb_kv_8k_b32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3,557 (×0.99)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3,577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×4.15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×1.23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CB-2  cb_kv_8k_b32_ramp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B200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3,591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3,595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×0.86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×0.63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CB-2  cb_kv_8k_b32_ramp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3,578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3,595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×3.76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×1.14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CB-3  cb_mixed_8k_b32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B200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포화(제외)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CB-3  cb_mixed_8k_b32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비교 가능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2,641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2,630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2,640 (×1.00)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×4.32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×1.15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ad"/>
          <p:cNvSpPr txBox="1"/>
          <p:nvPr/>
        </p:nvSpPr>
        <p:spPr>
          <a:xfrm>
            <a:off x="365760" y="4754568"/>
            <a:ext cx="11430000" cy="1645432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 3개 시나리오는 Baseline이 이미 SLO를 지키고 처리량이 포화에 가까워 후보의 QA1 이득이 거의 없다(×1.00). 이득은 DP1 전용 Dynamic 시나리오에서 나온다(1장).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공통에서 C1은 지연 쪽이 나쁘다: TTFT P99 ×2.95, QA2 개선 배수 ×0.94(★ 경계 0.95 아래). C2는 TTFT P99가 Baseline과 같은 수준이다.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CB-3(B200)은 모든 후보가 CI 이내로 같아 '포화'로 집계에서 제외했다(삭제하지 않고 목록에 남김).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DP4는 공통 6쌍으로 별을 매기고 DP2는 전체 쌍으로 매겨 DP마다 집합이 다르다. 이 장은 DP1의 공통 값을 같은 형식으로 내어 비교 근거로 쓴다(12장 정합 점검).</a:t>
            </a:r>
          </a:p>
        </p:txBody>
      </p:sp>
    </p:spTree>
    <p:extLst>
      <p:ext uri="{BB962C8B-B14F-4D97-AF65-F5344CB8AC3E}">
        <p14:creationId xmlns:p14="http://schemas.microsoft.com/office/powerpoint/2010/main" val="4234899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대상 구조 C1 · C2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같은 이벤트·Selector 경계·Migration budget 위에서 '무엇을 보고 이동을 결정하나'만 다른 두 후보 · 결정은 DP1, mapping·commit은 공통 Migration subsystem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정의는 dp1-ai-data-migration-decision-architecture.md §4~5, 구현은 DP1/sim/policies.py. 블록 이름은 설계 문서 용어. 변경 시나리오 S1~S4는 QA4(qa-criteria-dp1.md).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90000"/>
          <a:ext cx="11457432" cy="2559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쉬운 설명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입력 → 출력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블록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구현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구현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Event · Migration Scheduler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용량 압박·접근·할당 같은 사건이 오면 이동 판단을 시작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telemetry · ALLOCATED/FREED/ACCESSED → 결정 주기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 새 event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Data Object Registry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객체의 위치·크기·tier를 적어 두는 장부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객체 id → 위치·크기·tier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공통(스키마 다름)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type-agnostic (종류를 모름)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type-aware (KV/LoRA/MoE/RAG별 특성)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S2 새 data 종류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관찰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무엇을 보고 상황을 파악하나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tier 상태 / 접근 이력 → 상태 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Resource State Monitor (용량·BW·부하)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Data Behavior Monitor (빈도·재사용·유휴)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지금 이동이 필요한가, 무엇이 유리한가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상태 값 → 압력 · 선호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Trend Analyzer + Data-Memory Affinity(정적 힌트)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Trend Analyzer + Future Behavior Predictor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 정책 교체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Destination Tier Selector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어느 tier로 보낼지 고른다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tier 목록 → 목적지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비용 추정 + 후보별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affinity 점수 − 서빙 penalty, SLO 필터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type 선호 목록 + benefit-vs-cost gating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 새 메모리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Eviction · 승격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누구를 내리고 누구를 올릴지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압력 · 후보 → 이동 대상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Eviction Manager + 정적 승격/교환 pass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coldest-first 강등(압력 시) + 예측 승격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Migration Budget · Executor 경계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이동이 서빙 링크를 너무 쓰지 않게 제한하고 결정을 넘긴다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이동 결정 → MigrationIntent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link 시간 token bucket (몫 0.25, cooldown 8 s)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1"/>
          <p:cNvSpPr txBox="1"/>
          <p:nvPr/>
        </p:nvSpPr>
        <p:spPr>
          <a:xfrm>
            <a:off x="365760" y="3959050"/>
            <a:ext cx="6150000" cy="244095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K1·K7과 Memory Backend I/F는 두 후보 공통이고 K2~K6이 갈린다. 그래서 C1/C2는 같은 Policy 틀의 두 구현으로 볼 수 있다.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C1은 '메모리 상태가 어떻게 변하나'를, C2는 '데이터가 앞으로 어떻게 쓰이나'를 본다. 같은 종류 안의 hot/cold 구분은 C2만 한다.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C1의 Data-Memory Affinity 효과는 정적 승격 pass에서 나온다(제거 실험: 처리량 ×1.30 → ×1.05).</a:t>
            </a:r>
          </a:p>
        </p:txBody>
      </p:sp>
      <p:sp>
        <p:nvSpPr>
          <p:cNvPr id="8" name="r2"/>
          <p:cNvSpPr txBox="1"/>
          <p:nvPr/>
        </p:nvSpPr>
        <p:spPr>
          <a:xfrm>
            <a:off x="6640000" y="3959050"/>
            <a:ext cx="5155000" cy="244095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범위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DP1은 결정(WHAT/WHERE)까지다. location 변경과 commit, 전송, HW 주소 변환은 공통 Migration subsystem과 driver의 영역이다(dp1-constraints.md C-X6, 6절).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평가는 그 구간의 overhead를 0으로 가정한다. 구현 후 실측이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3525692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시나리오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벤치마크 CB-1~3을 기본으로 하고 DP1 전용 시나리오를 더한다 · 시나리오당 한 줄 · 시스템 2개(H100, B200)에 각각 실행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시나리오 정의는 평가 계획이며 결과가 아니다. 파라미터는 사전 등록 값이고 결과를 본 뒤 바꾸지 않는다. 정의 원천: common-benchmark.md 2.1, DP1/benchmark.md, DP1/sim/scenarios.py.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300000"/>
          <a:ext cx="11457432" cy="2606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 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드러내는 차이 (As-Is 약점)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파라미터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cb_kv_8k_b32 (공통)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KV만, 정상 상태, HBM 용량 압박 고정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정적 배치가 fast tier 초과분을 느린 tier로 흘릴 때의 TPOT 악화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8K/256, batch 32, 40 objs, HBM ×0.12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cb_kv_8k_b32_ramp (공통)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CB-1과 같은 KV, 압박이 시간에 따라 점진 증가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시간에 따라 필요한 배치가 바뀌는데 정적 배치가 따라가지 못함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×0.2, capacity_ramp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cb_mixed_8k_b32 (공통)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+ LoRA + MoE + Agent/Tool 혼합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data 종류를 구분하지 않는 관리의 한계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50/LoRA 15/MoE 15/Agent 10/Tool 10 %, 48 objs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 (23)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Stress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데이터 종류(KV, RAG, Agent, Tool, LoRA, MoE)·크기(32K~512K, 1~8 TiB)·압박 양상을 바꾼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tier 선택과 용량 사다리(6개 메모리 전부), 공유 링크 압박, hotness 급반전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예: rag_1tib_b16, kv_b256_c512k_stress, behavior_flip_stress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DY (6)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Dynamic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Baseline이 처음엔 SLO를 만족하다 중간에 고정 규칙이 stale해지는 6개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QA2 QA3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hot 집합이 이동·idle 점유·링크 저하 (Baseline의 실패 양상을 알고 설계함)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dyn_kv_rotating_hotset, dyn_idle_kv_holds_hbm, dyn_rag_shard_hotset_shift 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시나리오 4개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메모리 추가 · 새 AI data 종류 · 정책 교체 · 새 event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변경이 어디까지 번지는가 (module · 공수 · 에이전트 비용)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시뮬레이터 복사본에 구현해 측정, 가중 없음(평균)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"/>
          <p:cNvSpPr txBox="1"/>
          <p:nvPr/>
        </p:nvSpPr>
        <p:spPr>
          <a:xfrm>
            <a:off x="365760" y="4016038"/>
            <a:ext cx="11430000" cy="2383962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32개 시나리오 × 2시스템 = 64쌍 중 비교 가능 21쌍, 포화 10쌍(모든 후보가 CI 이내로 같음), Baseline도 SLO 불가 33쌍. 불가·포화 쌍은 집계에서 빼되 목록에는 남겼다.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 CB-1~3은 다른 DP와 같은 ID·파라미터다(common-benchmark.md). 그 외는 DP1 전용이며 후보가 지는 시나리오도 삭제하지 않았다.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Dynamic은 failure mode를 알고 설계했으므로 이득은 그 상황에 한정해 읽어야 한다(시스템·시나리오 선택 의존).</a:t>
            </a:r>
          </a:p>
        </p:txBody>
      </p:sp>
    </p:spTree>
    <p:extLst>
      <p:ext uri="{BB962C8B-B14F-4D97-AF65-F5344CB8AC3E}">
        <p14:creationId xmlns:p14="http://schemas.microsoft.com/office/powerpoint/2010/main" val="2031714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시뮬레이션 수행 방식 — 시뮬레이터 단독 (실측 Baseline 없음)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DP1은 실물 이기종 메모리(ScHBM, CXL-PNM, HBF, SSD-PIM)가 없어 Baseline까지 시뮬레이터로 돌린다: 모든 값이 [B+C]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이 장은 평가 절차다. 시뮬레이터(DP1/sim)와 결과 데이터(DP1/results/data)는 같은 명령·같은 revision이면 같은 값이 나온다(seed 11/23/37/53/71).</a:t>
            </a:r>
          </a:p>
        </p:txBody>
      </p:sp>
      <p:sp>
        <p:nvSpPr>
          <p:cNvPr id="6" name="① 시스"/>
          <p:cNvSpPr txBox="1"/>
          <p:nvPr/>
        </p:nvSpPr>
        <p:spPr>
          <a:xfrm>
            <a:off x="365760" y="1290000"/>
            <a:ext cx="2560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① 시스템 모델 구성 [B]</a:t>
            </a:r>
          </a:p>
        </p:txBody>
      </p:sp>
      <p:sp>
        <p:nvSpPr>
          <p:cNvPr id="7" name="d① "/>
          <p:cNvSpPr txBox="1"/>
          <p:nvPr/>
        </p:nvSpPr>
        <p:spPr>
          <a:xfrm>
            <a:off x="3000000" y="1290000"/>
            <a:ext cx="8795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H100×8 / B200×8 프로필(공개 spec) + 6종 메모리의 용량·대역폭·지연·primitive·연산 능력(`systems.json`, SPEC/PUBLIC/ASSUMED 표기). 공통 프로필 Llama-3.1-70B BF16.</a:t>
            </a:r>
          </a:p>
        </p:txBody>
      </p:sp>
      <p:sp>
        <p:nvSpPr>
          <p:cNvPr id="8" name="② 시나"/>
          <p:cNvSpPr txBox="1"/>
          <p:nvPr/>
        </p:nvSpPr>
        <p:spPr>
          <a:xfrm>
            <a:off x="365760" y="1860000"/>
            <a:ext cx="2560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② 시나리오 trace 생성</a:t>
            </a:r>
          </a:p>
        </p:txBody>
      </p:sp>
      <p:sp>
        <p:nvSpPr>
          <p:cNvPr id="9" name="d② "/>
          <p:cNvSpPr txBox="1"/>
          <p:nvPr/>
        </p:nvSpPr>
        <p:spPr>
          <a:xfrm>
            <a:off x="3000000" y="1860000"/>
            <a:ext cx="8795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CB-1~3 + Stress 23 + Dynamic 6의 객체·접근률·압박을 seed별로 생성. Baseline과 후보가 같은 trace를 받는다.</a:t>
            </a:r>
          </a:p>
        </p:txBody>
      </p:sp>
      <p:sp>
        <p:nvSpPr>
          <p:cNvPr id="10" name="③ 정책"/>
          <p:cNvSpPr txBox="1"/>
          <p:nvPr/>
        </p:nvSpPr>
        <p:spPr>
          <a:xfrm>
            <a:off x="365760" y="2430000"/>
            <a:ext cx="2560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③ 정책 주입</a:t>
            </a:r>
          </a:p>
        </p:txBody>
      </p:sp>
      <p:sp>
        <p:nvSpPr>
          <p:cNvPr id="11" name="d③ "/>
          <p:cNvSpPr txBox="1"/>
          <p:nvPr/>
        </p:nvSpPr>
        <p:spPr>
          <a:xfrm>
            <a:off x="3000000" y="2430000"/>
            <a:ext cx="8795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Baseline-static(최초 배치 고정, 이동 없음) / C1 / C2를 같은 시뮬레이터에서 실행. 이동 비용은 링크 간섭 모델(이동이 쓴 링크 시간만큼 서빙 BW 감소)로 지연·처리량에 반영.</a:t>
            </a:r>
          </a:p>
        </p:txBody>
      </p:sp>
      <p:sp>
        <p:nvSpPr>
          <p:cNvPr id="12" name="④ 시나"/>
          <p:cNvSpPr txBox="1"/>
          <p:nvPr/>
        </p:nvSpPr>
        <p:spPr>
          <a:xfrm>
            <a:off x="365760" y="3000000"/>
            <a:ext cx="2560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④ 시나리오 실행</a:t>
            </a:r>
          </a:p>
        </p:txBody>
      </p:sp>
      <p:sp>
        <p:nvSpPr>
          <p:cNvPr id="13" name="d④ "/>
          <p:cNvSpPr txBox="1"/>
          <p:nvPr/>
        </p:nvSpPr>
        <p:spPr>
          <a:xfrm>
            <a:off x="3000000" y="3000000"/>
            <a:ext cx="8795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load ×0.5/1.0/1.5/2.0 sweep × seed 5개. Max SLO goodput은 SLO를 만족한 토큰의 최대값. 같은 seed·부하로 Baseline과 짝지어 비교(95% CI).</a:t>
            </a:r>
          </a:p>
        </p:txBody>
      </p:sp>
      <p:sp>
        <p:nvSpPr>
          <p:cNvPr id="14" name="⑤ 후처"/>
          <p:cNvSpPr txBox="1"/>
          <p:nvPr/>
        </p:nvSpPr>
        <p:spPr>
          <a:xfrm>
            <a:off x="365760" y="3570000"/>
            <a:ext cx="2560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⑤ 후처리</a:t>
            </a:r>
          </a:p>
        </p:txBody>
      </p:sp>
      <p:sp>
        <p:nvSpPr>
          <p:cNvPr id="15" name="d⑤ "/>
          <p:cNvSpPr txBox="1"/>
          <p:nvPr/>
        </p:nvSpPr>
        <p:spPr>
          <a:xfrm>
            <a:off x="3000000" y="3570000"/>
            <a:ext cx="8795000" cy="52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QA1 비율, QA2 6개 지표 개선 배수, QA3 HBM 점유, QA4는 변경 시나리오를 시뮬레이터 복사본에 구현해 module·LOC를 측정하고 공수·비용은 가정 상수로 계산.</a:t>
            </a:r>
          </a:p>
        </p:txBody>
      </p:sp>
      <p:graphicFrame>
        <p:nvGraphicFramePr>
          <p:cNvPr id="16" name="tbl"/>
          <p:cNvGraphicFramePr>
            <a:graphicFrameLocks noGrp="1"/>
          </p:cNvGraphicFramePr>
          <p:nvPr/>
        </p:nvGraphicFramePr>
        <p:xfrm>
          <a:off x="365760" y="4160000"/>
          <a:ext cx="11430000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Evidence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GPU·호스트 spec, 모델·워크로드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+ 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ScHBM·HBF·SSD-PIM·CXL-PNM 성능, 연산 능력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문헌·vendor spec을 입력으로 한 모델 (CXL-PNM 연산 3.28 TFLOPS는 ASSUMED)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이동 비용(링크 간섭), decision overhead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(mapping·commit·driver overhead는 0으로 가정)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공수·에이전트 비용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시뮬레이터 복사본 구현 측정 + 가정 상수·가격(ASSUMED)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실측 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없음 (DP0는 H100 실측 Baseline이 있어 [A+C])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183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평가 시스템과 SLO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TTFT P99 ≤ 2 s · TPOT P99 ≤ 50 ms는 공통 문서의 고정값이며 DP0·DP2·DP4와 같다 · 시스템은 메모리 세대 두 개(H100, B200)를 통합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SYS 값은 SPEC/PUBLIC/ASSUMED를 필드별로 표기(system-specs.md). 확인하지 못한 값은 ASSUMED로 두었다. B200·ScHBM 값은 세대 스케일 가정을 포함한다.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90000"/>
          <a:ext cx="11429999" cy="3822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/ GPU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8-GPU 1노드 × 2시스템: SYS-H100 (H100 SXM5 80GB HBM3), SYS-B200 (HBM3e)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 연산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FP16 dense 989 TFLOPS (H100) / 2,250 TFLOPS (B200), GPU 1개당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/ 정밀도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Llama-3.1-70B, BF16, 8-GPU 1노드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워크로드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8K / 출력 256, prefix 재사용 통제 (공통 CB), DP1 전용은 5장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호스트 연결 / DRAM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PCIe 5.0 x16, DDR5-4800 (H100) / DDR5-6400 (B200), 1 TiB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PUBLIC 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 구성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640 GiB / 1,536 GiB(GPU 8장)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SPEC/PUBLIC/ASSUMED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Samsung Custom HBM(ScHBM) 160 GiB / 384 GiB, CPU와 PCIe 5.0 x16, 연산 197.8 / 450 TFLOPS FP16(attention 연산 오프로드)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CXL-PNM 512 GiB(내부 DRAM), CXL 2.0 (PCIe 5.0 PHY), 연산 3.28 TFLOPS(attention 오프로드)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DRAM 1 TiB, PCIe 5.0 x16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HBF 2 TiB, GPU 직접 접근(UCIe) 1 TB/s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SSD-PIM 16 TiB, NVMe PCIe 5.0 x4, GEMV 2 TFLOPS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Baseline-static: 최초 배치를 고정하고 이동하지 않음 (As-Is proxy)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2 s, TPOT P99 ≤ 50 ms (공통 문서 §2, DP0와 동일)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slo"/>
          <p:cNvSpPr txBox="1"/>
          <p:nvPr/>
        </p:nvSpPr>
        <p:spPr>
          <a:xfrm>
            <a:off x="365760" y="4846432"/>
            <a:ext cx="11430000" cy="1553568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SLO 선정 근거 (DP0 장표 5장과 같은 값, 같은 근거)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TTFT 2 s: H100×8에서 8K prefill 이론 시간은 약 0.32 s(2×70.6B×8,192 ÷ (8×989 TFLOPS×MFU 0.45), DP0 장표 계산)이며 2 s는 큐잉·스케줄링 여유를 포함한 값이다. B200은 연산이 더 커 여유가 더 크다.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TPOT 50 ms: 디코드 step의 이론 하한(가중치 + KV 읽기)에 통신·스케줄링을 더해도 포화 시 약 40 ms대라는 DP0 장표의 계산과 같은 모델이다. DP1에서는 attention 오프로드 경로의 TPOT가 이 경계로 SLO 위반을 판정한다.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이 SLO는 DP 간 비교 가능성을 위해 공통 고정값이며 결과를 본 뒤 바꾸지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820899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QA1 처리량 —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QA1 · Max SLO Goodput(output tok/s) ÷ Baseline · 시나리오 쌍별 비율의 기하평균 · SLO = TTFT P99 ≤ 2 s, TPOT P99 ≤ 50 ms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DP1 별 기준 v5. 하한은 측정, 상한은 환산이며 정책 선택이 남는다. 같은 별 경계로 QA2·QA3도 같은 방식으로 정했다.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80000"/>
          <a:ext cx="1145743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1.30 × 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같은 수요를 77%의 하드웨어로 처리 = 8-GPU 노드에서 약 1.85 GPU 절감(1.14배가 GPU 1장). 추가 메모리 HW와 migration 복잡도를 정당화할 크기라는 판단(정책 선택).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 [C]. 결과를 본 뒤 정한 값(defined_after_first_look)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0.97 ~ 1.30 × 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 0.97 = Baseline끼리 seed 묶음을 바꿔 비교한 20회의 집계 범위 0.968~1.033의 아래 끝. 그 안은 잡음이라 열세로 보지 않는다.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[B+C], star_basis.py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0.97 × 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잡음 대역 밖의 열세: Baseline보다 느리다.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584560"/>
            <a:ext cx="5600000" cy="28954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지표와 결과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Max SLO goodput = SLO를 위반한 요청의 토큰을 뺀 output tok/s를 load sweep으로 구한 최대값(공통 룰).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결과 ×1.30 (C1) / ×1.42 (C2). 이득은 Dynamic 시나리오에 집중되고 공통 CB는 ×1.00이다(2장).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 룰의 별 경계는 0.90 / 1.10이다. DP1은 0.97 / 1.30을 쓰고 공통 별점을 병기한다(근거: qa-criteria-dp1.md §A).</a:t>
            </a:r>
          </a:p>
        </p:txBody>
      </p:sp>
      <p:sp>
        <p:nvSpPr>
          <p:cNvPr id="8" name="r"/>
          <p:cNvSpPr txBox="1"/>
          <p:nvPr/>
        </p:nvSpPr>
        <p:spPr>
          <a:xfrm>
            <a:off x="6200000" y="3584560"/>
            <a:ext cx="5600000" cy="28954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★★★ 경계 1.30은 결과(C1 ×1.298, C2 ×1.422)를 본 뒤 정했다. 경계를 1.25로 하면 C1도 ★★★이다.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문헌 기반 대안(Oracle 대비 이득 달성률 80%)도 계산했으나 참고 지표로만 둔다(qa-capture-literature.md): C1 62% / C2 83%.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365760" y="6500000"/>
            <a:ext cx="11430000" cy="23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DP1/qa-criteria-dp1.md §A·§J · DP1/sim/star_basis.py · 공통 QA 문서 §4.3 (0.90/1.10, 참고 병기)</a:t>
            </a:r>
          </a:p>
        </p:txBody>
      </p:sp>
      <p:sp>
        <p:nvSpPr>
          <p:cNvPr id="10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v2에서 대체됨: QA1 ★★★ 경계 1.30 → 2.0 (DP1 C2 ★★★ → ★★). ★★ 하한 0.97은 같다.</a:t>
            </a:r>
          </a:p>
        </p:txBody>
      </p:sp>
    </p:spTree>
    <p:extLst>
      <p:ext uri="{BB962C8B-B14F-4D97-AF65-F5344CB8AC3E}">
        <p14:creationId xmlns:p14="http://schemas.microsoft.com/office/powerpoint/2010/main" val="3654403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QA2 지연 —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QA2 · TTFT와 TPOT × P50/P95/P99 6개 지표의 개선 배수(Baseline ÷ 후보) 기하평균 · TTFT, TPOT는 따로 보고하고 별은 합친 값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DP1 별 기준 v5. 평균 개선 배수로 별을 정하므로 꼬리 악화는 별에 드러나지 않는다. 꼬리는 P99 값과 악화 쌍 수로 따로 본다.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80000"/>
          <a:ext cx="1145743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6개 지표 개선 배수 ≥ 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지연 20% 감소 (예: TTFT P99 1,084 ms → 867 ms). '눈에 띄는 개선'의 크기로 둔 정책 선택.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0.95 ~ 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 0.95: Baseline끼리 비교한 잡음 범위 0.973~1.028 보다 약간 느슨하게 둠(5% 이내 열세는 열세로 보지 않음).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지연이 5% 넘게 나빠짐(잡음 밖).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584560"/>
            <a:ext cx="5600000" cy="28954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지표와 결과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 ×1.28 (TTFT ×1.58 · TPOT ×1.04), C2 ×1.56. 데이터 종류별로 RAG/Agent/Tool은 TTFT, LoRA/MoE는 TPOT, KV는 둘 다 영향을 받는다.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공통 룰의 QA2는 P99 worst-case(TTFT ≤ 2 s &amp; TPOT ≤ 50 ms ★★★)다. DP1은 개선 배수를 쓰고 공통 별점을 병기한다.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200000" y="3584560"/>
            <a:ext cx="5600000" cy="28954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평균은 좋아지지만 C1의 P99는 나쁘다: TTFT P99 ×1.04, 21쌍 중 6쌍에서 Baseline보다 나쁘고 최악 ×4.32. 원인은 초반에 몰린 큰 이동이 DRAM 링크를 점유하는 것(loop-log iteration 4).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burst 용량을 줄이면 꼬리는 줄지만 이득도 같이 사라진다(trade-off).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365760" y="6500000"/>
            <a:ext cx="11430000" cy="23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DP1/qa-criteria-dp1.md §A·§J · DP1/results/iterations/loop-log.md (iteration 4) · 공통 QA 문서 §5 (참고 병기)</a:t>
            </a:r>
          </a:p>
        </p:txBody>
      </p:sp>
      <p:sp>
        <p:nvSpPr>
          <p:cNvPr id="10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v2에서 대체됨: QA2 = 절대 SLO 등급 A와 개선 등급 R(r ≥ 1.20 / 0.90)의 평균. 이 장의 개선 배수는 R로 쓴다.</a:t>
            </a:r>
          </a:p>
        </p:txBody>
      </p:sp>
    </p:spTree>
    <p:extLst>
      <p:ext uri="{BB962C8B-B14F-4D97-AF65-F5344CB8AC3E}">
        <p14:creationId xmlns:p14="http://schemas.microsoft.com/office/powerpoint/2010/main" val="2288527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QA3 자원 (HBM 사용량) —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QA3 · HBM 사용량(GiB, 시간 평균 점유)의 Baseline 대비 비율(낮을수록 좋음) · 별은 절감 배수 = 1 ÷ 비율 · 성능은 섞지 않는다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DP1 별 기준 v5(QA3 정의 v6 = HBM 사용량). 가격은 ASSUMED, HBM 가중은 3배/5배/10배 민감도를 둔다.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80000"/>
          <a:ext cx="1145743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절감 배수 ≥ 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점유 20% 감소 = 평균 146.6 GiB 중 약 29 GiB (8K KV object 약 1.6개분). QA2와 같은 '눈에 띄는 개선' 기준.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0.95 ~ 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 0.95: Baseline끼리 비교한 잡음 범위 0.984~1.016보다 느슨하게 둠.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HBM을 5% 넘게 더 씀(잡음 밖).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584560"/>
            <a:ext cx="5600000" cy="28954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지표와 결과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C1 142.7 GiB (×0.97, 절감 1.03), C2 178.0 GiB (×1.21, 절감 0.82).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C2는 성능을 위해 hot 데이터를 HBM으로 올려 HBM을 더 쓴다. C1은 압력 때 DRAM·HBF로 내려 약간 줄인다.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보조: 어느 tier로 보냈는지(가격 차)를 보는 비용 가중 점유(ASSUMED 가격). 풀 활용률은 처리량과 상관이 0.99라 진단으로만 둔다.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200000" y="3584560"/>
            <a:ext cx="5600000" cy="28954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정의를 여러 번 바꿨다(활용률 → 풀 U → 성능÷비용 → HBM 사용량). 모두 결과를 본 뒤의 변경이며 마지막 변경이 선택을 C2에서 C1로 바꿨다.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HBM을 비우되 성능이 나빠지는 정책이 유리하므로 QA1·QA2와 함께 읽어야 한다. 공통 룰의 활용률(65%/85%)은 병기한다.</a:t>
            </a:r>
          </a:p>
        </p:txBody>
      </p:sp>
      <p:sp>
        <p:nvSpPr>
          <p:cNvPr id="9" name="src"/>
          <p:cNvSpPr txBox="1"/>
          <p:nvPr/>
        </p:nvSpPr>
        <p:spPr>
          <a:xfrm>
            <a:off x="365760" y="6500000"/>
            <a:ext cx="11430000" cy="2300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DP1/qa-criteria-dp1.md §A·§I·§J · DP1/sim/cost_model.py · 공통 QA 문서 §6 (참고 병기)</a:t>
            </a:r>
          </a:p>
        </p:txBody>
      </p:sp>
      <p:sp>
        <p:nvSpPr>
          <p:cNvPr id="10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 QA3과 같은 기준이다(감소 배수 1.25/0.95). 정의를 '평균 KV 크기'로 풀어 썼다. 기존 별 그대로.</a:t>
            </a:r>
          </a:p>
        </p:txBody>
      </p:sp>
    </p:spTree>
    <p:extLst>
      <p:ext uri="{BB962C8B-B14F-4D97-AF65-F5344CB8AC3E}">
        <p14:creationId xmlns:p14="http://schemas.microsoft.com/office/powerpoint/2010/main" val="3139806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QA4 변경 용이성 —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QA4 Modifiability · 세 지표를 모두 보고 세 sub-star의 중앙값으로 별 결정 · 시나리오 4개의 평균값에 기준을 적용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module 수 경계는 공통 QA 문서 그대로. 공수·비용 경계는 측정 전에 사전 등록한 가정이며 결과를 본 뒤 바꾸지 않는다(qa4-preregistration.md).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300000"/>
          <a:ext cx="1145743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변경 module 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② 개발 공수 (man-month)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③ 에이전트 비용 ($/변경, frontier tier)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 (주요 interface 유지)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$3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~ 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1.0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$10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6 또는 major interface 변경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1.0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$10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3258800"/>
          <a:ext cx="7498080" cy="141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 module 수 (평균)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1.75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2.50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② 공수 (man-month)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0.378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0.506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③ 비용 (frontier / 중간 tier)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$1.16 / $0.39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$1.49 / $0.49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별 (중앙값)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l"/>
          <p:cNvSpPr txBox="1"/>
          <p:nvPr/>
        </p:nvSpPr>
        <p:spPr>
          <a:xfrm>
            <a:off x="365760" y="4740400"/>
            <a:ext cx="5600000" cy="16796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별 결정 규칙과 근거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QA4 별 = 세 sub-star의 중앙값. 세 값을 모두 보인다. sub-star는 시나리오 평균값에 적용한다(최악값 집계는 공유 module 하나가 결과를 정해 신호를 가려 쓰지 않음, 소유자 결정, 결과를 본 뒤 변경).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② 공수: 변경 module 수와 LOC에서 가정 상수로 계산(c_mod 3.0, 검증 비율 등, ASSUMED). ③ 비용: 에이전트 토큰 × 가격 가정(frontier $15/$75 per MTok, 중간 tier $3/$15).</a:t>
            </a:r>
          </a:p>
        </p:txBody>
      </p:sp>
      <p:sp>
        <p:nvSpPr>
          <p:cNvPr id="9" name="r"/>
          <p:cNvSpPr txBox="1"/>
          <p:nvPr/>
        </p:nvSpPr>
        <p:spPr>
          <a:xfrm>
            <a:off x="6200000" y="4740400"/>
            <a:ext cx="5600000" cy="16796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상수 낙관/비관 조합에서도 C1과 C2의 QA4 별은 같지 않을 수 있다(민감도 qa4-modifiability.md). C2의 공수 0.506이 경계 0.5를 0.006 넘은 수준이라 상수에 민감하다.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DP0의 QA4 경계(① $0.5/$2, ② man-day 3/7)와 값·단위가 다르다. 같은 QA의 경계 정합은 12장에서 점검한다.</a:t>
            </a:r>
          </a:p>
        </p:txBody>
      </p:sp>
      <p:sp>
        <p:nvSpPr>
          <p:cNvPr id="10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v2에서 대체됨: 점수 S = 0.5×비용/$0.5 + 0.3×공수/0.5MM + 0.2×module/2 (★★★ ≤ 1.0, ★★ ≤ 3.2). DP1 별 그대로.</a:t>
            </a:r>
          </a:p>
        </p:txBody>
      </p:sp>
    </p:spTree>
    <p:extLst>
      <p:ext uri="{BB962C8B-B14F-4D97-AF65-F5344CB8AC3E}">
        <p14:creationId xmlns:p14="http://schemas.microsoft.com/office/powerpoint/2010/main" val="2355250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QA4 산출 근거 — 변경 시나리오별 module · 공수 · 비용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각 변경을 C1·C2 시뮬레이터 복사본에 실제로 구현해 module·LOC를 측정하고 공수·비용은 가정 상수로 계산 · 가중 없는 평균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예상이 아닌 구현 측정이지만 시뮬레이터 복사본이며 실제 에이전트 세션 측정이 아니다. 공수·비용은 가정 상수(qa4-modifiability.md)에서 재계산된다. [B+C]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300000"/>
          <a:ext cx="11457432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(module · LOC · MM · $T1)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(module · LOC · MM · $T1)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우세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메모리 추가 (CXL.mem expander)  ※ DP0 S1 새 tier 추가와 같은 변경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23 · 0.42 · $0.96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29 · 0.63 · $1.36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AI data 종류 (SPARSE_EMBED)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 · 0.15 · $0.86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3 · 0.46 · $1.68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교체 (C1 Affinity Mapper 지연 우선 / C2 Predictor 관측 전용)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8 · 0.38 · $1.08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7 · 0.37 · $1.05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event 종류 (SLO_ALERT)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11 · 0.56 · $1.75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11 · 0.56 · $1.85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4개 시나리오 평균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1.75 · — · 0.38 · $1.16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2.50 · — · 0.51 · $1.49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285376"/>
            <a:ext cx="5600000" cy="3134624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차이가 나는 이유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C2는 type-aware라 새 메모리(S1)와 새 data 종류(S2)에서 Selector·registry class 수정이 더 필요하다(module 2, 3 대 1, 1).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정책 교체(S3)와 새 event(S4)는 구조가 공유하는 부분이라 두 후보가 같다(2/2, 3/3).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설계 문서의 약속(선호를 capability class로 두면 S1에서 C2 selector 무변경)은 시뮬레이터의 C2 구현에서는 지켜지지 않아 S1이 2가 되었다.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200000" y="3285376"/>
            <a:ext cx="5600000" cy="3134624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한계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공수·비용은 가정 상수에 의존한다. 별은 상수 조합에 따라 ★★★~★★로 흔들린다. 후보 간 차이(module 1.75 대 2.50, 비용 약 1.3배)는 별 경계를 넘지 않을 수 있다.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S2의 C1 smoke는 estimator 입력 도달까지만 확인했다(해당 trace에서 C1 migration 0건).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DP0의 S1~S6과 달리 시나리오 가중을 두지 않았다(12장).</a:t>
            </a:r>
          </a:p>
        </p:txBody>
      </p:sp>
    </p:spTree>
    <p:extLst>
      <p:ext uri="{BB962C8B-B14F-4D97-AF65-F5344CB8AC3E}">
        <p14:creationId xmlns:p14="http://schemas.microsoft.com/office/powerpoint/2010/main" val="2892544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정합 점검 — DP0와 같은 QA의 시나리오·기준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같은 QA에서 같은 시나리오·같은 기준은 같은 ID·값을 쓰고, 다른 것은 다르다고 표기 · '조치'는 이 deck에서 한 것, '결정 필요'는 소유자 확인 사항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ootnote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/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DP0 deck(doc-mk/DP0/DP0-qa-result-slides.pptx)과 DP2·DP4 deck(Appendix)을 읽어 비교했다. DP0·DP2·DP4 파일은 수정하지 않았다.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90000"/>
          <a:ext cx="11457432" cy="3092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DP1 (이 deck)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 / 결정 필요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 번호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 · Q2 지연 · Q3 변경 용이성 · Q4 확장성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처리량 · QA2 지연 · QA3 HBM 사용 · QA4 변경 용이성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 deck은 공통 문서 번호 사용. DP0의 Q3 = 공통 QA4(변경 용이성), Q4 = 공통 QA6. DP0 번호 정리는 결정 필요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모델·워크로드·SLO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 BF16, 8K/256, TTFT P99 ≤ 2 s, TPOT P99 ≤ 50 ms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조치 없음 (공통 문서 §2 고정값)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sweep · seed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×0.5/1.0/1.5/2.0, seed ≥ 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×0.5/1.0/1.5/2.0, seed 5개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조치 없음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벤치마크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 '공통 벤치마크' 1개 (CB 대응 없음)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CB-1·CB-2·CB-3 (common-benchmark.md 2.1과 같은 ID·파라미터)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DP1은 공통 문서 ID 사용. DP0 W1을 CB-1~3으로 실현할지는 결정 필요(common-benchmark.md §8 DP0 행 없음)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별을 매기는 시나리오 집합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W1~W5 (DP0 정의)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공식: Common+Stress+Dynamic 21쌍 / 참고: Common만 (2장)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DP마다 다름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문서는 Common만. DP4는 Common 6쌍, DP2는 전체 38쌍. 통일 여부는 결정 필요. 이 deck은 2장에 Common-only를 병기해 비교 가능하게 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92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변경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 (새 tier, 비용 함수, P/D 정책, 노드 지시, vLLM 계약, 신규 기능), S2~S4 가중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S1~S4 (새 메모리, 새 data 종류, 정책 교체, 새 event), 가중 없음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일부 같음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S1은 같은 변경(새 메모리/tier 추가)이라 문구를 맞춤. S2~S4는 DP마다 의미가 달라 DP 접두사(DP1-S2) 권장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92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경계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 $0.5/$2 ② 3/7 man-day ③ module ≤2/3~5/≥6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 module 같음 ② ≤0.5/≤1.0 man-month ③ ≤$3/≤$10 (frontier $15/$75)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module은 일치. 공수 단위(man-day 대 man-month)와 비용 가격 tier가 다름. DP1에 중간 tier($3/$15, DP0와 같은 가격) 값을 병기. 경계 통일은 결정 필요(결과를 본 뒤 변경 금지 H5)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Baseline·Evidence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없는 기본 라우팅, 실측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Baseline-static(이동 없음), 시뮬레이션 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다름(정상)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대상 DP가 달라 Baseline 정의가 다르다. Evidence 표기로 구분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18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F40C0-89BE-4217-B5CC-E7954451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499F4C-4F30-4E46-AFBD-139C19B22FFE}"/>
              </a:ext>
            </a:extLst>
          </p:cNvPr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DP4 </a:t>
            </a:r>
            <a:r>
              <a:rPr lang="ko-KR" altLang="en-US" sz="16600" b="1" dirty="0"/>
              <a:t>평가</a:t>
            </a:r>
          </a:p>
        </p:txBody>
      </p:sp>
    </p:spTree>
    <p:extLst>
      <p:ext uri="{BB962C8B-B14F-4D97-AF65-F5344CB8AC3E}">
        <p14:creationId xmlns:p14="http://schemas.microsoft.com/office/powerpoint/2010/main" val="2219669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DP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4.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QA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평가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결과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후보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1(OSS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확장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llm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-d) vs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후보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2(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자체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구현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Router) ·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공통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룰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형식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·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괄호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=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후보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÷ Baseline 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57432" cy="32689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metric (↑/↓ 좋음)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1 (OSS 확장)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 (자체 구현)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처리량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 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3,200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3,360 (×1.05)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3,340 (×1.04)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지연 (TTFT)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2,300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2,060 (×0.90)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1,940 (×0.84)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지연 (TPOT)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(ms) ↓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48 (×0.91)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48 (×0.91)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TTFT·TPOT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모두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반영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낮은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[A+C]  (TTFT &gt; 2 s)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[A+C]  (둘 다 SLO 만족)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① 토큰 cost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1건당 에이전트 토큰 비용 $ ↓ (S1~S6 가중 평균, 최우선)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$1.28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$0.38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② 개발 공수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1건당 man-day ↓ (②)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2.6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③ 변경 module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module 수 ↓ (③, 공통 QA4 기준)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3.1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1.9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 별점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①→②→③ 우선순위로 결정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Q4 확장성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Scaling Efficiency SE(N=16) (%) ↑ (N0=2)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97%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93%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 64% [A+C]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 합계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+ Q2 + Q3 + Q4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2+2+2+3 = 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2+3+3+1 = 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526280"/>
            <a:ext cx="11430000" cy="350865"/>
          </a:xfrm>
          <a:prstGeom prst="rect">
            <a:avLst/>
          </a:prstGeom>
          <a:solidFill>
            <a:srgbClr val="F2F2F2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dirty="0" err="1">
                <a:solidFill>
                  <a:srgbClr val="000000"/>
                </a:solidFill>
                <a:latin typeface="맑은 고딕"/>
                <a:ea typeface="맑은 고딕"/>
              </a:rPr>
              <a:t>근거</a:t>
            </a: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000000"/>
                </a:solidFill>
                <a:latin typeface="맑은 고딕"/>
                <a:ea typeface="맑은 고딕"/>
              </a:rPr>
              <a:t>수준</a:t>
            </a: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000000"/>
                </a:solidFill>
                <a:latin typeface="맑은 고딕"/>
                <a:ea typeface="맑은 고딕"/>
              </a:rPr>
              <a:t>표기</a:t>
            </a: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[A]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실측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· [B]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문헌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· [C]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시뮬레이션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. Q1·Q2·Q4 =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Baseline은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실측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[A],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실물이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없는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메모리와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2안(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미구현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)은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시뮬레이터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연동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[C] → [A+C]. Q3는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변경을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에이전트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세션으로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구현한다고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시뮬레이션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[C].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평가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시스템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: H100 SXM 80GB ×8 ×2노드(16 GPU), Llama-3.1-70B BF16,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입력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8K /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출력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256, SLO = TTFT P99 ≤ 2 s · TPOT P99 ≤ 50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ms.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Baseline =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미적용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기본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라우팅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수행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방식</a:t>
            </a:r>
            <a:r>
              <a:rPr 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및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시나리오는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추후 상세</a:t>
            </a:r>
            <a:r>
              <a:rPr lang="en-US" altLang="ko-KR" sz="900" b="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sz="90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5166360"/>
            <a:ext cx="5577840" cy="404726"/>
          </a:xfrm>
          <a:prstGeom prst="rect">
            <a:avLst/>
          </a:prstGeom>
          <a:solidFill>
            <a:srgbClr val="FBE5D6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선택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(별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합계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→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동점이면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QA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우선순위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Q1&gt;Q2&gt;Q3&gt;Q4)</a:t>
            </a:r>
          </a:p>
          <a:p>
            <a:pPr algn="l">
              <a:spcAft>
                <a:spcPts val="300"/>
              </a:spcAft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합계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9 대 9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동점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→ Q1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처리량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동점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→ Q2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지연에서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2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우세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→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2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선택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5166360"/>
            <a:ext cx="5715000" cy="843308"/>
          </a:xfrm>
          <a:prstGeom prst="rect">
            <a:avLst/>
          </a:prstGeom>
          <a:solidFill>
            <a:srgbClr val="FFFBEA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읽을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때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주의</a:t>
            </a:r>
            <a:endParaRPr sz="900" b="1" dirty="0">
              <a:solidFill>
                <a:srgbClr val="C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Q2 별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차이는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TTFT 2 s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경계를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사이에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둔 약 6%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차이에서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갈린다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Q3의 ①②③은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같은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사실에서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계산해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우열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방향이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모두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같다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(S1·S5·S6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1, S2~S4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2). 단 ①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cost는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OSS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탐색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가정에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민감</a:t>
            </a:r>
            <a:r>
              <a:rPr lang="en-US"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(8장).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Q4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2 ★은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레플리카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상태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비공유의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결과이며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보완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구조는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설계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문서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다음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장에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있다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9" name="실행 단추: 뒤로 또는 이전 8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08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Q1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처리량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—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성능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평가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공통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QA1 (Max SLO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Goodput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, output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tok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/s) ·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기준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후보의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Max SLO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Goodput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÷ Baseline(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T_ref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57432" cy="16824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4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8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1.10 × T_ref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도입으로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SLO를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지키면서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10%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이상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더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=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같은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부하에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약 9%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절감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(1/1.10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sz="10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0.90 ~ 1.10 × T_ref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Baseline과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±10%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=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천장이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같다고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본다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재측정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잡음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폭은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미측정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사전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확인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0.90 × T_ref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Baseline보다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10%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넘게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나쁨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=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도입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Baseline-regression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  <a:endParaRPr sz="10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008376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F5597"/>
                </a:solidFill>
                <a:latin typeface="맑은 고딕"/>
                <a:ea typeface="맑은 고딕"/>
              </a:rPr>
              <a:t>근거 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82696"/>
            <a:ext cx="5623560" cy="19974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지표와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Baseline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Max SLO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Goodput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=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SLO를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위반한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요청의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토큰을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뺀 output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tok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s를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load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sweep으로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구해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최대값을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취한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것 (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공통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§4).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T_ref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= 3,200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tok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/s (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):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없는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기본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라우팅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공통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벤치마크는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prefix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reuse를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통제하므로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라우팅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이득이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크지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않게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나온다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endParaRPr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예상치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산출</a:t>
            </a:r>
            <a:endParaRPr sz="10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1: 3,360 (×1.05). P1~P4는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설정·plugin으로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캐시·메모리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상태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인지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라우팅을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구현해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낭비를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줄인다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2: 3,340 (×1.04).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같은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P1~P5를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표현하므로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천장이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같다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 0.6%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차이는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잡음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이하로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282696"/>
            <a:ext cx="5696712" cy="76636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왜 둘 다 ★★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인가</a:t>
            </a:r>
            <a:endParaRPr sz="10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처리량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한계는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엔진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vLLM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)과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정하며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어느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쪽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구조로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구현하든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같으면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같다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결정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hop은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수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ms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SLO는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2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s라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goodput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영향은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1%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미만으로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다만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SLO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경계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부근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요청이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있으면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작은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차이가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생길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수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있어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P99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기준으로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확인한다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3620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dirty="0" err="1">
                <a:solidFill>
                  <a:srgbClr val="000000"/>
                </a:solidFill>
                <a:latin typeface="맑은 고딕"/>
                <a:ea typeface="맑은 고딕"/>
              </a:rPr>
              <a:t>출처</a:t>
            </a:r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DistServe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goodput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, SLO attainment) arxiv.org/abs/2401.09670 [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검색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확인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]</a:t>
            </a:r>
            <a:endParaRPr sz="75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v2에서 대체됨: QA1 경계는 0.97/2.0(이 장의 0.90/1.10 대신). 이 PPT의 Q1 = 공통 QA1. DP4 별 그대로.</a:t>
            </a:r>
          </a:p>
        </p:txBody>
      </p:sp>
    </p:spTree>
    <p:extLst>
      <p:ext uri="{BB962C8B-B14F-4D97-AF65-F5344CB8AC3E}">
        <p14:creationId xmlns:p14="http://schemas.microsoft.com/office/powerpoint/2010/main" val="3598761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Q2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지연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—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성능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평가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QA2 · TTFT와 TPOT를 분리 보고, 두 metric 중 낮은 등급 적용 (공통 §5)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57432" cy="1830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2 s  그리고  TPOT P99 ≤ 50 ms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기본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SLO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그대로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TPOT 50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ms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=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초당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20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토큰으로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읽는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속도보다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빠름</a:t>
                      </a:r>
                      <a:endParaRPr lang="en-US" sz="10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표준 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2 s(2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차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), interactive TPOT 40 </a:t>
                      </a:r>
                      <a:r>
                        <a:rPr lang="en-US" altLang="ko-KR"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ms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lang="en-US" altLang="ko-KR"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Brysbaert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2019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4 s  그리고  TPOT P99 ≤ 100 ms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기본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SLO의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2배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=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체감은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느리지만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대화형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사용은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가능한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&gt; 4 s  또는  TPOT P99 &gt; 100 ms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대화형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  <a:r>
                        <a:rPr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초과</a:t>
                      </a:r>
                      <a:endParaRPr lang="en-US" sz="10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lang="en-US" altLang="ko-KR" sz="10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Brysbaert</a:t>
                      </a:r>
                      <a:r>
                        <a:rPr lang="en-US" altLang="ko-KR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2019 </a:t>
                      </a:r>
                      <a:r>
                        <a:rPr lang="ko-KR" altLang="en-US" sz="10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081528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2F5597"/>
                </a:solidFill>
                <a:latin typeface="맑은 고딕"/>
                <a:ea typeface="맑은 고딕"/>
              </a:rPr>
              <a:t>근거</a:t>
            </a:r>
            <a:r>
              <a:rPr sz="1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2F5597"/>
                </a:solidFill>
                <a:latin typeface="맑은 고딕"/>
                <a:ea typeface="맑은 고딕"/>
              </a:rPr>
              <a:t>내용</a:t>
            </a:r>
            <a:endParaRPr sz="1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3434688"/>
            <a:ext cx="5623560" cy="168969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예상치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산출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(P99)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Baseline: TTFT 2,300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ms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/ TPOT 53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ms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(둘 다 SLO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미달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, ★★).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1: TTFT 2,060 (×0.90) / TPOT 48 (×0.91).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정책으로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줄지만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TTFT가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2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s를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60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ms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넘는다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→ ★★.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2: TTFT 1,940 (×0.84) / TPOT 48 (×0.91) → 둘 다 SLO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만족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→ ★★★.</a:t>
            </a:r>
            <a:endParaRPr lang="en-US"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endParaRPr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TPOT이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같은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이유</a:t>
            </a:r>
            <a:endParaRPr sz="10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Decode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단계는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엔진이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실행하므로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라우팅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구조가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바뀌어도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TPOT은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같다고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본다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차이는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TTFT(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요청이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엔진에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닿기까지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에서만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난다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282696"/>
            <a:ext cx="5696712" cy="192052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TTFT 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차이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120 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ms의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구성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 (</a:t>
            </a:r>
            <a:r>
              <a:rPr sz="1000" b="1" dirty="0" err="1">
                <a:solidFill>
                  <a:srgbClr val="000000"/>
                </a:solidFill>
                <a:latin typeface="맑은 고딕"/>
                <a:ea typeface="맑은 고딕"/>
              </a:rPr>
              <a:t>가설</a:t>
            </a:r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프록시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→ Router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원격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결정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호출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1회: 약 10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ms</a:t>
            </a:r>
            <a:endParaRPr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P/D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경로의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보조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프로세스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경유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요청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한 번 더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전달·큐잉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): 약 40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ms</a:t>
            </a:r>
            <a:endParaRPr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부하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시 위 두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지점의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꼬리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(P99)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큐잉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: 약 70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ms</a:t>
            </a:r>
            <a:endParaRPr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2는 두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hop이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없다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(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결정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위치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D1, P/D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조율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위치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D2).</a:t>
            </a:r>
            <a:endParaRPr lang="en-US"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endParaRPr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1" dirty="0" err="1">
                <a:solidFill>
                  <a:srgbClr val="C00000"/>
                </a:solidFill>
                <a:latin typeface="맑은 고딕"/>
                <a:ea typeface="맑은 고딕"/>
              </a:rPr>
              <a:t>정직한</a:t>
            </a:r>
            <a:r>
              <a:rPr sz="10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C00000"/>
                </a:solidFill>
                <a:latin typeface="맑은 고딕"/>
                <a:ea typeface="맑은 고딕"/>
              </a:rPr>
              <a:t>주의</a:t>
            </a:r>
            <a:endParaRPr sz="1000" b="1" dirty="0">
              <a:solidFill>
                <a:srgbClr val="C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별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차이가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TTFT 2 s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경계를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사이에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둔 약 6%에서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갈린다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 ±3~4%만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움직여도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동점이거나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뒤집힌다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근거가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가장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약하다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[C].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확정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: E1(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결정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경로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오버헤드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)을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평균이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아닌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P99로.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dirty="0" err="1">
                <a:solidFill>
                  <a:srgbClr val="000000"/>
                </a:solidFill>
                <a:latin typeface="맑은 고딕"/>
                <a:ea typeface="맑은 고딕"/>
              </a:rPr>
              <a:t>출처</a:t>
            </a:r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MLPerf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interactive 450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ms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/40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ms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marktechpost.com/2025/10/01/mlperf-inference-v5-1-2025-results-explained-for-gpus-cpus-and-ai-accelerators/ · it-online.co.za/?p=294312 [2차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확인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]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표준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 s/200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ms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[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확인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필요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] · gwern.net/doc/psychology/linguistics/2019-brysbaert.pdf [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검색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확인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] · nngroup.com/articles/response-times-3-important-limits/ [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링크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미검증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]</a:t>
            </a: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v2에서 대체됨: 이 장의 절대 SLO 등급이 A이고 Baseline 대비 개선 R과 평균. Q2 = 공통 QA2. DP4 별 그대로.</a:t>
            </a:r>
          </a:p>
        </p:txBody>
      </p:sp>
    </p:spTree>
    <p:extLst>
      <p:ext uri="{BB962C8B-B14F-4D97-AF65-F5344CB8AC3E}">
        <p14:creationId xmlns:p14="http://schemas.microsoft.com/office/powerpoint/2010/main" val="3975121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Q3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변경·유지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용이성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—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성능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평가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공통 QA4 Modifiability · 세 지표를 모두 보되 우선순위 ① 토큰 cost &gt; ② 개발 공수 &gt; ③ 변경 module 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57432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토큰 cost ($/변경, 가중 평균)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②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(man-day/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③ 변경 module 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$0.5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 (주요 interface 유지)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$0.5 ~ $2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~ 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~ 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$2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6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또는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major interface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108960"/>
            <a:ext cx="5623560" cy="195079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별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결정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규칙</a:t>
            </a:r>
            <a:endParaRPr sz="919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Q3 별 = ①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cost의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별. 두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①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별이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같으면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②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그것도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같으면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③ module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수로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결정한다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 세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지표가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같은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방향인지는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8장에서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시나리오별로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확인한다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sz="919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sz="919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왜 이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우선순위인가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(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소유자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결정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①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cost: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변경을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에이전트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세션으로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구현할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때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세션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로그에서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바로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읽히는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가장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객관적인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비용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 ②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cost에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안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잡히는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사람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시간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리뷰·검증·배포·upstream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재검증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). ③ module 수: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구조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영향의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대리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지표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공통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룰).</a:t>
            </a:r>
            <a:endParaRPr lang="en-US" sz="919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sz="919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왜 세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개를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모두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계산하는가</a:t>
            </a:r>
            <a:endParaRPr sz="919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한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지표만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쓰면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하나로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결론이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바뀐다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 세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지표가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시나리오마다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같은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방향이면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결론의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신뢰가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올라가고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갈리면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결과를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흔든다는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신호다</a:t>
            </a:r>
            <a:r>
              <a:rPr lang="en-US" sz="919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sz="919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0" y="3108960"/>
            <a:ext cx="5669280" cy="180934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경계값의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근거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(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모두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사전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등록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가정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① 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$0.5: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원본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약 25k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토큰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(module 약 3개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읽기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+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소규모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수정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)을 한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세션에서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재작업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없이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끝내는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비용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(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유효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입력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재과금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6배,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Sonnet급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$3/$15 per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MTok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가정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). </a:t>
            </a:r>
            <a:endParaRPr lang="en-US" sz="919" b="0" dirty="0">
              <a:solidFill>
                <a:schemeClr val="accent1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$2는 그 4배 =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다중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세션·OSS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코드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탐색이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들어가는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수준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② 3 man-day: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스프린트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(10 man-day)의 30%, 한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사람이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한 주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안에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배포까지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 7 man-day: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가용률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70%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한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스프린트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상한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③ 2 / 6: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공통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룰 §7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그대로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sz="919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sz="919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1" dirty="0" err="1">
                <a:solidFill>
                  <a:srgbClr val="C00000"/>
                </a:solidFill>
                <a:latin typeface="맑은 고딕"/>
                <a:ea typeface="맑은 고딕"/>
              </a:rPr>
              <a:t>출처</a:t>
            </a:r>
            <a:r>
              <a:rPr sz="919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C00000"/>
                </a:solidFill>
                <a:latin typeface="맑은 고딕"/>
                <a:ea typeface="맑은 고딕"/>
              </a:rPr>
              <a:t>한계</a:t>
            </a:r>
            <a:endParaRPr sz="919" b="1" dirty="0">
              <a:solidFill>
                <a:srgbClr val="C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에이전트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단가는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2차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자료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공식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가격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페이지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확인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필요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). ①②의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경계는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요구사항이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아니라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내부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dirty="0" err="1">
                <a:solidFill>
                  <a:srgbClr val="000000"/>
                </a:solidFill>
                <a:latin typeface="맑은 고딕"/>
                <a:ea typeface="맑은 고딕"/>
              </a:rPr>
              <a:t>출처</a:t>
            </a:r>
            <a:r>
              <a:rPr sz="750" b="1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토큰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단가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finout.io/blog/anthropic-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api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-pricing [2차,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공식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페이지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확인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필요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] </a:t>
            </a:r>
          </a:p>
        </p:txBody>
      </p:sp>
      <p:sp>
        <p:nvSpPr>
          <p:cNvPr id="9" name="실행 단추: 뒤로 또는 이전 8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v2에서 대체됨: 우선순위 규칙 대신 점수 S, 공수는 MM(man-day ÷ 21), 단순 평균. Q3 = 공통 QA4. DP4 별 그대로.</a:t>
            </a:r>
          </a:p>
        </p:txBody>
      </p:sp>
    </p:spTree>
    <p:extLst>
      <p:ext uri="{BB962C8B-B14F-4D97-AF65-F5344CB8AC3E}">
        <p14:creationId xmlns:p14="http://schemas.microsoft.com/office/powerpoint/2010/main" val="2480526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Q3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산출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근거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—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토큰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cost와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공수는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어떻게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계산했나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같은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시나리오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사실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(M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변경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module, L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변경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LOC, E OSS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탐색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토큰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, B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빌드·배포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, U upstream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재검증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에서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세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지표를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모두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계산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669280" cy="1417320"/>
          </a:xfrm>
          <a:prstGeom prst="rect">
            <a:avLst/>
          </a:prstGeom>
          <a:solidFill>
            <a:srgbClr val="F2F2F2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① 토큰 cost = [ (M × 8,000 + E) × 6 × $3 + L × 13 × 2 × $15 ] ÷ 10⁶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입력: module 1개 읽기 8,000 토큰(약 600 LOC), E = 1안에서 우리가 만든 코드가 아닌 OSS 내부를 읽는 토큰, 유효 재과금 배수 6(캐시 적중 후).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출력: 코드 1줄 13 토큰 × 2(최초 작성 + 수정 1회). 단가 $3 / $15 per MTok(Sonnet급, 가정).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170432"/>
            <a:ext cx="5669280" cy="1417320"/>
          </a:xfrm>
          <a:prstGeom prst="rect">
            <a:avLst/>
          </a:prstGeom>
          <a:solidFill>
            <a:srgbClr val="F2F2F2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② 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개발</a:t>
            </a: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공수</a:t>
            </a: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 = 0.5·M + L ÷ 400 + 1.0·B + 1.0·U  (man-day)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0.5/module =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사람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리뷰·수정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반영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, L/400 =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검증·테스트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보강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(400 LOC/일), B =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이미지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빌드·재배포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횟수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, U = upstream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호환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재검증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횟수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(1안만).</a:t>
            </a:r>
          </a:p>
          <a:p>
            <a:pPr algn="l">
              <a:spcAft>
                <a:spcPts val="200"/>
              </a:spcAft>
            </a:pP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왜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계산하나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: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에이전트가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코드를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쓰는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시대에도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사람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시간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(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리뷰·검증·배포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)이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변경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비용의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대부분이며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,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토큰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cost에는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잡히지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않기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C00000"/>
                </a:solidFill>
                <a:latin typeface="맑은 고딕"/>
                <a:ea typeface="맑은 고딕"/>
              </a:rPr>
              <a:t>때문</a:t>
            </a:r>
            <a:r>
              <a:rPr sz="900" b="1" dirty="0">
                <a:solidFill>
                  <a:srgbClr val="C00000"/>
                </a:solidFill>
                <a:latin typeface="맑은 고딕"/>
                <a:ea typeface="맑은 고딕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697480"/>
          <a:ext cx="11457432" cy="246430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1  (M · L · E)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토큰 $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  (M · L)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토큰 $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우세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tier 추가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10 · 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60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함수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교체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250 · 40k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1.25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120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P/D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교체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 · 300 · 60k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120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추가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 · 420 · 80k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2.32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80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vLLM 계약 변경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· 60 · 10k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· 300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 기능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 · 15 · 0k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 · 1500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1.45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7.8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 (S2~S4 가중 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3.1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1.28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1.9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동일 가중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 모두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2.7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1.02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module 2.3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0.48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3.1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공수·module은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★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동급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303520"/>
            <a:ext cx="5669280" cy="109728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세 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지표가</a:t>
            </a: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같은</a:t>
            </a: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방향인가</a:t>
            </a:r>
            <a:endParaRPr sz="90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시나리오별로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보면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토큰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cost·공수·module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수의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우열이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6개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모두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같다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: S1·S5·S6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1(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설정·OSS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제공으로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작은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변경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), S2~S4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2(한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구현체만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교체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).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가중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평균에서도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세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지표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모두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2가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낮다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(별 ★★ → ★★★). ①이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경계를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넘어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별을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가르므로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우선순위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규칙대로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Q3는 1안 ★★, 2안 ★★★.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5669280" cy="1097280"/>
          </a:xfrm>
          <a:prstGeom prst="rect">
            <a:avLst/>
          </a:prstGeom>
          <a:solidFill>
            <a:srgbClr val="FFFBEA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맑은 고딕"/>
                <a:ea typeface="맑은 고딕"/>
              </a:rPr>
              <a:t>민감도 · 정직한 한계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E(OSS 탐색 토큰)가 결과를 좌우한다. E = 0이면 가중 평균 ① 1안 $0.54(★★, 경계 직상)이고 동일 가중이면 $0.45로 ★★★ → 후보 2와 동점. E를 2배로 하면 $2.02.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토큰 cost의 절대 금액은 작다($0.15~2.3). 사람 시간(공수)이 실제 비용 대부분이지만, 소유자 우선순위(① &gt; ② &gt; ③)에 따라 별은 ①로 정하고 ②③은 방향 확인에 쓴다.</a:t>
            </a:r>
          </a:p>
        </p:txBody>
      </p:sp>
      <p:sp>
        <p:nvSpPr>
          <p:cNvPr id="10" name="실행 단추: 뒤로 또는 이전 9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829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Q4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확장성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—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성능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평가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공통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QA6 Scalability · SE(N) =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Goodput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(N) ÷ ((N / N0) ×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Goodput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(N0)) · N0 = 2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57432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≥ 90%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N배로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늘릴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때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10%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16노드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규모에서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90% = 14.4노드분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endParaRPr lang="en-US"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논문에서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'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효율적'이라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보고할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때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흔히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쓰는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90%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Cornell CVW · arXiv 1704.03329 (효율 90% 미만으로 안 떨어짐) [검색 확인]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70 ~ 90%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되지만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70%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=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10대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증설에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7대분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(3대분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낭비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). </a:t>
                      </a:r>
                      <a:endParaRPr lang="en-US"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매우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큰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규모에서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70~80%도 '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우수'로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보고한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사례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arXiv 2409.16053 AthenaK (65,536 GPU에서 80%, 일부 70%) [검색 확인]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&lt; 70%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30%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초과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=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증설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1/3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이상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낭비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병목이다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endParaRPr lang="en-US"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QA6의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임시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(DP4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초안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값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재사용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QA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§13 [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내부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822191"/>
            <a:ext cx="5623560" cy="2027735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예상치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(SE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곡선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200"/>
              </a:spcAft>
            </a:pPr>
            <a:endParaRPr lang="en-US" sz="919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lang="en-US" sz="919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lang="en-US" sz="919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lang="en-US" sz="919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lang="en-US" sz="919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lang="en-US" sz="919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lang="en-US" sz="919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endParaRPr sz="919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후보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2가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낮은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이유</a:t>
            </a:r>
            <a:endParaRPr sz="919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레플리카가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상태를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공유하지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않아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각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레플리카가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전체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서버의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KV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이벤트·메트릭을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중복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처리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→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서버가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N배면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레플리카당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갱신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부하</a:t>
            </a:r>
            <a:r>
              <a:rPr sz="919" b="0" dirty="0">
                <a:solidFill>
                  <a:schemeClr val="accent1"/>
                </a:solidFill>
                <a:latin typeface="맑은 고딕"/>
                <a:ea typeface="맑은 고딕"/>
              </a:rPr>
              <a:t> ≈ </a:t>
            </a:r>
            <a:r>
              <a:rPr sz="919" b="0" dirty="0" err="1">
                <a:solidFill>
                  <a:schemeClr val="accent1"/>
                </a:solidFill>
                <a:latin typeface="맑은 고딕"/>
                <a:ea typeface="맑은 고딕"/>
              </a:rPr>
              <a:t>N배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→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결정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지연·상태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낡음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→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goodput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포화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822191"/>
            <a:ext cx="5669280" cy="135934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후보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1이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높은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이유와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한계</a:t>
            </a:r>
            <a:endParaRPr sz="919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K8s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복제·서버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풀·흐름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제어가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검증된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경로이고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Router가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P/D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데이터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경로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밖이다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919" b="1" dirty="0" err="1">
                <a:solidFill>
                  <a:srgbClr val="C00000"/>
                </a:solidFill>
                <a:latin typeface="맑은 고딕"/>
                <a:ea typeface="맑은 고딕"/>
              </a:rPr>
              <a:t>정직한</a:t>
            </a:r>
            <a:r>
              <a:rPr sz="919" b="1" dirty="0">
                <a:solidFill>
                  <a:srgbClr val="C00000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C00000"/>
                </a:solidFill>
                <a:latin typeface="맑은 고딕"/>
                <a:ea typeface="맑은 고딕"/>
              </a:rPr>
              <a:t>주의</a:t>
            </a:r>
            <a:endParaRPr sz="919" b="1" dirty="0">
              <a:solidFill>
                <a:srgbClr val="C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1의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Router도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전체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이벤트를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처리하는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구조라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비슷한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한계가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있을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수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있다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.</a:t>
            </a: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90%는 HPC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보고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관행이지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공식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표준이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아니다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검색에서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공식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기준은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찾지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못함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).</a:t>
            </a:r>
          </a:p>
          <a:p>
            <a:pPr algn="l">
              <a:spcAft>
                <a:spcPts val="200"/>
              </a:spcAft>
            </a:pP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보완</a:t>
            </a:r>
            <a:r>
              <a:rPr sz="919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19" b="1" dirty="0" err="1">
                <a:solidFill>
                  <a:srgbClr val="2F5597"/>
                </a:solidFill>
                <a:latin typeface="맑은 고딕"/>
                <a:ea typeface="맑은 고딕"/>
              </a:rPr>
              <a:t>가능성</a:t>
            </a:r>
            <a:endParaRPr sz="919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서버를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레플리카에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나눠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맡기는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샤딩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구조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설계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문서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다음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장)로 70%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경계를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넘길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여지가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있다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 이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장의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별(★)은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보완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전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현재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설계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19" b="0" dirty="0" err="1">
                <a:solidFill>
                  <a:srgbClr val="000000"/>
                </a:solidFill>
                <a:latin typeface="맑은 고딕"/>
                <a:ea typeface="맑은 고딕"/>
              </a:rPr>
              <a:t>기준</a:t>
            </a:r>
            <a:r>
              <a:rPr sz="919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000000"/>
                </a:solidFill>
                <a:latin typeface="맑은 고딕"/>
                <a:ea typeface="맑은 고딕"/>
              </a:rPr>
              <a:t>출처: </a:t>
            </a: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cvw.cac.cornell.edu/parallel/efficiency/scaling · arxiv.org/abs/1704.03329 · arxiv.org/abs/2409.16053 [모두 검색 확인, 90% 공식 기준은 아님]</a:t>
            </a:r>
          </a:p>
        </p:txBody>
      </p:sp>
      <p:graphicFrame>
        <p:nvGraphicFramePr>
          <p:cNvPr id="10" name="Table 6"/>
          <p:cNvGraphicFramePr>
            <a:graphicFrameLocks noGrp="1"/>
          </p:cNvGraphicFramePr>
          <p:nvPr/>
        </p:nvGraphicFramePr>
        <p:xfrm>
          <a:off x="427129" y="4042599"/>
          <a:ext cx="5028587" cy="101421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7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62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86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서버 수 N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 (N0)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16 (N_max)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8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(무상태 LB)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99%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98%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97%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8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98%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96%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93%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8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88%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76%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64%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실행 단추: 뒤로 또는 이전 10">
            <a:hlinkClick r:id="rId3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banner"/>
          <p:cNvSpPr txBox="1"/>
          <p:nvPr/>
        </p:nvSpPr>
        <p:spPr>
          <a:xfrm>
            <a:off x="365760" y="1033271"/>
            <a:ext cx="11430000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</a:rPr>
              <a:t>※ 공통 별 기준 v2 QA6과 같은 기준이다(SE 90/70, N_max=16). 이 PPT의 Q4 = 공통 QA6. 기존 별 그대로.</a:t>
            </a:r>
          </a:p>
        </p:txBody>
      </p:sp>
    </p:spTree>
    <p:extLst>
      <p:ext uri="{BB962C8B-B14F-4D97-AF65-F5344CB8AC3E}">
        <p14:creationId xmlns:p14="http://schemas.microsoft.com/office/powerpoint/2010/main" val="2787051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평가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시나리오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공통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벤치마크를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기본으로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하고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DP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1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전용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시나리오를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더한다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·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시나리오당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한 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57432" cy="39684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3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3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18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 QA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드러내는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차이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(As-Is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약점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파라미터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벤치마크</a:t>
                      </a:r>
                      <a:endParaRPr sz="95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 BF16,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8K /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256, prefix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재사용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통제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Q2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효과의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기준선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×0.5 / 1.0 / 1.5 / 2.0, seed ≥ 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캐시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재사용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대화</a:t>
                      </a:r>
                      <a:endParaRPr sz="95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W1에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prefix를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쓰는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섞음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Q2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캐시·메모리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인지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라우팅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(P1~P3)의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이득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재사용률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0 / 30 / 60%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긴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P/D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분리</a:t>
                      </a:r>
                      <a:endParaRPr sz="95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32K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섞어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Prefill/Decode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분리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경로를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P/D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보조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프로세스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hop, P5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(1안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긴 요청 비율 10%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 압박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점유가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높은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상태에서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CXL·HBF·SSD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tier를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Q1 Q2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tier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선택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(P1·P2·P5)이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SLO를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지키는가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점유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70 → 95%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증설</a:t>
                      </a:r>
                      <a:endParaRPr sz="95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서버당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부하를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고정하고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N배로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병목이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되는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시점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 = 2, 4, 8, 16 (N0 = 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시나리오 6개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tier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추가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함수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교체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· P/D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교체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추가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vLLM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/NIXL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계약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변경이 어디까지 번지는가 (module · 공수 · 토큰 cost)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가중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S2~S4 = 2,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나머지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 (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440680"/>
            <a:ext cx="11430000" cy="735586"/>
          </a:xfrm>
          <a:prstGeom prst="rect">
            <a:avLst/>
          </a:prstGeom>
          <a:solidFill>
            <a:srgbClr val="F2F2F2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읽는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법</a:t>
            </a:r>
          </a:p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• W1이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공통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기준이다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W2~W4는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실제로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갈리는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조건을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만들기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위한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DP</a:t>
            </a:r>
            <a:r>
              <a:rPr lang="en-US" sz="950" b="0" dirty="0">
                <a:solidFill>
                  <a:srgbClr val="000000"/>
                </a:solidFill>
                <a:latin typeface="맑은 고딕"/>
                <a:ea typeface="맑은 고딕"/>
              </a:rPr>
              <a:t>1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전용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시나리오이며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지는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삭제하지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않는다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Baseline이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SLO를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못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지키는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비교에서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제외하고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목록에는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남긴다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후보가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CI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이내로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같으면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'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포화'로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표기해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이득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근거로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쓰지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않는다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(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공통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규칙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이기종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메모리는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실물이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없으므로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W4는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시뮬레이터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tier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모델을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쓴다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(3장).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아직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없는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장애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주입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공통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QA5),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다중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클러스터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실행 단추: 뒤로 또는 이전 6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020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시뮬레이션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수행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방식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—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실측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Baseline +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시뮬레이터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연동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보유한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시스템에서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Baseline을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실측하고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실물이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없는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메모리와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2안만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모델로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대체한다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560320" cy="713232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① Baseline 실측 [A]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188720"/>
            <a:ext cx="8778240" cy="713232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H100 ×8 ×2노드에서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vLLM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+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없는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기본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라우팅을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실행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W1 load sweep, seed ≥ 5, P99·Goodput·SE(N0=2)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기록</a:t>
            </a:r>
            <a:endParaRPr sz="95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975104"/>
            <a:ext cx="2560320" cy="713232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F9000"/>
                </a:solidFill>
                <a:latin typeface="맑은 고딕"/>
                <a:ea typeface="맑은 고딕"/>
              </a:rPr>
              <a:t>② 이기종 메모리 시뮬레이터 연동 [C]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49848"/>
            <a:ext cx="8778240" cy="563744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HBF</a:t>
            </a:r>
            <a:r>
              <a:rPr lang="en-US"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맑은 고딕"/>
                <a:ea typeface="맑은 고딕"/>
              </a:rPr>
              <a:t>및 </a:t>
            </a:r>
            <a:r>
              <a:rPr lang="en-US" altLang="ko-KR" sz="950" b="0" dirty="0">
                <a:solidFill>
                  <a:srgbClr val="000000"/>
                </a:solidFill>
                <a:latin typeface="맑은 고딕"/>
                <a:ea typeface="맑은 고딕"/>
              </a:rPr>
              <a:t>3</a:t>
            </a:r>
            <a:r>
              <a:rPr lang="ko-KR" altLang="en-US" sz="950" b="0" dirty="0">
                <a:solidFill>
                  <a:srgbClr val="000000"/>
                </a:solidFill>
                <a:latin typeface="맑은 고딕"/>
                <a:ea typeface="맑은 고딕"/>
              </a:rPr>
              <a:t>이상의 다중 노드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는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실물이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없다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lang="en-US" sz="9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tier별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용량·대역폭·지연을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파라미터로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둔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모델을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KV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접근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경로에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삽입해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, tier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접근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때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서비스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바이트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÷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대역폭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+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지연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만큼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지연을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주입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lang="en-US" sz="9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HBM·DRAM은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실물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값으로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보정</a:t>
            </a:r>
            <a:endParaRPr sz="95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2560320" cy="713232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C55A11"/>
                </a:solidFill>
                <a:latin typeface="맑은 고딕"/>
                <a:ea typeface="맑은 고딕"/>
              </a:rPr>
              <a:t>③ 후보 라우팅 계층 주입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22153"/>
            <a:ext cx="8778240" cy="391902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1안: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llm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-d +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우리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plugin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코드를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그대로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실행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(P1~P4는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합성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백엔드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끝단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실행으로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확인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[A]). </a:t>
            </a:r>
            <a:endParaRPr lang="en-US" sz="9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2안: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미구현이므로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결정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경로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지연·상태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갱신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부하를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모델로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대체하고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E1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측정값으로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보정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[C]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47872"/>
            <a:ext cx="2560320" cy="713232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548235"/>
                </a:solidFill>
                <a:latin typeface="맑은 고딕"/>
                <a:ea typeface="맑은 고딕"/>
              </a:rPr>
              <a:t>④ 시나리오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547872"/>
            <a:ext cx="8778240" cy="713232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W1~W5 × load sweep × seed ≥ 5.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같은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seed·부하로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Baseline과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짝지어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비교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중앙값과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95% CI·CV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기록</a:t>
            </a:r>
            <a:endParaRPr sz="95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4334256"/>
            <a:ext cx="256032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F7F7F"/>
                </a:solidFill>
                <a:latin typeface="맑은 고딕"/>
                <a:ea typeface="맑은 고딕"/>
              </a:rPr>
              <a:t>⑤ 후처리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580842"/>
            <a:ext cx="8778240" cy="22006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Goodput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(SLO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위반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요청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제외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), TTFT·TPOT P99, SE(N)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산출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→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공통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기준으로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별점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Q3는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변경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에이전트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세션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모델로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환산</a:t>
            </a:r>
            <a:endParaRPr sz="95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66360"/>
          <a:ext cx="11430000" cy="13167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Evidence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처리량·지연·SE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(N0=2)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보유 시스템 실측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[A]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HBM·호스트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DRAM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대역폭·용량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실물 + 공개 spec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[A]/[B]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CXL·HBF·SSD tier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성능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문헌·vendor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spec을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입력으로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한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시뮬레이터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[B+C]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결정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경로·상태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갱신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부하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+ E1 보정(미측정)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 &gt; 2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외삽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실측은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2노드까지)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실행 단추: 뒤로 또는 이전 15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839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평가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시스템과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SLO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선정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근거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TTFT P99 ≤ 2 s · TPOT P99 ≤ 50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ms는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우리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시스템에서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달성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가능한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범위이면서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공개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기준·사용자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읽기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속도와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정합하는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값이다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7772400" cy="2304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/ GPU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노드 × H100 SXM 80GB × 8 = 16 GPU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보유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 사양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HBM3 3.35 TB/s, BF16 dense 989 TFLOPS, NVLink 900 GB/s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[B]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/ 정밀도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Llama-3.1-70B, BF16, TP=8 (노드당 1 replica)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워크로드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8K / 출력 256, prefix 재사용 통제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간 </a:t>
                      </a:r>
                      <a:r>
                        <a:rPr sz="95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링크</a:t>
                      </a:r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/ DRAM / SSD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(KV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전송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계산은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400 Gb/s ≈ 50 GB/s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미적용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기본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라우팅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상태·캐시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비인지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  <a:endParaRPr sz="95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188720"/>
            <a:ext cx="3474720" cy="2286000"/>
          </a:xfrm>
          <a:prstGeom prst="rect">
            <a:avLst/>
          </a:prstGeom>
          <a:solidFill>
            <a:srgbClr val="F2F2F2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계산</a:t>
            </a: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입력</a:t>
            </a: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(</a:t>
            </a:r>
            <a:r>
              <a:rPr sz="900" b="1" dirty="0" err="1">
                <a:solidFill>
                  <a:srgbClr val="2F5597"/>
                </a:solidFill>
                <a:latin typeface="맑은 고딕"/>
                <a:ea typeface="맑은 고딕"/>
              </a:rPr>
              <a:t>가정</a:t>
            </a:r>
            <a:r>
              <a:rPr sz="900" b="1" dirty="0">
                <a:solidFill>
                  <a:srgbClr val="2F559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지속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대역폭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=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이론의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70%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Prefill MFU = 45%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가중치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70.6B × 2 B = 141 GB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KV = 0.31 MB/token (80층 × 2 × 8 KV head × 128 × 2 B)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요청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1건 KV(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입력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8K +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출력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256) = 2.77 GB</a:t>
            </a:r>
          </a:p>
          <a:p>
            <a:pPr algn="l">
              <a:spcAft>
                <a:spcPts val="200"/>
              </a:spcAft>
            </a:pP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• HBM 90%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사용</a:t>
            </a:r>
            <a:r>
              <a:rPr sz="9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000000"/>
                </a:solidFill>
                <a:latin typeface="맑은 고딕"/>
                <a:ea typeface="맑은 고딕"/>
              </a:rPr>
              <a:t>가능</a:t>
            </a:r>
            <a:endParaRPr sz="90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3611880"/>
            <a:ext cx="5623560" cy="1366528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2F5597"/>
                </a:solidFill>
                <a:latin typeface="맑은 고딕"/>
                <a:ea typeface="맑은 고딕"/>
              </a:rPr>
              <a:t>TTFT P99 ≤ 2 s</a:t>
            </a: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• 8K prefill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이론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시간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= 2 × 70.6B × 8,192 ÷ (8 × 989 TFLOPS × 0.45) = 0.32 s. </a:t>
            </a:r>
            <a:endParaRPr lang="en-US" sz="950" b="0" dirty="0">
              <a:solidFill>
                <a:schemeClr val="accent1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2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s는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이의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약 6배라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큐잉·스케줄링에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약 1.7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s를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허용한다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공개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기준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endParaRPr lang="en-US" sz="9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450" indent="-171450" algn="l">
              <a:spcAft>
                <a:spcPts val="300"/>
              </a:spcAft>
              <a:buFontTx/>
              <a:buChar char="-"/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MLPerf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Inference Llama-2-70B의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표준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TTFT 2 s</a:t>
            </a:r>
            <a:endParaRPr lang="en-US" sz="9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450" indent="-171450" algn="l">
              <a:spcAft>
                <a:spcPts val="300"/>
              </a:spcAft>
              <a:buFontTx/>
              <a:buChar char="-"/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interactive는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450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ms로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알려져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있다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(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표준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값은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2차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자료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기준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확인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필요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).</a:t>
            </a: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• 즉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우리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SLO의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TTFT는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업계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표준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같고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, 더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엄격한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interactive는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별도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과제로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둔다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611880"/>
            <a:ext cx="5669280" cy="1620444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2F5597"/>
                </a:solidFill>
                <a:latin typeface="맑은 고딕"/>
                <a:ea typeface="맑은 고딕"/>
              </a:rPr>
              <a:t>TPOT P99 ≤ 50 </a:t>
            </a:r>
            <a:r>
              <a:rPr sz="1200" b="1" dirty="0" err="1">
                <a:solidFill>
                  <a:srgbClr val="2F5597"/>
                </a:solidFill>
                <a:latin typeface="맑은 고딕"/>
                <a:ea typeface="맑은 고딕"/>
              </a:rPr>
              <a:t>ms</a:t>
            </a:r>
            <a:endParaRPr sz="120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•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디코드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1 step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이론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하한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= (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가중치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141 GB +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배치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× KV) ÷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지속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대역폭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.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배치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1: 7.5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ms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, </a:t>
            </a:r>
            <a:endParaRPr lang="en-US" sz="950" b="0" dirty="0">
              <a:solidFill>
                <a:schemeClr val="accent1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KV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용량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한계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배치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약 157: 30.7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ms.</a:t>
            </a:r>
            <a:endParaRPr sz="950" b="0" dirty="0">
              <a:solidFill>
                <a:schemeClr val="accent1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• TP8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통신·스케줄링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약 5~8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ms를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더하면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포화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시 약 36~39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ms.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50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ms는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여기에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약 25~40%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여유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간섭·KV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전송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허용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)를 둔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상한이다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사용자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측: 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50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ms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 = 20 </a:t>
            </a:r>
            <a:r>
              <a:rPr sz="950" b="0" dirty="0" err="1">
                <a:solidFill>
                  <a:schemeClr val="accent1"/>
                </a:solidFill>
                <a:latin typeface="맑은 고딕"/>
                <a:ea typeface="맑은 고딕"/>
              </a:rPr>
              <a:t>tok</a:t>
            </a:r>
            <a:r>
              <a:rPr sz="950" b="0" dirty="0">
                <a:solidFill>
                  <a:schemeClr val="accent1"/>
                </a:solidFill>
                <a:latin typeface="맑은 고딕"/>
                <a:ea typeface="맑은 고딕"/>
              </a:rPr>
              <a:t>/s.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성인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묵독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238 wpm(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Brysbaert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2019) ≈ 4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단어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/s ≈ 5~6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tok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/s(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영어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1.3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tok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단어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가정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)의 약 3.5배.</a:t>
            </a: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•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MLPerf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interactive는</a:t>
            </a:r>
            <a:r>
              <a:rPr lang="en-US"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950" b="0" dirty="0">
                <a:solidFill>
                  <a:srgbClr val="000000"/>
                </a:solidFill>
                <a:latin typeface="맑은 고딕"/>
                <a:ea typeface="맑은 고딕"/>
              </a:rPr>
              <a:t>동일 시스템 기준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TPOT 40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ms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표준은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200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ms로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알려져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있어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50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ms는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둘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사이에서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interactive에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가깝다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8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850" b="0" dirty="0" err="1">
                <a:solidFill>
                  <a:srgbClr val="404040"/>
                </a:solidFill>
                <a:latin typeface="맑은 고딕"/>
                <a:ea typeface="맑은 고딕"/>
              </a:rPr>
              <a:t>MLPerf</a:t>
            </a:r>
            <a:r>
              <a:rPr sz="850" b="0" dirty="0">
                <a:solidFill>
                  <a:srgbClr val="404040"/>
                </a:solidFill>
                <a:latin typeface="맑은 고딕"/>
                <a:ea typeface="맑은 고딕"/>
              </a:rPr>
              <a:t> 값 — marktechpost.com/2025/10/01/mlperf-inference-v5-1-2025-results-explained-for-gpus-cpus-and-ai-accelerators/ · it-online.co.za/?p=294312 (2차 </a:t>
            </a:r>
            <a:r>
              <a:rPr sz="850" b="0" dirty="0" err="1">
                <a:solidFill>
                  <a:srgbClr val="404040"/>
                </a:solidFill>
                <a:latin typeface="맑은 고딕"/>
                <a:ea typeface="맑은 고딕"/>
              </a:rPr>
              <a:t>자료</a:t>
            </a:r>
            <a:r>
              <a:rPr sz="850" b="0" dirty="0">
                <a:solidFill>
                  <a:srgbClr val="404040"/>
                </a:solidFill>
                <a:latin typeface="맑은 고딕"/>
                <a:ea typeface="맑은 고딕"/>
              </a:rPr>
              <a:t>) · </a:t>
            </a:r>
            <a:r>
              <a:rPr sz="850" b="0" dirty="0" err="1">
                <a:solidFill>
                  <a:srgbClr val="404040"/>
                </a:solidFill>
                <a:latin typeface="맑은 고딕"/>
                <a:ea typeface="맑은 고딕"/>
              </a:rPr>
              <a:t>읽기</a:t>
            </a:r>
            <a:r>
              <a:rPr sz="8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404040"/>
                </a:solidFill>
                <a:latin typeface="맑은 고딕"/>
                <a:ea typeface="맑은 고딕"/>
              </a:rPr>
              <a:t>속도</a:t>
            </a:r>
            <a:r>
              <a:rPr sz="850" b="0" dirty="0">
                <a:solidFill>
                  <a:srgbClr val="404040"/>
                </a:solidFill>
                <a:latin typeface="맑은 고딕"/>
                <a:ea typeface="맑은 고딕"/>
              </a:rPr>
              <a:t> — gwern.net/doc/psychology/linguistics/2019-brysbaert.pdf · H100 spec — glennklockwood.com/garden/processors/h100 (2차)</a:t>
            </a:r>
          </a:p>
        </p:txBody>
      </p:sp>
      <p:sp>
        <p:nvSpPr>
          <p:cNvPr id="10" name="실행 단추: 뒤로 또는 이전 9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88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2200" b="1" dirty="0">
                <a:solidFill>
                  <a:srgbClr val="2F5597"/>
                </a:solidFill>
                <a:ea typeface="맑은 고딕"/>
              </a:rPr>
              <a:t>DP4.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평가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대상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정책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P1~P5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조율 계층이 서버를 고를 때 쓰는 판단 로직 5개 · 결정은 오케스트레이션 소프트웨어, P5의 수신·실행은 vLLM(엔진)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11457432" cy="40599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쉬운 설명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입력 → 출력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블록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1 구현 (llm-d)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2 구현 (자체)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 시나리오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P1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 종류별 가중치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캐시가 HBM/DRAM/CXL/SSD 중 어디에 있는지에 따라 적중 점수 가중치를 다르게 준다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이벤트의 블록 위치 → tier별 가중 적중 점수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 결정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설정만 (가중치 표) [A]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Strategy: ScoreStrategy 구현체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 새 tier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P2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실시간 메모리 상태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서버가 알려 주는 메모리 사용량·전송 대기 수치를 읽어 점수에 가감한다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/metrics 수치 → 점수 가감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 결정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설정만 (수치 이름 지정) [A]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Strategy: ScoreStrategy 구현체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 · S5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P3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 기반 적중 점수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재계산 비용과 해당 메모리에서 가져오는 비용을 비교해 점수를 매긴다 (점유율 높으면 감점)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재계산 비용 · tier 전송 비용 · 점유율 → 서버 점수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 결정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 모듈(plugin) [A]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Strategy: ScoreStrategy 구현체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S2 비용 함수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P4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 기반 P/D 분리 판단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요청마다 Prefill/Decode를 나눠 실행할지, Prefill을 어디서 할지를 비용 비교로 판단한다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 길이 · 캐시 적중 · 부하 → 실행 계획 (aggregated / P/D, Prefill 서버)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B·E 결정·조율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 모듈(wrapper) [A] — 기존 모듈 동작에 의존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Strategy: PDPlanStrategy 구현체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S3 P/D 정책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P5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요청별 노드 지시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요청마다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서버에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'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어느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메모리에서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몇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토큰까지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불러와라'를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지시한다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선택 결과 · tier 상태 → kv_transfer_params (kv_load_tiers, max_load_tokens)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 P/D 조율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일반 경로 plugin [A], P/D 경로는 보조 프로세스 수정 [C]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Decorator: 기본 → 계층 → 토큰 한도</a:t>
                      </a: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S4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지시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49240"/>
            <a:ext cx="5623560" cy="1005840"/>
          </a:xfrm>
          <a:prstGeom prst="rect">
            <a:avLst/>
          </a:prstGeom>
          <a:solidFill>
            <a:srgbClr val="F2F2F2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P1·P2는 설정 변경, P3·P4는 확장 모듈 추가, P5는 경로에 따라 기존 모듈 수정까지 필요하다(변경 부담: 설정 &lt; 확장 모듈 &lt; 기존 모듈 수정).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두 후보 모두 P1~P5를 표현할 수 있다. 차이는 어떻게 구현하고 얼마나 바뀌는지이며, 이것이 Q3(변경 시나리오 S1~S6)로 평가된다.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5349240"/>
            <a:ext cx="5669280" cy="1005840"/>
          </a:xfrm>
          <a:prstGeom prst="rect">
            <a:avLst/>
          </a:prstGeom>
          <a:solidFill>
            <a:srgbClr val="FFFBEA"/>
          </a:solidFill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맑은 고딕"/>
                <a:ea typeface="맑은 고딕"/>
              </a:rPr>
              <a:t>범위 주의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P5의 송신(결정·첨부)은 DP0 범위이고, 수신·실행은 vLLM(엔진) 쪽이다. 사용자 fork에는 아직 없고 두 후보 공통 선결이다.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P/D 경로의 P5는 1안에서 보조 프로세스가 kv_transfer_params를 덮어써 수정이 필요하다 [C]. 실제 vLLM에서의 효과는 미확인.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143000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[A] llm-d에서 실행 확인(합성 백엔드 끝단), [C] 코드 분석·논증. 정의는 dp0-requirements.md §5, 설계 문서 §2.4.1과 같다.</a:t>
            </a:r>
          </a:p>
        </p:txBody>
      </p:sp>
      <p:sp>
        <p:nvSpPr>
          <p:cNvPr id="9" name="실행 단추: 뒤로 또는 이전 8">
            <a:hlinkClick r:id="rId2" action="ppaction://hlinksldjump" highlightClick="1"/>
          </p:cNvPr>
          <p:cNvSpPr/>
          <p:nvPr/>
        </p:nvSpPr>
        <p:spPr>
          <a:xfrm>
            <a:off x="11422380" y="350520"/>
            <a:ext cx="297180" cy="32613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196026"/>
      </p:ext>
    </p:extLst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공통 별 기준 v2 — 모든 DP에 같은 QA는 같은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QA마다 metric 계산식 → ★ 기준 → 근거 · QA1 ★★★ 2배 · QA2 절대 SLO + Baseline 대비 개선 · QA4 점수식 · proposal (소유자 확정 전)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근거 문서: doc-mk/Evaluation/qa-star-criteria-unified.md · 별 계산: tools/unified_stars.py (값과 출처는 tools/unified_inputs.json) · 평가 수치는 경계에 맞춰 바꾸지 않는다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3529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4572000"/>
                <a:gridCol w="1417320"/>
                <a:gridCol w="1600200"/>
                <a:gridCol w="1097280"/>
                <a:gridCol w="153619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metric (같은 DP의 Baseline 대비 또는 절대 SLO)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 DP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처리량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= Max SLO goodput ÷ Baseline (쌍별 기하평균)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2.0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0.97 ≤ R &lt; 2.0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0.97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· DP2 · DP4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 = 올림((A + R) / 2)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 = 절대 SLO 등급: ★★★ TTFT P99 ≤ 2 s 그리고 TPOT P99 ≤ 50 ms, ★★ ≤ 4 s 그리고 ≤ 100 ms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= 개선 등급: r = √(TTFT 배수 × TPOT 배수), ★★★ r ≥ 1.20, ★★ 0.90 ≤ r &lt; 1.20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(A+R)/2 ≥ 2.5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1.5 ≤ (A+R)/2 &lt; 2.5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1.5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~ DP4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QA3 자원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HBM에 올라간 Context KV의 시간 평균 GiB → 감소 배수 = Baseline ÷ 후보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1.25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0.95 ≤ 배수 &lt; 1.25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0.95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· DP3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변경 용이성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 = 0.5 × (비용 ÷ $0.5) + 0.3 × (공수 ÷ 0.5 MM) + 0.2 × (module 수 ÷ 2)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낮을수록 좋음 · 비용 = mid tier $/변경 · 가중 = 토큰 비용 &gt; 공수 &gt; module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 ≤ 1.0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1.0 &lt; S ≤ 3.2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 &gt; 3.2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· DP2 · DP4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QA5 기능 정확성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F1 상대 하락 (압축 전 + full recompute 대비)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3% (제안)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3%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QA6 확장성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SE(N_max=16) = Goodput(N) ÷ ((N/N0) × Goodput(N0)), N0=2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90%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70 ~ 90%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 70%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4800600"/>
            <a:ext cx="5596128" cy="1600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원칙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같은 QA는 DP와 무관하게 같은 metric·집계·경계를 쓴다. DP마다 다른 것은 후보와 시나리오(공통 + DP 전용)뿐이다.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경계마다 근거를 달았다: 측정(잡음 폭), 환산(자원·시간), 표준·문헌, 정책 선택을 구분해 적었다.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QA4의 세 지표는 같은 비중이 아니다: 같은 '경계 대비 2배'라도 비용은 S에 +0.5, 공수 +0.3, module +0.2를 더한다. 한 지표가 나쁘면 다른 지표가 보완할 수 있다.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별 합계가 높은 후보를 선택하고 동점일 때만 QA 우선순위를 쓴다(모든 DP 공통).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4800600"/>
            <a:ext cx="5596128" cy="1600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QA1 ★★★ = 2.0은 '같은 수요를 절반의 서버로'라는 자원 환산 단위다. 경계를 올렸으므로 별이 내려갔다(DP1 C2, DP2 두 후보 ★★★ → ★★). 평가 수치는 그대로다.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QA2 R 경계(1.20/0.90)와 QA4 S 경계는 '기존 DP1·DP4 별과 선택을 보존한다'는 제약 안에서 정했다(defined_after_first_look).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QA5의 두 번째 경계(3%)는 데이터로 도출하지 못한 제안값이다.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시뮬레이션 [B+C]와 Baseline 실측 + 시뮬레이션 [A+C]를 같은 표에 쓴다. 근거 수준은 별과 분리해 표기한다.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QA1 처리량 — 공통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R = Max SLO goodput(output tok/s) ÷ 같은 DP Baseline · 시나리오 쌍별 비율의 기하평균 · SLO = TTFT P99 ≤ 2 s, TPOT P99 ≤ 50 ms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공통 별점(0.90/1.10)은 필요하면 병기한다. 다른 기준 계열의 영향은 qa-star-criteria-unified.md §7.</a:t>
            </a:r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DP1/qa-criteria-dp1.md §A·§J · DP1/sim/star_basis.py · vLLM PagedAttention (arXiv 2309.06180) · tools/unified_stars.py</a:t>
            </a: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280160"/>
          <a:ext cx="11457432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377440"/>
                <a:gridCol w="6035040"/>
                <a:gridCol w="213055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2.0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같은 수요를 절반의 서버로 처리 = 노드 수·전력·비용이 절반이라는 가장 단순한 자원 환산 단위. 새 메모리 HW와 스케줄링 복잡도를 정당화하려면 '서버 한 대로 두 대분'은 되어야 한다. 서빙 시스템 수준 개선이 2배를 넘는 사례를 주요 성과로 보고한다(vLLM PagedAttention 2~4배, SOSP 2023)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 [C] + 문헌 [B], 정책 선택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0.97 ≤ R &lt; 2.0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 0.97 = Baseline끼리 seed 묶음을 바꿔 비교한 20회 집계 범위 0.968~1.033의 아래 끝. 그 안은 잡음이라 열세로 보지 않는다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[B+C], DP1 star_basis.py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0.97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잡음 대역 밖의 열세: Baseline보다 느리다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l"/>
          <p:cNvSpPr txBox="1"/>
          <p:nvPr/>
        </p:nvSpPr>
        <p:spPr>
          <a:xfrm>
            <a:off x="365760" y="3840480"/>
            <a:ext cx="5596128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>
                <a:solidFill>
                  <a:srgbClr val="2F5597"/>
                </a:solidFill>
                <a:latin typeface="맑은 고딕"/>
                <a:ea typeface="맑은 고딕"/>
              </a:rPr>
              <a:t>지표와 이전 기준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이전(v1): 1.30 — '자원 23% 절감'이라는 정책 선택이었고 DP1 결과(×1.298, ×1.423)를 본 뒤 그 사이에 놓아 '왜 1.30인가'에 답하지 못했다.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평가 수치는 경계에 맞춰 키우지 않았다(측정값 조작 금지). 경계를 올렸으므로 별이 내려간다: DP1 C2 ×1.423, DP2 ×1.66 모두 ★★★ → ★★. QA1 ★★★ 후보는 없다.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결과: DP1 C1 ×1.298 · C2 ×1.423, DP2 ×1.66 · ×1.66, DP4 ×1.05 · ×1.04 (모두 ★★).</a:t>
            </a:r>
          </a:p>
        </p:txBody>
      </p:sp>
      <p:sp>
        <p:nvSpPr>
          <p:cNvPr id="9" name="r"/>
          <p:cNvSpPr txBox="1"/>
          <p:nvPr/>
        </p:nvSpPr>
        <p:spPr>
          <a:xfrm>
            <a:off x="6199632" y="3840480"/>
            <a:ext cx="5596128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DP1 보완 버전(C1 + Affinity)은 436 ÷ 336 = ×1.2976이다. '×1.3'으로 반올림해 적었지만 판정 값은 소수 값이고 v1 경계 1.30에서도 0.2% 아래라 ★★였다. 문서와 PPT에는 ×1.298로 쓴다.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2.0에서는 QA1이 이번 후보들을 가르지 못한다(×1.30 대 ×1.66이 별에 안 보임). 차이는 R 값으로 병기한다.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DP4는 Baseline이 실측이지만 재측정 잡음 폭을 아직 재지 않았다. 0.97은 시뮬레이터의 잡음 폭이다.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QA2 지연 — 공통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별 = 올림((A + R) / 2) · A = 절대 SLO 등급(유지) · R = Baseline 대비 개선 등급(추가) · TTFT P99·TPOT P99의 시나리오 쌍별 기하평균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출처 링크는 PPT DP4 28장·34장과 같다. MLPerf 표준 값은 2차 자료 확인이 필요하다.</a:t>
            </a:r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공통 QA 문서 §5 · MLPerf Inference v5.1 요약(marktechpost, it-online) [2차] · Brysbaert 2019 · DP3 시뮬레이션 seed 분산 · tools/unified_stars.py</a:t>
            </a: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188720"/>
          <a:ext cx="7498080" cy="1682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2834640"/>
                <a:gridCol w="36576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 절대 SLO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(두 지표 중 낮은 등급)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≤ 2 s 그리고 TPOT P99 ≤ 50 ms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기본 SLO. 8K prefill 이론 0.32 s의 약 6배(큐잉 여유), MLPerf 표준과 같은 자릿수. 50 ms = 20 tok/s는 묵독 속도의 약 3.5배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4 s 그리고 ≤ 100 ms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기본 SLO의 2배 이내 = 느리지만 대화형 가능한 한계 (정책 환산)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그 밖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대화형 사용 한계 초과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bl"/>
          <p:cNvGraphicFramePr>
            <a:graphicFrameLocks noGrp="1"/>
          </p:cNvGraphicFramePr>
          <p:nvPr/>
        </p:nvGraphicFramePr>
        <p:xfrm>
          <a:off x="365760" y="3154680"/>
          <a:ext cx="7498080" cy="1682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2834640"/>
                <a:gridCol w="36576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 개선 (r)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1.20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잡음 폭(±10%)의 2배 = 확실한 개선 (정책 선택)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0.90 ≤ r &lt; 1.20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잡음 안 = Baseline과 동등. 단일 시나리오 P99 비율은 5 seed에서 ±15% 흔들리고 30여 쌍 평균은 약 ±3% (DP3 64개 비교의 CI 반폭 중앙값 14.7%)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0.90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잡음 밖의 열세 (Baseline보다 10% 넘게 나쁨)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9" name="r_formula"/>
          <p:cNvSpPr txBox="1"/>
          <p:nvPr/>
        </p:nvSpPr>
        <p:spPr>
          <a:xfrm>
            <a:off x="365760" y="5029200"/>
            <a:ext cx="749807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r = √[ (Baseline TTFT P99 ÷ 후보 TTFT P99) × (Baseline TPOT P99 ÷ 후보 TPOT P99) ]  (&gt; 1이면 좋아짐)</a:t>
            </a:r>
          </a:p>
        </p:txBody>
      </p:sp>
      <p:graphicFrame>
        <p:nvGraphicFramePr>
          <p:cNvPr id="10" name="tbl"/>
          <p:cNvGraphicFramePr>
            <a:graphicFrameLocks noGrp="1"/>
          </p:cNvGraphicFramePr>
          <p:nvPr/>
        </p:nvGraphicFramePr>
        <p:xfrm>
          <a:off x="8046720" y="1188720"/>
          <a:ext cx="379476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960120"/>
                <a:gridCol w="960120"/>
                <a:gridCol w="9601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 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 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 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 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 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 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bl"/>
          <p:cNvGraphicFramePr>
            <a:graphicFrameLocks noGrp="1"/>
          </p:cNvGraphicFramePr>
          <p:nvPr/>
        </p:nvGraphicFramePr>
        <p:xfrm>
          <a:off x="8046720" y="2834640"/>
          <a:ext cx="3749040" cy="23591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640080"/>
                <a:gridCol w="822960"/>
                <a:gridCol w="11887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 / R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/ 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1.21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/ 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1안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/ 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C1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/ 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후보1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1.11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/ 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후보2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1.14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/ 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C1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1.44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/ 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C2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 / 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l"/>
          <p:cNvSpPr txBox="1"/>
          <p:nvPr/>
        </p:nvSpPr>
        <p:spPr>
          <a:xfrm>
            <a:off x="365760" y="5349240"/>
            <a:ext cx="5596128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왜 바꿨나</a:t>
            </a:r>
          </a:p>
          <a:p>
            <a:pPr algn="l">
              <a:spcAft>
                <a:spcPts val="25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v1(절대 SLO만)은 Baseline보다 크게 나빠져도 SLO 안이면 ★★★이었다(DP1 1안: TTFT P99 ×1.27 나쁨). v2는 절대 수준(A)을 유지하면서 개선(R)을 같이 본다.</a:t>
            </a:r>
          </a:p>
          <a:p>
            <a:pPr algn="l">
              <a:spcAft>
                <a:spcPts val="25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이전: DP4 절대 SLO, DP1·DP2 6개 지표 개선 배수 geomean(1.25/0.95). R은 P99 두 지표만 쓴다(DP4가 P99만 보고).</a:t>
            </a:r>
          </a:p>
        </p:txBody>
      </p:sp>
      <p:sp>
        <p:nvSpPr>
          <p:cNvPr id="13" name="r"/>
          <p:cNvSpPr txBox="1"/>
          <p:nvPr/>
        </p:nvSpPr>
        <p:spPr>
          <a:xfrm>
            <a:off x="6199632" y="5349240"/>
            <a:ext cx="5596128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R 경계 1.20/0.90은 '기존 DP1·DP4 별 보존' 제약 안의 구간에서 골랐다: DP4 후보1(r=1.11)을 ★★로 두려면 상한 &gt; 1.11, DP1 C1(0.948)을 ★★로 두려면 하한 ≤ 0.948, 1안(0.862)을 ★로 내리려면 하한 &gt; 0.862.</a:t>
            </a:r>
          </a:p>
          <a:p>
            <a:pPr algn="l">
              <a:spcAft>
                <a:spcPts val="25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DP1 C1은 r = 0.948이라 TTFT가 ×1.04 나쁜데도 ★★★이다(A ★★★ + R ★★ → 2.5 올림). 하한 0.90까지 +5%. 올림 규칙을 내림으로 바꾸면 DP4 후보2가 ★★★ → ★★로 바뀌어 선택이 뒤집힌다.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QA3 자원 (HBM 사용량) — 공통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HBM에 올라간 Context KV의 평균 크기(GiB)로 잰 감소 배수 = Baseline ÷ 후보 · 성능은 섞지 않는다 · DP1·DP3 적용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공통 룰의 활용률(65%/85%)은 필요하면 병기한다.</a:t>
            </a:r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DP1/qa-criteria-dp1.md §A·§I·§J · DP1/sim/simulator.py(occ_bytes_sum) · DP3/sim/dp3sim.py · tools/unified_stars.py</a:t>
            </a: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280160"/>
          <a:ext cx="11457432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377440"/>
                <a:gridCol w="6035040"/>
                <a:gridCol w="213055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 배수 ≥ 1.25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점유 20% 감소 = DP1 평균 146.6 GiB 중 약 29 GiB(8K KV object 약 1.6개분). QA2와 같은 '눈에 띄는 개선' 크기로 둔 정책 선택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 [C]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0.95 ≤ 감소 배수 &lt; 1.25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 0.95: Baseline끼리 비교한 점유 잡음 범위 0.984~1.016보다 느슨하게 둠(5% 이내 증가는 열세로 보지 않음)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 배수 &lt; 0.95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HBM을 5% 넘게 더 쓴다(잡음 밖)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측정 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l"/>
          <p:cNvSpPr txBox="1"/>
          <p:nvPr/>
        </p:nvSpPr>
        <p:spPr>
          <a:xfrm>
            <a:off x="365760" y="3840480"/>
            <a:ext cx="5596128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>
                <a:solidFill>
                  <a:srgbClr val="2F5597"/>
                </a:solidFill>
                <a:latin typeface="맑은 고딕"/>
                <a:ea typeface="맑은 고딕"/>
              </a:rPr>
              <a:t>무엇을 재는가 (이전 기준 포함)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측정하는 것(쉬운 말): 모델이 돌아가는 동안 HBM에 올라와 있는 Context KV의 평균 크기. 측정 구간 동안 HBM의 KV 양을 계속 재서 시간으로 평균낸다(순간 최대 아님). 모델 가중치·활성값은 뺀다.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예: 100초 중 40초는 100 GiB, 60초는 50 GiB → (40×100 + 60×50) ÷ 100 = 70 GiB. 감소 배수 3.0이면 HBM을 1/3만 쓴다.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DP1: HBM tier의 KV object 크기 × 머문 시간 ÷ 구간 길이. DP3: 상주 Comp.KV 객체 + 요청 작업 사본의 같은 시간 평균.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결과: DP1 C1 142.7 GiB(1.03, ★★) · C2 178.0(0.82, ★) · DP3 C1 30.3 GiB(3.53, ★★★) · C2 85.1(1.26, ★★★).</a:t>
            </a:r>
          </a:p>
        </p:txBody>
      </p:sp>
      <p:sp>
        <p:nvSpPr>
          <p:cNvPr id="9" name="r"/>
          <p:cNvSpPr txBox="1"/>
          <p:nvPr/>
        </p:nvSpPr>
        <p:spPr>
          <a:xfrm>
            <a:off x="6199632" y="3840480"/>
            <a:ext cx="5596128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DP3 C2의 1.26은 경계 1.25에서 +0.7%다. H100만 보면 1.34, B200만 보면 1.20이라 시스템 선택에 따라 ★★/★★★이 갈린다.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DP1은 QA3 정의를 결과를 본 뒤 여러 번 바꿨다(활용률 → 풀 U → 성능÷비용 → HBM 사용량). 마지막 변경이 선택을 C2에서 C1로 바꿨다.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'비우되 성능이 나빠지는 정책'이 유리하므로 QA1·QA2와 함께 읽어야 한다.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QA4 변경 용이성 — 공통 별 기준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세 지표를 하나의 점수 S로 합친다 (낮을수록 좋음) · 비중 토큰 비용 50% &gt; 공수 30% &gt; module 수 20% · 변경 시나리오 단순 평균에 적용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공수·비용은 구현 측정(module·LOC)에 가정 상수를 곱한 값이며 실제 에이전트 세션 측정이 아니다 [B+C]. 1 MM = 21 man-day, 비용은 mid tier($3/$15 per MTok).</a:t>
            </a:r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DP1/qa4-preregistration.md · DP4 평가 장(토큰 비용 경계) · 공통 QA 문서 §7 · tools/unified_stars.py</a:t>
            </a:r>
          </a:p>
        </p:txBody>
      </p:sp>
      <p:sp>
        <p:nvSpPr>
          <p:cNvPr id="7" name="formula"/>
          <p:cNvSpPr/>
          <p:nvPr/>
        </p:nvSpPr>
        <p:spPr>
          <a:xfrm>
            <a:off x="365760" y="1170432"/>
            <a:ext cx="11457432" cy="457200"/>
          </a:xfrm>
          <a:prstGeom prst="roundRect">
            <a:avLst/>
          </a:prstGeom>
          <a:solidFill>
            <a:srgbClr val="EAF0FA"/>
          </a:solidFill>
          <a:ln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5597"/>
                </a:solidFill>
                <a:latin typeface="맑은 고딕"/>
              </a:rPr>
              <a:t>S = 0.5 × (비용 ÷ $0.5) + 0.3 × (공수 ÷ 0.5 MM) + 0.2 × (module 수 ÷ 2)</a:t>
            </a:r>
          </a:p>
        </p:txBody>
      </p:sp>
      <p:graphicFrame>
        <p:nvGraphicFramePr>
          <p:cNvPr id="8" name="tbl"/>
          <p:cNvGraphicFramePr>
            <a:graphicFrameLocks noGrp="1"/>
          </p:cNvGraphicFramePr>
          <p:nvPr/>
        </p:nvGraphicFramePr>
        <p:xfrm>
          <a:off x="365760" y="1737360"/>
          <a:ext cx="6858000" cy="19019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1280160"/>
                <a:gridCol w="48463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 기준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도출 (세 지표가 함께 만족하는 모습)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 ≤ 1.0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세 지표가 모두 ★★★ 경계(비용 $0.5, 0.5 MM, 2 module)면 0.5+0.3+0.2 = 1.0. 한 지표가 경계를 넘으면 다른 지표가 그만큼 낮아야 한다. 예: $0.25 + 0.5 MM + 4 module = 0.25+0.3+0.4 = 0.95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1.0 &lt; S ≤ 3.2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세 지표가 모두 ★★ 경계($2, 1.0 MM, 6 module)면 0.5×4 + 0.3×2 + 0.2×3 = 3.2. 예: $0.5 + 1.0 MM + 2 module = 0.5+0.6+0.2 = 1.3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 &gt; 3.2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평균적으로 ★★ 경계도 넘음. 예: $2 + 1.0 MM + 8 module = 2.0+0.6+0.8 = 3.4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365760" y="3794760"/>
          <a:ext cx="6858000" cy="1298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188720"/>
                <a:gridCol w="548640"/>
                <a:gridCol w="29260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 (★★★ 경계로 나눔)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★★★ / ★★ 경계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 토큰 비용 (mid tier $/변경)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$0.5 / $2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$0.5 = 약 25k 토큰 세션 1회 + 재작업 없음, $2는 그 4배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② 개발 공수 (MM/변경)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 / 1.0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 MM = 1명 2주 sprint 안에 흡수, 1 MM = 로드맵 항목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③ 변경 module 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/ 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룰 §7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bl"/>
          <p:cNvGraphicFramePr>
            <a:graphicFrameLocks noGrp="1"/>
          </p:cNvGraphicFramePr>
          <p:nvPr/>
        </p:nvGraphicFramePr>
        <p:xfrm>
          <a:off x="7498079" y="1737360"/>
          <a:ext cx="4343400" cy="19568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685800"/>
                <a:gridCol w="640080"/>
                <a:gridCol w="731520"/>
                <a:gridCol w="457200"/>
                <a:gridCol w="777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module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$0.39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$0.49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2.50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1.05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C1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$0.34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1.50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C2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$0.36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후보1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$1.02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2.70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후보2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$0.48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0.15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2.30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note"/>
          <p:cNvSpPr txBox="1"/>
          <p:nvPr/>
        </p:nvSpPr>
        <p:spPr>
          <a:xfrm>
            <a:off x="7498079" y="3977639"/>
            <a:ext cx="4343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세 지표는 같은 비중이 아니다: 경계 대비 2배일 때 S에 비용 +0.5, 공수 +0.3, module +0.2.</a:t>
            </a:r>
          </a:p>
        </p:txBody>
      </p:sp>
      <p:sp>
        <p:nvSpPr>
          <p:cNvPr id="12" name="l"/>
          <p:cNvSpPr txBox="1"/>
          <p:nvPr/>
        </p:nvSpPr>
        <p:spPr>
          <a:xfrm>
            <a:off x="365760" y="5212080"/>
            <a:ext cx="559612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이전 기준과 통합</a:t>
            </a:r>
          </a:p>
          <a:p>
            <a:pPr algn="l">
              <a:spcAft>
                <a:spcPts val="25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이전(v1): 세 지표 각각의 별을 구해 '비중 50% 초과' 중앙값으로 결정. 지표별 기준만 있어 교차 시 결과가 표에서 안 보였다. DP4는 비용 우선 규칙·man-day 3/7.</a:t>
            </a:r>
          </a:p>
          <a:p>
            <a:pPr algn="l">
              <a:spcAft>
                <a:spcPts val="25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통합: 비용 mid tier, 공수 MM(man-day ÷ 21), 시나리오 단순 평균, 점수 S. DP1·DP2·DP4 별은 모두 기존과 같다.</a:t>
            </a:r>
          </a:p>
        </p:txBody>
      </p:sp>
      <p:sp>
        <p:nvSpPr>
          <p:cNvPr id="13" name="r"/>
          <p:cNvSpPr txBox="1"/>
          <p:nvPr/>
        </p:nvSpPr>
        <p:spPr>
          <a:xfrm>
            <a:off x="6199632" y="5212080"/>
            <a:ext cx="5596128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9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S는 선형 합이라 한 지표가 아주 나빠도 다른 지표가 0에 가까우면 ★★★이 가능하다(예: 비용 0, 공수 0, module 10 → S=1.0). 지표별 가드를 둘지는 소유자 결정.</a:t>
            </a:r>
          </a:p>
          <a:p>
            <a:pPr algn="l">
              <a:spcAft>
                <a:spcPts val="25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• DP1 C2는 S = 1.05로 ★★★ 경계 +5%. 가중 0.5/0.3/0.2는 제안값(조정 가능).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QA5 기능 정확성 — 공통 별 기준 (DP3)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F1 상대 하락률 = (압축 전 + full recompute의 F1 − 후보 F1) ÷ 압축 전 + full recompute의 F1 · 같은 task·dataset·모델·precision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한도 1%는 PPT DP3 설계 장의 Functional Correctness(F1 score) 지표와 같은 값이다.</a:t>
            </a:r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소유자 확정(2026-10-09) · KVzip, NeurIPS 2025 (neurips.cc/virtual/2025/oral/118742) [초록 확인] · DP3/accuracy</a:t>
            </a: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280160"/>
          <a:ext cx="11457432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377440"/>
                <a:gridCol w="6035040"/>
                <a:gridCol w="213055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하락 ≤ 1%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소유자가 정한 허용 정확도 저하 한도(압축 전 + full recompute 대비 F1 1% 이내, 상대 비율, 2026-10-09 확정)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소유자 결정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1% &lt; 하락 ≤ 3%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제안값: 허용 한도의 3배. '눈에 띄는 열화'가 시작되는 구간으로 본다. task의 run-to-run F1 변동을 재서 하한을 확인해야 한다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선택, 소유자 결정 필요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하락 &gt; 3%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허용 한도를 크게 넘은 정확도 손실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l"/>
          <p:cNvSpPr txBox="1"/>
          <p:nvPr/>
        </p:nvSpPr>
        <p:spPr>
          <a:xfrm>
            <a:off x="365760" y="3840480"/>
            <a:ext cx="5596128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>
                <a:solidFill>
                  <a:srgbClr val="2F5597"/>
                </a:solidFill>
                <a:latin typeface="맑은 고딕"/>
                <a:ea typeface="맑은 고딕"/>
              </a:rPr>
              <a:t>지표와 이전 기준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DP3 전용 QA다. 다른 DP는 출력이 변하지 않는 것이 전제이므로 bit-exact 확인으로 다룬다.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Baseline은 '압축 전 + full recompute'다. 후보의 F1이 올라가는 경우는 하락 0%로 본다.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DP3 측정: 소형 모델(Qwen2.5-1.5B) eviction micro-benchmark + 매핑. 시뮬레이터로는 정확도를 알 수 없다.</a:t>
            </a:r>
          </a:p>
        </p:txBody>
      </p:sp>
      <p:sp>
        <p:nvSpPr>
          <p:cNvPr id="9" name="r"/>
          <p:cNvSpPr txBox="1"/>
          <p:nvPr/>
        </p:nvSpPr>
        <p:spPr>
          <a:xfrm>
            <a:off x="6199632" y="3840480"/>
            <a:ext cx="5596128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두 번째 경계 3%는 데이터로 도출하지 못했다. 문헌은 KV 압축을 '무시할 만한 저하'로 보고하지만(KVzip: 3~4배 KV 축소, NeurIPS 2025) F1 하락의 일반적 임계는 없다.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소형 모델·단락 1.5K token·재계산 없는 eviction이라 DP3의 32K~256K 문맥을 대표하지 않는다. 별은 가정 의존이다.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query-agnostic(C1)이 query-aware(C2)보다 정확도가 낮다는 가정은 이 측정으로 확인한다.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QA6 확장성 — 공통 별 기준 (DP4)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SE(N) = Goodput(N) ÷ ((N / N0) × Goodput(N0)) · N0 = 2 노드 · 별은 SE(N_max=16) · N &gt; 2는 모델 외삽(시뮬레이션)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DP4 PPT 31장의 SE 곡선과 같은 값이다.</a:t>
            </a:r>
          </a:p>
        </p:txBody>
      </p:sp>
      <p:sp>
        <p:nvSpPr>
          <p:cNvPr id="6" name="src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cvw.cac.cornell.edu/parallel/efficiency/scaling · arxiv.org/abs/1704.03329 · arxiv.org/abs/2409.16053</a:t>
            </a:r>
          </a:p>
        </p:txBody>
      </p:sp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1280160"/>
          <a:ext cx="11457432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377440"/>
                <a:gridCol w="6035040"/>
                <a:gridCol w="213055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기준 (정량)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 값인가 (정량 근거)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 · 확인 수준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≥ 90%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서버를 N배로 늘릴 때 처리량 손실 10% 이내(16노드에서 14.4노드분 효과). 병렬 효율 논문에서 '효율적'이라 보고할 때 흔히 쓰는 90%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Cornell CVW · arXiv 1704.03329 [검색 확인]. 90%는 보고 관행이지 공식 표준이 아님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E2EFD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70 ~ 90%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확장은 되지만 조율 계층이 병목 조짐. 70% 하한 = 10대 증설에 7대분 효과(3대분 낭비). 매우 큰 규모에서 70~80%도 '우수'로 보고한 사례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arXiv 2409.16053 AthenaK (65,536 GPU에서 80%) [검색 확인]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SE(N_max) &lt; 70%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 30% 초과 = 증설 비용의 1/3 이상 낭비. 조율 계층이 병목이다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QA 문서 §13 임시 정의(DP4 초안 값) [내부]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l"/>
          <p:cNvSpPr txBox="1"/>
          <p:nvPr/>
        </p:nvSpPr>
        <p:spPr>
          <a:xfrm>
            <a:off x="365760" y="3840480"/>
            <a:ext cx="5596128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>
                <a:solidFill>
                  <a:srgbClr val="2F5597"/>
                </a:solidFill>
                <a:latin typeface="맑은 고딕"/>
                <a:ea typeface="맑은 고딕"/>
              </a:rPr>
              <a:t>지표와 이전 기준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이전: DP4가 이 기준. DP2는 결과 문서에서 η(N=32) 0.90/0.70을 제안값으로 두었다(경계 같음, N_max만 다름. DP2는 PPT 선정 QA가 아님). N_max를 16으로 통일한다.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결과: DP4 후보1 SE 93%(★★★), 후보2 64%(★). Baseline(무상태 LB)은 97%.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레플리카가 상태를 공유하지 않는 후보2는 서버가 N배면 레플리카당 갱신 부하가 약 N배가 된다.</a:t>
            </a:r>
          </a:p>
        </p:txBody>
      </p:sp>
      <p:sp>
        <p:nvSpPr>
          <p:cNvPr id="9" name="r"/>
          <p:cNvSpPr txBox="1"/>
          <p:nvPr/>
        </p:nvSpPr>
        <p:spPr>
          <a:xfrm>
            <a:off x="6199632" y="3840480"/>
            <a:ext cx="5596128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후보2의 ★은 보완(샤딩 구조) 전 설계 기준이다. 후보1의 Router도 전체 이벤트를 처리하는 구조라 비슷한 한계가 있을 수 있다.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N &gt; 2는 실측이 아니라 모델 외삽이다(C-04). 90%는 HPC 관행이며 공식 기준은 찾지 못했다.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</a:rPr>
              <a:t>• 공통 룰 문서에는 §13이 없다(PPT가 인용한 DP4 초안의 절 번호).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적용 결과 — 정합성 점검 (공통 기준 v2)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기존 별과 비교: DP1 C1·DP4 모든 별 불변 · QA1 ★★★ 경계 2.0으로 DP1 C2·DP2 QA1이 ★★ · DP3는 시뮬레이션 평가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DP2는 PPT 선정 QA(QA1, QA2, QA4)만 합산했다. DP4는 현 DP4(요청 조율, 옛 DP0)이며 근거는 PPT 26~31장이다. DP3 QA5는 소형 모델 실측 매핑(§DP3 장).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8620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68680"/>
                <a:gridCol w="868680"/>
                <a:gridCol w="868680"/>
                <a:gridCol w="868680"/>
                <a:gridCol w="868680"/>
                <a:gridCol w="868680"/>
                <a:gridCol w="777240"/>
                <a:gridCol w="777240"/>
                <a:gridCol w="231343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 · 후보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합계 v2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합계 v1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선택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C1 자원 상태 기반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 (10 대 8)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C2 AI Data 특성 기반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C1 스케줄링 시점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구분 불가 (동점)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C2 사전 계획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후보1 OSS 확장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후보2 (동점, QA2에서 우세)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 후보2 자체 구현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C1 Offline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(아래 DP3 장)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C2 Online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(참고) DP1 1안 Affinity 없음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보완 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4206240"/>
            <a:ext cx="5596128" cy="2194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DP1 C1 합계 10, DP4 두 후보 9 대 9: 모든 QA 별과 합계가 같다. 선택도 같다.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DP1 C2 9 → 8, DP2 두 후보 9 → 8: QA1 ★★★ → ★★ (×1.423, ×1.66 &lt; 2.0). 후보 간 순서는 그대로여서 선택은 바뀌지 않는다.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DP1 1안(Affinity 없음)은 QA2 r = 0.86(A ★★★ + R ★)로 ★★이다. PPT 표기와 같고, v1(절대 SLO만)이었다면 ★★★이 되는 모순이 사라졌다.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DP3는 사전 등록한 시뮬레이션 [B+C]를 처음 평가한 것이라 '기존 별'이 없다.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4206240"/>
            <a:ext cx="5596128" cy="2194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합계 v1 열은 DP별 기존 별(DP1 10/9, DP2 9/9, DP4 9/9)이다. 경계 근접: DP1 C1 QA2 r = 0.948(하한 0.90), DP1 C2 QA4 S = 1.05, DP4 후보2 QA2 r = 1.14, DP3 C2 QA3 ×1.26(경계 1.25).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다른 기준 계열을 쓰면: 공통 룰 QA1(0.90/1.10) → DP1 C1 합계 10 → 11, 내림 규칙의 QA2 → DP4 후보2 9 → 8(선택 뒤집힘).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DP4 QA1·QA2·QA6의 Baseline은 실측이지만 후보는 시뮬레이터·추정이다 [A+C]. DP1·DP2·DP3은 시뮬레이션 [B+C]다.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DP2 평가 결과 — 공통 기준 v2 (H100 + B200 통합)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C1 스케줄링 시점 결정 vs C2 사전 계획 결정 · 괄호 = 후보 ÷ Baseline · 시뮬레이션 [B+C] · 근거: DP2 평가 결과 2026-10-06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별 경계는 공통 별 기준 v2다(QA1 0.97/2.0, QA2 A·R 평균, QA4 점수 S). DP2 결과 문서의 QA3(GPU 사용률)·QA5(확장성)는 PPT 선정 QA가 아니라 제외했다.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3273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108960"/>
                <a:gridCol w="1645920"/>
                <a:gridCol w="2377440"/>
                <a:gridCol w="231343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metric (↑/↓ 좋음)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Baseline-PD-fixed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스케줄링 시점 결정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사전 계획 결정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처리량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Max SLO goodput (tok/s) ↑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575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954 (×1.66) 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 956 (×1.66) 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(TTFT)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(ms)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2,461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984 (×0.40)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1,015 (×0.41)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(TPOT)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(ms)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8.9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12.0 (×1.34)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12.0 (×1.35)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별점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A(절대 SLO)·R(개선 r)의 평균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 ★★ (TTFT &gt; 2 s)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(A3·R3, r=1.36) 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(A3·R3, r=1.34) 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① 비용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에이전트 비용 $ (mid tier)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$0.34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$0.36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② 공수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개발 공수 (man-month)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0.27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③ module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module 수 (4 시나리오 평균)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1.50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별점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점수 S 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(S=0.65)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(S=0.73)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 합계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+ QA2 + QA4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4617720"/>
            <a:ext cx="5596128" cy="1783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평가 환경과 선택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시스템: SYS-H100 + SYS-B200 통합. 노드 = 8-GPU, 6종 메모리, Llama-3.1-70B BF16, 노드 간 링크 RDMA 50 GB/s(ASSUMED). 시나리오 19개 × 2시스템 = 38쌍.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값은 쌍별 값의 기하평균. QA2는 Baseline의 최적 부하(iso-load)에서 비교(결과를 본 뒤 정한 정의).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선택: 별 합계 8 대 8, QA1·QA2·QA4 모두 같아 이 평가는 선택을 가르지 못한다(goodput 비 C2/C1 = ×1.002).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4617720"/>
            <a:ext cx="5596128" cy="1783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QA1 ×1.66은 Baseline이 SLO를 거의 못 지키도록 설계된 시나리오(링크 경합 ×6~8, 긴 History ×3~4)가 끌어올린다. 그래도 2.0에는 닿지 않아 ★★다.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TPOT P99가 Baseline보다 나쁘다(×1.34, 단 12.0 ms로 SLO 50 ms 이내). 공통 시나리오 3개에서는 TTFT P99도 나빠진다.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후보 간 차이는 결정 시점이 아니라 결정 비용 가정(1 ms @ 64 후보)에 의존한다.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DP3 평가 결과 — 시뮬레이션 [B+C] (H100 + B200 통합)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C1 Offline(Query-agnostic) vs C2 Online(Query-aware) · 괄호 = 후보 ÷ Baseline(As-Is, 전체 KV 재사용) · 비교 가능 32쌍 기하평균 · 사전 등록 후 실행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정확도는 시뮬레이터 밖이다: 소형 모델 eviction 실측 + 매핑 [A 소형 + C]. 근거: DP3/results/2026-10-11_dp3-qa-evaluation.md · DP3/simulation-plan.md(r=0.30, rho=0.15 사전 등록)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743200"/>
                <a:gridCol w="1645920"/>
                <a:gridCol w="2743200"/>
                <a:gridCol w="249631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metric (↑/↓ 좋음)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Baseline (As-Is)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C1 Offline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C2 Online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(TTFT)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(ms)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571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268 (×0.47)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693 (×1.21)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지연 (TPOT)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 (ms)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8.1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8.4 (×1.02)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8.7 (×1.06)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별점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A·R 평균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(A3·R3, r=1.44)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★★☆ (A3·R1, r=0.88)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QA3 자원 (HBM)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KV 시간평균 (GiB)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107.1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30.3 (×0.28)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 85.1 (×0.80)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QA5 기능 정확성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F1 상대 하락 (%) ↓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 (정의)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★☆☆ F1 하락 10.0%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★★★ F1 하락 -12.0%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별 합계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+ QA3 (+ QA5)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611880"/>
            <a:ext cx="5596128" cy="2788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읽는 법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C1은 TTFT를 줄이고(28/32쌍) HBM을 1/3로 줄이며(32/32쌍) TPOT는 비슷하다.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C2는 HBM 절감이 작고(×1.26) TTFT가 Baseline보다 나쁘다(32쌍 중 2쌍만 이김): 전체 KV를 적재해 적재 이득이 없는데 점수 계산 + 재계산이 요청 경로에 들어온다.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Baseline이 못 끝내는 시나리오(ST-11, DY-03 H100)에서 C1은 끝낸다(TTFT P99 461 ms, 679 ms). 집계에서는 제외한 쌍이다.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시나리오 18개(공통 3 + Stress 12 + Dynamic 3) × 2시스템 × 3정책 × 부하 4 × seed 5.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3611880"/>
            <a:ext cx="5596128" cy="2788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HBF처럼 GPU가 직접 읽는 tier(ST-06)에서는 Baseline이 적재 비용 없이 서빙해 C1·C2 모두 TTFT가 ×0.09~0.14로 진다. 선택 재계산(r·rho·L ≈ 5.9K token prefill)이 원인이다(rho = 0 what-if에서 역전).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결과는 유지 비율 r = 0.30 가정에 의존한다. r = 0.5이면 H100에서 C1 TTFT 이득이 사라진다(×0.60). 사전 등록값이며 결과를 보고 바꾸지 않았다.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C1 사전 압축 비용·저장 공간은 모델링하지 않았다(C1에 유리). C2의 선택 복사 비용도 0으로 뒀다(C2에 유리).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QA3 C2의 ×1.26은 경계 1.25 바로 위다(H100 1.34, B200 1.20). QA5는 소형 모델·재계산 없음이라 가정 의존이다.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공통 별 기준 v2 — 소유자 결정이 필요한 사항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결정 전까지는 proposal이다 · 상세는 qa-star-criteria-unified.md §8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평가 수치(측정·시뮬레이션 값)는 어떤 결정에서도 경계에 맞춰 바꾸지 않는다.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234440"/>
          <a:ext cx="11457432" cy="44074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3291840"/>
                <a:gridCol w="5120640"/>
                <a:gridCol w="249631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제안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★★★ = 2.0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확정(요청). 값은 조정하지 않고 별이 내려가는 것을 그대로 보고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C2, DP2 두 후보 합계 −1 (선택은 같음)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R 경계 1.20 / 0.90, 올림 규칙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제안대로 (잡음 폭의 2배 / 열세 경계). 올림 대신 내림이면 DP4 선택이 뒤집힘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C1이 하한에서 +5%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QA4 가중 0.5/0.3/0.2, 지표별 가드 여부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가중은 제안대로, 가드는 소유자 결정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C2 S = 1.05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QA5 두 번째 경계 3%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제안 3%, task의 F1 변동을 재서 확인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 결과 세트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2026-10-06 C1/C2 사용. 2026-10-10 Dispatcher 대 Blackboard는 후보 축이 달라 제외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PPT의 최종 DP2 확인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r, rho 가정 (0.30, 0.15)과 C2의 선택 재계산 필수 여부, HBF에서 압축 끄기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r, rho는 사전 등록값 + 민감도 병기. 재계산·HBF 정책은 설계 결정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 별과 선택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 번호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요구사항 덱의 QA-05 확장성 / QA-06 정확성을 PPT(QA5 정확성, QA6 확장성)에 맞춰 교환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문서 일관성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Evaluation/DP4 폴더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옛 DP4(현 DP6) 자료다. 현 DP4(요청 조율) 평가 문서 위치를 정한다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평가 문서 정리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부록 — 같은 QA의 절대값이 DP마다 다른 이유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그래서 별은 절대값이 아니라 '같은 DP의 Baseline 대비'(+ 절대 SLO)로 매긴다 · DP 간 절대값 비교는 하지 않는다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DP1~DP3 = 시뮬레이션 [B+C], DP4 Baseline = 실측 [A]. 값은 각 DP 결과 문서·PPT 기준.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8712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2377440"/>
                <a:gridCol w="2377440"/>
                <a:gridCol w="2377440"/>
                <a:gridCol w="231343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DP1 이기종 메모리 데이터 배치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DP2 Prefill/Decode 실행 위치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DP3 KV 압축·재사용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DP4 다중 서버 요청 조율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평가 단위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 1대(8-GPU, TP8)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P노드 + D노드 (노드당 TP8)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서버 1대(8-GPU, TP8)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2노드 × 8 GPU = 16 GPU (실측)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대표 워크로드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32K~512K, RAG 8 TiB, LoRA·MoE 혼합, HBM 압박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단일 턴 8K + 멀티턴 History 16K~256K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재사용 문맥 8K~256K, 질의 64~2K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8K / 출력 256, prefix 재사용 통제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정의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정적 배치(이동 없음)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P/D 역할 고정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전체 KV 그대로 재사용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상태·캐시 비인지 라우팅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부하 방식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sweep 최대(Max SLO goodput)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최적 부하 + sweep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용량의 70%로 고정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load sweep, 서버 수 N 증설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Baseline (tok/s)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336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575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3,200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QA2 Baseline TTFT P99 (ms)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1,084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2,461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571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2,300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QA3 Baseline HBM (GiB)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146.6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107.1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4343400"/>
            <a:ext cx="5596128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왜 다른가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대상 단위가 다르다: DP4만 16 GPU 클러스터라 처리량이 한 자릿수 배 크다(3,200 vs 336). DP1~DP3는 8-GPU 1대.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워크로드가 다르다: DP1·DP3는 긴 문맥(수십~수백 K token)이라 KV 적재가 지배하고 처리량이 낮다. DP4는 8K라 높다.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Baseline이 다르다: 각 DP의 As-Is가 다르므로 '1.0'의 의미가 다르다.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부하를 정하는 방식이 다르다: DP3 TTFT는 용량의 70% 부하의 값이라 낮고, DP1·DP2는 포화 근처의 값이다.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4343400"/>
            <a:ext cx="5596128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C00000"/>
                </a:solidFill>
                <a:latin typeface="맑은 고딕"/>
                <a:ea typeface="맑은 고딕"/>
              </a:rPr>
              <a:t>어떻게 읽어야 하나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집계 범위가 다르다: 각 DP의 시나리오 집합(공통 + 전용)에 대한 쌍별 기하평균이라 시나리오 구성에 값이 따라간다.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근거 수준이 다르다: DP4 Baseline은 실측이라 SLO 경계(2 s, 50 ms) 부근이고 DP1~DP3는 시뮬레이션이다.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따라서 같은 QA의 별은 같은 DP 안의 Baseline 대비로 읽어야 하며, DP 간에는 별(기준이 같음)만 비교한다.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공통 시나리오(다음 장)는 DP 간 같은 조건을 보기 위한 최소한의 연결고리다.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부록 — 공통 시나리오 (CB-1 ~ CB-3)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모든 DP가 같은 이름·같은 조건으로 도는 3개 시나리오 · 후보가 Baseline보다 나빠지지 않는지(no-harm)와 DP 간 연결을 본다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정의: doc-mk/Evaluation/common-benchmark.md §2.1. 각 DP의 실현 방식은 DP별 benchmark 문서에 있다.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651760"/>
                <a:gridCol w="3291840"/>
                <a:gridCol w="331927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ID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드러내는 것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 cb_kv_8k_b32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KV만, HBM 압박 고정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8K / 출력 256, 동시 32, HBM 용량 ×0.12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HBM이 빠듯할 때 KV 배치·압축의 효과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CB-2 cb_kv_8k_b32_ramp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CB-1 + HBM 압박이 시간에 따라 증가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같은 KV, HBM 압박 점진 증가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압박 증가에 대한 반응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CB-3 cb_mixed_8k_b32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+ LoRA + MoE + Agent/Tool 혼합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외 데이터는 고정 배치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KV 외 data와 같이 있을 때의 경합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3017520"/>
          <a:ext cx="11457432" cy="25786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5486400"/>
                <a:gridCol w="505663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DP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공통 시나리오에서의 QA (후보 ÷ Baseline 또는 배수)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이렇게 되나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×1.00 (둘 다, Baseline이 이미 포화), C1 TTFT P99 ×2.95 나쁨 · C2 ×1.03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이동할 이득이 없는 정적 워크로드라 이동 비용만 남는다. 이득은 Dynamic 시나리오에서 나온다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DP2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×1.69, TTFT P99 ×1.50 나쁨(후보 ÷ Baseline), TPOT ×1.75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단일 턴이라 History 효과는 없지만 Baseline의 고정 역할이 D 노드 Prefill 능력을 낭비한다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 TTFT 3.80배 개선, HBM 3.50배 감소 / C2 TTFT 1.61배, HBM 1.30배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8K 문맥도 DRAM에서 적재해야 하는 구성이라 압축이 적재 시간을 줄인다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W1(공통 벤치마크): 처리량 ×1.05 · ×1.04, TTFT P99 ×0.90 · ×0.84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효과가 크지 않게 prefix 재사용을 통제한 기준선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_msg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공통 시나리오만 보면 DP마다 QA 방향이 다르다(DP1은 거의 중립, DP3는 크게 개선). 그래서 별은 공통 + DP 전용 시나리오를 함께 집계한 값이고, 공통만의 별은 참고값이다.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부록 — DP1 시나리오: 데이터 배치(이동)가 갈리는 조건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Common 3 + Stress 23 + Dynamic 6 · 노드 1대 안에서 6종 메모리 사이 이동 · Baseline = 정적 배치(이동 없음)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출처: DP1/benchmark.md, DP1/results/2026-10-02_dp1-qa-evaluation.md (SYS-B200 Combined 표)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657600"/>
                <a:gridCol w="2834640"/>
                <a:gridCol w="277063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QA가 떨어지는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QA가 오르는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Common (CB-1~3)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8K KV, HBM 압박 고정·증가, 혼합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×1.00, C1 TTFT P99 ×2.95 (이동 비용만 남음)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Stress 23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대형 batch, 512K 초장문, RAG 1~8 TiB, LoRA·MoE skew, HBM BW 저하 등 trade-off 관찰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일부 시나리오에서 Baseline보다 TTFT 나쁨(21쌍 중 6쌍, 최악 ×4.32)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Stress 9개 합산 QA1은 C1 ×1.00 · C2 ×1.04 (SYS-B200)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Dynamic 6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처음엔 Baseline이 SLO를 지키다 hot set 이동·유휴 KV의 HBM 점유·host link 저하로 stale해짐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C1 ×1.64 · C2 ×2.20 (SYS-B200). 이득이 몰린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337560"/>
            <a:ext cx="5596128" cy="3063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이 DP의 시나리오가 의미하는 것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이득은 '정적 배치가 낡아지는' 조건에 집중된다. Dynamic은 Baseline의 실패 양상을 알고 설계했으므로 이득을 일반화하지 않는다.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QA1 ★★★(≥ 2.0)은 Dynamic C2 하나가 넘고, 18~21쌍 통합에서는 ×1.30 / ×1.42다.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3337560"/>
            <a:ext cx="5596128" cy="3063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공통 시나리오에서 C1의 TTFT가 나쁜 것은 숨기지 않았다(진단 값).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Dynamic은 benchmark-fit 시나리오(loop 2에서 추가)라 이득 크기에 selection이 개입했다.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부록 — DP2 시나리오: Prefill 실행 위치를 정하는 조건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Common 3 + Stress 12 + Dynamic 4 · P/D 노드 사이 · Baseline = P/D 역할 고정(Baseline-PD-fixed)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출처: DP2/benchmark.md, DP2/results/2026-10-06_dp2-qa-evaluation.md (집합별 표, 비율은 후보 ÷ Baseline)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5786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657600"/>
                <a:gridCol w="2834640"/>
                <a:gridCol w="277063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QA가 떨어지는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QA가 오르는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Common (CB-1~3)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단일 턴 8K, D 노드 HBM 압박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×1.50 나쁨, QA2 개선 배수 ×0.78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QA1 ×1.69 (고정 역할 낭비 제거)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Stress 12 — History 재개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History 32K~256K가 HBM·DRAM·HBF·SSD에 있는 멀티턴 재개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P99가 ×2~3 나빠지는 시나리오가 있다(H100 hbf_hist 12.5 → 36.5 ms, SLO 50 ms 이내)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긴 History offload goodput ×3.20(H100), DRAM·SSD 재개 ×1.5~1.7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Stress 12 — 포화·경합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Prefill burst, Decode 편중, 노드 간 링크 경합(BW ×0.25)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이득이 작은 곳: Decode 편중 goodput ×1.10~1.20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링크 경합·burst에서 TTFT 큰 개선 (Stress 24쌍 TTFT ×0.29)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Dynamic 4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 노드 처리량 저하 등 runtime 변화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×1.01로 변화 없음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×0.41, QA1 ×1.29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904488"/>
            <a:ext cx="5596128" cy="249631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이 DP의 시나리오가 의미하는 것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이득은 'KV가 있던 곳과 Prefill 노드가 달라 전송이 낭비되는' 조건에 있고 Planner가 좋은 위치를 고른다.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C1·C2는 구분되지 않는다(goodput 비 ×1.002).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3904488"/>
            <a:ext cx="5596128" cy="249631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Baseline이 SLO를 거의 못 지키게 설계한 시나리오가 ×1.66을 끌어올린다. 중앙 시나리오는 ×1.0~1.7.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TPOT P99가 ×1.34로 나쁘다(SLO 50 ms 이내).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부록 — DP3 시나리오: KV 압축·재사용이 갈리는 조건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Common 3 + Stress 12 + Dynamic 3 · 문맥 8K~256K 재사용 · Baseline = 전체 KV 재사용(As-Is) · 도착률 = Baseline 용량의 70%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출처: DP3/benchmark.md, DP3/results/2026-10-11_dp3-qa-evaluation.md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5786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657600"/>
                <a:gridCol w="2834640"/>
                <a:gridCol w="277063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QA가 떨어지는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QA가 오르는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Common (CB-1~3) 8K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DRAM에서 적재하는 8K 문맥, HBM 압박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C2 TTFT ×0.79~0.96 (온라인 점수 계산 + 재계산)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C1 TTFT ×3.8, HBM ×3.5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Stress — 문맥 길이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32K / 64K / 128K / 256K (DRAM·CXL)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256K에서 C1 TTFT ×0.73(H100): 재계산 prefill이 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32K~128K에서 C1 TTFT 개선, HBM 감소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Stress — tier·재사용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SSD 차가운 재사용, HBF 직접 읽기, skew/uniform, 긴·짧은 질의, 대표 Query 불일치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HBF(ST-06): C1·C2 TTFT ×0.09~0.14. SSD(ST-05)는 표본 부족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 압박·분산 재사용(ST-08, 10)에서 C1 이득 큼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Dynamic 3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hot set 이동, burst, HBM 압박 증가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C2는 Baseline보다 TTFT 나쁨 (×0.76~0.88)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ST-11·DY-03 H100: Baseline이 못 끝내는 걸 C1이 끝냄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904488"/>
            <a:ext cx="5596128" cy="249631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이 DP의 시나리오가 의미하는 것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이득은 '외부 tier에서 문맥을 적재해야 하고 HBM이 빠듯한' 조건에서 나온다. GPU가 직접 읽는 tier에서는 압축이 순손실이다.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C2는 어떤 조건에서도 TTFT 이득이 작다.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3904488"/>
            <a:ext cx="5596128" cy="249631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Offline 사전 압축 비용·공간을 모델링하지 않았다. r = 0.30 가정에 의존한다.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정확도(QA5)는 이 시나리오로 알 수 없다.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부록 — DP4 시나리오: 서버를 고르는 조건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W1~W5 + 변경 시나리오 S1~S6 · 2노드 × 8 GPU 실측 Baseline + 시뮬레이터 · Baseline = 상태·캐시 비인지 라우팅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출처: PPT DP4 26~32장 (doc-mk/DP4/DP0-qa-result-slides.pptx)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5786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657600"/>
                <a:gridCol w="2834640"/>
                <a:gridCol w="277063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시나리오군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무엇인가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QA가 떨어지는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QA가 오르는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W1 공통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8K / 출력 256, prefix 재사용 통제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이득이 작음 (처리량 ×1.04~1.05)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P99 ×0.84~0.90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W2~W4 전용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재사용 대화(0/30/60%), 긴 입력 P/D 분리, 메모리 압박(HBM 70~95%)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후보1 TTFT가 후보2보다 약 120 ms 높음(P/D 경로 hop, 가설)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캐시·메모리 인지 라우팅(P1~P3)이 효과를 내는 곳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W5 서버 증설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 = 2, 4, 8, 16 (N0 = 2)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후보2 SE 64% (상태 비공유로 갱신 부하 ≈ N배)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후보1 SE 93%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S1~S6 변경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새 tier, 비용 함수, P/D 정책, 노드 지시, vLLM 계약, 신규 기능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S2~S4는 후보1(OSS 탐색)이 비쌈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S1·S5·S6은 후보1(설정·plugin)이 쌈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3904488"/>
            <a:ext cx="5596128" cy="249631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2F5597"/>
                </a:solidFill>
                <a:latin typeface="맑은 고딕"/>
                <a:ea typeface="맑은 고딕"/>
              </a:rPr>
              <a:t>이 DP의 시나리오가 의미하는 것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QA6은 서버 수 증가 시나리오(W5)에서만 갈린다. QA4는 변경이 어디까지 번지는지(S1~S6)가 결정한다.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후보 간 QA2 차이는 TTFT 2 s 경계를 사이에 둔 약 6%다.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3904488"/>
            <a:ext cx="5596128" cy="249631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50" b="1">
                <a:solidFill>
                  <a:srgbClr val="C00000"/>
                </a:solidFill>
                <a:latin typeface="맑은 고딕"/>
                <a:ea typeface="맑은 고딕"/>
              </a:rPr>
              <a:t>정직한 주의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N &gt; 2는 실측이 아니라 모델 외삽이다. 후보2는 미구현이라 모델이다.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</a:rPr>
              <a:t>• QA4 토큰 비용은 OSS 탐색 토큰 가정에 민감하다.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부록 — 실측 기반 평가 시스템 (DP4 Baseline)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DP4의 Baseline은 보유한 시스템에서 실측했다 · 그 외 값은 시뮬레이터로 대체 · 노드 간 링크·DRAM·SSD 사양은 아직 미확인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출처: PPT DP4 33~34장. DP1~DP3 Baseline은 실측이 아니다(시뮬레이션).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5054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6400800"/>
                <a:gridCol w="267919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/ GPU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노드 × H100 SXM 80GB × 8 = 16 GPU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보유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 사양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HBM3 3.35 TB/s, BF16 dense 989 TFLOPS, NVLink 900 GB/s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spec [B]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/ 정밀도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Llama-3.1-70B, BF16, TP=8 (노드당 replica 1개)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워크로드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입력 8K / 출력 256, prefix 재사용 통제, SLO TTFT P99 ≤ 2 s · TPOT P99 ≤ 50 ms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공통 프로필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vLLM + 정책 없는 기본 라우팅 (상태·캐시 비인지)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실측 [A]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 간 링크 / 호스트 DRAM / SSD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확인 필요 (KV 전송 계산은 400 Gb/s ≈ 50 GB/s 가정)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bl"/>
          <p:cNvGraphicFramePr>
            <a:graphicFrameLocks noGrp="1"/>
          </p:cNvGraphicFramePr>
          <p:nvPr/>
        </p:nvGraphicFramePr>
        <p:xfrm>
          <a:off x="365760" y="3931920"/>
          <a:ext cx="11457432" cy="19568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5669280"/>
                <a:gridCol w="194767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Evidence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Baseline 처리량·지연·SE(N0=2)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보유 시스템 실측 (seed ≥ 5, P99·Goodput 기록)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[A]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HBM·호스트 DRAM 대역폭·용량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실물 + 공개 spec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[A]/[B]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CXL·HBF·SSD tier 성능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문헌·vendor spec을 입력으로 한 시뮬레이터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[B+C]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 2 결정 경로·상태 갱신 부하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+ E1 보정(미측정)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N &gt; 2 서버 확장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모델 외삽 (실측은 2노드까지)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[C]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_msg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실측으로 확인한 것은 Baseline뿐이다. 후보 값(처리량·지연·SE)은 Baseline 실측 위에 시뮬레이터를 얹은 [A+C]다.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>
                <a:solidFill>
                  <a:srgbClr val="2F5597"/>
                </a:solidFill>
                <a:latin typeface="맑은 고딕"/>
                <a:ea typeface="맑은 고딕"/>
              </a:rPr>
              <a:t>부록 — 시뮬레이션 구성 가정 (DP1 · DP2 · DP3 공통 시스템)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실물이 없어 모델로 평가 · 하드웨어는 공개 spec·vendor 자료를 입력으로 하고 모델은 이산 사건 시뮬레이터 · 증거 수준 [B+C] · ASSUMED 항목은 민감도 확인 필요</a:t>
            </a: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</a:rPr>
              <a:t>※ 출처: doc-mk/Evaluation/system-specs.md (DP1/sim/configs, 값의 provenance는 거기). 평가는 SYS-H100과 SYS-B200 두 세대를 모두 보고한다.</a:t>
            </a:r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365760" y="1188720"/>
          <a:ext cx="11457432" cy="29992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3840480"/>
                <a:gridCol w="2926080"/>
                <a:gridCol w="295351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SYS-H100 (Hopper급)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SYS-B200 (Blackwell급)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 / HBM (노드 합계)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H100 × 8, HBM3 80 GiB × 8 = 640 GiB, 26.8 TB/s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B200 × 8, HBM3e 192 GiB × 8, 64 TB/s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8-GPU 노드를 TP8 하나의 장치로 모델. HBM 90%만 사용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FP16 dense / GPU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989 TFLOPS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2,250 TFLOPS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공개 값 (원문 검증 필요)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Custom HBM (ScHBM)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160 GiB, 내부 6.7 TB/s, 외부 63 GB/s, 지연 2 µs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384 GiB, 내부 16 TB/s, 외부 63 GB/s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 메모리: 세대 없음, host link 속도만 다름 [ASSUMED]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CXL-PNM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512 GiB, 내부 400 GB/s, 외부 63 GB/s, 지연 300 ns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 메모리 [ASSUMED]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DRAM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DDR5-4800, 1 TiB, 내부 300 GB/s, 외부 64 GB/s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DDR5-6400, 내부 400 GB/s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호스트 메모리 [PUBLIC]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HBF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 TiB, 읽기 1 TB/s(GPU 직결), 쓰기 50 GB/s, 지연 5 µs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 메모리, link와 무관 [ASSUMED]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SSD-PIM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16 TiB, 외부 16 GB/s, 내부 200 GB/s, 지연 60 µs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같음 (NVMe PCIe 5.0 x4)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 메모리 [ASSUMED]</a:t>
                      </a: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"/>
          <p:cNvSpPr txBox="1"/>
          <p:nvPr/>
        </p:nvSpPr>
        <p:spPr>
          <a:xfrm>
            <a:off x="365760" y="4343400"/>
            <a:ext cx="5596128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2F5597"/>
                </a:solidFill>
                <a:latin typeface="맑은 고딕"/>
                <a:ea typeface="맑은 고딕"/>
              </a:rPr>
              <a:t>무엇을 어떻게 가정했나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시스템 구성: 노드 1대 = 8-GPU(NVLink 도메인 1개). 6종 메모리(HBM, ScHBM, CXL-PNM, DRAM, HBF, SSD-PIM)가 모든 profile에 있다. 모델 Llama-3.1-70B BF16, KV 320 KiB/token.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신규 메모리 스펙: 실물이 없어 vendor·문헌 값과 가정으로 정했다. 신규 메모리에는 과거 세대가 없어 같은 장치를 모든 플랫폼에 쓰고 host link 속도만 바꾼다(link-bound scaling).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Interconnect: host PCIe 5.0 x16 63 GB/s(방향당), CXL 2.0. ScHBM의 외부 BW는 host link 1가닥을 도메인 전체가 공유한다. HBF는 GPU 직결(UCIe)이라 link와 무관. 노드 간 RDMA 50 GB/s [ASSUMED, DP2만].</a:t>
            </a:r>
          </a:p>
        </p:txBody>
      </p:sp>
      <p:sp>
        <p:nvSpPr>
          <p:cNvPr id="8" name="r"/>
          <p:cNvSpPr txBox="1"/>
          <p:nvPr/>
        </p:nvSpPr>
        <p:spPr>
          <a:xfrm>
            <a:off x="6199632" y="4343400"/>
            <a:ext cx="5596128" cy="2057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C00000"/>
                </a:solidFill>
                <a:latin typeface="맑은 고딕"/>
                <a:ea typeface="맑은 고딕"/>
              </a:rPr>
              <a:t>시뮬레이션 방식과 한계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시뮬레이터: DP1 = 객체 이동 정책 시뮬레이터, DP2 = P/D 노드 사이 스케줄링, DP3 = 요청 단위 GPU timeline(적재 → prefill → decode). 서비스 시간 = 바이트 ÷ 대역폭 + 지연, tier별 FIFO.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모든 평가는 seed ≥ 5, load sweep, Baseline-regression loop를 따른다. 시스템 profile 값은 결과를 보고 바꾸지 않았다.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>• 한계: 신규 메모리 값은 가정이고, A100/H100/B200 수치도 원문 검증을 못 했다. PCIe 6.0 raw 값, cxl_pnm FP16 = FP32 × 2 가정이 결과를 바꿀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12776</Words>
  <Application>Microsoft Office PowerPoint</Application>
  <PresentationFormat>와이드스크린</PresentationFormat>
  <Paragraphs>1628</Paragraphs>
  <Slides>35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0" baseType="lpstr">
      <vt:lpstr>맑은 고딕</vt:lpstr>
      <vt:lpstr>맑은 고딕</vt:lpstr>
      <vt:lpstr>Arial</vt:lpstr>
      <vt:lpstr>Wingdings</vt:lpstr>
      <vt:lpstr>Office 테마</vt:lpstr>
      <vt:lpstr>전체 DP 별 QA</vt:lpstr>
      <vt:lpstr>PowerPoint 프레젠테이션</vt:lpstr>
      <vt:lpstr>DP1. 이기종 메모리 기반 Data Migration 결정 구조 - 설계</vt:lpstr>
      <vt:lpstr>DP1. 이기종 메모리 기반 Data Migration 결정 구조 - 설계</vt:lpstr>
      <vt:lpstr>PowerPoint 프레젠테이션</vt:lpstr>
      <vt:lpstr>DP2. 이기종 메모리 환경의 연산(Prefill/Decode) 실행 위치 결정 구조 - 설계</vt:lpstr>
      <vt:lpstr>PowerPoint 프레젠테이션</vt:lpstr>
      <vt:lpstr>DP3. Long Context를 위한 KV 캐시 압축 및 재사용 구조 – 설계 </vt:lpstr>
      <vt:lpstr>PowerPoint 프레젠테이션</vt:lpstr>
      <vt:lpstr>DP0. 요청 조율 계층 (Orchestration) 설계 - 구조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전체 DP 별 QA</dc:title>
  <dc:creator>Myeong Woo Kim</dc:creator>
  <cp:lastModifiedBy>Myeong Woo Kim</cp:lastModifiedBy>
  <cp:revision>2</cp:revision>
  <dcterms:created xsi:type="dcterms:W3CDTF">2026-10-10T16:13:15Z</dcterms:created>
  <dcterms:modified xsi:type="dcterms:W3CDTF">2026-10-10T16:22:24Z</dcterms:modified>
</cp:coreProperties>
</file>
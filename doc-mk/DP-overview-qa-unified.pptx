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650" r:id="rId2"/>
    <p:sldId id="624" r:id="rId3"/>
    <p:sldId id="658" r:id="rId4"/>
    <p:sldId id="741" r:id="rId5"/>
    <p:sldId id="642" r:id="rId6"/>
    <p:sldId id="666" r:id="rId7"/>
    <p:sldId id="643" r:id="rId8"/>
    <p:sldId id="671" r:id="rId9"/>
    <p:sldId id="812" r:id="rId10"/>
    <p:sldId id="815" r:id="rId11"/>
    <p:sldId id="794" r:id="rId12"/>
    <p:sldId id="817" r:id="rId42"/>
    <p:sldId id="818" r:id="rId43"/>
    <p:sldId id="819" r:id="rId44"/>
    <p:sldId id="820" r:id="rId45"/>
    <p:sldId id="821" r:id="rId46"/>
    <p:sldId id="822" r:id="rId47"/>
    <p:sldId id="823" r:id="rId48"/>
    <p:sldId id="824" r:id="rId49"/>
    <p:sldId id="825" r:id="rId50"/>
    <p:sldId id="826" r:id="rId51"/>
    <p:sldId id="827" r:id="rId52"/>
    <p:sldId id="828" r:id="rId53"/>
    <p:sldId id="829" r:id="rId54"/>
    <p:sldId id="830" r:id="rId55"/>
    <p:sldId id="831" r:id="rId56"/>
    <p:sldId id="832" r:id="rId57"/>
    <p:sldId id="833" r:id="rId58"/>
    <p:sldId id="834" r:id="rId59"/>
    <p:sldId id="835" r:id="rId60"/>
    <p:sldId id="836" r:id="rId61"/>
    <p:sldId id="837" r:id="rId62"/>
    <p:sldId id="838" r:id="rId63"/>
    <p:sldId id="839" r:id="rId64"/>
    <p:sldId id="816" r:id="rId13"/>
    <p:sldId id="795" r:id="rId14"/>
    <p:sldId id="796" r:id="rId15"/>
    <p:sldId id="797" r:id="rId16"/>
    <p:sldId id="798" r:id="rId17"/>
    <p:sldId id="799" r:id="rId18"/>
    <p:sldId id="800" r:id="rId19"/>
    <p:sldId id="801" r:id="rId20"/>
    <p:sldId id="802" r:id="rId21"/>
    <p:sldId id="803" r:id="rId22"/>
    <p:sldId id="804" r:id="rId23"/>
    <p:sldId id="805" r:id="rId24"/>
    <p:sldId id="806" r:id="rId25"/>
    <p:sldId id="793" r:id="rId26"/>
    <p:sldId id="768" r:id="rId27"/>
    <p:sldId id="769" r:id="rId28"/>
    <p:sldId id="770" r:id="rId29"/>
    <p:sldId id="771" r:id="rId30"/>
    <p:sldId id="772" r:id="rId31"/>
    <p:sldId id="773" r:id="rId32"/>
    <p:sldId id="774" r:id="rId33"/>
    <p:sldId id="775" r:id="rId34"/>
    <p:sldId id="776" r:id="rId35"/>
    <p:sldId id="777" r:id="rId36"/>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3" d="100"/>
          <a:sy n="113" d="100"/>
        </p:scale>
        <p:origin x="51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6F3DA5-8DDA-4140-8EBF-88E0D7139CB2}" type="datetimeFigureOut">
              <a:rPr lang="ko-KR" altLang="en-US" smtClean="0"/>
              <a:t>2026-10-11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3A0972-9741-4724-9C7C-1A397EBCD96C}" type="slidenum">
              <a:rPr lang="ko-KR" altLang="en-US" smtClean="0"/>
              <a:t>‹#›</a:t>
            </a:fld>
            <a:endParaRPr lang="ko-KR" altLang="en-US"/>
          </a:p>
        </p:txBody>
      </p:sp>
    </p:spTree>
    <p:extLst>
      <p:ext uri="{BB962C8B-B14F-4D97-AF65-F5344CB8AC3E}">
        <p14:creationId xmlns:p14="http://schemas.microsoft.com/office/powerpoint/2010/main" val="422565638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Resource</a:t>
            </a:r>
            <a:r>
              <a:rPr lang="en-US" altLang="ko-KR" baseline="0" dirty="0"/>
              <a:t> Plane: </a:t>
            </a:r>
            <a:r>
              <a:rPr lang="ko-KR" altLang="en-US" dirty="0"/>
              <a:t>물리</a:t>
            </a:r>
            <a:r>
              <a:rPr lang="en-US" altLang="ko-KR" dirty="0"/>
              <a:t>/</a:t>
            </a:r>
            <a:r>
              <a:rPr lang="ko-KR" altLang="en-US" dirty="0"/>
              <a:t>논리 디바이스</a:t>
            </a:r>
            <a:r>
              <a:rPr lang="en-US" altLang="ko-KR" dirty="0"/>
              <a:t>(HBM, CXL, DDR </a:t>
            </a:r>
            <a:r>
              <a:rPr lang="ko-KR" altLang="en-US" dirty="0"/>
              <a:t>등</a:t>
            </a:r>
            <a:r>
              <a:rPr lang="en-US" altLang="ko-KR" dirty="0"/>
              <a:t>) </a:t>
            </a:r>
            <a:r>
              <a:rPr lang="ko-KR" altLang="en-US" dirty="0"/>
              <a:t>등록 및 메타 관리</a:t>
            </a:r>
            <a:r>
              <a:rPr lang="en-US" altLang="ko-KR" dirty="0"/>
              <a:t>, </a:t>
            </a:r>
            <a:r>
              <a:rPr lang="ko-KR" altLang="en-US" dirty="0"/>
              <a:t>순수 하드웨어 </a:t>
            </a:r>
            <a:r>
              <a:rPr lang="ko-KR" altLang="en-US" dirty="0" err="1"/>
              <a:t>메트릭</a:t>
            </a:r>
            <a:r>
              <a:rPr lang="en-US" altLang="ko-KR" dirty="0"/>
              <a:t>(</a:t>
            </a:r>
            <a:r>
              <a:rPr lang="ko-KR" altLang="en-US" dirty="0"/>
              <a:t>대역폭</a:t>
            </a:r>
            <a:r>
              <a:rPr lang="en-US" altLang="ko-KR" dirty="0"/>
              <a:t>, </a:t>
            </a:r>
            <a:r>
              <a:rPr lang="ko-KR" altLang="en-US" dirty="0"/>
              <a:t>남은 용량</a:t>
            </a:r>
            <a:r>
              <a:rPr lang="en-US" altLang="ko-KR" dirty="0"/>
              <a:t>, </a:t>
            </a:r>
            <a:r>
              <a:rPr lang="ko-KR" altLang="en-US" dirty="0"/>
              <a:t>지연시간</a:t>
            </a:r>
            <a:r>
              <a:rPr lang="en-US" altLang="ko-KR" dirty="0"/>
              <a:t>) </a:t>
            </a:r>
            <a:r>
              <a:rPr lang="ko-KR" altLang="en-US" dirty="0"/>
              <a:t>수집 및 현재 상태 노출</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Control Plane: </a:t>
            </a:r>
            <a:r>
              <a:rPr lang="ko-KR" altLang="en-US" dirty="0"/>
              <a:t>수집된 </a:t>
            </a:r>
            <a:r>
              <a:rPr lang="ko-KR" altLang="en-US" dirty="0" err="1"/>
              <a:t>메트릭</a:t>
            </a:r>
            <a:r>
              <a:rPr lang="ko-KR" altLang="en-US" dirty="0"/>
              <a:t> 트렌드 분석</a:t>
            </a:r>
            <a:r>
              <a:rPr lang="en-US" altLang="ko-KR" dirty="0"/>
              <a:t>, </a:t>
            </a:r>
            <a:r>
              <a:rPr lang="ko-KR" altLang="en-US" dirty="0"/>
              <a:t>어느 계층</a:t>
            </a:r>
            <a:r>
              <a:rPr lang="en-US" altLang="ko-KR" dirty="0"/>
              <a:t>(Tier)</a:t>
            </a:r>
            <a:r>
              <a:rPr lang="ko-KR" altLang="en-US" dirty="0"/>
              <a:t>으로 보낼지 정책 결정</a:t>
            </a:r>
            <a:r>
              <a:rPr lang="en-US" altLang="ko-KR" dirty="0"/>
              <a:t>, </a:t>
            </a:r>
            <a:r>
              <a:rPr lang="ko-KR" altLang="en-US" dirty="0"/>
              <a:t>어떤 데이터 블록을 마이그레이션</a:t>
            </a:r>
            <a:r>
              <a:rPr lang="en-US" altLang="ko-KR" dirty="0"/>
              <a:t>/</a:t>
            </a:r>
            <a:r>
              <a:rPr lang="ko-KR" altLang="en-US" dirty="0"/>
              <a:t>축출</a:t>
            </a:r>
            <a:r>
              <a:rPr lang="en-US" altLang="ko-KR" dirty="0"/>
              <a:t>(Eviction)</a:t>
            </a:r>
            <a:r>
              <a:rPr lang="ko-KR" altLang="en-US" dirty="0"/>
              <a:t>할지 대상 선정</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Plane: </a:t>
            </a:r>
            <a:r>
              <a:rPr lang="ko-KR" altLang="en-US" sz="1200" kern="1200" dirty="0">
                <a:solidFill>
                  <a:schemeClr val="tx1"/>
                </a:solidFill>
                <a:effectLst/>
                <a:latin typeface="+mn-lt"/>
                <a:ea typeface="+mn-ea"/>
                <a:cs typeface="+mn-cs"/>
              </a:rPr>
              <a:t>결정된 지침에 따라 실제 메모리 블록을 날리거나</a:t>
            </a:r>
            <a:r>
              <a:rPr lang="en-US" altLang="ko-KR" sz="1200" kern="1200" dirty="0">
                <a:solidFill>
                  <a:schemeClr val="tx1"/>
                </a:solidFill>
                <a:effectLst/>
                <a:latin typeface="+mn-lt"/>
                <a:ea typeface="+mn-ea"/>
                <a:cs typeface="+mn-cs"/>
              </a:rPr>
              <a:t>(Free), DMA/P2P </a:t>
            </a:r>
            <a:r>
              <a:rPr lang="ko-KR" altLang="en-US" sz="1200" kern="1200" dirty="0">
                <a:solidFill>
                  <a:schemeClr val="tx1"/>
                </a:solidFill>
                <a:effectLst/>
                <a:latin typeface="+mn-lt"/>
                <a:ea typeface="+mn-ea"/>
                <a:cs typeface="+mn-cs"/>
              </a:rPr>
              <a:t>전송을 수행하는 </a:t>
            </a:r>
            <a:r>
              <a:rPr lang="en-US" altLang="ko-KR" sz="1200" kern="1200" dirty="0">
                <a:solidFill>
                  <a:schemeClr val="tx1"/>
                </a:solidFill>
                <a:effectLst/>
                <a:latin typeface="+mn-lt"/>
                <a:ea typeface="+mn-ea"/>
                <a:cs typeface="+mn-cs"/>
              </a:rPr>
              <a:t>Fast-path </a:t>
            </a:r>
            <a:r>
              <a:rPr lang="ko-KR" altLang="en-US" sz="1200" kern="1200" dirty="0" err="1">
                <a:solidFill>
                  <a:schemeClr val="tx1"/>
                </a:solidFill>
                <a:effectLst/>
                <a:latin typeface="+mn-lt"/>
                <a:ea typeface="+mn-ea"/>
                <a:cs typeface="+mn-cs"/>
              </a:rPr>
              <a:t>실행부</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r>
              <a:rPr lang="en-US" altLang="ko-KR" sz="1200" b="1" kern="1200" dirty="0">
                <a:solidFill>
                  <a:schemeClr val="tx1"/>
                </a:solidFill>
                <a:effectLst/>
                <a:latin typeface="+mn-lt"/>
                <a:ea typeface="+mn-ea"/>
                <a:cs typeface="+mn-cs"/>
              </a:rPr>
              <a:t>Control Plane</a:t>
            </a:r>
            <a:r>
              <a:rPr lang="en-US" altLang="ko-KR" sz="1200" kern="1200" dirty="0">
                <a:solidFill>
                  <a:schemeClr val="tx1"/>
                </a:solidFill>
                <a:effectLst/>
                <a:latin typeface="+mn-lt"/>
                <a:ea typeface="+mn-ea"/>
                <a:cs typeface="+mn-cs"/>
              </a:rPr>
              <a:t>: </a:t>
            </a:r>
            <a:r>
              <a:rPr lang="ko-KR" altLang="en-US" sz="1200" kern="1200" dirty="0">
                <a:solidFill>
                  <a:schemeClr val="tx1"/>
                </a:solidFill>
                <a:effectLst/>
                <a:latin typeface="+mn-lt"/>
                <a:ea typeface="+mn-ea"/>
                <a:cs typeface="+mn-cs"/>
              </a:rPr>
              <a:t>상태</a:t>
            </a:r>
            <a:r>
              <a:rPr lang="en-US" altLang="ko-KR" sz="1200" kern="1200" dirty="0">
                <a:solidFill>
                  <a:schemeClr val="tx1"/>
                </a:solidFill>
                <a:effectLst/>
                <a:latin typeface="+mn-lt"/>
                <a:ea typeface="+mn-ea"/>
                <a:cs typeface="+mn-cs"/>
              </a:rPr>
              <a:t>/</a:t>
            </a:r>
            <a:r>
              <a:rPr lang="ko-KR" altLang="en-US" sz="1200" kern="1200" dirty="0">
                <a:solidFill>
                  <a:schemeClr val="tx1"/>
                </a:solidFill>
                <a:effectLst/>
                <a:latin typeface="+mn-lt"/>
                <a:ea typeface="+mn-ea"/>
                <a:cs typeface="+mn-cs"/>
              </a:rPr>
              <a:t>행위를 분석하고 마이그레이션 정책</a:t>
            </a:r>
            <a:r>
              <a:rPr lang="en-US" altLang="ko-KR" sz="1200" kern="1200" dirty="0">
                <a:solidFill>
                  <a:schemeClr val="tx1"/>
                </a:solidFill>
                <a:effectLst/>
                <a:latin typeface="+mn-lt"/>
                <a:ea typeface="+mn-ea"/>
                <a:cs typeface="+mn-cs"/>
              </a:rPr>
              <a:t>(Migration Policy Engine, Scheduler)</a:t>
            </a:r>
            <a:r>
              <a:rPr lang="ko-KR" altLang="en-US" sz="1200" kern="1200" dirty="0">
                <a:solidFill>
                  <a:schemeClr val="tx1"/>
                </a:solidFill>
                <a:effectLst/>
                <a:latin typeface="+mn-lt"/>
                <a:ea typeface="+mn-ea"/>
                <a:cs typeface="+mn-cs"/>
              </a:rPr>
              <a:t>을 결정하는 두뇌 역할 </a:t>
            </a:r>
          </a:p>
          <a:p>
            <a:r>
              <a:rPr lang="en-US" altLang="ko-KR" sz="1200" b="1" kern="1200" dirty="0">
                <a:solidFill>
                  <a:schemeClr val="tx1"/>
                </a:solidFill>
                <a:effectLst/>
                <a:latin typeface="+mn-lt"/>
                <a:ea typeface="+mn-ea"/>
                <a:cs typeface="+mn-cs"/>
              </a:rPr>
              <a:t>Resource Plane</a:t>
            </a:r>
            <a:r>
              <a:rPr lang="en-US" altLang="ko-KR" sz="1200" kern="1200" dirty="0">
                <a:solidFill>
                  <a:schemeClr val="tx1"/>
                </a:solidFill>
                <a:effectLst/>
                <a:latin typeface="+mn-lt"/>
                <a:ea typeface="+mn-ea"/>
                <a:cs typeface="+mn-cs"/>
              </a:rPr>
              <a:t>: </a:t>
            </a:r>
            <a:r>
              <a:rPr lang="ko-KR" altLang="en-US" sz="1200" kern="1200" dirty="0">
                <a:solidFill>
                  <a:schemeClr val="tx1"/>
                </a:solidFill>
                <a:effectLst/>
                <a:latin typeface="+mn-lt"/>
                <a:ea typeface="+mn-ea"/>
                <a:cs typeface="+mn-cs"/>
              </a:rPr>
              <a:t>물리 장치의 제원과 텔레메트리를 추상화</a:t>
            </a:r>
            <a:r>
              <a:rPr lang="en-US" altLang="ko-KR" sz="1200" kern="1200" dirty="0">
                <a:solidFill>
                  <a:schemeClr val="tx1"/>
                </a:solidFill>
                <a:effectLst/>
                <a:latin typeface="+mn-lt"/>
                <a:ea typeface="+mn-ea"/>
                <a:cs typeface="+mn-cs"/>
              </a:rPr>
              <a:t>·</a:t>
            </a:r>
            <a:r>
              <a:rPr lang="ko-KR" altLang="en-US" sz="1200" kern="1200" dirty="0">
                <a:solidFill>
                  <a:schemeClr val="tx1"/>
                </a:solidFill>
                <a:effectLst/>
                <a:latin typeface="+mn-lt"/>
                <a:ea typeface="+mn-ea"/>
                <a:cs typeface="+mn-cs"/>
              </a:rPr>
              <a:t>제공하는 메타데이터</a:t>
            </a:r>
            <a:r>
              <a:rPr lang="en-US" altLang="ko-KR" sz="1200" kern="1200" dirty="0">
                <a:solidFill>
                  <a:schemeClr val="tx1"/>
                </a:solidFill>
                <a:effectLst/>
                <a:latin typeface="+mn-lt"/>
                <a:ea typeface="+mn-ea"/>
                <a:cs typeface="+mn-cs"/>
              </a:rPr>
              <a:t>/</a:t>
            </a:r>
            <a:r>
              <a:rPr lang="ko-KR" altLang="en-US" sz="1200" kern="1200" dirty="0">
                <a:solidFill>
                  <a:schemeClr val="tx1"/>
                </a:solidFill>
                <a:effectLst/>
                <a:latin typeface="+mn-lt"/>
                <a:ea typeface="+mn-ea"/>
                <a:cs typeface="+mn-cs"/>
              </a:rPr>
              <a:t>지식 저장소 역할 </a:t>
            </a:r>
          </a:p>
          <a:p>
            <a:r>
              <a:rPr lang="en-US" altLang="ko-KR" sz="1200" b="1" kern="1200" dirty="0">
                <a:solidFill>
                  <a:schemeClr val="tx1"/>
                </a:solidFill>
                <a:effectLst/>
                <a:latin typeface="+mn-lt"/>
                <a:ea typeface="+mn-ea"/>
                <a:cs typeface="+mn-cs"/>
              </a:rPr>
              <a:t>Data Plane</a:t>
            </a:r>
            <a:r>
              <a:rPr lang="en-US" altLang="ko-KR" sz="1200" kern="1200" dirty="0">
                <a:solidFill>
                  <a:schemeClr val="tx1"/>
                </a:solidFill>
                <a:effectLst/>
                <a:latin typeface="+mn-lt"/>
                <a:ea typeface="+mn-ea"/>
                <a:cs typeface="+mn-cs"/>
              </a:rPr>
              <a:t>: </a:t>
            </a:r>
            <a:r>
              <a:rPr lang="ko-KR" altLang="en-US" sz="1200" kern="1200" dirty="0">
                <a:solidFill>
                  <a:schemeClr val="tx1"/>
                </a:solidFill>
                <a:effectLst/>
                <a:latin typeface="+mn-lt"/>
                <a:ea typeface="+mn-ea"/>
                <a:cs typeface="+mn-cs"/>
              </a:rPr>
              <a:t>실제 복사 및 전송을 전담하는 실행 계층</a:t>
            </a:r>
            <a:r>
              <a:rPr lang="en-US" altLang="ko-KR" sz="1200" kern="1200" dirty="0">
                <a:solidFill>
                  <a:schemeClr val="tx1"/>
                </a:solidFill>
                <a:effectLst/>
                <a:latin typeface="+mn-lt"/>
                <a:ea typeface="+mn-ea"/>
                <a:cs typeface="+mn-cs"/>
              </a:rPr>
              <a:t>(Executor, Transfer Handler) </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3</a:t>
            </a:fld>
            <a:endParaRPr lang="ko-KR" altLang="en-US"/>
          </a:p>
        </p:txBody>
      </p:sp>
    </p:spTree>
    <p:extLst>
      <p:ext uri="{BB962C8B-B14F-4D97-AF65-F5344CB8AC3E}">
        <p14:creationId xmlns:p14="http://schemas.microsoft.com/office/powerpoint/2010/main" val="3100115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dirty="0"/>
              <a:t>대상이 되는 </a:t>
            </a:r>
            <a:r>
              <a:rPr lang="en-US" altLang="ko-KR" dirty="0"/>
              <a:t>KV</a:t>
            </a:r>
          </a:p>
          <a:p>
            <a:pPr rtl="0">
              <a:buFont typeface="Arial" panose="020B0604020202020204" pitchFamily="34" charset="0"/>
              <a:buChar char="•"/>
            </a:pPr>
            <a:r>
              <a:rPr lang="en-US" altLang="ko-KR" dirty="0"/>
              <a:t>preempt</a:t>
            </a:r>
            <a:r>
              <a:rPr lang="ko-KR" altLang="en-US" dirty="0"/>
              <a:t>된 </a:t>
            </a:r>
            <a:r>
              <a:rPr lang="en-US" altLang="ko-KR" dirty="0"/>
              <a:t>request</a:t>
            </a:r>
            <a:r>
              <a:rPr lang="ko-KR" altLang="en-US" dirty="0"/>
              <a:t>의 </a:t>
            </a:r>
            <a:r>
              <a:rPr lang="en-US" altLang="ko-KR" dirty="0"/>
              <a:t>KV</a:t>
            </a:r>
          </a:p>
          <a:p>
            <a:pPr rtl="0">
              <a:buFont typeface="Arial" panose="020B0604020202020204" pitchFamily="34" charset="0"/>
              <a:buChar char="•"/>
            </a:pPr>
            <a:r>
              <a:rPr lang="en-US" altLang="ko-KR" dirty="0"/>
              <a:t>tool-call </a:t>
            </a:r>
            <a:r>
              <a:rPr lang="ko-KR" altLang="en-US" dirty="0"/>
              <a:t>대기 중인 </a:t>
            </a:r>
            <a:r>
              <a:rPr lang="en-US" altLang="ko-KR" dirty="0"/>
              <a:t>Agent session</a:t>
            </a:r>
            <a:r>
              <a:rPr lang="ko-KR" altLang="en-US" dirty="0"/>
              <a:t>의 </a:t>
            </a:r>
            <a:r>
              <a:rPr lang="en-US" altLang="ko-KR" dirty="0"/>
              <a:t>KV</a:t>
            </a:r>
          </a:p>
          <a:p>
            <a:pPr rtl="0">
              <a:buFont typeface="Arial" panose="020B0604020202020204" pitchFamily="34" charset="0"/>
              <a:buChar char="•"/>
            </a:pPr>
            <a:r>
              <a:rPr lang="en-US" altLang="ko-KR" dirty="0" err="1"/>
              <a:t>ref_cnt</a:t>
            </a:r>
            <a:r>
              <a:rPr lang="en-US" altLang="ko-KR" dirty="0"/>
              <a:t>=0</a:t>
            </a:r>
            <a:r>
              <a:rPr lang="ko-KR" altLang="en-US" dirty="0"/>
              <a:t>인 </a:t>
            </a:r>
            <a:r>
              <a:rPr lang="en-US" altLang="ko-KR" dirty="0"/>
              <a:t>prefix cache block</a:t>
            </a:r>
          </a:p>
          <a:p>
            <a:pPr rtl="0">
              <a:buFont typeface="Arial" panose="020B0604020202020204" pitchFamily="34" charset="0"/>
              <a:buChar char="•"/>
            </a:pPr>
            <a:r>
              <a:rPr lang="ko-KR" altLang="en-US" dirty="0"/>
              <a:t>종료됐지만 재사용 가능성이 있는 </a:t>
            </a:r>
            <a:r>
              <a:rPr lang="en-US" altLang="ko-KR" dirty="0"/>
              <a:t>session KV</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460613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kern="1200" dirty="0">
                <a:solidFill>
                  <a:schemeClr val="tx1"/>
                </a:solidFill>
                <a:effectLst/>
                <a:latin typeface="+mn-lt"/>
                <a:ea typeface="+mn-ea"/>
                <a:cs typeface="+mn-cs"/>
              </a:rPr>
              <a:t>MISMATCH</a:t>
            </a:r>
            <a:r>
              <a:rPr lang="en-US" altLang="ko-KR" dirty="0"/>
              <a:t> | +-- </a:t>
            </a:r>
            <a:r>
              <a:rPr lang="en-US" altLang="ko-KR" sz="1200" kern="1200" dirty="0">
                <a:solidFill>
                  <a:schemeClr val="tx1"/>
                </a:solidFill>
                <a:effectLst/>
                <a:latin typeface="+mn-lt"/>
                <a:ea typeface="+mn-ea"/>
                <a:cs typeface="+mn-cs"/>
              </a:rPr>
              <a:t>1</a:t>
            </a:r>
            <a:r>
              <a:rPr lang="en-US" altLang="ko-KR" dirty="0"/>
              <a:t>. ranked alt </a:t>
            </a:r>
            <a:r>
              <a:rPr lang="ko-KR" altLang="en-US" dirty="0"/>
              <a:t>중 </a:t>
            </a:r>
            <a:r>
              <a:rPr lang="en-US" altLang="ko-KR" dirty="0"/>
              <a:t>guard </a:t>
            </a:r>
            <a:r>
              <a:rPr lang="ko-KR" altLang="en-US" dirty="0"/>
              <a:t>통과하는 것 </a:t>
            </a:r>
            <a:r>
              <a:rPr lang="en-US" altLang="ko-KR" dirty="0"/>
              <a:t>--&gt; </a:t>
            </a:r>
            <a:r>
              <a:rPr lang="en-US" altLang="ko-KR" sz="1200" kern="1200" dirty="0">
                <a:solidFill>
                  <a:schemeClr val="tx1"/>
                </a:solidFill>
                <a:effectLst/>
                <a:latin typeface="+mn-lt"/>
                <a:ea typeface="+mn-ea"/>
                <a:cs typeface="+mn-cs"/>
              </a:rPr>
              <a:t>Router</a:t>
            </a:r>
            <a:r>
              <a:rPr lang="en-US" altLang="ko-KR" dirty="0"/>
              <a:t> | +-- </a:t>
            </a:r>
            <a:r>
              <a:rPr lang="en-US" altLang="ko-KR" sz="1200" kern="1200" dirty="0">
                <a:solidFill>
                  <a:schemeClr val="tx1"/>
                </a:solidFill>
                <a:effectLst/>
                <a:latin typeface="+mn-lt"/>
                <a:ea typeface="+mn-ea"/>
                <a:cs typeface="+mn-cs"/>
              </a:rPr>
              <a:t>2</a:t>
            </a:r>
            <a:r>
              <a:rPr lang="en-US" altLang="ko-KR" dirty="0"/>
              <a:t>. fallback </a:t>
            </a:r>
            <a:r>
              <a:rPr lang="ko-KR" altLang="en-US" dirty="0"/>
              <a:t>규칙 </a:t>
            </a:r>
            <a:r>
              <a:rPr lang="en-US" altLang="ko-KR" dirty="0"/>
              <a:t>--&gt; </a:t>
            </a:r>
            <a:r>
              <a:rPr lang="en-US" altLang="ko-KR" sz="1200" kern="1200" dirty="0">
                <a:solidFill>
                  <a:schemeClr val="tx1"/>
                </a:solidFill>
                <a:effectLst/>
                <a:latin typeface="+mn-lt"/>
                <a:ea typeface="+mn-ea"/>
                <a:cs typeface="+mn-cs"/>
              </a:rPr>
              <a:t>Router</a:t>
            </a:r>
            <a:r>
              <a:rPr lang="en-US" altLang="ko-KR" dirty="0"/>
              <a:t> | +-- </a:t>
            </a:r>
            <a:r>
              <a:rPr lang="en-US" altLang="ko-KR" sz="1200" kern="1200" dirty="0">
                <a:solidFill>
                  <a:schemeClr val="tx1"/>
                </a:solidFill>
                <a:effectLst/>
                <a:latin typeface="+mn-lt"/>
                <a:ea typeface="+mn-ea"/>
                <a:cs typeface="+mn-cs"/>
              </a:rPr>
              <a:t>3</a:t>
            </a:r>
            <a:r>
              <a:rPr lang="en-US" altLang="ko-KR" dirty="0"/>
              <a:t>. </a:t>
            </a:r>
            <a:r>
              <a:rPr lang="ko-KR" altLang="en-US" dirty="0"/>
              <a:t>동기 </a:t>
            </a:r>
            <a:r>
              <a:rPr lang="en-US" altLang="ko-KR" dirty="0"/>
              <a:t>re-plan --&gt; </a:t>
            </a:r>
            <a:r>
              <a:rPr lang="ko-KR" altLang="en-US" dirty="0"/>
              <a:t>결과 직접 반환 </a:t>
            </a:r>
            <a:r>
              <a:rPr lang="en-US" altLang="ko-KR" dirty="0"/>
              <a:t>--&gt; </a:t>
            </a:r>
            <a:r>
              <a:rPr lang="en-US" altLang="ko-KR" sz="1200" kern="1200" dirty="0">
                <a:solidFill>
                  <a:schemeClr val="tx1"/>
                </a:solidFill>
                <a:effectLst/>
                <a:latin typeface="+mn-lt"/>
                <a:ea typeface="+mn-ea"/>
                <a:cs typeface="+mn-cs"/>
              </a:rPr>
              <a:t>Router</a:t>
            </a:r>
            <a:r>
              <a:rPr lang="en-US" altLang="ko-KR" dirty="0"/>
              <a:t> | +-- (</a:t>
            </a:r>
            <a:r>
              <a:rPr lang="ko-KR" altLang="en-US" dirty="0"/>
              <a:t>비동기</a:t>
            </a:r>
            <a:r>
              <a:rPr lang="en-US" altLang="ko-KR" dirty="0"/>
              <a:t>) </a:t>
            </a:r>
            <a:r>
              <a:rPr lang="en-US" altLang="ko-KR" sz="1200" kern="1200" dirty="0">
                <a:solidFill>
                  <a:schemeClr val="tx1"/>
                </a:solidFill>
                <a:effectLst/>
                <a:latin typeface="+mn-lt"/>
                <a:ea typeface="+mn-ea"/>
                <a:cs typeface="+mn-cs"/>
              </a:rPr>
              <a:t>Plan</a:t>
            </a:r>
            <a:r>
              <a:rPr lang="en-US" altLang="ko-KR" dirty="0"/>
              <a:t> </a:t>
            </a:r>
            <a:r>
              <a:rPr lang="en-US" altLang="ko-KR" sz="1200" kern="1200" dirty="0">
                <a:solidFill>
                  <a:schemeClr val="tx1"/>
                </a:solidFill>
                <a:effectLst/>
                <a:latin typeface="+mn-lt"/>
                <a:ea typeface="+mn-ea"/>
                <a:cs typeface="+mn-cs"/>
              </a:rPr>
              <a:t>Cache</a:t>
            </a:r>
            <a:r>
              <a:rPr lang="en-US" altLang="ko-KR" dirty="0"/>
              <a:t> </a:t>
            </a:r>
            <a:r>
              <a:rPr lang="ko-KR" altLang="en-US" dirty="0"/>
              <a:t>갱신 </a:t>
            </a:r>
            <a:r>
              <a:rPr lang="en-US" altLang="ko-KR" dirty="0"/>
              <a:t>= </a:t>
            </a:r>
            <a:r>
              <a:rPr lang="ko-KR" altLang="en-US" dirty="0"/>
              <a:t>다음 </a:t>
            </a:r>
            <a:r>
              <a:rPr lang="ko-KR" altLang="en-US" dirty="0" err="1"/>
              <a:t>요청용</a:t>
            </a: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6</a:t>
            </a:fld>
            <a:endParaRPr lang="ko-KR" altLang="en-US"/>
          </a:p>
        </p:txBody>
      </p:sp>
    </p:spTree>
    <p:extLst>
      <p:ext uri="{BB962C8B-B14F-4D97-AF65-F5344CB8AC3E}">
        <p14:creationId xmlns:p14="http://schemas.microsoft.com/office/powerpoint/2010/main" val="28313067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[DP3 설계 - 1안 오프라인 vs 2안 온라인]</a:t>
            </a:r>
          </a:p>
          <a:p>
            <a:r>
              <a:t>두 안 모두 압축 및 재사용 구조가 같은 모듈(KV Sampler, KV Cache Compressor, Recompute Token Selector)로 이루어지고, 갈리는 것은 중요도를 언제 평가하느냐입니다. 이 그림은 모듈만이 아니라 주변 구조와의 연결을 함께 보여 줍니다. 오른쪽 KV 저장소는 DP1이 어느 메모리 계층에 둘지 결정하는 대상이고, Selective Recomputer가 실행되는 자원은 DP2가 결정합니다.</a:t>
            </a:r>
          </a:p>
          <a:p>
            <a:r>
              <a:t>1안(오프라인)은 서빙 전에 대표 Query로 attention을 돌려 중요한 토큰만 남긴 Comp.KV를 만들어 저장합니다(점선 ①~⑤). 이 Comp.KV는 요청 간에 공유되고, 서빙 시에는 저장된 Comp.KV를 읽어 와 선정된 재계산 토큰만 다시 계산합니다(실선 ⑥~⑧). 사전에 해 두므로 서빙 지연이 낮은 대신 대표 Query와 실제 Query가 다르면 정확도가 떨어집니다.</a:t>
            </a:r>
          </a:p>
          <a:p>
            <a:r>
              <a:t>2안(온라인)은 요청이 들어온 뒤 실제 Query로 먼저 attention(Stage 1)을 돌려 점수를 얻고(①~③), 점수가 낮은 토큰을 제거하고 재계산 토큰을 고릅니다(④~⑤). 정확도는 높지만 이 계산이 요청 경로에 들어가 TTFT 절감이 작습니다.</a:t>
            </a:r>
          </a:p>
          <a:p>
            <a:r>
              <a:t>일반 SW로 비유하면 1안은 배치로 미리 만들어 두는 사전 계산(캐시 워밍), 2안은 요청 시점에 계산하는 온디맨드 방식입니다.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8</a:t>
            </a:fld>
            <a:endParaRPr lang="ko-KR" altLang="en-US"/>
          </a:p>
        </p:txBody>
      </p:sp>
    </p:spTree>
    <p:extLst>
      <p:ext uri="{BB962C8B-B14F-4D97-AF65-F5344CB8AC3E}">
        <p14:creationId xmlns:p14="http://schemas.microsoft.com/office/powerpoint/2010/main" val="10631000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[DP0 </a:t>
            </a:r>
            <a:r>
              <a:rPr lang="ko-KR" altLang="en-US" dirty="0"/>
              <a:t>설계 </a:t>
            </a:r>
            <a:r>
              <a:rPr lang="en-US" altLang="ko-KR" dirty="0"/>
              <a:t>- </a:t>
            </a:r>
            <a:r>
              <a:rPr lang="ko-KR" altLang="en-US" dirty="0"/>
              <a:t>구조</a:t>
            </a:r>
            <a:r>
              <a:rPr lang="en-US" altLang="ko-KR" dirty="0"/>
              <a:t>(</a:t>
            </a:r>
            <a:r>
              <a:rPr lang="ko-KR" altLang="en-US" dirty="0"/>
              <a:t>컴포넌트 뷰</a:t>
            </a:r>
            <a:r>
              <a:rPr lang="en-US" altLang="ko-KR" dirty="0"/>
              <a:t>)]</a:t>
            </a:r>
          </a:p>
          <a:p>
            <a:r>
              <a:rPr lang="ko-KR" altLang="en-US" dirty="0"/>
              <a:t>두 후보를 같은 기능 블록</a:t>
            </a:r>
            <a:r>
              <a:rPr lang="en-US" altLang="ko-KR" dirty="0"/>
              <a:t>(A~F)</a:t>
            </a:r>
            <a:r>
              <a:rPr lang="ko-KR" altLang="en-US" dirty="0"/>
              <a:t>과 같은 표기로 그렸습니다</a:t>
            </a:r>
            <a:r>
              <a:rPr lang="en-US" altLang="ko-KR" dirty="0"/>
              <a:t>. </a:t>
            </a:r>
            <a:r>
              <a:rPr lang="ko-KR" altLang="en-US" dirty="0"/>
              <a:t>회색은 우리가 못 바꾸는 </a:t>
            </a:r>
            <a:r>
              <a:rPr lang="en-US" altLang="ko-KR" dirty="0" err="1"/>
              <a:t>vLLM</a:t>
            </a:r>
            <a:r>
              <a:rPr lang="ko-KR" altLang="en-US" dirty="0"/>
              <a:t>입니다</a:t>
            </a:r>
            <a:r>
              <a:rPr lang="en-US" altLang="ko-KR" dirty="0"/>
              <a:t>.</a:t>
            </a:r>
          </a:p>
          <a:p>
            <a:r>
              <a:rPr lang="en-US" altLang="ko-KR" dirty="0"/>
              <a:t>1</a:t>
            </a:r>
            <a:r>
              <a:rPr lang="ko-KR" altLang="en-US" dirty="0"/>
              <a:t>안</a:t>
            </a:r>
            <a:r>
              <a:rPr lang="en-US" altLang="ko-KR" dirty="0"/>
              <a:t>(</a:t>
            </a:r>
            <a:r>
              <a:rPr lang="ko-KR" altLang="en-US" dirty="0"/>
              <a:t>왼쪽</a:t>
            </a:r>
            <a:r>
              <a:rPr lang="en-US" altLang="ko-KR" dirty="0"/>
              <a:t>)</a:t>
            </a:r>
            <a:r>
              <a:rPr lang="ko-KR" altLang="en-US" dirty="0"/>
              <a:t>은 오픈소스</a:t>
            </a:r>
            <a:r>
              <a:rPr lang="en-US" altLang="ko-KR" dirty="0"/>
              <a:t>(</a:t>
            </a:r>
            <a:r>
              <a:rPr lang="en-US" altLang="ko-KR" dirty="0" err="1"/>
              <a:t>llm</a:t>
            </a:r>
            <a:r>
              <a:rPr lang="en-US" altLang="ko-KR" dirty="0"/>
              <a:t>-d)</a:t>
            </a:r>
            <a:r>
              <a:rPr lang="ko-KR" altLang="en-US" dirty="0"/>
              <a:t>를 그대로 쓰고 우리 </a:t>
            </a:r>
            <a:r>
              <a:rPr lang="ko-KR" altLang="en-US" dirty="0" err="1"/>
              <a:t>로직만</a:t>
            </a:r>
            <a:r>
              <a:rPr lang="ko-KR" altLang="en-US" dirty="0"/>
              <a:t> 얹습니다</a:t>
            </a:r>
            <a:r>
              <a:rPr lang="en-US" altLang="ko-KR" dirty="0"/>
              <a:t>. </a:t>
            </a:r>
            <a:r>
              <a:rPr lang="ko-KR" altLang="en-US" dirty="0"/>
              <a:t>프록시가 요청을 받아 </a:t>
            </a:r>
            <a:r>
              <a:rPr lang="en-US" altLang="ko-KR" dirty="0"/>
              <a:t>Router(</a:t>
            </a:r>
            <a:r>
              <a:rPr lang="ko-KR" altLang="en-US" dirty="0"/>
              <a:t>결정 프로세스</a:t>
            </a:r>
            <a:r>
              <a:rPr lang="en-US" altLang="ko-KR" dirty="0"/>
              <a:t>)</a:t>
            </a:r>
            <a:r>
              <a:rPr lang="ko-KR" altLang="en-US" dirty="0"/>
              <a:t>에 원격으로 물어보고</a:t>
            </a:r>
            <a:r>
              <a:rPr lang="en-US" altLang="ko-KR" dirty="0"/>
              <a:t>(②, </a:t>
            </a:r>
            <a:r>
              <a:rPr lang="ko-KR" altLang="en-US" dirty="0"/>
              <a:t>원격 호출 </a:t>
            </a:r>
            <a:r>
              <a:rPr lang="en-US" altLang="ko-KR" dirty="0"/>
              <a:t>1</a:t>
            </a:r>
            <a:r>
              <a:rPr lang="ko-KR" altLang="en-US" dirty="0"/>
              <a:t>회</a:t>
            </a:r>
            <a:r>
              <a:rPr lang="en-US" altLang="ko-KR" dirty="0"/>
              <a:t>), </a:t>
            </a:r>
            <a:r>
              <a:rPr lang="ko-KR" altLang="en-US" dirty="0"/>
              <a:t>선택된 서버 옆의 </a:t>
            </a:r>
            <a:r>
              <a:rPr lang="en-US" altLang="ko-KR" dirty="0"/>
              <a:t>P/D </a:t>
            </a:r>
            <a:r>
              <a:rPr lang="ko-KR" altLang="en-US" dirty="0"/>
              <a:t>보조 프로세스가 </a:t>
            </a:r>
            <a:r>
              <a:rPr lang="en-US" altLang="ko-KR" dirty="0"/>
              <a:t>Prefill </a:t>
            </a:r>
            <a:r>
              <a:rPr lang="ko-KR" altLang="en-US" dirty="0"/>
              <a:t>서버를 호출해 </a:t>
            </a:r>
            <a:r>
              <a:rPr lang="en-US" altLang="ko-KR" dirty="0"/>
              <a:t>P/D</a:t>
            </a:r>
            <a:r>
              <a:rPr lang="ko-KR" altLang="en-US" dirty="0"/>
              <a:t>를 조율합니다</a:t>
            </a:r>
            <a:r>
              <a:rPr lang="en-US" altLang="ko-KR" dirty="0"/>
              <a:t>. </a:t>
            </a:r>
            <a:r>
              <a:rPr lang="ko-KR" altLang="en-US" dirty="0"/>
              <a:t>노란색이 우리가 추가하는 부분</a:t>
            </a:r>
            <a:r>
              <a:rPr lang="en-US" altLang="ko-KR" dirty="0"/>
              <a:t>(P1·P2</a:t>
            </a:r>
            <a:r>
              <a:rPr lang="ko-KR" altLang="en-US" dirty="0"/>
              <a:t>는 설정</a:t>
            </a:r>
            <a:r>
              <a:rPr lang="en-US" altLang="ko-KR" dirty="0"/>
              <a:t>, P3·P4</a:t>
            </a:r>
            <a:r>
              <a:rPr lang="ko-KR" altLang="en-US" dirty="0"/>
              <a:t>는 확장 모듈</a:t>
            </a:r>
            <a:r>
              <a:rPr lang="en-US" altLang="ko-KR" dirty="0"/>
              <a:t>)</a:t>
            </a:r>
            <a:r>
              <a:rPr lang="ko-KR" altLang="en-US" dirty="0"/>
              <a:t>이고</a:t>
            </a:r>
            <a:r>
              <a:rPr lang="en-US" altLang="ko-KR" dirty="0"/>
              <a:t>, </a:t>
            </a:r>
            <a:r>
              <a:rPr lang="ko-KR" altLang="en-US" dirty="0"/>
              <a:t>빨간 테두리는 </a:t>
            </a:r>
          </a:p>
          <a:p>
            <a:r>
              <a:rPr lang="ko-KR" altLang="en-US" dirty="0"/>
              <a:t>기존 모듈을 고쳐야 하는 유일한 곳</a:t>
            </a:r>
            <a:r>
              <a:rPr lang="en-US" altLang="ko-KR" dirty="0"/>
              <a:t>(P/D </a:t>
            </a:r>
            <a:r>
              <a:rPr lang="ko-KR" altLang="en-US" dirty="0"/>
              <a:t>경로의 노드 지시</a:t>
            </a:r>
            <a:r>
              <a:rPr lang="en-US" altLang="ko-KR" dirty="0"/>
              <a:t>, P5)</a:t>
            </a:r>
            <a:r>
              <a:rPr lang="ko-KR" altLang="en-US" dirty="0"/>
              <a:t>입니다</a:t>
            </a:r>
            <a:r>
              <a:rPr lang="en-US" altLang="ko-KR" dirty="0"/>
              <a:t>.</a:t>
            </a:r>
            <a:endParaRPr lang="ko-KR" altLang="en-US" dirty="0"/>
          </a:p>
          <a:p>
            <a:endParaRPr lang="ko-KR" altLang="en-US" dirty="0"/>
          </a:p>
          <a:p>
            <a:r>
              <a:rPr lang="en-US" altLang="ko-KR" dirty="0"/>
              <a:t>2</a:t>
            </a:r>
            <a:r>
              <a:rPr lang="ko-KR" altLang="en-US" dirty="0"/>
              <a:t>안</a:t>
            </a:r>
            <a:r>
              <a:rPr lang="en-US" altLang="ko-KR" dirty="0"/>
              <a:t>(</a:t>
            </a:r>
            <a:r>
              <a:rPr lang="ko-KR" altLang="en-US" dirty="0"/>
              <a:t>오른쪽</a:t>
            </a:r>
            <a:r>
              <a:rPr lang="en-US" altLang="ko-KR" dirty="0"/>
              <a:t>)</a:t>
            </a:r>
            <a:r>
              <a:rPr lang="ko-KR" altLang="en-US" dirty="0"/>
              <a:t>은 전부 우리가 소유하는 </a:t>
            </a:r>
            <a:r>
              <a:rPr lang="ko-KR" altLang="en-US" dirty="0" err="1"/>
              <a:t>계층형</a:t>
            </a:r>
            <a:r>
              <a:rPr lang="ko-KR" altLang="en-US" dirty="0"/>
              <a:t> 구조입니다</a:t>
            </a:r>
            <a:r>
              <a:rPr lang="en-US" altLang="ko-KR" dirty="0"/>
              <a:t>. </a:t>
            </a:r>
            <a:r>
              <a:rPr lang="ko-KR" altLang="en-US" dirty="0"/>
              <a:t>한 프로세스 안에 </a:t>
            </a:r>
            <a:r>
              <a:rPr lang="en-US" altLang="ko-KR" dirty="0"/>
              <a:t>Ingress, Pipeline(Admission → </a:t>
            </a:r>
            <a:r>
              <a:rPr lang="en-US" altLang="ko-KR" dirty="0" err="1"/>
              <a:t>PolicyEngine</a:t>
            </a:r>
            <a:r>
              <a:rPr lang="ko-KR" altLang="en-US" dirty="0"/>
              <a:t> → </a:t>
            </a:r>
            <a:r>
              <a:rPr lang="en-US" altLang="ko-KR" dirty="0"/>
              <a:t>P/D </a:t>
            </a:r>
            <a:r>
              <a:rPr lang="ko-KR" altLang="en-US" dirty="0"/>
              <a:t>조율</a:t>
            </a:r>
            <a:r>
              <a:rPr lang="en-US" altLang="ko-KR" dirty="0"/>
              <a:t>), State Plane(</a:t>
            </a:r>
            <a:r>
              <a:rPr lang="ko-KR" altLang="en-US" dirty="0"/>
              <a:t>상태 저장소</a:t>
            </a:r>
            <a:r>
              <a:rPr lang="en-US" altLang="ko-KR" dirty="0"/>
              <a:t>, </a:t>
            </a:r>
            <a:r>
              <a:rPr lang="ko-KR" altLang="en-US" dirty="0"/>
              <a:t>이벤트 구독</a:t>
            </a:r>
            <a:r>
              <a:rPr lang="en-US" altLang="ko-KR" dirty="0"/>
              <a:t>, </a:t>
            </a:r>
            <a:r>
              <a:rPr lang="ko-KR" altLang="en-US" dirty="0" err="1"/>
              <a:t>메트릭</a:t>
            </a:r>
            <a:r>
              <a:rPr lang="ko-KR" altLang="en-US" dirty="0"/>
              <a:t> 수집</a:t>
            </a:r>
            <a:r>
              <a:rPr lang="en-US" altLang="ko-KR" dirty="0"/>
              <a:t>, </a:t>
            </a:r>
            <a:r>
              <a:rPr lang="ko-KR" altLang="en-US" dirty="0"/>
              <a:t>서버 등록</a:t>
            </a:r>
            <a:r>
              <a:rPr lang="en-US" altLang="ko-KR" dirty="0"/>
              <a:t>)</a:t>
            </a:r>
            <a:r>
              <a:rPr lang="ko-KR" altLang="en-US" dirty="0"/>
              <a:t>을 나눴고</a:t>
            </a:r>
            <a:r>
              <a:rPr lang="en-US" altLang="ko-KR" dirty="0"/>
              <a:t>, </a:t>
            </a:r>
            <a:r>
              <a:rPr lang="ko-KR" altLang="en-US" dirty="0"/>
              <a:t>정책은 </a:t>
            </a:r>
            <a:r>
              <a:rPr lang="en-US" altLang="ko-KR" dirty="0" err="1"/>
              <a:t>PolicyEngine</a:t>
            </a:r>
            <a:r>
              <a:rPr lang="ko-KR" altLang="en-US" dirty="0"/>
              <a:t>의 </a:t>
            </a:r>
            <a:r>
              <a:rPr lang="en-US" altLang="ko-KR" dirty="0"/>
              <a:t>SPI(P1~P3 Scorer, P4 Planner)</a:t>
            </a:r>
            <a:r>
              <a:rPr lang="ko-KR" altLang="en-US" dirty="0"/>
              <a:t>로 꽂고</a:t>
            </a:r>
            <a:r>
              <a:rPr lang="en-US" altLang="ko-KR" dirty="0"/>
              <a:t>, </a:t>
            </a:r>
            <a:r>
              <a:rPr lang="ko-KR" altLang="en-US" dirty="0"/>
              <a:t>상태는 읽기 전용 </a:t>
            </a:r>
            <a:r>
              <a:rPr lang="en-US" altLang="ko-KR" dirty="0" err="1"/>
              <a:t>StateView</a:t>
            </a:r>
            <a:r>
              <a:rPr lang="ko-KR" altLang="en-US" dirty="0"/>
              <a:t> 인터페이스로만 읽습니다</a:t>
            </a:r>
            <a:r>
              <a:rPr lang="en-US" altLang="ko-KR" dirty="0"/>
              <a:t>. </a:t>
            </a:r>
            <a:r>
              <a:rPr lang="ko-KR" altLang="en-US" dirty="0"/>
              <a:t>이전 안은 단일 프로세스</a:t>
            </a:r>
            <a:r>
              <a:rPr lang="en-US" altLang="ko-KR" dirty="0"/>
              <a:t>·</a:t>
            </a:r>
            <a:r>
              <a:rPr lang="ko-KR" altLang="en-US" dirty="0"/>
              <a:t>정적 설정의 최소 구성이어서 확장성이 일방적으로 약했는데</a:t>
            </a:r>
            <a:r>
              <a:rPr lang="en-US" altLang="ko-KR" dirty="0"/>
              <a:t>, </a:t>
            </a:r>
            <a:r>
              <a:rPr lang="ko-KR" altLang="en-US" dirty="0"/>
              <a:t>이번에는 상태를 공유하지 않는 </a:t>
            </a:r>
            <a:r>
              <a:rPr lang="ko-KR" altLang="en-US" dirty="0" err="1"/>
              <a:t>레플리카</a:t>
            </a:r>
            <a:r>
              <a:rPr lang="ko-KR" altLang="en-US" dirty="0"/>
              <a:t> 여러 개를 </a:t>
            </a:r>
            <a:r>
              <a:rPr lang="en-US" altLang="ko-KR" dirty="0"/>
              <a:t>L4 </a:t>
            </a:r>
            <a:r>
              <a:rPr lang="ko-KR" altLang="en-US" dirty="0" err="1"/>
              <a:t>로드밸런서</a:t>
            </a:r>
            <a:r>
              <a:rPr lang="ko-KR" altLang="en-US" dirty="0"/>
              <a:t> 뒤에 두고 </a:t>
            </a:r>
            <a:r>
              <a:rPr lang="en-US" altLang="ko-KR" dirty="0" err="1"/>
              <a:t>etcd</a:t>
            </a:r>
            <a:r>
              <a:rPr lang="ko-KR" altLang="en-US" dirty="0"/>
              <a:t>로 서버를 등록하는 구성으로 같은 노력 수준에서 비교합니다</a:t>
            </a:r>
            <a:r>
              <a:rPr lang="en-US" altLang="ko-KR" dirty="0"/>
              <a:t>. </a:t>
            </a:r>
            <a:r>
              <a:rPr lang="ko-KR" altLang="en-US" dirty="0"/>
              <a:t>구현은 되어 있지 않은 </a:t>
            </a:r>
            <a:r>
              <a:rPr lang="ko-KR" altLang="en-US" dirty="0" err="1"/>
              <a:t>설계안입니다</a:t>
            </a:r>
            <a:r>
              <a:rPr lang="en-US" altLang="ko-KR" dirty="0"/>
              <a:t>.</a:t>
            </a:r>
            <a:endParaRPr lang="ko-KR" altLang="en-US" dirty="0"/>
          </a:p>
          <a:p>
            <a:endParaRPr lang="ko-KR" altLang="en-US" dirty="0"/>
          </a:p>
          <a:p>
            <a:r>
              <a:rPr lang="en-US" altLang="ko-KR" dirty="0"/>
              <a:t>P5 </a:t>
            </a:r>
            <a:r>
              <a:rPr lang="ko-KR" altLang="en-US" dirty="0"/>
              <a:t>범위</a:t>
            </a:r>
            <a:r>
              <a:rPr lang="en-US" altLang="ko-KR" dirty="0"/>
              <a:t>: </a:t>
            </a:r>
            <a:r>
              <a:rPr lang="ko-KR" altLang="en-US" dirty="0"/>
              <a:t>도식의 </a:t>
            </a:r>
            <a:r>
              <a:rPr lang="en-US" altLang="ko-KR" dirty="0"/>
              <a:t>P5</a:t>
            </a:r>
            <a:r>
              <a:rPr lang="ko-KR" altLang="en-US" dirty="0"/>
              <a:t>는 지시의 송신</a:t>
            </a:r>
            <a:r>
              <a:rPr lang="en-US" altLang="ko-KR" dirty="0"/>
              <a:t>(</a:t>
            </a:r>
            <a:r>
              <a:rPr lang="ko-KR" altLang="en-US" dirty="0"/>
              <a:t>오케스트레이션</a:t>
            </a:r>
            <a:r>
              <a:rPr lang="en-US" altLang="ko-KR" dirty="0"/>
              <a:t>)</a:t>
            </a:r>
            <a:r>
              <a:rPr lang="ko-KR" altLang="en-US" dirty="0"/>
              <a:t>입니다</a:t>
            </a:r>
            <a:r>
              <a:rPr lang="en-US" altLang="ko-KR" dirty="0"/>
              <a:t>. </a:t>
            </a:r>
            <a:r>
              <a:rPr lang="ko-KR" altLang="en-US" dirty="0"/>
              <a:t>지시를 받아 실행하는 쪽은 </a:t>
            </a:r>
            <a:r>
              <a:rPr lang="en-US" altLang="ko-KR" dirty="0" err="1"/>
              <a:t>vLLM</a:t>
            </a:r>
            <a:r>
              <a:rPr lang="en-US" altLang="ko-KR" dirty="0"/>
              <a:t>(</a:t>
            </a:r>
            <a:r>
              <a:rPr lang="ko-KR" altLang="en-US" dirty="0"/>
              <a:t>엔진</a:t>
            </a:r>
            <a:r>
              <a:rPr lang="en-US" altLang="ko-KR" dirty="0"/>
              <a:t>)</a:t>
            </a:r>
            <a:r>
              <a:rPr lang="ko-KR" altLang="en-US" dirty="0"/>
              <a:t>이고 두 안 공통 선결이며</a:t>
            </a:r>
            <a:r>
              <a:rPr lang="en-US" altLang="ko-KR" dirty="0"/>
              <a:t>, P/D </a:t>
            </a:r>
            <a:r>
              <a:rPr lang="ko-KR" altLang="en-US" dirty="0"/>
              <a:t>보조 프로세스는 엔진이 아니라 오케스트레이션 소프트웨어입니다</a:t>
            </a:r>
            <a:r>
              <a:rPr lang="en-US" altLang="ko-KR" dirty="0"/>
              <a:t>.</a:t>
            </a:r>
          </a:p>
          <a:p>
            <a:r>
              <a:rPr lang="ko-KR" altLang="en-US" dirty="0"/>
              <a:t>후보 </a:t>
            </a:r>
            <a:r>
              <a:rPr lang="en-US" altLang="ko-KR" dirty="0"/>
              <a:t>2</a:t>
            </a:r>
            <a:r>
              <a:rPr lang="ko-KR" altLang="en-US" dirty="0"/>
              <a:t>가 한 프로세스인 이유</a:t>
            </a:r>
            <a:r>
              <a:rPr lang="en-US" altLang="ko-KR" dirty="0"/>
              <a:t>: </a:t>
            </a:r>
            <a:r>
              <a:rPr lang="ko-KR" altLang="en-US" dirty="0"/>
              <a:t>우리에게 필요한 것은 요청 </a:t>
            </a:r>
            <a:r>
              <a:rPr lang="ko-KR" altLang="en-US" dirty="0" err="1"/>
              <a:t>파싱</a:t>
            </a:r>
            <a:r>
              <a:rPr lang="en-US" altLang="ko-KR" dirty="0"/>
              <a:t>, </a:t>
            </a:r>
            <a:r>
              <a:rPr lang="ko-KR" altLang="en-US" dirty="0"/>
              <a:t>서버 선택</a:t>
            </a:r>
            <a:r>
              <a:rPr lang="en-US" altLang="ko-KR" dirty="0"/>
              <a:t>, P/D </a:t>
            </a:r>
            <a:r>
              <a:rPr lang="ko-KR" altLang="en-US" dirty="0"/>
              <a:t>조율</a:t>
            </a:r>
            <a:r>
              <a:rPr lang="en-US" altLang="ko-KR" dirty="0"/>
              <a:t>, </a:t>
            </a:r>
            <a:r>
              <a:rPr lang="ko-KR" altLang="en-US" dirty="0"/>
              <a:t>토큰 스트림 중계 같은 </a:t>
            </a:r>
            <a:r>
              <a:rPr lang="en-US" altLang="ko-KR" dirty="0"/>
              <a:t>LLM </a:t>
            </a:r>
            <a:r>
              <a:rPr lang="ko-KR" altLang="en-US" dirty="0"/>
              <a:t>전용 </a:t>
            </a:r>
            <a:r>
              <a:rPr lang="ko-KR" altLang="en-US" dirty="0" err="1"/>
              <a:t>기능뿐이고</a:t>
            </a:r>
            <a:r>
              <a:rPr lang="ko-KR" altLang="en-US" dirty="0"/>
              <a:t> 인증</a:t>
            </a:r>
            <a:r>
              <a:rPr lang="en-US" altLang="ko-KR" dirty="0"/>
              <a:t>·</a:t>
            </a:r>
            <a:r>
              <a:rPr lang="ko-KR" altLang="en-US" dirty="0"/>
              <a:t>다중 프로토콜 같은 범용 프록시 기능은 필요하지 않습니다</a:t>
            </a:r>
            <a:r>
              <a:rPr lang="en-US" altLang="ko-KR" dirty="0"/>
              <a:t>. </a:t>
            </a:r>
            <a:r>
              <a:rPr lang="ko-KR" altLang="en-US" dirty="0"/>
              <a:t>그래서 프록시와 결정 </a:t>
            </a:r>
            <a:r>
              <a:rPr lang="ko-KR" altLang="en-US" dirty="0" err="1"/>
              <a:t>로직을</a:t>
            </a:r>
            <a:r>
              <a:rPr lang="ko-KR" altLang="en-US" dirty="0"/>
              <a:t> 나눌 이유가 없고</a:t>
            </a:r>
            <a:r>
              <a:rPr lang="en-US" altLang="ko-KR" dirty="0"/>
              <a:t>, </a:t>
            </a:r>
            <a:r>
              <a:rPr lang="ko-KR" altLang="en-US" dirty="0"/>
              <a:t>합쳐서 원격 호출 </a:t>
            </a:r>
            <a:r>
              <a:rPr lang="en-US" altLang="ko-KR" dirty="0"/>
              <a:t>1</a:t>
            </a:r>
            <a:r>
              <a:rPr lang="ko-KR" altLang="en-US" dirty="0"/>
              <a:t>회를 없앱니다</a:t>
            </a:r>
            <a:r>
              <a:rPr lang="en-US" altLang="ko-KR" dirty="0"/>
              <a:t>(</a:t>
            </a:r>
            <a:r>
              <a:rPr lang="ko-KR" altLang="en-US" dirty="0"/>
              <a:t>범용 기능이 나중에 필요하면 </a:t>
            </a:r>
            <a:r>
              <a:rPr lang="ko-KR" altLang="en-US" dirty="0" err="1"/>
              <a:t>앞단</a:t>
            </a:r>
            <a:r>
              <a:rPr lang="ko-KR" altLang="en-US" dirty="0"/>
              <a:t> </a:t>
            </a:r>
            <a:r>
              <a:rPr lang="ko-KR" altLang="en-US" dirty="0" err="1"/>
              <a:t>로드밸런서에</a:t>
            </a:r>
            <a:r>
              <a:rPr lang="ko-KR" altLang="en-US" dirty="0"/>
              <a:t> 맡깁니다</a:t>
            </a:r>
            <a:r>
              <a:rPr lang="en-US" altLang="ko-KR" dirty="0"/>
              <a:t>).</a:t>
            </a:r>
          </a:p>
          <a:p>
            <a:r>
              <a:rPr lang="ko-KR" altLang="en-US" dirty="0"/>
              <a:t>아래 표의 </a:t>
            </a:r>
            <a:r>
              <a:rPr lang="en-US" altLang="ko-KR" dirty="0"/>
              <a:t>D1~D3</a:t>
            </a:r>
            <a:r>
              <a:rPr lang="ko-KR" altLang="en-US" dirty="0"/>
              <a:t>이 두 안을 가르는 세 가지 설계 결정입니다</a:t>
            </a:r>
            <a:r>
              <a:rPr lang="en-US" altLang="ko-KR" dirty="0"/>
              <a:t>: </a:t>
            </a:r>
            <a:r>
              <a:rPr lang="ko-KR" altLang="en-US" dirty="0"/>
              <a:t>결정을 어디서 하는가</a:t>
            </a:r>
            <a:r>
              <a:rPr lang="en-US" altLang="ko-KR" dirty="0"/>
              <a:t>, P/D </a:t>
            </a:r>
            <a:r>
              <a:rPr lang="ko-KR" altLang="en-US" dirty="0"/>
              <a:t>조율을 어디서 하는가</a:t>
            </a:r>
            <a:r>
              <a:rPr lang="en-US" altLang="ko-KR" dirty="0"/>
              <a:t>, </a:t>
            </a:r>
            <a:r>
              <a:rPr lang="ko-KR" altLang="en-US" dirty="0"/>
              <a:t>기능을 누가 소유하는가</a:t>
            </a:r>
            <a:r>
              <a:rPr lang="en-US" altLang="ko-KR" dirty="0"/>
              <a:t>. </a:t>
            </a:r>
            <a:r>
              <a:rPr lang="ko-KR" altLang="en-US" dirty="0"/>
              <a:t>다음 장에서 이 결정들이 품질 속성을 어떻게 맞바꾸는지 봅니다</a:t>
            </a:r>
            <a:r>
              <a:rPr lang="en-US" altLang="ko-KR" dirty="0"/>
              <a:t>.</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10</a:t>
            </a:fld>
            <a:endParaRPr lang="ko-KR" altLang="en-US"/>
          </a:p>
        </p:txBody>
      </p:sp>
    </p:spTree>
    <p:extLst>
      <p:ext uri="{BB962C8B-B14F-4D97-AF65-F5344CB8AC3E}">
        <p14:creationId xmlns:p14="http://schemas.microsoft.com/office/powerpoint/2010/main" val="11754133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5F56981-8A65-4F3E-9859-015D93710B04}" type="slidenum">
              <a:rPr lang="ko-KR" altLang="en-US" smtClean="0"/>
              <a:t>31</a:t>
            </a:fld>
            <a:endParaRPr lang="ko-KR" altLang="en-US"/>
          </a:p>
        </p:txBody>
      </p:sp>
    </p:spTree>
    <p:extLst>
      <p:ext uri="{BB962C8B-B14F-4D97-AF65-F5344CB8AC3E}">
        <p14:creationId xmlns:p14="http://schemas.microsoft.com/office/powerpoint/2010/main" val="574638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2C38C75-2370-4255-83C5-EB39B0D78E37}"/>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41F8BF4-0CB1-4523-B832-82AC56AD144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33000692-F34E-4EFD-BCC7-052CB2CAB6D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2D7DCC88-B19D-41F1-B755-E7E84A13669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F276166-7FDD-4605-862A-3884EF7D3F26}"/>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13836764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EE5874-585E-471A-9EAD-8D3978804A3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8A27AFD4-F8B5-4C07-BDAE-3E7ED750852E}"/>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060B020-0025-4A5C-8C80-EA39621E2311}"/>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375F8139-0A6C-4C14-90EF-2CBD0B93689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34DC050-DDBA-4926-BCEF-3F0DF9E9D97F}"/>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5149707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CFBE617-4C62-4933-96B7-91E4A29F1216}"/>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4B1EFF1F-80E0-41D2-B26A-DE9E06F7CAC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02B49B39-08AD-4197-9FB3-05C1D03FDA29}"/>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4B5D6156-1430-42DE-9A4B-68544D866B1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850ABFB-54DD-4BA7-A2DD-DDAAD7CFDE1D}"/>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5584651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021811B-EE79-4866-AF9F-BF1DBFBC013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602008AE-224C-4F1E-BF7F-BBF6056122ED}"/>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A55E2C1D-2620-4D04-98B4-0A65F2352FAB}"/>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883BC29F-4234-4E86-9FDC-08E599DC2253}"/>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6" name="바닥글 개체 틀 5">
            <a:extLst>
              <a:ext uri="{FF2B5EF4-FFF2-40B4-BE49-F238E27FC236}">
                <a16:creationId xmlns:a16="http://schemas.microsoft.com/office/drawing/2014/main" id="{4B5EC005-6193-42EC-8343-C3975BEF4C0B}"/>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B03A499E-F42C-4AC3-AFBB-AAEC1D82EAE9}"/>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5460232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88B7A2-86D8-4743-957F-B2EEA5357624}"/>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910F4619-BEE4-4664-8AB7-DCB766ECF0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C1CFE3F1-3AED-4417-AAD7-AB28AFBDB850}"/>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23AA6966-3F86-4B65-9BE1-8B895658DB5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69498CF2-ABA0-4CCD-A23C-3026BAED9D57}"/>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7AF05257-AA34-496A-8D38-27A17BEF570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8" name="바닥글 개체 틀 7">
            <a:extLst>
              <a:ext uri="{FF2B5EF4-FFF2-40B4-BE49-F238E27FC236}">
                <a16:creationId xmlns:a16="http://schemas.microsoft.com/office/drawing/2014/main" id="{F7B91E20-B700-4708-AF09-BC75C64ACCFD}"/>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0ED6F5E9-8FF0-4A09-8AB3-169C2AE5A018}"/>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2621043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F770CB9-7FC6-463B-BF9B-951A74C421E3}"/>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D105421B-DAD8-42C1-B304-F0B9D02D0AF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4" name="바닥글 개체 틀 3">
            <a:extLst>
              <a:ext uri="{FF2B5EF4-FFF2-40B4-BE49-F238E27FC236}">
                <a16:creationId xmlns:a16="http://schemas.microsoft.com/office/drawing/2014/main" id="{EA32BA02-AA6C-42AC-B152-1542FD331995}"/>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2691211-3CF1-4585-9578-7E7CCD679A3A}"/>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479762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77D200AF-5DA4-46E7-B773-6B61E676FB7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3" name="바닥글 개체 틀 2">
            <a:extLst>
              <a:ext uri="{FF2B5EF4-FFF2-40B4-BE49-F238E27FC236}">
                <a16:creationId xmlns:a16="http://schemas.microsoft.com/office/drawing/2014/main" id="{8F04ACBA-2479-45DF-B192-54A4575E154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DF4DA6F5-5916-4804-B8BF-72CA6BFC1544}"/>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25737076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DD6B54-1C49-493E-8E21-48617D4CA38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766D4217-3BDC-446D-A389-4BA41961DE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34066F60-B411-4BCB-A994-AFE2087E01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98BE5DA6-3D1D-4EE7-8F7D-B0129C5A7881}"/>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6" name="바닥글 개체 틀 5">
            <a:extLst>
              <a:ext uri="{FF2B5EF4-FFF2-40B4-BE49-F238E27FC236}">
                <a16:creationId xmlns:a16="http://schemas.microsoft.com/office/drawing/2014/main" id="{58F038F0-D28A-4990-B66D-1A64D69FE96D}"/>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B0DF4170-6986-4496-896D-2ADEC9CC0D09}"/>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1315600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2B5B0A-D96E-48E4-B526-B611768A466B}"/>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B5509AA6-0B82-4D55-BD65-2746110C205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ADC8CAD-2D92-4BC2-AC54-A2EEBEADDA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53E0DC8-CC9B-4746-8AAA-B2306B1B13BC}"/>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6" name="바닥글 개체 틀 5">
            <a:extLst>
              <a:ext uri="{FF2B5EF4-FFF2-40B4-BE49-F238E27FC236}">
                <a16:creationId xmlns:a16="http://schemas.microsoft.com/office/drawing/2014/main" id="{2899F0A1-0112-4342-865E-DC7CEB60B12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722D419-3447-483B-A025-9A9B0E74C5F4}"/>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2698032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F2B754-E411-41A2-84A8-7A39034E61EA}"/>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59E90342-4DDF-4BFA-AF1E-49E124441F96}"/>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0B74705-3C7F-433B-80F6-3A8648A35F9A}"/>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C1AFDD0E-1828-411F-86F0-F7F376A9564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1BD2CB6-21BA-4195-9017-14AA8FA1ADB6}"/>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756624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B21B73AB-4073-4F12-9CD6-527C125010A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0F1AE0C5-E4AE-442F-9F38-2E2576A15AB4}"/>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E9E0BE2F-CF01-4866-8C5C-1D6F8A127BE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C028B638-61A4-43A1-87DB-5E3A0495420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42670F1-0919-41A4-9D85-6BD8F6F28D87}"/>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10397170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사용자 지정 레이아웃">
    <p:spTree>
      <p:nvGrpSpPr>
        <p:cNvPr id="1" name=""/>
        <p:cNvGrpSpPr/>
        <p:nvPr/>
      </p:nvGrpSpPr>
      <p:grpSpPr>
        <a:xfrm>
          <a:off x="0" y="0"/>
          <a:ext cx="0" cy="0"/>
          <a:chOff x="0" y="0"/>
          <a:chExt cx="0" cy="0"/>
        </a:xfrm>
      </p:grpSpPr>
      <p:cxnSp>
        <p:nvCxnSpPr>
          <p:cNvPr id="6" name="직선 연결선 5"/>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184150" y="145018"/>
            <a:ext cx="6762750" cy="369332"/>
          </a:xfrm>
          <a:prstGeom prst="rect">
            <a:avLst/>
          </a:prstGeom>
          <a:noFill/>
        </p:spPr>
        <p:txBody>
          <a:bodyPr wrap="square" rtlCol="0">
            <a:spAutoFit/>
          </a:bodyPr>
          <a:lstStyle/>
          <a:p>
            <a:r>
              <a:rPr lang="en-US" altLang="ko-KR" b="1" dirty="0"/>
              <a:t>CONTENTS</a:t>
            </a:r>
            <a:endParaRPr lang="ko-KR" altLang="en-US" b="1" dirty="0"/>
          </a:p>
        </p:txBody>
      </p:sp>
      <p:cxnSp>
        <p:nvCxnSpPr>
          <p:cNvPr id="9" name="직선 연결선 8"/>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Tree>
    <p:extLst>
      <p:ext uri="{BB962C8B-B14F-4D97-AF65-F5344CB8AC3E}">
        <p14:creationId xmlns:p14="http://schemas.microsoft.com/office/powerpoint/2010/main" val="18698915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1945742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709225D-0C02-485C-955E-4F30D09376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C9083E9F-0D73-4382-9C5B-4FC35F5718F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763E810-9FD3-4921-B3F3-A8EA698D67D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C9E59F47-D754-464A-B041-2E3BB3D7C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6D95A9B-BD61-41B8-A729-103C2C66A5A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5594928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slide" Target="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slide" Target="slide3.xml"/><Relationship Id="rId4" Type="http://schemas.openxmlformats.org/officeDocument/2006/relationships/slide" Target="slide2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slide" Target="slide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전체 </a:t>
            </a:r>
            <a:r>
              <a:rPr lang="en-US" altLang="ko-KR" dirty="0"/>
              <a:t>DP </a:t>
            </a:r>
            <a:r>
              <a:rPr lang="ko-KR" altLang="en-US" dirty="0"/>
              <a:t>별 </a:t>
            </a:r>
            <a:r>
              <a:rPr lang="en-US" altLang="ko-KR" dirty="0"/>
              <a:t>QA</a:t>
            </a:r>
            <a:endParaRPr lang="ko-KR" altLang="en-US" dirty="0"/>
          </a:p>
        </p:txBody>
      </p:sp>
      <p:graphicFrame>
        <p:nvGraphicFramePr>
          <p:cNvPr id="3" name="표 2"/>
          <p:cNvGraphicFramePr>
            <a:graphicFrameLocks noGrp="1"/>
          </p:cNvGraphicFramePr>
          <p:nvPr>
            <p:extLst>
              <p:ext uri="{D42A27DB-BD31-4B8C-83A1-F6EECF244321}">
                <p14:modId xmlns:p14="http://schemas.microsoft.com/office/powerpoint/2010/main" val="2329598962"/>
              </p:ext>
            </p:extLst>
          </p:nvPr>
        </p:nvGraphicFramePr>
        <p:xfrm>
          <a:off x="970030" y="829372"/>
          <a:ext cx="10504660" cy="3113978"/>
        </p:xfrm>
        <a:graphic>
          <a:graphicData uri="http://schemas.openxmlformats.org/drawingml/2006/table">
            <a:tbl>
              <a:tblPr firstRow="1" bandRow="1">
                <a:tableStyleId>{5C22544A-7EE6-4342-B048-85BDC9FD1C3A}</a:tableStyleId>
              </a:tblPr>
              <a:tblGrid>
                <a:gridCol w="891292">
                  <a:extLst>
                    <a:ext uri="{9D8B030D-6E8A-4147-A177-3AD203B41FA5}">
                      <a16:colId xmlns:a16="http://schemas.microsoft.com/office/drawing/2014/main" val="608747143"/>
                    </a:ext>
                  </a:extLst>
                </a:gridCol>
                <a:gridCol w="2403342">
                  <a:extLst>
                    <a:ext uri="{9D8B030D-6E8A-4147-A177-3AD203B41FA5}">
                      <a16:colId xmlns:a16="http://schemas.microsoft.com/office/drawing/2014/main" val="3801349448"/>
                    </a:ext>
                  </a:extLst>
                </a:gridCol>
                <a:gridCol w="2403342">
                  <a:extLst>
                    <a:ext uri="{9D8B030D-6E8A-4147-A177-3AD203B41FA5}">
                      <a16:colId xmlns:a16="http://schemas.microsoft.com/office/drawing/2014/main" val="39305247"/>
                    </a:ext>
                  </a:extLst>
                </a:gridCol>
                <a:gridCol w="2403342">
                  <a:extLst>
                    <a:ext uri="{9D8B030D-6E8A-4147-A177-3AD203B41FA5}">
                      <a16:colId xmlns:a16="http://schemas.microsoft.com/office/drawing/2014/main" val="1206807920"/>
                    </a:ext>
                  </a:extLst>
                </a:gridCol>
                <a:gridCol w="2403342">
                  <a:extLst>
                    <a:ext uri="{9D8B030D-6E8A-4147-A177-3AD203B41FA5}">
                      <a16:colId xmlns:a16="http://schemas.microsoft.com/office/drawing/2014/main" val="1743668983"/>
                    </a:ext>
                  </a:extLst>
                </a:gridCol>
              </a:tblGrid>
              <a:tr h="567924">
                <a:tc>
                  <a:txBody>
                    <a:bodyPr/>
                    <a:lstStyle/>
                    <a:p>
                      <a:pPr marL="0" lvl="0" algn="l" defTabSz="914400" rtl="0" eaLnBrk="1" latinLnBrk="1" hangingPunct="1"/>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DP1. </a:t>
                      </a:r>
                      <a:r>
                        <a:rPr lang="ko-KR" altLang="en-US" sz="1200" strike="noStrike" kern="1200" dirty="0">
                          <a:solidFill>
                            <a:prstClr val="black"/>
                          </a:solidFill>
                          <a:latin typeface="+mn-lt"/>
                          <a:ea typeface="+mn-ea"/>
                          <a:cs typeface="+mn-cs"/>
                        </a:rPr>
                        <a:t>이기종 메모리 기반 </a:t>
                      </a:r>
                      <a:r>
                        <a:rPr lang="en-US" altLang="ko-KR" sz="1200" strike="noStrike" kern="1200" dirty="0">
                          <a:solidFill>
                            <a:srgbClr val="0066FF"/>
                          </a:solidFill>
                          <a:latin typeface="+mn-lt"/>
                          <a:ea typeface="+mn-ea"/>
                          <a:cs typeface="+mn-cs"/>
                        </a:rPr>
                        <a:t>AI </a:t>
                      </a:r>
                      <a:r>
                        <a:rPr lang="ko-KR" altLang="en-US" sz="1200" strike="noStrike" kern="1200" dirty="0">
                          <a:solidFill>
                            <a:srgbClr val="0066FF"/>
                          </a:solidFill>
                          <a:latin typeface="+mn-lt"/>
                          <a:ea typeface="+mn-ea"/>
                          <a:cs typeface="+mn-cs"/>
                        </a:rPr>
                        <a:t>데이터 배치 구조</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DP2. </a:t>
                      </a:r>
                      <a:r>
                        <a:rPr lang="ko-KR" altLang="en-US" sz="1200" strike="noStrike" kern="1200" dirty="0">
                          <a:solidFill>
                            <a:prstClr val="black"/>
                          </a:solidFill>
                          <a:latin typeface="+mn-lt"/>
                          <a:ea typeface="+mn-ea"/>
                          <a:cs typeface="+mn-cs"/>
                        </a:rPr>
                        <a:t>이기종 메모리 기반 </a:t>
                      </a:r>
                      <a:r>
                        <a:rPr lang="ko-KR" altLang="en-US" sz="1200" strike="noStrike" kern="1200" dirty="0">
                          <a:solidFill>
                            <a:srgbClr val="0066FF"/>
                          </a:solidFill>
                          <a:latin typeface="+mn-lt"/>
                          <a:ea typeface="+mn-ea"/>
                          <a:cs typeface="+mn-cs"/>
                        </a:rPr>
                        <a:t>연산</a:t>
                      </a:r>
                      <a:r>
                        <a:rPr lang="en-US" altLang="ko-KR" sz="1200" strike="noStrike" kern="1200" dirty="0">
                          <a:solidFill>
                            <a:srgbClr val="0066FF"/>
                          </a:solidFill>
                          <a:latin typeface="+mn-lt"/>
                          <a:ea typeface="+mn-ea"/>
                          <a:cs typeface="+mn-cs"/>
                        </a:rPr>
                        <a:t>(Prefill/Decode)</a:t>
                      </a:r>
                      <a:r>
                        <a:rPr lang="en-US" altLang="ko-KR" sz="1200" strike="noStrike" kern="1200" baseline="0" dirty="0">
                          <a:solidFill>
                            <a:srgbClr val="0066FF"/>
                          </a:solidFill>
                          <a:latin typeface="+mn-lt"/>
                          <a:ea typeface="+mn-ea"/>
                          <a:cs typeface="+mn-cs"/>
                        </a:rPr>
                        <a:t> </a:t>
                      </a:r>
                      <a:r>
                        <a:rPr lang="ko-KR" altLang="en-US" sz="1200" strike="noStrike" kern="1200" dirty="0">
                          <a:solidFill>
                            <a:srgbClr val="0066FF"/>
                          </a:solidFill>
                          <a:latin typeface="+mn-lt"/>
                          <a:ea typeface="+mn-ea"/>
                          <a:cs typeface="+mn-cs"/>
                        </a:rPr>
                        <a:t>실행 구조</a:t>
                      </a:r>
                      <a:r>
                        <a:rPr lang="ko-KR" altLang="en-US" sz="1200" strike="noStrike" kern="1200" dirty="0">
                          <a:solidFill>
                            <a:prstClr val="black"/>
                          </a:solidFill>
                          <a:latin typeface="+mn-lt"/>
                          <a:ea typeface="+mn-ea"/>
                          <a:cs typeface="+mn-cs"/>
                        </a:rPr>
                        <a:t> </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DP3. Long Context</a:t>
                      </a:r>
                      <a:r>
                        <a:rPr lang="ko-KR" altLang="en-US" sz="1200" strike="noStrike" kern="1200" dirty="0">
                          <a:solidFill>
                            <a:prstClr val="black"/>
                          </a:solidFill>
                          <a:latin typeface="+mn-lt"/>
                          <a:ea typeface="+mn-ea"/>
                          <a:cs typeface="+mn-cs"/>
                        </a:rPr>
                        <a:t>를 위한</a:t>
                      </a:r>
                      <a:r>
                        <a:rPr lang="en-US" altLang="ko-KR" sz="1200" strike="noStrike" kern="1200" dirty="0">
                          <a:solidFill>
                            <a:prstClr val="black"/>
                          </a:solidFill>
                          <a:latin typeface="+mn-lt"/>
                          <a:ea typeface="+mn-ea"/>
                          <a:cs typeface="+mn-cs"/>
                        </a:rPr>
                        <a:t> </a:t>
                      </a:r>
                      <a:r>
                        <a:rPr lang="en-US" altLang="ko-KR" sz="1200" strike="noStrike" kern="1200" dirty="0">
                          <a:solidFill>
                            <a:srgbClr val="0066FF"/>
                          </a:solidFill>
                          <a:latin typeface="+mn-lt"/>
                          <a:ea typeface="+mn-ea"/>
                          <a:cs typeface="+mn-cs"/>
                        </a:rPr>
                        <a:t>KV Eviction &amp; Reuse</a:t>
                      </a:r>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DP4. </a:t>
                      </a:r>
                      <a:r>
                        <a:rPr lang="ko-KR" altLang="en-US" sz="1200" strike="noStrike" kern="1200" dirty="0">
                          <a:solidFill>
                            <a:prstClr val="black"/>
                          </a:solidFill>
                          <a:latin typeface="+mn-lt"/>
                          <a:ea typeface="+mn-ea"/>
                          <a:cs typeface="+mn-cs"/>
                        </a:rPr>
                        <a:t>이기종 메모리 기반 </a:t>
                      </a:r>
                      <a:r>
                        <a:rPr lang="ko-KR" altLang="en-US" sz="1200" b="1" strike="noStrike" kern="1200" dirty="0">
                          <a:solidFill>
                            <a:srgbClr val="0066FF"/>
                          </a:solidFill>
                          <a:latin typeface="+mn-lt"/>
                          <a:ea typeface="+mn-ea"/>
                          <a:cs typeface="+mn-cs"/>
                        </a:rPr>
                        <a:t>다중 서버 간 요청 조율 구조 </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28147719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QA1</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878437173"/>
                  </a:ext>
                </a:extLst>
              </a:tr>
              <a:tr h="567924">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QA2</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 </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Performance latency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1043688"/>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QA3</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52968242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QA4</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508445013"/>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QA5</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Functional Correctness (Accuracy)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823768170"/>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QA6</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Scalability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315425974"/>
                  </a:ext>
                </a:extLst>
              </a:tr>
            </a:tbl>
          </a:graphicData>
        </a:graphic>
      </p:graphicFrame>
    </p:spTree>
    <p:extLst>
      <p:ext uri="{BB962C8B-B14F-4D97-AF65-F5344CB8AC3E}">
        <p14:creationId xmlns:p14="http://schemas.microsoft.com/office/powerpoint/2010/main" val="13162547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DP1</a:t>
            </a:r>
            <a:endParaRPr lang="ko-KR" altLang="en-US" sz="16600" b="1" dirty="0"/>
          </a:p>
        </p:txBody>
      </p:sp>
    </p:spTree>
    <p:extLst>
      <p:ext uri="{BB962C8B-B14F-4D97-AF65-F5344CB8AC3E}">
        <p14:creationId xmlns:p14="http://schemas.microsoft.com/office/powerpoint/2010/main" val="25859306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33151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206272">
                  <a:extLst>
                    <a:ext uri="{9D8B030D-6E8A-4147-A177-3AD203B41FA5}">
                      <a16:colId xmlns:a16="http://schemas.microsoft.com/office/drawing/2014/main" val="5654497"/>
                    </a:ext>
                  </a:extLst>
                </a:gridCol>
                <a:gridCol w="2229782">
                  <a:extLst>
                    <a:ext uri="{9D8B030D-6E8A-4147-A177-3AD203B41FA5}">
                      <a16:colId xmlns:a16="http://schemas.microsoft.com/office/drawing/2014/main" val="2953438935"/>
                    </a:ext>
                  </a:extLst>
                </a:gridCol>
                <a:gridCol w="3389968">
                  <a:extLst>
                    <a:ext uri="{9D8B030D-6E8A-4147-A177-3AD203B41FA5}">
                      <a16:colId xmlns:a16="http://schemas.microsoft.com/office/drawing/2014/main" val="3070054508"/>
                    </a:ext>
                  </a:extLst>
                </a:gridCol>
                <a:gridCol w="204608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a:t>
                      </a:r>
                      <a:r>
                        <a:rPr lang="en-US" altLang="ko-KR" sz="1200" b="1" strike="noStrike" baseline="0" dirty="0"/>
                        <a:t> </a:t>
                      </a:r>
                      <a:r>
                        <a:rPr lang="ko-KR" altLang="en-US" sz="1200" b="1" strike="noStrike" baseline="0" dirty="0"/>
                        <a:t>자원 상태 기반 이동 </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ko-KR" altLang="en-US" sz="1200" b="1" strike="noStrike" baseline="0" dirty="0"/>
                        <a:t>특성 기반 이동 </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낮은 </a:t>
                      </a:r>
                      <a:r>
                        <a:rPr lang="en-US" altLang="ko-KR" sz="1200" strike="noStrike" kern="1200" baseline="0" dirty="0">
                          <a:solidFill>
                            <a:schemeClr val="tx1"/>
                          </a:solidFill>
                          <a:effectLst/>
                          <a:latin typeface="+mn-lt"/>
                          <a:ea typeface="+mn-ea"/>
                          <a:cs typeface="+mn-cs"/>
                        </a:rPr>
                        <a:t>Decision overhead </a:t>
                      </a:r>
                      <a:r>
                        <a:rPr lang="ko-KR" altLang="en-US" sz="1200" strike="noStrike" kern="1200" baseline="0" dirty="0">
                          <a:solidFill>
                            <a:schemeClr val="tx1"/>
                          </a:solidFill>
                          <a:effectLst/>
                          <a:latin typeface="+mn-lt"/>
                          <a:ea typeface="+mn-ea"/>
                          <a:cs typeface="+mn-cs"/>
                        </a:rPr>
                        <a:t>및 </a:t>
                      </a: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전체 메모리</a:t>
                      </a:r>
                      <a:r>
                        <a:rPr lang="en-US" altLang="ko-KR" sz="1200" strike="noStrike" kern="1200" baseline="0" dirty="0">
                          <a:solidFill>
                            <a:schemeClr val="tx1"/>
                          </a:solidFill>
                          <a:effectLst/>
                          <a:latin typeface="+mn-lt"/>
                          <a:ea typeface="+mn-ea"/>
                          <a:cs typeface="+mn-cs"/>
                        </a:rPr>
                        <a:t> Pool</a:t>
                      </a:r>
                      <a:r>
                        <a:rPr lang="ko-KR" altLang="en-US" sz="1200" strike="noStrike" kern="1200" baseline="0" dirty="0">
                          <a:solidFill>
                            <a:schemeClr val="tx1"/>
                          </a:solidFill>
                          <a:effectLst/>
                          <a:latin typeface="+mn-lt"/>
                          <a:ea typeface="+mn-ea"/>
                          <a:cs typeface="+mn-cs"/>
                        </a:rPr>
                        <a:t>의 </a:t>
                      </a:r>
                      <a:r>
                        <a:rPr lang="en-US" altLang="ko-KR" sz="1200" strike="noStrike" kern="1200" baseline="0" dirty="0">
                          <a:solidFill>
                            <a:schemeClr val="tx1"/>
                          </a:solidFill>
                          <a:effectLst/>
                          <a:latin typeface="+mn-lt"/>
                          <a:ea typeface="+mn-ea"/>
                          <a:cs typeface="+mn-cs"/>
                        </a:rPr>
                        <a:t>Utilization </a:t>
                      </a:r>
                      <a:r>
                        <a:rPr lang="ko-KR" altLang="en-US" sz="1200" strike="noStrike" kern="1200" baseline="0" dirty="0">
                          <a:solidFill>
                            <a:schemeClr val="tx1"/>
                          </a:solidFill>
                          <a:effectLst/>
                          <a:latin typeface="+mn-lt"/>
                          <a:ea typeface="+mn-ea"/>
                          <a:cs typeface="+mn-cs"/>
                        </a:rPr>
                        <a:t>관리에 유리 </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a:t>
                      </a:r>
                      <a:r>
                        <a:rPr lang="ko-KR" altLang="en-US" sz="1200" strike="noStrike" dirty="0">
                          <a:solidFill>
                            <a:schemeClr val="tx1"/>
                          </a:solidFill>
                          <a:effectLst/>
                        </a:rPr>
                        <a:t>종류 별 </a:t>
                      </a:r>
                      <a:r>
                        <a:rPr lang="en-US" altLang="ko-KR" sz="1200" strike="noStrike" dirty="0">
                          <a:solidFill>
                            <a:schemeClr val="tx1"/>
                          </a:solidFill>
                          <a:effectLst/>
                        </a:rPr>
                        <a:t>Access </a:t>
                      </a:r>
                      <a:r>
                        <a:rPr lang="ko-KR" altLang="en-US" sz="1200" strike="noStrike" dirty="0">
                          <a:solidFill>
                            <a:schemeClr val="tx1"/>
                          </a:solidFill>
                          <a:effectLst/>
                        </a:rPr>
                        <a:t>특성에 맞는 </a:t>
                      </a:r>
                      <a:r>
                        <a:rPr lang="en-US" altLang="ko-KR" sz="1200" strike="noStrike" dirty="0">
                          <a:solidFill>
                            <a:schemeClr val="tx1"/>
                          </a:solidFill>
                          <a:effectLst/>
                        </a:rPr>
                        <a:t>Fine-grained </a:t>
                      </a:r>
                      <a:r>
                        <a:rPr lang="ko-KR" altLang="en-US" sz="1200" strike="noStrike" dirty="0">
                          <a:solidFill>
                            <a:schemeClr val="tx1"/>
                          </a:solidFill>
                          <a:effectLst/>
                        </a:rPr>
                        <a:t>배치 가능</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고속</a:t>
                      </a:r>
                      <a:r>
                        <a:rPr lang="en-US" altLang="ko-KR" sz="1200" strike="noStrike" dirty="0">
                          <a:solidFill>
                            <a:schemeClr val="tx1"/>
                          </a:solidFill>
                          <a:effectLst/>
                        </a:rPr>
                        <a:t>(High</a:t>
                      </a:r>
                      <a:r>
                        <a:rPr lang="en-US" altLang="ko-KR" sz="1200" strike="noStrike" baseline="0" dirty="0">
                          <a:solidFill>
                            <a:schemeClr val="tx1"/>
                          </a:solidFill>
                          <a:effectLst/>
                        </a:rPr>
                        <a:t> tier)</a:t>
                      </a:r>
                      <a:r>
                        <a:rPr lang="ko-KR" altLang="en-US" sz="1200" strike="noStrike" dirty="0">
                          <a:solidFill>
                            <a:schemeClr val="tx1"/>
                          </a:solidFill>
                          <a:effectLst/>
                        </a:rPr>
                        <a:t> 메모리의 불필요한 점유 감소 가능</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Data</a:t>
                      </a:r>
                      <a:r>
                        <a:rPr lang="ko-KR" altLang="en-US" sz="1200" strike="noStrike" baseline="0" dirty="0">
                          <a:solidFill>
                            <a:schemeClr val="tx1"/>
                          </a:solidFill>
                          <a:effectLst/>
                        </a:rPr>
                        <a:t>별 접근 특성 반영 한계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의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Data </a:t>
                      </a:r>
                      <a:r>
                        <a:rPr lang="ko-KR" altLang="en-US" sz="1200" strike="noStrike" baseline="0" dirty="0">
                          <a:solidFill>
                            <a:schemeClr val="tx1"/>
                          </a:solidFill>
                          <a:effectLst/>
                        </a:rPr>
                        <a:t>종류 별 </a:t>
                      </a:r>
                      <a:r>
                        <a:rPr lang="en-US" altLang="ko-KR" sz="1200" strike="noStrike" baseline="0" dirty="0">
                          <a:solidFill>
                            <a:schemeClr val="tx1"/>
                          </a:solidFill>
                          <a:effectLst/>
                        </a:rPr>
                        <a:t>Characterization </a:t>
                      </a:r>
                      <a:r>
                        <a:rPr lang="ko-KR" altLang="en-US" sz="1200" strike="noStrike" baseline="0" dirty="0">
                          <a:solidFill>
                            <a:schemeClr val="tx1"/>
                          </a:solidFill>
                          <a:effectLst/>
                        </a:rPr>
                        <a:t>및 </a:t>
                      </a:r>
                      <a:r>
                        <a:rPr lang="en-US" altLang="ko-KR" sz="1200" strike="noStrike" baseline="0" dirty="0">
                          <a:solidFill>
                            <a:schemeClr val="tx1"/>
                          </a:solidFill>
                          <a:effectLst/>
                        </a:rPr>
                        <a:t>Pattern </a:t>
                      </a:r>
                      <a:r>
                        <a:rPr lang="ko-KR" altLang="en-US" sz="1200" strike="noStrike" baseline="0" dirty="0">
                          <a:solidFill>
                            <a:schemeClr val="tx1"/>
                          </a:solidFill>
                          <a:effectLst/>
                        </a:rPr>
                        <a:t>예측을 위한 </a:t>
                      </a:r>
                      <a:r>
                        <a:rPr lang="en-US" altLang="ko-KR" sz="1200" strike="noStrike" baseline="0" dirty="0">
                          <a:solidFill>
                            <a:schemeClr val="tx1"/>
                          </a:solidFill>
                          <a:effectLst/>
                        </a:rPr>
                        <a:t>Overhead </a:t>
                      </a:r>
                      <a:r>
                        <a:rPr lang="ko-KR" altLang="en-US" sz="1200" strike="noStrike" baseline="0" dirty="0">
                          <a:solidFill>
                            <a:schemeClr val="tx1"/>
                          </a:solidFill>
                          <a:effectLst/>
                        </a:rPr>
                        <a:t>증가</a:t>
                      </a: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예측 오류 시 </a:t>
                      </a:r>
                      <a:r>
                        <a:rPr lang="en-US" altLang="ko-KR" sz="1200" strike="noStrike" baseline="0" dirty="0" err="1">
                          <a:solidFill>
                            <a:schemeClr val="tx1"/>
                          </a:solidFill>
                          <a:effectLst/>
                        </a:rPr>
                        <a:t>Mis</a:t>
                      </a:r>
                      <a:r>
                        <a:rPr lang="en-US" altLang="ko-KR" sz="1200" strike="noStrike" baseline="0" dirty="0">
                          <a:solidFill>
                            <a:schemeClr val="tx1"/>
                          </a:solidFill>
                          <a:effectLst/>
                        </a:rPr>
                        <a:t>-placement </a:t>
                      </a:r>
                      <a:r>
                        <a:rPr lang="ko-KR" altLang="en-US" sz="1200" strike="noStrike" baseline="0" dirty="0">
                          <a:solidFill>
                            <a:schemeClr val="tx1"/>
                          </a:solidFill>
                          <a:effectLst/>
                        </a:rPr>
                        <a:t>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strike="noStrike" baseline="0" dirty="0">
                          <a:solidFill>
                            <a:schemeClr val="tx1"/>
                          </a:solidFill>
                          <a:latin typeface="맑은 고딕" panose="020B0503020000020004" pitchFamily="50" charset="-127"/>
                          <a:ea typeface="+mn-ea"/>
                        </a:rPr>
                        <a:t> </a:t>
                      </a:r>
                      <a:r>
                        <a:rPr lang="en-US" altLang="ko-KR" sz="1000" b="0" strike="noStrike" baseline="0" dirty="0">
                          <a:solidFill>
                            <a:schemeClr val="tx1"/>
                          </a:solidFill>
                          <a:latin typeface="맑은 고딕" panose="020B0503020000020004" pitchFamily="50" charset="-127"/>
                          <a:ea typeface="+mn-ea"/>
                        </a:rPr>
                        <a:t>354</a:t>
                      </a:r>
                      <a:r>
                        <a:rPr lang="en-US" altLang="ko-KR" sz="1000" strike="noStrike" baseline="0" dirty="0">
                          <a:solidFill>
                            <a:schemeClr val="tx1"/>
                          </a:solidFill>
                          <a:latin typeface="맑은 고딕" panose="020B0503020000020004" pitchFamily="50" charset="-127"/>
                          <a:ea typeface="+mn-ea"/>
                        </a:rPr>
                        <a:t>(x1.05)</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baseline="0" dirty="0">
                          <a:solidFill>
                            <a:schemeClr val="tx1"/>
                          </a:solidFill>
                          <a:latin typeface="맑은 고딕" panose="020B0503020000020004" pitchFamily="50" charset="-127"/>
                          <a:ea typeface="+mn-ea"/>
                        </a:rPr>
                        <a:t>1,372</a:t>
                      </a:r>
                      <a:r>
                        <a:rPr lang="en-US" altLang="ko-KR" sz="1000" strike="noStrike" baseline="0" dirty="0">
                          <a:solidFill>
                            <a:schemeClr val="tx1"/>
                          </a:solidFill>
                          <a:latin typeface="맑은 고딕" panose="020B0503020000020004" pitchFamily="50" charset="-127"/>
                          <a:ea typeface="+mn-ea"/>
                        </a:rPr>
                        <a:t>(x1.27),</a:t>
                      </a:r>
                      <a:r>
                        <a:rPr lang="en-US" altLang="ko-KR" sz="1000" strike="noStrike" baseline="0" dirty="0">
                          <a:solidFill>
                            <a:schemeClr val="tx1"/>
                          </a:solidFill>
                          <a:latin typeface="맑은 고딕" panose="020B0503020000020004" pitchFamily="50" charset="-127"/>
                          <a:ea typeface="+mn-ea"/>
                        </a:rPr>
                        <a:t>18.2</a:t>
                      </a:r>
                      <a:r>
                        <a:rPr lang="en-US" altLang="ko-KR" sz="1000" strike="noStrike" baseline="0" dirty="0">
                          <a:solidFill>
                            <a:schemeClr val="tx1"/>
                          </a:solidFill>
                          <a:latin typeface="맑은 고딕" panose="020B0503020000020004" pitchFamily="50" charset="-127"/>
                          <a:ea typeface="+mn-ea"/>
                        </a:rPr>
                        <a:t>(x1.06)</a:t>
                      </a:r>
                      <a:endParaRPr lang="en-US" altLang="ko-KR" sz="10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144.6(용량 51%, 감소율 +1.4%)</a:t>
                      </a:r>
                      <a:r>
                        <a:rPr lang="en-US" altLang="ko-KR" sz="1000" strike="noStrike" dirty="0">
                          <a:solidFill>
                            <a:schemeClr val="tx1"/>
                          </a:solidFill>
                          <a:latin typeface="맑은 고딕" panose="020B0503020000020004" pitchFamily="50" charset="-127"/>
                          <a:ea typeface="+mn-ea"/>
                        </a:rPr>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$0.39, 0.38, 1.75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baseline="0" dirty="0">
                          <a:solidFill>
                            <a:schemeClr val="tx1"/>
                          </a:solidFill>
                          <a:latin typeface="맑은 고딕" panose="020B0503020000020004" pitchFamily="50" charset="-127"/>
                          <a:ea typeface="+mn-ea"/>
                        </a:rPr>
                        <a:t>478</a:t>
                      </a:r>
                      <a:r>
                        <a:rPr lang="en-US" altLang="ko-KR" sz="1000" strike="noStrike" baseline="0" dirty="0">
                          <a:solidFill>
                            <a:schemeClr val="tx1"/>
                          </a:solidFill>
                          <a:latin typeface="맑은 고딕" panose="020B0503020000020004" pitchFamily="50" charset="-127"/>
                          <a:ea typeface="+mn-ea"/>
                        </a:rPr>
                        <a:t>(x1.42)</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785</a:t>
                      </a:r>
                      <a:r>
                        <a:rPr lang="en-US" altLang="ko-KR" sz="1000" strike="noStrike" dirty="0">
                          <a:solidFill>
                            <a:schemeClr val="tx1"/>
                          </a:solidFill>
                          <a:latin typeface="맑은 고딕" panose="020B0503020000020004" pitchFamily="50" charset="-127"/>
                          <a:ea typeface="+mn-ea"/>
                        </a:rPr>
                        <a:t>(x0.72)</a:t>
                      </a:r>
                      <a:r>
                        <a:rPr lang="en-US" altLang="ko-KR" sz="1000" strike="noStrike" dirty="0">
                          <a:solidFill>
                            <a:schemeClr val="tx1"/>
                          </a:solidFill>
                          <a:latin typeface="맑은 고딕" panose="020B0503020000020004" pitchFamily="50" charset="-127"/>
                          <a:ea typeface="+mn-ea"/>
                        </a:rPr>
                        <a:t>,16.0</a:t>
                      </a:r>
                      <a:r>
                        <a:rPr lang="en-US" altLang="ko-KR" sz="1000" strike="noStrike" dirty="0">
                          <a:solidFill>
                            <a:schemeClr val="tx1"/>
                          </a:solidFill>
                          <a:latin typeface="맑은 고딕" panose="020B0503020000020004" pitchFamily="50" charset="-127"/>
                          <a:ea typeface="+mn-ea"/>
                        </a:rPr>
                        <a:t>(x0.94)</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178.0(용량 62%, 감소율 -21.4%)</a:t>
                      </a:r>
                      <a:r>
                        <a:rPr lang="en-US" altLang="ko-KR" sz="1000" strike="noStrike" dirty="0">
                          <a:solidFill>
                            <a:schemeClr val="tx1"/>
                          </a:solidFill>
                          <a:latin typeface="맑은 고딕" panose="020B0503020000020004" pitchFamily="50" charset="-127"/>
                          <a:ea typeface="+mn-ea"/>
                        </a:rPr>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en-US" altLang="ko-KR" sz="1000" b="0" dirty="0">
                          <a:solidFill>
                            <a:srgbClr val="1A1A1A"/>
                          </a:solidFill>
                          <a:latin typeface="+mn-lt"/>
                          <a:ea typeface="맑은 고딕"/>
                        </a:rPr>
                        <a:t>$0.49, 0.51, 2.50</a:t>
                      </a:r>
                      <a:endParaRPr lang="en-US" altLang="ko-KR" sz="1200" strike="noStrike" dirty="0">
                        <a:solidFill>
                          <a:prstClr val="black"/>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DP1. </a:t>
            </a:r>
            <a:r>
              <a:rPr lang="ko-KR" altLang="en-US" dirty="0"/>
              <a:t>이기종 메모리 기반 </a:t>
            </a:r>
            <a:r>
              <a:rPr lang="en-US" altLang="ko-KR" dirty="0"/>
              <a:t>Data Migration</a:t>
            </a:r>
            <a:r>
              <a:rPr lang="ko-KR" altLang="en-US" dirty="0"/>
              <a:t>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환경에서 언제</a:t>
            </a:r>
            <a:r>
              <a:rPr lang="en-US" altLang="ko-KR" sz="1400" b="1" dirty="0">
                <a:solidFill>
                  <a:schemeClr val="bg1"/>
                </a:solidFill>
              </a:rPr>
              <a:t>, </a:t>
            </a:r>
            <a:r>
              <a:rPr lang="ko-KR" altLang="en-US" sz="1400" b="1" dirty="0">
                <a:solidFill>
                  <a:schemeClr val="bg1"/>
                </a:solidFill>
              </a:rPr>
              <a:t>무엇을</a:t>
            </a:r>
            <a:r>
              <a:rPr lang="en-US" altLang="ko-KR" sz="1400" b="1" dirty="0">
                <a:solidFill>
                  <a:schemeClr val="bg1"/>
                </a:solidFill>
              </a:rPr>
              <a:t>, </a:t>
            </a:r>
            <a:r>
              <a:rPr lang="ko-KR" altLang="en-US" sz="1400" b="1" dirty="0">
                <a:solidFill>
                  <a:schemeClr val="bg1"/>
                </a:solidFill>
              </a:rPr>
              <a:t>어느 </a:t>
            </a:r>
            <a:r>
              <a:rPr lang="en-US" altLang="ko-KR" sz="1400" b="1" dirty="0">
                <a:solidFill>
                  <a:schemeClr val="bg1"/>
                </a:solidFill>
              </a:rPr>
              <a:t>memory tier</a:t>
            </a:r>
            <a:r>
              <a:rPr lang="ko-KR" altLang="en-US" sz="1400" b="1" dirty="0">
                <a:solidFill>
                  <a:schemeClr val="bg1"/>
                </a:solidFill>
              </a:rPr>
              <a:t>로 이동할지 결정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7583966"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우선한 </a:t>
            </a:r>
            <a:r>
              <a:rPr lang="en-US" altLang="ko-KR" sz="1100" dirty="0"/>
              <a:t>Migration“</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AI Data</a:t>
            </a:r>
            <a:r>
              <a:rPr lang="ko-KR" altLang="en-US" sz="1100" dirty="0">
                <a:solidFill>
                  <a:srgbClr val="0066FF"/>
                </a:solidFill>
              </a:rPr>
              <a:t> 특성</a:t>
            </a:r>
            <a:r>
              <a:rPr lang="en-US" altLang="ko-KR" sz="1100" dirty="0">
                <a:solidFill>
                  <a:srgbClr val="0066FF"/>
                </a:solidFill>
              </a:rPr>
              <a:t>(Type/Hotness/Lifetime/Agent Tool Info </a:t>
            </a:r>
            <a:r>
              <a:rPr lang="ko-KR" altLang="en-US" sz="1100" dirty="0">
                <a:solidFill>
                  <a:srgbClr val="0066FF"/>
                </a:solidFill>
              </a:rPr>
              <a:t>등</a:t>
            </a:r>
            <a:r>
              <a:rPr lang="en-US" altLang="ko-KR" sz="1100" dirty="0">
                <a:solidFill>
                  <a:srgbClr val="0066FF"/>
                </a:solidFill>
              </a:rPr>
              <a:t>)</a:t>
            </a:r>
            <a:r>
              <a:rPr lang="ko-KR" altLang="en-US" sz="1100" dirty="0"/>
              <a:t>에 우선한 </a:t>
            </a:r>
            <a:r>
              <a:rPr lang="en-US" altLang="ko-KR" sz="1100" dirty="0"/>
              <a:t>Migration“</a:t>
            </a:r>
            <a:endParaRPr lang="ko-KR" altLang="en-US" sz="1100" dirty="0"/>
          </a:p>
        </p:txBody>
      </p:sp>
      <p:sp>
        <p:nvSpPr>
          <p:cNvPr id="140" name="직사각형 139"/>
          <p:cNvSpPr/>
          <p:nvPr/>
        </p:nvSpPr>
        <p:spPr>
          <a:xfrm>
            <a:off x="6521412" y="46469"/>
            <a:ext cx="1487330" cy="461665"/>
          </a:xfrm>
          <a:prstGeom prst="rect">
            <a:avLst/>
          </a:prstGeom>
        </p:spPr>
        <p:txBody>
          <a:bodyPr wrap="none">
            <a:spAutoFit/>
          </a:bodyPr>
          <a:lstStyle/>
          <a:p>
            <a:r>
              <a:rPr lang="en-US" altLang="ko-KR" sz="1200" b="1" dirty="0"/>
              <a:t>(When, What, </a:t>
            </a:r>
          </a:p>
          <a:p>
            <a:r>
              <a:rPr lang="en-US" altLang="ko-KR" sz="1200" b="1" dirty="0"/>
              <a:t>Where to locate?)</a:t>
            </a:r>
            <a:endParaRPr lang="ko-KR" altLang="en-US" sz="1200" dirty="0"/>
          </a:p>
        </p:txBody>
      </p:sp>
      <p:sp>
        <p:nvSpPr>
          <p:cNvPr id="118" name="DecisionPlane"/>
          <p:cNvSpPr/>
          <p:nvPr/>
        </p:nvSpPr>
        <p:spPr>
          <a:xfrm>
            <a:off x="1335759" y="1959311"/>
            <a:ext cx="4919889" cy="584687"/>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119" name="DecisionPlane tab"/>
          <p:cNvSpPr/>
          <p:nvPr/>
        </p:nvSpPr>
        <p:spPr>
          <a:xfrm>
            <a:off x="1335759" y="1853363"/>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grpSp>
        <p:nvGrpSpPr>
          <p:cNvPr id="6" name="그룹 5"/>
          <p:cNvGrpSpPr/>
          <p:nvPr/>
        </p:nvGrpSpPr>
        <p:grpSpPr>
          <a:xfrm>
            <a:off x="1368902" y="2642127"/>
            <a:ext cx="2323127" cy="1571272"/>
            <a:chOff x="997398" y="2494119"/>
            <a:chExt cx="2436693" cy="2061682"/>
          </a:xfrm>
        </p:grpSpPr>
        <p:sp>
          <p:nvSpPr>
            <p:cNvPr id="114" name="DecisionPlane"/>
            <p:cNvSpPr/>
            <p:nvPr/>
          </p:nvSpPr>
          <p:spPr>
            <a:xfrm>
              <a:off x="997399" y="2621986"/>
              <a:ext cx="2436692" cy="1933815"/>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115" name="DecisionPlane tab"/>
            <p:cNvSpPr/>
            <p:nvPr/>
          </p:nvSpPr>
          <p:spPr>
            <a:xfrm>
              <a:off x="997398" y="2494119"/>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22" name="KV Cache Manager"/>
            <p:cNvSpPr/>
            <p:nvPr/>
          </p:nvSpPr>
          <p:spPr>
            <a:xfrm>
              <a:off x="1439913" y="2950432"/>
              <a:ext cx="1550000"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 State Monitor</a:t>
              </a:r>
              <a:endParaRPr lang="ko-KR" altLang="en-US" sz="900" b="1" dirty="0">
                <a:solidFill>
                  <a:schemeClr val="tx1"/>
                </a:solidFill>
              </a:endParaRPr>
            </a:p>
          </p:txBody>
        </p:sp>
        <p:sp>
          <p:nvSpPr>
            <p:cNvPr id="123" name="KV Cache Manager"/>
            <p:cNvSpPr/>
            <p:nvPr/>
          </p:nvSpPr>
          <p:spPr>
            <a:xfrm>
              <a:off x="1508045" y="3811725"/>
              <a:ext cx="1409091" cy="280994"/>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Telemetry Collector</a:t>
              </a:r>
              <a:endParaRPr lang="ko-KR" altLang="en-US" sz="900" b="1" dirty="0">
                <a:solidFill>
                  <a:schemeClr val="tx1"/>
                </a:solidFill>
              </a:endParaRPr>
            </a:p>
          </p:txBody>
        </p:sp>
        <p:sp>
          <p:nvSpPr>
            <p:cNvPr id="124" name="KV Cache Manager"/>
            <p:cNvSpPr/>
            <p:nvPr/>
          </p:nvSpPr>
          <p:spPr>
            <a:xfrm>
              <a:off x="1508043" y="4201270"/>
              <a:ext cx="1409091" cy="280994"/>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Memory Registry</a:t>
              </a:r>
              <a:endParaRPr lang="ko-KR" altLang="en-US" sz="900" b="1" dirty="0">
                <a:solidFill>
                  <a:schemeClr val="tx1"/>
                </a:solidFill>
              </a:endParaRPr>
            </a:p>
          </p:txBody>
        </p:sp>
        <p:sp>
          <p:nvSpPr>
            <p:cNvPr id="359" name="KV Cache Manager"/>
            <p:cNvSpPr/>
            <p:nvPr/>
          </p:nvSpPr>
          <p:spPr>
            <a:xfrm>
              <a:off x="1183388" y="3420196"/>
              <a:ext cx="2063051"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Resource-based Trend Analyzer</a:t>
              </a:r>
              <a:endParaRPr lang="ko-KR" altLang="en-US" sz="900" b="1" dirty="0">
                <a:solidFill>
                  <a:schemeClr val="tx1"/>
                </a:solidFill>
              </a:endParaRPr>
            </a:p>
          </p:txBody>
        </p:sp>
      </p:grpSp>
      <p:sp>
        <p:nvSpPr>
          <p:cNvPr id="128" name="KV Cache Manager"/>
          <p:cNvSpPr/>
          <p:nvPr/>
        </p:nvSpPr>
        <p:spPr>
          <a:xfrm>
            <a:off x="4617258" y="2201857"/>
            <a:ext cx="1475872" cy="25826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129" name="KV Cache Manager"/>
          <p:cNvSpPr/>
          <p:nvPr/>
        </p:nvSpPr>
        <p:spPr>
          <a:xfrm>
            <a:off x="1495682" y="2183542"/>
            <a:ext cx="1528573" cy="25826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grpSp>
        <p:nvGrpSpPr>
          <p:cNvPr id="9" name="그룹 8"/>
          <p:cNvGrpSpPr/>
          <p:nvPr/>
        </p:nvGrpSpPr>
        <p:grpSpPr>
          <a:xfrm>
            <a:off x="4314807" y="3220929"/>
            <a:ext cx="1858865" cy="1214998"/>
            <a:chOff x="4168897" y="2550266"/>
            <a:chExt cx="1879320" cy="1837097"/>
          </a:xfrm>
        </p:grpSpPr>
        <p:sp>
          <p:nvSpPr>
            <p:cNvPr id="116" name="DecisionPlane"/>
            <p:cNvSpPr/>
            <p:nvPr/>
          </p:nvSpPr>
          <p:spPr>
            <a:xfrm>
              <a:off x="4168899" y="2678899"/>
              <a:ext cx="1879318" cy="1708464"/>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117" name="DecisionPlane tab"/>
            <p:cNvSpPr/>
            <p:nvPr/>
          </p:nvSpPr>
          <p:spPr>
            <a:xfrm>
              <a:off x="4168897" y="2550266"/>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27" name="KV Cache Manager"/>
            <p:cNvSpPr/>
            <p:nvPr/>
          </p:nvSpPr>
          <p:spPr>
            <a:xfrm>
              <a:off x="4447534" y="3152142"/>
              <a:ext cx="1409091" cy="34000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130" name="KV Cache Manager"/>
            <p:cNvSpPr/>
            <p:nvPr/>
          </p:nvSpPr>
          <p:spPr>
            <a:xfrm>
              <a:off x="4447534" y="3793018"/>
              <a:ext cx="1409091" cy="340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137" name="① Event"/>
          <p:cNvCxnSpPr/>
          <p:nvPr/>
        </p:nvCxnSpPr>
        <p:spPr>
          <a:xfrm flipH="1">
            <a:off x="1955800" y="2440976"/>
            <a:ext cx="909" cy="534021"/>
          </a:xfrm>
          <a:prstGeom prst="line">
            <a:avLst/>
          </a:prstGeom>
          <a:ln w="9525">
            <a:solidFill>
              <a:schemeClr val="tx1"/>
            </a:solidFill>
            <a:prstDash val="dash"/>
            <a:tailEnd type="arrow"/>
          </a:ln>
        </p:spPr>
      </p:cxnSp>
      <p:cxnSp>
        <p:nvCxnSpPr>
          <p:cNvPr id="168" name="① Event"/>
          <p:cNvCxnSpPr/>
          <p:nvPr/>
        </p:nvCxnSpPr>
        <p:spPr>
          <a:xfrm>
            <a:off x="5668955" y="2449507"/>
            <a:ext cx="6208" cy="1187453"/>
          </a:xfrm>
          <a:prstGeom prst="line">
            <a:avLst/>
          </a:prstGeom>
          <a:ln w="9525">
            <a:solidFill>
              <a:schemeClr val="tx1"/>
            </a:solidFill>
            <a:prstDash val="dash"/>
            <a:tailEnd type="arrow"/>
          </a:ln>
        </p:spPr>
      </p:cxnSp>
      <p:cxnSp>
        <p:nvCxnSpPr>
          <p:cNvPr id="169" name="① Event"/>
          <p:cNvCxnSpPr>
            <a:stCxn id="359" idx="3"/>
            <a:endCxn id="128" idx="1"/>
          </p:cNvCxnSpPr>
          <p:nvPr/>
        </p:nvCxnSpPr>
        <p:spPr>
          <a:xfrm flipV="1">
            <a:off x="3513123" y="2330988"/>
            <a:ext cx="1104135" cy="1134716"/>
          </a:xfrm>
          <a:prstGeom prst="bentConnector3">
            <a:avLst>
              <a:gd name="adj1" fmla="val 50000"/>
            </a:avLst>
          </a:prstGeom>
          <a:ln w="9525">
            <a:solidFill>
              <a:schemeClr val="tx1"/>
            </a:solidFill>
            <a:prstDash val="dash"/>
            <a:tailEnd type="arrow"/>
          </a:ln>
        </p:spPr>
      </p:cxnSp>
      <p:cxnSp>
        <p:nvCxnSpPr>
          <p:cNvPr id="178" name="① Event"/>
          <p:cNvCxnSpPr>
            <a:stCxn id="127" idx="2"/>
            <a:endCxn id="130" idx="0"/>
          </p:cNvCxnSpPr>
          <p:nvPr/>
        </p:nvCxnSpPr>
        <p:spPr>
          <a:xfrm>
            <a:off x="5287288" y="3843859"/>
            <a:ext cx="0" cy="198990"/>
          </a:xfrm>
          <a:prstGeom prst="line">
            <a:avLst/>
          </a:prstGeom>
          <a:ln w="9525">
            <a:solidFill>
              <a:schemeClr val="tx1"/>
            </a:solidFill>
            <a:prstDash val="dash"/>
            <a:tailEnd type="arrow"/>
          </a:ln>
        </p:spPr>
      </p:cxnSp>
      <p:sp>
        <p:nvSpPr>
          <p:cNvPr id="188" name="KV Cache Manager"/>
          <p:cNvSpPr/>
          <p:nvPr/>
        </p:nvSpPr>
        <p:spPr>
          <a:xfrm>
            <a:off x="1337482" y="4360245"/>
            <a:ext cx="2379948" cy="21344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Common Memory Backend Interface</a:t>
            </a:r>
            <a:endParaRPr lang="ko-KR" altLang="en-US" sz="900" b="1" dirty="0">
              <a:solidFill>
                <a:schemeClr val="tx1"/>
              </a:solidFill>
            </a:endParaRPr>
          </a:p>
        </p:txBody>
      </p:sp>
      <p:cxnSp>
        <p:nvCxnSpPr>
          <p:cNvPr id="197" name="① Event"/>
          <p:cNvCxnSpPr>
            <a:stCxn id="188" idx="0"/>
            <a:endCxn id="114" idx="2"/>
          </p:cNvCxnSpPr>
          <p:nvPr/>
        </p:nvCxnSpPr>
        <p:spPr>
          <a:xfrm flipV="1">
            <a:off x="2527456" y="4213399"/>
            <a:ext cx="3010" cy="146846"/>
          </a:xfrm>
          <a:prstGeom prst="line">
            <a:avLst/>
          </a:prstGeom>
          <a:ln w="9525">
            <a:solidFill>
              <a:schemeClr val="tx1"/>
            </a:solidFill>
            <a:prstDash val="dash"/>
            <a:tailEnd type="arrow"/>
          </a:ln>
        </p:spPr>
      </p:cxnSp>
      <p:grpSp>
        <p:nvGrpSpPr>
          <p:cNvPr id="234" name="그룹 233"/>
          <p:cNvGrpSpPr/>
          <p:nvPr/>
        </p:nvGrpSpPr>
        <p:grpSpPr>
          <a:xfrm>
            <a:off x="7146041" y="3067164"/>
            <a:ext cx="1919939" cy="1090190"/>
            <a:chOff x="1208848" y="2542921"/>
            <a:chExt cx="2013795" cy="1376305"/>
          </a:xfrm>
        </p:grpSpPr>
        <p:sp>
          <p:nvSpPr>
            <p:cNvPr id="238" name="DecisionPlane"/>
            <p:cNvSpPr/>
            <p:nvPr/>
          </p:nvSpPr>
          <p:spPr>
            <a:xfrm>
              <a:off x="1208848" y="2678899"/>
              <a:ext cx="2013795" cy="1240327"/>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39" name="DecisionPlane tab"/>
            <p:cNvSpPr/>
            <p:nvPr/>
          </p:nvSpPr>
          <p:spPr>
            <a:xfrm>
              <a:off x="1208848" y="2542921"/>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42" name="KV Cache Manager"/>
            <p:cNvSpPr/>
            <p:nvPr/>
          </p:nvSpPr>
          <p:spPr>
            <a:xfrm>
              <a:off x="1508045" y="326225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Telemetry Collector</a:t>
              </a:r>
              <a:endParaRPr lang="ko-KR" altLang="en-US" sz="900" b="1" dirty="0">
                <a:solidFill>
                  <a:schemeClr val="tx1"/>
                </a:solidFill>
              </a:endParaRPr>
            </a:p>
          </p:txBody>
        </p:sp>
        <p:sp>
          <p:nvSpPr>
            <p:cNvPr id="243" name="KV Cache Manager"/>
            <p:cNvSpPr/>
            <p:nvPr/>
          </p:nvSpPr>
          <p:spPr>
            <a:xfrm>
              <a:off x="1508043" y="359726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Memory Registry</a:t>
              </a:r>
              <a:endParaRPr lang="ko-KR" altLang="en-US" sz="900" b="1" dirty="0">
                <a:solidFill>
                  <a:schemeClr val="tx1"/>
                </a:solidFill>
              </a:endParaRPr>
            </a:p>
          </p:txBody>
        </p:sp>
        <p:sp>
          <p:nvSpPr>
            <p:cNvPr id="400" name="KV Cache Manager"/>
            <p:cNvSpPr/>
            <p:nvPr/>
          </p:nvSpPr>
          <p:spPr>
            <a:xfrm>
              <a:off x="1508045" y="2930973"/>
              <a:ext cx="1409091" cy="25544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Object Registry</a:t>
              </a:r>
              <a:endParaRPr lang="ko-KR" altLang="en-US" sz="900" b="1" dirty="0">
                <a:solidFill>
                  <a:schemeClr val="tx1"/>
                </a:solidFill>
              </a:endParaRPr>
            </a:p>
          </p:txBody>
        </p:sp>
      </p:grpSp>
      <p:grpSp>
        <p:nvGrpSpPr>
          <p:cNvPr id="249" name="그룹 248"/>
          <p:cNvGrpSpPr/>
          <p:nvPr/>
        </p:nvGrpSpPr>
        <p:grpSpPr>
          <a:xfrm>
            <a:off x="9626708" y="3178189"/>
            <a:ext cx="1891050" cy="1160450"/>
            <a:chOff x="4173997" y="2581540"/>
            <a:chExt cx="1983494" cy="1477340"/>
          </a:xfrm>
        </p:grpSpPr>
        <p:sp>
          <p:nvSpPr>
            <p:cNvPr id="250" name="DecisionPlane"/>
            <p:cNvSpPr/>
            <p:nvPr/>
          </p:nvSpPr>
          <p:spPr>
            <a:xfrm>
              <a:off x="4173997" y="2708259"/>
              <a:ext cx="1983494" cy="1350621"/>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51" name="DecisionPlane tab"/>
            <p:cNvSpPr/>
            <p:nvPr/>
          </p:nvSpPr>
          <p:spPr>
            <a:xfrm>
              <a:off x="4176509" y="2581540"/>
              <a:ext cx="264000" cy="130999"/>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52" name="KV Cache Manager"/>
            <p:cNvSpPr/>
            <p:nvPr/>
          </p:nvSpPr>
          <p:spPr>
            <a:xfrm>
              <a:off x="4493949" y="3060767"/>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53" name="KV Cache Manager"/>
            <p:cNvSpPr/>
            <p:nvPr/>
          </p:nvSpPr>
          <p:spPr>
            <a:xfrm>
              <a:off x="4493807" y="3584303"/>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258" name="① Event"/>
          <p:cNvCxnSpPr>
            <a:stCxn id="252" idx="2"/>
            <a:endCxn id="253" idx="0"/>
          </p:cNvCxnSpPr>
          <p:nvPr/>
        </p:nvCxnSpPr>
        <p:spPr>
          <a:xfrm flipH="1">
            <a:off x="10603321" y="3775340"/>
            <a:ext cx="135" cy="190518"/>
          </a:xfrm>
          <a:prstGeom prst="line">
            <a:avLst/>
          </a:prstGeom>
          <a:ln w="9525">
            <a:solidFill>
              <a:schemeClr val="tx1"/>
            </a:solidFill>
            <a:prstDash val="dash"/>
            <a:tailEnd type="arrow"/>
          </a:ln>
        </p:spPr>
      </p:cxnSp>
      <p:sp>
        <p:nvSpPr>
          <p:cNvPr id="262" name="KV Cache Manager"/>
          <p:cNvSpPr/>
          <p:nvPr/>
        </p:nvSpPr>
        <p:spPr>
          <a:xfrm>
            <a:off x="6913701" y="4305333"/>
            <a:ext cx="2379948" cy="21344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Common Memory Backend Interface</a:t>
            </a:r>
            <a:endParaRPr lang="ko-KR" altLang="en-US" sz="900" b="1" dirty="0">
              <a:solidFill>
                <a:schemeClr val="tx1"/>
              </a:solidFill>
            </a:endParaRPr>
          </a:p>
        </p:txBody>
      </p:sp>
      <p:cxnSp>
        <p:nvCxnSpPr>
          <p:cNvPr id="264" name="① Event"/>
          <p:cNvCxnSpPr>
            <a:stCxn id="262" idx="0"/>
            <a:endCxn id="238" idx="2"/>
          </p:cNvCxnSpPr>
          <p:nvPr/>
        </p:nvCxnSpPr>
        <p:spPr>
          <a:xfrm flipV="1">
            <a:off x="8103675" y="4157354"/>
            <a:ext cx="2336" cy="147979"/>
          </a:xfrm>
          <a:prstGeom prst="line">
            <a:avLst/>
          </a:prstGeom>
          <a:ln w="9525">
            <a:solidFill>
              <a:schemeClr val="tx1"/>
            </a:solidFill>
            <a:prstDash val="dash"/>
            <a:tailEnd type="arrow"/>
          </a:ln>
        </p:spPr>
      </p:cxnSp>
      <p:cxnSp>
        <p:nvCxnSpPr>
          <p:cNvPr id="276" name="① Event"/>
          <p:cNvCxnSpPr>
            <a:stCxn id="127" idx="1"/>
            <a:endCxn id="123" idx="3"/>
          </p:cNvCxnSpPr>
          <p:nvPr/>
        </p:nvCxnSpPr>
        <p:spPr>
          <a:xfrm rot="10800000" flipV="1">
            <a:off x="3199167" y="3731425"/>
            <a:ext cx="1391244" cy="21967"/>
          </a:xfrm>
          <a:prstGeom prst="bentConnector3">
            <a:avLst>
              <a:gd name="adj1" fmla="val 50000"/>
            </a:avLst>
          </a:prstGeom>
          <a:ln w="9525">
            <a:solidFill>
              <a:schemeClr val="tx1"/>
            </a:solidFill>
            <a:prstDash val="dash"/>
            <a:tailEnd type="arrow"/>
          </a:ln>
        </p:spPr>
      </p:cxnSp>
      <p:cxnSp>
        <p:nvCxnSpPr>
          <p:cNvPr id="279" name="① Event"/>
          <p:cNvCxnSpPr>
            <a:stCxn id="127" idx="1"/>
            <a:endCxn id="124" idx="3"/>
          </p:cNvCxnSpPr>
          <p:nvPr/>
        </p:nvCxnSpPr>
        <p:spPr>
          <a:xfrm rot="10800000" flipV="1">
            <a:off x="3199167" y="3731425"/>
            <a:ext cx="1391245" cy="318851"/>
          </a:xfrm>
          <a:prstGeom prst="bentConnector3">
            <a:avLst>
              <a:gd name="adj1" fmla="val 50000"/>
            </a:avLst>
          </a:prstGeom>
          <a:ln w="9525">
            <a:solidFill>
              <a:schemeClr val="tx1"/>
            </a:solidFill>
            <a:prstDash val="dash"/>
            <a:tailEnd type="arrow"/>
          </a:ln>
        </p:spPr>
      </p:cxnSp>
      <p:cxnSp>
        <p:nvCxnSpPr>
          <p:cNvPr id="290" name="① Event"/>
          <p:cNvCxnSpPr>
            <a:stCxn id="252" idx="1"/>
            <a:endCxn id="242" idx="3"/>
          </p:cNvCxnSpPr>
          <p:nvPr/>
        </p:nvCxnSpPr>
        <p:spPr>
          <a:xfrm rot="10800000" flipV="1">
            <a:off x="8774711" y="3664980"/>
            <a:ext cx="1157036" cy="73151"/>
          </a:xfrm>
          <a:prstGeom prst="bentConnector3">
            <a:avLst>
              <a:gd name="adj1" fmla="val 50000"/>
            </a:avLst>
          </a:prstGeom>
          <a:ln w="9525">
            <a:solidFill>
              <a:schemeClr val="tx1"/>
            </a:solidFill>
            <a:prstDash val="dash"/>
            <a:tailEnd type="arrow"/>
          </a:ln>
        </p:spPr>
      </p:cxnSp>
      <p:cxnSp>
        <p:nvCxnSpPr>
          <p:cNvPr id="293" name="① Event"/>
          <p:cNvCxnSpPr>
            <a:stCxn id="252" idx="1"/>
            <a:endCxn id="243" idx="3"/>
          </p:cNvCxnSpPr>
          <p:nvPr/>
        </p:nvCxnSpPr>
        <p:spPr>
          <a:xfrm rot="10800000" flipV="1">
            <a:off x="8774711" y="3664980"/>
            <a:ext cx="1157037" cy="338517"/>
          </a:xfrm>
          <a:prstGeom prst="bentConnector3">
            <a:avLst>
              <a:gd name="adj1" fmla="val 50000"/>
            </a:avLst>
          </a:prstGeom>
          <a:ln w="9525">
            <a:solidFill>
              <a:schemeClr val="tx1"/>
            </a:solidFill>
            <a:prstDash val="dash"/>
            <a:tailEnd type="arrow"/>
          </a:ln>
        </p:spPr>
      </p:cxnSp>
      <p:grpSp>
        <p:nvGrpSpPr>
          <p:cNvPr id="547" name="그룹 546"/>
          <p:cNvGrpSpPr/>
          <p:nvPr/>
        </p:nvGrpSpPr>
        <p:grpSpPr>
          <a:xfrm>
            <a:off x="6819037" y="1736827"/>
            <a:ext cx="4919889" cy="1623134"/>
            <a:chOff x="6819037" y="1867402"/>
            <a:chExt cx="4919889" cy="1623134"/>
          </a:xfrm>
        </p:grpSpPr>
        <p:sp>
          <p:nvSpPr>
            <p:cNvPr id="230" name="DecisionPlane"/>
            <p:cNvSpPr/>
            <p:nvPr/>
          </p:nvSpPr>
          <p:spPr>
            <a:xfrm>
              <a:off x="6819037" y="1973349"/>
              <a:ext cx="4919889" cy="1132223"/>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232" name="DecisionPlane tab"/>
            <p:cNvSpPr/>
            <p:nvPr/>
          </p:nvSpPr>
          <p:spPr>
            <a:xfrm>
              <a:off x="6819037" y="1867402"/>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33" name="KV Cache Manager"/>
            <p:cNvSpPr/>
            <p:nvPr/>
          </p:nvSpPr>
          <p:spPr>
            <a:xfrm>
              <a:off x="8552755"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Monitor</a:t>
              </a:r>
              <a:endParaRPr lang="ko-KR" altLang="en-US" sz="900" b="1" dirty="0">
                <a:solidFill>
                  <a:schemeClr val="tx1"/>
                </a:solidFill>
              </a:endParaRPr>
            </a:p>
          </p:txBody>
        </p:sp>
        <p:sp>
          <p:nvSpPr>
            <p:cNvPr id="244" name="KV Cache Manager"/>
            <p:cNvSpPr/>
            <p:nvPr/>
          </p:nvSpPr>
          <p:spPr>
            <a:xfrm>
              <a:off x="10288514" y="2693105"/>
              <a:ext cx="1341702"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248" name="KV Cache Manager"/>
            <p:cNvSpPr/>
            <p:nvPr/>
          </p:nvSpPr>
          <p:spPr>
            <a:xfrm>
              <a:off x="6940505" y="2246618"/>
              <a:ext cx="1148440"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254" name="① Event"/>
            <p:cNvCxnSpPr>
              <a:endCxn id="233" idx="1"/>
            </p:cNvCxnSpPr>
            <p:nvPr/>
          </p:nvCxnSpPr>
          <p:spPr>
            <a:xfrm>
              <a:off x="8088946" y="2398454"/>
              <a:ext cx="463809" cy="0"/>
            </a:xfrm>
            <a:prstGeom prst="line">
              <a:avLst/>
            </a:prstGeom>
            <a:ln w="9525">
              <a:solidFill>
                <a:schemeClr val="tx1"/>
              </a:solidFill>
              <a:prstDash val="dash"/>
              <a:tailEnd type="arrow"/>
            </a:ln>
          </p:spPr>
        </p:cxnSp>
        <p:cxnSp>
          <p:nvCxnSpPr>
            <p:cNvPr id="256" name="① Event"/>
            <p:cNvCxnSpPr>
              <a:stCxn id="267" idx="2"/>
              <a:endCxn id="244" idx="0"/>
            </p:cNvCxnSpPr>
            <p:nvPr/>
          </p:nvCxnSpPr>
          <p:spPr>
            <a:xfrm>
              <a:off x="10951301" y="2554703"/>
              <a:ext cx="8064" cy="138402"/>
            </a:xfrm>
            <a:prstGeom prst="line">
              <a:avLst/>
            </a:prstGeom>
            <a:ln w="9525">
              <a:solidFill>
                <a:schemeClr val="tx1"/>
              </a:solidFill>
              <a:prstDash val="dash"/>
              <a:tailEnd type="arrow"/>
            </a:ln>
          </p:spPr>
        </p:cxnSp>
        <p:sp>
          <p:nvSpPr>
            <p:cNvPr id="266" name="KV Cache Manager"/>
            <p:cNvSpPr/>
            <p:nvPr/>
          </p:nvSpPr>
          <p:spPr>
            <a:xfrm>
              <a:off x="8552755" y="2706796"/>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Behavior-based Trend Analyzer</a:t>
              </a:r>
              <a:endParaRPr lang="ko-KR" altLang="en-US" sz="900" b="1" dirty="0">
                <a:solidFill>
                  <a:schemeClr val="tx1"/>
                </a:solidFill>
              </a:endParaRPr>
            </a:p>
          </p:txBody>
        </p:sp>
        <p:sp>
          <p:nvSpPr>
            <p:cNvPr id="267" name="KV Cache Manager"/>
            <p:cNvSpPr/>
            <p:nvPr/>
          </p:nvSpPr>
          <p:spPr>
            <a:xfrm>
              <a:off x="10279429"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 Predictor</a:t>
              </a:r>
              <a:endParaRPr lang="ko-KR" altLang="en-US" sz="900" b="1" dirty="0">
                <a:solidFill>
                  <a:schemeClr val="tx1"/>
                </a:solidFill>
              </a:endParaRPr>
            </a:p>
          </p:txBody>
        </p:sp>
        <p:cxnSp>
          <p:nvCxnSpPr>
            <p:cNvPr id="268" name="① Event"/>
            <p:cNvCxnSpPr>
              <a:stCxn id="233" idx="2"/>
              <a:endCxn id="266" idx="0"/>
            </p:cNvCxnSpPr>
            <p:nvPr/>
          </p:nvCxnSpPr>
          <p:spPr>
            <a:xfrm>
              <a:off x="9224627" y="2554703"/>
              <a:ext cx="0" cy="152093"/>
            </a:xfrm>
            <a:prstGeom prst="line">
              <a:avLst/>
            </a:prstGeom>
            <a:ln w="9525">
              <a:solidFill>
                <a:schemeClr val="tx1"/>
              </a:solidFill>
              <a:prstDash val="dash"/>
              <a:tailEnd type="arrow"/>
            </a:ln>
          </p:spPr>
        </p:cxnSp>
        <p:cxnSp>
          <p:nvCxnSpPr>
            <p:cNvPr id="269" name="① Event"/>
            <p:cNvCxnSpPr>
              <a:stCxn id="266" idx="3"/>
              <a:endCxn id="267" idx="1"/>
            </p:cNvCxnSpPr>
            <p:nvPr/>
          </p:nvCxnSpPr>
          <p:spPr>
            <a:xfrm flipV="1">
              <a:off x="9896498" y="2398454"/>
              <a:ext cx="382931" cy="464591"/>
            </a:xfrm>
            <a:prstGeom prst="bentConnector3">
              <a:avLst>
                <a:gd name="adj1" fmla="val 50000"/>
              </a:avLst>
            </a:prstGeom>
            <a:ln w="9525">
              <a:solidFill>
                <a:schemeClr val="tx1"/>
              </a:solidFill>
              <a:prstDash val="dash"/>
              <a:tailEnd type="arrow"/>
            </a:ln>
          </p:spPr>
        </p:cxnSp>
        <p:cxnSp>
          <p:nvCxnSpPr>
            <p:cNvPr id="304" name="① Event"/>
            <p:cNvCxnSpPr>
              <a:stCxn id="233" idx="1"/>
            </p:cNvCxnSpPr>
            <p:nvPr/>
          </p:nvCxnSpPr>
          <p:spPr>
            <a:xfrm rot="10800000" flipV="1">
              <a:off x="8273739" y="2398454"/>
              <a:ext cx="279016" cy="1092082"/>
            </a:xfrm>
            <a:prstGeom prst="bentConnector2">
              <a:avLst/>
            </a:prstGeom>
            <a:ln w="9525">
              <a:solidFill>
                <a:schemeClr val="tx1"/>
              </a:solidFill>
              <a:prstDash val="dash"/>
              <a:tailEnd type="arrow"/>
            </a:ln>
          </p:spPr>
        </p:cxnSp>
      </p:grpSp>
      <p:cxnSp>
        <p:nvCxnSpPr>
          <p:cNvPr id="348" name="① Event"/>
          <p:cNvCxnSpPr>
            <a:stCxn id="244" idx="2"/>
          </p:cNvCxnSpPr>
          <p:nvPr/>
        </p:nvCxnSpPr>
        <p:spPr>
          <a:xfrm>
            <a:off x="10959365" y="2875027"/>
            <a:ext cx="0" cy="679594"/>
          </a:xfrm>
          <a:prstGeom prst="line">
            <a:avLst/>
          </a:prstGeom>
          <a:ln w="9525">
            <a:solidFill>
              <a:schemeClr val="tx1"/>
            </a:solidFill>
            <a:prstDash val="dash"/>
            <a:tailEnd type="arrow"/>
          </a:ln>
        </p:spPr>
      </p:cxnSp>
      <p:cxnSp>
        <p:nvCxnSpPr>
          <p:cNvPr id="366" name="① Event"/>
          <p:cNvCxnSpPr>
            <a:stCxn id="122" idx="2"/>
            <a:endCxn id="359" idx="0"/>
          </p:cNvCxnSpPr>
          <p:nvPr/>
        </p:nvCxnSpPr>
        <p:spPr>
          <a:xfrm>
            <a:off x="2529673" y="3225466"/>
            <a:ext cx="1" cy="122453"/>
          </a:xfrm>
          <a:prstGeom prst="line">
            <a:avLst/>
          </a:prstGeom>
          <a:ln w="9525">
            <a:solidFill>
              <a:schemeClr val="tx1"/>
            </a:solidFill>
            <a:prstDash val="dash"/>
            <a:tailEnd type="arrow"/>
          </a:ln>
        </p:spPr>
      </p:cxnSp>
      <p:sp>
        <p:nvSpPr>
          <p:cNvPr id="546" name="실행 단추: 앞으로 또는 다음 545">
            <a:hlinkClick r:id="rId3" action="ppaction://hlinksldjump" highlightClick="1"/>
          </p:cNvPr>
          <p:cNvSpPr/>
          <p:nvPr/>
        </p:nvSpPr>
        <p:spPr>
          <a:xfrm>
            <a:off x="6629355" y="670767"/>
            <a:ext cx="311150" cy="2721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8" name="직사각형 407"/>
          <p:cNvSpPr/>
          <p:nvPr/>
        </p:nvSpPr>
        <p:spPr>
          <a:xfrm>
            <a:off x="1428751" y="1987962"/>
            <a:ext cx="1660102" cy="200055"/>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409" name="직사각형 408"/>
          <p:cNvSpPr/>
          <p:nvPr/>
        </p:nvSpPr>
        <p:spPr>
          <a:xfrm>
            <a:off x="6855862" y="1919400"/>
            <a:ext cx="1605388" cy="200055"/>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410" name="직사각형 409"/>
          <p:cNvSpPr/>
          <p:nvPr/>
        </p:nvSpPr>
        <p:spPr>
          <a:xfrm>
            <a:off x="4522771" y="4235870"/>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411" name="직사각형 410"/>
          <p:cNvSpPr/>
          <p:nvPr/>
        </p:nvSpPr>
        <p:spPr>
          <a:xfrm>
            <a:off x="9854376" y="4148915"/>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7497631" y="815820"/>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7" name="모서리가 둥근 직사각형 37">
            <a:extLst>
              <a:ext uri="{FF2B5EF4-FFF2-40B4-BE49-F238E27FC236}">
                <a16:creationId xmlns:a16="http://schemas.microsoft.com/office/drawing/2014/main" id="{693DBFDB-8F01-4E41-BD3C-DB0E8534BF09}"/>
              </a:ext>
            </a:extLst>
          </p:cNvPr>
          <p:cNvSpPr/>
          <p:nvPr/>
        </p:nvSpPr>
        <p:spPr>
          <a:xfrm>
            <a:off x="8817795"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727279"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89" name="모서리가 둥근 직사각형 37">
            <a:extLst>
              <a:ext uri="{FF2B5EF4-FFF2-40B4-BE49-F238E27FC236}">
                <a16:creationId xmlns:a16="http://schemas.microsoft.com/office/drawing/2014/main" id="{0D4F3992-1F75-4D1E-BD6B-B6F5D7420B23}"/>
              </a:ext>
            </a:extLst>
          </p:cNvPr>
          <p:cNvSpPr/>
          <p:nvPr/>
        </p:nvSpPr>
        <p:spPr>
          <a:xfrm>
            <a:off x="9636626"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10306660"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변경용이성</a:t>
            </a:r>
          </a:p>
        </p:txBody>
      </p:sp>
      <p:sp>
        <p:nvSpPr>
          <p:cNvPr id="92" name="모서리가 둥근 직사각형 37">
            <a:extLst>
              <a:ext uri="{FF2B5EF4-FFF2-40B4-BE49-F238E27FC236}">
                <a16:creationId xmlns:a16="http://schemas.microsoft.com/office/drawing/2014/main" id="{943DD2A7-69DA-40E3-9733-EC321EE86A81}"/>
              </a:ext>
            </a:extLst>
          </p:cNvPr>
          <p:cNvSpPr/>
          <p:nvPr/>
        </p:nvSpPr>
        <p:spPr>
          <a:xfrm>
            <a:off x="9713845" y="616927"/>
            <a:ext cx="979555"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a:t>
            </a:r>
            <a:r>
              <a:rPr lang="ko-KR" altLang="en-US" sz="700" dirty="0">
                <a:latin typeface="맑은 고딕" panose="020B0503020000020004" pitchFamily="50" charset="-127"/>
              </a:rPr>
              <a:t> </a:t>
            </a:r>
            <a:r>
              <a:rPr lang="en-US" altLang="ko-KR" sz="700" dirty="0">
                <a:latin typeface="맑은 고딕" panose="020B0503020000020004" pitchFamily="50" charset="-127"/>
              </a:rPr>
              <a:t>Device</a:t>
            </a:r>
            <a:r>
              <a:rPr lang="ko-KR" altLang="en-US" sz="700" dirty="0">
                <a:latin typeface="맑은 고딕" panose="020B0503020000020004" pitchFamily="50" charset="-127"/>
              </a:rPr>
              <a:t> </a:t>
            </a:r>
            <a:r>
              <a:rPr lang="en-US" altLang="ko-KR" sz="700" dirty="0">
                <a:latin typeface="맑은 고딕" panose="020B0503020000020004" pitchFamily="50" charset="-127"/>
              </a:rPr>
              <a:t>SW</a:t>
            </a:r>
            <a:r>
              <a:rPr lang="ko-KR" altLang="en-US" sz="700" dirty="0">
                <a:latin typeface="맑은 고딕" panose="020B0503020000020004" pitchFamily="50" charset="-127"/>
              </a:rPr>
              <a:t> 제약</a:t>
            </a:r>
          </a:p>
        </p:txBody>
      </p:sp>
      <p:sp>
        <p:nvSpPr>
          <p:cNvPr id="93" name="모서리가 둥근 직사각형 37">
            <a:extLst>
              <a:ext uri="{FF2B5EF4-FFF2-40B4-BE49-F238E27FC236}">
                <a16:creationId xmlns:a16="http://schemas.microsoft.com/office/drawing/2014/main" id="{07C239D8-95A4-4B5E-86D7-14B5BB2BAB56}"/>
              </a:ext>
            </a:extLst>
          </p:cNvPr>
          <p:cNvSpPr/>
          <p:nvPr/>
        </p:nvSpPr>
        <p:spPr>
          <a:xfrm>
            <a:off x="10754020" y="616927"/>
            <a:ext cx="1203031"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a:t>
            </a:r>
            <a:r>
              <a:rPr lang="ko-KR" altLang="en-US" sz="700" dirty="0">
                <a:latin typeface="맑은 고딕" panose="020B0503020000020004" pitchFamily="50" charset="-127"/>
              </a:rPr>
              <a:t> </a:t>
            </a:r>
            <a:r>
              <a:rPr lang="en-US" altLang="ko-KR" sz="700" dirty="0">
                <a:latin typeface="맑은 고딕" panose="020B0503020000020004" pitchFamily="50" charset="-127"/>
              </a:rPr>
              <a:t>Simulation </a:t>
            </a:r>
            <a:r>
              <a:rPr lang="ko-KR" altLang="en-US" sz="700" dirty="0">
                <a:latin typeface="맑은 고딕" panose="020B0503020000020004" pitchFamily="50" charset="-127"/>
              </a:rPr>
              <a:t>기반 평가</a:t>
            </a:r>
          </a:p>
        </p:txBody>
      </p:sp>
    </p:spTree>
    <p:extLst>
      <p:ext uri="{BB962C8B-B14F-4D97-AF65-F5344CB8AC3E}">
        <p14:creationId xmlns:p14="http://schemas.microsoft.com/office/powerpoint/2010/main" val="4083416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69727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206272">
                  <a:extLst>
                    <a:ext uri="{9D8B030D-6E8A-4147-A177-3AD203B41FA5}">
                      <a16:colId xmlns:a16="http://schemas.microsoft.com/office/drawing/2014/main" val="5654497"/>
                    </a:ext>
                  </a:extLst>
                </a:gridCol>
                <a:gridCol w="2229782">
                  <a:extLst>
                    <a:ext uri="{9D8B030D-6E8A-4147-A177-3AD203B41FA5}">
                      <a16:colId xmlns:a16="http://schemas.microsoft.com/office/drawing/2014/main" val="2953438935"/>
                    </a:ext>
                  </a:extLst>
                </a:gridCol>
                <a:gridCol w="3389968">
                  <a:extLst>
                    <a:ext uri="{9D8B030D-6E8A-4147-A177-3AD203B41FA5}">
                      <a16:colId xmlns:a16="http://schemas.microsoft.com/office/drawing/2014/main" val="3070054508"/>
                    </a:ext>
                  </a:extLst>
                </a:gridCol>
                <a:gridCol w="204608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a:t>
                      </a:r>
                      <a:r>
                        <a:rPr lang="en-US" altLang="ko-KR" sz="1200" b="1" strike="noStrike" baseline="0" dirty="0"/>
                        <a:t> </a:t>
                      </a:r>
                      <a:r>
                        <a:rPr lang="ko-KR" altLang="en-US" sz="1200" b="1" strike="noStrike" baseline="0" dirty="0"/>
                        <a:t>자원 상태 기반 이동 </a:t>
                      </a:r>
                      <a:r>
                        <a:rPr lang="en-US" altLang="ko-KR" sz="1200" b="1" strike="noStrike" baseline="0" dirty="0">
                          <a:solidFill>
                            <a:srgbClr val="FF0000"/>
                          </a:solidFill>
                        </a:rPr>
                        <a:t>+ Data-Memory Affinity</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ko-KR" altLang="en-US" sz="1200" b="1" strike="noStrike" baseline="0" dirty="0"/>
                        <a:t>특성 기반 이동 </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낮은 </a:t>
                      </a:r>
                      <a:r>
                        <a:rPr lang="en-US" altLang="ko-KR" sz="1200" strike="noStrike" kern="1200" baseline="0" dirty="0">
                          <a:solidFill>
                            <a:schemeClr val="tx1"/>
                          </a:solidFill>
                          <a:effectLst/>
                          <a:latin typeface="+mn-lt"/>
                          <a:ea typeface="+mn-ea"/>
                          <a:cs typeface="+mn-cs"/>
                        </a:rPr>
                        <a:t>Decision overhead </a:t>
                      </a:r>
                      <a:r>
                        <a:rPr lang="ko-KR" altLang="en-US" sz="1200" strike="noStrike" kern="1200" baseline="0" dirty="0">
                          <a:solidFill>
                            <a:schemeClr val="tx1"/>
                          </a:solidFill>
                          <a:effectLst/>
                          <a:latin typeface="+mn-lt"/>
                          <a:ea typeface="+mn-ea"/>
                          <a:cs typeface="+mn-cs"/>
                        </a:rPr>
                        <a:t>및 </a:t>
                      </a: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전체 메모리</a:t>
                      </a:r>
                      <a:r>
                        <a:rPr lang="en-US" altLang="ko-KR" sz="1200" strike="noStrike" kern="1200" baseline="0" dirty="0">
                          <a:solidFill>
                            <a:schemeClr val="tx1"/>
                          </a:solidFill>
                          <a:effectLst/>
                          <a:latin typeface="+mn-lt"/>
                          <a:ea typeface="+mn-ea"/>
                          <a:cs typeface="+mn-cs"/>
                        </a:rPr>
                        <a:t> Pool</a:t>
                      </a:r>
                      <a:r>
                        <a:rPr lang="ko-KR" altLang="en-US" sz="1200" strike="noStrike" kern="1200" baseline="0" dirty="0">
                          <a:solidFill>
                            <a:schemeClr val="tx1"/>
                          </a:solidFill>
                          <a:effectLst/>
                          <a:latin typeface="+mn-lt"/>
                          <a:ea typeface="+mn-ea"/>
                          <a:cs typeface="+mn-cs"/>
                        </a:rPr>
                        <a:t>의 </a:t>
                      </a:r>
                      <a:r>
                        <a:rPr lang="en-US" altLang="ko-KR" sz="1200" strike="noStrike" kern="1200" baseline="0" dirty="0">
                          <a:solidFill>
                            <a:schemeClr val="tx1"/>
                          </a:solidFill>
                          <a:effectLst/>
                          <a:latin typeface="+mn-lt"/>
                          <a:ea typeface="+mn-ea"/>
                          <a:cs typeface="+mn-cs"/>
                        </a:rPr>
                        <a:t>Utilization </a:t>
                      </a:r>
                      <a:r>
                        <a:rPr lang="ko-KR" altLang="en-US" sz="1200" strike="noStrike" kern="1200" baseline="0" dirty="0">
                          <a:solidFill>
                            <a:schemeClr val="tx1"/>
                          </a:solidFill>
                          <a:effectLst/>
                          <a:latin typeface="+mn-lt"/>
                          <a:ea typeface="+mn-ea"/>
                          <a:cs typeface="+mn-cs"/>
                        </a:rPr>
                        <a:t>관리에 유리 </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a:t>
                      </a:r>
                      <a:r>
                        <a:rPr lang="ko-KR" altLang="en-US" sz="1200" strike="noStrike" dirty="0">
                          <a:solidFill>
                            <a:schemeClr val="tx1"/>
                          </a:solidFill>
                          <a:effectLst/>
                        </a:rPr>
                        <a:t>종류 별 </a:t>
                      </a:r>
                      <a:r>
                        <a:rPr lang="en-US" altLang="ko-KR" sz="1200" strike="noStrike" dirty="0">
                          <a:solidFill>
                            <a:schemeClr val="tx1"/>
                          </a:solidFill>
                          <a:effectLst/>
                        </a:rPr>
                        <a:t>Access </a:t>
                      </a:r>
                      <a:r>
                        <a:rPr lang="ko-KR" altLang="en-US" sz="1200" strike="noStrike" dirty="0">
                          <a:solidFill>
                            <a:schemeClr val="tx1"/>
                          </a:solidFill>
                          <a:effectLst/>
                        </a:rPr>
                        <a:t>특성에 맞는 </a:t>
                      </a:r>
                      <a:r>
                        <a:rPr lang="en-US" altLang="ko-KR" sz="1200" strike="noStrike" dirty="0">
                          <a:solidFill>
                            <a:schemeClr val="tx1"/>
                          </a:solidFill>
                          <a:effectLst/>
                        </a:rPr>
                        <a:t>Fine-grained </a:t>
                      </a:r>
                      <a:r>
                        <a:rPr lang="ko-KR" altLang="en-US" sz="1200" strike="noStrike" dirty="0">
                          <a:solidFill>
                            <a:schemeClr val="tx1"/>
                          </a:solidFill>
                          <a:effectLst/>
                        </a:rPr>
                        <a:t>배치 가능</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고속</a:t>
                      </a:r>
                      <a:r>
                        <a:rPr lang="en-US" altLang="ko-KR" sz="1200" strike="noStrike" dirty="0">
                          <a:solidFill>
                            <a:schemeClr val="tx1"/>
                          </a:solidFill>
                          <a:effectLst/>
                        </a:rPr>
                        <a:t>(High</a:t>
                      </a:r>
                      <a:r>
                        <a:rPr lang="en-US" altLang="ko-KR" sz="1200" strike="noStrike" baseline="0" dirty="0">
                          <a:solidFill>
                            <a:schemeClr val="tx1"/>
                          </a:solidFill>
                          <a:effectLst/>
                        </a:rPr>
                        <a:t> tier)</a:t>
                      </a:r>
                      <a:r>
                        <a:rPr lang="ko-KR" altLang="en-US" sz="1200" strike="noStrike" dirty="0">
                          <a:solidFill>
                            <a:schemeClr val="tx1"/>
                          </a:solidFill>
                          <a:effectLst/>
                        </a:rPr>
                        <a:t> 메모리의 불필요한 점유 감소 가능</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Data</a:t>
                      </a:r>
                      <a:r>
                        <a:rPr lang="ko-KR" altLang="en-US" sz="1200" strike="noStrike" baseline="0" dirty="0">
                          <a:solidFill>
                            <a:schemeClr val="tx1"/>
                          </a:solidFill>
                          <a:effectLst/>
                        </a:rPr>
                        <a:t>별 접근 특성 반영 한계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의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a:t>
                      </a:r>
                      <a:endParaRPr lang="en-US" altLang="ko-KR" sz="1200" strike="noStrike" baseline="0" dirty="0">
                        <a:solidFill>
                          <a:schemeClr val="tx1"/>
                        </a:solidFill>
                        <a:effectLst/>
                      </a:endParaRPr>
                    </a:p>
                    <a:p>
                      <a:pPr marL="171450" marR="0" lvl="0" indent="-171450" algn="l" defTabSz="914400" rtl="0" eaLnBrk="1" fontAlgn="auto" latinLnBrk="1" hangingPunct="1">
                        <a:lnSpc>
                          <a:spcPct val="100000"/>
                        </a:lnSpc>
                        <a:spcBef>
                          <a:spcPts val="0"/>
                        </a:spcBef>
                        <a:spcAft>
                          <a:spcPts val="0"/>
                        </a:spcAft>
                        <a:buClrTx/>
                        <a:buSzTx/>
                        <a:buFont typeface="Wingdings" panose="05000000000000000000" pitchFamily="2" charset="2"/>
                        <a:buChar char="à"/>
                        <a:tabLst/>
                        <a:defRPr/>
                      </a:pPr>
                      <a:r>
                        <a:rPr lang="ko-KR" altLang="en-US" sz="1200" strike="noStrike" baseline="0" dirty="0">
                          <a:solidFill>
                            <a:srgbClr val="FF0000"/>
                          </a:solidFill>
                          <a:effectLst/>
                          <a:sym typeface="Wingdings" panose="05000000000000000000" pitchFamily="2" charset="2"/>
                        </a:rPr>
                        <a:t>사전에 알 수 있는 </a:t>
                      </a:r>
                      <a:r>
                        <a:rPr lang="en-US" altLang="ko-KR" sz="1200" strike="noStrike" baseline="0" dirty="0">
                          <a:solidFill>
                            <a:srgbClr val="FF0000"/>
                          </a:solidFill>
                          <a:effectLst/>
                          <a:sym typeface="Wingdings" panose="05000000000000000000" pitchFamily="2" charset="2"/>
                        </a:rPr>
                        <a:t>AI Data/operation</a:t>
                      </a:r>
                      <a:r>
                        <a:rPr lang="ko-KR" altLang="en-US" sz="1200" strike="noStrike" baseline="0" dirty="0">
                          <a:solidFill>
                            <a:srgbClr val="FF0000"/>
                          </a:solidFill>
                          <a:effectLst/>
                          <a:sym typeface="Wingdings" panose="05000000000000000000" pitchFamily="2" charset="2"/>
                        </a:rPr>
                        <a:t>의 특성은 </a:t>
                      </a:r>
                      <a:r>
                        <a:rPr lang="en-US" altLang="ko-KR" sz="1200" strike="noStrike" baseline="0" dirty="0">
                          <a:solidFill>
                            <a:srgbClr val="FF0000"/>
                          </a:solidFill>
                          <a:effectLst/>
                          <a:sym typeface="Wingdings" panose="05000000000000000000" pitchFamily="2" charset="2"/>
                        </a:rPr>
                        <a:t>static hint</a:t>
                      </a:r>
                      <a:r>
                        <a:rPr lang="ko-KR" altLang="en-US" sz="1200" strike="noStrike" baseline="0" dirty="0">
                          <a:solidFill>
                            <a:srgbClr val="FF0000"/>
                          </a:solidFill>
                          <a:effectLst/>
                          <a:sym typeface="Wingdings" panose="05000000000000000000" pitchFamily="2" charset="2"/>
                        </a:rPr>
                        <a:t>로 반영</a:t>
                      </a:r>
                      <a:endParaRPr lang="en-US" altLang="ko-KR" sz="1200" strike="noStrike" baseline="0" dirty="0">
                        <a:solidFill>
                          <a:srgbClr val="FF0000"/>
                        </a:solidFill>
                        <a:effectLst/>
                        <a:sym typeface="Wingdings" panose="05000000000000000000" pitchFamily="2" charset="2"/>
                      </a:endParaRPr>
                    </a:p>
                    <a:p>
                      <a:pPr marL="171450" marR="0" lvl="0" indent="-171450" algn="l" defTabSz="914400" rtl="0" eaLnBrk="1" fontAlgn="auto" latinLnBrk="1" hangingPunct="1">
                        <a:lnSpc>
                          <a:spcPct val="100000"/>
                        </a:lnSpc>
                        <a:spcBef>
                          <a:spcPts val="0"/>
                        </a:spcBef>
                        <a:spcAft>
                          <a:spcPts val="0"/>
                        </a:spcAft>
                        <a:buClrTx/>
                        <a:buSzTx/>
                        <a:buFont typeface="Wingdings" panose="05000000000000000000" pitchFamily="2" charset="2"/>
                        <a:buChar char="à"/>
                        <a:tabLst/>
                        <a:defRPr/>
                      </a:pPr>
                      <a:r>
                        <a:rPr lang="en-US" altLang="ko-KR" sz="1200" strike="noStrike" baseline="0" dirty="0">
                          <a:solidFill>
                            <a:srgbClr val="FF0000"/>
                          </a:solidFill>
                          <a:effectLst/>
                          <a:sym typeface="Wingdings" panose="05000000000000000000" pitchFamily="2" charset="2"/>
                        </a:rPr>
                        <a:t>KV </a:t>
                      </a:r>
                      <a:r>
                        <a:rPr lang="ko-KR" altLang="en-US" sz="1200" strike="noStrike" baseline="0" dirty="0">
                          <a:solidFill>
                            <a:srgbClr val="FF0000"/>
                          </a:solidFill>
                          <a:effectLst/>
                          <a:sym typeface="Wingdings" panose="05000000000000000000" pitchFamily="2" charset="2"/>
                        </a:rPr>
                        <a:t>캐시에 대한 </a:t>
                      </a:r>
                      <a:r>
                        <a:rPr lang="en-US" altLang="ko-KR" sz="1200" strike="noStrike" baseline="0" dirty="0">
                          <a:solidFill>
                            <a:srgbClr val="FF0000"/>
                          </a:solidFill>
                          <a:effectLst/>
                          <a:sym typeface="Wingdings" panose="05000000000000000000" pitchFamily="2" charset="2"/>
                        </a:rPr>
                        <a:t>behavior</a:t>
                      </a:r>
                      <a:r>
                        <a:rPr lang="ko-KR" altLang="en-US" sz="1200" strike="noStrike" baseline="0" dirty="0">
                          <a:solidFill>
                            <a:srgbClr val="FF0000"/>
                          </a:solidFill>
                          <a:effectLst/>
                          <a:sym typeface="Wingdings" panose="05000000000000000000" pitchFamily="2" charset="2"/>
                        </a:rPr>
                        <a:t>는 </a:t>
                      </a:r>
                      <a:r>
                        <a:rPr lang="en-US" altLang="ko-KR" sz="1200" strike="noStrike" baseline="0" dirty="0">
                          <a:solidFill>
                            <a:srgbClr val="FF0000"/>
                          </a:solidFill>
                          <a:effectLst/>
                          <a:sym typeface="Wingdings" panose="05000000000000000000" pitchFamily="2" charset="2"/>
                        </a:rPr>
                        <a:t>prefill/decode </a:t>
                      </a:r>
                      <a:r>
                        <a:rPr lang="ko-KR" altLang="en-US" sz="1200" strike="noStrike" baseline="0" dirty="0">
                          <a:solidFill>
                            <a:srgbClr val="FF0000"/>
                          </a:solidFill>
                          <a:effectLst/>
                          <a:sym typeface="Wingdings" panose="05000000000000000000" pitchFamily="2" charset="2"/>
                        </a:rPr>
                        <a:t>연산 위치 결정</a:t>
                      </a:r>
                      <a:r>
                        <a:rPr lang="en-US" altLang="ko-KR" sz="1200" strike="noStrike" baseline="0" dirty="0">
                          <a:solidFill>
                            <a:srgbClr val="FF0000"/>
                          </a:solidFill>
                          <a:effectLst/>
                          <a:sym typeface="Wingdings" panose="05000000000000000000" pitchFamily="2" charset="2"/>
                        </a:rPr>
                        <a:t>(DP2)</a:t>
                      </a:r>
                      <a:r>
                        <a:rPr lang="ko-KR" altLang="en-US" sz="1200" strike="noStrike" baseline="0" dirty="0">
                          <a:solidFill>
                            <a:srgbClr val="FF0000"/>
                          </a:solidFill>
                          <a:effectLst/>
                          <a:sym typeface="Wingdings" panose="05000000000000000000" pitchFamily="2" charset="2"/>
                        </a:rPr>
                        <a:t>으로 보완</a:t>
                      </a:r>
                      <a:r>
                        <a:rPr lang="ko-KR" altLang="en-US" sz="1200" strike="noStrike" baseline="0" dirty="0">
                          <a:solidFill>
                            <a:schemeClr val="tx1"/>
                          </a:solidFill>
                          <a:effectLst/>
                        </a:rPr>
                        <a:t>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Data </a:t>
                      </a:r>
                      <a:r>
                        <a:rPr lang="ko-KR" altLang="en-US" sz="1200" strike="noStrike" baseline="0" dirty="0">
                          <a:solidFill>
                            <a:schemeClr val="tx1"/>
                          </a:solidFill>
                          <a:effectLst/>
                        </a:rPr>
                        <a:t>종류 별 </a:t>
                      </a:r>
                      <a:r>
                        <a:rPr lang="en-US" altLang="ko-KR" sz="1200" strike="noStrike" baseline="0" dirty="0">
                          <a:solidFill>
                            <a:schemeClr val="tx1"/>
                          </a:solidFill>
                          <a:effectLst/>
                        </a:rPr>
                        <a:t>Characterization </a:t>
                      </a:r>
                      <a:r>
                        <a:rPr lang="ko-KR" altLang="en-US" sz="1200" strike="noStrike" baseline="0" dirty="0">
                          <a:solidFill>
                            <a:schemeClr val="tx1"/>
                          </a:solidFill>
                          <a:effectLst/>
                        </a:rPr>
                        <a:t>및 </a:t>
                      </a:r>
                      <a:r>
                        <a:rPr lang="en-US" altLang="ko-KR" sz="1200" strike="noStrike" baseline="0" dirty="0">
                          <a:solidFill>
                            <a:schemeClr val="tx1"/>
                          </a:solidFill>
                          <a:effectLst/>
                        </a:rPr>
                        <a:t>Pattern </a:t>
                      </a:r>
                      <a:r>
                        <a:rPr lang="ko-KR" altLang="en-US" sz="1200" strike="noStrike" baseline="0" dirty="0">
                          <a:solidFill>
                            <a:schemeClr val="tx1"/>
                          </a:solidFill>
                          <a:effectLst/>
                        </a:rPr>
                        <a:t>예측을 위한 </a:t>
                      </a:r>
                      <a:r>
                        <a:rPr lang="en-US" altLang="ko-KR" sz="1200" strike="noStrike" baseline="0" dirty="0">
                          <a:solidFill>
                            <a:schemeClr val="tx1"/>
                          </a:solidFill>
                          <a:effectLst/>
                        </a:rPr>
                        <a:t>Overhead </a:t>
                      </a:r>
                      <a:r>
                        <a:rPr lang="ko-KR" altLang="en-US" sz="1200" strike="noStrike" baseline="0" dirty="0">
                          <a:solidFill>
                            <a:schemeClr val="tx1"/>
                          </a:solidFill>
                          <a:effectLst/>
                        </a:rPr>
                        <a:t>증가</a:t>
                      </a: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예측 오류 시 </a:t>
                      </a:r>
                      <a:r>
                        <a:rPr lang="en-US" altLang="ko-KR" sz="1200" strike="noStrike" baseline="0" dirty="0" err="1">
                          <a:solidFill>
                            <a:schemeClr val="tx1"/>
                          </a:solidFill>
                          <a:effectLst/>
                        </a:rPr>
                        <a:t>Mis</a:t>
                      </a:r>
                      <a:r>
                        <a:rPr lang="en-US" altLang="ko-KR" sz="1200" strike="noStrike" baseline="0" dirty="0">
                          <a:solidFill>
                            <a:schemeClr val="tx1"/>
                          </a:solidFill>
                          <a:effectLst/>
                        </a:rPr>
                        <a:t>-placement </a:t>
                      </a:r>
                      <a:r>
                        <a:rPr lang="ko-KR" altLang="en-US" sz="1200" strike="noStrike" baseline="0" dirty="0">
                          <a:solidFill>
                            <a:schemeClr val="tx1"/>
                          </a:solidFill>
                          <a:effectLst/>
                        </a:rPr>
                        <a:t>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baseline="0" dirty="0">
                          <a:solidFill>
                            <a:schemeClr val="tx1"/>
                          </a:solidFill>
                          <a:latin typeface="맑은 고딕" panose="020B0503020000020004" pitchFamily="50" charset="-127"/>
                          <a:ea typeface="+mn-ea"/>
                        </a:rPr>
                        <a:t> </a:t>
                      </a:r>
                      <a:r>
                        <a:rPr lang="en-US" altLang="ko-KR" sz="1000" strike="noStrike" baseline="0" dirty="0">
                          <a:solidFill>
                            <a:schemeClr val="tx1"/>
                          </a:solidFill>
                          <a:latin typeface="맑은 고딕" panose="020B0503020000020004" pitchFamily="50" charset="-127"/>
                          <a:ea typeface="+mn-ea"/>
                        </a:rPr>
                        <a:t>436(x1.298)</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FF0000"/>
                          </a:solidFill>
                          <a:latin typeface="+mn-lt"/>
                          <a:ea typeface="맑은 고딕"/>
                        </a:rPr>
                        <a:t/>
                      </a:r>
                      <a:r>
                        <a:rPr lang="ko-KR" altLang="en-US" sz="1000" strike="noStrike" dirty="0">
                          <a:solidFill>
                            <a:schemeClr val="tx1"/>
                          </a:solidFill>
                          <a:latin typeface="맑은 고딕" panose="020B0503020000020004" pitchFamily="50" charset="-127"/>
                          <a:ea typeface="+mn-ea"/>
                        </a:rPr>
                        <a:t> </a:t>
                      </a:r>
                      <a:r>
                        <a:rPr lang="en-US" altLang="ko-KR" sz="1000" strike="noStrike" baseline="0" dirty="0">
                          <a:solidFill>
                            <a:srgbClr val="FF0000"/>
                          </a:solidFill>
                          <a:latin typeface="맑은 고딕" panose="020B0503020000020004" pitchFamily="50" charset="-127"/>
                          <a:ea typeface="+mn-ea"/>
                        </a:rPr>
                        <a:t>1128(x1.04), 18.3(x1.07)</a:t>
                      </a:r>
                      <a:endParaRPr lang="en-US" altLang="ko-KR" sz="1000" strike="noStrike" dirty="0">
                        <a:solidFill>
                          <a:srgbClr val="FF000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142.7(용량 50%, 감소율 +2.7%)</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$0.39, 0.38, 1.75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(토큰 비용, M/M, </a:t>
                      </a:r>
                      <a:r>
                        <a:rPr lang="ko-KR" altLang="en-US" sz="1000" b="0" strike="noStrike" dirty="0">
                          <a:solidFill>
                            <a:schemeClr val="tx1"/>
                          </a:solidFill>
                        </a:rPr>
                        <a:t>모듈 수</a:t>
                      </a:r>
                      <a:r>
                        <a:rPr lang="en-US" altLang="ko-KR" sz="1000" b="0" strike="noStrike" dirty="0">
                          <a:solidFill>
                            <a:schemeClr val="tx1"/>
                          </a:solidFill>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baseline="0" dirty="0">
                          <a:solidFill>
                            <a:schemeClr val="tx1"/>
                          </a:solidFill>
                          <a:latin typeface="맑은 고딕" panose="020B0503020000020004" pitchFamily="50" charset="-127"/>
                          <a:ea typeface="+mn-ea"/>
                        </a:rPr>
                        <a:t>478</a:t>
                      </a:r>
                      <a:r>
                        <a:rPr lang="en-US" altLang="ko-KR" sz="1000" strike="noStrike" baseline="0" dirty="0">
                          <a:solidFill>
                            <a:schemeClr val="tx1"/>
                          </a:solidFill>
                          <a:latin typeface="맑은 고딕" panose="020B0503020000020004" pitchFamily="50" charset="-127"/>
                          <a:ea typeface="+mn-ea"/>
                        </a:rPr>
                        <a:t>(x1.42)</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785</a:t>
                      </a:r>
                      <a:r>
                        <a:rPr lang="en-US" altLang="ko-KR" sz="1000" strike="noStrike" dirty="0">
                          <a:solidFill>
                            <a:schemeClr val="tx1"/>
                          </a:solidFill>
                          <a:latin typeface="맑은 고딕" panose="020B0503020000020004" pitchFamily="50" charset="-127"/>
                          <a:ea typeface="+mn-ea"/>
                        </a:rPr>
                        <a:t>(x0.72)</a:t>
                      </a:r>
                      <a:r>
                        <a:rPr lang="en-US" altLang="ko-KR" sz="1000" strike="noStrike" dirty="0">
                          <a:solidFill>
                            <a:schemeClr val="tx1"/>
                          </a:solidFill>
                          <a:latin typeface="맑은 고딕" panose="020B0503020000020004" pitchFamily="50" charset="-127"/>
                          <a:ea typeface="+mn-ea"/>
                        </a:rPr>
                        <a:t>,16.0</a:t>
                      </a:r>
                      <a:r>
                        <a:rPr lang="en-US" altLang="ko-KR" sz="1000" strike="noStrike" dirty="0">
                          <a:solidFill>
                            <a:schemeClr val="tx1"/>
                          </a:solidFill>
                          <a:latin typeface="맑은 고딕" panose="020B0503020000020004" pitchFamily="50" charset="-127"/>
                          <a:ea typeface="+mn-ea"/>
                        </a:rPr>
                        <a:t>(x0.94)</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178.0(용량 62%, 감소율 -21.4%)</a:t>
                      </a:r>
                      <a:r>
                        <a:rPr lang="en-US" altLang="ko-KR" sz="1000" strike="noStrike" dirty="0">
                          <a:solidFill>
                            <a:schemeClr val="tx1"/>
                          </a:solidFill>
                          <a:latin typeface="맑은 고딕" panose="020B0503020000020004" pitchFamily="50" charset="-127"/>
                          <a:ea typeface="+mn-ea"/>
                        </a:rPr>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en-US" altLang="ko-KR" sz="1000" b="0" dirty="0">
                          <a:solidFill>
                            <a:srgbClr val="1A1A1A"/>
                          </a:solidFill>
                          <a:latin typeface="+mn-lt"/>
                          <a:ea typeface="맑은 고딕"/>
                        </a:rPr>
                        <a:t>$0.49, 0.51, 2.50</a:t>
                      </a:r>
                      <a:endParaRPr lang="en-US" altLang="ko-KR" sz="1200" strike="noStrike" dirty="0">
                        <a:solidFill>
                          <a:prstClr val="black"/>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DP1. </a:t>
            </a:r>
            <a:r>
              <a:rPr lang="ko-KR" altLang="en-US" dirty="0"/>
              <a:t>이기종 메모리 기반 </a:t>
            </a:r>
            <a:r>
              <a:rPr lang="en-US" altLang="ko-KR" dirty="0"/>
              <a:t>Data Migration</a:t>
            </a:r>
            <a:r>
              <a:rPr lang="ko-KR" altLang="en-US" dirty="0"/>
              <a:t>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환경에서 언제</a:t>
            </a:r>
            <a:r>
              <a:rPr lang="en-US" altLang="ko-KR" sz="1400" b="1" dirty="0">
                <a:solidFill>
                  <a:schemeClr val="bg1"/>
                </a:solidFill>
              </a:rPr>
              <a:t>, </a:t>
            </a:r>
            <a:r>
              <a:rPr lang="ko-KR" altLang="en-US" sz="1400" b="1" dirty="0">
                <a:solidFill>
                  <a:schemeClr val="bg1"/>
                </a:solidFill>
              </a:rPr>
              <a:t>무엇을</a:t>
            </a:r>
            <a:r>
              <a:rPr lang="en-US" altLang="ko-KR" sz="1400" b="1" dirty="0">
                <a:solidFill>
                  <a:schemeClr val="bg1"/>
                </a:solidFill>
              </a:rPr>
              <a:t>, </a:t>
            </a:r>
            <a:r>
              <a:rPr lang="ko-KR" altLang="en-US" sz="1400" b="1" dirty="0">
                <a:solidFill>
                  <a:schemeClr val="bg1"/>
                </a:solidFill>
              </a:rPr>
              <a:t>어느 </a:t>
            </a:r>
            <a:r>
              <a:rPr lang="en-US" altLang="ko-KR" sz="1400" b="1" dirty="0">
                <a:solidFill>
                  <a:schemeClr val="bg1"/>
                </a:solidFill>
              </a:rPr>
              <a:t>memory tier</a:t>
            </a:r>
            <a:r>
              <a:rPr lang="ko-KR" altLang="en-US" sz="1400" b="1" dirty="0">
                <a:solidFill>
                  <a:schemeClr val="bg1"/>
                </a:solidFill>
              </a:rPr>
              <a:t>로 이동할지 결정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우선한 </a:t>
            </a:r>
            <a:r>
              <a:rPr lang="en-US" altLang="ko-KR" sz="1100" dirty="0"/>
              <a:t>Migration“</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AI Data</a:t>
            </a:r>
            <a:r>
              <a:rPr lang="ko-KR" altLang="en-US" sz="1100" dirty="0">
                <a:solidFill>
                  <a:srgbClr val="0066FF"/>
                </a:solidFill>
              </a:rPr>
              <a:t> 특성</a:t>
            </a:r>
            <a:r>
              <a:rPr lang="en-US" altLang="ko-KR" sz="1100" dirty="0">
                <a:solidFill>
                  <a:srgbClr val="0066FF"/>
                </a:solidFill>
              </a:rPr>
              <a:t>(Type/Hotness/Lifetime/Agent Tool Info </a:t>
            </a:r>
            <a:r>
              <a:rPr lang="ko-KR" altLang="en-US" sz="1100" dirty="0">
                <a:solidFill>
                  <a:srgbClr val="0066FF"/>
                </a:solidFill>
              </a:rPr>
              <a:t>등</a:t>
            </a:r>
            <a:r>
              <a:rPr lang="en-US" altLang="ko-KR" sz="1100" dirty="0">
                <a:solidFill>
                  <a:srgbClr val="0066FF"/>
                </a:solidFill>
              </a:rPr>
              <a:t>)</a:t>
            </a:r>
            <a:r>
              <a:rPr lang="ko-KR" altLang="en-US" sz="1100" dirty="0"/>
              <a:t>에 우선한 </a:t>
            </a:r>
            <a:r>
              <a:rPr lang="en-US" altLang="ko-KR" sz="1100" dirty="0"/>
              <a:t>Migration“</a:t>
            </a:r>
            <a:endParaRPr lang="ko-KR" altLang="en-US" sz="1100" dirty="0"/>
          </a:p>
        </p:txBody>
      </p:sp>
      <p:sp>
        <p:nvSpPr>
          <p:cNvPr id="140" name="직사각형 139"/>
          <p:cNvSpPr/>
          <p:nvPr/>
        </p:nvSpPr>
        <p:spPr>
          <a:xfrm>
            <a:off x="6521412" y="46469"/>
            <a:ext cx="1487330" cy="461665"/>
          </a:xfrm>
          <a:prstGeom prst="rect">
            <a:avLst/>
          </a:prstGeom>
        </p:spPr>
        <p:txBody>
          <a:bodyPr wrap="none">
            <a:spAutoFit/>
          </a:bodyPr>
          <a:lstStyle/>
          <a:p>
            <a:r>
              <a:rPr lang="en-US" altLang="ko-KR" sz="1200" b="1" dirty="0"/>
              <a:t>(When, What, </a:t>
            </a:r>
          </a:p>
          <a:p>
            <a:r>
              <a:rPr lang="en-US" altLang="ko-KR" sz="1200" b="1" dirty="0"/>
              <a:t>Where to locate?)</a:t>
            </a:r>
            <a:endParaRPr lang="ko-KR" altLang="en-US" sz="1200" dirty="0"/>
          </a:p>
        </p:txBody>
      </p:sp>
      <p:sp>
        <p:nvSpPr>
          <p:cNvPr id="182" name="DecisionPlane"/>
          <p:cNvSpPr/>
          <p:nvPr/>
        </p:nvSpPr>
        <p:spPr>
          <a:xfrm>
            <a:off x="1335759" y="1959311"/>
            <a:ext cx="4919889" cy="1240052"/>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183" name="DecisionPlane tab"/>
          <p:cNvSpPr/>
          <p:nvPr/>
        </p:nvSpPr>
        <p:spPr>
          <a:xfrm>
            <a:off x="1335759" y="1853363"/>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84" name="KV Cache Manager"/>
          <p:cNvSpPr/>
          <p:nvPr/>
        </p:nvSpPr>
        <p:spPr>
          <a:xfrm>
            <a:off x="3164079" y="2193913"/>
            <a:ext cx="1475872" cy="78936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t">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185" name="KV Cache Manager"/>
          <p:cNvSpPr/>
          <p:nvPr/>
        </p:nvSpPr>
        <p:spPr>
          <a:xfrm>
            <a:off x="1495682" y="2183542"/>
            <a:ext cx="1528573" cy="25826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187" name="① Event"/>
          <p:cNvCxnSpPr>
            <a:stCxn id="238" idx="1"/>
            <a:endCxn id="184" idx="3"/>
          </p:cNvCxnSpPr>
          <p:nvPr/>
        </p:nvCxnSpPr>
        <p:spPr>
          <a:xfrm rot="10800000" flipV="1">
            <a:off x="4639951" y="2357098"/>
            <a:ext cx="282218" cy="231496"/>
          </a:xfrm>
          <a:prstGeom prst="bentConnector3">
            <a:avLst>
              <a:gd name="adj1" fmla="val 50000"/>
            </a:avLst>
          </a:prstGeom>
          <a:ln w="9525">
            <a:solidFill>
              <a:schemeClr val="tx1"/>
            </a:solidFill>
            <a:prstDash val="dash"/>
            <a:tailEnd type="arrow"/>
          </a:ln>
        </p:spPr>
      </p:cxnSp>
      <p:grpSp>
        <p:nvGrpSpPr>
          <p:cNvPr id="226" name="그룹 225"/>
          <p:cNvGrpSpPr/>
          <p:nvPr/>
        </p:nvGrpSpPr>
        <p:grpSpPr>
          <a:xfrm>
            <a:off x="1338169" y="3397737"/>
            <a:ext cx="2307208" cy="1111995"/>
            <a:chOff x="1368902" y="2641933"/>
            <a:chExt cx="2323127" cy="1082212"/>
          </a:xfrm>
        </p:grpSpPr>
        <p:grpSp>
          <p:nvGrpSpPr>
            <p:cNvPr id="227" name="그룹 226"/>
            <p:cNvGrpSpPr/>
            <p:nvPr/>
          </p:nvGrpSpPr>
          <p:grpSpPr>
            <a:xfrm>
              <a:off x="1368902" y="2641933"/>
              <a:ext cx="2323127" cy="1082212"/>
              <a:chOff x="997398" y="2493864"/>
              <a:chExt cx="2436692" cy="1419981"/>
            </a:xfrm>
          </p:grpSpPr>
          <p:sp>
            <p:nvSpPr>
              <p:cNvPr id="229" name="DecisionPlane"/>
              <p:cNvSpPr/>
              <p:nvPr/>
            </p:nvSpPr>
            <p:spPr>
              <a:xfrm>
                <a:off x="997399" y="2621986"/>
                <a:ext cx="2436691" cy="1291859"/>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30" name="DecisionPlane tab"/>
              <p:cNvSpPr/>
              <p:nvPr/>
            </p:nvSpPr>
            <p:spPr>
              <a:xfrm>
                <a:off x="997398" y="2493864"/>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32" name="KV Cache Manager"/>
              <p:cNvSpPr/>
              <p:nvPr/>
            </p:nvSpPr>
            <p:spPr>
              <a:xfrm>
                <a:off x="1439913" y="2950432"/>
                <a:ext cx="1550000"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 State Monitor</a:t>
                </a:r>
                <a:endParaRPr lang="ko-KR" altLang="en-US" sz="900" b="1" dirty="0">
                  <a:solidFill>
                    <a:schemeClr val="tx1"/>
                  </a:solidFill>
                </a:endParaRPr>
              </a:p>
            </p:txBody>
          </p:sp>
          <p:sp>
            <p:nvSpPr>
              <p:cNvPr id="233" name="KV Cache Manager"/>
              <p:cNvSpPr/>
              <p:nvPr/>
            </p:nvSpPr>
            <p:spPr>
              <a:xfrm>
                <a:off x="1183388" y="3469661"/>
                <a:ext cx="2063051" cy="309091"/>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Resource-based Trend Analyzer</a:t>
                </a:r>
                <a:endParaRPr lang="ko-KR" altLang="en-US" sz="900" b="1" dirty="0">
                  <a:solidFill>
                    <a:schemeClr val="tx1"/>
                  </a:solidFill>
                </a:endParaRPr>
              </a:p>
            </p:txBody>
          </p:sp>
        </p:grpSp>
        <p:cxnSp>
          <p:nvCxnSpPr>
            <p:cNvPr id="228" name="① Event"/>
            <p:cNvCxnSpPr>
              <a:stCxn id="232" idx="2"/>
              <a:endCxn id="233" idx="0"/>
            </p:cNvCxnSpPr>
            <p:nvPr/>
          </p:nvCxnSpPr>
          <p:spPr>
            <a:xfrm>
              <a:off x="2529673" y="3225468"/>
              <a:ext cx="1" cy="160152"/>
            </a:xfrm>
            <a:prstGeom prst="line">
              <a:avLst/>
            </a:prstGeom>
            <a:ln w="9525">
              <a:solidFill>
                <a:schemeClr val="tx1"/>
              </a:solidFill>
              <a:prstDash val="dash"/>
              <a:tailEnd type="arrow"/>
            </a:ln>
          </p:spPr>
        </p:cxnSp>
      </p:grpSp>
      <p:cxnSp>
        <p:nvCxnSpPr>
          <p:cNvPr id="234" name="① Event"/>
          <p:cNvCxnSpPr/>
          <p:nvPr/>
        </p:nvCxnSpPr>
        <p:spPr>
          <a:xfrm flipH="1">
            <a:off x="1956709" y="2440976"/>
            <a:ext cx="1" cy="1288392"/>
          </a:xfrm>
          <a:prstGeom prst="line">
            <a:avLst/>
          </a:prstGeom>
          <a:ln w="9525">
            <a:solidFill>
              <a:schemeClr val="tx1"/>
            </a:solidFill>
            <a:prstDash val="dash"/>
            <a:tailEnd type="arrow"/>
          </a:ln>
        </p:spPr>
      </p:cxnSp>
      <p:sp>
        <p:nvSpPr>
          <p:cNvPr id="238" name="KV Cache Manager"/>
          <p:cNvSpPr/>
          <p:nvPr/>
        </p:nvSpPr>
        <p:spPr>
          <a:xfrm>
            <a:off x="4922169" y="2200849"/>
            <a:ext cx="1219729" cy="312497"/>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Data-Memory</a:t>
            </a:r>
          </a:p>
          <a:p>
            <a:pPr algn="ctr"/>
            <a:r>
              <a:rPr lang="en-US" altLang="ko-KR" sz="900" b="1" dirty="0">
                <a:solidFill>
                  <a:schemeClr val="tx1"/>
                </a:solidFill>
              </a:rPr>
              <a:t>Affinity Mapper</a:t>
            </a:r>
            <a:endParaRPr lang="ko-KR" altLang="en-US" sz="900" b="1" dirty="0">
              <a:solidFill>
                <a:schemeClr val="tx1"/>
              </a:solidFill>
            </a:endParaRPr>
          </a:p>
        </p:txBody>
      </p:sp>
      <p:sp>
        <p:nvSpPr>
          <p:cNvPr id="239" name="KV Cache Manager"/>
          <p:cNvSpPr/>
          <p:nvPr/>
        </p:nvSpPr>
        <p:spPr>
          <a:xfrm>
            <a:off x="4939051" y="2670778"/>
            <a:ext cx="1219729" cy="312497"/>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Access Cost Estimator</a:t>
            </a:r>
            <a:endParaRPr lang="ko-KR" altLang="en-US" sz="900" b="1" dirty="0">
              <a:solidFill>
                <a:schemeClr val="tx1"/>
              </a:solidFill>
            </a:endParaRPr>
          </a:p>
        </p:txBody>
      </p:sp>
      <p:cxnSp>
        <p:nvCxnSpPr>
          <p:cNvPr id="240" name="① Event"/>
          <p:cNvCxnSpPr>
            <a:stCxn id="233" idx="3"/>
            <a:endCxn id="184" idx="2"/>
          </p:cNvCxnSpPr>
          <p:nvPr/>
        </p:nvCxnSpPr>
        <p:spPr>
          <a:xfrm flipV="1">
            <a:off x="3467698" y="2983274"/>
            <a:ext cx="434317" cy="1299641"/>
          </a:xfrm>
          <a:prstGeom prst="bentConnector2">
            <a:avLst/>
          </a:prstGeom>
          <a:ln w="9525">
            <a:solidFill>
              <a:schemeClr val="tx1"/>
            </a:solidFill>
            <a:prstDash val="dash"/>
            <a:tailEnd type="arrow"/>
          </a:ln>
        </p:spPr>
      </p:cxnSp>
      <p:sp>
        <p:nvSpPr>
          <p:cNvPr id="242" name="KV Cache Manager"/>
          <p:cNvSpPr/>
          <p:nvPr/>
        </p:nvSpPr>
        <p:spPr>
          <a:xfrm>
            <a:off x="3304005" y="2572776"/>
            <a:ext cx="1219729" cy="258262"/>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Budget</a:t>
            </a:r>
            <a:endParaRPr lang="ko-KR" altLang="en-US" sz="900" b="1" dirty="0">
              <a:solidFill>
                <a:schemeClr val="tx1"/>
              </a:solidFill>
            </a:endParaRPr>
          </a:p>
        </p:txBody>
      </p:sp>
      <p:cxnSp>
        <p:nvCxnSpPr>
          <p:cNvPr id="243" name="① Event"/>
          <p:cNvCxnSpPr>
            <a:stCxn id="239" idx="1"/>
            <a:endCxn id="184" idx="3"/>
          </p:cNvCxnSpPr>
          <p:nvPr/>
        </p:nvCxnSpPr>
        <p:spPr>
          <a:xfrm rot="10800000">
            <a:off x="4639951" y="2588595"/>
            <a:ext cx="299100" cy="238433"/>
          </a:xfrm>
          <a:prstGeom prst="bentConnector3">
            <a:avLst>
              <a:gd name="adj1" fmla="val 50000"/>
            </a:avLst>
          </a:prstGeom>
          <a:ln w="9525">
            <a:solidFill>
              <a:schemeClr val="tx1"/>
            </a:solidFill>
            <a:prstDash val="dash"/>
            <a:tailEnd type="arrow"/>
          </a:ln>
        </p:spPr>
      </p:cxnSp>
      <p:grpSp>
        <p:nvGrpSpPr>
          <p:cNvPr id="248" name="그룹 247"/>
          <p:cNvGrpSpPr/>
          <p:nvPr/>
        </p:nvGrpSpPr>
        <p:grpSpPr>
          <a:xfrm>
            <a:off x="4308029" y="3331134"/>
            <a:ext cx="1858865" cy="1187640"/>
            <a:chOff x="4314807" y="3220931"/>
            <a:chExt cx="1858865" cy="1187640"/>
          </a:xfrm>
        </p:grpSpPr>
        <p:grpSp>
          <p:nvGrpSpPr>
            <p:cNvPr id="249" name="그룹 248"/>
            <p:cNvGrpSpPr/>
            <p:nvPr/>
          </p:nvGrpSpPr>
          <p:grpSpPr>
            <a:xfrm>
              <a:off x="4314807" y="3220931"/>
              <a:ext cx="1858865" cy="1187640"/>
              <a:chOff x="4168897" y="2550266"/>
              <a:chExt cx="1879320" cy="1795730"/>
            </a:xfrm>
          </p:grpSpPr>
          <p:sp>
            <p:nvSpPr>
              <p:cNvPr id="251" name="DecisionPlane"/>
              <p:cNvSpPr/>
              <p:nvPr/>
            </p:nvSpPr>
            <p:spPr>
              <a:xfrm>
                <a:off x="4168899" y="2678898"/>
                <a:ext cx="1879318" cy="166709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52" name="DecisionPlane tab"/>
              <p:cNvSpPr/>
              <p:nvPr/>
            </p:nvSpPr>
            <p:spPr>
              <a:xfrm>
                <a:off x="4168897" y="2550266"/>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53" name="KV Cache Manager"/>
              <p:cNvSpPr/>
              <p:nvPr/>
            </p:nvSpPr>
            <p:spPr>
              <a:xfrm>
                <a:off x="4447534" y="3152142"/>
                <a:ext cx="1409091" cy="34000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54" name="KV Cache Manager"/>
              <p:cNvSpPr/>
              <p:nvPr/>
            </p:nvSpPr>
            <p:spPr>
              <a:xfrm>
                <a:off x="4447534" y="3793018"/>
                <a:ext cx="1409091" cy="340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250" name="① Event"/>
            <p:cNvCxnSpPr/>
            <p:nvPr/>
          </p:nvCxnSpPr>
          <p:spPr>
            <a:xfrm>
              <a:off x="5287288" y="3843859"/>
              <a:ext cx="0" cy="198990"/>
            </a:xfrm>
            <a:prstGeom prst="line">
              <a:avLst/>
            </a:prstGeom>
            <a:ln w="9525">
              <a:solidFill>
                <a:schemeClr val="tx1"/>
              </a:solidFill>
              <a:prstDash val="dash"/>
              <a:tailEnd type="arrow"/>
            </a:ln>
          </p:spPr>
        </p:cxnSp>
      </p:grpSp>
      <p:sp>
        <p:nvSpPr>
          <p:cNvPr id="256" name="직사각형 255"/>
          <p:cNvSpPr/>
          <p:nvPr/>
        </p:nvSpPr>
        <p:spPr>
          <a:xfrm>
            <a:off x="1428751" y="1987962"/>
            <a:ext cx="1660102" cy="200055"/>
          </a:xfrm>
          <a:prstGeom prst="rect">
            <a:avLst/>
          </a:prstGeom>
          <a:noFill/>
          <a:ln w="12700">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257" name="직사각형 256"/>
          <p:cNvSpPr/>
          <p:nvPr/>
        </p:nvSpPr>
        <p:spPr>
          <a:xfrm>
            <a:off x="4522771" y="4340716"/>
            <a:ext cx="1529033" cy="200055"/>
          </a:xfrm>
          <a:prstGeom prst="rect">
            <a:avLst/>
          </a:prstGeom>
          <a:noFill/>
          <a:ln w="12700">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grpSp>
        <p:nvGrpSpPr>
          <p:cNvPr id="258" name="그룹 257"/>
          <p:cNvGrpSpPr/>
          <p:nvPr/>
        </p:nvGrpSpPr>
        <p:grpSpPr>
          <a:xfrm>
            <a:off x="7146041" y="3067164"/>
            <a:ext cx="1919939" cy="1090190"/>
            <a:chOff x="1208848" y="2542921"/>
            <a:chExt cx="2013795" cy="1376305"/>
          </a:xfrm>
        </p:grpSpPr>
        <p:sp>
          <p:nvSpPr>
            <p:cNvPr id="260" name="DecisionPlane"/>
            <p:cNvSpPr/>
            <p:nvPr/>
          </p:nvSpPr>
          <p:spPr>
            <a:xfrm>
              <a:off x="1208848" y="2678899"/>
              <a:ext cx="2013795" cy="1240327"/>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61" name="DecisionPlane tab"/>
            <p:cNvSpPr/>
            <p:nvPr/>
          </p:nvSpPr>
          <p:spPr>
            <a:xfrm>
              <a:off x="1208848" y="2542921"/>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62" name="KV Cache Manager"/>
            <p:cNvSpPr/>
            <p:nvPr/>
          </p:nvSpPr>
          <p:spPr>
            <a:xfrm>
              <a:off x="1508045" y="326225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Telemetry Collector</a:t>
              </a:r>
              <a:endParaRPr lang="ko-KR" altLang="en-US" sz="900" b="1" dirty="0">
                <a:solidFill>
                  <a:schemeClr val="tx1"/>
                </a:solidFill>
              </a:endParaRPr>
            </a:p>
          </p:txBody>
        </p:sp>
        <p:sp>
          <p:nvSpPr>
            <p:cNvPr id="263" name="KV Cache Manager"/>
            <p:cNvSpPr/>
            <p:nvPr/>
          </p:nvSpPr>
          <p:spPr>
            <a:xfrm>
              <a:off x="1508043" y="359726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Memory Registry</a:t>
              </a:r>
              <a:endParaRPr lang="ko-KR" altLang="en-US" sz="900" b="1" dirty="0">
                <a:solidFill>
                  <a:schemeClr val="tx1"/>
                </a:solidFill>
              </a:endParaRPr>
            </a:p>
          </p:txBody>
        </p:sp>
        <p:sp>
          <p:nvSpPr>
            <p:cNvPr id="264" name="KV Cache Manager"/>
            <p:cNvSpPr/>
            <p:nvPr/>
          </p:nvSpPr>
          <p:spPr>
            <a:xfrm>
              <a:off x="1508045" y="2930973"/>
              <a:ext cx="1409091" cy="25544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Object Registry</a:t>
              </a:r>
              <a:endParaRPr lang="ko-KR" altLang="en-US" sz="900" b="1" dirty="0">
                <a:solidFill>
                  <a:schemeClr val="tx1"/>
                </a:solidFill>
              </a:endParaRPr>
            </a:p>
          </p:txBody>
        </p:sp>
      </p:grpSp>
      <p:grpSp>
        <p:nvGrpSpPr>
          <p:cNvPr id="265" name="그룹 264"/>
          <p:cNvGrpSpPr/>
          <p:nvPr/>
        </p:nvGrpSpPr>
        <p:grpSpPr>
          <a:xfrm>
            <a:off x="9626708" y="3178189"/>
            <a:ext cx="1891050" cy="1160450"/>
            <a:chOff x="4173997" y="2581540"/>
            <a:chExt cx="1983494" cy="1477340"/>
          </a:xfrm>
        </p:grpSpPr>
        <p:sp>
          <p:nvSpPr>
            <p:cNvPr id="266" name="DecisionPlane"/>
            <p:cNvSpPr/>
            <p:nvPr/>
          </p:nvSpPr>
          <p:spPr>
            <a:xfrm>
              <a:off x="4173997" y="2708259"/>
              <a:ext cx="1983494" cy="1350621"/>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67" name="DecisionPlane tab"/>
            <p:cNvSpPr/>
            <p:nvPr/>
          </p:nvSpPr>
          <p:spPr>
            <a:xfrm>
              <a:off x="4176509" y="2581540"/>
              <a:ext cx="264000" cy="130999"/>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68" name="KV Cache Manager"/>
            <p:cNvSpPr/>
            <p:nvPr/>
          </p:nvSpPr>
          <p:spPr>
            <a:xfrm>
              <a:off x="4493949" y="3060767"/>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69" name="KV Cache Manager"/>
            <p:cNvSpPr/>
            <p:nvPr/>
          </p:nvSpPr>
          <p:spPr>
            <a:xfrm>
              <a:off x="4493807" y="3584303"/>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274" name="① Event"/>
          <p:cNvCxnSpPr>
            <a:stCxn id="268" idx="2"/>
            <a:endCxn id="269" idx="0"/>
          </p:cNvCxnSpPr>
          <p:nvPr/>
        </p:nvCxnSpPr>
        <p:spPr>
          <a:xfrm flipH="1">
            <a:off x="10603321" y="3775340"/>
            <a:ext cx="135" cy="190518"/>
          </a:xfrm>
          <a:prstGeom prst="line">
            <a:avLst/>
          </a:prstGeom>
          <a:ln w="12700">
            <a:solidFill>
              <a:schemeClr val="tx1"/>
            </a:solidFill>
            <a:prstDash val="dash"/>
            <a:tailEnd type="arrow"/>
          </a:ln>
        </p:spPr>
      </p:cxnSp>
      <p:sp>
        <p:nvSpPr>
          <p:cNvPr id="275" name="KV Cache Manager"/>
          <p:cNvSpPr/>
          <p:nvPr/>
        </p:nvSpPr>
        <p:spPr>
          <a:xfrm>
            <a:off x="6913701" y="4298076"/>
            <a:ext cx="2379948" cy="21344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Common Memory Backend Interface</a:t>
            </a:r>
            <a:endParaRPr lang="ko-KR" altLang="en-US" sz="900" b="1" dirty="0">
              <a:solidFill>
                <a:schemeClr val="tx1"/>
              </a:solidFill>
            </a:endParaRPr>
          </a:p>
        </p:txBody>
      </p:sp>
      <p:cxnSp>
        <p:nvCxnSpPr>
          <p:cNvPr id="276" name="① Event"/>
          <p:cNvCxnSpPr>
            <a:stCxn id="275" idx="0"/>
            <a:endCxn id="260" idx="2"/>
          </p:cNvCxnSpPr>
          <p:nvPr/>
        </p:nvCxnSpPr>
        <p:spPr>
          <a:xfrm flipV="1">
            <a:off x="8103675" y="4157354"/>
            <a:ext cx="2336" cy="140722"/>
          </a:xfrm>
          <a:prstGeom prst="line">
            <a:avLst/>
          </a:prstGeom>
          <a:ln w="12700">
            <a:solidFill>
              <a:schemeClr val="tx1"/>
            </a:solidFill>
            <a:prstDash val="dash"/>
            <a:tailEnd type="arrow"/>
          </a:ln>
        </p:spPr>
      </p:cxnSp>
      <p:cxnSp>
        <p:nvCxnSpPr>
          <p:cNvPr id="277" name="① Event"/>
          <p:cNvCxnSpPr>
            <a:stCxn id="268" idx="1"/>
            <a:endCxn id="262" idx="3"/>
          </p:cNvCxnSpPr>
          <p:nvPr/>
        </p:nvCxnSpPr>
        <p:spPr>
          <a:xfrm rot="10800000" flipV="1">
            <a:off x="8774711" y="3664980"/>
            <a:ext cx="1157036" cy="73151"/>
          </a:xfrm>
          <a:prstGeom prst="bentConnector3">
            <a:avLst>
              <a:gd name="adj1" fmla="val 50000"/>
            </a:avLst>
          </a:prstGeom>
          <a:ln w="9525">
            <a:solidFill>
              <a:schemeClr val="tx1"/>
            </a:solidFill>
            <a:prstDash val="dash"/>
            <a:tailEnd type="arrow"/>
          </a:ln>
        </p:spPr>
      </p:cxnSp>
      <p:cxnSp>
        <p:nvCxnSpPr>
          <p:cNvPr id="278" name="① Event"/>
          <p:cNvCxnSpPr>
            <a:stCxn id="268" idx="1"/>
            <a:endCxn id="263" idx="3"/>
          </p:cNvCxnSpPr>
          <p:nvPr/>
        </p:nvCxnSpPr>
        <p:spPr>
          <a:xfrm rot="10800000" flipV="1">
            <a:off x="8774711" y="3664980"/>
            <a:ext cx="1157037" cy="338517"/>
          </a:xfrm>
          <a:prstGeom prst="bentConnector3">
            <a:avLst>
              <a:gd name="adj1" fmla="val 50000"/>
            </a:avLst>
          </a:prstGeom>
          <a:ln w="9525">
            <a:solidFill>
              <a:schemeClr val="tx1"/>
            </a:solidFill>
            <a:prstDash val="dash"/>
            <a:tailEnd type="arrow"/>
          </a:ln>
        </p:spPr>
      </p:cxnSp>
      <p:grpSp>
        <p:nvGrpSpPr>
          <p:cNvPr id="279" name="그룹 278"/>
          <p:cNvGrpSpPr/>
          <p:nvPr/>
        </p:nvGrpSpPr>
        <p:grpSpPr>
          <a:xfrm>
            <a:off x="6819037" y="1736827"/>
            <a:ext cx="4919889" cy="1623134"/>
            <a:chOff x="6819037" y="1867402"/>
            <a:chExt cx="4919889" cy="1623134"/>
          </a:xfrm>
        </p:grpSpPr>
        <p:sp>
          <p:nvSpPr>
            <p:cNvPr id="280" name="DecisionPlane"/>
            <p:cNvSpPr/>
            <p:nvPr/>
          </p:nvSpPr>
          <p:spPr>
            <a:xfrm>
              <a:off x="6819037" y="1973349"/>
              <a:ext cx="4919889" cy="1132223"/>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281" name="DecisionPlane tab"/>
            <p:cNvSpPr/>
            <p:nvPr/>
          </p:nvSpPr>
          <p:spPr>
            <a:xfrm>
              <a:off x="6819037" y="1867402"/>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82" name="KV Cache Manager"/>
            <p:cNvSpPr/>
            <p:nvPr/>
          </p:nvSpPr>
          <p:spPr>
            <a:xfrm>
              <a:off x="8552755"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Monitor</a:t>
              </a:r>
              <a:endParaRPr lang="ko-KR" altLang="en-US" sz="900" b="1" dirty="0">
                <a:solidFill>
                  <a:schemeClr val="tx1"/>
                </a:solidFill>
              </a:endParaRPr>
            </a:p>
          </p:txBody>
        </p:sp>
        <p:sp>
          <p:nvSpPr>
            <p:cNvPr id="283" name="KV Cache Manager"/>
            <p:cNvSpPr/>
            <p:nvPr/>
          </p:nvSpPr>
          <p:spPr>
            <a:xfrm>
              <a:off x="10288514" y="2693105"/>
              <a:ext cx="1341702"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284" name="KV Cache Manager"/>
            <p:cNvSpPr/>
            <p:nvPr/>
          </p:nvSpPr>
          <p:spPr>
            <a:xfrm>
              <a:off x="6940505" y="2246618"/>
              <a:ext cx="1148440"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285" name="① Event"/>
            <p:cNvCxnSpPr>
              <a:endCxn id="282" idx="1"/>
            </p:cNvCxnSpPr>
            <p:nvPr/>
          </p:nvCxnSpPr>
          <p:spPr>
            <a:xfrm>
              <a:off x="8088946" y="2398454"/>
              <a:ext cx="463809" cy="0"/>
            </a:xfrm>
            <a:prstGeom prst="line">
              <a:avLst/>
            </a:prstGeom>
            <a:ln w="9525">
              <a:solidFill>
                <a:schemeClr val="tx1"/>
              </a:solidFill>
              <a:prstDash val="dash"/>
              <a:tailEnd type="arrow"/>
            </a:ln>
          </p:spPr>
        </p:cxnSp>
        <p:cxnSp>
          <p:nvCxnSpPr>
            <p:cNvPr id="286" name="① Event"/>
            <p:cNvCxnSpPr>
              <a:stCxn id="288" idx="2"/>
              <a:endCxn id="283" idx="0"/>
            </p:cNvCxnSpPr>
            <p:nvPr/>
          </p:nvCxnSpPr>
          <p:spPr>
            <a:xfrm>
              <a:off x="10951301" y="2554703"/>
              <a:ext cx="8064" cy="138402"/>
            </a:xfrm>
            <a:prstGeom prst="line">
              <a:avLst/>
            </a:prstGeom>
            <a:ln w="9525">
              <a:solidFill>
                <a:schemeClr val="tx1"/>
              </a:solidFill>
              <a:prstDash val="dash"/>
              <a:tailEnd type="arrow"/>
            </a:ln>
          </p:spPr>
        </p:cxnSp>
        <p:sp>
          <p:nvSpPr>
            <p:cNvPr id="287" name="KV Cache Manager"/>
            <p:cNvSpPr/>
            <p:nvPr/>
          </p:nvSpPr>
          <p:spPr>
            <a:xfrm>
              <a:off x="8552755" y="2706796"/>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Behavior-based Trend Analyzer</a:t>
              </a:r>
              <a:endParaRPr lang="ko-KR" altLang="en-US" sz="900" b="1" dirty="0">
                <a:solidFill>
                  <a:schemeClr val="tx1"/>
                </a:solidFill>
              </a:endParaRPr>
            </a:p>
          </p:txBody>
        </p:sp>
        <p:sp>
          <p:nvSpPr>
            <p:cNvPr id="288" name="KV Cache Manager"/>
            <p:cNvSpPr/>
            <p:nvPr/>
          </p:nvSpPr>
          <p:spPr>
            <a:xfrm>
              <a:off x="10279429"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 Predictor</a:t>
              </a:r>
              <a:endParaRPr lang="ko-KR" altLang="en-US" sz="900" b="1" dirty="0">
                <a:solidFill>
                  <a:schemeClr val="tx1"/>
                </a:solidFill>
              </a:endParaRPr>
            </a:p>
          </p:txBody>
        </p:sp>
        <p:cxnSp>
          <p:nvCxnSpPr>
            <p:cNvPr id="289" name="① Event"/>
            <p:cNvCxnSpPr>
              <a:stCxn id="282" idx="2"/>
              <a:endCxn id="287" idx="0"/>
            </p:cNvCxnSpPr>
            <p:nvPr/>
          </p:nvCxnSpPr>
          <p:spPr>
            <a:xfrm>
              <a:off x="9224627" y="2554703"/>
              <a:ext cx="0" cy="152093"/>
            </a:xfrm>
            <a:prstGeom prst="line">
              <a:avLst/>
            </a:prstGeom>
            <a:ln w="9525">
              <a:solidFill>
                <a:schemeClr val="tx1"/>
              </a:solidFill>
              <a:prstDash val="dash"/>
              <a:tailEnd type="arrow"/>
            </a:ln>
          </p:spPr>
        </p:cxnSp>
        <p:cxnSp>
          <p:nvCxnSpPr>
            <p:cNvPr id="290" name="① Event"/>
            <p:cNvCxnSpPr>
              <a:stCxn id="287" idx="3"/>
              <a:endCxn id="288" idx="1"/>
            </p:cNvCxnSpPr>
            <p:nvPr/>
          </p:nvCxnSpPr>
          <p:spPr>
            <a:xfrm flipV="1">
              <a:off x="9896498" y="2398454"/>
              <a:ext cx="382931" cy="464591"/>
            </a:xfrm>
            <a:prstGeom prst="bentConnector3">
              <a:avLst>
                <a:gd name="adj1" fmla="val 50000"/>
              </a:avLst>
            </a:prstGeom>
            <a:ln w="9525">
              <a:solidFill>
                <a:schemeClr val="tx1"/>
              </a:solidFill>
              <a:prstDash val="dash"/>
              <a:tailEnd type="arrow"/>
            </a:ln>
          </p:spPr>
        </p:cxnSp>
        <p:cxnSp>
          <p:nvCxnSpPr>
            <p:cNvPr id="291" name="① Event"/>
            <p:cNvCxnSpPr>
              <a:stCxn id="282" idx="1"/>
            </p:cNvCxnSpPr>
            <p:nvPr/>
          </p:nvCxnSpPr>
          <p:spPr>
            <a:xfrm rot="10800000" flipV="1">
              <a:off x="8273739" y="2398454"/>
              <a:ext cx="279016" cy="1092082"/>
            </a:xfrm>
            <a:prstGeom prst="bentConnector2">
              <a:avLst/>
            </a:prstGeom>
            <a:ln w="9525">
              <a:solidFill>
                <a:schemeClr val="tx1"/>
              </a:solidFill>
              <a:prstDash val="dash"/>
              <a:tailEnd type="arrow"/>
            </a:ln>
          </p:spPr>
        </p:cxnSp>
      </p:grpSp>
      <p:cxnSp>
        <p:nvCxnSpPr>
          <p:cNvPr id="292" name="① Event"/>
          <p:cNvCxnSpPr>
            <a:stCxn id="283" idx="2"/>
          </p:cNvCxnSpPr>
          <p:nvPr/>
        </p:nvCxnSpPr>
        <p:spPr>
          <a:xfrm>
            <a:off x="10959365" y="2875027"/>
            <a:ext cx="0" cy="679594"/>
          </a:xfrm>
          <a:prstGeom prst="line">
            <a:avLst/>
          </a:prstGeom>
          <a:ln w="9525">
            <a:solidFill>
              <a:schemeClr val="tx1"/>
            </a:solidFill>
            <a:prstDash val="dash"/>
            <a:tailEnd type="arrow"/>
          </a:ln>
        </p:spPr>
      </p:cxnSp>
      <p:sp>
        <p:nvSpPr>
          <p:cNvPr id="293" name="직사각형 292"/>
          <p:cNvSpPr/>
          <p:nvPr/>
        </p:nvSpPr>
        <p:spPr>
          <a:xfrm>
            <a:off x="6855862" y="1919400"/>
            <a:ext cx="1605388" cy="200055"/>
          </a:xfrm>
          <a:prstGeom prst="rect">
            <a:avLst/>
          </a:prstGeom>
          <a:noFill/>
          <a:ln w="12700">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294" name="직사각형 293"/>
          <p:cNvSpPr/>
          <p:nvPr/>
        </p:nvSpPr>
        <p:spPr>
          <a:xfrm>
            <a:off x="9854376" y="4148915"/>
            <a:ext cx="1529033" cy="200055"/>
          </a:xfrm>
          <a:prstGeom prst="rect">
            <a:avLst/>
          </a:prstGeom>
          <a:noFill/>
          <a:ln w="12700">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4" name="직사각형 3"/>
          <p:cNvSpPr/>
          <p:nvPr/>
        </p:nvSpPr>
        <p:spPr>
          <a:xfrm>
            <a:off x="6605858" y="1090462"/>
            <a:ext cx="5376592" cy="5623728"/>
          </a:xfrm>
          <a:prstGeom prst="rect">
            <a:avLst/>
          </a:prstGeom>
          <a:solidFill>
            <a:srgbClr val="FFFFFF">
              <a:alpha val="7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모서리가 둥근 직사각형 37">
            <a:extLst>
              <a:ext uri="{FF2B5EF4-FFF2-40B4-BE49-F238E27FC236}">
                <a16:creationId xmlns:a16="http://schemas.microsoft.com/office/drawing/2014/main" id="{417B821A-6BD1-4494-A3DB-3C97F9749DDD}"/>
              </a:ext>
            </a:extLst>
          </p:cNvPr>
          <p:cNvSpPr/>
          <p:nvPr/>
        </p:nvSpPr>
        <p:spPr>
          <a:xfrm>
            <a:off x="7583966"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sp>
        <p:nvSpPr>
          <p:cNvPr id="87" name="모서리가 둥근 직사각형 37">
            <a:extLst>
              <a:ext uri="{FF2B5EF4-FFF2-40B4-BE49-F238E27FC236}">
                <a16:creationId xmlns:a16="http://schemas.microsoft.com/office/drawing/2014/main" id="{9FE1C5FB-8F4A-45B4-856E-6159278697A5}"/>
              </a:ext>
            </a:extLst>
          </p:cNvPr>
          <p:cNvSpPr/>
          <p:nvPr/>
        </p:nvSpPr>
        <p:spPr>
          <a:xfrm>
            <a:off x="7497631" y="815820"/>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8" name="모서리가 둥근 직사각형 37">
            <a:extLst>
              <a:ext uri="{FF2B5EF4-FFF2-40B4-BE49-F238E27FC236}">
                <a16:creationId xmlns:a16="http://schemas.microsoft.com/office/drawing/2014/main" id="{2C85F29C-5533-493D-93D7-CCFFBE236B11}"/>
              </a:ext>
            </a:extLst>
          </p:cNvPr>
          <p:cNvSpPr/>
          <p:nvPr/>
        </p:nvSpPr>
        <p:spPr>
          <a:xfrm>
            <a:off x="8817795"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89" name="모서리가 둥근 직사각형 37">
            <a:extLst>
              <a:ext uri="{FF2B5EF4-FFF2-40B4-BE49-F238E27FC236}">
                <a16:creationId xmlns:a16="http://schemas.microsoft.com/office/drawing/2014/main" id="{0553D3DF-E52D-42C8-A5E9-8DCC0726A6BD}"/>
              </a:ext>
            </a:extLst>
          </p:cNvPr>
          <p:cNvSpPr/>
          <p:nvPr/>
        </p:nvSpPr>
        <p:spPr>
          <a:xfrm>
            <a:off x="8727279"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FE6444A3-81BD-43D3-BDB3-2209EE6269B3}"/>
              </a:ext>
            </a:extLst>
          </p:cNvPr>
          <p:cNvSpPr/>
          <p:nvPr/>
        </p:nvSpPr>
        <p:spPr>
          <a:xfrm>
            <a:off x="9636626"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91" name="모서리가 둥근 직사각형 37">
            <a:extLst>
              <a:ext uri="{FF2B5EF4-FFF2-40B4-BE49-F238E27FC236}">
                <a16:creationId xmlns:a16="http://schemas.microsoft.com/office/drawing/2014/main" id="{08551BD6-BE50-4375-9AF9-E34E3E37AB0B}"/>
              </a:ext>
            </a:extLst>
          </p:cNvPr>
          <p:cNvSpPr/>
          <p:nvPr/>
        </p:nvSpPr>
        <p:spPr>
          <a:xfrm>
            <a:off x="10306660"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HBM </a:t>
            </a:r>
            <a:r>
              <a:rPr lang="ko-KR" altLang="en-US" sz="700" dirty="0">
                <a:latin typeface="맑은 고딕" panose="020B0503020000020004" pitchFamily="50" charset="-127"/>
              </a:rPr>
              <a:t>점유율</a:t>
            </a:r>
          </a:p>
        </p:txBody>
      </p:sp>
      <p:sp>
        <p:nvSpPr>
          <p:cNvPr id="92" name="모서리가 둥근 직사각형 37">
            <a:extLst>
              <a:ext uri="{FF2B5EF4-FFF2-40B4-BE49-F238E27FC236}">
                <a16:creationId xmlns:a16="http://schemas.microsoft.com/office/drawing/2014/main" id="{9CC04034-DEE9-4C9A-B3C1-336F766A5A8F}"/>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변경용이성</a:t>
            </a:r>
          </a:p>
        </p:txBody>
      </p:sp>
      <p:sp>
        <p:nvSpPr>
          <p:cNvPr id="93" name="모서리가 둥근 직사각형 37">
            <a:extLst>
              <a:ext uri="{FF2B5EF4-FFF2-40B4-BE49-F238E27FC236}">
                <a16:creationId xmlns:a16="http://schemas.microsoft.com/office/drawing/2014/main" id="{B8713FCC-615B-4D3E-88F8-81D5D145FBB1}"/>
              </a:ext>
            </a:extLst>
          </p:cNvPr>
          <p:cNvSpPr/>
          <p:nvPr/>
        </p:nvSpPr>
        <p:spPr>
          <a:xfrm>
            <a:off x="9713845" y="616927"/>
            <a:ext cx="979555"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a:t>
            </a:r>
            <a:r>
              <a:rPr lang="ko-KR" altLang="en-US" sz="700" dirty="0">
                <a:latin typeface="맑은 고딕" panose="020B0503020000020004" pitchFamily="50" charset="-127"/>
              </a:rPr>
              <a:t> </a:t>
            </a:r>
            <a:r>
              <a:rPr lang="en-US" altLang="ko-KR" sz="700" dirty="0">
                <a:latin typeface="맑은 고딕" panose="020B0503020000020004" pitchFamily="50" charset="-127"/>
              </a:rPr>
              <a:t>Device</a:t>
            </a:r>
            <a:r>
              <a:rPr lang="ko-KR" altLang="en-US" sz="700" dirty="0">
                <a:latin typeface="맑은 고딕" panose="020B0503020000020004" pitchFamily="50" charset="-127"/>
              </a:rPr>
              <a:t> </a:t>
            </a:r>
            <a:r>
              <a:rPr lang="en-US" altLang="ko-KR" sz="700" dirty="0">
                <a:latin typeface="맑은 고딕" panose="020B0503020000020004" pitchFamily="50" charset="-127"/>
              </a:rPr>
              <a:t>SW</a:t>
            </a:r>
            <a:r>
              <a:rPr lang="ko-KR" altLang="en-US" sz="700" dirty="0">
                <a:latin typeface="맑은 고딕" panose="020B0503020000020004" pitchFamily="50" charset="-127"/>
              </a:rPr>
              <a:t> 제약</a:t>
            </a:r>
          </a:p>
        </p:txBody>
      </p:sp>
      <p:sp>
        <p:nvSpPr>
          <p:cNvPr id="94" name="모서리가 둥근 직사각형 37">
            <a:extLst>
              <a:ext uri="{FF2B5EF4-FFF2-40B4-BE49-F238E27FC236}">
                <a16:creationId xmlns:a16="http://schemas.microsoft.com/office/drawing/2014/main" id="{3E798323-B6FB-41AC-B5BE-6A31A679A67C}"/>
              </a:ext>
            </a:extLst>
          </p:cNvPr>
          <p:cNvSpPr/>
          <p:nvPr/>
        </p:nvSpPr>
        <p:spPr>
          <a:xfrm>
            <a:off x="10754020" y="616927"/>
            <a:ext cx="1203031"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a:t>
            </a:r>
            <a:r>
              <a:rPr lang="ko-KR" altLang="en-US" sz="700" dirty="0">
                <a:latin typeface="맑은 고딕" panose="020B0503020000020004" pitchFamily="50" charset="-127"/>
              </a:rPr>
              <a:t> </a:t>
            </a:r>
            <a:r>
              <a:rPr lang="en-US" altLang="ko-KR" sz="700" dirty="0">
                <a:latin typeface="맑은 고딕" panose="020B0503020000020004" pitchFamily="50" charset="-127"/>
              </a:rPr>
              <a:t>Simulation </a:t>
            </a:r>
            <a:r>
              <a:rPr lang="ko-KR" altLang="en-US" sz="700" dirty="0">
                <a:latin typeface="맑은 고딕" panose="020B0503020000020004" pitchFamily="50" charset="-127"/>
              </a:rPr>
              <a:t>기반 평가</a:t>
            </a:r>
          </a:p>
        </p:txBody>
      </p:sp>
    </p:spTree>
    <p:extLst>
      <p:ext uri="{BB962C8B-B14F-4D97-AF65-F5344CB8AC3E}">
        <p14:creationId xmlns:p14="http://schemas.microsoft.com/office/powerpoint/2010/main" val="2148735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DP2</a:t>
            </a:r>
            <a:endParaRPr lang="ko-KR" altLang="en-US" sz="16600" b="1" dirty="0"/>
          </a:p>
        </p:txBody>
      </p:sp>
    </p:spTree>
    <p:extLst>
      <p:ext uri="{BB962C8B-B14F-4D97-AF65-F5344CB8AC3E}">
        <p14:creationId xmlns:p14="http://schemas.microsoft.com/office/powerpoint/2010/main" val="21775410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4041906670"/>
              </p:ext>
            </p:extLst>
          </p:nvPr>
        </p:nvGraphicFramePr>
        <p:xfrm>
          <a:off x="249035" y="1044054"/>
          <a:ext cx="11759184" cy="514863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209544">
                  <a:extLst>
                    <a:ext uri="{9D8B030D-6E8A-4147-A177-3AD203B41FA5}">
                      <a16:colId xmlns:a16="http://schemas.microsoft.com/office/drawing/2014/main" val="5654497"/>
                    </a:ext>
                  </a:extLst>
                </a:gridCol>
                <a:gridCol w="2231136">
                  <a:extLst>
                    <a:ext uri="{9D8B030D-6E8A-4147-A177-3AD203B41FA5}">
                      <a16:colId xmlns:a16="http://schemas.microsoft.com/office/drawing/2014/main" val="2953438935"/>
                    </a:ext>
                  </a:extLst>
                </a:gridCol>
                <a:gridCol w="3392424">
                  <a:extLst>
                    <a:ext uri="{9D8B030D-6E8A-4147-A177-3AD203B41FA5}">
                      <a16:colId xmlns:a16="http://schemas.microsoft.com/office/drawing/2014/main" val="3070054508"/>
                    </a:ext>
                  </a:extLst>
                </a:gridCol>
                <a:gridCol w="204825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스케줄링 시점 결정 </a:t>
                      </a:r>
                      <a:r>
                        <a:rPr lang="en-US" altLang="ko-KR" sz="1050" b="1" strike="noStrike" dirty="0">
                          <a:solidFill>
                            <a:schemeClr val="bg1">
                              <a:lumMod val="50000"/>
                            </a:schemeClr>
                          </a:solidFill>
                        </a:rPr>
                        <a:t>(Client-Dispatcher</a:t>
                      </a:r>
                      <a:r>
                        <a:rPr lang="en-US" altLang="ko-KR" sz="1050" b="1" strike="noStrike" baseline="0" dirty="0">
                          <a:solidFill>
                            <a:schemeClr val="bg1">
                              <a:lumMod val="50000"/>
                            </a:schemeClr>
                          </a:solidFill>
                        </a:rPr>
                        <a:t> </a:t>
                      </a:r>
                      <a:r>
                        <a:rPr lang="ko-KR" altLang="en-US" sz="1050" b="1" strike="noStrike" baseline="0" dirty="0">
                          <a:solidFill>
                            <a:schemeClr val="bg1">
                              <a:lumMod val="50000"/>
                            </a:schemeClr>
                          </a:solidFill>
                        </a:rPr>
                        <a:t>구조</a:t>
                      </a:r>
                      <a:r>
                        <a:rPr lang="en-US" altLang="ko-KR" sz="1050" b="1" strike="noStrike" baseline="0" dirty="0">
                          <a:solidFill>
                            <a:schemeClr val="bg1">
                              <a:lumMod val="50000"/>
                            </a:schemeClr>
                          </a:solidFill>
                        </a:rPr>
                        <a:t>)</a:t>
                      </a:r>
                      <a:r>
                        <a:rPr lang="ko-KR" altLang="en-US" sz="1050" b="1" strike="noStrike" dirty="0">
                          <a:solidFill>
                            <a:schemeClr val="bg1">
                              <a:lumMod val="50000"/>
                            </a:schemeClr>
                          </a:solidFill>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사전 계획 결정 </a:t>
                      </a:r>
                      <a:r>
                        <a:rPr lang="en-US" altLang="ko-KR" sz="1050" b="1" kern="1200" baseline="0" dirty="0">
                          <a:solidFill>
                            <a:schemeClr val="bg1">
                              <a:lumMod val="50000"/>
                            </a:schemeClr>
                          </a:solidFill>
                          <a:latin typeface="+mn-lt"/>
                          <a:ea typeface="+mn-ea"/>
                          <a:cs typeface="+mn-cs"/>
                        </a:rPr>
                        <a:t>(Shared Repository </a:t>
                      </a:r>
                      <a:r>
                        <a:rPr lang="ko-KR" altLang="en-US" sz="1050" b="1" kern="1200" baseline="0" dirty="0">
                          <a:solidFill>
                            <a:schemeClr val="bg1">
                              <a:lumMod val="50000"/>
                            </a:schemeClr>
                          </a:solidFill>
                          <a:latin typeface="+mn-lt"/>
                          <a:ea typeface="+mn-ea"/>
                          <a:cs typeface="+mn-cs"/>
                        </a:rPr>
                        <a:t>구조</a:t>
                      </a:r>
                      <a:r>
                        <a:rPr lang="en-US" altLang="ko-KR" sz="1050" b="1" kern="1200" baseline="0" dirty="0">
                          <a:solidFill>
                            <a:schemeClr val="bg1">
                              <a:lumMod val="50000"/>
                            </a:schemeClr>
                          </a:solidFill>
                          <a:latin typeface="+mn-lt"/>
                          <a:ea typeface="+mn-ea"/>
                          <a:cs typeface="+mn-cs"/>
                        </a:rPr>
                        <a:t>)</a:t>
                      </a:r>
                      <a:endParaRPr lang="ko-KR" altLang="en-US"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최신 </a:t>
                      </a:r>
                      <a:r>
                        <a:rPr lang="en-US" altLang="ko-KR" sz="1200" strike="noStrike" kern="1200" baseline="0" dirty="0">
                          <a:solidFill>
                            <a:schemeClr val="tx1"/>
                          </a:solidFill>
                          <a:effectLst/>
                          <a:latin typeface="+mn-lt"/>
                          <a:ea typeface="+mn-ea"/>
                          <a:cs typeface="+mn-cs"/>
                        </a:rPr>
                        <a:t>Resource </a:t>
                      </a:r>
                      <a:r>
                        <a:rPr lang="ko-KR" altLang="en-US" sz="1200" strike="noStrike" kern="1200" baseline="0" dirty="0">
                          <a:solidFill>
                            <a:schemeClr val="tx1"/>
                          </a:solidFill>
                          <a:effectLst/>
                          <a:latin typeface="+mn-lt"/>
                          <a:ea typeface="+mn-ea"/>
                          <a:cs typeface="+mn-cs"/>
                        </a:rPr>
                        <a:t>상태와 실제 </a:t>
                      </a:r>
                      <a:r>
                        <a:rPr lang="en-US" altLang="ko-KR" sz="1200" strike="noStrike" kern="1200" baseline="0" dirty="0">
                          <a:solidFill>
                            <a:schemeClr val="tx1"/>
                          </a:solidFill>
                          <a:effectLst/>
                          <a:latin typeface="+mn-lt"/>
                          <a:ea typeface="+mn-ea"/>
                          <a:cs typeface="+mn-cs"/>
                        </a:rPr>
                        <a:t>batch </a:t>
                      </a:r>
                      <a:r>
                        <a:rPr lang="ko-KR" altLang="en-US" sz="1200" strike="noStrike" kern="1200" baseline="0" dirty="0">
                          <a:solidFill>
                            <a:schemeClr val="tx1"/>
                          </a:solidFill>
                          <a:effectLst/>
                          <a:latin typeface="+mn-lt"/>
                          <a:ea typeface="+mn-ea"/>
                          <a:cs typeface="+mn-cs"/>
                        </a:rPr>
                        <a:t>반영</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Latest load</a:t>
                      </a:r>
                      <a:r>
                        <a:rPr lang="ko-KR" altLang="en-US" sz="1200" strike="noStrike" kern="1200" baseline="0" dirty="0">
                          <a:solidFill>
                            <a:schemeClr val="tx1"/>
                          </a:solidFill>
                          <a:effectLst/>
                          <a:latin typeface="+mn-lt"/>
                          <a:ea typeface="+mn-ea"/>
                          <a:cs typeface="+mn-cs"/>
                        </a:rPr>
                        <a:t>를 반영하여 </a:t>
                      </a:r>
                      <a:r>
                        <a:rPr lang="en-US" altLang="ko-KR" sz="1200" strike="noStrike" kern="1200" baseline="0" dirty="0">
                          <a:solidFill>
                            <a:schemeClr val="tx1"/>
                          </a:solidFill>
                          <a:effectLst/>
                          <a:latin typeface="+mn-lt"/>
                          <a:ea typeface="+mn-ea"/>
                          <a:cs typeface="+mn-cs"/>
                        </a:rPr>
                        <a:t>Resource utilization </a:t>
                      </a:r>
                      <a:r>
                        <a:rPr lang="ko-KR" altLang="en-US" sz="1200" strike="noStrike" kern="1200" baseline="0" dirty="0">
                          <a:solidFill>
                            <a:schemeClr val="tx1"/>
                          </a:solidFill>
                          <a:effectLst/>
                          <a:latin typeface="+mn-lt"/>
                          <a:ea typeface="+mn-ea"/>
                          <a:cs typeface="+mn-cs"/>
                        </a:rPr>
                        <a:t>유리</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Prefill/Decode </a:t>
                      </a:r>
                      <a:r>
                        <a:rPr lang="ko-KR" altLang="en-US" sz="1200" strike="noStrike" dirty="0">
                          <a:solidFill>
                            <a:schemeClr val="tx1"/>
                          </a:solidFill>
                          <a:effectLst/>
                        </a:rPr>
                        <a:t>실행 위치 계산을 </a:t>
                      </a:r>
                      <a:r>
                        <a:rPr lang="en-US" altLang="ko-KR" sz="1200" strike="noStrike" dirty="0">
                          <a:solidFill>
                            <a:schemeClr val="tx1"/>
                          </a:solidFill>
                          <a:effectLst/>
                        </a:rPr>
                        <a:t>critical path </a:t>
                      </a:r>
                      <a:r>
                        <a:rPr lang="ko-KR" altLang="en-US" sz="1200" strike="noStrike" dirty="0">
                          <a:solidFill>
                            <a:schemeClr val="tx1"/>
                          </a:solidFill>
                          <a:effectLst/>
                        </a:rPr>
                        <a:t>밖으로 분리</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연산 자원 증가 및 </a:t>
                      </a:r>
                      <a:r>
                        <a:rPr lang="en-US" altLang="ko-KR" sz="1200" strike="noStrike" baseline="0" dirty="0">
                          <a:solidFill>
                            <a:schemeClr val="tx1"/>
                          </a:solidFill>
                          <a:effectLst/>
                        </a:rPr>
                        <a:t>Cost </a:t>
                      </a:r>
                      <a:r>
                        <a:rPr lang="ko-KR" altLang="en-US" sz="1200" strike="noStrike" baseline="0" dirty="0">
                          <a:solidFill>
                            <a:schemeClr val="tx1"/>
                          </a:solidFill>
                          <a:effectLst/>
                        </a:rPr>
                        <a:t>계산 복잡도 증가 시 유리</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Scheduler critical path</a:t>
                      </a:r>
                      <a:r>
                        <a:rPr lang="ko-KR" altLang="en-US" sz="1200" strike="noStrike" baseline="0" dirty="0">
                          <a:solidFill>
                            <a:schemeClr val="tx1"/>
                          </a:solidFill>
                          <a:effectLst/>
                        </a:rPr>
                        <a:t>에 </a:t>
                      </a:r>
                      <a:r>
                        <a:rPr lang="en-US" altLang="ko-KR" sz="1200" strike="noStrike" baseline="0" dirty="0">
                          <a:solidFill>
                            <a:schemeClr val="tx1"/>
                          </a:solidFill>
                          <a:effectLst/>
                        </a:rPr>
                        <a:t>Cost </a:t>
                      </a:r>
                      <a:r>
                        <a:rPr lang="ko-KR" altLang="en-US" sz="1200" strike="noStrike" baseline="0" dirty="0">
                          <a:solidFill>
                            <a:schemeClr val="tx1"/>
                          </a:solidFill>
                          <a:effectLst/>
                        </a:rPr>
                        <a:t>계산 포함</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연산 자원 증가 및 </a:t>
                      </a:r>
                      <a:r>
                        <a:rPr lang="en-US" altLang="ko-KR" sz="1200" strike="noStrike" baseline="0" dirty="0">
                          <a:solidFill>
                            <a:schemeClr val="tx1"/>
                          </a:solidFill>
                          <a:effectLst/>
                        </a:rPr>
                        <a:t>Cost </a:t>
                      </a:r>
                      <a:r>
                        <a:rPr lang="ko-KR" altLang="en-US" sz="1200" strike="noStrike" baseline="0" dirty="0">
                          <a:solidFill>
                            <a:schemeClr val="tx1"/>
                          </a:solidFill>
                          <a:effectLst/>
                        </a:rPr>
                        <a:t>계산 복잡도 증가 시 성능 저하</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계획 시점과 실행 시점 상태 차이로</a:t>
                      </a:r>
                      <a:r>
                        <a:rPr lang="en-US" altLang="ko-KR" sz="1200" strike="noStrike" baseline="0" dirty="0">
                          <a:solidFill>
                            <a:schemeClr val="tx1"/>
                          </a:solidFill>
                          <a:effectLst/>
                        </a:rPr>
                        <a:t> validation/re-planning overhead </a:t>
                      </a:r>
                      <a:r>
                        <a:rPr lang="ko-KR" altLang="en-US" sz="1200" strike="noStrike" baseline="0" dirty="0">
                          <a:solidFill>
                            <a:schemeClr val="tx1"/>
                          </a:solidFill>
                          <a:effectLst/>
                        </a:rPr>
                        <a:t>및 </a:t>
                      </a:r>
                      <a:r>
                        <a:rPr lang="en-US" altLang="ko-KR" sz="1200" strike="noStrike" baseline="0" dirty="0">
                          <a:solidFill>
                            <a:schemeClr val="tx1"/>
                          </a:solidFill>
                          <a:effectLst/>
                        </a:rPr>
                        <a:t>mis-selection </a:t>
                      </a:r>
                      <a:r>
                        <a:rPr lang="ko-KR" altLang="en-US" sz="1200" strike="noStrike" baseline="0" dirty="0">
                          <a:solidFill>
                            <a:schemeClr val="tx1"/>
                          </a:solidFill>
                          <a:effectLst/>
                        </a:rPr>
                        <a:t>가능</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1,155(x1.07)</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FF0000"/>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FF0000"/>
                          </a:solidFill>
                          <a:latin typeface="+mn-lt"/>
                          <a:ea typeface="맑은 고딕"/>
                        </a:rPr>
                        <a:t>1,995(x0.57), 19.5(x1.34)</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586.1(용량 29%, 감소율 +6.0%)</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$0.39, 0.31, 1.75</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1,081(x1.00)</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FF0000"/>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FF0000"/>
                          </a:solidFill>
                          <a:latin typeface="+mn-lt"/>
                          <a:ea typeface="맑은 고딕"/>
                        </a:rPr>
                        <a:t>4,053(x1.15), 15.1(x1.05)</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691.6(용량 36%, 감소율 -5.0%)</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$0.32, 0.22, 1.25</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8206878" cy="365125"/>
          </a:xfrm>
        </p:spPr>
        <p:txBody>
          <a:bodyPr/>
          <a:lstStyle/>
          <a:p>
            <a:r>
              <a:rPr lang="en-US" altLang="ko-KR" dirty="0"/>
              <a:t>DP2. </a:t>
            </a:r>
            <a:r>
              <a:rPr lang="ko-KR" altLang="en-US" dirty="0"/>
              <a:t>이기종 메모리 환경의 연산</a:t>
            </a:r>
            <a:r>
              <a:rPr lang="en-US" altLang="ko-KR" dirty="0"/>
              <a:t>(Prefill/Decode) </a:t>
            </a:r>
            <a:r>
              <a:rPr lang="ko-KR" altLang="en-US" dirty="0"/>
              <a:t>실행 위치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r>
              <a:rPr lang="ko-KR" altLang="en-US" sz="1400" b="1" dirty="0">
                <a:solidFill>
                  <a:schemeClr val="bg1"/>
                </a:solidFill>
              </a:rPr>
              <a:t>연산 가능 후보</a:t>
            </a:r>
            <a:r>
              <a:rPr lang="en-US" altLang="ko-KR" sz="1400" b="1" dirty="0">
                <a:solidFill>
                  <a:schemeClr val="bg1"/>
                </a:solidFill>
              </a:rPr>
              <a:t> </a:t>
            </a:r>
            <a:r>
              <a:rPr lang="ko-KR" altLang="en-US" sz="1400" b="1" dirty="0">
                <a:solidFill>
                  <a:schemeClr val="bg1"/>
                </a:solidFill>
              </a:rPr>
              <a:t>조합에 대해 Cost를 계산하고 Turn별 실행 위치를 결정하는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a:t>
            </a:r>
            <a:endParaRPr lang="ko-KR" altLang="en-US" sz="900" b="1" dirty="0">
              <a:latin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6</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a:t>
            </a:r>
            <a:r>
              <a:rPr lang="ko-KR" altLang="en-US" sz="1100" dirty="0"/>
              <a:t>스케줄링하는 시점에 </a:t>
            </a:r>
            <a:r>
              <a:rPr lang="en-US" altLang="ko-KR" sz="1100" dirty="0"/>
              <a:t>Cost</a:t>
            </a:r>
            <a:r>
              <a:rPr lang="ko-KR" altLang="en-US" sz="1100" dirty="0"/>
              <a:t>를 계산하여 </a:t>
            </a:r>
            <a:r>
              <a:rPr lang="en-US" altLang="ko-KR" sz="1100" dirty="0"/>
              <a:t>Prefill/Decode </a:t>
            </a:r>
            <a:r>
              <a:rPr lang="ko-KR" altLang="en-US" sz="1100" dirty="0"/>
              <a:t>실행 위치 결정 </a:t>
            </a:r>
            <a:r>
              <a:rPr lang="en-US" altLang="ko-KR" sz="1100" dirty="0"/>
              <a:t>”</a:t>
            </a:r>
            <a:endParaRPr lang="ko-KR" altLang="en-US" sz="1100" dirty="0"/>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“Request</a:t>
            </a:r>
            <a:r>
              <a:rPr lang="ko-KR" altLang="en-US" sz="1100" dirty="0"/>
              <a:t>가 </a:t>
            </a:r>
            <a:r>
              <a:rPr lang="en-US" altLang="ko-KR" sz="1100" dirty="0"/>
              <a:t>waiting </a:t>
            </a:r>
            <a:r>
              <a:rPr lang="ko-KR" altLang="en-US" sz="1100" dirty="0"/>
              <a:t>상태에 있을 때 </a:t>
            </a:r>
            <a:r>
              <a:rPr lang="en-US" altLang="ko-KR" sz="1100" dirty="0"/>
              <a:t>Cost</a:t>
            </a:r>
            <a:r>
              <a:rPr lang="ko-KR" altLang="en-US" sz="1100" dirty="0"/>
              <a:t>를 미리 계산하여 </a:t>
            </a:r>
            <a:r>
              <a:rPr lang="en-US" altLang="ko-KR" sz="1100" dirty="0"/>
              <a:t>Prefill/Decode </a:t>
            </a:r>
            <a:r>
              <a:rPr lang="ko-KR" altLang="en-US" sz="1100" dirty="0"/>
              <a:t>실행 위치 결정</a:t>
            </a:r>
            <a:r>
              <a:rPr lang="en-US" altLang="ko-KR" sz="1100" dirty="0"/>
              <a:t>”</a:t>
            </a:r>
            <a:endParaRPr lang="ko-KR" altLang="en-US" sz="1100" dirty="0"/>
          </a:p>
        </p:txBody>
      </p:sp>
      <p:sp>
        <p:nvSpPr>
          <p:cNvPr id="103" name="Shape 56">
            <a:extLst>
              <a:ext uri="{FF2B5EF4-FFF2-40B4-BE49-F238E27FC236}">
                <a16:creationId xmlns:a16="http://schemas.microsoft.com/office/drawing/2014/main" id="{33C7046D-072B-4A63-B8E3-E6FE269F4E83}"/>
              </a:ext>
            </a:extLst>
          </p:cNvPr>
          <p:cNvSpPr/>
          <p:nvPr/>
        </p:nvSpPr>
        <p:spPr>
          <a:xfrm>
            <a:off x="3872267" y="5221476"/>
            <a:ext cx="0" cy="0"/>
          </a:xfrm>
          <a:prstGeom prst="line">
            <a:avLst/>
          </a:prstGeom>
          <a:noFill/>
          <a:ln w="16510">
            <a:solidFill>
              <a:srgbClr val="4D7EA8"/>
            </a:solidFill>
            <a:prstDash val="solid"/>
            <a:headEnd type="none"/>
            <a:tailEnd type="none"/>
          </a:ln>
        </p:spPr>
      </p:sp>
      <p:grpSp>
        <p:nvGrpSpPr>
          <p:cNvPr id="79" name="그룹 78">
            <a:extLst>
              <a:ext uri="{FF2B5EF4-FFF2-40B4-BE49-F238E27FC236}">
                <a16:creationId xmlns:a16="http://schemas.microsoft.com/office/drawing/2014/main" id="{720FB538-39AD-4DFE-A22C-165BAB71ACE9}"/>
              </a:ext>
            </a:extLst>
          </p:cNvPr>
          <p:cNvGrpSpPr/>
          <p:nvPr/>
        </p:nvGrpSpPr>
        <p:grpSpPr>
          <a:xfrm>
            <a:off x="1769157" y="1653568"/>
            <a:ext cx="3850923" cy="2840274"/>
            <a:chOff x="2540917" y="1891482"/>
            <a:chExt cx="3850923" cy="2840274"/>
          </a:xfrm>
        </p:grpSpPr>
        <p:sp>
          <p:nvSpPr>
            <p:cNvPr id="112" name="Shape 31">
              <a:extLst>
                <a:ext uri="{FF2B5EF4-FFF2-40B4-BE49-F238E27FC236}">
                  <a16:creationId xmlns:a16="http://schemas.microsoft.com/office/drawing/2014/main" id="{823D7D32-6771-4AA4-9581-77C6BEA03C53}"/>
                </a:ext>
              </a:extLst>
            </p:cNvPr>
            <p:cNvSpPr/>
            <p:nvPr/>
          </p:nvSpPr>
          <p:spPr>
            <a:xfrm>
              <a:off x="3721280" y="1891482"/>
              <a:ext cx="1411795" cy="292607"/>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Request Scheduler</a:t>
              </a:r>
              <a:endParaRPr lang="ko-KR" altLang="en-US" sz="1000" dirty="0">
                <a:solidFill>
                  <a:srgbClr val="1A1A1A"/>
                </a:solidFill>
                <a:latin typeface="Malgun Gothic" pitchFamily="34" charset="0"/>
                <a:ea typeface="Malgun Gothic" pitchFamily="34" charset="-122"/>
              </a:endParaRPr>
            </a:p>
          </p:txBody>
        </p:sp>
        <p:grpSp>
          <p:nvGrpSpPr>
            <p:cNvPr id="16" name="그룹 15">
              <a:extLst>
                <a:ext uri="{FF2B5EF4-FFF2-40B4-BE49-F238E27FC236}">
                  <a16:creationId xmlns:a16="http://schemas.microsoft.com/office/drawing/2014/main" id="{123D65B1-2DBC-45BA-89D9-DF8AE2802551}"/>
                </a:ext>
              </a:extLst>
            </p:cNvPr>
            <p:cNvGrpSpPr/>
            <p:nvPr/>
          </p:nvGrpSpPr>
          <p:grpSpPr>
            <a:xfrm>
              <a:off x="3012045" y="2342737"/>
              <a:ext cx="2830275" cy="1425805"/>
              <a:chOff x="1371273" y="2785393"/>
              <a:chExt cx="2572977" cy="1178351"/>
            </a:xfrm>
          </p:grpSpPr>
          <p:grpSp>
            <p:nvGrpSpPr>
              <p:cNvPr id="114" name="그룹 113">
                <a:extLst>
                  <a:ext uri="{FF2B5EF4-FFF2-40B4-BE49-F238E27FC236}">
                    <a16:creationId xmlns:a16="http://schemas.microsoft.com/office/drawing/2014/main" id="{55E86E1C-7256-4E05-BD39-53AA3DC3041A}"/>
                  </a:ext>
                </a:extLst>
              </p:cNvPr>
              <p:cNvGrpSpPr/>
              <p:nvPr/>
            </p:nvGrpSpPr>
            <p:grpSpPr>
              <a:xfrm>
                <a:off x="1371281" y="2985575"/>
                <a:ext cx="2572969" cy="978169"/>
                <a:chOff x="2866277" y="1960495"/>
                <a:chExt cx="1933110" cy="978169"/>
              </a:xfrm>
            </p:grpSpPr>
            <p:sp>
              <p:nvSpPr>
                <p:cNvPr id="115" name="Shape 39">
                  <a:extLst>
                    <a:ext uri="{FF2B5EF4-FFF2-40B4-BE49-F238E27FC236}">
                      <a16:creationId xmlns:a16="http://schemas.microsoft.com/office/drawing/2014/main" id="{6868F6CD-24B6-42CB-9385-562D6F007FDF}"/>
                    </a:ext>
                  </a:extLst>
                </p:cNvPr>
                <p:cNvSpPr/>
                <p:nvPr/>
              </p:nvSpPr>
              <p:spPr>
                <a:xfrm>
                  <a:off x="2866277" y="1960495"/>
                  <a:ext cx="1933110" cy="978169"/>
                </a:xfrm>
                <a:prstGeom prst="rect">
                  <a:avLst/>
                </a:prstGeom>
                <a:solidFill>
                  <a:srgbClr val="D9EAF7">
                    <a:alpha val="98000"/>
                  </a:srgbClr>
                </a:solidFill>
                <a:ln w="15240">
                  <a:solidFill>
                    <a:srgbClr val="2F75B5"/>
                  </a:solidFill>
                  <a:prstDash val="solid"/>
                </a:ln>
              </p:spPr>
            </p:sp>
            <p:sp>
              <p:nvSpPr>
                <p:cNvPr id="116" name="Shape 39">
                  <a:extLst>
                    <a:ext uri="{FF2B5EF4-FFF2-40B4-BE49-F238E27FC236}">
                      <a16:creationId xmlns:a16="http://schemas.microsoft.com/office/drawing/2014/main" id="{F7D82DE9-0B6E-4CB1-A5F0-9E4D7591B816}"/>
                    </a:ext>
                  </a:extLst>
                </p:cNvPr>
                <p:cNvSpPr/>
                <p:nvPr/>
              </p:nvSpPr>
              <p:spPr>
                <a:xfrm>
                  <a:off x="3300960" y="2609060"/>
                  <a:ext cx="1044935" cy="231426"/>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Cost Evaluator</a:t>
                  </a:r>
                </a:p>
              </p:txBody>
            </p:sp>
            <p:sp>
              <p:nvSpPr>
                <p:cNvPr id="117" name="Shape 37">
                  <a:extLst>
                    <a:ext uri="{FF2B5EF4-FFF2-40B4-BE49-F238E27FC236}">
                      <a16:creationId xmlns:a16="http://schemas.microsoft.com/office/drawing/2014/main" id="{306B7634-9A5E-4F0E-A947-927E7282352F}"/>
                    </a:ext>
                  </a:extLst>
                </p:cNvPr>
                <p:cNvSpPr/>
                <p:nvPr/>
              </p:nvSpPr>
              <p:spPr>
                <a:xfrm>
                  <a:off x="3924097" y="2058739"/>
                  <a:ext cx="784060" cy="270187"/>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Resource State</a:t>
                  </a:r>
                </a:p>
                <a:p>
                  <a:pPr algn="ctr"/>
                  <a:r>
                    <a:rPr lang="en-US" altLang="ko-KR" sz="1000" b="1" dirty="0">
                      <a:solidFill>
                        <a:srgbClr val="1A1A1A"/>
                      </a:solidFill>
                      <a:latin typeface="Malgun Gothic" pitchFamily="34" charset="0"/>
                      <a:ea typeface="Malgun Gothic" pitchFamily="34" charset="-122"/>
                    </a:rPr>
                    <a:t>Monitor</a:t>
                  </a:r>
                  <a:endParaRPr kumimoji="0" lang="en-US" altLang="ko-KR" sz="10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cxnSp>
              <p:nvCxnSpPr>
                <p:cNvPr id="118" name="직선 화살표 연결선 185">
                  <a:extLst>
                    <a:ext uri="{FF2B5EF4-FFF2-40B4-BE49-F238E27FC236}">
                      <a16:creationId xmlns:a16="http://schemas.microsoft.com/office/drawing/2014/main" id="{63055888-A989-4681-8232-E5AD42EA4D88}"/>
                    </a:ext>
                  </a:extLst>
                </p:cNvPr>
                <p:cNvCxnSpPr>
                  <a:cxnSpLocks/>
                  <a:stCxn id="116" idx="0"/>
                  <a:endCxn id="117" idx="2"/>
                </p:cNvCxnSpPr>
                <p:nvPr/>
              </p:nvCxnSpPr>
              <p:spPr>
                <a:xfrm rot="5400000" flipH="1" flipV="1">
                  <a:off x="3929710" y="2222643"/>
                  <a:ext cx="280134" cy="492699"/>
                </a:xfrm>
                <a:prstGeom prst="bentConnector3">
                  <a:avLst>
                    <a:gd name="adj1" fmla="val 50000"/>
                  </a:avLst>
                </a:prstGeom>
                <a:noFill/>
                <a:ln w="11430">
                  <a:solidFill>
                    <a:schemeClr val="accent1"/>
                  </a:solidFill>
                  <a:prstDash val="solid"/>
                  <a:headEnd type="triangle" w="med" len="med"/>
                  <a:tailEnd type="none" w="med" len="med"/>
                </a:ln>
              </p:spPr>
            </p:cxnSp>
            <p:sp>
              <p:nvSpPr>
                <p:cNvPr id="71" name="Shape 37">
                  <a:extLst>
                    <a:ext uri="{FF2B5EF4-FFF2-40B4-BE49-F238E27FC236}">
                      <a16:creationId xmlns:a16="http://schemas.microsoft.com/office/drawing/2014/main" id="{306B7634-9A5E-4F0E-A947-927E7282352F}"/>
                    </a:ext>
                  </a:extLst>
                </p:cNvPr>
                <p:cNvSpPr/>
                <p:nvPr/>
              </p:nvSpPr>
              <p:spPr>
                <a:xfrm>
                  <a:off x="3039367" y="2058739"/>
                  <a:ext cx="784060" cy="270187"/>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KV State</a:t>
                  </a:r>
                </a:p>
                <a:p>
                  <a:pPr algn="ctr"/>
                  <a:r>
                    <a:rPr lang="en-US" altLang="ko-KR" sz="1000" b="1" dirty="0">
                      <a:solidFill>
                        <a:srgbClr val="1A1A1A"/>
                      </a:solidFill>
                      <a:latin typeface="Malgun Gothic" pitchFamily="34" charset="0"/>
                      <a:ea typeface="Malgun Gothic" pitchFamily="34" charset="-122"/>
                    </a:rPr>
                    <a:t>Monitor</a:t>
                  </a:r>
                  <a:endParaRPr kumimoji="0" lang="en-US" altLang="ko-KR" sz="10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grpSp>
          <p:sp>
            <p:nvSpPr>
              <p:cNvPr id="119" name="Shape 40">
                <a:extLst>
                  <a:ext uri="{FF2B5EF4-FFF2-40B4-BE49-F238E27FC236}">
                    <a16:creationId xmlns:a16="http://schemas.microsoft.com/office/drawing/2014/main" id="{23DF7C3D-B06F-4B81-8EBA-A450F264EFE2}"/>
                  </a:ext>
                </a:extLst>
              </p:cNvPr>
              <p:cNvSpPr/>
              <p:nvPr/>
            </p:nvSpPr>
            <p:spPr>
              <a:xfrm>
                <a:off x="1371273" y="2785393"/>
                <a:ext cx="2572975" cy="200098"/>
              </a:xfrm>
              <a:prstGeom prst="rect">
                <a:avLst/>
              </a:prstGeom>
              <a:solidFill>
                <a:srgbClr val="2F75B5">
                  <a:alpha val="92000"/>
                </a:srgbClr>
              </a:solidFill>
              <a:ln w="12700">
                <a:solidFill>
                  <a:srgbClr val="2F75B5"/>
                </a:solidFill>
                <a:prstDash val="solid"/>
              </a:ln>
            </p:spPr>
            <p:txBody>
              <a:bodyPr anchor="ctr"/>
              <a:lstStyle/>
              <a:p>
                <a:pPr algn="ctr"/>
                <a:r>
                  <a:rPr lang="en-US" altLang="ko-KR" sz="1000" b="1" dirty="0">
                    <a:solidFill>
                      <a:schemeClr val="bg1"/>
                    </a:solidFill>
                  </a:rPr>
                  <a:t>Execution Planner</a:t>
                </a:r>
                <a:endParaRPr lang="ko-KR" altLang="en-US" sz="1000" b="1" dirty="0">
                  <a:solidFill>
                    <a:schemeClr val="bg1"/>
                  </a:solidFill>
                </a:endParaRPr>
              </a:p>
            </p:txBody>
          </p:sp>
        </p:grpSp>
        <p:sp>
          <p:nvSpPr>
            <p:cNvPr id="120" name="Shape 31">
              <a:extLst>
                <a:ext uri="{FF2B5EF4-FFF2-40B4-BE49-F238E27FC236}">
                  <a16:creationId xmlns:a16="http://schemas.microsoft.com/office/drawing/2014/main" id="{823D7D32-6771-4AA4-9581-77C6BEA03C53}"/>
                </a:ext>
              </a:extLst>
            </p:cNvPr>
            <p:cNvSpPr/>
            <p:nvPr/>
          </p:nvSpPr>
          <p:spPr>
            <a:xfrm>
              <a:off x="3672697" y="3905530"/>
              <a:ext cx="150896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Execution Router</a:t>
              </a:r>
            </a:p>
            <a:p>
              <a:pPr algn="ctr" latinLnBrk="0">
                <a:defRPr/>
              </a:pPr>
              <a:r>
                <a:rPr lang="en-US" altLang="ko-KR" sz="1000" dirty="0">
                  <a:solidFill>
                    <a:srgbClr val="1A1A1A"/>
                  </a:solidFill>
                  <a:latin typeface="Malgun Gothic" pitchFamily="34" charset="0"/>
                  <a:ea typeface="Malgun Gothic" pitchFamily="34" charset="-122"/>
                </a:rPr>
                <a:t>(Dispatcher)</a:t>
              </a:r>
              <a:endParaRPr lang="ko-KR" altLang="en-US" sz="1000" dirty="0">
                <a:solidFill>
                  <a:srgbClr val="1A1A1A"/>
                </a:solidFill>
                <a:latin typeface="Malgun Gothic" pitchFamily="34" charset="0"/>
                <a:ea typeface="Malgun Gothic" pitchFamily="34" charset="-122"/>
              </a:endParaRPr>
            </a:p>
          </p:txBody>
        </p:sp>
        <p:cxnSp>
          <p:nvCxnSpPr>
            <p:cNvPr id="193" name="직선 화살표 연결선 185">
              <a:extLst>
                <a:ext uri="{FF2B5EF4-FFF2-40B4-BE49-F238E27FC236}">
                  <a16:creationId xmlns:a16="http://schemas.microsoft.com/office/drawing/2014/main" id="{D76D373A-AD73-4958-8644-743AF962871F}"/>
                </a:ext>
              </a:extLst>
            </p:cNvPr>
            <p:cNvCxnSpPr>
              <a:cxnSpLocks/>
              <a:stCxn id="112" idx="2"/>
              <a:endCxn id="119" idx="0"/>
            </p:cNvCxnSpPr>
            <p:nvPr/>
          </p:nvCxnSpPr>
          <p:spPr>
            <a:xfrm>
              <a:off x="4427178" y="2184089"/>
              <a:ext cx="4" cy="158648"/>
            </a:xfrm>
            <a:prstGeom prst="straightConnector1">
              <a:avLst/>
            </a:prstGeom>
            <a:noFill/>
            <a:ln w="11430">
              <a:solidFill>
                <a:srgbClr val="888C91"/>
              </a:solidFill>
              <a:prstDash val="solid"/>
              <a:headEnd type="none"/>
              <a:tailEnd type="triangle"/>
            </a:ln>
          </p:spPr>
        </p:cxnSp>
        <p:cxnSp>
          <p:nvCxnSpPr>
            <p:cNvPr id="197" name="직선 화살표 연결선 185">
              <a:extLst>
                <a:ext uri="{FF2B5EF4-FFF2-40B4-BE49-F238E27FC236}">
                  <a16:creationId xmlns:a16="http://schemas.microsoft.com/office/drawing/2014/main" id="{D76D373A-AD73-4958-8644-743AF962871F}"/>
                </a:ext>
              </a:extLst>
            </p:cNvPr>
            <p:cNvCxnSpPr>
              <a:cxnSpLocks/>
              <a:stCxn id="115" idx="2"/>
              <a:endCxn id="120" idx="0"/>
            </p:cNvCxnSpPr>
            <p:nvPr/>
          </p:nvCxnSpPr>
          <p:spPr>
            <a:xfrm flipH="1">
              <a:off x="4427182" y="3768542"/>
              <a:ext cx="4" cy="136988"/>
            </a:xfrm>
            <a:prstGeom prst="straightConnector1">
              <a:avLst/>
            </a:prstGeom>
            <a:noFill/>
            <a:ln w="11430">
              <a:solidFill>
                <a:srgbClr val="888C91"/>
              </a:solidFill>
              <a:prstDash val="solid"/>
              <a:headEnd type="none"/>
              <a:tailEnd type="triangle"/>
            </a:ln>
          </p:spPr>
        </p:cxnSp>
        <p:cxnSp>
          <p:nvCxnSpPr>
            <p:cNvPr id="123" name="직선 화살표 연결선 185">
              <a:extLst>
                <a:ext uri="{FF2B5EF4-FFF2-40B4-BE49-F238E27FC236}">
                  <a16:creationId xmlns:a16="http://schemas.microsoft.com/office/drawing/2014/main" id="{D76D373A-AD73-4958-8644-743AF962871F}"/>
                </a:ext>
              </a:extLst>
            </p:cNvPr>
            <p:cNvCxnSpPr>
              <a:cxnSpLocks/>
              <a:stCxn id="120" idx="2"/>
              <a:endCxn id="124" idx="0"/>
            </p:cNvCxnSpPr>
            <p:nvPr/>
          </p:nvCxnSpPr>
          <p:spPr>
            <a:xfrm flipH="1">
              <a:off x="4427177" y="4197825"/>
              <a:ext cx="5" cy="292365"/>
            </a:xfrm>
            <a:prstGeom prst="straightConnector1">
              <a:avLst/>
            </a:prstGeom>
            <a:noFill/>
            <a:ln w="11430">
              <a:solidFill>
                <a:srgbClr val="888C91"/>
              </a:solidFill>
              <a:prstDash val="solid"/>
              <a:headEnd type="none"/>
              <a:tailEnd type="triangle"/>
            </a:ln>
          </p:spPr>
        </p:cxnSp>
        <p:sp>
          <p:nvSpPr>
            <p:cNvPr id="124" name="Shape 31">
              <a:extLst>
                <a:ext uri="{FF2B5EF4-FFF2-40B4-BE49-F238E27FC236}">
                  <a16:creationId xmlns:a16="http://schemas.microsoft.com/office/drawing/2014/main" id="{823D7D32-6771-4AA4-9581-77C6BEA03C53}"/>
                </a:ext>
              </a:extLst>
            </p:cNvPr>
            <p:cNvSpPr/>
            <p:nvPr/>
          </p:nvSpPr>
          <p:spPr>
            <a:xfrm>
              <a:off x="3844564"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err="1">
                  <a:solidFill>
                    <a:srgbClr val="1A1A1A"/>
                  </a:solidFill>
                  <a:latin typeface="Malgun Gothic" pitchFamily="34" charset="0"/>
                  <a:ea typeface="Malgun Gothic" pitchFamily="34" charset="-122"/>
                </a:rPr>
                <a:t>ScHBM</a:t>
              </a:r>
              <a:endParaRPr lang="ko-KR" altLang="en-US" sz="1000" dirty="0">
                <a:solidFill>
                  <a:srgbClr val="1A1A1A"/>
                </a:solidFill>
                <a:latin typeface="Malgun Gothic" pitchFamily="34" charset="0"/>
                <a:ea typeface="Malgun Gothic" pitchFamily="34" charset="-122"/>
              </a:endParaRPr>
            </a:p>
          </p:txBody>
        </p:sp>
        <p:sp>
          <p:nvSpPr>
            <p:cNvPr id="125" name="Shape 31">
              <a:extLst>
                <a:ext uri="{FF2B5EF4-FFF2-40B4-BE49-F238E27FC236}">
                  <a16:creationId xmlns:a16="http://schemas.microsoft.com/office/drawing/2014/main" id="{823D7D32-6771-4AA4-9581-77C6BEA03C53}"/>
                </a:ext>
              </a:extLst>
            </p:cNvPr>
            <p:cNvSpPr/>
            <p:nvPr/>
          </p:nvSpPr>
          <p:spPr>
            <a:xfrm>
              <a:off x="2540917"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GPU</a:t>
              </a:r>
              <a:endParaRPr lang="ko-KR" altLang="en-US" sz="1000" dirty="0">
                <a:solidFill>
                  <a:srgbClr val="1A1A1A"/>
                </a:solidFill>
                <a:latin typeface="Malgun Gothic" pitchFamily="34" charset="0"/>
                <a:ea typeface="Malgun Gothic" pitchFamily="34" charset="-122"/>
              </a:endParaRPr>
            </a:p>
          </p:txBody>
        </p:sp>
        <p:sp>
          <p:nvSpPr>
            <p:cNvPr id="126" name="Shape 31">
              <a:extLst>
                <a:ext uri="{FF2B5EF4-FFF2-40B4-BE49-F238E27FC236}">
                  <a16:creationId xmlns:a16="http://schemas.microsoft.com/office/drawing/2014/main" id="{823D7D32-6771-4AA4-9581-77C6BEA03C53}"/>
                </a:ext>
              </a:extLst>
            </p:cNvPr>
            <p:cNvSpPr/>
            <p:nvPr/>
          </p:nvSpPr>
          <p:spPr>
            <a:xfrm>
              <a:off x="5226615"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CXL-PNM</a:t>
              </a:r>
              <a:endParaRPr lang="ko-KR" altLang="en-US" sz="1000" dirty="0">
                <a:solidFill>
                  <a:srgbClr val="1A1A1A"/>
                </a:solidFill>
                <a:latin typeface="Malgun Gothic" pitchFamily="34" charset="0"/>
                <a:ea typeface="Malgun Gothic" pitchFamily="34" charset="-122"/>
              </a:endParaRPr>
            </a:p>
          </p:txBody>
        </p:sp>
        <p:cxnSp>
          <p:nvCxnSpPr>
            <p:cNvPr id="128" name="직선 화살표 연결선 185">
              <a:extLst>
                <a:ext uri="{FF2B5EF4-FFF2-40B4-BE49-F238E27FC236}">
                  <a16:creationId xmlns:a16="http://schemas.microsoft.com/office/drawing/2014/main" id="{D76D373A-AD73-4958-8644-743AF962871F}"/>
                </a:ext>
              </a:extLst>
            </p:cNvPr>
            <p:cNvCxnSpPr>
              <a:cxnSpLocks/>
              <a:stCxn id="120" idx="2"/>
              <a:endCxn id="125" idx="0"/>
            </p:cNvCxnSpPr>
            <p:nvPr/>
          </p:nvCxnSpPr>
          <p:spPr>
            <a:xfrm rot="5400000">
              <a:off x="3629174" y="3692181"/>
              <a:ext cx="292365" cy="1303652"/>
            </a:xfrm>
            <a:prstGeom prst="bentConnector3">
              <a:avLst>
                <a:gd name="adj1" fmla="val 50000"/>
              </a:avLst>
            </a:prstGeom>
            <a:noFill/>
            <a:ln w="11430">
              <a:solidFill>
                <a:srgbClr val="888C91"/>
              </a:solidFill>
              <a:prstDash val="solid"/>
              <a:headEnd type="none"/>
              <a:tailEnd type="triangle"/>
            </a:ln>
          </p:spPr>
        </p:cxnSp>
        <p:cxnSp>
          <p:nvCxnSpPr>
            <p:cNvPr id="133" name="직선 화살표 연결선 185">
              <a:extLst>
                <a:ext uri="{FF2B5EF4-FFF2-40B4-BE49-F238E27FC236}">
                  <a16:creationId xmlns:a16="http://schemas.microsoft.com/office/drawing/2014/main" id="{D76D373A-AD73-4958-8644-743AF962871F}"/>
                </a:ext>
              </a:extLst>
            </p:cNvPr>
            <p:cNvCxnSpPr>
              <a:cxnSpLocks/>
              <a:stCxn id="120" idx="2"/>
              <a:endCxn id="126" idx="0"/>
            </p:cNvCxnSpPr>
            <p:nvPr/>
          </p:nvCxnSpPr>
          <p:spPr>
            <a:xfrm rot="16200000" flipH="1">
              <a:off x="4972023" y="3652984"/>
              <a:ext cx="292365" cy="1382046"/>
            </a:xfrm>
            <a:prstGeom prst="bentConnector3">
              <a:avLst>
                <a:gd name="adj1" fmla="val 50000"/>
              </a:avLst>
            </a:prstGeom>
            <a:noFill/>
            <a:ln w="11430">
              <a:solidFill>
                <a:srgbClr val="888C91"/>
              </a:solidFill>
              <a:prstDash val="solid"/>
              <a:headEnd type="none"/>
              <a:tailEnd type="triangle"/>
            </a:ln>
          </p:spPr>
        </p:cxnSp>
      </p:grpSp>
      <p:sp>
        <p:nvSpPr>
          <p:cNvPr id="122" name="Shape 31">
            <a:extLst>
              <a:ext uri="{FF2B5EF4-FFF2-40B4-BE49-F238E27FC236}">
                <a16:creationId xmlns:a16="http://schemas.microsoft.com/office/drawing/2014/main" id="{2CB8AAFC-DFAB-4056-A6EA-BB95D28E11E9}"/>
              </a:ext>
            </a:extLst>
          </p:cNvPr>
          <p:cNvSpPr/>
          <p:nvPr/>
        </p:nvSpPr>
        <p:spPr>
          <a:xfrm>
            <a:off x="7168437" y="2108344"/>
            <a:ext cx="1332516" cy="292607"/>
          </a:xfrm>
          <a:prstGeom prst="roundRect">
            <a:avLst>
              <a:gd name="adj" fmla="val 37674"/>
            </a:avLst>
          </a:prstGeom>
          <a:solidFill>
            <a:srgbClr val="F0F1F3"/>
          </a:solidFill>
          <a:ln w="12700">
            <a:solidFill>
              <a:srgbClr val="888C91"/>
            </a:solidFill>
            <a:prstDash val="solid"/>
          </a:ln>
        </p:spPr>
        <p:txBody>
          <a:bodyPr anchor="ctr"/>
          <a:lstStyle/>
          <a:p>
            <a:pPr algn="ctr" latinLnBrk="0"/>
            <a:r>
              <a:rPr lang="en-US" altLang="ko-KR" sz="1000" dirty="0">
                <a:solidFill>
                  <a:srgbClr val="1A1A1A"/>
                </a:solidFill>
                <a:latin typeface="Malgun Gothic" pitchFamily="34" charset="0"/>
                <a:ea typeface="Malgun Gothic" pitchFamily="34" charset="-122"/>
              </a:rPr>
              <a:t>Request  Arrival/</a:t>
            </a:r>
          </a:p>
          <a:p>
            <a:pPr algn="ctr" latinLnBrk="0"/>
            <a:r>
              <a:rPr lang="en-US" altLang="ko-KR" sz="1000" dirty="0">
                <a:solidFill>
                  <a:srgbClr val="1A1A1A"/>
                </a:solidFill>
                <a:latin typeface="Malgun Gothic" pitchFamily="34" charset="0"/>
                <a:ea typeface="Malgun Gothic" pitchFamily="34" charset="-122"/>
              </a:rPr>
              <a:t>Waiting Queue</a:t>
            </a:r>
            <a:endParaRPr lang="ko-KR" altLang="en-US" sz="1000" dirty="0">
              <a:solidFill>
                <a:srgbClr val="1A1A1A"/>
              </a:solidFill>
              <a:latin typeface="Malgun Gothic" pitchFamily="34" charset="0"/>
              <a:ea typeface="Malgun Gothic" pitchFamily="34" charset="-122"/>
            </a:endParaRPr>
          </a:p>
        </p:txBody>
      </p:sp>
      <p:sp>
        <p:nvSpPr>
          <p:cNvPr id="6" name="원통 5"/>
          <p:cNvSpPr/>
          <p:nvPr/>
        </p:nvSpPr>
        <p:spPr>
          <a:xfrm>
            <a:off x="7098329" y="4218886"/>
            <a:ext cx="1472732" cy="364338"/>
          </a:xfrm>
          <a:prstGeom prst="can">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Cache</a:t>
            </a:r>
          </a:p>
          <a:p>
            <a:pPr algn="ctr"/>
            <a:r>
              <a:rPr lang="en-US" altLang="ko-KR" sz="1000" b="1" dirty="0">
                <a:solidFill>
                  <a:srgbClr val="1A1A1A"/>
                </a:solidFill>
                <a:latin typeface="Malgun Gothic" pitchFamily="34" charset="0"/>
                <a:ea typeface="Malgun Gothic" pitchFamily="34" charset="-122"/>
                <a:cs typeface="Malgun Gothic" pitchFamily="34" charset="-120"/>
              </a:rPr>
              <a:t>(Shared Repository)</a:t>
            </a:r>
            <a:endParaRPr lang="ko-KR" altLang="en-US" sz="1000" b="1" dirty="0">
              <a:solidFill>
                <a:srgbClr val="1A1A1A"/>
              </a:solidFill>
              <a:latin typeface="Malgun Gothic" pitchFamily="34" charset="0"/>
              <a:ea typeface="Malgun Gothic" pitchFamily="34" charset="-122"/>
              <a:cs typeface="Malgun Gothic" pitchFamily="34" charset="-120"/>
            </a:endParaRPr>
          </a:p>
        </p:txBody>
      </p:sp>
      <p:cxnSp>
        <p:nvCxnSpPr>
          <p:cNvPr id="164" name="직선 화살표 연결선 185">
            <a:extLst>
              <a:ext uri="{FF2B5EF4-FFF2-40B4-BE49-F238E27FC236}">
                <a16:creationId xmlns:a16="http://schemas.microsoft.com/office/drawing/2014/main" id="{D76D373A-AD73-4958-8644-743AF962871F}"/>
              </a:ext>
            </a:extLst>
          </p:cNvPr>
          <p:cNvCxnSpPr>
            <a:cxnSpLocks/>
            <a:stCxn id="156" idx="2"/>
            <a:endCxn id="6" idx="1"/>
          </p:cNvCxnSpPr>
          <p:nvPr/>
        </p:nvCxnSpPr>
        <p:spPr>
          <a:xfrm flipH="1">
            <a:off x="7834695" y="3976053"/>
            <a:ext cx="127" cy="242833"/>
          </a:xfrm>
          <a:prstGeom prst="straightConnector1">
            <a:avLst/>
          </a:prstGeom>
          <a:noFill/>
          <a:ln w="12700">
            <a:solidFill>
              <a:srgbClr val="C76E31"/>
            </a:solidFill>
            <a:prstDash val="solid"/>
            <a:headEnd type="none" w="med" len="med"/>
            <a:tailEnd type="triangle" w="med" len="med"/>
          </a:ln>
        </p:spPr>
      </p:cxnSp>
      <p:sp>
        <p:nvSpPr>
          <p:cNvPr id="166" name="직사각형 165">
            <a:extLst>
              <a:ext uri="{FF2B5EF4-FFF2-40B4-BE49-F238E27FC236}">
                <a16:creationId xmlns:a16="http://schemas.microsoft.com/office/drawing/2014/main" id="{1F732118-666E-4542-8530-F6AD2A384259}"/>
              </a:ext>
            </a:extLst>
          </p:cNvPr>
          <p:cNvSpPr/>
          <p:nvPr/>
        </p:nvSpPr>
        <p:spPr>
          <a:xfrm>
            <a:off x="6827002" y="3990632"/>
            <a:ext cx="991013" cy="224346"/>
          </a:xfrm>
          <a:prstGeom prst="rect">
            <a:avLst/>
          </a:prstGeom>
          <a:noFill/>
          <a:ln w="12700">
            <a:noFill/>
            <a:prstDash val="dash"/>
          </a:ln>
        </p:spPr>
        <p:txBody>
          <a:bodyPr rtlCol="0" anchor="ctr"/>
          <a:lstStyle/>
          <a:p>
            <a:pPr algn="ctr"/>
            <a:r>
              <a:rPr lang="en-US" altLang="ko-KR" sz="900" dirty="0">
                <a:solidFill>
                  <a:schemeClr val="bg1">
                    <a:lumMod val="50000"/>
                  </a:schemeClr>
                </a:solidFill>
              </a:rPr>
              <a:t>Execution Plan</a:t>
            </a:r>
          </a:p>
        </p:txBody>
      </p:sp>
      <p:cxnSp>
        <p:nvCxnSpPr>
          <p:cNvPr id="190" name="직선 화살표 연결선 185">
            <a:extLst>
              <a:ext uri="{FF2B5EF4-FFF2-40B4-BE49-F238E27FC236}">
                <a16:creationId xmlns:a16="http://schemas.microsoft.com/office/drawing/2014/main" id="{D76D373A-AD73-4958-8644-743AF962871F}"/>
              </a:ext>
            </a:extLst>
          </p:cNvPr>
          <p:cNvCxnSpPr>
            <a:cxnSpLocks/>
            <a:stCxn id="6" idx="4"/>
            <a:endCxn id="187" idx="1"/>
          </p:cNvCxnSpPr>
          <p:nvPr/>
        </p:nvCxnSpPr>
        <p:spPr>
          <a:xfrm flipV="1">
            <a:off x="8571061" y="2861045"/>
            <a:ext cx="1646925" cy="1540010"/>
          </a:xfrm>
          <a:prstGeom prst="bentConnector3">
            <a:avLst>
              <a:gd name="adj1" fmla="val 50000"/>
            </a:avLst>
          </a:prstGeom>
          <a:noFill/>
          <a:ln w="12700">
            <a:solidFill>
              <a:srgbClr val="C76E31"/>
            </a:solidFill>
            <a:prstDash val="dash"/>
            <a:headEnd type="none" w="med" len="med"/>
            <a:tailEnd type="triangle" w="med" len="med"/>
          </a:ln>
        </p:spPr>
      </p:cxnSp>
      <p:cxnSp>
        <p:nvCxnSpPr>
          <p:cNvPr id="203" name="직선 화살표 연결선 185">
            <a:extLst>
              <a:ext uri="{FF2B5EF4-FFF2-40B4-BE49-F238E27FC236}">
                <a16:creationId xmlns:a16="http://schemas.microsoft.com/office/drawing/2014/main" id="{D76D373A-AD73-4958-8644-743AF962871F}"/>
              </a:ext>
            </a:extLst>
          </p:cNvPr>
          <p:cNvCxnSpPr>
            <a:cxnSpLocks/>
            <a:stCxn id="186" idx="2"/>
            <a:endCxn id="187" idx="0"/>
          </p:cNvCxnSpPr>
          <p:nvPr/>
        </p:nvCxnSpPr>
        <p:spPr>
          <a:xfrm>
            <a:off x="10700124" y="2548568"/>
            <a:ext cx="0" cy="166173"/>
          </a:xfrm>
          <a:prstGeom prst="straightConnector1">
            <a:avLst/>
          </a:prstGeom>
          <a:noFill/>
          <a:ln w="11430">
            <a:solidFill>
              <a:srgbClr val="888C91"/>
            </a:solidFill>
            <a:prstDash val="solid"/>
            <a:headEnd type="none"/>
            <a:tailEnd type="triangle"/>
          </a:ln>
        </p:spPr>
      </p:cxnSp>
      <p:sp>
        <p:nvSpPr>
          <p:cNvPr id="226" name="직사각형 225">
            <a:extLst>
              <a:ext uri="{FF2B5EF4-FFF2-40B4-BE49-F238E27FC236}">
                <a16:creationId xmlns:a16="http://schemas.microsoft.com/office/drawing/2014/main" id="{1F732118-666E-4542-8530-F6AD2A384259}"/>
              </a:ext>
            </a:extLst>
          </p:cNvPr>
          <p:cNvSpPr/>
          <p:nvPr/>
        </p:nvSpPr>
        <p:spPr>
          <a:xfrm>
            <a:off x="6766543" y="1810843"/>
            <a:ext cx="2152357" cy="271459"/>
          </a:xfrm>
          <a:prstGeom prst="rect">
            <a:avLst/>
          </a:prstGeom>
          <a:noFill/>
          <a:ln w="12700">
            <a:noFill/>
            <a:prstDash val="dash"/>
          </a:ln>
        </p:spPr>
        <p:txBody>
          <a:bodyPr rtlCol="0" anchor="ctr"/>
          <a:lstStyle/>
          <a:p>
            <a:pPr algn="ctr"/>
            <a:r>
              <a:rPr lang="en-US" altLang="ko-KR" sz="900" dirty="0">
                <a:solidFill>
                  <a:schemeClr val="bg1">
                    <a:lumMod val="50000"/>
                  </a:schemeClr>
                </a:solidFill>
              </a:rPr>
              <a:t>Planning</a:t>
            </a:r>
            <a:r>
              <a:rPr lang="ko-KR" altLang="en-US" sz="900" dirty="0">
                <a:solidFill>
                  <a:schemeClr val="bg1">
                    <a:lumMod val="50000"/>
                  </a:schemeClr>
                </a:solidFill>
              </a:rPr>
              <a:t> </a:t>
            </a:r>
            <a:r>
              <a:rPr lang="en-US" altLang="ko-KR" sz="900" dirty="0">
                <a:solidFill>
                  <a:schemeClr val="bg1">
                    <a:lumMod val="50000"/>
                  </a:schemeClr>
                </a:solidFill>
              </a:rPr>
              <a:t>- </a:t>
            </a:r>
            <a:r>
              <a:rPr lang="ko-KR" altLang="en-US" sz="900" dirty="0">
                <a:solidFill>
                  <a:schemeClr val="bg1">
                    <a:lumMod val="50000"/>
                  </a:schemeClr>
                </a:solidFill>
              </a:rPr>
              <a:t> </a:t>
            </a:r>
            <a:r>
              <a:rPr lang="en-US" altLang="ko-KR" sz="900" dirty="0">
                <a:solidFill>
                  <a:schemeClr val="bg1">
                    <a:lumMod val="50000"/>
                  </a:schemeClr>
                </a:solidFill>
              </a:rPr>
              <a:t>Critical path </a:t>
            </a:r>
            <a:r>
              <a:rPr lang="ko-KR" altLang="en-US" sz="900" dirty="0">
                <a:solidFill>
                  <a:schemeClr val="bg1">
                    <a:lumMod val="50000"/>
                  </a:schemeClr>
                </a:solidFill>
              </a:rPr>
              <a:t>밖</a:t>
            </a:r>
            <a:endParaRPr lang="en-US" altLang="ko-KR" sz="900" dirty="0">
              <a:solidFill>
                <a:schemeClr val="bg1">
                  <a:lumMod val="50000"/>
                </a:schemeClr>
              </a:solidFill>
            </a:endParaRPr>
          </a:p>
        </p:txBody>
      </p:sp>
      <p:grpSp>
        <p:nvGrpSpPr>
          <p:cNvPr id="56" name="그룹 55">
            <a:extLst>
              <a:ext uri="{FF2B5EF4-FFF2-40B4-BE49-F238E27FC236}">
                <a16:creationId xmlns:a16="http://schemas.microsoft.com/office/drawing/2014/main" id="{1F768021-5962-4FEE-86A6-9A65D654BAE1}"/>
              </a:ext>
            </a:extLst>
          </p:cNvPr>
          <p:cNvGrpSpPr/>
          <p:nvPr/>
        </p:nvGrpSpPr>
        <p:grpSpPr>
          <a:xfrm>
            <a:off x="9994226" y="2282562"/>
            <a:ext cx="1411795" cy="1666182"/>
            <a:chOff x="13094537" y="2383427"/>
            <a:chExt cx="1411795" cy="1666182"/>
          </a:xfrm>
        </p:grpSpPr>
        <p:sp>
          <p:nvSpPr>
            <p:cNvPr id="186" name="Shape 31">
              <a:extLst>
                <a:ext uri="{FF2B5EF4-FFF2-40B4-BE49-F238E27FC236}">
                  <a16:creationId xmlns:a16="http://schemas.microsoft.com/office/drawing/2014/main" id="{2CB8AAFC-DFAB-4056-A6EA-BB95D28E11E9}"/>
                </a:ext>
              </a:extLst>
            </p:cNvPr>
            <p:cNvSpPr/>
            <p:nvPr/>
          </p:nvSpPr>
          <p:spPr>
            <a:xfrm>
              <a:off x="13094537" y="2383427"/>
              <a:ext cx="1411795" cy="26600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Request Scheduler</a:t>
              </a:r>
              <a:endParaRPr lang="ko-KR" altLang="en-US" sz="1000" dirty="0">
                <a:solidFill>
                  <a:srgbClr val="1A1A1A"/>
                </a:solidFill>
                <a:latin typeface="Malgun Gothic" pitchFamily="34" charset="0"/>
                <a:ea typeface="Malgun Gothic" pitchFamily="34" charset="-122"/>
              </a:endParaRPr>
            </a:p>
          </p:txBody>
        </p:sp>
        <p:sp>
          <p:nvSpPr>
            <p:cNvPr id="187" name="Shape 31">
              <a:extLst>
                <a:ext uri="{FF2B5EF4-FFF2-40B4-BE49-F238E27FC236}">
                  <a16:creationId xmlns:a16="http://schemas.microsoft.com/office/drawing/2014/main" id="{2CB8AAFC-DFAB-4056-A6EA-BB95D28E11E9}"/>
                </a:ext>
              </a:extLst>
            </p:cNvPr>
            <p:cNvSpPr/>
            <p:nvPr/>
          </p:nvSpPr>
          <p:spPr>
            <a:xfrm>
              <a:off x="13318297" y="2815606"/>
              <a:ext cx="964275" cy="292607"/>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Lookup</a:t>
              </a:r>
              <a:endParaRPr lang="ko-KR" altLang="en-US" sz="1000" b="1" dirty="0">
                <a:solidFill>
                  <a:srgbClr val="1A1A1A"/>
                </a:solidFill>
                <a:latin typeface="Malgun Gothic" pitchFamily="34" charset="0"/>
                <a:ea typeface="Malgun Gothic" pitchFamily="34" charset="-122"/>
                <a:cs typeface="Malgun Gothic" pitchFamily="34" charset="-120"/>
              </a:endParaRPr>
            </a:p>
          </p:txBody>
        </p:sp>
        <p:sp>
          <p:nvSpPr>
            <p:cNvPr id="188" name="Shape 31">
              <a:extLst>
                <a:ext uri="{FF2B5EF4-FFF2-40B4-BE49-F238E27FC236}">
                  <a16:creationId xmlns:a16="http://schemas.microsoft.com/office/drawing/2014/main" id="{2CB8AAFC-DFAB-4056-A6EA-BB95D28E11E9}"/>
                </a:ext>
              </a:extLst>
            </p:cNvPr>
            <p:cNvSpPr/>
            <p:nvPr/>
          </p:nvSpPr>
          <p:spPr>
            <a:xfrm>
              <a:off x="13158709" y="3783603"/>
              <a:ext cx="1283450" cy="26600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Execution Router</a:t>
              </a:r>
              <a:endParaRPr lang="ko-KR" altLang="en-US" sz="1000" dirty="0">
                <a:solidFill>
                  <a:srgbClr val="1A1A1A"/>
                </a:solidFill>
                <a:latin typeface="Malgun Gothic" pitchFamily="34" charset="0"/>
                <a:ea typeface="Malgun Gothic" pitchFamily="34" charset="-122"/>
              </a:endParaRPr>
            </a:p>
          </p:txBody>
        </p:sp>
        <p:sp>
          <p:nvSpPr>
            <p:cNvPr id="241" name="Shape 31">
              <a:extLst>
                <a:ext uri="{FF2B5EF4-FFF2-40B4-BE49-F238E27FC236}">
                  <a16:creationId xmlns:a16="http://schemas.microsoft.com/office/drawing/2014/main" id="{2CB8AAFC-DFAB-4056-A6EA-BB95D28E11E9}"/>
                </a:ext>
              </a:extLst>
            </p:cNvPr>
            <p:cNvSpPr/>
            <p:nvPr/>
          </p:nvSpPr>
          <p:spPr>
            <a:xfrm>
              <a:off x="13270083" y="3349368"/>
              <a:ext cx="1060703" cy="266006"/>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Late Validator</a:t>
              </a:r>
              <a:endParaRPr lang="ko-KR" altLang="en-US" sz="1000" b="1" dirty="0">
                <a:solidFill>
                  <a:srgbClr val="1A1A1A"/>
                </a:solidFill>
                <a:latin typeface="Malgun Gothic" pitchFamily="34" charset="0"/>
                <a:ea typeface="Malgun Gothic" pitchFamily="34" charset="-122"/>
              </a:endParaRPr>
            </a:p>
          </p:txBody>
        </p:sp>
      </p:grpSp>
      <p:cxnSp>
        <p:nvCxnSpPr>
          <p:cNvPr id="246" name="직선 화살표 연결선 185">
            <a:extLst>
              <a:ext uri="{FF2B5EF4-FFF2-40B4-BE49-F238E27FC236}">
                <a16:creationId xmlns:a16="http://schemas.microsoft.com/office/drawing/2014/main" id="{D76D373A-AD73-4958-8644-743AF962871F}"/>
              </a:ext>
            </a:extLst>
          </p:cNvPr>
          <p:cNvCxnSpPr>
            <a:cxnSpLocks/>
            <a:stCxn id="241" idx="2"/>
            <a:endCxn id="188" idx="0"/>
          </p:cNvCxnSpPr>
          <p:nvPr/>
        </p:nvCxnSpPr>
        <p:spPr>
          <a:xfrm flipH="1">
            <a:off x="10700123" y="3514509"/>
            <a:ext cx="1" cy="168229"/>
          </a:xfrm>
          <a:prstGeom prst="straightConnector1">
            <a:avLst/>
          </a:prstGeom>
          <a:noFill/>
          <a:ln w="11430">
            <a:solidFill>
              <a:srgbClr val="888C91"/>
            </a:solidFill>
            <a:prstDash val="solid"/>
            <a:headEnd type="none"/>
            <a:tailEnd type="triangle"/>
          </a:ln>
        </p:spPr>
      </p:cxnSp>
      <p:cxnSp>
        <p:nvCxnSpPr>
          <p:cNvPr id="100" name="직선 화살표 연결선 185">
            <a:extLst>
              <a:ext uri="{FF2B5EF4-FFF2-40B4-BE49-F238E27FC236}">
                <a16:creationId xmlns:a16="http://schemas.microsoft.com/office/drawing/2014/main" id="{56498C45-0D93-4C3F-B12A-A34B786B2E88}"/>
              </a:ext>
            </a:extLst>
          </p:cNvPr>
          <p:cNvCxnSpPr>
            <a:cxnSpLocks/>
            <a:stCxn id="187" idx="2"/>
            <a:endCxn id="241" idx="0"/>
          </p:cNvCxnSpPr>
          <p:nvPr/>
        </p:nvCxnSpPr>
        <p:spPr>
          <a:xfrm>
            <a:off x="10700124" y="3007348"/>
            <a:ext cx="0" cy="241155"/>
          </a:xfrm>
          <a:prstGeom prst="straightConnector1">
            <a:avLst/>
          </a:prstGeom>
          <a:noFill/>
          <a:ln w="11430">
            <a:solidFill>
              <a:srgbClr val="888C91"/>
            </a:solidFill>
            <a:prstDash val="solid"/>
            <a:headEnd type="none"/>
            <a:tailEnd type="triangle"/>
          </a:ln>
        </p:spPr>
      </p:cxnSp>
      <p:cxnSp>
        <p:nvCxnSpPr>
          <p:cNvPr id="72" name="직선 화살표 연결선 185">
            <a:extLst>
              <a:ext uri="{FF2B5EF4-FFF2-40B4-BE49-F238E27FC236}">
                <a16:creationId xmlns:a16="http://schemas.microsoft.com/office/drawing/2014/main" id="{63055888-A989-4681-8232-E5AD42EA4D88}"/>
              </a:ext>
            </a:extLst>
          </p:cNvPr>
          <p:cNvCxnSpPr>
            <a:cxnSpLocks/>
            <a:stCxn id="116" idx="0"/>
            <a:endCxn id="71" idx="2"/>
          </p:cNvCxnSpPr>
          <p:nvPr/>
        </p:nvCxnSpPr>
        <p:spPr>
          <a:xfrm rot="16200000" flipV="1">
            <a:off x="3185192" y="2675340"/>
            <a:ext cx="338963" cy="573972"/>
          </a:xfrm>
          <a:prstGeom prst="bentConnector3">
            <a:avLst>
              <a:gd name="adj1" fmla="val 50000"/>
            </a:avLst>
          </a:prstGeom>
          <a:noFill/>
          <a:ln w="11430">
            <a:solidFill>
              <a:schemeClr val="accent1"/>
            </a:solidFill>
            <a:prstDash val="solid"/>
            <a:headEnd type="triangle" w="med" len="med"/>
            <a:tailEnd type="none" w="med" len="med"/>
          </a:ln>
        </p:spPr>
      </p:cxnSp>
      <p:grpSp>
        <p:nvGrpSpPr>
          <p:cNvPr id="35" name="그룹 34"/>
          <p:cNvGrpSpPr/>
          <p:nvPr/>
        </p:nvGrpSpPr>
        <p:grpSpPr>
          <a:xfrm>
            <a:off x="6665290" y="2570168"/>
            <a:ext cx="2341529" cy="1405885"/>
            <a:chOff x="6670800" y="2204623"/>
            <a:chExt cx="2575682" cy="1405885"/>
          </a:xfrm>
        </p:grpSpPr>
        <p:sp>
          <p:nvSpPr>
            <p:cNvPr id="156" name="Shape 39">
              <a:extLst>
                <a:ext uri="{FF2B5EF4-FFF2-40B4-BE49-F238E27FC236}">
                  <a16:creationId xmlns:a16="http://schemas.microsoft.com/office/drawing/2014/main" id="{6868F6CD-24B6-42CB-9385-562D6F007FDF}"/>
                </a:ext>
              </a:extLst>
            </p:cNvPr>
            <p:cNvSpPr/>
            <p:nvPr/>
          </p:nvSpPr>
          <p:spPr>
            <a:xfrm>
              <a:off x="6670800" y="2453287"/>
              <a:ext cx="2572970" cy="1157221"/>
            </a:xfrm>
            <a:prstGeom prst="rect">
              <a:avLst/>
            </a:prstGeom>
            <a:solidFill>
              <a:srgbClr val="FCE4D6">
                <a:alpha val="98000"/>
              </a:srgbClr>
            </a:solidFill>
            <a:ln w="15240">
              <a:solidFill>
                <a:srgbClr val="C65911"/>
              </a:solidFill>
              <a:prstDash val="solid"/>
            </a:ln>
          </p:spPr>
        </p:sp>
        <p:sp>
          <p:nvSpPr>
            <p:cNvPr id="162" name="Shape 40">
              <a:extLst>
                <a:ext uri="{FF2B5EF4-FFF2-40B4-BE49-F238E27FC236}">
                  <a16:creationId xmlns:a16="http://schemas.microsoft.com/office/drawing/2014/main" id="{23DF7C3D-B06F-4B81-8EBA-A450F264EFE2}"/>
                </a:ext>
              </a:extLst>
            </p:cNvPr>
            <p:cNvSpPr/>
            <p:nvPr/>
          </p:nvSpPr>
          <p:spPr>
            <a:xfrm>
              <a:off x="6670800" y="2204623"/>
              <a:ext cx="2575682" cy="250430"/>
            </a:xfrm>
            <a:prstGeom prst="rect">
              <a:avLst/>
            </a:prstGeom>
            <a:solidFill>
              <a:srgbClr val="C65911">
                <a:alpha val="92000"/>
              </a:srgbClr>
            </a:solidFill>
            <a:ln w="12700">
              <a:solidFill>
                <a:srgbClr val="C65911"/>
              </a:solidFill>
              <a:prstDash val="solid"/>
            </a:ln>
          </p:spPr>
          <p:txBody>
            <a:bodyPr anchor="ctr"/>
            <a:lstStyle/>
            <a:p>
              <a:pPr algn="ctr"/>
              <a:r>
                <a:rPr lang="en-US" altLang="ko-KR" sz="1000" b="1" dirty="0">
                  <a:solidFill>
                    <a:schemeClr val="bg1"/>
                  </a:solidFill>
                </a:rPr>
                <a:t>Execution Planner</a:t>
              </a:r>
              <a:endParaRPr lang="ko-KR" altLang="en-US" sz="1000" b="1" dirty="0">
                <a:solidFill>
                  <a:schemeClr val="bg1"/>
                </a:solidFill>
              </a:endParaRPr>
            </a:p>
          </p:txBody>
        </p:sp>
        <p:sp>
          <p:nvSpPr>
            <p:cNvPr id="80" name="Shape 39">
              <a:extLst>
                <a:ext uri="{FF2B5EF4-FFF2-40B4-BE49-F238E27FC236}">
                  <a16:creationId xmlns:a16="http://schemas.microsoft.com/office/drawing/2014/main" id="{F7D82DE9-0B6E-4CB1-A5F0-9E4D7591B816}"/>
                </a:ext>
              </a:extLst>
            </p:cNvPr>
            <p:cNvSpPr/>
            <p:nvPr/>
          </p:nvSpPr>
          <p:spPr>
            <a:xfrm>
              <a:off x="7247100" y="3265513"/>
              <a:ext cx="1529889" cy="280025"/>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Cost Evaluator</a:t>
              </a:r>
            </a:p>
          </p:txBody>
        </p:sp>
        <p:sp>
          <p:nvSpPr>
            <p:cNvPr id="82" name="Shape 37">
              <a:extLst>
                <a:ext uri="{FF2B5EF4-FFF2-40B4-BE49-F238E27FC236}">
                  <a16:creationId xmlns:a16="http://schemas.microsoft.com/office/drawing/2014/main" id="{306B7634-9A5E-4F0E-A947-927E7282352F}"/>
                </a:ext>
              </a:extLst>
            </p:cNvPr>
            <p:cNvSpPr/>
            <p:nvPr/>
          </p:nvSpPr>
          <p:spPr>
            <a:xfrm>
              <a:off x="7923536" y="2574326"/>
              <a:ext cx="1262735" cy="359619"/>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Resource State</a:t>
              </a:r>
            </a:p>
            <a:p>
              <a:pPr algn="ctr"/>
              <a:r>
                <a:rPr lang="en-US" altLang="ko-KR" sz="1000" b="1" dirty="0">
                  <a:solidFill>
                    <a:srgbClr val="1A1A1A"/>
                  </a:solidFill>
                  <a:latin typeface="Malgun Gothic" pitchFamily="34" charset="0"/>
                  <a:ea typeface="Malgun Gothic" pitchFamily="34" charset="-122"/>
                  <a:cs typeface="Malgun Gothic" pitchFamily="34" charset="-120"/>
                </a:rPr>
                <a:t>Monitor</a:t>
              </a:r>
            </a:p>
          </p:txBody>
        </p:sp>
        <p:sp>
          <p:nvSpPr>
            <p:cNvPr id="83" name="Shape 37">
              <a:extLst>
                <a:ext uri="{FF2B5EF4-FFF2-40B4-BE49-F238E27FC236}">
                  <a16:creationId xmlns:a16="http://schemas.microsoft.com/office/drawing/2014/main" id="{306B7634-9A5E-4F0E-A947-927E7282352F}"/>
                </a:ext>
              </a:extLst>
            </p:cNvPr>
            <p:cNvSpPr/>
            <p:nvPr/>
          </p:nvSpPr>
          <p:spPr>
            <a:xfrm>
              <a:off x="6770378" y="2574326"/>
              <a:ext cx="1043584" cy="359619"/>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KV State</a:t>
              </a:r>
            </a:p>
            <a:p>
              <a:pPr algn="ctr"/>
              <a:r>
                <a:rPr lang="en-US" altLang="ko-KR" sz="1000" b="1" dirty="0">
                  <a:solidFill>
                    <a:srgbClr val="1A1A1A"/>
                  </a:solidFill>
                  <a:latin typeface="Malgun Gothic" pitchFamily="34" charset="0"/>
                  <a:ea typeface="Malgun Gothic" pitchFamily="34" charset="-122"/>
                  <a:cs typeface="Malgun Gothic" pitchFamily="34" charset="-120"/>
                </a:rPr>
                <a:t>Monitor</a:t>
              </a:r>
            </a:p>
          </p:txBody>
        </p:sp>
        <p:cxnSp>
          <p:nvCxnSpPr>
            <p:cNvPr id="85" name="직선 화살표 연결선 185">
              <a:extLst>
                <a:ext uri="{FF2B5EF4-FFF2-40B4-BE49-F238E27FC236}">
                  <a16:creationId xmlns:a16="http://schemas.microsoft.com/office/drawing/2014/main" id="{D76D373A-AD73-4958-8644-743AF962871F}"/>
                </a:ext>
              </a:extLst>
            </p:cNvPr>
            <p:cNvCxnSpPr>
              <a:cxnSpLocks/>
              <a:stCxn id="82" idx="2"/>
              <a:endCxn id="80" idx="0"/>
            </p:cNvCxnSpPr>
            <p:nvPr/>
          </p:nvCxnSpPr>
          <p:spPr>
            <a:xfrm rot="5400000">
              <a:off x="8117691" y="2828300"/>
              <a:ext cx="331568" cy="542860"/>
            </a:xfrm>
            <a:prstGeom prst="bentConnector3">
              <a:avLst>
                <a:gd name="adj1" fmla="val 50000"/>
              </a:avLst>
            </a:prstGeom>
            <a:noFill/>
            <a:ln w="12700">
              <a:solidFill>
                <a:srgbClr val="C76E31"/>
              </a:solidFill>
              <a:prstDash val="solid"/>
              <a:headEnd type="none" w="med" len="med"/>
              <a:tailEnd type="triangle" w="med" len="med"/>
            </a:ln>
          </p:spPr>
        </p:cxnSp>
        <p:cxnSp>
          <p:nvCxnSpPr>
            <p:cNvPr id="86" name="직선 화살표 연결선 185">
              <a:extLst>
                <a:ext uri="{FF2B5EF4-FFF2-40B4-BE49-F238E27FC236}">
                  <a16:creationId xmlns:a16="http://schemas.microsoft.com/office/drawing/2014/main" id="{D76D373A-AD73-4958-8644-743AF962871F}"/>
                </a:ext>
              </a:extLst>
            </p:cNvPr>
            <p:cNvCxnSpPr>
              <a:cxnSpLocks/>
              <a:stCxn id="83" idx="2"/>
              <a:endCxn id="80" idx="0"/>
            </p:cNvCxnSpPr>
            <p:nvPr/>
          </p:nvCxnSpPr>
          <p:spPr>
            <a:xfrm rot="16200000" flipH="1">
              <a:off x="7486323" y="2739791"/>
              <a:ext cx="331568" cy="719874"/>
            </a:xfrm>
            <a:prstGeom prst="bentConnector3">
              <a:avLst>
                <a:gd name="adj1" fmla="val 50000"/>
              </a:avLst>
            </a:prstGeom>
            <a:noFill/>
            <a:ln w="12700">
              <a:solidFill>
                <a:srgbClr val="C76E31"/>
              </a:solidFill>
              <a:prstDash val="solid"/>
              <a:headEnd type="none" w="med" len="med"/>
              <a:tailEnd type="triangle" w="med" len="med"/>
            </a:ln>
          </p:spPr>
        </p:cxnSp>
      </p:grpSp>
      <p:cxnSp>
        <p:nvCxnSpPr>
          <p:cNvPr id="99" name="직선 화살표 연결선 185">
            <a:extLst>
              <a:ext uri="{FF2B5EF4-FFF2-40B4-BE49-F238E27FC236}">
                <a16:creationId xmlns:a16="http://schemas.microsoft.com/office/drawing/2014/main" id="{D76D373A-AD73-4958-8644-743AF962871F}"/>
              </a:ext>
            </a:extLst>
          </p:cNvPr>
          <p:cNvCxnSpPr>
            <a:cxnSpLocks/>
            <a:stCxn id="241" idx="1"/>
            <a:endCxn id="162" idx="3"/>
          </p:cNvCxnSpPr>
          <p:nvPr/>
        </p:nvCxnSpPr>
        <p:spPr>
          <a:xfrm rot="10800000">
            <a:off x="9006820" y="2695384"/>
            <a:ext cx="1162953" cy="686123"/>
          </a:xfrm>
          <a:prstGeom prst="bentConnector3">
            <a:avLst>
              <a:gd name="adj1" fmla="val 50000"/>
            </a:avLst>
          </a:prstGeom>
          <a:noFill/>
          <a:ln w="12700">
            <a:solidFill>
              <a:srgbClr val="C76E31"/>
            </a:solidFill>
            <a:prstDash val="dash"/>
            <a:headEnd type="none" w="med" len="med"/>
            <a:tailEnd type="triangle" w="med" len="med"/>
          </a:ln>
        </p:spPr>
      </p:cxnSp>
      <p:sp>
        <p:nvSpPr>
          <p:cNvPr id="137" name="Shape 31">
            <a:extLst>
              <a:ext uri="{FF2B5EF4-FFF2-40B4-BE49-F238E27FC236}">
                <a16:creationId xmlns:a16="http://schemas.microsoft.com/office/drawing/2014/main" id="{823D7D32-6771-4AA4-9581-77C6BEA03C53}"/>
              </a:ext>
            </a:extLst>
          </p:cNvPr>
          <p:cNvSpPr/>
          <p:nvPr/>
        </p:nvSpPr>
        <p:spPr>
          <a:xfrm>
            <a:off x="10302194" y="4218886"/>
            <a:ext cx="65773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err="1">
                <a:solidFill>
                  <a:srgbClr val="1A1A1A"/>
                </a:solidFill>
                <a:latin typeface="Malgun Gothic" pitchFamily="34" charset="0"/>
                <a:ea typeface="Malgun Gothic" pitchFamily="34" charset="-122"/>
              </a:rPr>
              <a:t>ScHBM</a:t>
            </a:r>
            <a:endParaRPr lang="ko-KR" altLang="en-US" sz="1000" dirty="0">
              <a:solidFill>
                <a:srgbClr val="1A1A1A"/>
              </a:solidFill>
              <a:latin typeface="Malgun Gothic" pitchFamily="34" charset="0"/>
              <a:ea typeface="Malgun Gothic" pitchFamily="34" charset="-122"/>
            </a:endParaRPr>
          </a:p>
        </p:txBody>
      </p:sp>
      <p:sp>
        <p:nvSpPr>
          <p:cNvPr id="138" name="Shape 31">
            <a:extLst>
              <a:ext uri="{FF2B5EF4-FFF2-40B4-BE49-F238E27FC236}">
                <a16:creationId xmlns:a16="http://schemas.microsoft.com/office/drawing/2014/main" id="{823D7D32-6771-4AA4-9581-77C6BEA03C53}"/>
              </a:ext>
            </a:extLst>
          </p:cNvPr>
          <p:cNvSpPr/>
          <p:nvPr/>
        </p:nvSpPr>
        <p:spPr>
          <a:xfrm>
            <a:off x="9540862" y="4218886"/>
            <a:ext cx="65773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GPU</a:t>
            </a:r>
            <a:endParaRPr lang="ko-KR" altLang="en-US" sz="1000" dirty="0">
              <a:solidFill>
                <a:srgbClr val="1A1A1A"/>
              </a:solidFill>
              <a:latin typeface="Malgun Gothic" pitchFamily="34" charset="0"/>
              <a:ea typeface="Malgun Gothic" pitchFamily="34" charset="-122"/>
            </a:endParaRPr>
          </a:p>
        </p:txBody>
      </p:sp>
      <p:sp>
        <p:nvSpPr>
          <p:cNvPr id="139" name="Shape 31">
            <a:extLst>
              <a:ext uri="{FF2B5EF4-FFF2-40B4-BE49-F238E27FC236}">
                <a16:creationId xmlns:a16="http://schemas.microsoft.com/office/drawing/2014/main" id="{823D7D32-6771-4AA4-9581-77C6BEA03C53}"/>
              </a:ext>
            </a:extLst>
          </p:cNvPr>
          <p:cNvSpPr/>
          <p:nvPr/>
        </p:nvSpPr>
        <p:spPr>
          <a:xfrm>
            <a:off x="11083019" y="4218886"/>
            <a:ext cx="65773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CXL-PNM</a:t>
            </a:r>
            <a:endParaRPr lang="ko-KR" altLang="en-US" sz="1000" dirty="0">
              <a:solidFill>
                <a:srgbClr val="1A1A1A"/>
              </a:solidFill>
              <a:latin typeface="Malgun Gothic" pitchFamily="34" charset="0"/>
              <a:ea typeface="Malgun Gothic" pitchFamily="34" charset="-122"/>
            </a:endParaRPr>
          </a:p>
        </p:txBody>
      </p:sp>
      <p:cxnSp>
        <p:nvCxnSpPr>
          <p:cNvPr id="140" name="직선 화살표 연결선 185">
            <a:extLst>
              <a:ext uri="{FF2B5EF4-FFF2-40B4-BE49-F238E27FC236}">
                <a16:creationId xmlns:a16="http://schemas.microsoft.com/office/drawing/2014/main" id="{D76D373A-AD73-4958-8644-743AF962871F}"/>
              </a:ext>
            </a:extLst>
          </p:cNvPr>
          <p:cNvCxnSpPr>
            <a:cxnSpLocks/>
            <a:stCxn id="188" idx="2"/>
            <a:endCxn id="138" idx="0"/>
          </p:cNvCxnSpPr>
          <p:nvPr/>
        </p:nvCxnSpPr>
        <p:spPr>
          <a:xfrm rot="5400000">
            <a:off x="10149857" y="3668620"/>
            <a:ext cx="270142" cy="830391"/>
          </a:xfrm>
          <a:prstGeom prst="bentConnector3">
            <a:avLst>
              <a:gd name="adj1" fmla="val 50000"/>
            </a:avLst>
          </a:prstGeom>
          <a:noFill/>
          <a:ln w="11430">
            <a:solidFill>
              <a:srgbClr val="888C91"/>
            </a:solidFill>
            <a:prstDash val="solid"/>
            <a:headEnd type="none"/>
            <a:tailEnd type="triangle"/>
          </a:ln>
        </p:spPr>
      </p:cxnSp>
      <p:cxnSp>
        <p:nvCxnSpPr>
          <p:cNvPr id="141" name="직선 화살표 연결선 185">
            <a:extLst>
              <a:ext uri="{FF2B5EF4-FFF2-40B4-BE49-F238E27FC236}">
                <a16:creationId xmlns:a16="http://schemas.microsoft.com/office/drawing/2014/main" id="{D76D373A-AD73-4958-8644-743AF962871F}"/>
              </a:ext>
            </a:extLst>
          </p:cNvPr>
          <p:cNvCxnSpPr>
            <a:cxnSpLocks/>
            <a:stCxn id="188" idx="2"/>
            <a:endCxn id="139" idx="0"/>
          </p:cNvCxnSpPr>
          <p:nvPr/>
        </p:nvCxnSpPr>
        <p:spPr>
          <a:xfrm rot="16200000" flipH="1">
            <a:off x="10920935" y="3727932"/>
            <a:ext cx="270142" cy="711766"/>
          </a:xfrm>
          <a:prstGeom prst="bentConnector3">
            <a:avLst>
              <a:gd name="adj1" fmla="val 50000"/>
            </a:avLst>
          </a:prstGeom>
          <a:noFill/>
          <a:ln w="11430">
            <a:solidFill>
              <a:srgbClr val="888C91"/>
            </a:solidFill>
            <a:prstDash val="solid"/>
            <a:headEnd type="none"/>
            <a:tailEnd type="triangle"/>
          </a:ln>
        </p:spPr>
      </p:cxnSp>
      <p:cxnSp>
        <p:nvCxnSpPr>
          <p:cNvPr id="148" name="직선 화살표 연결선 185">
            <a:extLst>
              <a:ext uri="{FF2B5EF4-FFF2-40B4-BE49-F238E27FC236}">
                <a16:creationId xmlns:a16="http://schemas.microsoft.com/office/drawing/2014/main" id="{D76D373A-AD73-4958-8644-743AF962871F}"/>
              </a:ext>
            </a:extLst>
          </p:cNvPr>
          <p:cNvCxnSpPr>
            <a:cxnSpLocks/>
            <a:stCxn id="188" idx="2"/>
            <a:endCxn id="137" idx="0"/>
          </p:cNvCxnSpPr>
          <p:nvPr/>
        </p:nvCxnSpPr>
        <p:spPr>
          <a:xfrm rot="5400000">
            <a:off x="10530523" y="4049286"/>
            <a:ext cx="270142" cy="69059"/>
          </a:xfrm>
          <a:prstGeom prst="bentConnector3">
            <a:avLst>
              <a:gd name="adj1" fmla="val 50000"/>
            </a:avLst>
          </a:prstGeom>
          <a:noFill/>
          <a:ln w="11430">
            <a:solidFill>
              <a:srgbClr val="888C91"/>
            </a:solidFill>
            <a:prstDash val="solid"/>
            <a:headEnd type="none"/>
            <a:tailEnd type="triangle"/>
          </a:ln>
        </p:spPr>
      </p:cxnSp>
      <p:cxnSp>
        <p:nvCxnSpPr>
          <p:cNvPr id="163" name="직선 화살표 연결선 185">
            <a:extLst>
              <a:ext uri="{FF2B5EF4-FFF2-40B4-BE49-F238E27FC236}">
                <a16:creationId xmlns:a16="http://schemas.microsoft.com/office/drawing/2014/main" id="{D76D373A-AD73-4958-8644-743AF962871F}"/>
              </a:ext>
            </a:extLst>
          </p:cNvPr>
          <p:cNvCxnSpPr>
            <a:cxnSpLocks/>
            <a:stCxn id="122" idx="2"/>
            <a:endCxn id="162" idx="0"/>
          </p:cNvCxnSpPr>
          <p:nvPr/>
        </p:nvCxnSpPr>
        <p:spPr>
          <a:xfrm>
            <a:off x="7834695" y="2400951"/>
            <a:ext cx="1360" cy="169217"/>
          </a:xfrm>
          <a:prstGeom prst="straightConnector1">
            <a:avLst/>
          </a:prstGeom>
          <a:noFill/>
          <a:ln w="11430">
            <a:solidFill>
              <a:srgbClr val="888C91"/>
            </a:solidFill>
            <a:prstDash val="solid"/>
            <a:headEnd type="none"/>
            <a:tailEnd type="triangle"/>
          </a:ln>
        </p:spPr>
      </p:cxnSp>
      <p:sp>
        <p:nvSpPr>
          <p:cNvPr id="77" name="TextBox 76"/>
          <p:cNvSpPr txBox="1"/>
          <p:nvPr/>
        </p:nvSpPr>
        <p:spPr>
          <a:xfrm>
            <a:off x="5120640" y="2286000"/>
            <a:ext cx="914400" cy="585216"/>
          </a:xfrm>
          <a:prstGeom prst="rect">
            <a:avLst/>
          </a:prstGeom>
          <a:noFill/>
        </p:spPr>
        <p:txBody>
          <a:bodyPr wrap="square" lIns="0" tIns="0" rIns="0" bIns="0" anchor="ctr">
            <a:spAutoFit/>
          </a:bodyPr>
          <a:lstStyle/>
          <a:p>
            <a:pPr algn="l">
              <a:lnSpc>
                <a:spcPct val="100000"/>
              </a:lnSpc>
            </a:pPr>
            <a:r>
              <a:rPr sz="800" b="0" i="0">
                <a:solidFill>
                  <a:srgbClr val="808080"/>
                </a:solidFill>
                <a:latin typeface="맑은 고딕"/>
                <a:ea typeface="맑은 고딕"/>
              </a:rPr>
              <a:t>Cost 계산이</a:t>
            </a:r>
          </a:p>
          <a:p>
            <a:pPr algn="l">
              <a:lnSpc>
                <a:spcPct val="100000"/>
              </a:lnSpc>
            </a:pPr>
            <a:r>
              <a:rPr sz="800" b="0" i="0">
                <a:solidFill>
                  <a:srgbClr val="808080"/>
                </a:solidFill>
                <a:latin typeface="맑은 고딕"/>
                <a:ea typeface="맑은 고딕"/>
              </a:rPr>
              <a:t>critical path</a:t>
            </a:r>
          </a:p>
          <a:p>
            <a:pPr algn="l">
              <a:lnSpc>
                <a:spcPct val="100000"/>
              </a:lnSpc>
            </a:pPr>
            <a:r>
              <a:rPr sz="800" b="0" i="0">
                <a:solidFill>
                  <a:srgbClr val="808080"/>
                </a:solidFill>
                <a:latin typeface="맑은 고딕"/>
                <a:ea typeface="맑은 고딕"/>
              </a:rPr>
              <a:t>내부에서 수행</a:t>
            </a:r>
          </a:p>
        </p:txBody>
      </p:sp>
      <p:sp>
        <p:nvSpPr>
          <p:cNvPr id="78" name="TextBox 77"/>
          <p:cNvSpPr txBox="1"/>
          <p:nvPr/>
        </p:nvSpPr>
        <p:spPr>
          <a:xfrm>
            <a:off x="9821305" y="3104507"/>
            <a:ext cx="640080" cy="292608"/>
          </a:xfrm>
          <a:prstGeom prst="rect">
            <a:avLst/>
          </a:prstGeom>
          <a:noFill/>
        </p:spPr>
        <p:txBody>
          <a:bodyPr wrap="square" lIns="0" tIns="0" rIns="0" bIns="0" anchor="ctr">
            <a:spAutoFit/>
          </a:bodyPr>
          <a:lstStyle/>
          <a:p>
            <a:pPr algn="l">
              <a:lnSpc>
                <a:spcPct val="100000"/>
              </a:lnSpc>
            </a:pPr>
            <a:r>
              <a:rPr sz="700" b="0" i="0" dirty="0" err="1">
                <a:solidFill>
                  <a:srgbClr val="C55A11"/>
                </a:solidFill>
                <a:latin typeface="맑은 고딕"/>
                <a:ea typeface="맑은 고딕"/>
              </a:rPr>
              <a:t>Async</a:t>
            </a:r>
            <a:endParaRPr sz="700" b="0" i="0" dirty="0">
              <a:solidFill>
                <a:srgbClr val="C55A11"/>
              </a:solidFill>
              <a:latin typeface="맑은 고딕"/>
              <a:ea typeface="맑은 고딕"/>
            </a:endParaRPr>
          </a:p>
          <a:p>
            <a:pPr algn="l">
              <a:lnSpc>
                <a:spcPct val="100000"/>
              </a:lnSpc>
            </a:pPr>
            <a:r>
              <a:rPr sz="700" b="0" i="0" dirty="0">
                <a:solidFill>
                  <a:srgbClr val="C55A11"/>
                </a:solidFill>
                <a:latin typeface="맑은 고딕"/>
                <a:ea typeface="맑은 고딕"/>
              </a:rPr>
              <a:t>re-plan</a:t>
            </a:r>
          </a:p>
        </p:txBody>
      </p:sp>
      <p:sp>
        <p:nvSpPr>
          <p:cNvPr id="84" name="TextBox 83"/>
          <p:cNvSpPr txBox="1"/>
          <p:nvPr/>
        </p:nvSpPr>
        <p:spPr>
          <a:xfrm>
            <a:off x="9897946" y="2714230"/>
            <a:ext cx="640080" cy="107722"/>
          </a:xfrm>
          <a:prstGeom prst="rect">
            <a:avLst/>
          </a:prstGeom>
          <a:noFill/>
        </p:spPr>
        <p:txBody>
          <a:bodyPr wrap="square" lIns="0" tIns="0" rIns="0" bIns="0" anchor="ctr">
            <a:spAutoFit/>
          </a:bodyPr>
          <a:lstStyle/>
          <a:p>
            <a:pPr algn="l">
              <a:lnSpc>
                <a:spcPct val="100000"/>
              </a:lnSpc>
            </a:pPr>
            <a:r>
              <a:rPr lang="en-US" sz="700" b="0" i="0" dirty="0">
                <a:solidFill>
                  <a:schemeClr val="accent1"/>
                </a:solidFill>
                <a:latin typeface="맑은 고딕"/>
                <a:ea typeface="맑은 고딕"/>
              </a:rPr>
              <a:t>read</a:t>
            </a:r>
            <a:endParaRPr sz="700" b="0" i="0" dirty="0">
              <a:solidFill>
                <a:schemeClr val="accent1"/>
              </a:solidFill>
              <a:latin typeface="맑은 고딕"/>
              <a:ea typeface="맑은 고딕"/>
            </a:endParaRPr>
          </a:p>
        </p:txBody>
      </p:sp>
      <p:sp>
        <p:nvSpPr>
          <p:cNvPr id="95" name="직사각형 94">
            <a:extLst>
              <a:ext uri="{FF2B5EF4-FFF2-40B4-BE49-F238E27FC236}">
                <a16:creationId xmlns:a16="http://schemas.microsoft.com/office/drawing/2014/main" id="{1F732118-666E-4542-8530-F6AD2A384259}"/>
              </a:ext>
            </a:extLst>
          </p:cNvPr>
          <p:cNvSpPr/>
          <p:nvPr/>
        </p:nvSpPr>
        <p:spPr>
          <a:xfrm>
            <a:off x="9528263" y="1836885"/>
            <a:ext cx="2152357" cy="271459"/>
          </a:xfrm>
          <a:prstGeom prst="rect">
            <a:avLst/>
          </a:prstGeom>
          <a:noFill/>
          <a:ln w="12700">
            <a:noFill/>
            <a:prstDash val="dash"/>
          </a:ln>
        </p:spPr>
        <p:txBody>
          <a:bodyPr rtlCol="0" anchor="ctr"/>
          <a:lstStyle/>
          <a:p>
            <a:pPr algn="ctr"/>
            <a:r>
              <a:rPr lang="en-US" altLang="ko-KR" sz="900" dirty="0">
                <a:solidFill>
                  <a:schemeClr val="bg1">
                    <a:lumMod val="50000"/>
                  </a:schemeClr>
                </a:solidFill>
              </a:rPr>
              <a:t>Serving - Critical path </a:t>
            </a:r>
            <a:r>
              <a:rPr lang="ko-KR" altLang="en-US" sz="900" dirty="0">
                <a:solidFill>
                  <a:schemeClr val="bg1">
                    <a:lumMod val="50000"/>
                  </a:schemeClr>
                </a:solidFill>
              </a:rPr>
              <a:t>내</a:t>
            </a:r>
            <a:endParaRPr lang="en-US" altLang="ko-KR" sz="900" dirty="0">
              <a:solidFill>
                <a:schemeClr val="bg1">
                  <a:lumMod val="50000"/>
                </a:schemeClr>
              </a:solidFill>
            </a:endParaRPr>
          </a:p>
        </p:txBody>
      </p:sp>
      <p:sp>
        <p:nvSpPr>
          <p:cNvPr id="102" name="TextBox 101"/>
          <p:cNvSpPr txBox="1"/>
          <p:nvPr/>
        </p:nvSpPr>
        <p:spPr>
          <a:xfrm>
            <a:off x="11335087" y="3138623"/>
            <a:ext cx="640080" cy="430887"/>
          </a:xfrm>
          <a:prstGeom prst="rect">
            <a:avLst/>
          </a:prstGeom>
          <a:noFill/>
        </p:spPr>
        <p:txBody>
          <a:bodyPr wrap="square" lIns="0" tIns="0" rIns="0" bIns="0" anchor="ctr">
            <a:spAutoFit/>
          </a:bodyPr>
          <a:lstStyle/>
          <a:p>
            <a:pPr algn="l">
              <a:lnSpc>
                <a:spcPct val="100000"/>
              </a:lnSpc>
            </a:pPr>
            <a:r>
              <a:rPr lang="en-US" altLang="ko-KR" sz="700" b="0" i="0" dirty="0">
                <a:solidFill>
                  <a:srgbClr val="C55A11"/>
                </a:solidFill>
                <a:latin typeface="맑은 고딕"/>
                <a:ea typeface="맑은 고딕"/>
              </a:rPr>
              <a:t>If mismatch</a:t>
            </a:r>
          </a:p>
          <a:p>
            <a:pPr marL="228600" indent="-228600" algn="l">
              <a:lnSpc>
                <a:spcPct val="100000"/>
              </a:lnSpc>
              <a:buAutoNum type="arabicParenR"/>
            </a:pPr>
            <a:r>
              <a:rPr lang="ko-KR" altLang="en-US" sz="700" b="0" i="0" dirty="0" err="1">
                <a:solidFill>
                  <a:srgbClr val="C55A11"/>
                </a:solidFill>
                <a:latin typeface="맑은 고딕"/>
                <a:ea typeface="맑은 고딕"/>
              </a:rPr>
              <a:t>차순위</a:t>
            </a:r>
            <a:endParaRPr lang="en-US" altLang="ko-KR" sz="700" b="0" i="0" dirty="0">
              <a:solidFill>
                <a:srgbClr val="C55A11"/>
              </a:solidFill>
              <a:latin typeface="맑은 고딕"/>
              <a:ea typeface="맑은 고딕"/>
            </a:endParaRPr>
          </a:p>
          <a:p>
            <a:pPr marL="228600" indent="-228600" algn="l">
              <a:lnSpc>
                <a:spcPct val="100000"/>
              </a:lnSpc>
              <a:buAutoNum type="arabicParenR"/>
            </a:pPr>
            <a:r>
              <a:rPr lang="en-US" sz="700" dirty="0">
                <a:solidFill>
                  <a:srgbClr val="C55A11"/>
                </a:solidFill>
                <a:latin typeface="맑은 고딕"/>
                <a:ea typeface="맑은 고딕"/>
              </a:rPr>
              <a:t>Fallback</a:t>
            </a:r>
          </a:p>
          <a:p>
            <a:pPr marL="228600" indent="-228600" algn="l">
              <a:lnSpc>
                <a:spcPct val="100000"/>
              </a:lnSpc>
              <a:buAutoNum type="arabicParenR"/>
            </a:pPr>
            <a:r>
              <a:rPr lang="en-US" sz="700" b="0" i="0" dirty="0">
                <a:solidFill>
                  <a:srgbClr val="C55A11"/>
                </a:solidFill>
                <a:latin typeface="맑은 고딕"/>
                <a:ea typeface="맑은 고딕"/>
              </a:rPr>
              <a:t>Re-plan</a:t>
            </a:r>
            <a:endParaRPr sz="700" b="0" i="0" dirty="0">
              <a:solidFill>
                <a:srgbClr val="C55A11"/>
              </a:solidFill>
              <a:latin typeface="맑은 고딕"/>
              <a:ea typeface="맑은 고딕"/>
            </a:endParaRPr>
          </a:p>
        </p:txBody>
      </p:sp>
    </p:spTree>
    <p:extLst>
      <p:ext uri="{BB962C8B-B14F-4D97-AF65-F5344CB8AC3E}">
        <p14:creationId xmlns:p14="http://schemas.microsoft.com/office/powerpoint/2010/main" val="3319549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DP3</a:t>
            </a:r>
            <a:endParaRPr lang="ko-KR" altLang="en-US" sz="16600" b="1" dirty="0"/>
          </a:p>
        </p:txBody>
      </p:sp>
    </p:spTree>
    <p:extLst>
      <p:ext uri="{BB962C8B-B14F-4D97-AF65-F5344CB8AC3E}">
        <p14:creationId xmlns:p14="http://schemas.microsoft.com/office/powerpoint/2010/main" val="42199477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59184" cy="539025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209544">
                  <a:extLst>
                    <a:ext uri="{9D8B030D-6E8A-4147-A177-3AD203B41FA5}">
                      <a16:colId xmlns:a16="http://schemas.microsoft.com/office/drawing/2014/main" val="5654497"/>
                    </a:ext>
                  </a:extLst>
                </a:gridCol>
                <a:gridCol w="2231136">
                  <a:extLst>
                    <a:ext uri="{9D8B030D-6E8A-4147-A177-3AD203B41FA5}">
                      <a16:colId xmlns:a16="http://schemas.microsoft.com/office/drawing/2014/main" val="4114062400"/>
                    </a:ext>
                  </a:extLst>
                </a:gridCol>
                <a:gridCol w="3392424">
                  <a:extLst>
                    <a:ext uri="{9D8B030D-6E8A-4147-A177-3AD203B41FA5}">
                      <a16:colId xmlns:a16="http://schemas.microsoft.com/office/drawing/2014/main" val="3070054508"/>
                    </a:ext>
                  </a:extLst>
                </a:gridCol>
                <a:gridCol w="2048256">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Query </a:t>
                      </a:r>
                      <a:r>
                        <a:rPr lang="en-US" altLang="ko-KR" sz="1200" b="1" baseline="0" dirty="0"/>
                        <a:t>Agnostic </a:t>
                      </a:r>
                      <a:r>
                        <a:rPr lang="ko-KR" altLang="en-US" sz="1200" b="1" baseline="0" dirty="0" err="1"/>
                        <a:t>압축</a:t>
                      </a:r>
                      <a:r>
                        <a:rPr lang="ko-KR" altLang="en-US" sz="1200" b="1" baseline="0" dirty="0" err="1">
                          <a:latin typeface="맑은 고딕" panose="020B0503020000020004" pitchFamily="50" charset="-127"/>
                          <a:ea typeface="맑은 고딕" panose="020B0503020000020004" pitchFamily="50" charset="-127"/>
                        </a:rPr>
                        <a:t>∙</a:t>
                      </a:r>
                      <a:r>
                        <a:rPr lang="ko-KR" altLang="en-US" sz="1200" b="1" baseline="0" dirty="0" err="1"/>
                        <a:t>재사용</a:t>
                      </a:r>
                      <a:r>
                        <a:rPr lang="ko-KR" altLang="en-US" sz="1200" b="1" baseline="0" dirty="0"/>
                        <a:t> </a:t>
                      </a:r>
                      <a:r>
                        <a:rPr lang="en-US" altLang="ko-KR" sz="1200" b="1" baseline="0" dirty="0"/>
                        <a:t>(Offline)</a:t>
                      </a:r>
                      <a:r>
                        <a:rPr lang="ko-KR" altLang="en-US" sz="1200" b="1" baseline="0" dirty="0"/>
                        <a:t> </a:t>
                      </a:r>
                      <a:r>
                        <a:rPr lang="en-US" altLang="ko-KR" sz="1050" b="1" baseline="0" dirty="0">
                          <a:solidFill>
                            <a:schemeClr val="bg1">
                              <a:lumMod val="50000"/>
                            </a:schemeClr>
                          </a:solidFill>
                        </a:rPr>
                        <a:t>(Batch-Sequential + Repository)</a:t>
                      </a:r>
                      <a:endParaRPr lang="ko-KR" altLang="en-US" sz="1200" b="1" dirty="0">
                        <a:solidFill>
                          <a:schemeClr val="bg1">
                            <a:lumMod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Query Aware</a:t>
                      </a:r>
                      <a:r>
                        <a:rPr lang="en-US" altLang="ko-KR" sz="1200" b="1" baseline="0" dirty="0"/>
                        <a:t> </a:t>
                      </a:r>
                      <a:r>
                        <a:rPr lang="ko-KR" altLang="en-US" sz="1200" b="1" baseline="0" dirty="0" err="1"/>
                        <a:t>압축</a:t>
                      </a:r>
                      <a:r>
                        <a:rPr lang="ko-KR" altLang="en-US" sz="1200" b="1" baseline="0" dirty="0" err="1">
                          <a:latin typeface="맑은 고딕" panose="020B0503020000020004" pitchFamily="50" charset="-127"/>
                          <a:ea typeface="+mn-ea"/>
                        </a:rPr>
                        <a:t>∙</a:t>
                      </a:r>
                      <a:r>
                        <a:rPr lang="ko-KR" altLang="en-US" sz="1200" b="1" baseline="0" dirty="0" err="1"/>
                        <a:t>재사용</a:t>
                      </a:r>
                      <a:r>
                        <a:rPr lang="ko-KR" altLang="en-US" sz="1200" b="1" baseline="0" dirty="0"/>
                        <a:t> 구조 </a:t>
                      </a:r>
                      <a:r>
                        <a:rPr lang="en-US" altLang="ko-KR" sz="1200" b="1" baseline="0" dirty="0"/>
                        <a:t>(Online) </a:t>
                      </a:r>
                      <a:r>
                        <a:rPr lang="en-US" altLang="ko-KR" sz="1050" b="1" kern="1200" baseline="0" dirty="0">
                          <a:solidFill>
                            <a:schemeClr val="bg1">
                              <a:lumMod val="50000"/>
                            </a:schemeClr>
                          </a:solidFill>
                          <a:latin typeface="+mn-lt"/>
                          <a:ea typeface="+mn-ea"/>
                          <a:cs typeface="+mn-cs"/>
                        </a:rPr>
                        <a:t>(Pipe-and-Filter)</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605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사전에 압축을 진행하는 것으로 </a:t>
                      </a:r>
                      <a:r>
                        <a:rPr lang="en-US" altLang="ko-KR" sz="1200" strike="noStrike" kern="1200" baseline="0" dirty="0">
                          <a:solidFill>
                            <a:schemeClr val="tx1"/>
                          </a:solidFill>
                          <a:effectLst/>
                          <a:latin typeface="+mn-lt"/>
                          <a:ea typeface="+mn-ea"/>
                          <a:cs typeface="+mn-cs"/>
                        </a:rPr>
                        <a:t>TTFT </a:t>
                      </a:r>
                      <a:r>
                        <a:rPr lang="ko-KR" altLang="en-US" sz="1200" strike="noStrike" kern="1200" baseline="0" dirty="0" err="1">
                          <a:solidFill>
                            <a:schemeClr val="tx1"/>
                          </a:solidFill>
                          <a:effectLst/>
                          <a:latin typeface="+mn-lt"/>
                          <a:ea typeface="+mn-ea"/>
                          <a:cs typeface="+mn-cs"/>
                        </a:rPr>
                        <a:t>절감률</a:t>
                      </a:r>
                      <a:r>
                        <a:rPr lang="ko-KR" altLang="en-US" sz="1200" strike="noStrike" kern="1200" baseline="0" dirty="0">
                          <a:solidFill>
                            <a:schemeClr val="tx1"/>
                          </a:solidFill>
                          <a:effectLst/>
                          <a:latin typeface="+mn-lt"/>
                          <a:ea typeface="+mn-ea"/>
                          <a:cs typeface="+mn-cs"/>
                        </a:rPr>
                        <a:t> 높음</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사전 압축된 </a:t>
                      </a:r>
                      <a:r>
                        <a:rPr lang="en-US" altLang="ko-KR" sz="1200" strike="noStrike" kern="1200" baseline="0" dirty="0">
                          <a:solidFill>
                            <a:schemeClr val="tx1"/>
                          </a:solidFill>
                          <a:effectLst/>
                          <a:latin typeface="+mn-lt"/>
                          <a:ea typeface="+mn-ea"/>
                          <a:cs typeface="+mn-cs"/>
                        </a:rPr>
                        <a:t>KV </a:t>
                      </a:r>
                      <a:r>
                        <a:rPr lang="ko-KR" altLang="en-US" sz="1200" strike="noStrike" kern="1200" baseline="0" dirty="0">
                          <a:solidFill>
                            <a:schemeClr val="tx1"/>
                          </a:solidFill>
                          <a:effectLst/>
                          <a:latin typeface="+mn-lt"/>
                          <a:ea typeface="+mn-ea"/>
                          <a:cs typeface="+mn-cs"/>
                        </a:rPr>
                        <a:t>캐시를 읽어와 </a:t>
                      </a:r>
                      <a:r>
                        <a:rPr lang="en-US" altLang="ko-KR" sz="1200" strike="noStrike" kern="1200" baseline="0" dirty="0">
                          <a:solidFill>
                            <a:schemeClr val="tx1"/>
                          </a:solidFill>
                          <a:effectLst/>
                          <a:latin typeface="+mn-lt"/>
                          <a:ea typeface="+mn-ea"/>
                          <a:cs typeface="+mn-cs"/>
                        </a:rPr>
                        <a:t>I/O latency </a:t>
                      </a:r>
                      <a:r>
                        <a:rPr lang="ko-KR" altLang="en-US" sz="1200" strike="noStrike" kern="1200" baseline="0" dirty="0">
                          <a:solidFill>
                            <a:schemeClr val="tx1"/>
                          </a:solidFill>
                          <a:effectLst/>
                          <a:latin typeface="+mn-lt"/>
                          <a:ea typeface="+mn-ea"/>
                          <a:cs typeface="+mn-cs"/>
                        </a:rPr>
                        <a:t>절감</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사용자 </a:t>
                      </a:r>
                      <a:r>
                        <a:rPr lang="en-US" altLang="ko-KR" sz="1200" strike="noStrike" baseline="0" dirty="0">
                          <a:effectLst/>
                        </a:rPr>
                        <a:t>Query aware</a:t>
                      </a:r>
                      <a:r>
                        <a:rPr lang="ko-KR" altLang="en-US" sz="1200" strike="noStrike" baseline="0" dirty="0">
                          <a:effectLst/>
                        </a:rPr>
                        <a:t>한 압축으로 정확도 높음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사용자 </a:t>
                      </a:r>
                      <a:r>
                        <a:rPr lang="en-US" altLang="ko-KR" sz="1200" strike="noStrike" baseline="0" dirty="0">
                          <a:effectLst/>
                        </a:rPr>
                        <a:t>Query</a:t>
                      </a:r>
                      <a:r>
                        <a:rPr lang="ko-KR" altLang="en-US" sz="1200" strike="noStrike" baseline="0" dirty="0">
                          <a:effectLst/>
                        </a:rPr>
                        <a:t>가 아닌 대표 </a:t>
                      </a:r>
                      <a:r>
                        <a:rPr lang="en-US" altLang="ko-KR" sz="1200" strike="noStrike" baseline="0" dirty="0">
                          <a:effectLst/>
                        </a:rPr>
                        <a:t>Query</a:t>
                      </a:r>
                      <a:r>
                        <a:rPr lang="ko-KR" altLang="en-US" sz="1200" strike="noStrike" baseline="0" dirty="0">
                          <a:effectLst/>
                        </a:rPr>
                        <a:t>로 압축한 것이므로 정확도 낮음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온라인으로 </a:t>
                      </a:r>
                      <a:r>
                        <a:rPr lang="en-US" altLang="ko-KR" sz="1200" strike="noStrike" baseline="0" dirty="0">
                          <a:effectLst/>
                        </a:rPr>
                        <a:t>Query</a:t>
                      </a:r>
                      <a:r>
                        <a:rPr lang="ko-KR" altLang="en-US" sz="1200" strike="noStrike" baseline="0" dirty="0">
                          <a:effectLst/>
                        </a:rPr>
                        <a:t>와 </a:t>
                      </a:r>
                      <a:r>
                        <a:rPr lang="en-US" altLang="ko-KR" sz="1200" strike="noStrike" baseline="0" dirty="0">
                          <a:effectLst/>
                        </a:rPr>
                        <a:t>Context</a:t>
                      </a:r>
                      <a:r>
                        <a:rPr lang="ko-KR" altLang="en-US" sz="1200" strike="noStrike" baseline="0" dirty="0">
                          <a:effectLst/>
                        </a:rPr>
                        <a:t>간의 </a:t>
                      </a:r>
                      <a:r>
                        <a:rPr lang="en-US" altLang="ko-KR" sz="1200" strike="noStrike" baseline="0" dirty="0">
                          <a:effectLst/>
                        </a:rPr>
                        <a:t>Attention </a:t>
                      </a:r>
                      <a:r>
                        <a:rPr lang="ko-KR" altLang="en-US" sz="1200" strike="noStrike" baseline="0" dirty="0">
                          <a:effectLst/>
                        </a:rPr>
                        <a:t>연산에 기반한 압축으로 </a:t>
                      </a:r>
                      <a:r>
                        <a:rPr lang="en-US" altLang="ko-KR" sz="1200" strike="noStrike" baseline="0" dirty="0">
                          <a:effectLst/>
                        </a:rPr>
                        <a:t>TTFT </a:t>
                      </a:r>
                      <a:r>
                        <a:rPr lang="ko-KR" altLang="en-US" sz="1200" strike="noStrike" baseline="0" dirty="0" err="1">
                          <a:effectLst/>
                        </a:rPr>
                        <a:t>절감률</a:t>
                      </a:r>
                      <a:r>
                        <a:rPr lang="ko-KR" altLang="en-US" sz="1200" strike="noStrike" baseline="0" dirty="0">
                          <a:effectLst/>
                        </a:rPr>
                        <a:t> 낮음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t>Functional Correctness (F1 score)</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1,357(x1.51)</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FF0000"/>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FF0000"/>
                          </a:solidFill>
                          <a:latin typeface="+mn-lt"/>
                          <a:ea typeface="맑은 고딕"/>
                        </a:rPr>
                        <a:t>268(x0.47), 8.4(x1.02)</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30.3(용량 6%, 감소율 +71.7%)</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F1 하락 17.0%</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000" b="0" strike="noStrike" dirty="0">
                          <a:solidFill>
                            <a:schemeClr val="tx1"/>
                          </a:solidFill>
                        </a:rPr>
                        <a:t>Resource Utilization (HBM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t>Functional Correctness (F1 score)</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885(x0.99)</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FF0000"/>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FF0000"/>
                          </a:solidFill>
                          <a:latin typeface="+mn-lt"/>
                          <a:ea typeface="맑은 고딕"/>
                        </a:rPr>
                        <a:t>693(x1.21), 8.7(x1.06)</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85.1(용량 16%, 감소율 +20.6%)</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F1 하락 -2.0%</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8" y="137379"/>
            <a:ext cx="7016242" cy="365125"/>
          </a:xfrm>
        </p:spPr>
        <p:txBody>
          <a:bodyPr/>
          <a:lstStyle/>
          <a:p>
            <a:r>
              <a:rPr lang="en-US" altLang="ko-KR" dirty="0"/>
              <a:t>DP3. Long Context</a:t>
            </a:r>
            <a:r>
              <a:rPr lang="ko-KR" altLang="en-US" dirty="0"/>
              <a:t>를 위한 </a:t>
            </a:r>
            <a:r>
              <a:rPr lang="en-US" altLang="ko-KR" dirty="0"/>
              <a:t>KV </a:t>
            </a:r>
            <a:r>
              <a:rPr lang="ko-KR" altLang="en-US" dirty="0"/>
              <a:t>캐시 압축 및 재사용 구조 </a:t>
            </a:r>
            <a:r>
              <a:rPr lang="en-US" altLang="ko-KR" dirty="0"/>
              <a:t>– </a:t>
            </a:r>
            <a:r>
              <a:rPr lang="ko-KR" altLang="en-US" dirty="0"/>
              <a:t>설계 </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6540639" cy="307777"/>
          </a:xfrm>
          <a:prstGeom prst="rect">
            <a:avLst/>
          </a:prstGeom>
          <a:noFill/>
        </p:spPr>
        <p:txBody>
          <a:bodyPr wrap="square" rtlCol="0">
            <a:spAutoFit/>
          </a:bodyPr>
          <a:lstStyle/>
          <a:p>
            <a:r>
              <a:rPr lang="en-US" altLang="ko-KR" sz="1400" b="1" dirty="0">
                <a:solidFill>
                  <a:schemeClr val="bg1"/>
                </a:solidFill>
              </a:rPr>
              <a:t>Long Context</a:t>
            </a:r>
            <a:r>
              <a:rPr lang="ko-KR" altLang="en-US" sz="1400" b="1" dirty="0">
                <a:solidFill>
                  <a:schemeClr val="bg1"/>
                </a:solidFill>
              </a:rPr>
              <a:t>에서 </a:t>
            </a:r>
            <a:r>
              <a:rPr lang="en-US" altLang="ko-KR" sz="1400" b="1" dirty="0">
                <a:solidFill>
                  <a:schemeClr val="bg1"/>
                </a:solidFill>
              </a:rPr>
              <a:t>Accuracy</a:t>
            </a:r>
            <a:r>
              <a:rPr lang="ko-KR" altLang="en-US" sz="1400" b="1" dirty="0">
                <a:solidFill>
                  <a:schemeClr val="bg1"/>
                </a:solidFill>
              </a:rPr>
              <a:t>를 유지하며 </a:t>
            </a:r>
            <a:r>
              <a:rPr lang="en-US" altLang="ko-KR" sz="1400" b="1" dirty="0">
                <a:solidFill>
                  <a:schemeClr val="bg1"/>
                </a:solidFill>
              </a:rPr>
              <a:t>KV </a:t>
            </a:r>
            <a:r>
              <a:rPr lang="ko-KR" altLang="en-US" sz="1400" b="1" dirty="0">
                <a:solidFill>
                  <a:schemeClr val="bg1"/>
                </a:solidFill>
              </a:rPr>
              <a:t>캐시와 </a:t>
            </a:r>
            <a:r>
              <a:rPr lang="en-US" altLang="ko-KR" sz="1400" b="1" dirty="0">
                <a:solidFill>
                  <a:schemeClr val="bg1"/>
                </a:solidFill>
              </a:rPr>
              <a:t>Latency </a:t>
            </a:r>
            <a:r>
              <a:rPr lang="ko-KR" altLang="en-US" sz="1400" b="1" dirty="0">
                <a:solidFill>
                  <a:schemeClr val="bg1"/>
                </a:solidFill>
              </a:rPr>
              <a:t>를 줄이는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7" name="슬라이드 번호 개체 틀 1"/>
          <p:cNvSpPr>
            <a:spLocks noGrp="1"/>
          </p:cNvSpPr>
          <p:nvPr>
            <p:ph type="sldNum" sz="quarter" idx="4"/>
          </p:nvPr>
        </p:nvSpPr>
        <p:spPr>
          <a:xfrm>
            <a:off x="5620080" y="6670030"/>
            <a:ext cx="456466" cy="209550"/>
          </a:xfrm>
        </p:spPr>
        <p:txBody>
          <a:bodyPr/>
          <a:lstStyle/>
          <a:p>
            <a:fld id="{7F889C64-266A-4D07-AD8F-5B592E61CCE1}" type="slidenum">
              <a:rPr lang="ko-KR" altLang="en-US" smtClean="0"/>
              <a:pPr/>
              <a:t>8</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“W/L</a:t>
            </a:r>
            <a:r>
              <a:rPr lang="ko-KR" altLang="en-US" sz="1100" dirty="0"/>
              <a:t>별 대표 </a:t>
            </a:r>
            <a:r>
              <a:rPr lang="en-US" altLang="ko-KR" sz="1100" dirty="0"/>
              <a:t>Query</a:t>
            </a:r>
            <a:r>
              <a:rPr lang="ko-KR" altLang="en-US" sz="1100" dirty="0"/>
              <a:t>와 </a:t>
            </a:r>
            <a:r>
              <a:rPr lang="en-US" altLang="ko-KR" sz="1100" dirty="0"/>
              <a:t>KV </a:t>
            </a:r>
            <a:r>
              <a:rPr lang="ko-KR" altLang="en-US" sz="1100" dirty="0"/>
              <a:t>캐시 간 </a:t>
            </a:r>
            <a:r>
              <a:rPr lang="en-US" altLang="ko-KR" sz="1100" dirty="0"/>
              <a:t>Attention</a:t>
            </a:r>
            <a:r>
              <a:rPr lang="ko-KR" altLang="en-US" sz="1100" dirty="0"/>
              <a:t>을 활용하여 압축 및 재계산 토큰 선정</a:t>
            </a:r>
            <a:r>
              <a:rPr lang="en-US" altLang="ko-KR" sz="1100" dirty="0"/>
              <a:t>“</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a:t>
            </a:r>
            <a:r>
              <a:rPr lang="ko-KR" altLang="en-US" sz="1100" dirty="0"/>
              <a:t>입력되는 </a:t>
            </a:r>
            <a:r>
              <a:rPr lang="en-US" altLang="ko-KR" sz="1100" dirty="0"/>
              <a:t>Query</a:t>
            </a:r>
            <a:r>
              <a:rPr lang="ko-KR" altLang="en-US" sz="1100" dirty="0"/>
              <a:t>와의 </a:t>
            </a:r>
            <a:r>
              <a:rPr lang="en-US" altLang="ko-KR" sz="1100" dirty="0"/>
              <a:t>KV </a:t>
            </a:r>
            <a:r>
              <a:rPr lang="ko-KR" altLang="en-US" sz="1100" dirty="0"/>
              <a:t>간 </a:t>
            </a:r>
            <a:r>
              <a:rPr lang="en-US" altLang="ko-KR" sz="1100" dirty="0"/>
              <a:t>Attention</a:t>
            </a:r>
            <a:r>
              <a:rPr lang="ko-KR" altLang="en-US" sz="1100" dirty="0"/>
              <a:t>을 활용하여 압축 및 재계산 토큰 선정</a:t>
            </a:r>
            <a:r>
              <a:rPr lang="en-US" altLang="ko-KR" sz="1100" dirty="0"/>
              <a:t>“</a:t>
            </a:r>
          </a:p>
        </p:txBody>
      </p:sp>
      <p:sp>
        <p:nvSpPr>
          <p:cNvPr id="102" name="실행 단추: 앞으로 또는 다음 101">
            <a:hlinkClick r:id="" action="ppaction://noaction" highlightClick="1"/>
          </p:cNvPr>
          <p:cNvSpPr/>
          <p:nvPr/>
        </p:nvSpPr>
        <p:spPr>
          <a:xfrm>
            <a:off x="537074" y="6217803"/>
            <a:ext cx="234199" cy="23477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000"/>
          </a:p>
        </p:txBody>
      </p:sp>
      <p:sp>
        <p:nvSpPr>
          <p:cNvPr id="139" name="Rectangle 138"/>
          <p:cNvSpPr/>
          <p:nvPr/>
        </p:nvSpPr>
        <p:spPr>
          <a:xfrm>
            <a:off x="1993392" y="1764792"/>
            <a:ext cx="123444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dirty="0">
                <a:solidFill>
                  <a:srgbClr val="000000"/>
                </a:solidFill>
                <a:latin typeface="맑은 고딕"/>
                <a:ea typeface="맑은 고딕"/>
              </a:rPr>
              <a:t>Query Sampler</a:t>
            </a:r>
          </a:p>
          <a:p>
            <a:pPr algn="ctr"/>
            <a:r>
              <a:rPr sz="700" b="0" i="0" dirty="0" err="1">
                <a:solidFill>
                  <a:srgbClr val="000000"/>
                </a:solidFill>
                <a:latin typeface="맑은 고딕"/>
                <a:ea typeface="맑은 고딕"/>
              </a:rPr>
              <a:t>대표</a:t>
            </a:r>
            <a:r>
              <a:rPr sz="700" b="0" i="0" dirty="0">
                <a:solidFill>
                  <a:srgbClr val="000000"/>
                </a:solidFill>
                <a:latin typeface="맑은 고딕"/>
                <a:ea typeface="맑은 고딕"/>
              </a:rPr>
              <a:t> Query </a:t>
            </a:r>
            <a:r>
              <a:rPr sz="700" b="0" i="0" dirty="0" err="1">
                <a:solidFill>
                  <a:srgbClr val="000000"/>
                </a:solidFill>
                <a:latin typeface="맑은 고딕"/>
                <a:ea typeface="맑은 고딕"/>
              </a:rPr>
              <a:t>선정</a:t>
            </a:r>
            <a:r>
              <a:rPr sz="700" b="0" i="0" dirty="0">
                <a:solidFill>
                  <a:srgbClr val="000000"/>
                </a:solidFill>
                <a:latin typeface="맑은 고딕"/>
                <a:ea typeface="맑은 고딕"/>
              </a:rPr>
              <a:t> (</a:t>
            </a:r>
            <a:r>
              <a:rPr sz="700" b="0" i="0" dirty="0" err="1">
                <a:solidFill>
                  <a:srgbClr val="000000"/>
                </a:solidFill>
                <a:latin typeface="맑은 고딕"/>
                <a:ea typeface="맑은 고딕"/>
              </a:rPr>
              <a:t>사전</a:t>
            </a:r>
            <a:r>
              <a:rPr sz="700" b="0" i="0" dirty="0">
                <a:solidFill>
                  <a:srgbClr val="000000"/>
                </a:solidFill>
                <a:latin typeface="맑은 고딕"/>
                <a:ea typeface="맑은 고딕"/>
              </a:rPr>
              <a:t>)</a:t>
            </a:r>
          </a:p>
        </p:txBody>
      </p:sp>
      <p:sp>
        <p:nvSpPr>
          <p:cNvPr id="140" name="Rectangle 139"/>
          <p:cNvSpPr/>
          <p:nvPr/>
        </p:nvSpPr>
        <p:spPr>
          <a:xfrm>
            <a:off x="3456432" y="1764792"/>
            <a:ext cx="132588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000000"/>
                </a:solidFill>
                <a:latin typeface="맑은 고딕"/>
                <a:ea typeface="맑은 고딕"/>
              </a:rPr>
              <a:t>User Query Manager</a:t>
            </a:r>
          </a:p>
          <a:p>
            <a:pPr algn="ctr"/>
            <a:r>
              <a:rPr sz="700" b="0" i="0">
                <a:solidFill>
                  <a:srgbClr val="000000"/>
                </a:solidFill>
                <a:latin typeface="맑은 고딕"/>
                <a:ea typeface="맑은 고딕"/>
              </a:rPr>
              <a:t>실제 Query (서빙 시)</a:t>
            </a:r>
          </a:p>
        </p:txBody>
      </p:sp>
      <p:sp>
        <p:nvSpPr>
          <p:cNvPr id="141" name="Rectangle 140"/>
          <p:cNvSpPr/>
          <p:nvPr/>
        </p:nvSpPr>
        <p:spPr>
          <a:xfrm>
            <a:off x="1216152" y="2240280"/>
            <a:ext cx="3474720" cy="8686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2" name="Rectangle 141"/>
          <p:cNvSpPr/>
          <p:nvPr/>
        </p:nvSpPr>
        <p:spPr>
          <a:xfrm>
            <a:off x="1216152" y="2240280"/>
            <a:ext cx="1196035"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«layer» LLM </a:t>
            </a:r>
            <a:r>
              <a:rPr lang="en-US" sz="700" b="1" dirty="0">
                <a:solidFill>
                  <a:srgbClr val="FFFFFF"/>
                </a:solidFill>
                <a:latin typeface="맑은 고딕"/>
                <a:ea typeface="맑은 고딕"/>
              </a:rPr>
              <a:t>generation</a:t>
            </a:r>
            <a:endParaRPr sz="700" b="1" i="0" dirty="0">
              <a:solidFill>
                <a:srgbClr val="FFFFFF"/>
              </a:solidFill>
              <a:latin typeface="맑은 고딕"/>
              <a:ea typeface="맑은 고딕"/>
            </a:endParaRPr>
          </a:p>
        </p:txBody>
      </p:sp>
      <p:sp>
        <p:nvSpPr>
          <p:cNvPr id="143" name="Rectangle 142"/>
          <p:cNvSpPr/>
          <p:nvPr/>
        </p:nvSpPr>
        <p:spPr>
          <a:xfrm>
            <a:off x="1444752" y="2606040"/>
            <a:ext cx="128016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Attention Manager</a:t>
            </a:r>
          </a:p>
          <a:p>
            <a:pPr algn="ctr"/>
            <a:r>
              <a:rPr sz="700" b="0" i="0">
                <a:solidFill>
                  <a:srgbClr val="000000"/>
                </a:solidFill>
                <a:latin typeface="맑은 고딕"/>
                <a:ea typeface="맑은 고딕"/>
              </a:rPr>
              <a:t>Query × KV Attention</a:t>
            </a:r>
          </a:p>
        </p:txBody>
      </p:sp>
      <p:sp>
        <p:nvSpPr>
          <p:cNvPr id="144" name="Rectangle 143"/>
          <p:cNvSpPr/>
          <p:nvPr/>
        </p:nvSpPr>
        <p:spPr>
          <a:xfrm>
            <a:off x="1399032"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5" name="Rectangle 144"/>
          <p:cNvSpPr/>
          <p:nvPr/>
        </p:nvSpPr>
        <p:spPr>
          <a:xfrm>
            <a:off x="1399032"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6" name="Rectangle 145"/>
          <p:cNvSpPr/>
          <p:nvPr/>
        </p:nvSpPr>
        <p:spPr>
          <a:xfrm>
            <a:off x="3182112" y="2606040"/>
            <a:ext cx="137160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dirty="0">
                <a:solidFill>
                  <a:srgbClr val="000000"/>
                </a:solidFill>
                <a:latin typeface="맑은 고딕"/>
                <a:ea typeface="맑은 고딕"/>
              </a:rPr>
              <a:t>Selective </a:t>
            </a:r>
            <a:r>
              <a:rPr sz="750" b="1" i="0" dirty="0" err="1">
                <a:solidFill>
                  <a:srgbClr val="000000"/>
                </a:solidFill>
                <a:latin typeface="맑은 고딕"/>
                <a:ea typeface="맑은 고딕"/>
              </a:rPr>
              <a:t>Recomputer</a:t>
            </a:r>
            <a:endParaRPr sz="750" b="1" i="0" dirty="0">
              <a:solidFill>
                <a:srgbClr val="000000"/>
              </a:solidFill>
              <a:latin typeface="맑은 고딕"/>
              <a:ea typeface="맑은 고딕"/>
            </a:endParaRPr>
          </a:p>
          <a:p>
            <a:pPr algn="ctr"/>
            <a:r>
              <a:rPr sz="700" b="0" i="0" dirty="0" err="1">
                <a:solidFill>
                  <a:srgbClr val="000000"/>
                </a:solidFill>
                <a:latin typeface="맑은 고딕"/>
                <a:ea typeface="맑은 고딕"/>
              </a:rPr>
              <a:t>선정</a:t>
            </a:r>
            <a:r>
              <a:rPr sz="700" b="0" i="0" dirty="0">
                <a:solidFill>
                  <a:srgbClr val="000000"/>
                </a:solidFill>
                <a:latin typeface="맑은 고딕"/>
                <a:ea typeface="맑은 고딕"/>
              </a:rPr>
              <a:t> </a:t>
            </a:r>
            <a:r>
              <a:rPr sz="700" b="0" i="0" dirty="0" err="1">
                <a:solidFill>
                  <a:srgbClr val="000000"/>
                </a:solidFill>
                <a:latin typeface="맑은 고딕"/>
                <a:ea typeface="맑은 고딕"/>
              </a:rPr>
              <a:t>토큰만</a:t>
            </a:r>
            <a:r>
              <a:rPr sz="700" b="0" i="0" dirty="0">
                <a:solidFill>
                  <a:srgbClr val="000000"/>
                </a:solidFill>
                <a:latin typeface="맑은 고딕"/>
                <a:ea typeface="맑은 고딕"/>
              </a:rPr>
              <a:t> </a:t>
            </a:r>
            <a:r>
              <a:rPr sz="700" b="0" i="0" dirty="0" err="1">
                <a:solidFill>
                  <a:srgbClr val="000000"/>
                </a:solidFill>
                <a:latin typeface="맑은 고딕"/>
                <a:ea typeface="맑은 고딕"/>
              </a:rPr>
              <a:t>재계산</a:t>
            </a:r>
            <a:endParaRPr sz="700" b="0" i="0" dirty="0">
              <a:solidFill>
                <a:srgbClr val="000000"/>
              </a:solidFill>
              <a:latin typeface="맑은 고딕"/>
              <a:ea typeface="맑은 고딕"/>
            </a:endParaRPr>
          </a:p>
        </p:txBody>
      </p:sp>
      <p:sp>
        <p:nvSpPr>
          <p:cNvPr id="147" name="Rectangle 146"/>
          <p:cNvSpPr/>
          <p:nvPr/>
        </p:nvSpPr>
        <p:spPr>
          <a:xfrm>
            <a:off x="3136392"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8" name="Rectangle 147"/>
          <p:cNvSpPr/>
          <p:nvPr/>
        </p:nvSpPr>
        <p:spPr>
          <a:xfrm>
            <a:off x="3136392"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9" name="Rounded Rectangle 148"/>
          <p:cNvSpPr/>
          <p:nvPr/>
        </p:nvSpPr>
        <p:spPr>
          <a:xfrm>
            <a:off x="4215384" y="252374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DP2</a:t>
            </a:r>
          </a:p>
        </p:txBody>
      </p:sp>
      <p:sp>
        <p:nvSpPr>
          <p:cNvPr id="150" name="TextBox 149"/>
          <p:cNvSpPr txBox="1"/>
          <p:nvPr/>
        </p:nvSpPr>
        <p:spPr>
          <a:xfrm>
            <a:off x="2639453" y="2258568"/>
            <a:ext cx="1097280" cy="107722"/>
          </a:xfrm>
          <a:prstGeom prst="rect">
            <a:avLst/>
          </a:prstGeom>
          <a:noFill/>
        </p:spPr>
        <p:txBody>
          <a:bodyPr wrap="square" lIns="0" tIns="0" rIns="0" bIns="0" anchor="t">
            <a:spAutoFit/>
          </a:bodyPr>
          <a:lstStyle/>
          <a:p>
            <a:pPr algn="r"/>
            <a:r>
              <a:rPr sz="700" b="0" i="0" dirty="0">
                <a:solidFill>
                  <a:srgbClr val="7F7F7F"/>
                </a:solidFill>
                <a:latin typeface="맑은 고딕"/>
                <a:ea typeface="맑은 고딕"/>
              </a:rPr>
              <a:t>→ Prefill/Decode </a:t>
            </a:r>
            <a:r>
              <a:rPr sz="700" b="0" i="0" dirty="0" err="1">
                <a:solidFill>
                  <a:srgbClr val="7F7F7F"/>
                </a:solidFill>
                <a:latin typeface="맑은 고딕"/>
                <a:ea typeface="맑은 고딕"/>
              </a:rPr>
              <a:t>생성</a:t>
            </a:r>
            <a:endParaRPr sz="700" b="0" i="0" dirty="0">
              <a:solidFill>
                <a:srgbClr val="7F7F7F"/>
              </a:solidFill>
              <a:latin typeface="맑은 고딕"/>
              <a:ea typeface="맑은 고딕"/>
            </a:endParaRPr>
          </a:p>
        </p:txBody>
      </p:sp>
      <p:sp>
        <p:nvSpPr>
          <p:cNvPr id="151" name="Rectangle 150"/>
          <p:cNvSpPr/>
          <p:nvPr/>
        </p:nvSpPr>
        <p:spPr>
          <a:xfrm>
            <a:off x="1216152" y="3246120"/>
            <a:ext cx="3474720" cy="841248"/>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2" name="Rectangle 151"/>
          <p:cNvSpPr/>
          <p:nvPr/>
        </p:nvSpPr>
        <p:spPr>
          <a:xfrm>
            <a:off x="1216151" y="3246120"/>
            <a:ext cx="138576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«layer» </a:t>
            </a:r>
            <a:r>
              <a:rPr lang="en-US" sz="700" b="1" i="0" dirty="0">
                <a:solidFill>
                  <a:srgbClr val="FFFFFF"/>
                </a:solidFill>
                <a:latin typeface="맑은 고딕"/>
                <a:ea typeface="맑은 고딕"/>
              </a:rPr>
              <a:t>KV Compress &amp; Blend</a:t>
            </a:r>
            <a:endParaRPr sz="700" b="1" i="0" dirty="0">
              <a:solidFill>
                <a:srgbClr val="FFFFFF"/>
              </a:solidFill>
              <a:latin typeface="맑은 고딕"/>
              <a:ea typeface="맑은 고딕"/>
            </a:endParaRPr>
          </a:p>
        </p:txBody>
      </p:sp>
      <p:sp>
        <p:nvSpPr>
          <p:cNvPr id="153" name="Rectangle 152"/>
          <p:cNvSpPr/>
          <p:nvPr/>
        </p:nvSpPr>
        <p:spPr>
          <a:xfrm>
            <a:off x="1444752"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dirty="0">
                <a:solidFill>
                  <a:srgbClr val="000000"/>
                </a:solidFill>
                <a:latin typeface="맑은 고딕"/>
                <a:ea typeface="맑은 고딕"/>
              </a:rPr>
              <a:t>KV Cache </a:t>
            </a:r>
            <a:endParaRPr lang="en-US" sz="750" b="1" i="0" dirty="0">
              <a:solidFill>
                <a:srgbClr val="000000"/>
              </a:solidFill>
              <a:latin typeface="맑은 고딕"/>
              <a:ea typeface="맑은 고딕"/>
            </a:endParaRPr>
          </a:p>
          <a:p>
            <a:pPr algn="ctr"/>
            <a:r>
              <a:rPr sz="750" b="1" i="0" dirty="0">
                <a:solidFill>
                  <a:srgbClr val="000000"/>
                </a:solidFill>
                <a:latin typeface="맑은 고딕"/>
                <a:ea typeface="맑은 고딕"/>
              </a:rPr>
              <a:t>Compressor</a:t>
            </a:r>
          </a:p>
          <a:p>
            <a:pPr algn="ctr"/>
            <a:r>
              <a:rPr sz="700" b="0" i="0" dirty="0" err="1">
                <a:solidFill>
                  <a:srgbClr val="000000"/>
                </a:solidFill>
                <a:latin typeface="맑은 고딕"/>
                <a:ea typeface="맑은 고딕"/>
              </a:rPr>
              <a:t>낮은</a:t>
            </a:r>
            <a:r>
              <a:rPr sz="700" b="0" i="0" dirty="0">
                <a:solidFill>
                  <a:srgbClr val="000000"/>
                </a:solidFill>
                <a:latin typeface="맑은 고딕"/>
                <a:ea typeface="맑은 고딕"/>
              </a:rPr>
              <a:t> </a:t>
            </a:r>
            <a:r>
              <a:rPr sz="700" b="0" i="0" dirty="0" err="1">
                <a:solidFill>
                  <a:srgbClr val="000000"/>
                </a:solidFill>
                <a:latin typeface="맑은 고딕"/>
                <a:ea typeface="맑은 고딕"/>
              </a:rPr>
              <a:t>토큰</a:t>
            </a:r>
            <a:r>
              <a:rPr sz="700" b="0" i="0" dirty="0">
                <a:solidFill>
                  <a:srgbClr val="000000"/>
                </a:solidFill>
                <a:latin typeface="맑은 고딕"/>
                <a:ea typeface="맑은 고딕"/>
              </a:rPr>
              <a:t> evict</a:t>
            </a:r>
          </a:p>
        </p:txBody>
      </p:sp>
      <p:sp>
        <p:nvSpPr>
          <p:cNvPr id="154" name="Rectangle 153"/>
          <p:cNvSpPr/>
          <p:nvPr/>
        </p:nvSpPr>
        <p:spPr>
          <a:xfrm>
            <a:off x="1399032"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5" name="Rectangle 154"/>
          <p:cNvSpPr/>
          <p:nvPr/>
        </p:nvSpPr>
        <p:spPr>
          <a:xfrm>
            <a:off x="1399032"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2633472" y="3566160"/>
            <a:ext cx="77724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Sampler</a:t>
            </a:r>
          </a:p>
          <a:p>
            <a:pPr algn="ctr"/>
            <a:r>
              <a:rPr sz="700" b="0" i="0">
                <a:solidFill>
                  <a:srgbClr val="000000"/>
                </a:solidFill>
                <a:latin typeface="맑은 고딕"/>
                <a:ea typeface="맑은 고딕"/>
              </a:rPr>
              <a:t>점수로 토큰 선정</a:t>
            </a:r>
          </a:p>
        </p:txBody>
      </p:sp>
      <p:sp>
        <p:nvSpPr>
          <p:cNvPr id="157" name="Rectangle 156"/>
          <p:cNvSpPr/>
          <p:nvPr/>
        </p:nvSpPr>
        <p:spPr>
          <a:xfrm>
            <a:off x="2587752"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2587752"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3730752"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Recompute Token Selector</a:t>
            </a:r>
          </a:p>
        </p:txBody>
      </p:sp>
      <p:sp>
        <p:nvSpPr>
          <p:cNvPr id="160" name="Rectangle 159"/>
          <p:cNvSpPr/>
          <p:nvPr/>
        </p:nvSpPr>
        <p:spPr>
          <a:xfrm>
            <a:off x="3685032"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3685032"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5010912" y="2240280"/>
            <a:ext cx="1417320" cy="2560320"/>
          </a:xfrm>
          <a:prstGeom prst="rect">
            <a:avLst/>
          </a:prstGeom>
          <a:solidFill>
            <a:srgbClr val="F7F7F7"/>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3" name="Rectangle 162"/>
          <p:cNvSpPr/>
          <p:nvPr/>
        </p:nvSpPr>
        <p:spPr>
          <a:xfrm>
            <a:off x="5010912" y="2240280"/>
            <a:ext cx="100949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«store» KV </a:t>
            </a:r>
            <a:r>
              <a:rPr lang="en-US" sz="700" b="1" i="0" dirty="0">
                <a:solidFill>
                  <a:srgbClr val="FFFFFF"/>
                </a:solidFill>
                <a:latin typeface="맑은 고딕"/>
                <a:ea typeface="맑은 고딕"/>
              </a:rPr>
              <a:t>Store</a:t>
            </a:r>
            <a:endParaRPr sz="700" b="1" i="0" dirty="0">
              <a:solidFill>
                <a:srgbClr val="FFFFFF"/>
              </a:solidFill>
              <a:latin typeface="맑은 고딕"/>
              <a:ea typeface="맑은 고딕"/>
            </a:endParaRPr>
          </a:p>
        </p:txBody>
      </p:sp>
      <p:sp>
        <p:nvSpPr>
          <p:cNvPr id="164" name="Rounded Rectangle 163"/>
          <p:cNvSpPr/>
          <p:nvPr/>
        </p:nvSpPr>
        <p:spPr>
          <a:xfrm>
            <a:off x="6062472" y="225856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DP1</a:t>
            </a:r>
          </a:p>
        </p:txBody>
      </p:sp>
      <p:sp>
        <p:nvSpPr>
          <p:cNvPr id="165" name="TextBox 164"/>
          <p:cNvSpPr txBox="1"/>
          <p:nvPr/>
        </p:nvSpPr>
        <p:spPr>
          <a:xfrm>
            <a:off x="5056632" y="2450592"/>
            <a:ext cx="1325880" cy="128016"/>
          </a:xfrm>
          <a:prstGeom prst="rect">
            <a:avLst/>
          </a:prstGeom>
          <a:noFill/>
        </p:spPr>
        <p:txBody>
          <a:bodyPr wrap="square" lIns="0" tIns="0" rIns="0" bIns="0" anchor="t">
            <a:spAutoFit/>
          </a:bodyPr>
          <a:lstStyle/>
          <a:p>
            <a:pPr algn="ctr"/>
            <a:r>
              <a:rPr sz="650" b="0" i="0">
                <a:solidFill>
                  <a:srgbClr val="7F7F7F"/>
                </a:solidFill>
                <a:latin typeface="맑은 고딕"/>
                <a:ea typeface="맑은 고딕"/>
              </a:rPr>
              <a:t>HBM · DRAM · CXL · SSD</a:t>
            </a:r>
          </a:p>
        </p:txBody>
      </p:sp>
      <p:sp>
        <p:nvSpPr>
          <p:cNvPr id="166" name="Rectangle 165"/>
          <p:cNvSpPr/>
          <p:nvPr/>
        </p:nvSpPr>
        <p:spPr>
          <a:xfrm>
            <a:off x="5102352" y="2633472"/>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1</a:t>
            </a:r>
          </a:p>
        </p:txBody>
      </p:sp>
      <p:sp>
        <p:nvSpPr>
          <p:cNvPr id="167" name="Rectangle 166"/>
          <p:cNvSpPr/>
          <p:nvPr/>
        </p:nvSpPr>
        <p:spPr>
          <a:xfrm>
            <a:off x="5102352" y="2926080"/>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2</a:t>
            </a:r>
          </a:p>
        </p:txBody>
      </p:sp>
      <p:sp>
        <p:nvSpPr>
          <p:cNvPr id="168" name="Rectangle 167"/>
          <p:cNvSpPr/>
          <p:nvPr/>
        </p:nvSpPr>
        <p:spPr>
          <a:xfrm>
            <a:off x="5336327" y="3474720"/>
            <a:ext cx="766490" cy="24688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dirty="0" err="1">
                <a:solidFill>
                  <a:srgbClr val="000000"/>
                </a:solidFill>
                <a:latin typeface="맑은 고딕"/>
                <a:ea typeface="맑은 고딕"/>
              </a:rPr>
              <a:t>Comp.KV</a:t>
            </a:r>
            <a:r>
              <a:rPr sz="700" b="0" i="0" dirty="0">
                <a:solidFill>
                  <a:srgbClr val="000000"/>
                </a:solidFill>
                <a:latin typeface="맑은 고딕"/>
                <a:ea typeface="맑은 고딕"/>
              </a:rPr>
              <a:t> 1</a:t>
            </a:r>
          </a:p>
        </p:txBody>
      </p:sp>
      <p:sp>
        <p:nvSpPr>
          <p:cNvPr id="169" name="Rectangle 168"/>
          <p:cNvSpPr/>
          <p:nvPr/>
        </p:nvSpPr>
        <p:spPr>
          <a:xfrm>
            <a:off x="5336327" y="3767328"/>
            <a:ext cx="766490" cy="24688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Comp.KV 2</a:t>
            </a:r>
          </a:p>
        </p:txBody>
      </p:sp>
      <p:sp>
        <p:nvSpPr>
          <p:cNvPr id="170" name="TextBox 169"/>
          <p:cNvSpPr txBox="1"/>
          <p:nvPr/>
        </p:nvSpPr>
        <p:spPr>
          <a:xfrm>
            <a:off x="5102352" y="4069080"/>
            <a:ext cx="1234440" cy="274320"/>
          </a:xfrm>
          <a:prstGeom prst="rect">
            <a:avLst/>
          </a:prstGeom>
          <a:noFill/>
        </p:spPr>
        <p:txBody>
          <a:bodyPr wrap="square" lIns="0" tIns="0" rIns="0" bIns="0" anchor="t">
            <a:spAutoFit/>
          </a:bodyPr>
          <a:lstStyle/>
          <a:p>
            <a:pPr algn="ctr"/>
            <a:r>
              <a:rPr sz="650" b="1" i="0" dirty="0" err="1">
                <a:solidFill>
                  <a:srgbClr val="C55A11"/>
                </a:solidFill>
                <a:latin typeface="맑은 고딕"/>
                <a:ea typeface="맑은 고딕"/>
              </a:rPr>
              <a:t>Comp.KV는</a:t>
            </a:r>
            <a:r>
              <a:rPr sz="650" b="1" i="0" dirty="0">
                <a:solidFill>
                  <a:srgbClr val="C55A11"/>
                </a:solidFill>
                <a:latin typeface="맑은 고딕"/>
                <a:ea typeface="맑은 고딕"/>
              </a:rPr>
              <a:t> </a:t>
            </a:r>
            <a:r>
              <a:rPr sz="650" b="1" i="0" dirty="0" err="1">
                <a:solidFill>
                  <a:srgbClr val="C55A11"/>
                </a:solidFill>
                <a:latin typeface="맑은 고딕"/>
                <a:ea typeface="맑은 고딕"/>
              </a:rPr>
              <a:t>요청</a:t>
            </a:r>
            <a:r>
              <a:rPr sz="650" b="1" i="0" dirty="0">
                <a:solidFill>
                  <a:srgbClr val="C55A11"/>
                </a:solidFill>
                <a:latin typeface="맑은 고딕"/>
                <a:ea typeface="맑은 고딕"/>
              </a:rPr>
              <a:t> 간 </a:t>
            </a:r>
            <a:r>
              <a:rPr sz="650" b="1" i="0" dirty="0" err="1">
                <a:solidFill>
                  <a:srgbClr val="C55A11"/>
                </a:solidFill>
                <a:latin typeface="맑은 고딕"/>
                <a:ea typeface="맑은 고딕"/>
              </a:rPr>
              <a:t>공유</a:t>
            </a:r>
            <a:endParaRPr sz="650" b="1" i="0" dirty="0">
              <a:solidFill>
                <a:srgbClr val="C55A11"/>
              </a:solidFill>
              <a:latin typeface="맑은 고딕"/>
              <a:ea typeface="맑은 고딕"/>
            </a:endParaRPr>
          </a:p>
        </p:txBody>
      </p:sp>
      <p:sp>
        <p:nvSpPr>
          <p:cNvPr id="171" name="TextBox 170"/>
          <p:cNvSpPr txBox="1"/>
          <p:nvPr/>
        </p:nvSpPr>
        <p:spPr>
          <a:xfrm>
            <a:off x="5056632" y="4434840"/>
            <a:ext cx="1325880" cy="200055"/>
          </a:xfrm>
          <a:prstGeom prst="rect">
            <a:avLst/>
          </a:prstGeom>
          <a:noFill/>
        </p:spPr>
        <p:txBody>
          <a:bodyPr wrap="square" lIns="0" tIns="0" rIns="0" bIns="0" anchor="t">
            <a:spAutoFit/>
          </a:bodyPr>
          <a:lstStyle/>
          <a:p>
            <a:pPr algn="ctr"/>
            <a:r>
              <a:rPr sz="650" b="0" i="0" dirty="0">
                <a:solidFill>
                  <a:srgbClr val="404040"/>
                </a:solidFill>
                <a:latin typeface="맑은 고딕"/>
                <a:ea typeface="맑은 고딕"/>
              </a:rPr>
              <a:t>tier </a:t>
            </a:r>
            <a:r>
              <a:rPr sz="650" b="0" i="0" dirty="0" err="1">
                <a:solidFill>
                  <a:srgbClr val="404040"/>
                </a:solidFill>
                <a:latin typeface="맑은 고딕"/>
                <a:ea typeface="맑은 고딕"/>
              </a:rPr>
              <a:t>배치는</a:t>
            </a:r>
            <a:r>
              <a:rPr sz="650" b="0" i="0" dirty="0">
                <a:solidFill>
                  <a:srgbClr val="404040"/>
                </a:solidFill>
                <a:latin typeface="맑은 고딕"/>
                <a:ea typeface="맑은 고딕"/>
              </a:rPr>
              <a:t> DP1이 </a:t>
            </a:r>
            <a:r>
              <a:rPr sz="650" b="0" i="0" dirty="0" err="1">
                <a:solidFill>
                  <a:srgbClr val="404040"/>
                </a:solidFill>
                <a:latin typeface="맑은 고딕"/>
                <a:ea typeface="맑은 고딕"/>
              </a:rPr>
              <a:t>결정</a:t>
            </a:r>
            <a:r>
              <a:rPr sz="650" b="0" i="0" dirty="0">
                <a:solidFill>
                  <a:srgbClr val="404040"/>
                </a:solidFill>
                <a:latin typeface="맑은 고딕"/>
                <a:ea typeface="맑은 고딕"/>
              </a:rPr>
              <a:t> </a:t>
            </a:r>
            <a:endParaRPr lang="en-US" sz="650" b="0" i="0" dirty="0">
              <a:solidFill>
                <a:srgbClr val="404040"/>
              </a:solidFill>
              <a:latin typeface="맑은 고딕"/>
              <a:ea typeface="맑은 고딕"/>
            </a:endParaRPr>
          </a:p>
          <a:p>
            <a:pPr algn="ctr"/>
            <a:r>
              <a:rPr sz="650" b="0" i="0" dirty="0">
                <a:solidFill>
                  <a:srgbClr val="404040"/>
                </a:solidFill>
                <a:latin typeface="맑은 고딕"/>
                <a:ea typeface="맑은 고딕"/>
              </a:rPr>
              <a:t>(</a:t>
            </a:r>
            <a:r>
              <a:rPr sz="650" b="0" i="0" dirty="0" err="1">
                <a:solidFill>
                  <a:srgbClr val="404040"/>
                </a:solidFill>
                <a:latin typeface="맑은 고딕"/>
                <a:ea typeface="맑은 고딕"/>
              </a:rPr>
              <a:t>저장</a:t>
            </a:r>
            <a:r>
              <a:rPr sz="650" b="0" i="0" dirty="0">
                <a:solidFill>
                  <a:srgbClr val="404040"/>
                </a:solidFill>
                <a:latin typeface="맑은 고딕"/>
                <a:ea typeface="맑은 고딕"/>
              </a:rPr>
              <a:t> </a:t>
            </a:r>
            <a:r>
              <a:rPr sz="650" b="0" i="0" dirty="0" err="1">
                <a:solidFill>
                  <a:srgbClr val="404040"/>
                </a:solidFill>
                <a:latin typeface="맑은 고딕"/>
                <a:ea typeface="맑은 고딕"/>
              </a:rPr>
              <a:t>위치</a:t>
            </a:r>
            <a:r>
              <a:rPr sz="650" b="0" i="0" dirty="0">
                <a:solidFill>
                  <a:srgbClr val="404040"/>
                </a:solidFill>
                <a:latin typeface="맑은 고딕"/>
                <a:ea typeface="맑은 고딕"/>
              </a:rPr>
              <a:t> </a:t>
            </a:r>
            <a:r>
              <a:rPr sz="650" b="0" i="0" dirty="0" err="1">
                <a:solidFill>
                  <a:srgbClr val="404040"/>
                </a:solidFill>
                <a:latin typeface="맑은 고딕"/>
                <a:ea typeface="맑은 고딕"/>
              </a:rPr>
              <a:t>무관</a:t>
            </a:r>
            <a:r>
              <a:rPr sz="650" b="0" i="0" dirty="0">
                <a:solidFill>
                  <a:srgbClr val="404040"/>
                </a:solidFill>
                <a:latin typeface="맑은 고딕"/>
                <a:ea typeface="맑은 고딕"/>
              </a:rPr>
              <a:t>)</a:t>
            </a:r>
          </a:p>
        </p:txBody>
      </p:sp>
      <p:cxnSp>
        <p:nvCxnSpPr>
          <p:cNvPr id="172" name="Connector 171"/>
          <p:cNvCxnSpPr/>
          <p:nvPr/>
        </p:nvCxnSpPr>
        <p:spPr>
          <a:xfrm>
            <a:off x="2587752" y="2130552"/>
            <a:ext cx="0" cy="475488"/>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3" name="Oval 172"/>
          <p:cNvSpPr/>
          <p:nvPr/>
        </p:nvSpPr>
        <p:spPr>
          <a:xfrm>
            <a:off x="2510028" y="2290572"/>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cxnSp>
        <p:nvCxnSpPr>
          <p:cNvPr id="174" name="Connector 173"/>
          <p:cNvCxnSpPr/>
          <p:nvPr/>
        </p:nvCxnSpPr>
        <p:spPr>
          <a:xfrm flipH="1">
            <a:off x="4690872" y="269748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5" name="Oval 174"/>
          <p:cNvSpPr/>
          <p:nvPr/>
        </p:nvSpPr>
        <p:spPr>
          <a:xfrm>
            <a:off x="4773168" y="26197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76" name="Connector 175"/>
          <p:cNvCxnSpPr/>
          <p:nvPr/>
        </p:nvCxnSpPr>
        <p:spPr>
          <a:xfrm>
            <a:off x="2496312" y="3026664"/>
            <a:ext cx="411479" cy="539496"/>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7" name="Oval 176"/>
          <p:cNvSpPr/>
          <p:nvPr/>
        </p:nvSpPr>
        <p:spPr>
          <a:xfrm>
            <a:off x="2624328" y="321868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178" name="Connector 177"/>
          <p:cNvCxnSpPr/>
          <p:nvPr/>
        </p:nvCxnSpPr>
        <p:spPr>
          <a:xfrm flipH="1">
            <a:off x="2313432" y="379476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9" name="Oval 178"/>
          <p:cNvSpPr/>
          <p:nvPr/>
        </p:nvSpPr>
        <p:spPr>
          <a:xfrm>
            <a:off x="2395728" y="371703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180" name="Connector 179"/>
          <p:cNvCxnSpPr/>
          <p:nvPr/>
        </p:nvCxnSpPr>
        <p:spPr>
          <a:xfrm>
            <a:off x="3410712" y="379476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4690872" y="384048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2" name="Oval 181"/>
          <p:cNvSpPr/>
          <p:nvPr/>
        </p:nvSpPr>
        <p:spPr>
          <a:xfrm>
            <a:off x="4773168" y="37627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cxnSp>
        <p:nvCxnSpPr>
          <p:cNvPr id="183" name="Connector 182"/>
          <p:cNvCxnSpPr/>
          <p:nvPr/>
        </p:nvCxnSpPr>
        <p:spPr>
          <a:xfrm>
            <a:off x="3913632" y="2130552"/>
            <a:ext cx="0" cy="475488"/>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84" name="Oval 183"/>
          <p:cNvSpPr/>
          <p:nvPr/>
        </p:nvSpPr>
        <p:spPr>
          <a:xfrm>
            <a:off x="3835908" y="229057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185" name="Connector 184"/>
          <p:cNvCxnSpPr/>
          <p:nvPr/>
        </p:nvCxnSpPr>
        <p:spPr>
          <a:xfrm flipH="1">
            <a:off x="4690872" y="292608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86" name="Oval 185"/>
          <p:cNvSpPr/>
          <p:nvPr/>
        </p:nvSpPr>
        <p:spPr>
          <a:xfrm>
            <a:off x="4773168"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cxnSp>
        <p:nvCxnSpPr>
          <p:cNvPr id="187" name="Connector 186"/>
          <p:cNvCxnSpPr/>
          <p:nvPr/>
        </p:nvCxnSpPr>
        <p:spPr>
          <a:xfrm flipV="1">
            <a:off x="4187952" y="3026664"/>
            <a:ext cx="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88" name="Oval 187"/>
          <p:cNvSpPr/>
          <p:nvPr/>
        </p:nvSpPr>
        <p:spPr>
          <a:xfrm>
            <a:off x="4110228" y="32186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189" name="Rounded Rectangle 188"/>
          <p:cNvSpPr/>
          <p:nvPr/>
        </p:nvSpPr>
        <p:spPr>
          <a:xfrm>
            <a:off x="1243584" y="4139183"/>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DP1</a:t>
            </a:r>
          </a:p>
        </p:txBody>
      </p:sp>
      <p:sp>
        <p:nvSpPr>
          <p:cNvPr id="190" name="TextBox 189"/>
          <p:cNvSpPr txBox="1"/>
          <p:nvPr/>
        </p:nvSpPr>
        <p:spPr>
          <a:xfrm>
            <a:off x="1627632" y="4151376"/>
            <a:ext cx="3017520" cy="27432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Comp.KV(사전 산출물)는 요청 간 공유, 저장 tier는 DP1이 결정</a:t>
            </a:r>
          </a:p>
        </p:txBody>
      </p:sp>
      <p:sp>
        <p:nvSpPr>
          <p:cNvPr id="191" name="Rounded Rectangle 190"/>
          <p:cNvSpPr/>
          <p:nvPr/>
        </p:nvSpPr>
        <p:spPr>
          <a:xfrm>
            <a:off x="1243584" y="442493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192" name="TextBox 191"/>
          <p:cNvSpPr txBox="1"/>
          <p:nvPr/>
        </p:nvSpPr>
        <p:spPr>
          <a:xfrm>
            <a:off x="1627632" y="4425696"/>
            <a:ext cx="3017520" cy="27432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선택 재계산(Prefill 유사 연산)을 실행할 자원은 DP2가 결정</a:t>
            </a:r>
          </a:p>
        </p:txBody>
      </p:sp>
      <p:sp>
        <p:nvSpPr>
          <p:cNvPr id="194" name="Rectangle 193"/>
          <p:cNvSpPr/>
          <p:nvPr/>
        </p:nvSpPr>
        <p:spPr>
          <a:xfrm>
            <a:off x="7406640" y="1764792"/>
            <a:ext cx="137160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000000"/>
                </a:solidFill>
                <a:latin typeface="맑은 고딕"/>
                <a:ea typeface="맑은 고딕"/>
              </a:rPr>
              <a:t>User Query Manager</a:t>
            </a:r>
          </a:p>
          <a:p>
            <a:pPr algn="ctr"/>
            <a:r>
              <a:rPr sz="700" b="0" i="0">
                <a:solidFill>
                  <a:srgbClr val="000000"/>
                </a:solidFill>
                <a:latin typeface="맑은 고딕"/>
                <a:ea typeface="맑은 고딕"/>
              </a:rPr>
              <a:t>실제 Query (요청 시점)</a:t>
            </a:r>
          </a:p>
        </p:txBody>
      </p:sp>
      <p:sp>
        <p:nvSpPr>
          <p:cNvPr id="195" name="Rectangle 194"/>
          <p:cNvSpPr/>
          <p:nvPr/>
        </p:nvSpPr>
        <p:spPr>
          <a:xfrm>
            <a:off x="6629400" y="2240280"/>
            <a:ext cx="3474720" cy="8686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Rectangle 195"/>
          <p:cNvSpPr/>
          <p:nvPr/>
        </p:nvSpPr>
        <p:spPr>
          <a:xfrm>
            <a:off x="6629400" y="2240280"/>
            <a:ext cx="1196035"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en-US" altLang="ko-KR" sz="700" b="1" i="0" dirty="0">
                <a:solidFill>
                  <a:srgbClr val="FFFFFF"/>
                </a:solidFill>
                <a:latin typeface="맑은 고딕"/>
                <a:ea typeface="맑은 고딕"/>
              </a:rPr>
              <a:t>«layer» LLM </a:t>
            </a:r>
            <a:r>
              <a:rPr lang="en-US" altLang="ko-KR" sz="700" b="1" dirty="0">
                <a:solidFill>
                  <a:srgbClr val="FFFFFF"/>
                </a:solidFill>
                <a:latin typeface="맑은 고딕"/>
                <a:ea typeface="맑은 고딕"/>
              </a:rPr>
              <a:t>generation</a:t>
            </a:r>
            <a:endParaRPr lang="en-US" altLang="ko-KR" sz="700" b="1" i="0" dirty="0">
              <a:solidFill>
                <a:srgbClr val="FFFFFF"/>
              </a:solidFill>
              <a:latin typeface="맑은 고딕"/>
              <a:ea typeface="맑은 고딕"/>
            </a:endParaRPr>
          </a:p>
        </p:txBody>
      </p:sp>
      <p:sp>
        <p:nvSpPr>
          <p:cNvPr id="197" name="Rectangle 196"/>
          <p:cNvSpPr/>
          <p:nvPr/>
        </p:nvSpPr>
        <p:spPr>
          <a:xfrm>
            <a:off x="6858000" y="2606040"/>
            <a:ext cx="128016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Attention Manager</a:t>
            </a:r>
          </a:p>
          <a:p>
            <a:pPr algn="ctr"/>
            <a:r>
              <a:rPr sz="700" b="0" i="0">
                <a:solidFill>
                  <a:srgbClr val="000000"/>
                </a:solidFill>
                <a:latin typeface="맑은 고딕"/>
                <a:ea typeface="맑은 고딕"/>
              </a:rPr>
              <a:t>Query × KV Attention</a:t>
            </a:r>
          </a:p>
        </p:txBody>
      </p:sp>
      <p:sp>
        <p:nvSpPr>
          <p:cNvPr id="198" name="Rectangle 197"/>
          <p:cNvSpPr/>
          <p:nvPr/>
        </p:nvSpPr>
        <p:spPr>
          <a:xfrm>
            <a:off x="6812280"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Rectangle 198"/>
          <p:cNvSpPr/>
          <p:nvPr/>
        </p:nvSpPr>
        <p:spPr>
          <a:xfrm>
            <a:off x="6812280"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0" name="Rectangle 199"/>
          <p:cNvSpPr/>
          <p:nvPr/>
        </p:nvSpPr>
        <p:spPr>
          <a:xfrm>
            <a:off x="8595360" y="2606040"/>
            <a:ext cx="137160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Selective Recomputer</a:t>
            </a:r>
          </a:p>
          <a:p>
            <a:pPr algn="ctr"/>
            <a:r>
              <a:rPr sz="700" b="0" i="0">
                <a:solidFill>
                  <a:srgbClr val="000000"/>
                </a:solidFill>
                <a:latin typeface="맑은 고딕"/>
                <a:ea typeface="맑은 고딕"/>
              </a:rPr>
              <a:t>선정 토큰만 재계산</a:t>
            </a:r>
          </a:p>
        </p:txBody>
      </p:sp>
      <p:sp>
        <p:nvSpPr>
          <p:cNvPr id="201" name="Rectangle 200"/>
          <p:cNvSpPr/>
          <p:nvPr/>
        </p:nvSpPr>
        <p:spPr>
          <a:xfrm>
            <a:off x="8549640"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Rectangle 201"/>
          <p:cNvSpPr/>
          <p:nvPr/>
        </p:nvSpPr>
        <p:spPr>
          <a:xfrm>
            <a:off x="8549640"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3" name="Rounded Rectangle 202"/>
          <p:cNvSpPr/>
          <p:nvPr/>
        </p:nvSpPr>
        <p:spPr>
          <a:xfrm>
            <a:off x="9628632" y="252374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204" name="TextBox 203"/>
          <p:cNvSpPr txBox="1"/>
          <p:nvPr/>
        </p:nvSpPr>
        <p:spPr>
          <a:xfrm>
            <a:off x="8183879" y="2258568"/>
            <a:ext cx="1097280" cy="146304"/>
          </a:xfrm>
          <a:prstGeom prst="rect">
            <a:avLst/>
          </a:prstGeom>
          <a:noFill/>
        </p:spPr>
        <p:txBody>
          <a:bodyPr wrap="square" lIns="0" tIns="0" rIns="0" bIns="0" anchor="t">
            <a:spAutoFit/>
          </a:bodyPr>
          <a:lstStyle/>
          <a:p>
            <a:pPr algn="r"/>
            <a:r>
              <a:rPr sz="650" b="0" i="0">
                <a:solidFill>
                  <a:srgbClr val="7F7F7F"/>
                </a:solidFill>
                <a:latin typeface="맑은 고딕"/>
                <a:ea typeface="맑은 고딕"/>
              </a:rPr>
              <a:t>→ Prefill/Decode 생성</a:t>
            </a:r>
          </a:p>
        </p:txBody>
      </p:sp>
      <p:sp>
        <p:nvSpPr>
          <p:cNvPr id="205" name="Rectangle 204"/>
          <p:cNvSpPr/>
          <p:nvPr/>
        </p:nvSpPr>
        <p:spPr>
          <a:xfrm>
            <a:off x="6629400" y="3246120"/>
            <a:ext cx="3474720" cy="841248"/>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6" name="Rectangle 205"/>
          <p:cNvSpPr/>
          <p:nvPr/>
        </p:nvSpPr>
        <p:spPr>
          <a:xfrm>
            <a:off x="6629400" y="3246120"/>
            <a:ext cx="1371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en-US" altLang="ko-KR" sz="700" b="1" i="0" dirty="0">
                <a:solidFill>
                  <a:srgbClr val="FFFFFF"/>
                </a:solidFill>
                <a:latin typeface="맑은 고딕"/>
                <a:ea typeface="맑은 고딕"/>
              </a:rPr>
              <a:t>«layer» KV Compress &amp; Blend</a:t>
            </a:r>
          </a:p>
        </p:txBody>
      </p:sp>
      <p:sp>
        <p:nvSpPr>
          <p:cNvPr id="207" name="Rectangle 206"/>
          <p:cNvSpPr/>
          <p:nvPr/>
        </p:nvSpPr>
        <p:spPr>
          <a:xfrm>
            <a:off x="6858000"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dirty="0">
                <a:solidFill>
                  <a:srgbClr val="000000"/>
                </a:solidFill>
                <a:latin typeface="맑은 고딕"/>
                <a:ea typeface="맑은 고딕"/>
              </a:rPr>
              <a:t>KV Cache </a:t>
            </a:r>
            <a:endParaRPr lang="en-US" sz="750" b="1" i="0" dirty="0">
              <a:solidFill>
                <a:srgbClr val="000000"/>
              </a:solidFill>
              <a:latin typeface="맑은 고딕"/>
              <a:ea typeface="맑은 고딕"/>
            </a:endParaRPr>
          </a:p>
          <a:p>
            <a:pPr algn="ctr"/>
            <a:r>
              <a:rPr sz="750" b="1" i="0" dirty="0">
                <a:solidFill>
                  <a:srgbClr val="000000"/>
                </a:solidFill>
                <a:latin typeface="맑은 고딕"/>
                <a:ea typeface="맑은 고딕"/>
              </a:rPr>
              <a:t>Compressor</a:t>
            </a:r>
          </a:p>
          <a:p>
            <a:pPr algn="ctr"/>
            <a:r>
              <a:rPr sz="700" b="0" i="0" dirty="0" err="1">
                <a:solidFill>
                  <a:srgbClr val="000000"/>
                </a:solidFill>
                <a:latin typeface="맑은 고딕"/>
                <a:ea typeface="맑은 고딕"/>
              </a:rPr>
              <a:t>낮은</a:t>
            </a:r>
            <a:r>
              <a:rPr sz="700" b="0" i="0" dirty="0">
                <a:solidFill>
                  <a:srgbClr val="000000"/>
                </a:solidFill>
                <a:latin typeface="맑은 고딕"/>
                <a:ea typeface="맑은 고딕"/>
              </a:rPr>
              <a:t> </a:t>
            </a:r>
            <a:r>
              <a:rPr sz="700" b="0" i="0" dirty="0" err="1">
                <a:solidFill>
                  <a:srgbClr val="000000"/>
                </a:solidFill>
                <a:latin typeface="맑은 고딕"/>
                <a:ea typeface="맑은 고딕"/>
              </a:rPr>
              <a:t>토큰</a:t>
            </a:r>
            <a:r>
              <a:rPr sz="700" b="0" i="0" dirty="0">
                <a:solidFill>
                  <a:srgbClr val="000000"/>
                </a:solidFill>
                <a:latin typeface="맑은 고딕"/>
                <a:ea typeface="맑은 고딕"/>
              </a:rPr>
              <a:t> evict</a:t>
            </a:r>
          </a:p>
        </p:txBody>
      </p:sp>
      <p:sp>
        <p:nvSpPr>
          <p:cNvPr id="208" name="Rectangle 207"/>
          <p:cNvSpPr/>
          <p:nvPr/>
        </p:nvSpPr>
        <p:spPr>
          <a:xfrm>
            <a:off x="6812280"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9" name="Rectangle 208"/>
          <p:cNvSpPr/>
          <p:nvPr/>
        </p:nvSpPr>
        <p:spPr>
          <a:xfrm>
            <a:off x="6812280"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0" name="Rectangle 209"/>
          <p:cNvSpPr/>
          <p:nvPr/>
        </p:nvSpPr>
        <p:spPr>
          <a:xfrm>
            <a:off x="8046720" y="3566160"/>
            <a:ext cx="77724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Sampler</a:t>
            </a:r>
          </a:p>
          <a:p>
            <a:pPr algn="ctr"/>
            <a:r>
              <a:rPr sz="700" b="0" i="0">
                <a:solidFill>
                  <a:srgbClr val="000000"/>
                </a:solidFill>
                <a:latin typeface="맑은 고딕"/>
                <a:ea typeface="맑은 고딕"/>
              </a:rPr>
              <a:t>점수로 토큰 선정</a:t>
            </a:r>
          </a:p>
        </p:txBody>
      </p:sp>
      <p:sp>
        <p:nvSpPr>
          <p:cNvPr id="211" name="Rectangle 210"/>
          <p:cNvSpPr/>
          <p:nvPr/>
        </p:nvSpPr>
        <p:spPr>
          <a:xfrm>
            <a:off x="8001000"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8001000"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Rectangle 212"/>
          <p:cNvSpPr/>
          <p:nvPr/>
        </p:nvSpPr>
        <p:spPr>
          <a:xfrm>
            <a:off x="9144000"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Recompute Token Selector</a:t>
            </a:r>
          </a:p>
        </p:txBody>
      </p:sp>
      <p:sp>
        <p:nvSpPr>
          <p:cNvPr id="214" name="Rectangle 213"/>
          <p:cNvSpPr/>
          <p:nvPr/>
        </p:nvSpPr>
        <p:spPr>
          <a:xfrm>
            <a:off x="9098280"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9098280"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Rectangle 215"/>
          <p:cNvSpPr/>
          <p:nvPr/>
        </p:nvSpPr>
        <p:spPr>
          <a:xfrm>
            <a:off x="10424160" y="2240280"/>
            <a:ext cx="1417320" cy="2560320"/>
          </a:xfrm>
          <a:prstGeom prst="rect">
            <a:avLst/>
          </a:prstGeom>
          <a:solidFill>
            <a:srgbClr val="F7F7F7"/>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7" name="Rectangle 216"/>
          <p:cNvSpPr/>
          <p:nvPr/>
        </p:nvSpPr>
        <p:spPr>
          <a:xfrm>
            <a:off x="10424160" y="2240280"/>
            <a:ext cx="100949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«store» KV </a:t>
            </a:r>
            <a:r>
              <a:rPr lang="en-US" sz="700" b="1" i="0" dirty="0">
                <a:solidFill>
                  <a:srgbClr val="FFFFFF"/>
                </a:solidFill>
                <a:latin typeface="맑은 고딕"/>
                <a:ea typeface="맑은 고딕"/>
              </a:rPr>
              <a:t>Store</a:t>
            </a:r>
            <a:endParaRPr sz="700" b="1" i="0" dirty="0">
              <a:solidFill>
                <a:srgbClr val="FFFFFF"/>
              </a:solidFill>
              <a:latin typeface="맑은 고딕"/>
              <a:ea typeface="맑은 고딕"/>
            </a:endParaRPr>
          </a:p>
        </p:txBody>
      </p:sp>
      <p:sp>
        <p:nvSpPr>
          <p:cNvPr id="218" name="Rounded Rectangle 217"/>
          <p:cNvSpPr/>
          <p:nvPr/>
        </p:nvSpPr>
        <p:spPr>
          <a:xfrm>
            <a:off x="11475720" y="225856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DP1</a:t>
            </a:r>
          </a:p>
        </p:txBody>
      </p:sp>
      <p:sp>
        <p:nvSpPr>
          <p:cNvPr id="219" name="TextBox 218"/>
          <p:cNvSpPr txBox="1"/>
          <p:nvPr/>
        </p:nvSpPr>
        <p:spPr>
          <a:xfrm>
            <a:off x="10469880" y="2450592"/>
            <a:ext cx="1325880" cy="128016"/>
          </a:xfrm>
          <a:prstGeom prst="rect">
            <a:avLst/>
          </a:prstGeom>
          <a:noFill/>
        </p:spPr>
        <p:txBody>
          <a:bodyPr wrap="square" lIns="0" tIns="0" rIns="0" bIns="0" anchor="t">
            <a:spAutoFit/>
          </a:bodyPr>
          <a:lstStyle/>
          <a:p>
            <a:pPr algn="ctr"/>
            <a:r>
              <a:rPr sz="650" b="0" i="0">
                <a:solidFill>
                  <a:srgbClr val="7F7F7F"/>
                </a:solidFill>
                <a:latin typeface="맑은 고딕"/>
                <a:ea typeface="맑은 고딕"/>
              </a:rPr>
              <a:t>HBM · DRAM · CXL · SSD</a:t>
            </a:r>
          </a:p>
        </p:txBody>
      </p:sp>
      <p:sp>
        <p:nvSpPr>
          <p:cNvPr id="220" name="Rectangle 219"/>
          <p:cNvSpPr/>
          <p:nvPr/>
        </p:nvSpPr>
        <p:spPr>
          <a:xfrm>
            <a:off x="10515600" y="2633472"/>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1</a:t>
            </a:r>
          </a:p>
        </p:txBody>
      </p:sp>
      <p:sp>
        <p:nvSpPr>
          <p:cNvPr id="221" name="Rectangle 220"/>
          <p:cNvSpPr/>
          <p:nvPr/>
        </p:nvSpPr>
        <p:spPr>
          <a:xfrm>
            <a:off x="10515600" y="2926080"/>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2</a:t>
            </a:r>
          </a:p>
        </p:txBody>
      </p:sp>
      <p:sp>
        <p:nvSpPr>
          <p:cNvPr id="222" name="Rectangle 221"/>
          <p:cNvSpPr/>
          <p:nvPr/>
        </p:nvSpPr>
        <p:spPr>
          <a:xfrm>
            <a:off x="10711251" y="3429000"/>
            <a:ext cx="843139" cy="502920"/>
          </a:xfrm>
          <a:prstGeom prst="rect">
            <a:avLst/>
          </a:prstGeom>
          <a:solidFill>
            <a:srgbClr val="FBE5D6"/>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dirty="0" err="1">
                <a:solidFill>
                  <a:srgbClr val="000000"/>
                </a:solidFill>
                <a:latin typeface="맑은 고딕"/>
                <a:ea typeface="맑은 고딕"/>
              </a:rPr>
              <a:t>요청별</a:t>
            </a:r>
            <a:r>
              <a:rPr sz="700" b="1" i="0" dirty="0">
                <a:solidFill>
                  <a:srgbClr val="000000"/>
                </a:solidFill>
                <a:latin typeface="맑은 고딕"/>
                <a:ea typeface="맑은 고딕"/>
              </a:rPr>
              <a:t> </a:t>
            </a:r>
            <a:r>
              <a:rPr sz="700" b="1" i="0" dirty="0" err="1">
                <a:solidFill>
                  <a:srgbClr val="000000"/>
                </a:solidFill>
                <a:latin typeface="맑은 고딕"/>
                <a:ea typeface="맑은 고딕"/>
              </a:rPr>
              <a:t>Comp.KV</a:t>
            </a:r>
            <a:endParaRPr sz="700" b="1" i="0" dirty="0">
              <a:solidFill>
                <a:srgbClr val="000000"/>
              </a:solidFill>
              <a:latin typeface="맑은 고딕"/>
              <a:ea typeface="맑은 고딕"/>
            </a:endParaRPr>
          </a:p>
          <a:p>
            <a:pPr algn="ctr"/>
            <a:r>
              <a:rPr sz="700" b="0" i="0" dirty="0">
                <a:solidFill>
                  <a:srgbClr val="000000"/>
                </a:solidFill>
                <a:latin typeface="맑은 고딕"/>
                <a:ea typeface="맑은 고딕"/>
              </a:rPr>
              <a:t>(Query </a:t>
            </a:r>
            <a:r>
              <a:rPr sz="700" b="0" i="0" dirty="0" err="1">
                <a:solidFill>
                  <a:srgbClr val="000000"/>
                </a:solidFill>
                <a:latin typeface="맑은 고딕"/>
                <a:ea typeface="맑은 고딕"/>
              </a:rPr>
              <a:t>의존</a:t>
            </a:r>
            <a:r>
              <a:rPr sz="700" b="0" i="0" dirty="0">
                <a:solidFill>
                  <a:srgbClr val="000000"/>
                </a:solidFill>
                <a:latin typeface="맑은 고딕"/>
                <a:ea typeface="맑은 고딕"/>
              </a:rPr>
              <a:t>, </a:t>
            </a:r>
            <a:r>
              <a:rPr sz="700" b="0" i="0" dirty="0" err="1">
                <a:solidFill>
                  <a:srgbClr val="000000"/>
                </a:solidFill>
                <a:latin typeface="맑은 고딕"/>
                <a:ea typeface="맑은 고딕"/>
              </a:rPr>
              <a:t>임시</a:t>
            </a:r>
            <a:r>
              <a:rPr sz="700" b="0" i="0" dirty="0">
                <a:solidFill>
                  <a:srgbClr val="000000"/>
                </a:solidFill>
                <a:latin typeface="맑은 고딕"/>
                <a:ea typeface="맑은 고딕"/>
              </a:rPr>
              <a:t>)</a:t>
            </a:r>
          </a:p>
        </p:txBody>
      </p:sp>
      <p:sp>
        <p:nvSpPr>
          <p:cNvPr id="223" name="TextBox 222"/>
          <p:cNvSpPr txBox="1"/>
          <p:nvPr/>
        </p:nvSpPr>
        <p:spPr>
          <a:xfrm>
            <a:off x="10469880" y="4434840"/>
            <a:ext cx="1325880" cy="200055"/>
          </a:xfrm>
          <a:prstGeom prst="rect">
            <a:avLst/>
          </a:prstGeom>
          <a:noFill/>
        </p:spPr>
        <p:txBody>
          <a:bodyPr wrap="square" lIns="0" tIns="0" rIns="0" bIns="0" anchor="t">
            <a:spAutoFit/>
          </a:bodyPr>
          <a:lstStyle/>
          <a:p>
            <a:pPr algn="ctr"/>
            <a:r>
              <a:rPr sz="650" b="0" i="0" dirty="0">
                <a:solidFill>
                  <a:srgbClr val="404040"/>
                </a:solidFill>
                <a:latin typeface="맑은 고딕"/>
                <a:ea typeface="맑은 고딕"/>
              </a:rPr>
              <a:t>tier </a:t>
            </a:r>
            <a:r>
              <a:rPr sz="650" b="0" i="0" dirty="0" err="1">
                <a:solidFill>
                  <a:srgbClr val="404040"/>
                </a:solidFill>
                <a:latin typeface="맑은 고딕"/>
                <a:ea typeface="맑은 고딕"/>
              </a:rPr>
              <a:t>배치는</a:t>
            </a:r>
            <a:r>
              <a:rPr sz="650" b="0" i="0" dirty="0">
                <a:solidFill>
                  <a:srgbClr val="404040"/>
                </a:solidFill>
                <a:latin typeface="맑은 고딕"/>
                <a:ea typeface="맑은 고딕"/>
              </a:rPr>
              <a:t> DP1이 </a:t>
            </a:r>
            <a:r>
              <a:rPr sz="650" b="0" i="0" dirty="0" err="1">
                <a:solidFill>
                  <a:srgbClr val="404040"/>
                </a:solidFill>
                <a:latin typeface="맑은 고딕"/>
                <a:ea typeface="맑은 고딕"/>
              </a:rPr>
              <a:t>결정</a:t>
            </a:r>
            <a:r>
              <a:rPr sz="650" b="0" i="0" dirty="0">
                <a:solidFill>
                  <a:srgbClr val="404040"/>
                </a:solidFill>
                <a:latin typeface="맑은 고딕"/>
                <a:ea typeface="맑은 고딕"/>
              </a:rPr>
              <a:t> </a:t>
            </a:r>
            <a:endParaRPr lang="en-US" sz="650" b="0" i="0" dirty="0">
              <a:solidFill>
                <a:srgbClr val="404040"/>
              </a:solidFill>
              <a:latin typeface="맑은 고딕"/>
              <a:ea typeface="맑은 고딕"/>
            </a:endParaRPr>
          </a:p>
          <a:p>
            <a:pPr algn="ctr"/>
            <a:r>
              <a:rPr sz="650" b="0" i="0" dirty="0">
                <a:solidFill>
                  <a:srgbClr val="404040"/>
                </a:solidFill>
                <a:latin typeface="맑은 고딕"/>
                <a:ea typeface="맑은 고딕"/>
              </a:rPr>
              <a:t>(</a:t>
            </a:r>
            <a:r>
              <a:rPr sz="650" b="0" i="0" dirty="0" err="1">
                <a:solidFill>
                  <a:srgbClr val="404040"/>
                </a:solidFill>
                <a:latin typeface="맑은 고딕"/>
                <a:ea typeface="맑은 고딕"/>
              </a:rPr>
              <a:t>저장</a:t>
            </a:r>
            <a:r>
              <a:rPr sz="650" b="0" i="0" dirty="0">
                <a:solidFill>
                  <a:srgbClr val="404040"/>
                </a:solidFill>
                <a:latin typeface="맑은 고딕"/>
                <a:ea typeface="맑은 고딕"/>
              </a:rPr>
              <a:t> </a:t>
            </a:r>
            <a:r>
              <a:rPr sz="650" b="0" i="0" dirty="0" err="1">
                <a:solidFill>
                  <a:srgbClr val="404040"/>
                </a:solidFill>
                <a:latin typeface="맑은 고딕"/>
                <a:ea typeface="맑은 고딕"/>
              </a:rPr>
              <a:t>위치</a:t>
            </a:r>
            <a:r>
              <a:rPr sz="650" b="0" i="0" dirty="0">
                <a:solidFill>
                  <a:srgbClr val="404040"/>
                </a:solidFill>
                <a:latin typeface="맑은 고딕"/>
                <a:ea typeface="맑은 고딕"/>
              </a:rPr>
              <a:t> </a:t>
            </a:r>
            <a:r>
              <a:rPr sz="650" b="0" i="0" dirty="0" err="1">
                <a:solidFill>
                  <a:srgbClr val="404040"/>
                </a:solidFill>
                <a:latin typeface="맑은 고딕"/>
                <a:ea typeface="맑은 고딕"/>
              </a:rPr>
              <a:t>무관</a:t>
            </a:r>
            <a:r>
              <a:rPr sz="650" b="0" i="0" dirty="0">
                <a:solidFill>
                  <a:srgbClr val="404040"/>
                </a:solidFill>
                <a:latin typeface="맑은 고딕"/>
                <a:ea typeface="맑은 고딕"/>
              </a:rPr>
              <a:t>)</a:t>
            </a:r>
          </a:p>
        </p:txBody>
      </p:sp>
      <p:cxnSp>
        <p:nvCxnSpPr>
          <p:cNvPr id="224" name="Connector 223"/>
          <p:cNvCxnSpPr/>
          <p:nvPr/>
        </p:nvCxnSpPr>
        <p:spPr>
          <a:xfrm>
            <a:off x="7909560" y="2130552"/>
            <a:ext cx="0" cy="475488"/>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5" name="Oval 224"/>
          <p:cNvSpPr/>
          <p:nvPr/>
        </p:nvSpPr>
        <p:spPr>
          <a:xfrm>
            <a:off x="7831836" y="229057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cxnSp>
        <p:nvCxnSpPr>
          <p:cNvPr id="226" name="Connector 225"/>
          <p:cNvCxnSpPr/>
          <p:nvPr/>
        </p:nvCxnSpPr>
        <p:spPr>
          <a:xfrm flipH="1">
            <a:off x="10104120" y="274320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7" name="Oval 226"/>
          <p:cNvSpPr/>
          <p:nvPr/>
        </p:nvSpPr>
        <p:spPr>
          <a:xfrm>
            <a:off x="10186416" y="266547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8" name="Connector 227"/>
          <p:cNvCxnSpPr/>
          <p:nvPr/>
        </p:nvCxnSpPr>
        <p:spPr>
          <a:xfrm>
            <a:off x="7909560" y="3026664"/>
            <a:ext cx="41148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9" name="Oval 228"/>
          <p:cNvSpPr/>
          <p:nvPr/>
        </p:nvSpPr>
        <p:spPr>
          <a:xfrm>
            <a:off x="8037575" y="32186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30" name="Connector 229"/>
          <p:cNvCxnSpPr/>
          <p:nvPr/>
        </p:nvCxnSpPr>
        <p:spPr>
          <a:xfrm flipH="1">
            <a:off x="7726679" y="3794760"/>
            <a:ext cx="320041"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1" name="Oval 230"/>
          <p:cNvSpPr/>
          <p:nvPr/>
        </p:nvSpPr>
        <p:spPr>
          <a:xfrm>
            <a:off x="7808975" y="371703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232" name="Connector 231"/>
          <p:cNvCxnSpPr/>
          <p:nvPr/>
        </p:nvCxnSpPr>
        <p:spPr>
          <a:xfrm>
            <a:off x="8823960" y="379476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flipV="1">
            <a:off x="9326880" y="3026664"/>
            <a:ext cx="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4" name="Oval 233"/>
          <p:cNvSpPr/>
          <p:nvPr/>
        </p:nvSpPr>
        <p:spPr>
          <a:xfrm>
            <a:off x="9249155" y="32186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235" name="Rounded Rectangle 234"/>
          <p:cNvSpPr/>
          <p:nvPr/>
        </p:nvSpPr>
        <p:spPr>
          <a:xfrm>
            <a:off x="6656832" y="414680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DP1</a:t>
            </a:r>
          </a:p>
        </p:txBody>
      </p:sp>
      <p:sp>
        <p:nvSpPr>
          <p:cNvPr id="236" name="TextBox 235"/>
          <p:cNvSpPr txBox="1"/>
          <p:nvPr/>
        </p:nvSpPr>
        <p:spPr>
          <a:xfrm>
            <a:off x="7040880" y="4151376"/>
            <a:ext cx="3017520" cy="27432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Context KV의 tier 배치는 DP1이 결정, 압축 결과는 요청 단위로 생성</a:t>
            </a:r>
          </a:p>
        </p:txBody>
      </p:sp>
      <p:sp>
        <p:nvSpPr>
          <p:cNvPr id="237" name="Rounded Rectangle 236"/>
          <p:cNvSpPr/>
          <p:nvPr/>
        </p:nvSpPr>
        <p:spPr>
          <a:xfrm>
            <a:off x="6670548" y="4357116"/>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238" name="TextBox 237"/>
          <p:cNvSpPr txBox="1"/>
          <p:nvPr/>
        </p:nvSpPr>
        <p:spPr>
          <a:xfrm>
            <a:off x="7054596" y="4372938"/>
            <a:ext cx="3017520" cy="206101"/>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선택 재계산(Prefill 유사 연산)을 실행할 자원은 DP2가 결정</a:t>
            </a:r>
          </a:p>
        </p:txBody>
      </p:sp>
      <p:grpSp>
        <p:nvGrpSpPr>
          <p:cNvPr id="7" name="그룹 6">
            <a:extLst>
              <a:ext uri="{FF2B5EF4-FFF2-40B4-BE49-F238E27FC236}">
                <a16:creationId xmlns:a16="http://schemas.microsoft.com/office/drawing/2014/main" id="{40FF77C7-CD72-4303-A0A9-900338825FA2}"/>
              </a:ext>
            </a:extLst>
          </p:cNvPr>
          <p:cNvGrpSpPr/>
          <p:nvPr/>
        </p:nvGrpSpPr>
        <p:grpSpPr>
          <a:xfrm>
            <a:off x="1342065" y="4689663"/>
            <a:ext cx="1009528" cy="100027"/>
            <a:chOff x="600198" y="4114184"/>
            <a:chExt cx="1009528" cy="100027"/>
          </a:xfrm>
        </p:grpSpPr>
        <p:cxnSp>
          <p:nvCxnSpPr>
            <p:cNvPr id="4" name="직선 연결선 3">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rgbClr val="404040"/>
              </a:solidFill>
              <a:prstDash val="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31" name="TextBox 130">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sz="650" b="0" i="0" dirty="0" err="1">
                  <a:solidFill>
                    <a:srgbClr val="7F7F7F"/>
                  </a:solidFill>
                  <a:latin typeface="맑은 고딕"/>
                  <a:ea typeface="맑은 고딕"/>
                </a:rPr>
                <a:t>사전</a:t>
              </a:r>
              <a:r>
                <a:rPr sz="650" b="0" i="0" dirty="0">
                  <a:solidFill>
                    <a:srgbClr val="7F7F7F"/>
                  </a:solidFill>
                  <a:latin typeface="맑은 고딕"/>
                  <a:ea typeface="맑은 고딕"/>
                </a:rPr>
                <a:t>(</a:t>
              </a:r>
              <a:r>
                <a:rPr sz="650" b="0" i="0" dirty="0" err="1">
                  <a:solidFill>
                    <a:srgbClr val="7F7F7F"/>
                  </a:solidFill>
                  <a:latin typeface="맑은 고딕"/>
                  <a:ea typeface="맑은 고딕"/>
                </a:rPr>
                <a:t>오프라인</a:t>
              </a:r>
              <a:r>
                <a:rPr sz="650" b="0" i="0" dirty="0">
                  <a:solidFill>
                    <a:srgbClr val="7F7F7F"/>
                  </a:solidFill>
                  <a:latin typeface="맑은 고딕"/>
                  <a:ea typeface="맑은 고딕"/>
                </a:rPr>
                <a:t>)</a:t>
              </a:r>
              <a:r>
                <a:rPr lang="ko-KR" altLang="en-US" sz="650" b="0" i="0" dirty="0">
                  <a:solidFill>
                    <a:srgbClr val="7F7F7F"/>
                  </a:solidFill>
                  <a:latin typeface="맑은 고딕"/>
                  <a:ea typeface="맑은 고딕"/>
                </a:rPr>
                <a:t> 단계</a:t>
              </a:r>
              <a:endParaRPr sz="650" b="0" i="0" dirty="0">
                <a:solidFill>
                  <a:srgbClr val="7F7F7F"/>
                </a:solidFill>
                <a:latin typeface="맑은 고딕"/>
                <a:ea typeface="맑은 고딕"/>
              </a:endParaRPr>
            </a:p>
          </p:txBody>
        </p:sp>
      </p:grpSp>
      <p:grpSp>
        <p:nvGrpSpPr>
          <p:cNvPr id="12" name="그룹 11">
            <a:extLst>
              <a:ext uri="{FF2B5EF4-FFF2-40B4-BE49-F238E27FC236}">
                <a16:creationId xmlns:a16="http://schemas.microsoft.com/office/drawing/2014/main" id="{247D65F3-C7FD-460C-BED7-DDB7768C9266}"/>
              </a:ext>
            </a:extLst>
          </p:cNvPr>
          <p:cNvGrpSpPr/>
          <p:nvPr/>
        </p:nvGrpSpPr>
        <p:grpSpPr>
          <a:xfrm>
            <a:off x="2473452" y="4689663"/>
            <a:ext cx="1009528" cy="100027"/>
            <a:chOff x="2473452" y="4689663"/>
            <a:chExt cx="1009528" cy="100027"/>
          </a:xfrm>
        </p:grpSpPr>
        <p:cxnSp>
          <p:nvCxnSpPr>
            <p:cNvPr id="134" name="직선 연결선 133">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35" name="TextBox 134">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서빙 시</a:t>
              </a:r>
              <a:r>
                <a:rPr lang="en-US" altLang="ko-KR" sz="650" b="0" i="0" dirty="0">
                  <a:solidFill>
                    <a:srgbClr val="7F7F7F"/>
                  </a:solidFill>
                  <a:latin typeface="맑은 고딕"/>
                  <a:ea typeface="맑은 고딕"/>
                </a:rPr>
                <a:t>(</a:t>
              </a:r>
              <a:r>
                <a:rPr lang="ko-KR" altLang="en-US" sz="650" b="0" i="0" dirty="0">
                  <a:solidFill>
                    <a:srgbClr val="7F7F7F"/>
                  </a:solidFill>
                  <a:latin typeface="맑은 고딕"/>
                  <a:ea typeface="맑은 고딕"/>
                </a:rPr>
                <a:t>요청 경로</a:t>
              </a:r>
              <a:r>
                <a:rPr lang="en-US" altLang="ko-KR" sz="650" b="0" i="0" dirty="0">
                  <a:solidFill>
                    <a:srgbClr val="7F7F7F"/>
                  </a:solidFill>
                  <a:latin typeface="맑은 고딕"/>
                  <a:ea typeface="맑은 고딕"/>
                </a:rPr>
                <a:t>)</a:t>
              </a:r>
              <a:endParaRPr sz="650" b="0" i="0" dirty="0">
                <a:solidFill>
                  <a:srgbClr val="7F7F7F"/>
                </a:solidFill>
                <a:latin typeface="맑은 고딕"/>
                <a:ea typeface="맑은 고딕"/>
              </a:endParaRPr>
            </a:p>
          </p:txBody>
        </p:sp>
      </p:grpSp>
      <p:grpSp>
        <p:nvGrpSpPr>
          <p:cNvPr id="9" name="그룹 8">
            <a:extLst>
              <a:ext uri="{FF2B5EF4-FFF2-40B4-BE49-F238E27FC236}">
                <a16:creationId xmlns:a16="http://schemas.microsoft.com/office/drawing/2014/main" id="{91836876-5FD3-4E66-B38B-43E19A9A12BB}"/>
              </a:ext>
            </a:extLst>
          </p:cNvPr>
          <p:cNvGrpSpPr/>
          <p:nvPr/>
        </p:nvGrpSpPr>
        <p:grpSpPr>
          <a:xfrm>
            <a:off x="6779192" y="4689663"/>
            <a:ext cx="1009528" cy="100027"/>
            <a:chOff x="6779192" y="4689663"/>
            <a:chExt cx="1009528" cy="100027"/>
          </a:xfrm>
        </p:grpSpPr>
        <p:cxnSp>
          <p:nvCxnSpPr>
            <p:cNvPr id="136" name="직선 연결선 135">
              <a:extLst>
                <a:ext uri="{FF2B5EF4-FFF2-40B4-BE49-F238E27FC236}">
                  <a16:creationId xmlns:a16="http://schemas.microsoft.com/office/drawing/2014/main" id="{704963F3-B0DB-4923-BB3B-1D2732213670}"/>
                </a:ext>
              </a:extLst>
            </p:cNvPr>
            <p:cNvCxnSpPr>
              <a:cxnSpLocks/>
            </p:cNvCxnSpPr>
            <p:nvPr/>
          </p:nvCxnSpPr>
          <p:spPr>
            <a:xfrm>
              <a:off x="677919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0" name="TextBox 239">
              <a:extLst>
                <a:ext uri="{FF2B5EF4-FFF2-40B4-BE49-F238E27FC236}">
                  <a16:creationId xmlns:a16="http://schemas.microsoft.com/office/drawing/2014/main" id="{E8F293CD-188C-4877-99B3-D91646C7B15E}"/>
                </a:ext>
              </a:extLst>
            </p:cNvPr>
            <p:cNvSpPr txBox="1"/>
            <p:nvPr/>
          </p:nvSpPr>
          <p:spPr>
            <a:xfrm>
              <a:off x="702721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서빙 시</a:t>
              </a:r>
              <a:r>
                <a:rPr lang="en-US" altLang="ko-KR" sz="650" b="0" i="0" dirty="0">
                  <a:solidFill>
                    <a:srgbClr val="7F7F7F"/>
                  </a:solidFill>
                  <a:latin typeface="맑은 고딕"/>
                  <a:ea typeface="맑은 고딕"/>
                </a:rPr>
                <a:t>(</a:t>
              </a:r>
              <a:r>
                <a:rPr lang="ko-KR" altLang="en-US" sz="650" b="0" i="0" dirty="0">
                  <a:solidFill>
                    <a:srgbClr val="7F7F7F"/>
                  </a:solidFill>
                  <a:latin typeface="맑은 고딕"/>
                  <a:ea typeface="맑은 고딕"/>
                </a:rPr>
                <a:t>요청 경로</a:t>
              </a:r>
              <a:r>
                <a:rPr lang="en-US" altLang="ko-KR" sz="650" b="0" i="0" dirty="0">
                  <a:solidFill>
                    <a:srgbClr val="7F7F7F"/>
                  </a:solidFill>
                  <a:latin typeface="맑은 고딕"/>
                  <a:ea typeface="맑은 고딕"/>
                </a:rPr>
                <a:t>)</a:t>
              </a:r>
              <a:endParaRPr sz="650" b="0" i="0" dirty="0">
                <a:solidFill>
                  <a:srgbClr val="7F7F7F"/>
                </a:solidFill>
                <a:latin typeface="맑은 고딕"/>
                <a:ea typeface="맑은 고딕"/>
              </a:endParaRPr>
            </a:p>
          </p:txBody>
        </p:sp>
      </p:grpSp>
      <p:sp>
        <p:nvSpPr>
          <p:cNvPr id="193" name="모서리가 둥근 직사각형 37">
            <a:extLst>
              <a:ext uri="{FF2B5EF4-FFF2-40B4-BE49-F238E27FC236}">
                <a16:creationId xmlns:a16="http://schemas.microsoft.com/office/drawing/2014/main" id="{6B693242-5EEF-4D32-8F09-9F360043D5FB}"/>
              </a:ext>
            </a:extLst>
          </p:cNvPr>
          <p:cNvSpPr/>
          <p:nvPr/>
        </p:nvSpPr>
        <p:spPr>
          <a:xfrm>
            <a:off x="9911385" y="617897"/>
            <a:ext cx="120843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KV </a:t>
            </a:r>
            <a:r>
              <a:rPr lang="ko-KR" altLang="en-US" sz="700" dirty="0">
                <a:latin typeface="맑은 고딕" panose="020B0503020000020004" pitchFamily="50" charset="-127"/>
                <a:ea typeface="맑은 고딕" panose="020B0503020000020004" pitchFamily="50" charset="-127"/>
              </a:rPr>
              <a:t>캐시 </a:t>
            </a:r>
            <a:r>
              <a:rPr lang="ko-KR" altLang="en-US" sz="700" dirty="0" err="1">
                <a:latin typeface="맑은 고딕" panose="020B0503020000020004" pitchFamily="50" charset="-127"/>
                <a:ea typeface="맑은 고딕" panose="020B0503020000020004" pitchFamily="50" charset="-127"/>
              </a:rPr>
              <a:t>압축∙재사용</a:t>
            </a:r>
            <a:endParaRPr lang="ko-KR" altLang="en-US" sz="700" dirty="0">
              <a:latin typeface="맑은 고딕" panose="020B0503020000020004" pitchFamily="50" charset="-127"/>
              <a:ea typeface="맑은 고딕" panose="020B0503020000020004" pitchFamily="50" charset="-127"/>
            </a:endParaRPr>
          </a:p>
        </p:txBody>
      </p:sp>
      <p:sp>
        <p:nvSpPr>
          <p:cNvPr id="241" name="모서리가 둥근 직사각형 37">
            <a:extLst>
              <a:ext uri="{FF2B5EF4-FFF2-40B4-BE49-F238E27FC236}">
                <a16:creationId xmlns:a16="http://schemas.microsoft.com/office/drawing/2014/main" id="{599DDDE6-832F-4D7D-A8E4-07CB8D8FAB19}"/>
              </a:ext>
            </a:extLst>
          </p:cNvPr>
          <p:cNvSpPr/>
          <p:nvPr/>
        </p:nvSpPr>
        <p:spPr>
          <a:xfrm>
            <a:off x="11145214"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243" name="모서리가 둥근 직사각형 37">
            <a:extLst>
              <a:ext uri="{FF2B5EF4-FFF2-40B4-BE49-F238E27FC236}">
                <a16:creationId xmlns:a16="http://schemas.microsoft.com/office/drawing/2014/main" id="{7D2F8ED5-0EFB-410C-A2C3-3568EEE141C3}"/>
              </a:ext>
            </a:extLst>
          </p:cNvPr>
          <p:cNvSpPr/>
          <p:nvPr/>
        </p:nvSpPr>
        <p:spPr>
          <a:xfrm>
            <a:off x="9636626"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244" name="모서리가 둥근 직사각형 37">
            <a:extLst>
              <a:ext uri="{FF2B5EF4-FFF2-40B4-BE49-F238E27FC236}">
                <a16:creationId xmlns:a16="http://schemas.microsoft.com/office/drawing/2014/main" id="{D6402B05-EBC0-4E87-AEC1-F112EEA19579}"/>
              </a:ext>
            </a:extLst>
          </p:cNvPr>
          <p:cNvSpPr/>
          <p:nvPr/>
        </p:nvSpPr>
        <p:spPr>
          <a:xfrm>
            <a:off x="10306660"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HBM </a:t>
            </a:r>
            <a:r>
              <a:rPr lang="ko-KR" altLang="en-US" sz="700" dirty="0">
                <a:latin typeface="맑은 고딕" panose="020B0503020000020004" pitchFamily="50" charset="-127"/>
              </a:rPr>
              <a:t>점유율</a:t>
            </a:r>
          </a:p>
        </p:txBody>
      </p:sp>
      <p:sp>
        <p:nvSpPr>
          <p:cNvPr id="245" name="모서리가 둥근 직사각형 37">
            <a:extLst>
              <a:ext uri="{FF2B5EF4-FFF2-40B4-BE49-F238E27FC236}">
                <a16:creationId xmlns:a16="http://schemas.microsoft.com/office/drawing/2014/main" id="{4D0981FB-60C2-441C-9C62-6858891AED7C}"/>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a:latin typeface="맑은 고딕" panose="020B0503020000020004" pitchFamily="50" charset="-127"/>
              </a:rPr>
              <a:t>출력 정확성</a:t>
            </a:r>
          </a:p>
        </p:txBody>
      </p:sp>
    </p:spTree>
    <p:extLst>
      <p:ext uri="{BB962C8B-B14F-4D97-AF65-F5344CB8AC3E}">
        <p14:creationId xmlns:p14="http://schemas.microsoft.com/office/powerpoint/2010/main" val="23121592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DP4</a:t>
            </a:r>
            <a:endParaRPr lang="ko-KR" altLang="en-US" sz="16600" b="1" dirty="0"/>
          </a:p>
        </p:txBody>
      </p:sp>
    </p:spTree>
    <p:extLst>
      <p:ext uri="{BB962C8B-B14F-4D97-AF65-F5344CB8AC3E}">
        <p14:creationId xmlns:p14="http://schemas.microsoft.com/office/powerpoint/2010/main" val="12456600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625986"/>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206272">
                  <a:extLst>
                    <a:ext uri="{9D8B030D-6E8A-4147-A177-3AD203B41FA5}">
                      <a16:colId xmlns:a16="http://schemas.microsoft.com/office/drawing/2014/main" val="5654497"/>
                    </a:ext>
                  </a:extLst>
                </a:gridCol>
                <a:gridCol w="2229782">
                  <a:extLst>
                    <a:ext uri="{9D8B030D-6E8A-4147-A177-3AD203B41FA5}">
                      <a16:colId xmlns:a16="http://schemas.microsoft.com/office/drawing/2014/main" val="2953438935"/>
                    </a:ext>
                  </a:extLst>
                </a:gridCol>
                <a:gridCol w="3254078">
                  <a:extLst>
                    <a:ext uri="{9D8B030D-6E8A-4147-A177-3AD203B41FA5}">
                      <a16:colId xmlns:a16="http://schemas.microsoft.com/office/drawing/2014/main" val="3070054508"/>
                    </a:ext>
                  </a:extLst>
                </a:gridCol>
                <a:gridCol w="218197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baseline="0" dirty="0"/>
                        <a:t>(1</a:t>
                      </a:r>
                      <a:r>
                        <a:rPr lang="ko-KR" altLang="en-US" sz="1200" b="1" strike="noStrike" baseline="0" dirty="0"/>
                        <a:t>안</a:t>
                      </a:r>
                      <a:r>
                        <a:rPr lang="en-US" altLang="ko-KR" sz="1200" b="1" strike="noStrike" baseline="0" dirty="0"/>
                        <a:t>) OSS </a:t>
                      </a:r>
                      <a:r>
                        <a:rPr lang="ko-KR" altLang="en-US" sz="1200" b="1" strike="noStrike" baseline="0" dirty="0"/>
                        <a:t>확장 구조 </a:t>
                      </a:r>
                      <a:r>
                        <a:rPr lang="en-US" altLang="ko-KR" sz="850" b="0" kern="1200" dirty="0">
                          <a:solidFill>
                            <a:srgbClr val="404040"/>
                          </a:solidFill>
                          <a:latin typeface="맑은 고딕"/>
                          <a:ea typeface="맑은 고딕"/>
                          <a:cs typeface="+mn-cs"/>
                        </a:rPr>
                        <a:t>(</a:t>
                      </a:r>
                      <a:r>
                        <a:rPr lang="en-US" altLang="ko-KR" sz="850" b="0" kern="1200" dirty="0" err="1">
                          <a:solidFill>
                            <a:srgbClr val="404040"/>
                          </a:solidFill>
                          <a:latin typeface="맑은 고딕"/>
                          <a:ea typeface="맑은 고딕"/>
                          <a:cs typeface="+mn-cs"/>
                        </a:rPr>
                        <a:t>llm</a:t>
                      </a:r>
                      <a:r>
                        <a:rPr lang="en-US" altLang="ko-KR" sz="850" b="0" kern="1200" dirty="0">
                          <a:solidFill>
                            <a:srgbClr val="404040"/>
                          </a:solidFill>
                          <a:latin typeface="맑은 고딕"/>
                          <a:ea typeface="맑은 고딕"/>
                          <a:cs typeface="+mn-cs"/>
                        </a:rPr>
                        <a:t>-d </a:t>
                      </a:r>
                      <a:r>
                        <a:rPr lang="ko-KR" altLang="en-US" sz="850" b="0" kern="1200" dirty="0">
                          <a:solidFill>
                            <a:srgbClr val="404040"/>
                          </a:solidFill>
                          <a:latin typeface="맑은 고딕"/>
                          <a:ea typeface="맑은 고딕"/>
                          <a:cs typeface="+mn-cs"/>
                        </a:rPr>
                        <a:t>기준</a:t>
                      </a:r>
                      <a:r>
                        <a:rPr lang="en-US" altLang="ko-KR" sz="850" b="0" kern="1200" dirty="0">
                          <a:solidFill>
                            <a:srgbClr val="404040"/>
                          </a:solidFill>
                          <a:latin typeface="맑은 고딕"/>
                          <a:ea typeface="맑은 고딕"/>
                          <a:cs typeface="+mn-cs"/>
                        </a:rPr>
                        <a:t>: </a:t>
                      </a:r>
                      <a:r>
                        <a:rPr lang="ko-KR" altLang="en-US" sz="850" b="0" kern="1200" dirty="0">
                          <a:solidFill>
                            <a:srgbClr val="404040"/>
                          </a:solidFill>
                          <a:latin typeface="맑은 고딕"/>
                          <a:ea typeface="맑은 고딕"/>
                          <a:cs typeface="+mn-cs"/>
                        </a:rPr>
                        <a:t>기존 모듈 </a:t>
                      </a:r>
                      <a:r>
                        <a:rPr lang="en-US" altLang="ko-KR" sz="850" b="0" kern="1200" dirty="0">
                          <a:solidFill>
                            <a:srgbClr val="404040"/>
                          </a:solidFill>
                          <a:latin typeface="맑은 고딕"/>
                          <a:ea typeface="맑은 고딕"/>
                          <a:cs typeface="+mn-cs"/>
                        </a:rPr>
                        <a:t>+ </a:t>
                      </a:r>
                      <a:r>
                        <a:rPr lang="ko-KR" altLang="en-US" sz="850" b="0" kern="1200" dirty="0">
                          <a:solidFill>
                            <a:srgbClr val="404040"/>
                          </a:solidFill>
                          <a:latin typeface="맑은 고딕"/>
                          <a:ea typeface="맑은 고딕"/>
                          <a:cs typeface="+mn-cs"/>
                        </a:rPr>
                        <a:t>우리 확장</a:t>
                      </a:r>
                      <a:r>
                        <a:rPr lang="en-US" altLang="ko-KR" sz="850" b="0" kern="1200" dirty="0">
                          <a:solidFill>
                            <a:srgbClr val="404040"/>
                          </a:solidFill>
                          <a:latin typeface="맑은 고딕"/>
                          <a:ea typeface="맑은 고딕"/>
                          <a:cs typeface="+mn-cs"/>
                        </a:rPr>
                        <a:t>)</a:t>
                      </a:r>
                      <a:r>
                        <a:rPr lang="ko-KR" altLang="en-US" sz="850" b="0" kern="1200" dirty="0">
                          <a:solidFill>
                            <a:srgbClr val="404040"/>
                          </a:solidFill>
                          <a:latin typeface="맑은 고딕"/>
                          <a:ea typeface="맑은 고딕"/>
                          <a:cs typeface="+mn-cs"/>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 </a:t>
                      </a:r>
                      <a:r>
                        <a:rPr lang="ko-KR" altLang="en-US" sz="1200" b="1" strike="noStrike" dirty="0"/>
                        <a:t>자체 구현 구조 </a:t>
                      </a:r>
                      <a:r>
                        <a:rPr lang="en-US" altLang="ko-KR" sz="850" b="0" kern="1200" dirty="0">
                          <a:solidFill>
                            <a:srgbClr val="404040"/>
                          </a:solidFill>
                          <a:latin typeface="맑은 고딕"/>
                          <a:ea typeface="맑은 고딕"/>
                          <a:cs typeface="+mn-cs"/>
                        </a:rPr>
                        <a:t>(Own Router: </a:t>
                      </a:r>
                      <a:r>
                        <a:rPr lang="ko-KR" altLang="en-US" sz="850" b="0" kern="1200" dirty="0" err="1">
                          <a:solidFill>
                            <a:srgbClr val="404040"/>
                          </a:solidFill>
                          <a:latin typeface="맑은 고딕"/>
                          <a:ea typeface="맑은 고딕"/>
                          <a:cs typeface="+mn-cs"/>
                        </a:rPr>
                        <a:t>계층형</a:t>
                      </a:r>
                      <a:r>
                        <a:rPr lang="ko-KR" altLang="en-US" sz="850" b="0" kern="1200" dirty="0">
                          <a:solidFill>
                            <a:srgbClr val="404040"/>
                          </a:solidFill>
                          <a:latin typeface="맑은 고딕"/>
                          <a:ea typeface="맑은 고딕"/>
                          <a:cs typeface="+mn-cs"/>
                        </a:rPr>
                        <a:t> </a:t>
                      </a:r>
                      <a:r>
                        <a:rPr lang="en-US" altLang="ko-KR" sz="850" b="0" kern="1200" dirty="0">
                          <a:solidFill>
                            <a:srgbClr val="404040"/>
                          </a:solidFill>
                          <a:latin typeface="맑은 고딕"/>
                          <a:ea typeface="맑은 고딕"/>
                          <a:cs typeface="+mn-cs"/>
                        </a:rPr>
                        <a:t>· </a:t>
                      </a:r>
                      <a:r>
                        <a:rPr lang="ko-KR" altLang="en-US" sz="850" b="0" kern="1200" dirty="0" err="1">
                          <a:solidFill>
                            <a:srgbClr val="404040"/>
                          </a:solidFill>
                          <a:latin typeface="맑은 고딕"/>
                          <a:ea typeface="맑은 고딕"/>
                          <a:cs typeface="+mn-cs"/>
                        </a:rPr>
                        <a:t>레플리카</a:t>
                      </a:r>
                      <a:r>
                        <a:rPr lang="ko-KR" altLang="en-US" sz="850" b="0" kern="1200" dirty="0">
                          <a:solidFill>
                            <a:srgbClr val="404040"/>
                          </a:solidFill>
                          <a:latin typeface="맑은 고딕"/>
                          <a:ea typeface="맑은 고딕"/>
                          <a:cs typeface="+mn-cs"/>
                        </a:rPr>
                        <a:t> 확장</a:t>
                      </a:r>
                      <a:r>
                        <a:rPr lang="en-US" altLang="ko-KR" sz="850" b="0" kern="1200" dirty="0">
                          <a:solidFill>
                            <a:srgbClr val="404040"/>
                          </a:solidFill>
                          <a:latin typeface="맑은 고딕"/>
                          <a:ea typeface="맑은 고딕"/>
                          <a:cs typeface="+mn-cs"/>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383987">
                <a:tc>
                  <a:txBody>
                    <a:bodyPr/>
                    <a:lstStyle/>
                    <a:p>
                      <a:pPr algn="ctr" latinLnBrk="1"/>
                      <a:r>
                        <a:rPr lang="ko-KR" altLang="en-US" sz="1200">
                          <a:solidFill>
                            <a:schemeClr val="tx1">
                              <a:lumMod val="50000"/>
                              <a:lumOff val="50000"/>
                            </a:schemeClr>
                          </a:solidFill>
                        </a:rPr>
                        <a:t>구조</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검증된 </a:t>
                      </a:r>
                      <a:r>
                        <a:rPr lang="en-US" altLang="ko-KR" sz="1200" strike="noStrike" kern="1200" baseline="0" dirty="0">
                          <a:solidFill>
                            <a:schemeClr val="tx1"/>
                          </a:solidFill>
                          <a:effectLst/>
                          <a:latin typeface="+mn-lt"/>
                          <a:ea typeface="+mn-ea"/>
                          <a:cs typeface="+mn-cs"/>
                        </a:rPr>
                        <a:t>OSS </a:t>
                      </a:r>
                      <a:r>
                        <a:rPr lang="ko-KR" altLang="en-US" sz="1200" strike="noStrike" kern="1200" baseline="0" dirty="0">
                          <a:solidFill>
                            <a:schemeClr val="tx1"/>
                          </a:solidFill>
                          <a:effectLst/>
                          <a:latin typeface="+mn-lt"/>
                          <a:ea typeface="+mn-ea"/>
                          <a:cs typeface="+mn-cs"/>
                        </a:rPr>
                        <a:t>재사용</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요청 경로</a:t>
                      </a:r>
                      <a:r>
                        <a:rPr lang="en-US" altLang="ko-KR" sz="1200" strike="noStrike" kern="1200" baseline="0" dirty="0">
                          <a:solidFill>
                            <a:schemeClr val="tx1"/>
                          </a:solidFill>
                          <a:effectLst/>
                          <a:latin typeface="+mn-lt"/>
                          <a:ea typeface="+mn-ea"/>
                          <a:cs typeface="+mn-cs"/>
                        </a:rPr>
                        <a:t>·KV </a:t>
                      </a:r>
                      <a:r>
                        <a:rPr lang="ko-KR" altLang="en-US" sz="1200" strike="noStrike" kern="1200" baseline="0" dirty="0">
                          <a:solidFill>
                            <a:schemeClr val="tx1"/>
                          </a:solidFill>
                          <a:effectLst/>
                          <a:latin typeface="+mn-lt"/>
                          <a:ea typeface="+mn-ea"/>
                          <a:cs typeface="+mn-cs"/>
                        </a:rPr>
                        <a:t>인덱스</a:t>
                      </a:r>
                      <a:r>
                        <a:rPr lang="en-US" altLang="ko-KR" sz="1200" strike="noStrike" kern="1200" baseline="0" dirty="0">
                          <a:solidFill>
                            <a:schemeClr val="tx1"/>
                          </a:solidFill>
                          <a:effectLst/>
                          <a:latin typeface="+mn-lt"/>
                          <a:ea typeface="+mn-ea"/>
                          <a:cs typeface="+mn-cs"/>
                        </a:rPr>
                        <a:t>·</a:t>
                      </a:r>
                      <a:r>
                        <a:rPr lang="ko-KR" altLang="en-US" sz="1200" strike="noStrike" kern="1200" baseline="0" dirty="0">
                          <a:solidFill>
                            <a:schemeClr val="tx1"/>
                          </a:solidFill>
                          <a:effectLst/>
                          <a:latin typeface="+mn-lt"/>
                          <a:ea typeface="+mn-ea"/>
                          <a:cs typeface="+mn-cs"/>
                        </a:rPr>
                        <a:t>흐름 제어</a:t>
                      </a:r>
                      <a:r>
                        <a:rPr lang="en-US" altLang="ko-KR" sz="1200" strike="noStrike" kern="1200" baseline="0" dirty="0">
                          <a:solidFill>
                            <a:schemeClr val="tx1"/>
                          </a:solidFill>
                          <a:effectLst/>
                          <a:latin typeface="+mn-lt"/>
                          <a:ea typeface="+mn-ea"/>
                          <a:cs typeface="+mn-cs"/>
                        </a:rPr>
                        <a:t>)</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구현</a:t>
                      </a:r>
                      <a:r>
                        <a:rPr lang="en-US" altLang="ko-KR" sz="1200" strike="noStrike" kern="1200" baseline="0" dirty="0">
                          <a:solidFill>
                            <a:schemeClr val="tx1"/>
                          </a:solidFill>
                          <a:effectLst/>
                          <a:latin typeface="+mn-lt"/>
                          <a:ea typeface="+mn-ea"/>
                          <a:cs typeface="+mn-cs"/>
                        </a:rPr>
                        <a:t>·</a:t>
                      </a:r>
                      <a:r>
                        <a:rPr lang="ko-KR" altLang="en-US" sz="1200" strike="noStrike" kern="1200" baseline="0" dirty="0">
                          <a:solidFill>
                            <a:schemeClr val="tx1"/>
                          </a:solidFill>
                          <a:effectLst/>
                          <a:latin typeface="+mn-lt"/>
                          <a:ea typeface="+mn-ea"/>
                          <a:cs typeface="+mn-cs"/>
                        </a:rPr>
                        <a:t>유지 부담 적음</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신규 기능 재활용</a:t>
                      </a:r>
                      <a:r>
                        <a:rPr lang="en-US" altLang="ko-KR" sz="1200" strike="noStrike" kern="1200" baseline="0" dirty="0">
                          <a:solidFill>
                            <a:schemeClr val="tx1"/>
                          </a:solidFill>
                          <a:effectLst/>
                          <a:latin typeface="+mn-lt"/>
                          <a:ea typeface="+mn-ea"/>
                          <a:cs typeface="+mn-cs"/>
                        </a:rPr>
                        <a:t>)</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실제 서비스 관점 유리 </a:t>
                      </a:r>
                      <a:r>
                        <a:rPr lang="en-US" altLang="ko-KR" sz="1200" strike="noStrike" kern="1200" baseline="0" dirty="0">
                          <a:solidFill>
                            <a:schemeClr val="tx1"/>
                          </a:solidFill>
                          <a:effectLst/>
                          <a:latin typeface="+mn-lt"/>
                          <a:ea typeface="+mn-ea"/>
                          <a:cs typeface="+mn-cs"/>
                        </a:rPr>
                        <a:t>(Heavy </a:t>
                      </a:r>
                      <a:r>
                        <a:rPr lang="ko-KR" altLang="en-US" sz="1200" strike="noStrike" kern="1200" baseline="0" dirty="0">
                          <a:solidFill>
                            <a:schemeClr val="tx1"/>
                          </a:solidFill>
                          <a:effectLst/>
                          <a:latin typeface="+mn-lt"/>
                          <a:ea typeface="+mn-ea"/>
                          <a:cs typeface="+mn-cs"/>
                        </a:rPr>
                        <a:t>요청</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요청 인증</a:t>
                      </a:r>
                      <a:r>
                        <a:rPr lang="en-US" altLang="ko-KR" sz="1200" strike="noStrike" kern="1200" baseline="0" dirty="0">
                          <a:solidFill>
                            <a:schemeClr val="tx1"/>
                          </a:solidFill>
                          <a:effectLst/>
                          <a:latin typeface="+mn-lt"/>
                          <a:ea typeface="+mn-ea"/>
                          <a:cs typeface="+mn-cs"/>
                        </a:rPr>
                        <a:t>∙</a:t>
                      </a:r>
                      <a:r>
                        <a:rPr lang="ko-KR" altLang="en-US" sz="1200" strike="noStrike" kern="1200" baseline="0" dirty="0">
                          <a:solidFill>
                            <a:schemeClr val="tx1"/>
                          </a:solidFill>
                          <a:effectLst/>
                          <a:latin typeface="+mn-lt"/>
                          <a:ea typeface="+mn-ea"/>
                          <a:cs typeface="+mn-cs"/>
                        </a:rPr>
                        <a:t>재시도 처리</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서버 증설 등 </a:t>
                      </a:r>
                      <a:r>
                        <a:rPr lang="en-US" altLang="ko-KR" sz="1200" strike="noStrike" kern="1200" baseline="0" dirty="0">
                          <a:solidFill>
                            <a:schemeClr val="tx1"/>
                          </a:solidFill>
                          <a:effectLst/>
                          <a:latin typeface="+mn-lt"/>
                          <a:ea typeface="+mn-ea"/>
                          <a:cs typeface="+mn-cs"/>
                        </a:rPr>
                        <a:t>)</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한 프로세스 내부 호출</a:t>
                      </a:r>
                      <a:r>
                        <a:rPr lang="en-US" altLang="ko-KR" sz="1200" strike="noStrike" baseline="0" dirty="0">
                          <a:solidFill>
                            <a:schemeClr val="tx1"/>
                          </a:solidFill>
                          <a:effectLst/>
                        </a:rPr>
                        <a:t> - </a:t>
                      </a:r>
                      <a:r>
                        <a:rPr lang="ko-KR" altLang="en-US" sz="1200" strike="noStrike" dirty="0">
                          <a:solidFill>
                            <a:schemeClr val="tx1"/>
                          </a:solidFill>
                          <a:effectLst/>
                        </a:rPr>
                        <a:t>원격 호출</a:t>
                      </a:r>
                      <a:r>
                        <a:rPr lang="en-US" altLang="ko-KR" sz="1200" strike="noStrike" dirty="0">
                          <a:solidFill>
                            <a:schemeClr val="tx1"/>
                          </a:solidFill>
                          <a:effectLst/>
                        </a:rPr>
                        <a:t>·</a:t>
                      </a:r>
                      <a:r>
                        <a:rPr lang="ko-KR" altLang="en-US" sz="1200" strike="noStrike" dirty="0">
                          <a:solidFill>
                            <a:schemeClr val="tx1"/>
                          </a:solidFill>
                          <a:effectLst/>
                        </a:rPr>
                        <a:t>보조 프로세스 경유 없음 </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비용 함수</a:t>
                      </a:r>
                      <a:r>
                        <a:rPr lang="en-US" altLang="ko-KR" sz="1200" strike="noStrike" dirty="0">
                          <a:solidFill>
                            <a:schemeClr val="tx1"/>
                          </a:solidFill>
                          <a:effectLst/>
                        </a:rPr>
                        <a:t>, P/D </a:t>
                      </a:r>
                      <a:r>
                        <a:rPr lang="ko-KR" altLang="en-US" sz="1200" strike="noStrike" dirty="0">
                          <a:solidFill>
                            <a:schemeClr val="tx1"/>
                          </a:solidFill>
                          <a:effectLst/>
                        </a:rPr>
                        <a:t>결정 정책 변경 용이</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시스템 </a:t>
                      </a:r>
                      <a:r>
                        <a:rPr lang="en-US" altLang="ko-KR" sz="1200" strike="noStrike" dirty="0">
                          <a:solidFill>
                            <a:schemeClr val="tx1"/>
                          </a:solidFill>
                          <a:effectLst/>
                        </a:rPr>
                        <a:t>POC </a:t>
                      </a:r>
                      <a:r>
                        <a:rPr lang="ko-KR" altLang="en-US" sz="1200" strike="noStrike" dirty="0">
                          <a:solidFill>
                            <a:schemeClr val="tx1"/>
                          </a:solidFill>
                          <a:effectLst/>
                        </a:rPr>
                        <a:t>관점 유리 </a:t>
                      </a:r>
                      <a:r>
                        <a:rPr lang="en-US" altLang="ko-KR" sz="1200" strike="noStrike" dirty="0">
                          <a:solidFill>
                            <a:schemeClr val="tx1"/>
                          </a:solidFill>
                          <a:effectLst/>
                        </a:rPr>
                        <a:t>(K8s·</a:t>
                      </a:r>
                      <a:r>
                        <a:rPr lang="ko-KR" altLang="en-US" sz="1200" strike="noStrike" dirty="0">
                          <a:solidFill>
                            <a:schemeClr val="tx1"/>
                          </a:solidFill>
                          <a:effectLst/>
                        </a:rPr>
                        <a:t>프록시 불필요</a:t>
                      </a:r>
                      <a:r>
                        <a:rPr lang="en-US" altLang="ko-KR" sz="1200" strike="noStrike" dirty="0">
                          <a:solidFill>
                            <a:schemeClr val="tx1"/>
                          </a:solidFill>
                          <a:effectLst/>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a:solidFill>
                            <a:schemeClr val="tx1">
                              <a:lumMod val="50000"/>
                              <a:lumOff val="50000"/>
                            </a:schemeClr>
                          </a:solidFill>
                        </a:rPr>
                        <a:t>단점</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프로세스간 호출 및 경유를 통해 시간 증가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K8s, </a:t>
                      </a:r>
                      <a:r>
                        <a:rPr lang="ko-KR" altLang="en-US" sz="1200" strike="noStrike" baseline="0" dirty="0">
                          <a:solidFill>
                            <a:schemeClr val="tx1"/>
                          </a:solidFill>
                          <a:effectLst/>
                        </a:rPr>
                        <a:t>프록시로 인한 운영 부담</a:t>
                      </a:r>
                      <a:r>
                        <a:rPr lang="en-US" altLang="ko-KR" sz="1200" strike="noStrike" baseline="0" dirty="0">
                          <a:solidFill>
                            <a:schemeClr val="tx1"/>
                          </a:solidFill>
                          <a:effectLst/>
                        </a:rPr>
                        <a:t> </a:t>
                      </a:r>
                      <a:r>
                        <a:rPr lang="ko-KR" altLang="en-US" sz="1200" strike="noStrike" baseline="0" dirty="0">
                          <a:solidFill>
                            <a:schemeClr val="tx1"/>
                          </a:solidFill>
                          <a:effectLst/>
                        </a:rPr>
                        <a:t>및 </a:t>
                      </a:r>
                      <a:r>
                        <a:rPr lang="en-US" altLang="ko-KR" sz="1200" strike="noStrike" baseline="0" dirty="0">
                          <a:solidFill>
                            <a:schemeClr val="tx1"/>
                          </a:solidFill>
                          <a:effectLst/>
                        </a:rPr>
                        <a:t>OSS </a:t>
                      </a:r>
                      <a:r>
                        <a:rPr lang="ko-KR" altLang="en-US" sz="1200" strike="noStrike" baseline="0" dirty="0">
                          <a:solidFill>
                            <a:schemeClr val="tx1"/>
                          </a:solidFill>
                          <a:effectLst/>
                        </a:rPr>
                        <a:t>버전업 시 유지보수 부담</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Routing, Dispatching</a:t>
                      </a:r>
                      <a:r>
                        <a:rPr lang="ko-KR" altLang="en-US" sz="1200" strike="noStrike" baseline="0" dirty="0">
                          <a:solidFill>
                            <a:schemeClr val="tx1"/>
                          </a:solidFill>
                          <a:effectLst/>
                        </a:rPr>
                        <a:t>이 단일 프로세스 내 처리 </a:t>
                      </a:r>
                      <a:r>
                        <a:rPr lang="en-US" altLang="ko-KR" sz="1200" strike="noStrike" baseline="0" dirty="0">
                          <a:solidFill>
                            <a:schemeClr val="tx1"/>
                          </a:solidFill>
                          <a:effectLst/>
                        </a:rPr>
                        <a:t>-&gt; </a:t>
                      </a:r>
                      <a:r>
                        <a:rPr lang="ko-KR" altLang="en-US" sz="1200" strike="noStrike" baseline="0" dirty="0">
                          <a:solidFill>
                            <a:schemeClr val="tx1"/>
                          </a:solidFill>
                          <a:effectLst/>
                        </a:rPr>
                        <a:t>병목</a:t>
                      </a:r>
                      <a:r>
                        <a:rPr lang="en-US" altLang="ko-KR" sz="1200" strike="noStrike" baseline="0" dirty="0">
                          <a:solidFill>
                            <a:schemeClr val="tx1"/>
                          </a:solidFill>
                          <a:effectLst/>
                        </a:rPr>
                        <a:t>, </a:t>
                      </a:r>
                      <a:r>
                        <a:rPr lang="ko-KR" altLang="en-US" sz="1200" strike="noStrike" baseline="0" dirty="0">
                          <a:solidFill>
                            <a:schemeClr val="tx1"/>
                          </a:solidFill>
                          <a:effectLst/>
                        </a:rPr>
                        <a:t>장애</a:t>
                      </a:r>
                      <a:r>
                        <a:rPr lang="en-US" altLang="ko-KR" sz="1200" strike="noStrike" baseline="0" dirty="0">
                          <a:solidFill>
                            <a:schemeClr val="tx1"/>
                          </a:solidFill>
                          <a:effectLst/>
                        </a:rPr>
                        <a:t>(SPOF) </a:t>
                      </a:r>
                      <a:r>
                        <a:rPr lang="ko-KR" altLang="en-US" sz="1200" strike="noStrike" baseline="0" dirty="0">
                          <a:solidFill>
                            <a:schemeClr val="tx1"/>
                          </a:solidFill>
                          <a:effectLst/>
                        </a:rPr>
                        <a:t>위험</a:t>
                      </a:r>
                      <a:endParaRPr lang="en-US" altLang="ko-KR" sz="1200" strike="noStrike" baseline="0" dirty="0">
                        <a:solidFill>
                          <a:schemeClr val="tx1"/>
                        </a:solidFill>
                        <a:effectLst/>
                      </a:endParaRP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각 </a:t>
                      </a:r>
                      <a:r>
                        <a:rPr lang="ko-KR" altLang="en-US" sz="1200" strike="noStrike" baseline="0" dirty="0" err="1">
                          <a:solidFill>
                            <a:schemeClr val="tx1"/>
                          </a:solidFill>
                          <a:effectLst/>
                        </a:rPr>
                        <a:t>레플리카가</a:t>
                      </a:r>
                      <a:r>
                        <a:rPr lang="ko-KR" altLang="en-US" sz="1200" strike="noStrike" baseline="0" dirty="0">
                          <a:solidFill>
                            <a:schemeClr val="tx1"/>
                          </a:solidFill>
                          <a:effectLst/>
                        </a:rPr>
                        <a:t> 전체 서버의 </a:t>
                      </a:r>
                      <a:r>
                        <a:rPr lang="en-US" altLang="ko-KR" sz="1200" strike="noStrike" baseline="0" dirty="0">
                          <a:solidFill>
                            <a:schemeClr val="tx1"/>
                          </a:solidFill>
                          <a:effectLst/>
                        </a:rPr>
                        <a:t>State</a:t>
                      </a:r>
                      <a:r>
                        <a:rPr lang="ko-KR" altLang="en-US" sz="1200" strike="noStrike" baseline="0" dirty="0">
                          <a:solidFill>
                            <a:schemeClr val="tx1"/>
                          </a:solidFill>
                          <a:effectLst/>
                        </a:rPr>
                        <a:t>를 처리하므로 서버 </a:t>
                      </a:r>
                      <a:r>
                        <a:rPr lang="ko-KR" altLang="en-US" sz="1200" strike="noStrike" baseline="0" dirty="0" err="1">
                          <a:solidFill>
                            <a:schemeClr val="tx1"/>
                          </a:solidFill>
                          <a:effectLst/>
                        </a:rPr>
                        <a:t>확장시</a:t>
                      </a:r>
                      <a:r>
                        <a:rPr lang="ko-KR" altLang="en-US" sz="1200" strike="noStrike" baseline="0" dirty="0">
                          <a:solidFill>
                            <a:schemeClr val="tx1"/>
                          </a:solidFill>
                          <a:effectLst/>
                        </a:rPr>
                        <a:t> 갱신 부하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a:t>
                      </a:r>
                      <a:r>
                        <a:rPr lang="en-US" altLang="ko-KR" sz="1000" b="0" strike="noStrike" dirty="0">
                          <a:solidFill>
                            <a:schemeClr val="tx1"/>
                          </a:solidFill>
                        </a:rPr>
                        <a:t>(</a:t>
                      </a:r>
                      <a:r>
                        <a:rPr lang="ko-KR" altLang="en-US" sz="1000" b="0" strike="noStrike" dirty="0">
                          <a:solidFill>
                            <a:schemeClr val="tx1"/>
                          </a:solidFill>
                        </a:rPr>
                        <a:t>토큰 비용</a:t>
                      </a:r>
                      <a:r>
                        <a:rPr lang="en-US" altLang="ko-KR" sz="1000" b="0" strike="noStrike" dirty="0">
                          <a:solidFill>
                            <a:schemeClr val="tx1"/>
                          </a:solidFill>
                        </a:rPr>
                        <a:t>, M/M</a:t>
                      </a:r>
                      <a:r>
                        <a:rPr lang="en-US" altLang="ko-KR" sz="1000" b="0" strike="noStrike" baseline="0" dirty="0">
                          <a:solidFill>
                            <a:schemeClr val="tx1"/>
                          </a:solidFill>
                        </a:rPr>
                        <a:t>, </a:t>
                      </a:r>
                      <a:r>
                        <a:rPr lang="ko-KR" altLang="en-US" sz="1000" b="0" strike="noStrike" baseline="0" dirty="0">
                          <a:solidFill>
                            <a:schemeClr val="tx1"/>
                          </a:solidFill>
                        </a:rPr>
                        <a:t>모듈 수</a:t>
                      </a:r>
                      <a:r>
                        <a:rPr lang="en-US" altLang="ko-KR" sz="1000" b="0" strike="noStrike" dirty="0">
                          <a:solidFill>
                            <a:schemeClr val="tx1"/>
                          </a:solidFill>
                        </a:rPr>
                        <a:t>)</a:t>
                      </a:r>
                    </a:p>
                    <a:p>
                      <a:pPr marL="228600" indent="-228600" latinLnBrk="1">
                        <a:lnSpc>
                          <a:spcPct val="100000"/>
                        </a:lnSpc>
                        <a:buFont typeface="Wingdings" panose="05000000000000000000" pitchFamily="2" charset="2"/>
                        <a:buChar char="§"/>
                      </a:pPr>
                      <a:r>
                        <a:rPr lang="en-US" altLang="ko-KR" sz="1000" b="0" strike="noStrike" baseline="0" dirty="0">
                          <a:solidFill>
                            <a:schemeClr val="tx1"/>
                          </a:solidFill>
                        </a:rPr>
                        <a:t>Scalability</a:t>
                      </a:r>
                      <a:r>
                        <a:rPr lang="en-US" altLang="ko-KR" sz="1000" b="0" strike="noStrike" baseline="0" dirty="0">
                          <a:solidFill>
                            <a:schemeClr val="tx1"/>
                          </a:solidFill>
                        </a:rPr>
                        <a:t>(Scaling Efficiency)</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strike="noStrike" baseline="0" dirty="0">
                          <a:solidFill>
                            <a:schemeClr val="tx1"/>
                          </a:solidFill>
                          <a:latin typeface="맑은 고딕" panose="020B0503020000020004" pitchFamily="50" charset="-127"/>
                          <a:ea typeface="+mn-ea"/>
                        </a:rPr>
                        <a:t> </a:t>
                      </a:r>
                      <a:r>
                        <a:rPr lang="en-US" altLang="ko-KR" sz="1000" b="0" strike="noStrike" baseline="0" dirty="0">
                          <a:solidFill>
                            <a:schemeClr val="tx1"/>
                          </a:solidFill>
                          <a:latin typeface="맑은 고딕" panose="020B0503020000020004" pitchFamily="50" charset="-127"/>
                          <a:ea typeface="+mn-ea"/>
                        </a:rPr>
                        <a:t>3,360</a:t>
                      </a:r>
                      <a:r>
                        <a:rPr lang="en-US" altLang="ko-KR" sz="1000" strike="noStrike" baseline="0" dirty="0">
                          <a:solidFill>
                            <a:schemeClr val="tx1"/>
                          </a:solidFill>
                          <a:latin typeface="맑은 고딕" panose="020B0503020000020004" pitchFamily="50" charset="-127"/>
                          <a:ea typeface="+mn-ea"/>
                        </a:rPr>
                        <a:t>(x1.05)</a:t>
                      </a:r>
                      <a:endParaRPr lang="en-US" altLang="ko-KR" sz="9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b="0" dirty="0">
                          <a:solidFill>
                            <a:srgbClr val="000000"/>
                          </a:solidFill>
                          <a:latin typeface="+mn-lt"/>
                          <a:ea typeface="맑은 고딕"/>
                        </a:rPr>
                        <a:t>2,060</a:t>
                      </a:r>
                      <a:r>
                        <a:rPr lang="en-US" altLang="ko-KR" sz="1000" b="0" dirty="0">
                          <a:solidFill>
                            <a:srgbClr val="000000"/>
                          </a:solidFill>
                          <a:latin typeface="+mn-lt"/>
                          <a:ea typeface="맑은 고딕"/>
                        </a:rPr>
                        <a:t>(×0.90)</a:t>
                      </a:r>
                      <a:r>
                        <a:rPr lang="en-US" altLang="ko-KR" sz="1000" b="0" dirty="0">
                          <a:solidFill>
                            <a:srgbClr val="000000"/>
                          </a:solidFill>
                          <a:latin typeface="+mn-lt"/>
                          <a:ea typeface="맑은 고딕"/>
                        </a:rPr>
                        <a:t>,</a:t>
                      </a:r>
                      <a:r>
                        <a:rPr lang="en-US" altLang="ko-KR" sz="1000" b="0" baseline="0" dirty="0">
                          <a:solidFill>
                            <a:srgbClr val="000000"/>
                          </a:solidFill>
                          <a:latin typeface="+mn-lt"/>
                          <a:ea typeface="맑은 고딕"/>
                        </a:rPr>
                        <a:t> </a:t>
                      </a:r>
                      <a:r>
                        <a:rPr lang="en-US" altLang="ko-KR" sz="1000" b="0" dirty="0">
                          <a:solidFill>
                            <a:srgbClr val="000000"/>
                          </a:solidFill>
                          <a:latin typeface="+mn-lt"/>
                          <a:ea typeface="맑은 고딕"/>
                        </a:rPr>
                        <a:t>48</a:t>
                      </a:r>
                      <a:r>
                        <a:rPr lang="en-US" altLang="ko-KR" sz="1000" b="0" dirty="0">
                          <a:solidFill>
                            <a:srgbClr val="000000"/>
                          </a:solidFill>
                          <a:latin typeface="+mn-lt"/>
                          <a:ea typeface="맑은 고딕"/>
                        </a:rPr>
                        <a:t>(×0.91)</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b="0" dirty="0">
                          <a:solidFill>
                            <a:srgbClr val="000000"/>
                          </a:solidFill>
                          <a:latin typeface="+mn-lt"/>
                          <a:ea typeface="맑은 고딕"/>
                        </a:rPr>
                        <a:t/>
                      </a:r>
                      <a:r>
                        <a:rPr lang="en-US" altLang="ko-KR" sz="1000" b="0" baseline="0" dirty="0">
                          <a:solidFill>
                            <a:srgbClr val="000000"/>
                          </a:solidFill>
                          <a:latin typeface="+mn-lt"/>
                          <a:ea typeface="맑은 고딕"/>
                        </a:rPr>
                        <a:t>$1.02, 0.16, 2.7</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chemeClr val="accent1"/>
                          </a:solidFill>
                          <a:latin typeface="+mn-lt"/>
                          <a:ea typeface="맑은 고딕"/>
                        </a:rPr>
                        <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93%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a:t>
                      </a:r>
                      <a:r>
                        <a:rPr lang="en-US" altLang="ko-KR" sz="1000" b="0" strike="noStrike" dirty="0">
                          <a:solidFill>
                            <a:schemeClr val="tx1"/>
                          </a:solidFill>
                        </a:rPr>
                        <a:t>(</a:t>
                      </a:r>
                      <a:r>
                        <a:rPr lang="ko-KR" altLang="en-US" sz="1000" b="0" strike="noStrike" dirty="0">
                          <a:solidFill>
                            <a:schemeClr val="tx1"/>
                          </a:solidFill>
                        </a:rPr>
                        <a:t>토큰 비용</a:t>
                      </a:r>
                      <a:r>
                        <a:rPr lang="en-US" altLang="ko-KR" sz="1000" b="0" strike="noStrike" dirty="0">
                          <a:solidFill>
                            <a:schemeClr val="tx1"/>
                          </a:solidFill>
                        </a:rPr>
                        <a:t>, M/M</a:t>
                      </a:r>
                      <a:r>
                        <a:rPr lang="en-US" altLang="ko-KR" sz="1000" b="0" strike="noStrike" baseline="0" dirty="0">
                          <a:solidFill>
                            <a:schemeClr val="tx1"/>
                          </a:solidFill>
                        </a:rPr>
                        <a:t>, </a:t>
                      </a:r>
                      <a:r>
                        <a:rPr lang="ko-KR" altLang="en-US" sz="1000" b="0" strike="noStrike" baseline="0" dirty="0">
                          <a:solidFill>
                            <a:schemeClr val="tx1"/>
                          </a:solidFill>
                        </a:rPr>
                        <a:t>모듈 수</a:t>
                      </a:r>
                      <a:r>
                        <a:rPr lang="en-US" altLang="ko-KR" sz="1000" b="0" strike="noStrike" baseline="0" dirty="0">
                          <a:solidFill>
                            <a:schemeClr val="tx1"/>
                          </a:solidFill>
                        </a:rPr>
                        <a:t>)</a:t>
                      </a:r>
                    </a:p>
                    <a:p>
                      <a:pPr marL="228600" indent="-228600" latinLnBrk="1">
                        <a:lnSpc>
                          <a:spcPct val="100000"/>
                        </a:lnSpc>
                        <a:buFont typeface="Wingdings" panose="05000000000000000000" pitchFamily="2" charset="2"/>
                        <a:buChar char="§"/>
                      </a:pPr>
                      <a:r>
                        <a:rPr lang="en-US" altLang="ko-KR" sz="1000" b="0" strike="noStrike" baseline="0" dirty="0">
                          <a:solidFill>
                            <a:schemeClr val="tx1"/>
                          </a:solidFill>
                        </a:rPr>
                        <a:t>Scalability</a:t>
                      </a:r>
                      <a:r>
                        <a:rPr lang="en-US" altLang="ko-KR" sz="1000" b="0" strike="noStrike" baseline="0" dirty="0">
                          <a:solidFill>
                            <a:schemeClr val="tx1"/>
                          </a:solidFill>
                        </a:rPr>
                        <a:t>(Scaling Efficiency)</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strike="noStrike" baseline="0" dirty="0">
                          <a:solidFill>
                            <a:schemeClr val="tx1"/>
                          </a:solidFill>
                          <a:latin typeface="맑은 고딕" panose="020B0503020000020004" pitchFamily="50" charset="-127"/>
                          <a:ea typeface="+mn-ea"/>
                        </a:rPr>
                        <a:t> </a:t>
                      </a:r>
                      <a:r>
                        <a:rPr kumimoji="0" lang="en-US" altLang="ko-KR" sz="1000" b="0" i="0" u="none" strike="noStrike" kern="1200" cap="none" spc="0" normalizeH="0" baseline="0" noProof="0" dirty="0">
                          <a:ln>
                            <a:noFill/>
                          </a:ln>
                          <a:solidFill>
                            <a:srgbClr val="000000"/>
                          </a:solidFill>
                          <a:effectLst/>
                          <a:uLnTx/>
                          <a:uFillTx/>
                          <a:latin typeface="+mn-lt"/>
                          <a:ea typeface="맑은 고딕"/>
                          <a:cs typeface="+mn-cs"/>
                        </a:rPr>
                        <a:t>3,340</a:t>
                      </a:r>
                      <a:r>
                        <a:rPr kumimoji="0" lang="en-US" altLang="ko-KR" sz="1000" b="0" i="0" u="none" strike="noStrike" kern="1200" cap="none" spc="0" normalizeH="0" baseline="0" noProof="0" dirty="0">
                          <a:ln>
                            <a:noFill/>
                          </a:ln>
                          <a:solidFill>
                            <a:srgbClr val="000000"/>
                          </a:solidFill>
                          <a:effectLst/>
                          <a:uLnTx/>
                          <a:uFillTx/>
                          <a:latin typeface="+mn-lt"/>
                          <a:ea typeface="맑은 고딕"/>
                          <a:cs typeface="+mn-cs"/>
                        </a:rPr>
                        <a:t>(×1.04)</a:t>
                      </a:r>
                      <a:endParaRPr lang="en-US" altLang="ko-KR" sz="8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0000FF"/>
                          </a:solidFill>
                          <a:latin typeface="+mn-lt"/>
                          <a:ea typeface="맑은 고딕"/>
                        </a:rPr>
                        <a:t/>
                      </a:r>
                      <a:r>
                        <a:rPr lang="ko-KR" altLang="en-US" sz="1000" b="0" dirty="0">
                          <a:solidFill>
                            <a:srgbClr val="1A1A1A"/>
                          </a:solidFill>
                          <a:latin typeface="+mn-lt"/>
                          <a:ea typeface="맑은 고딕"/>
                        </a:rPr>
                        <a:t> </a:t>
                      </a:r>
                      <a:r>
                        <a:rPr lang="en-US" altLang="ko-KR" sz="1000" b="0" dirty="0">
                          <a:solidFill>
                            <a:srgbClr val="1A1A1A"/>
                          </a:solidFill>
                          <a:latin typeface="+mn-lt"/>
                          <a:ea typeface="맑은 고딕"/>
                        </a:rPr>
                        <a:t>1,940</a:t>
                      </a:r>
                      <a:r>
                        <a:rPr lang="en-US" altLang="ko-KR" sz="1000" b="0" dirty="0">
                          <a:solidFill>
                            <a:srgbClr val="1A1A1A"/>
                          </a:solidFill>
                          <a:latin typeface="+mn-lt"/>
                          <a:ea typeface="맑은 고딕"/>
                        </a:rPr>
                        <a:t>(×0.84)</a:t>
                      </a:r>
                      <a:r>
                        <a:rPr lang="en-US" altLang="ko-KR" sz="1000" b="0" dirty="0">
                          <a:solidFill>
                            <a:srgbClr val="1A1A1A"/>
                          </a:solidFill>
                          <a:latin typeface="+mn-lt"/>
                          <a:ea typeface="맑은 고딕"/>
                        </a:rPr>
                        <a:t>, 48</a:t>
                      </a:r>
                      <a:r>
                        <a:rPr lang="en-US" altLang="ko-KR" sz="1000" b="0" dirty="0">
                          <a:solidFill>
                            <a:srgbClr val="1A1A1A"/>
                          </a:solidFill>
                          <a:latin typeface="+mn-lt"/>
                          <a:ea typeface="맑은 고딕"/>
                        </a:rPr>
                        <a:t>(×0.91)</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0000FF"/>
                          </a:solidFill>
                          <a:latin typeface="+mn-lt"/>
                          <a:ea typeface="맑은 고딕"/>
                        </a:rPr>
                        <a:t/>
                      </a:r>
                      <a:r>
                        <a:rPr lang="ko-KR" altLang="en-US" sz="1000" b="0" dirty="0">
                          <a:solidFill>
                            <a:srgbClr val="1A1A1A"/>
                          </a:solidFill>
                          <a:latin typeface="+mn-lt"/>
                          <a:ea typeface="맑은 고딕"/>
                        </a:rPr>
                        <a:t/>
                      </a:r>
                      <a:r>
                        <a:rPr lang="en-US" altLang="ko-KR" sz="1000" b="0" dirty="0">
                          <a:solidFill>
                            <a:srgbClr val="1A1A1A"/>
                          </a:solidFill>
                          <a:latin typeface="+mn-lt"/>
                          <a:ea typeface="맑은 고딕"/>
                        </a:rPr>
                        <a:t>$0.48, 0.15, 2.3</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64%</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DP0. </a:t>
            </a:r>
            <a:r>
              <a:rPr lang="en-US" altLang="ko-KR" dirty="0" err="1"/>
              <a:t>요청</a:t>
            </a:r>
            <a:r>
              <a:rPr lang="en-US" altLang="ko-KR" dirty="0"/>
              <a:t> </a:t>
            </a:r>
            <a:r>
              <a:rPr lang="en-US" altLang="ko-KR" dirty="0" err="1"/>
              <a:t>조율</a:t>
            </a:r>
            <a:r>
              <a:rPr lang="en-US" altLang="ko-KR" dirty="0"/>
              <a:t> </a:t>
            </a:r>
            <a:r>
              <a:rPr lang="en-US" altLang="ko-KR" dirty="0" err="1"/>
              <a:t>계층</a:t>
            </a:r>
            <a:r>
              <a:rPr lang="en-US" altLang="ko-KR" dirty="0"/>
              <a:t> (Orchestration) </a:t>
            </a:r>
            <a:r>
              <a:rPr lang="en-US" altLang="ko-KR" dirty="0" err="1"/>
              <a:t>설계</a:t>
            </a:r>
            <a:r>
              <a:rPr lang="en-US" altLang="ko-KR" dirty="0"/>
              <a:t> - </a:t>
            </a:r>
            <a:r>
              <a:rPr lang="en-US" altLang="ko-KR" dirty="0" err="1"/>
              <a:t>구조</a:t>
            </a:r>
            <a:endParaRPr lang="ko-KR" altLang="en-US"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요청을 어떤 서버로 전달할 것인가</a:t>
            </a:r>
            <a:r>
              <a:rPr lang="en-US" altLang="ko-KR" sz="1400" b="1" dirty="0">
                <a:solidFill>
                  <a:schemeClr val="bg1"/>
                </a:solidFill>
              </a:rPr>
              <a:t>(</a:t>
            </a:r>
            <a:r>
              <a:rPr lang="ko-KR" altLang="en-US" sz="1400" b="1" dirty="0">
                <a:solidFill>
                  <a:schemeClr val="bg1"/>
                </a:solidFill>
              </a:rPr>
              <a:t>요청 조율</a:t>
            </a:r>
            <a:r>
              <a:rPr lang="en-US" altLang="ko-KR" sz="1400" b="1" dirty="0">
                <a:solidFill>
                  <a:schemeClr val="bg1"/>
                </a:solidFill>
              </a:rPr>
              <a:t>)</a:t>
            </a:r>
            <a:r>
              <a:rPr lang="ko-KR" altLang="en-US" sz="1400" b="1" dirty="0">
                <a:solidFill>
                  <a:schemeClr val="bg1"/>
                </a:solidFill>
              </a:rPr>
              <a:t>를 담당하는 계층 설계</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10</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ko-KR" altLang="en-US" sz="1100" dirty="0">
                <a:solidFill>
                  <a:srgbClr val="404040"/>
                </a:solidFill>
                <a:ea typeface="맑은 고딕"/>
              </a:rPr>
              <a:t>“검증된 </a:t>
            </a:r>
            <a:r>
              <a:rPr lang="en-US" altLang="ko-KR" sz="1100" dirty="0">
                <a:solidFill>
                  <a:srgbClr val="404040"/>
                </a:solidFill>
                <a:ea typeface="맑은 고딕"/>
              </a:rPr>
              <a:t>OSS </a:t>
            </a:r>
            <a:r>
              <a:rPr lang="ko-KR" altLang="en-US" sz="1100" dirty="0">
                <a:solidFill>
                  <a:srgbClr val="404040"/>
                </a:solidFill>
                <a:ea typeface="맑은 고딕"/>
              </a:rPr>
              <a:t>위에 설정</a:t>
            </a:r>
            <a:r>
              <a:rPr lang="en-US" altLang="ko-KR" sz="1100" dirty="0">
                <a:solidFill>
                  <a:srgbClr val="404040"/>
                </a:solidFill>
                <a:ea typeface="맑은 고딕"/>
              </a:rPr>
              <a:t>·</a:t>
            </a:r>
            <a:r>
              <a:rPr lang="ko-KR" altLang="en-US" sz="1100" dirty="0">
                <a:solidFill>
                  <a:srgbClr val="404040"/>
                </a:solidFill>
                <a:ea typeface="맑은 고딕"/>
              </a:rPr>
              <a:t>확장 모듈</a:t>
            </a:r>
            <a:r>
              <a:rPr lang="en-US" altLang="ko-KR" sz="1100" dirty="0">
                <a:solidFill>
                  <a:srgbClr val="404040"/>
                </a:solidFill>
                <a:ea typeface="맑은 고딕"/>
              </a:rPr>
              <a:t>(plugin)</a:t>
            </a:r>
            <a:r>
              <a:rPr lang="ko-KR" altLang="en-US" sz="1100" dirty="0">
                <a:solidFill>
                  <a:srgbClr val="404040"/>
                </a:solidFill>
                <a:ea typeface="맑은 고딕"/>
              </a:rPr>
              <a:t>로 이기종 메모리 인지 정책을 얹는 구조”</a:t>
            </a:r>
          </a:p>
        </p:txBody>
      </p:sp>
      <p:sp>
        <p:nvSpPr>
          <p:cNvPr id="106" name="TextBox 105"/>
          <p:cNvSpPr txBox="1"/>
          <p:nvPr/>
        </p:nvSpPr>
        <p:spPr>
          <a:xfrm>
            <a:off x="6534149" y="1383052"/>
            <a:ext cx="5448301" cy="430887"/>
          </a:xfrm>
          <a:prstGeom prst="rect">
            <a:avLst/>
          </a:prstGeom>
          <a:noFill/>
        </p:spPr>
        <p:txBody>
          <a:bodyPr wrap="square" rtlCol="0">
            <a:spAutoFit/>
          </a:bodyPr>
          <a:lstStyle/>
          <a:p>
            <a:r>
              <a:rPr lang="ko-KR" altLang="en-US" sz="1100" dirty="0">
                <a:solidFill>
                  <a:srgbClr val="404040"/>
                </a:solidFill>
                <a:ea typeface="맑은 고딕"/>
              </a:rPr>
              <a:t>“</a:t>
            </a:r>
            <a:r>
              <a:rPr lang="en-US" altLang="ko-KR" sz="1100" dirty="0">
                <a:solidFill>
                  <a:srgbClr val="404040"/>
                </a:solidFill>
                <a:ea typeface="맑은 고딕"/>
              </a:rPr>
              <a:t>Routing, Dispatching</a:t>
            </a:r>
            <a:r>
              <a:rPr lang="ko-KR" altLang="en-US" sz="1100" dirty="0">
                <a:solidFill>
                  <a:srgbClr val="404040"/>
                </a:solidFill>
                <a:ea typeface="맑은 고딕"/>
              </a:rPr>
              <a:t>을 한 프로세스에 모아 호출 경로를 줄이고</a:t>
            </a:r>
            <a:r>
              <a:rPr lang="en-US" altLang="ko-KR" sz="1100" dirty="0">
                <a:solidFill>
                  <a:srgbClr val="404040"/>
                </a:solidFill>
                <a:ea typeface="맑은 고딕"/>
              </a:rPr>
              <a:t>, </a:t>
            </a:r>
            <a:r>
              <a:rPr lang="ko-KR" altLang="en-US" sz="1100" dirty="0" err="1">
                <a:solidFill>
                  <a:srgbClr val="404040"/>
                </a:solidFill>
                <a:ea typeface="맑은 고딕"/>
              </a:rPr>
              <a:t>레플리카로</a:t>
            </a:r>
            <a:r>
              <a:rPr lang="ko-KR" altLang="en-US" sz="1100" dirty="0">
                <a:solidFill>
                  <a:srgbClr val="404040"/>
                </a:solidFill>
                <a:ea typeface="맑은 고딕"/>
              </a:rPr>
              <a:t> 늘리는 구조”</a:t>
            </a:r>
          </a:p>
        </p:txBody>
      </p:sp>
      <p:sp>
        <p:nvSpPr>
          <p:cNvPr id="546" name="실행 단추: 앞으로 또는 다음 545">
            <a:hlinkClick r:id="rId3" action="ppaction://hlinksldjump" highlightClick="1"/>
          </p:cNvPr>
          <p:cNvSpPr/>
          <p:nvPr/>
        </p:nvSpPr>
        <p:spPr>
          <a:xfrm>
            <a:off x="508836" y="3269217"/>
            <a:ext cx="311150" cy="2721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Rectangle 172"/>
          <p:cNvSpPr/>
          <p:nvPr/>
        </p:nvSpPr>
        <p:spPr>
          <a:xfrm>
            <a:off x="7337372" y="1782134"/>
            <a:ext cx="3566160" cy="2570877"/>
          </a:xfrm>
          <a:prstGeom prst="rect">
            <a:avLst/>
          </a:prstGeom>
          <a:solidFill>
            <a:srgbClr val="FFFFFF"/>
          </a:solidFill>
          <a:ln w="19050">
            <a:solidFill>
              <a:srgbClr val="C55A11"/>
            </a:solidFill>
          </a:ln>
          <a:effectLst/>
        </p:spPr>
        <p:txBody>
          <a:bodyPr rtlCol="0" anchor="ctr"/>
          <a:lstStyle/>
          <a:p>
            <a:pPr algn="ctr"/>
            <a:endParaRPr/>
          </a:p>
        </p:txBody>
      </p:sp>
      <p:sp>
        <p:nvSpPr>
          <p:cNvPr id="87" name="Rectangle 172"/>
          <p:cNvSpPr/>
          <p:nvPr/>
        </p:nvSpPr>
        <p:spPr>
          <a:xfrm>
            <a:off x="7293028" y="1814280"/>
            <a:ext cx="3566160" cy="2598429"/>
          </a:xfrm>
          <a:prstGeom prst="rect">
            <a:avLst/>
          </a:prstGeom>
          <a:solidFill>
            <a:srgbClr val="FFFFFF"/>
          </a:solidFill>
          <a:ln w="19050">
            <a:solidFill>
              <a:srgbClr val="C55A11"/>
            </a:solidFill>
          </a:ln>
          <a:effectLst/>
        </p:spPr>
        <p:txBody>
          <a:bodyPr rtlCol="0" anchor="ctr"/>
          <a:lstStyle/>
          <a:p>
            <a:pPr algn="ctr"/>
            <a:endParaRPr/>
          </a:p>
        </p:txBody>
      </p:sp>
      <p:cxnSp>
        <p:nvCxnSpPr>
          <p:cNvPr id="88" name="Connector 111"/>
          <p:cNvCxnSpPr/>
          <p:nvPr/>
        </p:nvCxnSpPr>
        <p:spPr>
          <a:xfrm>
            <a:off x="2103120" y="2861199"/>
            <a:ext cx="2971800" cy="0"/>
          </a:xfrm>
          <a:prstGeom prst="line">
            <a:avLst/>
          </a:prstGeom>
          <a:ln w="12700">
            <a:solidFill>
              <a:srgbClr val="404040"/>
            </a:solidFill>
            <a:tailEnd type="triangle"/>
          </a:ln>
        </p:spPr>
      </p:cxnSp>
      <p:sp>
        <p:nvSpPr>
          <p:cNvPr id="89" name="Rectangle 112"/>
          <p:cNvSpPr/>
          <p:nvPr/>
        </p:nvSpPr>
        <p:spPr>
          <a:xfrm>
            <a:off x="1234440" y="1827927"/>
            <a:ext cx="566928" cy="256032"/>
          </a:xfrm>
          <a:prstGeom prst="rect">
            <a:avLst/>
          </a:prstGeom>
          <a:solidFill>
            <a:srgbClr val="FFFFFF"/>
          </a:solidFill>
          <a:ln w="12700">
            <a:solidFill>
              <a:srgbClr val="7F7F7F"/>
            </a:solidFill>
          </a:ln>
          <a:effectLst/>
        </p:spPr>
        <p:txBody>
          <a:bodyPr wrap="square" lIns="36576" tIns="18288" rIns="36576" bIns="18288" rtlCol="0" anchor="ctr"/>
          <a:lstStyle/>
          <a:p>
            <a:pPr algn="ctr"/>
            <a:r>
              <a:rPr sz="800" b="1">
                <a:solidFill>
                  <a:srgbClr val="000000"/>
                </a:solidFill>
                <a:latin typeface="맑은 고딕"/>
                <a:ea typeface="맑은 고딕"/>
              </a:rPr>
              <a:t>Client</a:t>
            </a:r>
          </a:p>
        </p:txBody>
      </p:sp>
      <p:sp>
        <p:nvSpPr>
          <p:cNvPr id="90" name="Rectangle 113"/>
          <p:cNvSpPr/>
          <p:nvPr/>
        </p:nvSpPr>
        <p:spPr>
          <a:xfrm>
            <a:off x="1188719" y="2312559"/>
            <a:ext cx="973835" cy="640080"/>
          </a:xfrm>
          <a:prstGeom prst="rect">
            <a:avLst/>
          </a:prstGeom>
          <a:solidFill>
            <a:srgbClr val="FFFFFF"/>
          </a:solidFill>
          <a:ln w="15875">
            <a:solidFill>
              <a:srgbClr val="2E75B6"/>
            </a:solidFill>
          </a:ln>
          <a:effectLst/>
        </p:spPr>
        <p:txBody>
          <a:bodyPr rtlCol="0" anchor="ctr"/>
          <a:lstStyle/>
          <a:p>
            <a:pPr algn="ctr"/>
            <a:endParaRPr/>
          </a:p>
        </p:txBody>
      </p:sp>
      <p:sp>
        <p:nvSpPr>
          <p:cNvPr id="91" name="Rectangle 114"/>
          <p:cNvSpPr/>
          <p:nvPr/>
        </p:nvSpPr>
        <p:spPr>
          <a:xfrm>
            <a:off x="1188720" y="2312559"/>
            <a:ext cx="960120" cy="173736"/>
          </a:xfrm>
          <a:prstGeom prst="rect">
            <a:avLst/>
          </a:prstGeom>
          <a:solidFill>
            <a:srgbClr val="2E75B6"/>
          </a:solidFill>
          <a:ln w="12700">
            <a:solidFill>
              <a:srgbClr val="2E75B6"/>
            </a:solidFill>
          </a:ln>
          <a:effectLst/>
        </p:spPr>
        <p:txBody>
          <a:bodyPr wrap="square" lIns="45720" tIns="0" rIns="18288" bIns="0" rtlCol="0" anchor="ctr"/>
          <a:lstStyle/>
          <a:p>
            <a:pPr algn="l"/>
            <a:r>
              <a:rPr sz="800" b="1" dirty="0">
                <a:solidFill>
                  <a:srgbClr val="FFFFFF"/>
                </a:solidFill>
                <a:latin typeface="맑은 고딕"/>
                <a:ea typeface="맑은 고딕"/>
              </a:rPr>
              <a:t>«</a:t>
            </a:r>
            <a:r>
              <a:rPr lang="en-US" sz="800" b="1" dirty="0">
                <a:solidFill>
                  <a:srgbClr val="FFFFFF"/>
                </a:solidFill>
                <a:latin typeface="맑은 고딕"/>
                <a:ea typeface="맑은 고딕"/>
              </a:rPr>
              <a:t>process</a:t>
            </a:r>
            <a:r>
              <a:rPr sz="800" b="1" dirty="0">
                <a:solidFill>
                  <a:srgbClr val="FFFFFF"/>
                </a:solidFill>
                <a:latin typeface="맑은 고딕"/>
                <a:ea typeface="맑은 고딕"/>
              </a:rPr>
              <a:t>» </a:t>
            </a:r>
            <a:r>
              <a:rPr sz="800" b="1" dirty="0" err="1">
                <a:solidFill>
                  <a:srgbClr val="FFFFFF"/>
                </a:solidFill>
                <a:latin typeface="맑은 고딕"/>
                <a:ea typeface="맑은 고딕"/>
              </a:rPr>
              <a:t>프록시</a:t>
            </a:r>
            <a:endParaRPr sz="800" b="1" dirty="0">
              <a:solidFill>
                <a:srgbClr val="FFFFFF"/>
              </a:solidFill>
              <a:latin typeface="맑은 고딕"/>
              <a:ea typeface="맑은 고딕"/>
            </a:endParaRPr>
          </a:p>
        </p:txBody>
      </p:sp>
      <p:sp>
        <p:nvSpPr>
          <p:cNvPr id="92" name="Rectangle 123"/>
          <p:cNvSpPr/>
          <p:nvPr/>
        </p:nvSpPr>
        <p:spPr>
          <a:xfrm>
            <a:off x="2395728" y="1855359"/>
            <a:ext cx="2395728" cy="2583351"/>
          </a:xfrm>
          <a:prstGeom prst="rect">
            <a:avLst/>
          </a:prstGeom>
          <a:solidFill>
            <a:srgbClr val="FFFFFF"/>
          </a:solidFill>
          <a:ln w="15875">
            <a:solidFill>
              <a:srgbClr val="2F5597"/>
            </a:solidFill>
          </a:ln>
          <a:effectLst/>
        </p:spPr>
        <p:txBody>
          <a:bodyPr rtlCol="0" anchor="ctr"/>
          <a:lstStyle/>
          <a:p>
            <a:pPr algn="ctr"/>
            <a:endParaRPr/>
          </a:p>
        </p:txBody>
      </p:sp>
      <p:sp>
        <p:nvSpPr>
          <p:cNvPr id="93" name="Rectangle 124"/>
          <p:cNvSpPr/>
          <p:nvPr/>
        </p:nvSpPr>
        <p:spPr>
          <a:xfrm>
            <a:off x="2395728" y="1855359"/>
            <a:ext cx="2395728" cy="173736"/>
          </a:xfrm>
          <a:prstGeom prst="rect">
            <a:avLst/>
          </a:prstGeom>
          <a:solidFill>
            <a:srgbClr val="2F5597"/>
          </a:solidFill>
          <a:ln w="12700">
            <a:solidFill>
              <a:srgbClr val="2F5597"/>
            </a:solidFill>
          </a:ln>
          <a:effectLst/>
        </p:spPr>
        <p:txBody>
          <a:bodyPr wrap="square" lIns="45720" tIns="0" rIns="18288" bIns="0" rtlCol="0" anchor="ctr"/>
          <a:lstStyle/>
          <a:p>
            <a:pPr algn="l"/>
            <a:r>
              <a:rPr sz="800" b="1" dirty="0">
                <a:solidFill>
                  <a:srgbClr val="FFFFFF"/>
                </a:solidFill>
                <a:latin typeface="맑은 고딕"/>
                <a:ea typeface="맑은 고딕"/>
              </a:rPr>
              <a:t>«process» Router  (</a:t>
            </a:r>
            <a:r>
              <a:rPr sz="800" b="1" dirty="0" err="1">
                <a:solidFill>
                  <a:srgbClr val="FFFFFF"/>
                </a:solidFill>
                <a:latin typeface="맑은 고딕"/>
                <a:ea typeface="맑은 고딕"/>
              </a:rPr>
              <a:t>llm</a:t>
            </a:r>
            <a:r>
              <a:rPr sz="800" b="1" dirty="0">
                <a:solidFill>
                  <a:srgbClr val="FFFFFF"/>
                </a:solidFill>
                <a:latin typeface="맑은 고딕"/>
                <a:ea typeface="맑은 고딕"/>
              </a:rPr>
              <a:t>-d </a:t>
            </a:r>
            <a:r>
              <a:rPr sz="800" b="1" dirty="0" err="1">
                <a:solidFill>
                  <a:srgbClr val="FFFFFF"/>
                </a:solidFill>
                <a:latin typeface="맑은 고딕"/>
                <a:ea typeface="맑은 고딕"/>
              </a:rPr>
              <a:t>기준</a:t>
            </a:r>
            <a:r>
              <a:rPr sz="800" b="1" dirty="0">
                <a:solidFill>
                  <a:srgbClr val="FFFFFF"/>
                </a:solidFill>
                <a:latin typeface="맑은 고딕"/>
                <a:ea typeface="맑은 고딕"/>
              </a:rPr>
              <a:t>)</a:t>
            </a:r>
          </a:p>
        </p:txBody>
      </p:sp>
      <p:sp>
        <p:nvSpPr>
          <p:cNvPr id="94" name="Rectangle 125"/>
          <p:cNvSpPr/>
          <p:nvPr/>
        </p:nvSpPr>
        <p:spPr>
          <a:xfrm>
            <a:off x="2619756" y="2102247"/>
            <a:ext cx="777240" cy="384048"/>
          </a:xfrm>
          <a:prstGeom prst="rect">
            <a:avLst/>
          </a:prstGeom>
          <a:solidFill>
            <a:srgbClr val="DAE3F3"/>
          </a:solidFill>
          <a:ln w="12700">
            <a:solidFill>
              <a:srgbClr val="2F5597"/>
            </a:solidFill>
          </a:ln>
          <a:effectLst/>
        </p:spPr>
        <p:txBody>
          <a:bodyPr wrap="square" lIns="36576" tIns="18288" rIns="36576" bIns="18288" rtlCol="0" anchor="ctr"/>
          <a:lstStyle/>
          <a:p>
            <a:pPr algn="ctr"/>
            <a:r>
              <a:rPr sz="750" b="1" dirty="0" err="1">
                <a:solidFill>
                  <a:srgbClr val="000000"/>
                </a:solidFill>
                <a:latin typeface="맑은 고딕"/>
                <a:ea typeface="맑은 고딕"/>
              </a:rPr>
              <a:t>요청</a:t>
            </a:r>
            <a:r>
              <a:rPr sz="750" b="1" dirty="0">
                <a:solidFill>
                  <a:srgbClr val="000000"/>
                </a:solidFill>
                <a:latin typeface="맑은 고딕"/>
                <a:ea typeface="맑은 고딕"/>
              </a:rPr>
              <a:t> </a:t>
            </a:r>
            <a:r>
              <a:rPr sz="750" b="1" dirty="0" err="1">
                <a:solidFill>
                  <a:srgbClr val="000000"/>
                </a:solidFill>
                <a:latin typeface="맑은 고딕"/>
                <a:ea typeface="맑은 고딕"/>
              </a:rPr>
              <a:t>핸들러</a:t>
            </a:r>
            <a:endParaRPr sz="750" b="1" dirty="0">
              <a:solidFill>
                <a:srgbClr val="000000"/>
              </a:solidFill>
              <a:latin typeface="맑은 고딕"/>
              <a:ea typeface="맑은 고딕"/>
            </a:endParaRPr>
          </a:p>
        </p:txBody>
      </p:sp>
      <p:sp>
        <p:nvSpPr>
          <p:cNvPr id="95" name="Rectangle 126"/>
          <p:cNvSpPr/>
          <p:nvPr/>
        </p:nvSpPr>
        <p:spPr>
          <a:xfrm>
            <a:off x="2574036" y="2179056"/>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96" name="Rectangle 127"/>
          <p:cNvSpPr/>
          <p:nvPr/>
        </p:nvSpPr>
        <p:spPr>
          <a:xfrm>
            <a:off x="2574036" y="2294271"/>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99" name="Rectangle 132"/>
          <p:cNvSpPr/>
          <p:nvPr/>
        </p:nvSpPr>
        <p:spPr>
          <a:xfrm>
            <a:off x="2468880" y="2632599"/>
            <a:ext cx="1426464" cy="1677957"/>
          </a:xfrm>
          <a:prstGeom prst="rect">
            <a:avLst/>
          </a:prstGeom>
          <a:solidFill>
            <a:srgbClr val="FFFFFF"/>
          </a:solidFill>
          <a:ln w="12700">
            <a:solidFill>
              <a:srgbClr val="2F5597"/>
            </a:solidFill>
          </a:ln>
          <a:effectLst/>
        </p:spPr>
        <p:txBody>
          <a:bodyPr rtlCol="0" anchor="ctr"/>
          <a:lstStyle/>
          <a:p>
            <a:pPr algn="ctr"/>
            <a:endParaRPr/>
          </a:p>
        </p:txBody>
      </p:sp>
      <p:sp>
        <p:nvSpPr>
          <p:cNvPr id="100" name="Rectangle 133"/>
          <p:cNvSpPr/>
          <p:nvPr/>
        </p:nvSpPr>
        <p:spPr>
          <a:xfrm>
            <a:off x="2468880" y="2632599"/>
            <a:ext cx="1426464" cy="173736"/>
          </a:xfrm>
          <a:prstGeom prst="rect">
            <a:avLst/>
          </a:prstGeom>
          <a:solidFill>
            <a:srgbClr val="2F5597"/>
          </a:solidFill>
          <a:ln w="12700">
            <a:solidFill>
              <a:srgbClr val="2F5597"/>
            </a:solidFill>
          </a:ln>
          <a:effectLst/>
        </p:spPr>
        <p:txBody>
          <a:bodyPr wrap="square" lIns="36576" tIns="0" rIns="0" bIns="0" rtlCol="0" anchor="ctr"/>
          <a:lstStyle/>
          <a:p>
            <a:pPr algn="l"/>
            <a:r>
              <a:rPr sz="750" b="1" dirty="0">
                <a:solidFill>
                  <a:srgbClr val="FFFFFF"/>
                </a:solidFill>
                <a:latin typeface="맑은 고딕"/>
                <a:ea typeface="맑은 고딕"/>
              </a:rPr>
              <a:t>Scheduler</a:t>
            </a:r>
          </a:p>
        </p:txBody>
      </p:sp>
      <p:sp>
        <p:nvSpPr>
          <p:cNvPr id="102" name="Rectangle 135"/>
          <p:cNvSpPr/>
          <p:nvPr/>
        </p:nvSpPr>
        <p:spPr>
          <a:xfrm>
            <a:off x="2542032" y="2898744"/>
            <a:ext cx="1280160" cy="381258"/>
          </a:xfrm>
          <a:prstGeom prst="rect">
            <a:avLst/>
          </a:prstGeom>
          <a:solidFill>
            <a:srgbClr val="FFF2CC"/>
          </a:solidFill>
          <a:ln w="19050">
            <a:solidFill>
              <a:srgbClr val="BF9000"/>
            </a:solidFill>
          </a:ln>
          <a:effectLst/>
        </p:spPr>
        <p:txBody>
          <a:bodyPr wrap="square" lIns="36576" tIns="18288" rIns="36576" bIns="18288" rtlCol="0" anchor="ctr"/>
          <a:lstStyle/>
          <a:p>
            <a:pPr algn="ctr"/>
            <a:r>
              <a:rPr sz="750" b="1" dirty="0">
                <a:solidFill>
                  <a:srgbClr val="000000"/>
                </a:solidFill>
                <a:latin typeface="맑은 고딕"/>
                <a:ea typeface="맑은 고딕"/>
              </a:rPr>
              <a:t>Score</a:t>
            </a:r>
            <a:r>
              <a:rPr lang="en-US" sz="750" b="1" dirty="0">
                <a:solidFill>
                  <a:srgbClr val="000000"/>
                </a:solidFill>
                <a:latin typeface="맑은 고딕"/>
                <a:ea typeface="맑은 고딕"/>
              </a:rPr>
              <a:t>r</a:t>
            </a:r>
          </a:p>
          <a:p>
            <a:pPr algn="ctr"/>
            <a:r>
              <a:rPr lang="ko-KR" altLang="en-US" sz="750" dirty="0">
                <a:solidFill>
                  <a:srgbClr val="000000"/>
                </a:solidFill>
                <a:ea typeface="맑은 고딕"/>
              </a:rPr>
              <a:t>비용 기반 점수</a:t>
            </a:r>
          </a:p>
        </p:txBody>
      </p:sp>
      <p:sp>
        <p:nvSpPr>
          <p:cNvPr id="103" name="Rectangle 136"/>
          <p:cNvSpPr/>
          <p:nvPr/>
        </p:nvSpPr>
        <p:spPr>
          <a:xfrm>
            <a:off x="2542032" y="3348646"/>
            <a:ext cx="1280160" cy="392965"/>
          </a:xfrm>
          <a:prstGeom prst="rect">
            <a:avLst/>
          </a:prstGeom>
          <a:solidFill>
            <a:srgbClr val="FFF2CC"/>
          </a:solidFill>
          <a:ln w="19050">
            <a:solidFill>
              <a:srgbClr val="BF9000"/>
            </a:solidFill>
          </a:ln>
          <a:effectLst/>
        </p:spPr>
        <p:txBody>
          <a:bodyPr wrap="square" lIns="36576" tIns="18288" rIns="36576" bIns="18288" rtlCol="0" anchor="ctr"/>
          <a:lstStyle/>
          <a:p>
            <a:pPr algn="ctr"/>
            <a:r>
              <a:rPr lang="en-US" altLang="ko-KR" sz="750" b="1" dirty="0">
                <a:solidFill>
                  <a:srgbClr val="000000"/>
                </a:solidFill>
                <a:ea typeface="맑은 고딕"/>
              </a:rPr>
              <a:t>P/D </a:t>
            </a:r>
            <a:r>
              <a:rPr lang="ko-KR" altLang="en-US" sz="750" b="1" dirty="0">
                <a:solidFill>
                  <a:srgbClr val="000000"/>
                </a:solidFill>
                <a:ea typeface="맑은 고딕"/>
              </a:rPr>
              <a:t>결정 모듈</a:t>
            </a:r>
            <a:endParaRPr lang="en-US" altLang="ko-KR" sz="750" b="1" dirty="0">
              <a:solidFill>
                <a:srgbClr val="000000"/>
              </a:solidFill>
              <a:ea typeface="맑은 고딕"/>
            </a:endParaRPr>
          </a:p>
          <a:p>
            <a:pPr algn="ctr"/>
            <a:r>
              <a:rPr lang="ko-KR" altLang="en-US" sz="750" dirty="0">
                <a:solidFill>
                  <a:srgbClr val="000000"/>
                </a:solidFill>
                <a:ea typeface="맑은 고딕"/>
              </a:rPr>
              <a:t>점수 기반 </a:t>
            </a:r>
            <a:r>
              <a:rPr lang="en-US" altLang="ko-KR" sz="750" dirty="0">
                <a:solidFill>
                  <a:srgbClr val="000000"/>
                </a:solidFill>
                <a:ea typeface="맑은 고딕"/>
              </a:rPr>
              <a:t>P/D </a:t>
            </a:r>
            <a:r>
              <a:rPr lang="ko-KR" altLang="en-US" sz="750" dirty="0">
                <a:solidFill>
                  <a:srgbClr val="000000"/>
                </a:solidFill>
                <a:ea typeface="맑은 고딕"/>
              </a:rPr>
              <a:t>결정</a:t>
            </a:r>
          </a:p>
        </p:txBody>
      </p:sp>
      <p:cxnSp>
        <p:nvCxnSpPr>
          <p:cNvPr id="104" name="Connector 138"/>
          <p:cNvCxnSpPr/>
          <p:nvPr/>
        </p:nvCxnSpPr>
        <p:spPr>
          <a:xfrm>
            <a:off x="3840480" y="2486295"/>
            <a:ext cx="0" cy="146304"/>
          </a:xfrm>
          <a:prstGeom prst="line">
            <a:avLst/>
          </a:prstGeom>
          <a:ln w="15875">
            <a:solidFill>
              <a:srgbClr val="404040"/>
            </a:solidFill>
            <a:tailEnd type="triangle"/>
          </a:ln>
        </p:spPr>
      </p:cxnSp>
      <p:sp>
        <p:nvSpPr>
          <p:cNvPr id="105" name="Rectangle 139"/>
          <p:cNvSpPr/>
          <p:nvPr/>
        </p:nvSpPr>
        <p:spPr>
          <a:xfrm>
            <a:off x="4023360" y="2632599"/>
            <a:ext cx="713232" cy="1677957"/>
          </a:xfrm>
          <a:prstGeom prst="rect">
            <a:avLst/>
          </a:prstGeom>
          <a:solidFill>
            <a:srgbClr val="FFFFFF"/>
          </a:solidFill>
          <a:ln w="12700">
            <a:solidFill>
              <a:srgbClr val="2F5597"/>
            </a:solidFill>
          </a:ln>
          <a:effectLst/>
        </p:spPr>
        <p:txBody>
          <a:bodyPr rtlCol="0" anchor="ctr"/>
          <a:lstStyle/>
          <a:p>
            <a:pPr algn="ctr"/>
            <a:endParaRPr/>
          </a:p>
        </p:txBody>
      </p:sp>
      <p:sp>
        <p:nvSpPr>
          <p:cNvPr id="107" name="Rectangle 140"/>
          <p:cNvSpPr/>
          <p:nvPr/>
        </p:nvSpPr>
        <p:spPr>
          <a:xfrm>
            <a:off x="4023360" y="2632599"/>
            <a:ext cx="713232" cy="173736"/>
          </a:xfrm>
          <a:prstGeom prst="rect">
            <a:avLst/>
          </a:prstGeom>
          <a:solidFill>
            <a:srgbClr val="2F5597"/>
          </a:solidFill>
          <a:ln w="12700">
            <a:solidFill>
              <a:srgbClr val="2F5597"/>
            </a:solidFill>
          </a:ln>
          <a:effectLst/>
        </p:spPr>
        <p:txBody>
          <a:bodyPr wrap="square" lIns="27432" tIns="0" rIns="0" bIns="0" rtlCol="0" anchor="ctr"/>
          <a:lstStyle/>
          <a:p>
            <a:pPr algn="l"/>
            <a:r>
              <a:rPr sz="700" b="1" dirty="0" err="1">
                <a:solidFill>
                  <a:srgbClr val="FFFFFF"/>
                </a:solidFill>
                <a:latin typeface="맑은 고딕"/>
                <a:ea typeface="맑은 고딕"/>
              </a:rPr>
              <a:t>상태</a:t>
            </a:r>
            <a:r>
              <a:rPr sz="700" b="1" dirty="0">
                <a:solidFill>
                  <a:srgbClr val="FFFFFF"/>
                </a:solidFill>
                <a:latin typeface="맑은 고딕"/>
                <a:ea typeface="맑은 고딕"/>
              </a:rPr>
              <a:t> </a:t>
            </a:r>
            <a:r>
              <a:rPr sz="700" b="1" dirty="0" err="1">
                <a:solidFill>
                  <a:srgbClr val="FFFFFF"/>
                </a:solidFill>
                <a:latin typeface="맑은 고딕"/>
                <a:ea typeface="맑은 고딕"/>
              </a:rPr>
              <a:t>계층</a:t>
            </a:r>
            <a:endParaRPr sz="700" b="1" dirty="0">
              <a:solidFill>
                <a:srgbClr val="FFFFFF"/>
              </a:solidFill>
              <a:latin typeface="맑은 고딕"/>
              <a:ea typeface="맑은 고딕"/>
            </a:endParaRPr>
          </a:p>
        </p:txBody>
      </p:sp>
      <p:sp>
        <p:nvSpPr>
          <p:cNvPr id="108" name="Rectangle 141"/>
          <p:cNvSpPr/>
          <p:nvPr/>
        </p:nvSpPr>
        <p:spPr>
          <a:xfrm>
            <a:off x="4069080" y="2900536"/>
            <a:ext cx="621792" cy="343501"/>
          </a:xfrm>
          <a:prstGeom prst="rect">
            <a:avLst/>
          </a:prstGeom>
          <a:solidFill>
            <a:srgbClr val="DAE3F3"/>
          </a:solidFill>
          <a:ln w="12700">
            <a:solidFill>
              <a:srgbClr val="2F5597"/>
            </a:solidFill>
          </a:ln>
          <a:effectLst/>
        </p:spPr>
        <p:txBody>
          <a:bodyPr wrap="square" lIns="36576" tIns="18288" rIns="36576" bIns="18288" rtlCol="0" anchor="ctr"/>
          <a:lstStyle/>
          <a:p>
            <a:pPr algn="ctr"/>
            <a:r>
              <a:rPr sz="750" b="1" dirty="0">
                <a:solidFill>
                  <a:srgbClr val="000000"/>
                </a:solidFill>
                <a:latin typeface="맑은 고딕"/>
                <a:ea typeface="맑은 고딕"/>
              </a:rPr>
              <a:t>KV Indexer</a:t>
            </a:r>
          </a:p>
        </p:txBody>
      </p:sp>
      <p:sp>
        <p:nvSpPr>
          <p:cNvPr id="109" name="Rectangle 142"/>
          <p:cNvSpPr/>
          <p:nvPr/>
        </p:nvSpPr>
        <p:spPr>
          <a:xfrm>
            <a:off x="4069080" y="3333293"/>
            <a:ext cx="621792" cy="343501"/>
          </a:xfrm>
          <a:prstGeom prst="rect">
            <a:avLst/>
          </a:prstGeom>
          <a:solidFill>
            <a:srgbClr val="FFFFFF"/>
          </a:solidFill>
          <a:ln w="19050">
            <a:solidFill>
              <a:srgbClr val="BF9000"/>
            </a:solidFill>
            <a:prstDash val="dash"/>
          </a:ln>
          <a:effectLst/>
        </p:spPr>
        <p:txBody>
          <a:bodyPr wrap="square" lIns="36576" tIns="18288" rIns="36576" bIns="18288" rtlCol="0" anchor="ctr"/>
          <a:lstStyle/>
          <a:p>
            <a:pPr algn="ctr"/>
            <a:r>
              <a:rPr sz="650" b="0" dirty="0" err="1">
                <a:solidFill>
                  <a:srgbClr val="000000"/>
                </a:solidFill>
                <a:latin typeface="맑은 고딕"/>
                <a:ea typeface="맑은 고딕"/>
              </a:rPr>
              <a:t>메모리</a:t>
            </a:r>
            <a:r>
              <a:rPr sz="650" b="0" dirty="0">
                <a:solidFill>
                  <a:srgbClr val="000000"/>
                </a:solidFill>
                <a:latin typeface="맑은 고딕"/>
                <a:ea typeface="맑은 고딕"/>
              </a:rPr>
              <a:t> </a:t>
            </a:r>
            <a:r>
              <a:rPr sz="650" b="0" dirty="0" err="1">
                <a:solidFill>
                  <a:srgbClr val="000000"/>
                </a:solidFill>
                <a:latin typeface="맑은 고딕"/>
                <a:ea typeface="맑은 고딕"/>
              </a:rPr>
              <a:t>종류</a:t>
            </a:r>
            <a:r>
              <a:rPr sz="650" b="0" dirty="0">
                <a:solidFill>
                  <a:srgbClr val="000000"/>
                </a:solidFill>
                <a:latin typeface="맑은 고딕"/>
                <a:ea typeface="맑은 고딕"/>
              </a:rPr>
              <a:t> </a:t>
            </a:r>
            <a:r>
              <a:rPr sz="650" b="0" dirty="0" err="1">
                <a:solidFill>
                  <a:srgbClr val="000000"/>
                </a:solidFill>
                <a:latin typeface="맑은 고딕"/>
                <a:ea typeface="맑은 고딕"/>
              </a:rPr>
              <a:t>가중치</a:t>
            </a:r>
            <a:endParaRPr sz="650" b="0" dirty="0">
              <a:solidFill>
                <a:srgbClr val="000000"/>
              </a:solidFill>
              <a:latin typeface="맑은 고딕"/>
              <a:ea typeface="맑은 고딕"/>
            </a:endParaRPr>
          </a:p>
        </p:txBody>
      </p:sp>
      <p:sp>
        <p:nvSpPr>
          <p:cNvPr id="110" name="Rectangle 143"/>
          <p:cNvSpPr/>
          <p:nvPr/>
        </p:nvSpPr>
        <p:spPr>
          <a:xfrm>
            <a:off x="4069080" y="3824283"/>
            <a:ext cx="621792" cy="343501"/>
          </a:xfrm>
          <a:prstGeom prst="rect">
            <a:avLst/>
          </a:prstGeom>
          <a:solidFill>
            <a:srgbClr val="FFFFFF"/>
          </a:solidFill>
          <a:ln w="19050">
            <a:solidFill>
              <a:srgbClr val="BF9000"/>
            </a:solidFill>
            <a:prstDash val="dash"/>
          </a:ln>
          <a:effectLst/>
        </p:spPr>
        <p:txBody>
          <a:bodyPr wrap="square" lIns="36576" tIns="18288" rIns="36576" bIns="18288" rtlCol="0" anchor="ctr"/>
          <a:lstStyle/>
          <a:p>
            <a:pPr algn="ctr"/>
            <a:r>
              <a:rPr sz="650" b="0" dirty="0" err="1">
                <a:solidFill>
                  <a:srgbClr val="000000"/>
                </a:solidFill>
                <a:latin typeface="맑은 고딕"/>
                <a:ea typeface="맑은 고딕"/>
              </a:rPr>
              <a:t>실시간</a:t>
            </a:r>
            <a:r>
              <a:rPr sz="650" b="0" dirty="0">
                <a:solidFill>
                  <a:srgbClr val="000000"/>
                </a:solidFill>
                <a:latin typeface="맑은 고딕"/>
                <a:ea typeface="맑은 고딕"/>
              </a:rPr>
              <a:t> </a:t>
            </a:r>
            <a:r>
              <a:rPr sz="650" b="0" dirty="0" err="1">
                <a:solidFill>
                  <a:srgbClr val="000000"/>
                </a:solidFill>
                <a:latin typeface="맑은 고딕"/>
                <a:ea typeface="맑은 고딕"/>
              </a:rPr>
              <a:t>상태</a:t>
            </a:r>
            <a:r>
              <a:rPr sz="650" b="0" dirty="0">
                <a:solidFill>
                  <a:srgbClr val="000000"/>
                </a:solidFill>
                <a:latin typeface="맑은 고딕"/>
                <a:ea typeface="맑은 고딕"/>
              </a:rPr>
              <a:t> </a:t>
            </a:r>
            <a:r>
              <a:rPr sz="650" b="0" dirty="0" err="1">
                <a:solidFill>
                  <a:srgbClr val="000000"/>
                </a:solidFill>
                <a:latin typeface="맑은 고딕"/>
                <a:ea typeface="맑은 고딕"/>
              </a:rPr>
              <a:t>수치</a:t>
            </a:r>
            <a:endParaRPr sz="650" b="0" dirty="0">
              <a:solidFill>
                <a:srgbClr val="000000"/>
              </a:solidFill>
              <a:latin typeface="맑은 고딕"/>
              <a:ea typeface="맑은 고딕"/>
            </a:endParaRPr>
          </a:p>
        </p:txBody>
      </p:sp>
      <p:cxnSp>
        <p:nvCxnSpPr>
          <p:cNvPr id="111" name="Connector 144"/>
          <p:cNvCxnSpPr/>
          <p:nvPr/>
        </p:nvCxnSpPr>
        <p:spPr>
          <a:xfrm flipH="1">
            <a:off x="3895344" y="3272679"/>
            <a:ext cx="128016" cy="0"/>
          </a:xfrm>
          <a:prstGeom prst="line">
            <a:avLst/>
          </a:prstGeom>
          <a:ln w="15875">
            <a:solidFill>
              <a:srgbClr val="404040"/>
            </a:solidFill>
            <a:tailEnd type="triangle"/>
          </a:ln>
        </p:spPr>
      </p:cxnSp>
      <p:cxnSp>
        <p:nvCxnSpPr>
          <p:cNvPr id="112" name="Connector 155"/>
          <p:cNvCxnSpPr/>
          <p:nvPr/>
        </p:nvCxnSpPr>
        <p:spPr>
          <a:xfrm>
            <a:off x="1517904" y="2083959"/>
            <a:ext cx="0" cy="228600"/>
          </a:xfrm>
          <a:prstGeom prst="line">
            <a:avLst/>
          </a:prstGeom>
          <a:ln w="15875">
            <a:solidFill>
              <a:srgbClr val="404040"/>
            </a:solidFill>
            <a:tailEnd type="triangle"/>
          </a:ln>
        </p:spPr>
      </p:cxnSp>
      <p:sp>
        <p:nvSpPr>
          <p:cNvPr id="113" name="Oval 156"/>
          <p:cNvSpPr/>
          <p:nvPr/>
        </p:nvSpPr>
        <p:spPr>
          <a:xfrm>
            <a:off x="1275588" y="2125107"/>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1</a:t>
            </a:r>
          </a:p>
        </p:txBody>
      </p:sp>
      <p:cxnSp>
        <p:nvCxnSpPr>
          <p:cNvPr id="120" name="Connector 157"/>
          <p:cNvCxnSpPr/>
          <p:nvPr/>
        </p:nvCxnSpPr>
        <p:spPr>
          <a:xfrm flipV="1">
            <a:off x="2103120" y="2294271"/>
            <a:ext cx="438912" cy="384048"/>
          </a:xfrm>
          <a:prstGeom prst="line">
            <a:avLst/>
          </a:prstGeom>
          <a:ln w="15875">
            <a:solidFill>
              <a:srgbClr val="404040"/>
            </a:solidFill>
            <a:headEnd type="triangle"/>
            <a:tailEnd type="triangle"/>
          </a:ln>
        </p:spPr>
      </p:cxnSp>
      <p:sp>
        <p:nvSpPr>
          <p:cNvPr id="121" name="Oval 158"/>
          <p:cNvSpPr/>
          <p:nvPr/>
        </p:nvSpPr>
        <p:spPr>
          <a:xfrm>
            <a:off x="2208276" y="2335419"/>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2</a:t>
            </a:r>
          </a:p>
        </p:txBody>
      </p:sp>
      <p:sp>
        <p:nvSpPr>
          <p:cNvPr id="125" name="Oval 159"/>
          <p:cNvSpPr/>
          <p:nvPr/>
        </p:nvSpPr>
        <p:spPr>
          <a:xfrm>
            <a:off x="4807959" y="2617141"/>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3</a:t>
            </a:r>
          </a:p>
        </p:txBody>
      </p:sp>
      <p:cxnSp>
        <p:nvCxnSpPr>
          <p:cNvPr id="126" name="Connector 163"/>
          <p:cNvCxnSpPr/>
          <p:nvPr/>
        </p:nvCxnSpPr>
        <p:spPr>
          <a:xfrm flipH="1">
            <a:off x="4736592" y="4278519"/>
            <a:ext cx="338328" cy="0"/>
          </a:xfrm>
          <a:prstGeom prst="line">
            <a:avLst/>
          </a:prstGeom>
          <a:ln w="15875">
            <a:solidFill>
              <a:srgbClr val="404040"/>
            </a:solidFill>
            <a:tailEnd type="triangle"/>
          </a:ln>
        </p:spPr>
      </p:cxnSp>
      <p:sp>
        <p:nvSpPr>
          <p:cNvPr id="131" name="Oval 164"/>
          <p:cNvSpPr/>
          <p:nvPr/>
        </p:nvSpPr>
        <p:spPr>
          <a:xfrm>
            <a:off x="4805172" y="4086495"/>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6</a:t>
            </a:r>
          </a:p>
        </p:txBody>
      </p:sp>
      <p:sp>
        <p:nvSpPr>
          <p:cNvPr id="132" name="Rectangle 167"/>
          <p:cNvSpPr/>
          <p:nvPr/>
        </p:nvSpPr>
        <p:spPr>
          <a:xfrm>
            <a:off x="1188720" y="4518732"/>
            <a:ext cx="1261872" cy="155448"/>
          </a:xfrm>
          <a:prstGeom prst="rect">
            <a:avLst/>
          </a:prstGeom>
          <a:solidFill>
            <a:srgbClr val="DAE3F3"/>
          </a:solidFill>
          <a:ln w="12700">
            <a:solidFill>
              <a:srgbClr val="2F5597"/>
            </a:solidFill>
          </a:ln>
          <a:effectLst/>
        </p:spPr>
        <p:txBody>
          <a:bodyPr wrap="square" lIns="36576" tIns="18288" rIns="36576" bIns="18288" rtlCol="0" anchor="ctr"/>
          <a:lstStyle/>
          <a:p>
            <a:pPr algn="ctr"/>
            <a:r>
              <a:rPr sz="700" b="1" dirty="0" err="1">
                <a:solidFill>
                  <a:srgbClr val="000000"/>
                </a:solidFill>
                <a:latin typeface="맑은 고딕"/>
                <a:ea typeface="맑은 고딕"/>
              </a:rPr>
              <a:t>기존</a:t>
            </a:r>
            <a:r>
              <a:rPr sz="700" b="1" dirty="0">
                <a:solidFill>
                  <a:srgbClr val="000000"/>
                </a:solidFill>
                <a:latin typeface="맑은 고딕"/>
                <a:ea typeface="맑은 고딕"/>
              </a:rPr>
              <a:t> OSS </a:t>
            </a:r>
            <a:r>
              <a:rPr sz="700" b="1" dirty="0" err="1">
                <a:solidFill>
                  <a:srgbClr val="000000"/>
                </a:solidFill>
                <a:latin typeface="맑은 고딕"/>
                <a:ea typeface="맑은 고딕"/>
              </a:rPr>
              <a:t>그대로</a:t>
            </a:r>
            <a:endParaRPr sz="700" b="1" dirty="0">
              <a:solidFill>
                <a:srgbClr val="000000"/>
              </a:solidFill>
              <a:latin typeface="맑은 고딕"/>
              <a:ea typeface="맑은 고딕"/>
            </a:endParaRPr>
          </a:p>
        </p:txBody>
      </p:sp>
      <p:sp>
        <p:nvSpPr>
          <p:cNvPr id="133" name="Rectangle 168"/>
          <p:cNvSpPr/>
          <p:nvPr/>
        </p:nvSpPr>
        <p:spPr>
          <a:xfrm>
            <a:off x="2505456" y="4518732"/>
            <a:ext cx="1261872" cy="155448"/>
          </a:xfrm>
          <a:prstGeom prst="rect">
            <a:avLst/>
          </a:prstGeom>
          <a:solidFill>
            <a:srgbClr val="FFF2CC"/>
          </a:solidFill>
          <a:ln w="19050">
            <a:solidFill>
              <a:srgbClr val="BF9000"/>
            </a:solidFill>
          </a:ln>
          <a:effectLst/>
        </p:spPr>
        <p:txBody>
          <a:bodyPr wrap="square" lIns="36576" tIns="18288" rIns="36576" bIns="18288" rtlCol="0" anchor="ctr"/>
          <a:lstStyle/>
          <a:p>
            <a:pPr algn="ctr"/>
            <a:r>
              <a:rPr sz="700" b="1" dirty="0">
                <a:solidFill>
                  <a:srgbClr val="000000"/>
                </a:solidFill>
                <a:latin typeface="맑은 고딕"/>
                <a:ea typeface="맑은 고딕"/>
              </a:rPr>
              <a:t>★ </a:t>
            </a:r>
            <a:r>
              <a:rPr sz="700" b="1" dirty="0" err="1">
                <a:solidFill>
                  <a:srgbClr val="000000"/>
                </a:solidFill>
                <a:latin typeface="맑은 고딕"/>
                <a:ea typeface="맑은 고딕"/>
              </a:rPr>
              <a:t>확장</a:t>
            </a:r>
            <a:r>
              <a:rPr sz="700" b="1" dirty="0">
                <a:solidFill>
                  <a:srgbClr val="000000"/>
                </a:solidFill>
                <a:latin typeface="맑은 고딕"/>
                <a:ea typeface="맑은 고딕"/>
              </a:rPr>
              <a:t> </a:t>
            </a:r>
            <a:r>
              <a:rPr sz="700" b="1" dirty="0" err="1">
                <a:solidFill>
                  <a:srgbClr val="000000"/>
                </a:solidFill>
                <a:latin typeface="맑은 고딕"/>
                <a:ea typeface="맑은 고딕"/>
              </a:rPr>
              <a:t>모듈</a:t>
            </a:r>
            <a:r>
              <a:rPr sz="700" b="1" dirty="0">
                <a:solidFill>
                  <a:srgbClr val="000000"/>
                </a:solidFill>
                <a:latin typeface="맑은 고딕"/>
                <a:ea typeface="맑은 고딕"/>
              </a:rPr>
              <a:t>(plugin)</a:t>
            </a:r>
          </a:p>
        </p:txBody>
      </p:sp>
      <p:sp>
        <p:nvSpPr>
          <p:cNvPr id="134" name="Rectangle 169"/>
          <p:cNvSpPr/>
          <p:nvPr/>
        </p:nvSpPr>
        <p:spPr>
          <a:xfrm>
            <a:off x="3822191" y="4518732"/>
            <a:ext cx="1261872" cy="155448"/>
          </a:xfrm>
          <a:prstGeom prst="rect">
            <a:avLst/>
          </a:prstGeom>
          <a:solidFill>
            <a:srgbClr val="FFFFFF"/>
          </a:solidFill>
          <a:ln w="19050">
            <a:solidFill>
              <a:srgbClr val="BF9000"/>
            </a:solidFill>
            <a:prstDash val="dash"/>
          </a:ln>
          <a:effectLst/>
        </p:spPr>
        <p:txBody>
          <a:bodyPr wrap="square" lIns="36576" tIns="18288" rIns="36576" bIns="18288" rtlCol="0" anchor="ctr"/>
          <a:lstStyle/>
          <a:p>
            <a:pPr algn="ctr"/>
            <a:r>
              <a:rPr sz="700" b="1">
                <a:solidFill>
                  <a:srgbClr val="000000"/>
                </a:solidFill>
                <a:latin typeface="맑은 고딕"/>
                <a:ea typeface="맑은 고딕"/>
              </a:rPr>
              <a:t>★ 설정만 변경</a:t>
            </a:r>
          </a:p>
        </p:txBody>
      </p:sp>
      <p:sp>
        <p:nvSpPr>
          <p:cNvPr id="135" name="Rectangle 125"/>
          <p:cNvSpPr/>
          <p:nvPr/>
        </p:nvSpPr>
        <p:spPr>
          <a:xfrm>
            <a:off x="3636263" y="2095897"/>
            <a:ext cx="777240" cy="384048"/>
          </a:xfrm>
          <a:prstGeom prst="rect">
            <a:avLst/>
          </a:prstGeom>
          <a:solidFill>
            <a:srgbClr val="DAE3F3"/>
          </a:solidFill>
          <a:ln w="12700">
            <a:solidFill>
              <a:srgbClr val="2F5597"/>
            </a:solidFill>
          </a:ln>
          <a:effectLst/>
        </p:spPr>
        <p:txBody>
          <a:bodyPr wrap="square" lIns="36576" tIns="18288" rIns="36576" bIns="18288" rtlCol="0" anchor="ctr"/>
          <a:lstStyle/>
          <a:p>
            <a:pPr algn="ctr"/>
            <a:r>
              <a:rPr lang="ko-KR" altLang="en-US" sz="750" b="1" dirty="0">
                <a:solidFill>
                  <a:srgbClr val="000000"/>
                </a:solidFill>
                <a:latin typeface="맑은 고딕"/>
                <a:ea typeface="맑은 고딕"/>
              </a:rPr>
              <a:t>큐</a:t>
            </a:r>
            <a:r>
              <a:rPr lang="en-US" altLang="ko-KR" sz="750" b="1" dirty="0">
                <a:solidFill>
                  <a:srgbClr val="000000"/>
                </a:solidFill>
                <a:latin typeface="맑은 고딕"/>
                <a:ea typeface="맑은 고딕"/>
              </a:rPr>
              <a:t>/Load</a:t>
            </a:r>
            <a:r>
              <a:rPr lang="ko-KR" altLang="en-US" sz="750" b="1" dirty="0">
                <a:solidFill>
                  <a:srgbClr val="000000"/>
                </a:solidFill>
                <a:latin typeface="맑은 고딕"/>
                <a:ea typeface="맑은 고딕"/>
              </a:rPr>
              <a:t> 제어</a:t>
            </a:r>
            <a:endParaRPr sz="750" b="1" dirty="0">
              <a:solidFill>
                <a:srgbClr val="000000"/>
              </a:solidFill>
              <a:latin typeface="맑은 고딕"/>
              <a:ea typeface="맑은 고딕"/>
            </a:endParaRPr>
          </a:p>
        </p:txBody>
      </p:sp>
      <p:sp>
        <p:nvSpPr>
          <p:cNvPr id="136" name="Rectangle 126"/>
          <p:cNvSpPr/>
          <p:nvPr/>
        </p:nvSpPr>
        <p:spPr>
          <a:xfrm>
            <a:off x="3590543" y="2172706"/>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138" name="Rectangle 127"/>
          <p:cNvSpPr/>
          <p:nvPr/>
        </p:nvSpPr>
        <p:spPr>
          <a:xfrm>
            <a:off x="3590543" y="2287921"/>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139" name="Rectangle 137"/>
          <p:cNvSpPr/>
          <p:nvPr/>
        </p:nvSpPr>
        <p:spPr>
          <a:xfrm>
            <a:off x="2542032" y="3812756"/>
            <a:ext cx="1280160" cy="389245"/>
          </a:xfrm>
          <a:prstGeom prst="rect">
            <a:avLst/>
          </a:prstGeom>
          <a:solidFill>
            <a:srgbClr val="FFF2CC"/>
          </a:solidFill>
          <a:ln w="19050">
            <a:solidFill>
              <a:srgbClr val="BF9000"/>
            </a:solidFill>
          </a:ln>
          <a:effectLst/>
        </p:spPr>
        <p:txBody>
          <a:bodyPr wrap="square" lIns="36576" tIns="18288" rIns="36576" bIns="18288" rtlCol="0" anchor="ctr"/>
          <a:lstStyle/>
          <a:p>
            <a:pPr algn="ctr"/>
            <a:r>
              <a:rPr lang="en-US" altLang="ko-KR" sz="750" b="1" dirty="0">
                <a:solidFill>
                  <a:srgbClr val="000000"/>
                </a:solidFill>
                <a:latin typeface="맑은 고딕"/>
                <a:ea typeface="맑은 고딕"/>
              </a:rPr>
              <a:t>P/D </a:t>
            </a:r>
            <a:r>
              <a:rPr lang="ko-KR" altLang="en-US" sz="750" b="1" dirty="0">
                <a:solidFill>
                  <a:srgbClr val="000000"/>
                </a:solidFill>
                <a:latin typeface="맑은 고딕"/>
                <a:ea typeface="맑은 고딕"/>
              </a:rPr>
              <a:t>보조 </a:t>
            </a:r>
            <a:endParaRPr lang="en-US" altLang="ko-KR" sz="750" b="1" dirty="0">
              <a:solidFill>
                <a:srgbClr val="000000"/>
              </a:solidFill>
              <a:latin typeface="맑은 고딕"/>
              <a:ea typeface="맑은 고딕"/>
            </a:endParaRPr>
          </a:p>
          <a:p>
            <a:pPr algn="ctr"/>
            <a:r>
              <a:rPr lang="ko-KR" altLang="en-US" sz="750" b="1" dirty="0">
                <a:solidFill>
                  <a:srgbClr val="000000"/>
                </a:solidFill>
                <a:latin typeface="맑은 고딕"/>
                <a:ea typeface="맑은 고딕"/>
              </a:rPr>
              <a:t>프로세스 통신</a:t>
            </a:r>
            <a:endParaRPr sz="750" b="1" dirty="0">
              <a:solidFill>
                <a:srgbClr val="000000"/>
              </a:solidFill>
              <a:latin typeface="맑은 고딕"/>
              <a:ea typeface="맑은 고딕"/>
            </a:endParaRPr>
          </a:p>
        </p:txBody>
      </p:sp>
      <p:sp>
        <p:nvSpPr>
          <p:cNvPr id="141" name="Rectangle 120"/>
          <p:cNvSpPr/>
          <p:nvPr/>
        </p:nvSpPr>
        <p:spPr>
          <a:xfrm>
            <a:off x="1275588" y="2542683"/>
            <a:ext cx="804672" cy="327660"/>
          </a:xfrm>
          <a:prstGeom prst="rect">
            <a:avLst/>
          </a:prstGeom>
          <a:solidFill>
            <a:srgbClr val="DAE3F3"/>
          </a:solidFill>
          <a:ln w="12700">
            <a:solidFill>
              <a:srgbClr val="2F5597"/>
            </a:solidFill>
          </a:ln>
          <a:effectLst/>
        </p:spPr>
        <p:txBody>
          <a:bodyPr wrap="square" lIns="36576" tIns="18288" rIns="36576" bIns="18288" rtlCol="0" anchor="ctr"/>
          <a:lstStyle/>
          <a:p>
            <a:pPr algn="ctr"/>
            <a:r>
              <a:rPr lang="ko-KR" altLang="en-US" sz="850" b="1" dirty="0">
                <a:solidFill>
                  <a:srgbClr val="000000"/>
                </a:solidFill>
                <a:latin typeface="맑은 고딕"/>
                <a:ea typeface="맑은 고딕"/>
              </a:rPr>
              <a:t>요청 </a:t>
            </a:r>
            <a:endParaRPr lang="en-US" altLang="ko-KR" sz="850" b="1" dirty="0">
              <a:solidFill>
                <a:srgbClr val="000000"/>
              </a:solidFill>
              <a:latin typeface="맑은 고딕"/>
              <a:ea typeface="맑은 고딕"/>
            </a:endParaRPr>
          </a:p>
          <a:p>
            <a:pPr algn="ctr"/>
            <a:r>
              <a:rPr lang="ko-KR" altLang="en-US" sz="850" b="1" dirty="0">
                <a:solidFill>
                  <a:srgbClr val="000000"/>
                </a:solidFill>
                <a:latin typeface="맑은 고딕"/>
                <a:ea typeface="맑은 고딕"/>
              </a:rPr>
              <a:t>전달</a:t>
            </a:r>
            <a:r>
              <a:rPr lang="en-US" altLang="ko-KR" sz="850" b="1" dirty="0">
                <a:solidFill>
                  <a:srgbClr val="000000"/>
                </a:solidFill>
                <a:latin typeface="맑은 고딕"/>
                <a:ea typeface="맑은 고딕"/>
              </a:rPr>
              <a:t>/</a:t>
            </a:r>
            <a:r>
              <a:rPr lang="ko-KR" altLang="en-US" sz="850" b="1" dirty="0">
                <a:solidFill>
                  <a:srgbClr val="000000"/>
                </a:solidFill>
                <a:latin typeface="맑은 고딕"/>
                <a:ea typeface="맑은 고딕"/>
              </a:rPr>
              <a:t>응답</a:t>
            </a:r>
            <a:endParaRPr sz="750" b="0" dirty="0">
              <a:solidFill>
                <a:srgbClr val="000000"/>
              </a:solidFill>
              <a:latin typeface="맑은 고딕"/>
              <a:ea typeface="맑은 고딕"/>
            </a:endParaRPr>
          </a:p>
        </p:txBody>
      </p:sp>
      <p:sp>
        <p:nvSpPr>
          <p:cNvPr id="142" name="Rectangle 146"/>
          <p:cNvSpPr/>
          <p:nvPr/>
        </p:nvSpPr>
        <p:spPr>
          <a:xfrm>
            <a:off x="5010912" y="1855359"/>
            <a:ext cx="1371600" cy="1554480"/>
          </a:xfrm>
          <a:prstGeom prst="rect">
            <a:avLst/>
          </a:prstGeom>
          <a:solidFill>
            <a:srgbClr val="FFFFFF"/>
          </a:solidFill>
          <a:ln w="15875">
            <a:solidFill>
              <a:srgbClr val="2E75B6"/>
            </a:solidFill>
          </a:ln>
          <a:effectLst/>
        </p:spPr>
        <p:txBody>
          <a:bodyPr rtlCol="0" anchor="ctr"/>
          <a:lstStyle/>
          <a:p>
            <a:pPr algn="ctr"/>
            <a:endParaRPr/>
          </a:p>
        </p:txBody>
      </p:sp>
      <p:sp>
        <p:nvSpPr>
          <p:cNvPr id="143" name="Rectangle 147"/>
          <p:cNvSpPr/>
          <p:nvPr/>
        </p:nvSpPr>
        <p:spPr>
          <a:xfrm>
            <a:off x="5010912" y="1855359"/>
            <a:ext cx="1371600" cy="173736"/>
          </a:xfrm>
          <a:prstGeom prst="rect">
            <a:avLst/>
          </a:prstGeom>
          <a:solidFill>
            <a:srgbClr val="2E75B6"/>
          </a:solidFill>
          <a:ln w="12700">
            <a:solidFill>
              <a:srgbClr val="2E75B6"/>
            </a:solidFill>
          </a:ln>
          <a:effectLst/>
        </p:spPr>
        <p:txBody>
          <a:bodyPr wrap="square" lIns="45720" tIns="0" rIns="18288" bIns="0" rtlCol="0" anchor="ctr"/>
          <a:lstStyle/>
          <a:p>
            <a:pPr algn="l"/>
            <a:r>
              <a:rPr sz="800" b="1">
                <a:solidFill>
                  <a:srgbClr val="FFFFFF"/>
                </a:solidFill>
                <a:latin typeface="맑은 고딕"/>
                <a:ea typeface="맑은 고딕"/>
              </a:rPr>
              <a:t>«pod» Decode 서버</a:t>
            </a:r>
          </a:p>
        </p:txBody>
      </p:sp>
      <p:sp>
        <p:nvSpPr>
          <p:cNvPr id="144" name="Rectangle 148"/>
          <p:cNvSpPr/>
          <p:nvPr/>
        </p:nvSpPr>
        <p:spPr>
          <a:xfrm>
            <a:off x="5084063" y="2074815"/>
            <a:ext cx="1243584" cy="822960"/>
          </a:xfrm>
          <a:prstGeom prst="rect">
            <a:avLst/>
          </a:prstGeom>
          <a:solidFill>
            <a:srgbClr val="FFFFFF"/>
          </a:solidFill>
          <a:ln w="12700">
            <a:solidFill>
              <a:srgbClr val="2F5597"/>
            </a:solidFill>
          </a:ln>
          <a:effectLst/>
        </p:spPr>
        <p:txBody>
          <a:bodyPr rtlCol="0" anchor="ctr"/>
          <a:lstStyle/>
          <a:p>
            <a:pPr algn="ctr"/>
            <a:endParaRPr/>
          </a:p>
        </p:txBody>
      </p:sp>
      <p:sp>
        <p:nvSpPr>
          <p:cNvPr id="145" name="Rectangle 149"/>
          <p:cNvSpPr/>
          <p:nvPr/>
        </p:nvSpPr>
        <p:spPr>
          <a:xfrm>
            <a:off x="5074920" y="2083959"/>
            <a:ext cx="1243584" cy="173736"/>
          </a:xfrm>
          <a:prstGeom prst="rect">
            <a:avLst/>
          </a:prstGeom>
          <a:solidFill>
            <a:srgbClr val="2F5597"/>
          </a:solidFill>
          <a:ln w="12700">
            <a:solidFill>
              <a:srgbClr val="2F5597"/>
            </a:solidFill>
          </a:ln>
          <a:effectLst/>
        </p:spPr>
        <p:txBody>
          <a:bodyPr wrap="square" lIns="36576" tIns="0" rIns="0" bIns="0" rtlCol="0" anchor="ctr"/>
          <a:lstStyle/>
          <a:p>
            <a:pPr algn="l"/>
            <a:r>
              <a:rPr sz="750" b="1" dirty="0">
                <a:solidFill>
                  <a:srgbClr val="FFFFFF"/>
                </a:solidFill>
                <a:latin typeface="맑은 고딕"/>
                <a:ea typeface="맑은 고딕"/>
              </a:rPr>
              <a:t>P/D </a:t>
            </a:r>
            <a:r>
              <a:rPr sz="750" b="1" dirty="0" err="1">
                <a:solidFill>
                  <a:srgbClr val="FFFFFF"/>
                </a:solidFill>
                <a:latin typeface="맑은 고딕"/>
                <a:ea typeface="맑은 고딕"/>
              </a:rPr>
              <a:t>보조</a:t>
            </a:r>
            <a:r>
              <a:rPr sz="750" b="1" dirty="0">
                <a:solidFill>
                  <a:srgbClr val="FFFFFF"/>
                </a:solidFill>
                <a:latin typeface="맑은 고딕"/>
                <a:ea typeface="맑은 고딕"/>
              </a:rPr>
              <a:t> </a:t>
            </a:r>
            <a:r>
              <a:rPr sz="750" b="1" dirty="0" err="1">
                <a:solidFill>
                  <a:srgbClr val="FFFFFF"/>
                </a:solidFill>
                <a:latin typeface="맑은 고딕"/>
                <a:ea typeface="맑은 고딕"/>
              </a:rPr>
              <a:t>프로세스</a:t>
            </a:r>
            <a:endParaRPr sz="750" b="1" dirty="0">
              <a:solidFill>
                <a:srgbClr val="FFFFFF"/>
              </a:solidFill>
              <a:latin typeface="맑은 고딕"/>
              <a:ea typeface="맑은 고딕"/>
            </a:endParaRPr>
          </a:p>
        </p:txBody>
      </p:sp>
      <p:sp>
        <p:nvSpPr>
          <p:cNvPr id="146" name="Rectangle 150"/>
          <p:cNvSpPr/>
          <p:nvPr/>
        </p:nvSpPr>
        <p:spPr>
          <a:xfrm>
            <a:off x="5120640" y="2303415"/>
            <a:ext cx="1152144" cy="548640"/>
          </a:xfrm>
          <a:prstGeom prst="rect">
            <a:avLst/>
          </a:prstGeom>
          <a:solidFill>
            <a:srgbClr val="FFFFFF"/>
          </a:solidFill>
          <a:ln w="22225">
            <a:solidFill>
              <a:srgbClr val="C00000"/>
            </a:solidFill>
          </a:ln>
          <a:effectLst/>
        </p:spPr>
        <p:txBody>
          <a:bodyPr wrap="square" lIns="36576" tIns="18288" rIns="36576" bIns="18288" rtlCol="0" anchor="ctr"/>
          <a:lstStyle/>
          <a:p>
            <a:pPr algn="ctr"/>
            <a:r>
              <a:rPr lang="en-US" altLang="ko-KR" sz="750" b="1" dirty="0">
                <a:solidFill>
                  <a:srgbClr val="000000"/>
                </a:solidFill>
                <a:latin typeface="맑은 고딕"/>
                <a:ea typeface="맑은 고딕"/>
              </a:rPr>
              <a:t>KV </a:t>
            </a:r>
            <a:r>
              <a:rPr lang="ko-KR" altLang="en-US" sz="750" b="1" dirty="0">
                <a:solidFill>
                  <a:srgbClr val="000000"/>
                </a:solidFill>
                <a:latin typeface="맑은 고딕"/>
                <a:ea typeface="맑은 고딕"/>
              </a:rPr>
              <a:t>정보 수정</a:t>
            </a:r>
            <a:endParaRPr lang="en-US" altLang="ko-KR" sz="750" b="1" dirty="0">
              <a:solidFill>
                <a:srgbClr val="000000"/>
              </a:solidFill>
              <a:latin typeface="맑은 고딕"/>
              <a:ea typeface="맑은 고딕"/>
            </a:endParaRPr>
          </a:p>
          <a:p>
            <a:pPr algn="ctr"/>
            <a:r>
              <a:rPr lang="en-US" altLang="ko-KR" sz="700" dirty="0">
                <a:solidFill>
                  <a:srgbClr val="000000"/>
                </a:solidFill>
                <a:latin typeface="맑은 고딕"/>
                <a:ea typeface="맑은 고딕"/>
              </a:rPr>
              <a:t>(</a:t>
            </a:r>
            <a:r>
              <a:rPr lang="ko-KR" altLang="en-US" sz="700" dirty="0">
                <a:solidFill>
                  <a:srgbClr val="000000"/>
                </a:solidFill>
                <a:latin typeface="맑은 고딕"/>
                <a:ea typeface="맑은 고딕"/>
              </a:rPr>
              <a:t>메모리 </a:t>
            </a:r>
            <a:r>
              <a:rPr lang="en-US" altLang="ko-KR" sz="700" dirty="0">
                <a:solidFill>
                  <a:srgbClr val="000000"/>
                </a:solidFill>
                <a:latin typeface="맑은 고딕"/>
                <a:ea typeface="맑은 고딕"/>
              </a:rPr>
              <a:t>tier</a:t>
            </a:r>
            <a:r>
              <a:rPr lang="ko-KR" altLang="en-US" sz="700" dirty="0">
                <a:solidFill>
                  <a:srgbClr val="000000"/>
                </a:solidFill>
                <a:latin typeface="맑은 고딕"/>
                <a:ea typeface="맑은 고딕"/>
              </a:rPr>
              <a:t> 위치</a:t>
            </a:r>
            <a:r>
              <a:rPr lang="en-US" altLang="ko-KR" sz="700" dirty="0">
                <a:solidFill>
                  <a:srgbClr val="000000"/>
                </a:solidFill>
                <a:latin typeface="맑은 고딕"/>
                <a:ea typeface="맑은 고딕"/>
              </a:rPr>
              <a:t>)</a:t>
            </a:r>
            <a:endParaRPr sz="700" b="0" dirty="0">
              <a:solidFill>
                <a:srgbClr val="000000"/>
              </a:solidFill>
              <a:latin typeface="맑은 고딕"/>
              <a:ea typeface="맑은 고딕"/>
            </a:endParaRPr>
          </a:p>
        </p:txBody>
      </p:sp>
      <p:sp>
        <p:nvSpPr>
          <p:cNvPr id="147" name="Rectangle 151"/>
          <p:cNvSpPr/>
          <p:nvPr/>
        </p:nvSpPr>
        <p:spPr>
          <a:xfrm>
            <a:off x="5074920" y="2998359"/>
            <a:ext cx="1243584" cy="347472"/>
          </a:xfrm>
          <a:prstGeom prst="rect">
            <a:avLst/>
          </a:prstGeom>
          <a:solidFill>
            <a:srgbClr val="F2F2F2"/>
          </a:solidFill>
          <a:ln w="12700">
            <a:solidFill>
              <a:srgbClr val="7F7F7F"/>
            </a:solidFill>
          </a:ln>
          <a:effectLst/>
        </p:spPr>
        <p:txBody>
          <a:bodyPr wrap="square" lIns="36576" tIns="18288" rIns="36576" bIns="18288" rtlCol="0" anchor="ctr"/>
          <a:lstStyle/>
          <a:p>
            <a:pPr algn="ctr"/>
            <a:r>
              <a:rPr sz="800" b="1" dirty="0" err="1">
                <a:solidFill>
                  <a:srgbClr val="000000"/>
                </a:solidFill>
                <a:latin typeface="맑은 고딕"/>
                <a:ea typeface="맑은 고딕"/>
              </a:rPr>
              <a:t>vLLM</a:t>
            </a:r>
            <a:r>
              <a:rPr sz="800" b="1" dirty="0">
                <a:solidFill>
                  <a:srgbClr val="000000"/>
                </a:solidFill>
                <a:latin typeface="맑은 고딕"/>
                <a:ea typeface="맑은 고딕"/>
              </a:rPr>
              <a:t> (decode)</a:t>
            </a:r>
          </a:p>
        </p:txBody>
      </p:sp>
      <p:sp>
        <p:nvSpPr>
          <p:cNvPr id="148" name="Rectangle 152"/>
          <p:cNvSpPr/>
          <p:nvPr/>
        </p:nvSpPr>
        <p:spPr>
          <a:xfrm>
            <a:off x="5010912" y="3631216"/>
            <a:ext cx="1371600" cy="813816"/>
          </a:xfrm>
          <a:prstGeom prst="rect">
            <a:avLst/>
          </a:prstGeom>
          <a:solidFill>
            <a:srgbClr val="FFFFFF"/>
          </a:solidFill>
          <a:ln w="15875">
            <a:solidFill>
              <a:srgbClr val="2E75B6"/>
            </a:solidFill>
          </a:ln>
          <a:effectLst/>
        </p:spPr>
        <p:txBody>
          <a:bodyPr rtlCol="0" anchor="ctr"/>
          <a:lstStyle/>
          <a:p>
            <a:pPr algn="ctr"/>
            <a:endParaRPr/>
          </a:p>
        </p:txBody>
      </p:sp>
      <p:sp>
        <p:nvSpPr>
          <p:cNvPr id="149" name="Rectangle 153"/>
          <p:cNvSpPr/>
          <p:nvPr/>
        </p:nvSpPr>
        <p:spPr>
          <a:xfrm>
            <a:off x="5010912" y="3631216"/>
            <a:ext cx="1371600" cy="173736"/>
          </a:xfrm>
          <a:prstGeom prst="rect">
            <a:avLst/>
          </a:prstGeom>
          <a:solidFill>
            <a:srgbClr val="2E75B6"/>
          </a:solidFill>
          <a:ln w="12700">
            <a:solidFill>
              <a:srgbClr val="2E75B6"/>
            </a:solidFill>
          </a:ln>
          <a:effectLst/>
        </p:spPr>
        <p:txBody>
          <a:bodyPr wrap="square" lIns="45720" tIns="0" rIns="18288" bIns="0" rtlCol="0" anchor="ctr"/>
          <a:lstStyle/>
          <a:p>
            <a:pPr algn="l"/>
            <a:r>
              <a:rPr sz="800" b="1" dirty="0">
                <a:solidFill>
                  <a:srgbClr val="FFFFFF"/>
                </a:solidFill>
                <a:latin typeface="맑은 고딕"/>
                <a:ea typeface="맑은 고딕"/>
              </a:rPr>
              <a:t>«pod» Prefill </a:t>
            </a:r>
            <a:r>
              <a:rPr sz="800" b="1" dirty="0" err="1">
                <a:solidFill>
                  <a:srgbClr val="FFFFFF"/>
                </a:solidFill>
                <a:latin typeface="맑은 고딕"/>
                <a:ea typeface="맑은 고딕"/>
              </a:rPr>
              <a:t>서버</a:t>
            </a:r>
            <a:endParaRPr sz="800" b="1" dirty="0">
              <a:solidFill>
                <a:srgbClr val="FFFFFF"/>
              </a:solidFill>
              <a:latin typeface="맑은 고딕"/>
              <a:ea typeface="맑은 고딕"/>
            </a:endParaRPr>
          </a:p>
        </p:txBody>
      </p:sp>
      <p:sp>
        <p:nvSpPr>
          <p:cNvPr id="150" name="Rectangle 154"/>
          <p:cNvSpPr/>
          <p:nvPr/>
        </p:nvSpPr>
        <p:spPr>
          <a:xfrm>
            <a:off x="5074920" y="3889845"/>
            <a:ext cx="1243584" cy="442861"/>
          </a:xfrm>
          <a:prstGeom prst="rect">
            <a:avLst/>
          </a:prstGeom>
          <a:solidFill>
            <a:srgbClr val="F2F2F2"/>
          </a:solidFill>
          <a:ln w="12700">
            <a:solidFill>
              <a:srgbClr val="7F7F7F"/>
            </a:solidFill>
          </a:ln>
          <a:effectLst/>
        </p:spPr>
        <p:txBody>
          <a:bodyPr wrap="square" lIns="36576" tIns="18288" rIns="36576" bIns="18288" rtlCol="0" anchor="ctr"/>
          <a:lstStyle/>
          <a:p>
            <a:pPr algn="ctr"/>
            <a:r>
              <a:rPr sz="800" b="1" dirty="0" err="1">
                <a:solidFill>
                  <a:srgbClr val="000000"/>
                </a:solidFill>
                <a:latin typeface="맑은 고딕"/>
                <a:ea typeface="맑은 고딕"/>
              </a:rPr>
              <a:t>vLLM</a:t>
            </a:r>
            <a:r>
              <a:rPr sz="800" b="1" dirty="0">
                <a:solidFill>
                  <a:srgbClr val="000000"/>
                </a:solidFill>
                <a:latin typeface="맑은 고딕"/>
                <a:ea typeface="맑은 고딕"/>
              </a:rPr>
              <a:t> (prefill)</a:t>
            </a:r>
          </a:p>
        </p:txBody>
      </p:sp>
      <p:cxnSp>
        <p:nvCxnSpPr>
          <p:cNvPr id="151" name="Connector 160"/>
          <p:cNvCxnSpPr/>
          <p:nvPr/>
        </p:nvCxnSpPr>
        <p:spPr>
          <a:xfrm>
            <a:off x="6053328" y="3345831"/>
            <a:ext cx="0" cy="566928"/>
          </a:xfrm>
          <a:prstGeom prst="line">
            <a:avLst/>
          </a:prstGeom>
          <a:ln w="15875">
            <a:solidFill>
              <a:srgbClr val="404040"/>
            </a:solidFill>
            <a:headEnd type="triangle"/>
            <a:tailEnd type="triangle"/>
          </a:ln>
        </p:spPr>
      </p:cxnSp>
      <p:sp>
        <p:nvSpPr>
          <p:cNvPr id="152" name="Oval 161"/>
          <p:cNvSpPr/>
          <p:nvPr/>
        </p:nvSpPr>
        <p:spPr>
          <a:xfrm>
            <a:off x="5826150" y="3464703"/>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dirty="0">
                <a:solidFill>
                  <a:srgbClr val="FFFFFF"/>
                </a:solidFill>
                <a:latin typeface="맑은 고딕"/>
                <a:ea typeface="맑은 고딕"/>
              </a:rPr>
              <a:t>4</a:t>
            </a:r>
          </a:p>
        </p:txBody>
      </p:sp>
      <p:sp>
        <p:nvSpPr>
          <p:cNvPr id="153" name="Oval 162"/>
          <p:cNvSpPr/>
          <p:nvPr/>
        </p:nvSpPr>
        <p:spPr>
          <a:xfrm>
            <a:off x="6140196" y="3455202"/>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5</a:t>
            </a:r>
          </a:p>
        </p:txBody>
      </p:sp>
      <p:sp>
        <p:nvSpPr>
          <p:cNvPr id="154" name="Rectangle 170"/>
          <p:cNvSpPr/>
          <p:nvPr/>
        </p:nvSpPr>
        <p:spPr>
          <a:xfrm>
            <a:off x="5138928" y="4518732"/>
            <a:ext cx="1261872" cy="155448"/>
          </a:xfrm>
          <a:prstGeom prst="rect">
            <a:avLst/>
          </a:prstGeom>
          <a:solidFill>
            <a:srgbClr val="FFFFFF"/>
          </a:solidFill>
          <a:ln w="22225">
            <a:solidFill>
              <a:srgbClr val="C00000"/>
            </a:solidFill>
          </a:ln>
          <a:effectLst/>
        </p:spPr>
        <p:txBody>
          <a:bodyPr wrap="square" lIns="36576" tIns="18288" rIns="36576" bIns="18288" rtlCol="0" anchor="ctr"/>
          <a:lstStyle/>
          <a:p>
            <a:pPr algn="ctr"/>
            <a:r>
              <a:rPr sz="700" b="1" dirty="0">
                <a:solidFill>
                  <a:srgbClr val="000000"/>
                </a:solidFill>
                <a:latin typeface="맑은 고딕"/>
                <a:ea typeface="맑은 고딕"/>
              </a:rPr>
              <a:t>★ </a:t>
            </a:r>
            <a:r>
              <a:rPr sz="700" b="1" dirty="0" err="1">
                <a:solidFill>
                  <a:srgbClr val="000000"/>
                </a:solidFill>
                <a:latin typeface="맑은 고딕"/>
                <a:ea typeface="맑은 고딕"/>
              </a:rPr>
              <a:t>기존</a:t>
            </a:r>
            <a:r>
              <a:rPr sz="700" b="1" dirty="0">
                <a:solidFill>
                  <a:srgbClr val="000000"/>
                </a:solidFill>
                <a:latin typeface="맑은 고딕"/>
                <a:ea typeface="맑은 고딕"/>
              </a:rPr>
              <a:t> </a:t>
            </a:r>
            <a:r>
              <a:rPr sz="700" b="1" dirty="0" err="1">
                <a:solidFill>
                  <a:srgbClr val="000000"/>
                </a:solidFill>
                <a:latin typeface="맑은 고딕"/>
                <a:ea typeface="맑은 고딕"/>
              </a:rPr>
              <a:t>모듈</a:t>
            </a:r>
            <a:r>
              <a:rPr sz="700" b="1" dirty="0">
                <a:solidFill>
                  <a:srgbClr val="000000"/>
                </a:solidFill>
                <a:latin typeface="맑은 고딕"/>
                <a:ea typeface="맑은 고딕"/>
              </a:rPr>
              <a:t> </a:t>
            </a:r>
            <a:r>
              <a:rPr sz="700" b="1" dirty="0" err="1">
                <a:solidFill>
                  <a:srgbClr val="000000"/>
                </a:solidFill>
                <a:latin typeface="맑은 고딕"/>
                <a:ea typeface="맑은 고딕"/>
              </a:rPr>
              <a:t>수정</a:t>
            </a:r>
            <a:r>
              <a:rPr sz="700" b="1" dirty="0">
                <a:solidFill>
                  <a:srgbClr val="000000"/>
                </a:solidFill>
                <a:latin typeface="맑은 고딕"/>
                <a:ea typeface="맑은 고딕"/>
              </a:rPr>
              <a:t>(patch)</a:t>
            </a:r>
          </a:p>
        </p:txBody>
      </p:sp>
      <p:sp>
        <p:nvSpPr>
          <p:cNvPr id="155" name="Rectangle 167"/>
          <p:cNvSpPr/>
          <p:nvPr/>
        </p:nvSpPr>
        <p:spPr>
          <a:xfrm>
            <a:off x="6583680" y="1873647"/>
            <a:ext cx="566928" cy="256032"/>
          </a:xfrm>
          <a:prstGeom prst="rect">
            <a:avLst/>
          </a:prstGeom>
          <a:solidFill>
            <a:srgbClr val="FFFFFF"/>
          </a:solidFill>
          <a:ln w="12700">
            <a:solidFill>
              <a:srgbClr val="7F7F7F"/>
            </a:solidFill>
          </a:ln>
          <a:effectLst/>
        </p:spPr>
        <p:txBody>
          <a:bodyPr wrap="square" lIns="36576" tIns="18288" rIns="36576" bIns="18288" rtlCol="0" anchor="ctr"/>
          <a:lstStyle/>
          <a:p>
            <a:pPr algn="ctr"/>
            <a:r>
              <a:rPr sz="800" b="1">
                <a:solidFill>
                  <a:srgbClr val="000000"/>
                </a:solidFill>
                <a:latin typeface="맑은 고딕"/>
                <a:ea typeface="맑은 고딕"/>
              </a:rPr>
              <a:t>Client</a:t>
            </a:r>
          </a:p>
        </p:txBody>
      </p:sp>
      <p:sp>
        <p:nvSpPr>
          <p:cNvPr id="156" name="Rectangle 168"/>
          <p:cNvSpPr/>
          <p:nvPr/>
        </p:nvSpPr>
        <p:spPr>
          <a:xfrm>
            <a:off x="6583680" y="2358279"/>
            <a:ext cx="566928" cy="384048"/>
          </a:xfrm>
          <a:prstGeom prst="rect">
            <a:avLst/>
          </a:prstGeom>
          <a:solidFill>
            <a:srgbClr val="FBE5D6"/>
          </a:solidFill>
          <a:ln w="12700">
            <a:solidFill>
              <a:srgbClr val="C55A11"/>
            </a:solidFill>
          </a:ln>
          <a:effectLst/>
        </p:spPr>
        <p:txBody>
          <a:bodyPr wrap="square" lIns="36576" tIns="18288" rIns="36576" bIns="18288" rtlCol="0" anchor="ctr"/>
          <a:lstStyle/>
          <a:p>
            <a:pPr algn="ctr"/>
            <a:r>
              <a:rPr lang="en-US" sz="800" b="1" dirty="0">
                <a:solidFill>
                  <a:srgbClr val="000000"/>
                </a:solidFill>
                <a:latin typeface="맑은 고딕"/>
                <a:ea typeface="맑은 고딕"/>
              </a:rPr>
              <a:t>Load </a:t>
            </a:r>
          </a:p>
          <a:p>
            <a:pPr algn="ctr"/>
            <a:r>
              <a:rPr lang="en-US" sz="800" b="1" dirty="0">
                <a:solidFill>
                  <a:srgbClr val="000000"/>
                </a:solidFill>
                <a:latin typeface="맑은 고딕"/>
                <a:ea typeface="맑은 고딕"/>
              </a:rPr>
              <a:t>Balancer</a:t>
            </a:r>
            <a:endParaRPr sz="800" b="1" dirty="0">
              <a:solidFill>
                <a:srgbClr val="000000"/>
              </a:solidFill>
              <a:latin typeface="맑은 고딕"/>
              <a:ea typeface="맑은 고딕"/>
            </a:endParaRPr>
          </a:p>
        </p:txBody>
      </p:sp>
      <p:cxnSp>
        <p:nvCxnSpPr>
          <p:cNvPr id="157" name="Connector 169"/>
          <p:cNvCxnSpPr/>
          <p:nvPr/>
        </p:nvCxnSpPr>
        <p:spPr>
          <a:xfrm>
            <a:off x="6867144" y="2129679"/>
            <a:ext cx="0" cy="228600"/>
          </a:xfrm>
          <a:prstGeom prst="line">
            <a:avLst/>
          </a:prstGeom>
          <a:ln w="15875">
            <a:solidFill>
              <a:srgbClr val="404040"/>
            </a:solidFill>
            <a:tailEnd type="triangle"/>
          </a:ln>
        </p:spPr>
      </p:cxnSp>
      <p:sp>
        <p:nvSpPr>
          <p:cNvPr id="158" name="Oval 170"/>
          <p:cNvSpPr/>
          <p:nvPr/>
        </p:nvSpPr>
        <p:spPr>
          <a:xfrm>
            <a:off x="6643116" y="2161683"/>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1</a:t>
            </a:r>
          </a:p>
        </p:txBody>
      </p:sp>
      <p:sp>
        <p:nvSpPr>
          <p:cNvPr id="159" name="Rectangle 172"/>
          <p:cNvSpPr/>
          <p:nvPr/>
        </p:nvSpPr>
        <p:spPr>
          <a:xfrm>
            <a:off x="7242048" y="1855359"/>
            <a:ext cx="3566160" cy="2583351"/>
          </a:xfrm>
          <a:prstGeom prst="rect">
            <a:avLst/>
          </a:prstGeom>
          <a:solidFill>
            <a:srgbClr val="FFFFFF"/>
          </a:solidFill>
          <a:ln w="19050">
            <a:solidFill>
              <a:srgbClr val="C55A11"/>
            </a:solidFill>
          </a:ln>
          <a:effectLst/>
        </p:spPr>
        <p:txBody>
          <a:bodyPr rtlCol="0" anchor="ctr"/>
          <a:lstStyle/>
          <a:p>
            <a:pPr algn="ctr"/>
            <a:endParaRPr/>
          </a:p>
        </p:txBody>
      </p:sp>
      <p:sp>
        <p:nvSpPr>
          <p:cNvPr id="160" name="Rectangle 173"/>
          <p:cNvSpPr/>
          <p:nvPr/>
        </p:nvSpPr>
        <p:spPr>
          <a:xfrm>
            <a:off x="7242048" y="1855359"/>
            <a:ext cx="3566160" cy="164592"/>
          </a:xfrm>
          <a:prstGeom prst="rect">
            <a:avLst/>
          </a:prstGeom>
          <a:solidFill>
            <a:srgbClr val="C55A11"/>
          </a:solidFill>
          <a:ln w="12700">
            <a:solidFill>
              <a:srgbClr val="C55A11"/>
            </a:solidFill>
          </a:ln>
          <a:effectLst/>
        </p:spPr>
        <p:txBody>
          <a:bodyPr wrap="square" lIns="45720" tIns="0" rIns="0" bIns="0" rtlCol="0" anchor="ctr"/>
          <a:lstStyle/>
          <a:p>
            <a:pPr algn="l"/>
            <a:r>
              <a:rPr sz="700" b="1">
                <a:solidFill>
                  <a:srgbClr val="FFFFFF"/>
                </a:solidFill>
                <a:latin typeface="맑은 고딕"/>
                <a:ea typeface="맑은 고딕"/>
              </a:rPr>
              <a:t>«process» Own Router 레플리카 1개 (한 프로세스)</a:t>
            </a:r>
          </a:p>
        </p:txBody>
      </p:sp>
      <p:cxnSp>
        <p:nvCxnSpPr>
          <p:cNvPr id="161" name="Connector 174"/>
          <p:cNvCxnSpPr/>
          <p:nvPr/>
        </p:nvCxnSpPr>
        <p:spPr>
          <a:xfrm flipV="1">
            <a:off x="7150608" y="2312559"/>
            <a:ext cx="164592" cy="237744"/>
          </a:xfrm>
          <a:prstGeom prst="line">
            <a:avLst/>
          </a:prstGeom>
          <a:ln w="12700">
            <a:solidFill>
              <a:srgbClr val="404040"/>
            </a:solidFill>
            <a:tailEnd type="triangle"/>
          </a:ln>
        </p:spPr>
      </p:cxnSp>
      <p:sp>
        <p:nvSpPr>
          <p:cNvPr id="162" name="Rectangle 175"/>
          <p:cNvSpPr/>
          <p:nvPr/>
        </p:nvSpPr>
        <p:spPr>
          <a:xfrm>
            <a:off x="7333488" y="2156202"/>
            <a:ext cx="3383280" cy="187365"/>
          </a:xfrm>
          <a:prstGeom prst="rect">
            <a:avLst/>
          </a:prstGeom>
          <a:solidFill>
            <a:srgbClr val="FBE5D6"/>
          </a:solidFill>
          <a:ln w="12700">
            <a:solidFill>
              <a:srgbClr val="C55A11"/>
            </a:solidFill>
          </a:ln>
          <a:effectLst/>
        </p:spPr>
        <p:txBody>
          <a:bodyPr wrap="square" lIns="36576" tIns="18288" rIns="36576" bIns="18288" rtlCol="0" anchor="ctr"/>
          <a:lstStyle/>
          <a:p>
            <a:pPr algn="ctr"/>
            <a:r>
              <a:rPr sz="750" b="1" dirty="0">
                <a:solidFill>
                  <a:srgbClr val="000000"/>
                </a:solidFill>
                <a:latin typeface="맑은 고딕"/>
                <a:ea typeface="맑은 고딕"/>
              </a:rPr>
              <a:t>Ingress / API   </a:t>
            </a:r>
            <a:r>
              <a:rPr sz="750" b="1" dirty="0" err="1">
                <a:solidFill>
                  <a:srgbClr val="000000"/>
                </a:solidFill>
                <a:latin typeface="맑은 고딕"/>
                <a:ea typeface="맑은 고딕"/>
              </a:rPr>
              <a:t>요청</a:t>
            </a:r>
            <a:r>
              <a:rPr sz="750" b="1" dirty="0">
                <a:solidFill>
                  <a:srgbClr val="000000"/>
                </a:solidFill>
                <a:latin typeface="맑은 고딕"/>
                <a:ea typeface="맑은 고딕"/>
              </a:rPr>
              <a:t> </a:t>
            </a:r>
            <a:r>
              <a:rPr sz="750" b="1" dirty="0" err="1">
                <a:solidFill>
                  <a:srgbClr val="000000"/>
                </a:solidFill>
                <a:latin typeface="맑은 고딕"/>
                <a:ea typeface="맑은 고딕"/>
              </a:rPr>
              <a:t>파싱</a:t>
            </a:r>
            <a:r>
              <a:rPr sz="750" b="1" dirty="0">
                <a:solidFill>
                  <a:srgbClr val="000000"/>
                </a:solidFill>
                <a:latin typeface="맑은 고딕"/>
                <a:ea typeface="맑은 고딕"/>
              </a:rPr>
              <a:t> · </a:t>
            </a:r>
            <a:r>
              <a:rPr sz="750" b="1" dirty="0" err="1">
                <a:solidFill>
                  <a:srgbClr val="000000"/>
                </a:solidFill>
                <a:latin typeface="맑은 고딕"/>
                <a:ea typeface="맑은 고딕"/>
              </a:rPr>
              <a:t>스트리밍</a:t>
            </a:r>
            <a:endParaRPr sz="750" b="1" dirty="0">
              <a:solidFill>
                <a:srgbClr val="000000"/>
              </a:solidFill>
              <a:latin typeface="맑은 고딕"/>
              <a:ea typeface="맑은 고딕"/>
            </a:endParaRPr>
          </a:p>
        </p:txBody>
      </p:sp>
      <p:sp>
        <p:nvSpPr>
          <p:cNvPr id="163" name="Rectangle 176"/>
          <p:cNvSpPr/>
          <p:nvPr/>
        </p:nvSpPr>
        <p:spPr>
          <a:xfrm>
            <a:off x="7333488" y="2626885"/>
            <a:ext cx="868680" cy="23774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50" b="1" dirty="0">
                <a:solidFill>
                  <a:srgbClr val="000000"/>
                </a:solidFill>
                <a:latin typeface="맑은 고딕"/>
                <a:ea typeface="맑은 고딕"/>
              </a:rPr>
              <a:t>Admission</a:t>
            </a:r>
          </a:p>
        </p:txBody>
      </p:sp>
      <p:sp>
        <p:nvSpPr>
          <p:cNvPr id="164" name="Rectangle 177"/>
          <p:cNvSpPr/>
          <p:nvPr/>
        </p:nvSpPr>
        <p:spPr>
          <a:xfrm>
            <a:off x="8321040" y="2626885"/>
            <a:ext cx="1051560" cy="237744"/>
          </a:xfrm>
          <a:prstGeom prst="rect">
            <a:avLst/>
          </a:prstGeom>
          <a:solidFill>
            <a:srgbClr val="FBE5D6"/>
          </a:solidFill>
          <a:ln w="19050">
            <a:solidFill>
              <a:srgbClr val="C55A11"/>
            </a:solidFill>
          </a:ln>
          <a:effectLst/>
        </p:spPr>
        <p:txBody>
          <a:bodyPr wrap="square" lIns="36576" tIns="18288" rIns="36576" bIns="18288" rtlCol="0" anchor="ctr"/>
          <a:lstStyle/>
          <a:p>
            <a:pPr algn="ctr"/>
            <a:r>
              <a:rPr lang="en-US" sz="750" b="1" dirty="0">
                <a:solidFill>
                  <a:srgbClr val="000000"/>
                </a:solidFill>
                <a:latin typeface="맑은 고딕"/>
                <a:ea typeface="맑은 고딕"/>
              </a:rPr>
              <a:t>P/D</a:t>
            </a:r>
            <a:r>
              <a:rPr sz="750" b="1" dirty="0">
                <a:solidFill>
                  <a:srgbClr val="000000"/>
                </a:solidFill>
                <a:latin typeface="맑은 고딕"/>
                <a:ea typeface="맑은 고딕"/>
              </a:rPr>
              <a:t> Selector</a:t>
            </a:r>
          </a:p>
        </p:txBody>
      </p:sp>
      <p:sp>
        <p:nvSpPr>
          <p:cNvPr id="165" name="Rectangle 178"/>
          <p:cNvSpPr/>
          <p:nvPr/>
        </p:nvSpPr>
        <p:spPr>
          <a:xfrm>
            <a:off x="9491472" y="2626885"/>
            <a:ext cx="1225296" cy="23774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50" b="1" dirty="0">
                <a:solidFill>
                  <a:srgbClr val="000000"/>
                </a:solidFill>
                <a:latin typeface="맑은 고딕"/>
                <a:ea typeface="맑은 고딕"/>
              </a:rPr>
              <a:t>Dispatcher</a:t>
            </a:r>
          </a:p>
        </p:txBody>
      </p:sp>
      <p:cxnSp>
        <p:nvCxnSpPr>
          <p:cNvPr id="166" name="Connector 179"/>
          <p:cNvCxnSpPr>
            <a:stCxn id="163" idx="3"/>
            <a:endCxn id="164" idx="1"/>
          </p:cNvCxnSpPr>
          <p:nvPr/>
        </p:nvCxnSpPr>
        <p:spPr>
          <a:xfrm>
            <a:off x="8202168" y="2745757"/>
            <a:ext cx="118872" cy="0"/>
          </a:xfrm>
          <a:prstGeom prst="line">
            <a:avLst/>
          </a:prstGeom>
          <a:ln w="15875">
            <a:solidFill>
              <a:srgbClr val="C55A11"/>
            </a:solidFill>
            <a:tailEnd type="triangle"/>
          </a:ln>
        </p:spPr>
      </p:cxnSp>
      <p:cxnSp>
        <p:nvCxnSpPr>
          <p:cNvPr id="167" name="Connector 180"/>
          <p:cNvCxnSpPr>
            <a:stCxn id="164" idx="3"/>
            <a:endCxn id="165" idx="1"/>
          </p:cNvCxnSpPr>
          <p:nvPr/>
        </p:nvCxnSpPr>
        <p:spPr>
          <a:xfrm>
            <a:off x="9372600" y="2745757"/>
            <a:ext cx="118872" cy="0"/>
          </a:xfrm>
          <a:prstGeom prst="line">
            <a:avLst/>
          </a:prstGeom>
          <a:ln w="15875">
            <a:solidFill>
              <a:srgbClr val="C55A11"/>
            </a:solidFill>
            <a:tailEnd type="triangle"/>
          </a:ln>
        </p:spPr>
      </p:cxnSp>
      <p:cxnSp>
        <p:nvCxnSpPr>
          <p:cNvPr id="170" name="Connector 181"/>
          <p:cNvCxnSpPr/>
          <p:nvPr/>
        </p:nvCxnSpPr>
        <p:spPr>
          <a:xfrm>
            <a:off x="7884414" y="2351422"/>
            <a:ext cx="0" cy="210312"/>
          </a:xfrm>
          <a:prstGeom prst="line">
            <a:avLst/>
          </a:prstGeom>
          <a:ln w="15875">
            <a:solidFill>
              <a:srgbClr val="C55A11"/>
            </a:solidFill>
            <a:tailEnd type="triangle"/>
          </a:ln>
        </p:spPr>
      </p:cxnSp>
      <p:sp>
        <p:nvSpPr>
          <p:cNvPr id="171" name="Rectangle 183"/>
          <p:cNvSpPr/>
          <p:nvPr/>
        </p:nvSpPr>
        <p:spPr>
          <a:xfrm>
            <a:off x="7333488" y="3084427"/>
            <a:ext cx="1600200" cy="137160"/>
          </a:xfrm>
          <a:prstGeom prst="rect">
            <a:avLst/>
          </a:prstGeom>
          <a:solidFill>
            <a:srgbClr val="EDE7F6"/>
          </a:solidFill>
          <a:ln w="9525">
            <a:solidFill>
              <a:srgbClr val="5E35B1"/>
            </a:solidFill>
          </a:ln>
          <a:effectLst/>
        </p:spPr>
        <p:txBody>
          <a:bodyPr wrap="square" lIns="18288" tIns="0" rIns="18288" bIns="0" rtlCol="0" anchor="ctr"/>
          <a:lstStyle/>
          <a:p>
            <a:pPr algn="ctr"/>
            <a:r>
              <a:rPr sz="600" b="1" dirty="0">
                <a:solidFill>
                  <a:srgbClr val="5E35B1"/>
                </a:solidFill>
                <a:latin typeface="맑은 고딕"/>
                <a:ea typeface="맑은 고딕"/>
              </a:rPr>
              <a:t>«Strategy» </a:t>
            </a:r>
            <a:r>
              <a:rPr sz="600" b="1" dirty="0" err="1">
                <a:solidFill>
                  <a:srgbClr val="5E35B1"/>
                </a:solidFill>
                <a:latin typeface="맑은 고딕"/>
                <a:ea typeface="맑은 고딕"/>
              </a:rPr>
              <a:t>점수</a:t>
            </a:r>
            <a:r>
              <a:rPr sz="600" b="1" dirty="0">
                <a:solidFill>
                  <a:srgbClr val="5E35B1"/>
                </a:solidFill>
                <a:latin typeface="맑은 고딕"/>
                <a:ea typeface="맑은 고딕"/>
              </a:rPr>
              <a:t> </a:t>
            </a:r>
            <a:r>
              <a:rPr sz="600" b="1" dirty="0" err="1">
                <a:solidFill>
                  <a:srgbClr val="5E35B1"/>
                </a:solidFill>
                <a:latin typeface="맑은 고딕"/>
                <a:ea typeface="맑은 고딕"/>
              </a:rPr>
              <a:t>정책</a:t>
            </a:r>
            <a:r>
              <a:rPr sz="600" b="1" dirty="0">
                <a:solidFill>
                  <a:srgbClr val="5E35B1"/>
                </a:solidFill>
                <a:latin typeface="맑은 고딕"/>
                <a:ea typeface="맑은 고딕"/>
              </a:rPr>
              <a:t> ↔ 1안 plugin </a:t>
            </a:r>
            <a:r>
              <a:rPr sz="600" b="1" dirty="0" err="1">
                <a:solidFill>
                  <a:srgbClr val="5E35B1"/>
                </a:solidFill>
                <a:latin typeface="맑은 고딕"/>
                <a:ea typeface="맑은 고딕"/>
              </a:rPr>
              <a:t>대응</a:t>
            </a:r>
            <a:endParaRPr sz="600" b="1" dirty="0">
              <a:solidFill>
                <a:srgbClr val="5E35B1"/>
              </a:solidFill>
              <a:latin typeface="맑은 고딕"/>
              <a:ea typeface="맑은 고딕"/>
            </a:endParaRPr>
          </a:p>
        </p:txBody>
      </p:sp>
      <p:sp>
        <p:nvSpPr>
          <p:cNvPr id="172" name="Rectangle 184"/>
          <p:cNvSpPr/>
          <p:nvPr/>
        </p:nvSpPr>
        <p:spPr>
          <a:xfrm>
            <a:off x="7333488" y="3239874"/>
            <a:ext cx="1783080" cy="281487"/>
          </a:xfrm>
          <a:prstGeom prst="rect">
            <a:avLst/>
          </a:prstGeom>
          <a:solidFill>
            <a:srgbClr val="FFFFFF"/>
          </a:solidFill>
          <a:ln w="15875">
            <a:solidFill>
              <a:srgbClr val="5E35B1"/>
            </a:solidFill>
          </a:ln>
          <a:effectLst/>
        </p:spPr>
        <p:txBody>
          <a:bodyPr rtlCol="0" anchor="ctr"/>
          <a:lstStyle/>
          <a:p>
            <a:pPr algn="ctr"/>
            <a:endParaRPr/>
          </a:p>
        </p:txBody>
      </p:sp>
      <p:sp>
        <p:nvSpPr>
          <p:cNvPr id="173" name="TextBox 172"/>
          <p:cNvSpPr txBox="1"/>
          <p:nvPr/>
        </p:nvSpPr>
        <p:spPr>
          <a:xfrm>
            <a:off x="7665475" y="3308835"/>
            <a:ext cx="1186641" cy="118872"/>
          </a:xfrm>
          <a:prstGeom prst="rect">
            <a:avLst/>
          </a:prstGeom>
          <a:noFill/>
        </p:spPr>
        <p:txBody>
          <a:bodyPr wrap="square" lIns="0" tIns="0" rIns="0" bIns="0" anchor="t">
            <a:spAutoFit/>
          </a:bodyPr>
          <a:lstStyle/>
          <a:p>
            <a:pPr algn="l"/>
            <a:r>
              <a:rPr sz="650" b="1" dirty="0">
                <a:solidFill>
                  <a:srgbClr val="5E35B1"/>
                </a:solidFill>
                <a:latin typeface="맑은 고딕"/>
                <a:ea typeface="맑은 고딕"/>
              </a:rPr>
              <a:t>«interface» </a:t>
            </a:r>
            <a:r>
              <a:rPr sz="650" b="1" dirty="0" err="1">
                <a:solidFill>
                  <a:srgbClr val="5E35B1"/>
                </a:solidFill>
                <a:latin typeface="맑은 고딕"/>
                <a:ea typeface="맑은 고딕"/>
              </a:rPr>
              <a:t>ScoreStrategy</a:t>
            </a:r>
            <a:endParaRPr sz="650" b="1" dirty="0">
              <a:solidFill>
                <a:srgbClr val="5E35B1"/>
              </a:solidFill>
              <a:latin typeface="맑은 고딕"/>
              <a:ea typeface="맑은 고딕"/>
            </a:endParaRPr>
          </a:p>
        </p:txBody>
      </p:sp>
      <p:cxnSp>
        <p:nvCxnSpPr>
          <p:cNvPr id="174" name="Connector 194"/>
          <p:cNvCxnSpPr/>
          <p:nvPr/>
        </p:nvCxnSpPr>
        <p:spPr>
          <a:xfrm>
            <a:off x="10408920" y="2888631"/>
            <a:ext cx="0" cy="201168"/>
          </a:xfrm>
          <a:prstGeom prst="line">
            <a:avLst/>
          </a:prstGeom>
          <a:ln w="15875">
            <a:solidFill>
              <a:srgbClr val="5E35B1"/>
            </a:solidFill>
            <a:tailEnd type="triangle"/>
          </a:ln>
        </p:spPr>
      </p:cxnSp>
      <p:sp>
        <p:nvSpPr>
          <p:cNvPr id="175" name="Rectangle 195"/>
          <p:cNvSpPr/>
          <p:nvPr/>
        </p:nvSpPr>
        <p:spPr>
          <a:xfrm>
            <a:off x="9217152" y="3391860"/>
            <a:ext cx="1536192" cy="137160"/>
          </a:xfrm>
          <a:prstGeom prst="rect">
            <a:avLst/>
          </a:prstGeom>
          <a:solidFill>
            <a:srgbClr val="EDE7F6"/>
          </a:solidFill>
          <a:ln w="9525">
            <a:solidFill>
              <a:srgbClr val="5E35B1"/>
            </a:solidFill>
          </a:ln>
          <a:effectLst/>
        </p:spPr>
        <p:txBody>
          <a:bodyPr wrap="square" lIns="18288" tIns="0" rIns="18288" bIns="0" rtlCol="0" anchor="ctr"/>
          <a:lstStyle/>
          <a:p>
            <a:pPr algn="ctr"/>
            <a:r>
              <a:rPr sz="600" b="1" dirty="0">
                <a:solidFill>
                  <a:srgbClr val="5E35B1"/>
                </a:solidFill>
                <a:latin typeface="맑은 고딕"/>
                <a:ea typeface="맑은 고딕"/>
              </a:rPr>
              <a:t>«Decorator» </a:t>
            </a:r>
            <a:r>
              <a:rPr lang="ko-KR" altLang="en-US" sz="600" b="1" dirty="0">
                <a:solidFill>
                  <a:srgbClr val="5E35B1"/>
                </a:solidFill>
                <a:latin typeface="맑은 고딕"/>
                <a:ea typeface="맑은 고딕"/>
              </a:rPr>
              <a:t>메모리 </a:t>
            </a:r>
            <a:r>
              <a:rPr lang="en-US" altLang="ko-KR" sz="600" b="1" dirty="0">
                <a:solidFill>
                  <a:srgbClr val="5E35B1"/>
                </a:solidFill>
                <a:latin typeface="맑은 고딕"/>
                <a:ea typeface="맑은 고딕"/>
              </a:rPr>
              <a:t>tier</a:t>
            </a:r>
            <a:r>
              <a:rPr lang="ko-KR" altLang="en-US" sz="600" b="1" dirty="0">
                <a:solidFill>
                  <a:srgbClr val="5E35B1"/>
                </a:solidFill>
                <a:latin typeface="맑은 고딕"/>
                <a:ea typeface="맑은 고딕"/>
              </a:rPr>
              <a:t>별 비용</a:t>
            </a:r>
            <a:endParaRPr sz="600" b="1" dirty="0">
              <a:solidFill>
                <a:srgbClr val="5E35B1"/>
              </a:solidFill>
              <a:latin typeface="맑은 고딕"/>
              <a:ea typeface="맑은 고딕"/>
            </a:endParaRPr>
          </a:p>
        </p:txBody>
      </p:sp>
      <p:sp>
        <p:nvSpPr>
          <p:cNvPr id="176" name="Rectangle 196"/>
          <p:cNvSpPr/>
          <p:nvPr/>
        </p:nvSpPr>
        <p:spPr>
          <a:xfrm>
            <a:off x="9217152" y="3538164"/>
            <a:ext cx="1536192" cy="182880"/>
          </a:xfrm>
          <a:prstGeom prst="rect">
            <a:avLst/>
          </a:prstGeom>
          <a:solidFill>
            <a:srgbClr val="FBE5D6"/>
          </a:solidFill>
          <a:ln w="12700">
            <a:solidFill>
              <a:srgbClr val="C55A11"/>
            </a:solidFill>
          </a:ln>
          <a:effectLst/>
        </p:spPr>
        <p:txBody>
          <a:bodyPr wrap="square" lIns="36576" tIns="18288" rIns="36576" bIns="18288" rtlCol="0" anchor="ctr"/>
          <a:lstStyle/>
          <a:p>
            <a:pPr algn="ctr"/>
            <a:r>
              <a:rPr lang="ko-KR" altLang="en-US" sz="650" dirty="0">
                <a:solidFill>
                  <a:srgbClr val="000000"/>
                </a:solidFill>
                <a:latin typeface="맑은 고딕"/>
                <a:ea typeface="맑은 고딕"/>
              </a:rPr>
              <a:t>메모리 </a:t>
            </a:r>
            <a:r>
              <a:rPr lang="en-US" altLang="ko-KR" sz="650" dirty="0">
                <a:solidFill>
                  <a:srgbClr val="000000"/>
                </a:solidFill>
                <a:latin typeface="맑은 고딕"/>
                <a:ea typeface="맑은 고딕"/>
              </a:rPr>
              <a:t>Tier</a:t>
            </a:r>
            <a:r>
              <a:rPr lang="ko-KR" altLang="en-US" sz="650" dirty="0">
                <a:solidFill>
                  <a:srgbClr val="000000"/>
                </a:solidFill>
                <a:latin typeface="맑은 고딕"/>
                <a:ea typeface="맑은 고딕"/>
              </a:rPr>
              <a:t>별 비용</a:t>
            </a:r>
            <a:endParaRPr sz="650" b="0" dirty="0">
              <a:solidFill>
                <a:srgbClr val="000000"/>
              </a:solidFill>
              <a:latin typeface="맑은 고딕"/>
              <a:ea typeface="맑은 고딕"/>
            </a:endParaRPr>
          </a:p>
        </p:txBody>
      </p:sp>
      <p:sp>
        <p:nvSpPr>
          <p:cNvPr id="177" name="Rectangle 197"/>
          <p:cNvSpPr/>
          <p:nvPr/>
        </p:nvSpPr>
        <p:spPr>
          <a:xfrm>
            <a:off x="7848674" y="3985863"/>
            <a:ext cx="777240" cy="31227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00" b="1" dirty="0">
                <a:solidFill>
                  <a:srgbClr val="000000"/>
                </a:solidFill>
                <a:latin typeface="맑은 고딕"/>
                <a:ea typeface="맑은 고딕"/>
              </a:rPr>
              <a:t>Event</a:t>
            </a:r>
          </a:p>
          <a:p>
            <a:pPr algn="ctr"/>
            <a:r>
              <a:rPr sz="700" b="1" dirty="0">
                <a:solidFill>
                  <a:srgbClr val="000000"/>
                </a:solidFill>
                <a:latin typeface="맑은 고딕"/>
                <a:ea typeface="맑은 고딕"/>
              </a:rPr>
              <a:t>Subscriber</a:t>
            </a:r>
          </a:p>
        </p:txBody>
      </p:sp>
      <p:sp>
        <p:nvSpPr>
          <p:cNvPr id="179" name="Rectangle 198"/>
          <p:cNvSpPr/>
          <p:nvPr/>
        </p:nvSpPr>
        <p:spPr>
          <a:xfrm>
            <a:off x="8744786" y="3932312"/>
            <a:ext cx="868680" cy="173812"/>
          </a:xfrm>
          <a:prstGeom prst="rect">
            <a:avLst/>
          </a:prstGeom>
          <a:solidFill>
            <a:srgbClr val="FBE5D6"/>
          </a:solidFill>
          <a:ln w="12700">
            <a:solidFill>
              <a:srgbClr val="C55A11"/>
            </a:solidFill>
          </a:ln>
          <a:effectLst/>
        </p:spPr>
        <p:txBody>
          <a:bodyPr wrap="square" lIns="36576" tIns="18288" rIns="36576" bIns="18288" rtlCol="0" anchor="ctr"/>
          <a:lstStyle/>
          <a:p>
            <a:pPr algn="ctr"/>
            <a:r>
              <a:rPr sz="650" b="1" dirty="0">
                <a:solidFill>
                  <a:srgbClr val="000000"/>
                </a:solidFill>
                <a:latin typeface="맑은 고딕"/>
                <a:ea typeface="맑은 고딕"/>
              </a:rPr>
              <a:t>KV Index </a:t>
            </a:r>
            <a:r>
              <a:rPr sz="650" b="1" dirty="0" err="1">
                <a:solidFill>
                  <a:srgbClr val="000000"/>
                </a:solidFill>
                <a:latin typeface="맑은 고딕"/>
                <a:ea typeface="맑은 고딕"/>
              </a:rPr>
              <a:t>갱신</a:t>
            </a:r>
            <a:endParaRPr sz="650" b="1" dirty="0">
              <a:solidFill>
                <a:srgbClr val="000000"/>
              </a:solidFill>
              <a:latin typeface="맑은 고딕"/>
              <a:ea typeface="맑은 고딕"/>
            </a:endParaRPr>
          </a:p>
        </p:txBody>
      </p:sp>
      <p:cxnSp>
        <p:nvCxnSpPr>
          <p:cNvPr id="180" name="Connector 199"/>
          <p:cNvCxnSpPr/>
          <p:nvPr/>
        </p:nvCxnSpPr>
        <p:spPr>
          <a:xfrm flipV="1">
            <a:off x="8625914" y="4023348"/>
            <a:ext cx="118872" cy="52898"/>
          </a:xfrm>
          <a:prstGeom prst="line">
            <a:avLst/>
          </a:prstGeom>
          <a:ln w="12700">
            <a:solidFill>
              <a:srgbClr val="C55A11"/>
            </a:solidFill>
            <a:tailEnd type="triangle"/>
          </a:ln>
        </p:spPr>
      </p:cxnSp>
      <p:sp>
        <p:nvSpPr>
          <p:cNvPr id="181" name="Rectangle 200"/>
          <p:cNvSpPr/>
          <p:nvPr/>
        </p:nvSpPr>
        <p:spPr>
          <a:xfrm>
            <a:off x="8744786" y="4179199"/>
            <a:ext cx="868680" cy="173812"/>
          </a:xfrm>
          <a:prstGeom prst="rect">
            <a:avLst/>
          </a:prstGeom>
          <a:solidFill>
            <a:srgbClr val="FBE5D6"/>
          </a:solidFill>
          <a:ln w="12700">
            <a:solidFill>
              <a:srgbClr val="C55A11"/>
            </a:solidFill>
          </a:ln>
          <a:effectLst/>
        </p:spPr>
        <p:txBody>
          <a:bodyPr wrap="square" lIns="36576" tIns="18288" rIns="36576" bIns="18288" rtlCol="0" anchor="ctr"/>
          <a:lstStyle/>
          <a:p>
            <a:pPr algn="ctr"/>
            <a:r>
              <a:rPr sz="650" b="1">
                <a:solidFill>
                  <a:srgbClr val="000000"/>
                </a:solidFill>
                <a:latin typeface="맑은 고딕"/>
                <a:ea typeface="맑은 고딕"/>
              </a:rPr>
              <a:t>Metrics 스냅샷</a:t>
            </a:r>
          </a:p>
        </p:txBody>
      </p:sp>
      <p:cxnSp>
        <p:nvCxnSpPr>
          <p:cNvPr id="182" name="Connector 201"/>
          <p:cNvCxnSpPr/>
          <p:nvPr/>
        </p:nvCxnSpPr>
        <p:spPr>
          <a:xfrm>
            <a:off x="8625914" y="4222930"/>
            <a:ext cx="118872" cy="37785"/>
          </a:xfrm>
          <a:prstGeom prst="line">
            <a:avLst/>
          </a:prstGeom>
          <a:ln w="12700">
            <a:solidFill>
              <a:srgbClr val="C55A11"/>
            </a:solidFill>
            <a:tailEnd type="triangle"/>
          </a:ln>
        </p:spPr>
      </p:cxnSp>
      <p:sp>
        <p:nvSpPr>
          <p:cNvPr id="183" name="Rectangle 202"/>
          <p:cNvSpPr/>
          <p:nvPr/>
        </p:nvSpPr>
        <p:spPr>
          <a:xfrm>
            <a:off x="9732338" y="3985863"/>
            <a:ext cx="731520" cy="31227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00" b="1" dirty="0">
                <a:solidFill>
                  <a:srgbClr val="000000"/>
                </a:solidFill>
                <a:latin typeface="맑은 고딕"/>
                <a:ea typeface="맑은 고딕"/>
              </a:rPr>
              <a:t>State</a:t>
            </a:r>
            <a:r>
              <a:rPr lang="en-US" sz="700" b="1" dirty="0">
                <a:solidFill>
                  <a:srgbClr val="000000"/>
                </a:solidFill>
                <a:latin typeface="맑은 고딕"/>
                <a:ea typeface="맑은 고딕"/>
              </a:rPr>
              <a:t> </a:t>
            </a:r>
            <a:r>
              <a:rPr sz="700" b="1" dirty="0">
                <a:solidFill>
                  <a:srgbClr val="000000"/>
                </a:solidFill>
                <a:latin typeface="맑은 고딕"/>
                <a:ea typeface="맑은 고딕"/>
              </a:rPr>
              <a:t>View</a:t>
            </a:r>
          </a:p>
        </p:txBody>
      </p:sp>
      <p:cxnSp>
        <p:nvCxnSpPr>
          <p:cNvPr id="184" name="Connector 203"/>
          <p:cNvCxnSpPr/>
          <p:nvPr/>
        </p:nvCxnSpPr>
        <p:spPr>
          <a:xfrm>
            <a:off x="9614474" y="4147871"/>
            <a:ext cx="118872" cy="0"/>
          </a:xfrm>
          <a:prstGeom prst="line">
            <a:avLst/>
          </a:prstGeom>
          <a:ln w="12700">
            <a:solidFill>
              <a:srgbClr val="C55A11"/>
            </a:solidFill>
            <a:tailEnd type="triangle"/>
          </a:ln>
        </p:spPr>
      </p:cxnSp>
      <p:cxnSp>
        <p:nvCxnSpPr>
          <p:cNvPr id="185" name="Connector 204"/>
          <p:cNvCxnSpPr>
            <a:stCxn id="183" idx="0"/>
            <a:endCxn id="172" idx="2"/>
          </p:cNvCxnSpPr>
          <p:nvPr/>
        </p:nvCxnSpPr>
        <p:spPr>
          <a:xfrm rot="16200000" flipV="1">
            <a:off x="8929312" y="2817077"/>
            <a:ext cx="464502" cy="1873070"/>
          </a:xfrm>
          <a:prstGeom prst="bentConnector3">
            <a:avLst>
              <a:gd name="adj1" fmla="val 50000"/>
            </a:avLst>
          </a:prstGeom>
          <a:ln w="15875">
            <a:solidFill>
              <a:srgbClr val="C55A11"/>
            </a:solidFill>
            <a:tailEnd type="triangle"/>
          </a:ln>
        </p:spPr>
      </p:cxnSp>
      <p:sp>
        <p:nvSpPr>
          <p:cNvPr id="186" name="Rectangle 213"/>
          <p:cNvSpPr/>
          <p:nvPr/>
        </p:nvSpPr>
        <p:spPr>
          <a:xfrm>
            <a:off x="10954512" y="1855359"/>
            <a:ext cx="914400" cy="1097280"/>
          </a:xfrm>
          <a:prstGeom prst="rect">
            <a:avLst/>
          </a:prstGeom>
          <a:solidFill>
            <a:srgbClr val="FFFFFF"/>
          </a:solidFill>
          <a:ln w="15875">
            <a:solidFill>
              <a:srgbClr val="7F7F7F"/>
            </a:solidFill>
          </a:ln>
          <a:effectLst/>
        </p:spPr>
        <p:txBody>
          <a:bodyPr rtlCol="0" anchor="ctr"/>
          <a:lstStyle/>
          <a:p>
            <a:pPr algn="ctr"/>
            <a:endParaRPr/>
          </a:p>
        </p:txBody>
      </p:sp>
      <p:sp>
        <p:nvSpPr>
          <p:cNvPr id="187" name="Rectangle 214"/>
          <p:cNvSpPr/>
          <p:nvPr/>
        </p:nvSpPr>
        <p:spPr>
          <a:xfrm>
            <a:off x="10954512" y="1855359"/>
            <a:ext cx="914400" cy="173736"/>
          </a:xfrm>
          <a:prstGeom prst="rect">
            <a:avLst/>
          </a:prstGeom>
          <a:solidFill>
            <a:srgbClr val="7F7F7F"/>
          </a:solidFill>
          <a:ln w="12700">
            <a:solidFill>
              <a:srgbClr val="7F7F7F"/>
            </a:solidFill>
          </a:ln>
          <a:effectLst/>
        </p:spPr>
        <p:txBody>
          <a:bodyPr wrap="square" lIns="45720" tIns="0" rIns="18288" bIns="0" rtlCol="0" anchor="ctr"/>
          <a:lstStyle/>
          <a:p>
            <a:pPr algn="l"/>
            <a:r>
              <a:rPr sz="800" b="1">
                <a:solidFill>
                  <a:srgbClr val="FFFFFF"/>
                </a:solidFill>
                <a:latin typeface="맑은 고딕"/>
                <a:ea typeface="맑은 고딕"/>
              </a:rPr>
              <a:t>«pod» vLLM</a:t>
            </a:r>
          </a:p>
        </p:txBody>
      </p:sp>
      <p:sp>
        <p:nvSpPr>
          <p:cNvPr id="189" name="Rectangle 215"/>
          <p:cNvSpPr/>
          <p:nvPr/>
        </p:nvSpPr>
        <p:spPr>
          <a:xfrm>
            <a:off x="11009376" y="2102247"/>
            <a:ext cx="804672" cy="778374"/>
          </a:xfrm>
          <a:prstGeom prst="rect">
            <a:avLst/>
          </a:prstGeom>
          <a:solidFill>
            <a:srgbClr val="F2F2F2"/>
          </a:solidFill>
          <a:ln w="12700">
            <a:solidFill>
              <a:srgbClr val="7F7F7F"/>
            </a:solidFill>
          </a:ln>
          <a:effectLst/>
        </p:spPr>
        <p:txBody>
          <a:bodyPr wrap="square" lIns="36576" tIns="18288" rIns="36576" bIns="18288" rtlCol="0" anchor="ctr"/>
          <a:lstStyle/>
          <a:p>
            <a:pPr algn="ctr"/>
            <a:r>
              <a:rPr lang="en-US" altLang="ko-KR" sz="800" b="1" dirty="0" err="1">
                <a:solidFill>
                  <a:srgbClr val="000000"/>
                </a:solidFill>
                <a:ea typeface="맑은 고딕"/>
              </a:rPr>
              <a:t>vLLM</a:t>
            </a:r>
            <a:r>
              <a:rPr lang="en-US" altLang="ko-KR" sz="800" b="1" dirty="0">
                <a:solidFill>
                  <a:srgbClr val="000000"/>
                </a:solidFill>
                <a:ea typeface="맑은 고딕"/>
              </a:rPr>
              <a:t> (decode)</a:t>
            </a:r>
          </a:p>
        </p:txBody>
      </p:sp>
      <p:sp>
        <p:nvSpPr>
          <p:cNvPr id="190" name="Rectangle 216"/>
          <p:cNvSpPr/>
          <p:nvPr/>
        </p:nvSpPr>
        <p:spPr>
          <a:xfrm>
            <a:off x="10954512" y="3318399"/>
            <a:ext cx="914400" cy="1120311"/>
          </a:xfrm>
          <a:prstGeom prst="rect">
            <a:avLst/>
          </a:prstGeom>
          <a:solidFill>
            <a:srgbClr val="FFFFFF"/>
          </a:solidFill>
          <a:ln w="15875">
            <a:solidFill>
              <a:srgbClr val="7F7F7F"/>
            </a:solidFill>
          </a:ln>
          <a:effectLst/>
        </p:spPr>
        <p:txBody>
          <a:bodyPr rtlCol="0" anchor="ctr"/>
          <a:lstStyle/>
          <a:p>
            <a:pPr algn="ctr"/>
            <a:endParaRPr/>
          </a:p>
        </p:txBody>
      </p:sp>
      <p:sp>
        <p:nvSpPr>
          <p:cNvPr id="191" name="Rectangle 217"/>
          <p:cNvSpPr/>
          <p:nvPr/>
        </p:nvSpPr>
        <p:spPr>
          <a:xfrm>
            <a:off x="10954512" y="3318399"/>
            <a:ext cx="914400" cy="173736"/>
          </a:xfrm>
          <a:prstGeom prst="rect">
            <a:avLst/>
          </a:prstGeom>
          <a:solidFill>
            <a:srgbClr val="7F7F7F"/>
          </a:solidFill>
          <a:ln w="12700">
            <a:solidFill>
              <a:srgbClr val="7F7F7F"/>
            </a:solidFill>
          </a:ln>
          <a:effectLst/>
        </p:spPr>
        <p:txBody>
          <a:bodyPr wrap="square" lIns="45720" tIns="0" rIns="18288" bIns="0" rtlCol="0" anchor="ctr"/>
          <a:lstStyle/>
          <a:p>
            <a:pPr algn="l"/>
            <a:r>
              <a:rPr sz="800" b="1">
                <a:solidFill>
                  <a:srgbClr val="FFFFFF"/>
                </a:solidFill>
                <a:latin typeface="맑은 고딕"/>
                <a:ea typeface="맑은 고딕"/>
              </a:rPr>
              <a:t>«pod» vLLM</a:t>
            </a:r>
          </a:p>
        </p:txBody>
      </p:sp>
      <p:sp>
        <p:nvSpPr>
          <p:cNvPr id="192" name="Rectangle 218"/>
          <p:cNvSpPr/>
          <p:nvPr/>
        </p:nvSpPr>
        <p:spPr>
          <a:xfrm>
            <a:off x="11009376" y="3581876"/>
            <a:ext cx="804672" cy="736966"/>
          </a:xfrm>
          <a:prstGeom prst="rect">
            <a:avLst/>
          </a:prstGeom>
          <a:solidFill>
            <a:srgbClr val="F2F2F2"/>
          </a:solidFill>
          <a:ln w="12700">
            <a:solidFill>
              <a:srgbClr val="7F7F7F"/>
            </a:solidFill>
          </a:ln>
          <a:effectLst/>
        </p:spPr>
        <p:txBody>
          <a:bodyPr wrap="square" lIns="36576" tIns="18288" rIns="36576" bIns="18288" rtlCol="0" anchor="ctr"/>
          <a:lstStyle/>
          <a:p>
            <a:pPr algn="ctr"/>
            <a:r>
              <a:rPr lang="en-US" altLang="ko-KR" sz="800" b="1" dirty="0" err="1">
                <a:solidFill>
                  <a:srgbClr val="000000"/>
                </a:solidFill>
                <a:ea typeface="맑은 고딕"/>
              </a:rPr>
              <a:t>vLLM</a:t>
            </a:r>
            <a:r>
              <a:rPr lang="en-US" altLang="ko-KR" sz="800" b="1" dirty="0">
                <a:solidFill>
                  <a:srgbClr val="000000"/>
                </a:solidFill>
                <a:ea typeface="맑은 고딕"/>
              </a:rPr>
              <a:t> (prefill)</a:t>
            </a:r>
          </a:p>
        </p:txBody>
      </p:sp>
      <p:cxnSp>
        <p:nvCxnSpPr>
          <p:cNvPr id="193" name="Connector 219"/>
          <p:cNvCxnSpPr/>
          <p:nvPr/>
        </p:nvCxnSpPr>
        <p:spPr>
          <a:xfrm>
            <a:off x="11411712" y="2945781"/>
            <a:ext cx="0" cy="377851"/>
          </a:xfrm>
          <a:prstGeom prst="line">
            <a:avLst/>
          </a:prstGeom>
          <a:ln w="15875">
            <a:solidFill>
              <a:srgbClr val="404040"/>
            </a:solidFill>
            <a:headEnd type="triangle"/>
            <a:tailEnd type="triangle"/>
          </a:ln>
        </p:spPr>
      </p:cxnSp>
      <p:sp>
        <p:nvSpPr>
          <p:cNvPr id="194" name="Oval 220"/>
          <p:cNvSpPr/>
          <p:nvPr/>
        </p:nvSpPr>
        <p:spPr>
          <a:xfrm>
            <a:off x="11553443" y="3112659"/>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4</a:t>
            </a:r>
          </a:p>
        </p:txBody>
      </p:sp>
      <p:cxnSp>
        <p:nvCxnSpPr>
          <p:cNvPr id="195" name="Connector 221"/>
          <p:cNvCxnSpPr/>
          <p:nvPr/>
        </p:nvCxnSpPr>
        <p:spPr>
          <a:xfrm flipV="1">
            <a:off x="10716767" y="2513727"/>
            <a:ext cx="292609" cy="164592"/>
          </a:xfrm>
          <a:prstGeom prst="line">
            <a:avLst/>
          </a:prstGeom>
          <a:ln w="15875">
            <a:solidFill>
              <a:srgbClr val="404040"/>
            </a:solidFill>
            <a:tailEnd type="triangle"/>
          </a:ln>
        </p:spPr>
      </p:cxnSp>
      <p:cxnSp>
        <p:nvCxnSpPr>
          <p:cNvPr id="196" name="Connector 223"/>
          <p:cNvCxnSpPr/>
          <p:nvPr/>
        </p:nvCxnSpPr>
        <p:spPr>
          <a:xfrm flipH="1">
            <a:off x="10716767" y="4141358"/>
            <a:ext cx="292609" cy="0"/>
          </a:xfrm>
          <a:prstGeom prst="line">
            <a:avLst/>
          </a:prstGeom>
          <a:ln w="15875">
            <a:solidFill>
              <a:srgbClr val="404040"/>
            </a:solidFill>
            <a:prstDash val="solid"/>
            <a:tailEnd type="triangle"/>
          </a:ln>
        </p:spPr>
      </p:cxnSp>
      <p:sp>
        <p:nvSpPr>
          <p:cNvPr id="198" name="Oval 224"/>
          <p:cNvSpPr/>
          <p:nvPr/>
        </p:nvSpPr>
        <p:spPr>
          <a:xfrm>
            <a:off x="10785347" y="3917330"/>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5</a:t>
            </a:r>
          </a:p>
        </p:txBody>
      </p:sp>
      <p:sp>
        <p:nvSpPr>
          <p:cNvPr id="199" name="Rectangle 229"/>
          <p:cNvSpPr/>
          <p:nvPr/>
        </p:nvSpPr>
        <p:spPr>
          <a:xfrm>
            <a:off x="9349052" y="4516373"/>
            <a:ext cx="1554480" cy="146304"/>
          </a:xfrm>
          <a:prstGeom prst="rect">
            <a:avLst/>
          </a:prstGeom>
          <a:solidFill>
            <a:srgbClr val="FBE5D6"/>
          </a:solidFill>
          <a:ln w="19050">
            <a:solidFill>
              <a:srgbClr val="C55A11"/>
            </a:solidFill>
          </a:ln>
          <a:effectLst/>
        </p:spPr>
        <p:txBody>
          <a:bodyPr wrap="square" lIns="36576" tIns="18288" rIns="36576" bIns="18288" rtlCol="0" anchor="ctr"/>
          <a:lstStyle/>
          <a:p>
            <a:pPr algn="ctr"/>
            <a:r>
              <a:rPr lang="ko-KR" altLang="en-US" sz="700" b="1" dirty="0">
                <a:solidFill>
                  <a:srgbClr val="000000"/>
                </a:solidFill>
                <a:latin typeface="맑은 고딕"/>
                <a:ea typeface="맑은 고딕"/>
              </a:rPr>
              <a:t>자체 </a:t>
            </a:r>
            <a:r>
              <a:rPr sz="700" b="1" dirty="0" err="1">
                <a:solidFill>
                  <a:srgbClr val="000000"/>
                </a:solidFill>
                <a:latin typeface="맑은 고딕"/>
                <a:ea typeface="맑은 고딕"/>
              </a:rPr>
              <a:t>개발</a:t>
            </a:r>
            <a:endParaRPr sz="700" b="1" dirty="0">
              <a:solidFill>
                <a:srgbClr val="000000"/>
              </a:solidFill>
              <a:latin typeface="맑은 고딕"/>
              <a:ea typeface="맑은 고딕"/>
            </a:endParaRPr>
          </a:p>
        </p:txBody>
      </p:sp>
      <p:sp>
        <p:nvSpPr>
          <p:cNvPr id="201" name="Rectangle 231"/>
          <p:cNvSpPr/>
          <p:nvPr/>
        </p:nvSpPr>
        <p:spPr>
          <a:xfrm>
            <a:off x="10972800" y="4523670"/>
            <a:ext cx="868680" cy="146304"/>
          </a:xfrm>
          <a:prstGeom prst="rect">
            <a:avLst/>
          </a:prstGeom>
          <a:solidFill>
            <a:srgbClr val="F2F2F2"/>
          </a:solidFill>
          <a:ln w="12700">
            <a:solidFill>
              <a:srgbClr val="7F7F7F"/>
            </a:solidFill>
          </a:ln>
          <a:effectLst/>
        </p:spPr>
        <p:txBody>
          <a:bodyPr wrap="square" lIns="36576" tIns="18288" rIns="36576" bIns="18288" rtlCol="0" anchor="ctr"/>
          <a:lstStyle/>
          <a:p>
            <a:pPr algn="ctr"/>
            <a:r>
              <a:rPr sz="700" b="1" dirty="0" err="1">
                <a:solidFill>
                  <a:srgbClr val="000000"/>
                </a:solidFill>
                <a:latin typeface="맑은 고딕"/>
                <a:ea typeface="맑은 고딕"/>
              </a:rPr>
              <a:t>외부</a:t>
            </a:r>
            <a:r>
              <a:rPr sz="700" b="1" dirty="0">
                <a:solidFill>
                  <a:srgbClr val="000000"/>
                </a:solidFill>
                <a:latin typeface="맑은 고딕"/>
                <a:ea typeface="맑은 고딕"/>
              </a:rPr>
              <a:t> </a:t>
            </a:r>
            <a:r>
              <a:rPr sz="700" b="1" dirty="0" err="1">
                <a:solidFill>
                  <a:srgbClr val="000000"/>
                </a:solidFill>
                <a:latin typeface="맑은 고딕"/>
                <a:ea typeface="맑은 고딕"/>
              </a:rPr>
              <a:t>고정</a:t>
            </a:r>
            <a:r>
              <a:rPr sz="700" b="1" dirty="0">
                <a:solidFill>
                  <a:srgbClr val="000000"/>
                </a:solidFill>
                <a:latin typeface="맑은 고딕"/>
                <a:ea typeface="맑은 고딕"/>
              </a:rPr>
              <a:t>(</a:t>
            </a:r>
            <a:r>
              <a:rPr sz="700" b="1" dirty="0" err="1">
                <a:solidFill>
                  <a:srgbClr val="000000"/>
                </a:solidFill>
                <a:latin typeface="맑은 고딕"/>
                <a:ea typeface="맑은 고딕"/>
              </a:rPr>
              <a:t>vLLM</a:t>
            </a:r>
            <a:r>
              <a:rPr sz="700" b="1" dirty="0">
                <a:solidFill>
                  <a:srgbClr val="000000"/>
                </a:solidFill>
                <a:latin typeface="맑은 고딕"/>
                <a:ea typeface="맑은 고딕"/>
              </a:rPr>
              <a:t>)</a:t>
            </a:r>
          </a:p>
        </p:txBody>
      </p:sp>
      <p:sp>
        <p:nvSpPr>
          <p:cNvPr id="202" name="Rectangle 186"/>
          <p:cNvSpPr/>
          <p:nvPr/>
        </p:nvSpPr>
        <p:spPr>
          <a:xfrm>
            <a:off x="7262121" y="2486295"/>
            <a:ext cx="3491223" cy="1295578"/>
          </a:xfrm>
          <a:prstGeom prst="rect">
            <a:avLst/>
          </a:prstGeom>
          <a:noFill/>
          <a:ln w="6350">
            <a:solidFill>
              <a:srgbClr val="C55A11"/>
            </a:solidFill>
            <a:prstDash val="dash"/>
          </a:ln>
          <a:effectLst/>
        </p:spPr>
        <p:txBody>
          <a:bodyPr rtlCol="0" anchor="ctr"/>
          <a:lstStyle/>
          <a:p>
            <a:pPr algn="ctr"/>
            <a:endParaRPr/>
          </a:p>
        </p:txBody>
      </p:sp>
      <p:sp>
        <p:nvSpPr>
          <p:cNvPr id="203" name="TextBox 202"/>
          <p:cNvSpPr txBox="1"/>
          <p:nvPr/>
        </p:nvSpPr>
        <p:spPr>
          <a:xfrm>
            <a:off x="7328917" y="2487130"/>
            <a:ext cx="441197" cy="100027"/>
          </a:xfrm>
          <a:prstGeom prst="rect">
            <a:avLst/>
          </a:prstGeom>
          <a:noFill/>
        </p:spPr>
        <p:txBody>
          <a:bodyPr wrap="square" lIns="0" tIns="0" rIns="0" bIns="0" anchor="t">
            <a:spAutoFit/>
          </a:bodyPr>
          <a:lstStyle/>
          <a:p>
            <a:pPr algn="l"/>
            <a:r>
              <a:rPr sz="650" b="1" dirty="0">
                <a:solidFill>
                  <a:srgbClr val="C55A11"/>
                </a:solidFill>
                <a:latin typeface="맑은 고딕"/>
                <a:ea typeface="맑은 고딕"/>
              </a:rPr>
              <a:t>Pipeline</a:t>
            </a:r>
          </a:p>
        </p:txBody>
      </p:sp>
      <p:sp>
        <p:nvSpPr>
          <p:cNvPr id="204" name="Rectangle 186"/>
          <p:cNvSpPr/>
          <p:nvPr/>
        </p:nvSpPr>
        <p:spPr>
          <a:xfrm>
            <a:off x="7262121" y="3873002"/>
            <a:ext cx="3491223" cy="511943"/>
          </a:xfrm>
          <a:prstGeom prst="rect">
            <a:avLst/>
          </a:prstGeom>
          <a:noFill/>
          <a:ln w="6350">
            <a:solidFill>
              <a:srgbClr val="C55A11"/>
            </a:solidFill>
            <a:prstDash val="dash"/>
          </a:ln>
          <a:effectLst/>
        </p:spPr>
        <p:txBody>
          <a:bodyPr rtlCol="0" anchor="ctr"/>
          <a:lstStyle/>
          <a:p>
            <a:pPr algn="ctr"/>
            <a:endParaRPr/>
          </a:p>
        </p:txBody>
      </p:sp>
      <p:sp>
        <p:nvSpPr>
          <p:cNvPr id="205" name="TextBox 204"/>
          <p:cNvSpPr txBox="1"/>
          <p:nvPr/>
        </p:nvSpPr>
        <p:spPr>
          <a:xfrm>
            <a:off x="7301483" y="3896606"/>
            <a:ext cx="1097280" cy="100027"/>
          </a:xfrm>
          <a:prstGeom prst="rect">
            <a:avLst/>
          </a:prstGeom>
          <a:noFill/>
        </p:spPr>
        <p:txBody>
          <a:bodyPr wrap="square" lIns="0" tIns="0" rIns="0" bIns="0" anchor="t">
            <a:spAutoFit/>
          </a:bodyPr>
          <a:lstStyle/>
          <a:p>
            <a:pPr algn="l"/>
            <a:r>
              <a:rPr lang="en-US" sz="650" b="1" dirty="0">
                <a:solidFill>
                  <a:srgbClr val="C55A11"/>
                </a:solidFill>
                <a:latin typeface="맑은 고딕"/>
                <a:ea typeface="맑은 고딕"/>
              </a:rPr>
              <a:t>State Plane</a:t>
            </a:r>
            <a:endParaRPr sz="650" b="1" dirty="0">
              <a:solidFill>
                <a:srgbClr val="C55A11"/>
              </a:solidFill>
              <a:latin typeface="맑은 고딕"/>
              <a:ea typeface="맑은 고딕"/>
            </a:endParaRPr>
          </a:p>
        </p:txBody>
      </p:sp>
      <p:cxnSp>
        <p:nvCxnSpPr>
          <p:cNvPr id="206" name="Connector 194"/>
          <p:cNvCxnSpPr/>
          <p:nvPr/>
        </p:nvCxnSpPr>
        <p:spPr>
          <a:xfrm>
            <a:off x="9007383" y="2888631"/>
            <a:ext cx="0" cy="201168"/>
          </a:xfrm>
          <a:prstGeom prst="line">
            <a:avLst/>
          </a:prstGeom>
          <a:ln w="15875">
            <a:solidFill>
              <a:srgbClr val="5E35B1"/>
            </a:solidFill>
            <a:tailEnd type="triangle"/>
          </a:ln>
        </p:spPr>
      </p:cxnSp>
      <p:sp>
        <p:nvSpPr>
          <p:cNvPr id="207" name="Rectangle 186"/>
          <p:cNvSpPr/>
          <p:nvPr/>
        </p:nvSpPr>
        <p:spPr>
          <a:xfrm>
            <a:off x="7262121" y="2045307"/>
            <a:ext cx="3491223" cy="374525"/>
          </a:xfrm>
          <a:prstGeom prst="rect">
            <a:avLst/>
          </a:prstGeom>
          <a:noFill/>
          <a:ln w="6350">
            <a:solidFill>
              <a:srgbClr val="C55A11"/>
            </a:solidFill>
            <a:prstDash val="dash"/>
          </a:ln>
          <a:effectLst/>
        </p:spPr>
        <p:txBody>
          <a:bodyPr rtlCol="0" anchor="ctr"/>
          <a:lstStyle/>
          <a:p>
            <a:pPr algn="ctr"/>
            <a:endParaRPr/>
          </a:p>
        </p:txBody>
      </p:sp>
      <p:sp>
        <p:nvSpPr>
          <p:cNvPr id="208" name="TextBox 207"/>
          <p:cNvSpPr txBox="1"/>
          <p:nvPr/>
        </p:nvSpPr>
        <p:spPr>
          <a:xfrm>
            <a:off x="7328917" y="2045307"/>
            <a:ext cx="441197" cy="100027"/>
          </a:xfrm>
          <a:prstGeom prst="rect">
            <a:avLst/>
          </a:prstGeom>
          <a:noFill/>
        </p:spPr>
        <p:txBody>
          <a:bodyPr wrap="square" lIns="0" tIns="0" rIns="0" bIns="0" anchor="t">
            <a:spAutoFit/>
          </a:bodyPr>
          <a:lstStyle/>
          <a:p>
            <a:pPr algn="l"/>
            <a:r>
              <a:rPr lang="en-US" sz="650" b="1" dirty="0">
                <a:solidFill>
                  <a:srgbClr val="C55A11"/>
                </a:solidFill>
                <a:latin typeface="맑은 고딕"/>
                <a:ea typeface="맑은 고딕"/>
              </a:rPr>
              <a:t>Ingress</a:t>
            </a:r>
            <a:endParaRPr sz="650" b="1" dirty="0">
              <a:solidFill>
                <a:srgbClr val="C55A11"/>
              </a:solidFill>
              <a:latin typeface="맑은 고딕"/>
              <a:ea typeface="맑은 고딕"/>
            </a:endParaRPr>
          </a:p>
        </p:txBody>
      </p:sp>
      <p:sp>
        <p:nvSpPr>
          <p:cNvPr id="209" name="Oval 166"/>
          <p:cNvSpPr/>
          <p:nvPr/>
        </p:nvSpPr>
        <p:spPr>
          <a:xfrm>
            <a:off x="3888485" y="3079262"/>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dirty="0">
                <a:solidFill>
                  <a:srgbClr val="FFFFFF"/>
                </a:solidFill>
                <a:latin typeface="맑은 고딕"/>
                <a:ea typeface="맑은 고딕"/>
              </a:rPr>
              <a:t>7</a:t>
            </a:r>
          </a:p>
        </p:txBody>
      </p:sp>
      <p:sp>
        <p:nvSpPr>
          <p:cNvPr id="210" name="Oval 182"/>
          <p:cNvSpPr/>
          <p:nvPr/>
        </p:nvSpPr>
        <p:spPr>
          <a:xfrm>
            <a:off x="7932419" y="2380307"/>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dirty="0">
                <a:solidFill>
                  <a:srgbClr val="FFFFFF"/>
                </a:solidFill>
                <a:latin typeface="맑은 고딕"/>
                <a:ea typeface="맑은 고딕"/>
              </a:rPr>
              <a:t>2</a:t>
            </a:r>
          </a:p>
        </p:txBody>
      </p:sp>
      <p:cxnSp>
        <p:nvCxnSpPr>
          <p:cNvPr id="211" name="Connector 221"/>
          <p:cNvCxnSpPr/>
          <p:nvPr/>
        </p:nvCxnSpPr>
        <p:spPr>
          <a:xfrm>
            <a:off x="10730484" y="2834930"/>
            <a:ext cx="233171" cy="809225"/>
          </a:xfrm>
          <a:prstGeom prst="line">
            <a:avLst/>
          </a:prstGeom>
          <a:ln w="15875">
            <a:solidFill>
              <a:srgbClr val="404040"/>
            </a:solidFill>
            <a:tailEnd type="triangle"/>
          </a:ln>
        </p:spPr>
      </p:cxnSp>
      <p:sp>
        <p:nvSpPr>
          <p:cNvPr id="212" name="Oval 222"/>
          <p:cNvSpPr/>
          <p:nvPr/>
        </p:nvSpPr>
        <p:spPr>
          <a:xfrm>
            <a:off x="10771632" y="2701179"/>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3</a:t>
            </a:r>
          </a:p>
        </p:txBody>
      </p:sp>
      <p:sp>
        <p:nvSpPr>
          <p:cNvPr id="213" name="Rectangle 190"/>
          <p:cNvSpPr/>
          <p:nvPr/>
        </p:nvSpPr>
        <p:spPr>
          <a:xfrm>
            <a:off x="9217152" y="2945781"/>
            <a:ext cx="1045464" cy="137160"/>
          </a:xfrm>
          <a:prstGeom prst="rect">
            <a:avLst/>
          </a:prstGeom>
          <a:solidFill>
            <a:srgbClr val="EDE7F6"/>
          </a:solidFill>
          <a:ln w="9525">
            <a:solidFill>
              <a:srgbClr val="5E35B1"/>
            </a:solidFill>
          </a:ln>
          <a:effectLst/>
        </p:spPr>
        <p:txBody>
          <a:bodyPr wrap="square" lIns="18288" tIns="0" rIns="18288" bIns="0" rtlCol="0" anchor="ctr"/>
          <a:lstStyle/>
          <a:p>
            <a:pPr algn="ctr"/>
            <a:r>
              <a:rPr sz="600" b="1" dirty="0">
                <a:solidFill>
                  <a:srgbClr val="5E35B1"/>
                </a:solidFill>
                <a:latin typeface="맑은 고딕"/>
                <a:ea typeface="맑은 고딕"/>
              </a:rPr>
              <a:t>«Strategy» P/D </a:t>
            </a:r>
            <a:r>
              <a:rPr lang="ko-KR" altLang="en-US" sz="600" b="1" dirty="0">
                <a:solidFill>
                  <a:srgbClr val="5E35B1"/>
                </a:solidFill>
                <a:latin typeface="맑은 고딕"/>
                <a:ea typeface="맑은 고딕"/>
              </a:rPr>
              <a:t>결정 </a:t>
            </a:r>
            <a:r>
              <a:rPr sz="600" b="1" dirty="0" err="1">
                <a:solidFill>
                  <a:srgbClr val="5E35B1"/>
                </a:solidFill>
                <a:latin typeface="맑은 고딕"/>
                <a:ea typeface="맑은 고딕"/>
              </a:rPr>
              <a:t>정책</a:t>
            </a:r>
            <a:endParaRPr sz="600" b="1" dirty="0">
              <a:solidFill>
                <a:srgbClr val="5E35B1"/>
              </a:solidFill>
              <a:latin typeface="맑은 고딕"/>
              <a:ea typeface="맑은 고딕"/>
            </a:endParaRPr>
          </a:p>
        </p:txBody>
      </p:sp>
      <p:sp>
        <p:nvSpPr>
          <p:cNvPr id="214" name="Rectangle 191"/>
          <p:cNvSpPr/>
          <p:nvPr/>
        </p:nvSpPr>
        <p:spPr>
          <a:xfrm>
            <a:off x="9217152" y="3113929"/>
            <a:ext cx="1536192" cy="217170"/>
          </a:xfrm>
          <a:prstGeom prst="rect">
            <a:avLst/>
          </a:prstGeom>
          <a:solidFill>
            <a:srgbClr val="FFFFFF"/>
          </a:solidFill>
          <a:ln w="15875">
            <a:solidFill>
              <a:srgbClr val="5E35B1"/>
            </a:solidFill>
          </a:ln>
          <a:effectLst/>
        </p:spPr>
        <p:txBody>
          <a:bodyPr rtlCol="0" anchor="ctr"/>
          <a:lstStyle/>
          <a:p>
            <a:pPr algn="ctr"/>
            <a:endParaRPr/>
          </a:p>
        </p:txBody>
      </p:sp>
      <p:sp>
        <p:nvSpPr>
          <p:cNvPr id="215" name="TextBox 214"/>
          <p:cNvSpPr txBox="1"/>
          <p:nvPr/>
        </p:nvSpPr>
        <p:spPr>
          <a:xfrm>
            <a:off x="9424327" y="3162223"/>
            <a:ext cx="1209124" cy="118872"/>
          </a:xfrm>
          <a:prstGeom prst="rect">
            <a:avLst/>
          </a:prstGeom>
          <a:noFill/>
        </p:spPr>
        <p:txBody>
          <a:bodyPr wrap="square" lIns="0" tIns="0" rIns="0" bIns="0" anchor="t">
            <a:spAutoFit/>
          </a:bodyPr>
          <a:lstStyle/>
          <a:p>
            <a:pPr algn="l"/>
            <a:r>
              <a:rPr sz="650" b="1" dirty="0">
                <a:solidFill>
                  <a:srgbClr val="5E35B1"/>
                </a:solidFill>
                <a:latin typeface="맑은 고딕"/>
                <a:ea typeface="맑은 고딕"/>
              </a:rPr>
              <a:t>«interface» </a:t>
            </a:r>
            <a:r>
              <a:rPr sz="650" b="1" dirty="0" err="1">
                <a:solidFill>
                  <a:srgbClr val="5E35B1"/>
                </a:solidFill>
                <a:latin typeface="맑은 고딕"/>
                <a:ea typeface="맑은 고딕"/>
              </a:rPr>
              <a:t>PDPlanStrategy</a:t>
            </a:r>
            <a:endParaRPr sz="650" b="1" dirty="0">
              <a:solidFill>
                <a:srgbClr val="5E35B1"/>
              </a:solidFill>
              <a:latin typeface="맑은 고딕"/>
              <a:ea typeface="맑은 고딕"/>
            </a:endParaRPr>
          </a:p>
        </p:txBody>
      </p:sp>
      <p:sp>
        <p:nvSpPr>
          <p:cNvPr id="218" name="Oval 205"/>
          <p:cNvSpPr/>
          <p:nvPr/>
        </p:nvSpPr>
        <p:spPr>
          <a:xfrm>
            <a:off x="8508745" y="3721044"/>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6</a:t>
            </a:r>
          </a:p>
        </p:txBody>
      </p:sp>
      <p:sp>
        <p:nvSpPr>
          <p:cNvPr id="226" name="실행 단추: 앞으로 또는 다음 225">
            <a:hlinkClick r:id="rId4" action="ppaction://hlinksldjump" highlightClick="1"/>
          </p:cNvPr>
          <p:cNvSpPr/>
          <p:nvPr/>
        </p:nvSpPr>
        <p:spPr>
          <a:xfrm>
            <a:off x="508836" y="6404267"/>
            <a:ext cx="250190" cy="19338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직사각형 23"/>
          <p:cNvSpPr/>
          <p:nvPr/>
        </p:nvSpPr>
        <p:spPr>
          <a:xfrm>
            <a:off x="6583680" y="1044054"/>
            <a:ext cx="5524500" cy="570726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7" name="모서리가 둥근 직사각형 37">
            <a:extLst>
              <a:ext uri="{FF2B5EF4-FFF2-40B4-BE49-F238E27FC236}">
                <a16:creationId xmlns:a16="http://schemas.microsoft.com/office/drawing/2014/main" id="{4BD11893-311E-4F63-BB6E-C521E78A166E}"/>
              </a:ext>
            </a:extLst>
          </p:cNvPr>
          <p:cNvSpPr/>
          <p:nvPr/>
        </p:nvSpPr>
        <p:spPr>
          <a:xfrm>
            <a:off x="8280123" y="617897"/>
            <a:ext cx="1333343"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Cluster-level </a:t>
            </a:r>
            <a:r>
              <a:rPr lang="ko-KR" altLang="en-US" sz="700" dirty="0">
                <a:latin typeface="맑은 고딕" panose="020B0503020000020004" pitchFamily="50" charset="-127"/>
                <a:ea typeface="맑은 고딕" panose="020B0503020000020004" pitchFamily="50" charset="-127"/>
              </a:rPr>
              <a:t>스케줄링</a:t>
            </a:r>
          </a:p>
        </p:txBody>
      </p:sp>
      <p:sp>
        <p:nvSpPr>
          <p:cNvPr id="168" name="모서리가 둥근 직사각형 37">
            <a:extLst>
              <a:ext uri="{FF2B5EF4-FFF2-40B4-BE49-F238E27FC236}">
                <a16:creationId xmlns:a16="http://schemas.microsoft.com/office/drawing/2014/main" id="{E7E38110-0CB7-47B4-8011-B921EB7B3995}"/>
              </a:ext>
            </a:extLst>
          </p:cNvPr>
          <p:cNvSpPr/>
          <p:nvPr/>
        </p:nvSpPr>
        <p:spPr>
          <a:xfrm>
            <a:off x="9689179"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169" name="모서리가 둥근 직사각형 37">
            <a:extLst>
              <a:ext uri="{FF2B5EF4-FFF2-40B4-BE49-F238E27FC236}">
                <a16:creationId xmlns:a16="http://schemas.microsoft.com/office/drawing/2014/main" id="{DE1BF968-FFA4-46B4-90C6-B1E8DB8C91AF}"/>
              </a:ext>
            </a:extLst>
          </p:cNvPr>
          <p:cNvSpPr/>
          <p:nvPr/>
        </p:nvSpPr>
        <p:spPr>
          <a:xfrm>
            <a:off x="8628346"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78" name="모서리가 둥근 직사각형 37">
            <a:extLst>
              <a:ext uri="{FF2B5EF4-FFF2-40B4-BE49-F238E27FC236}">
                <a16:creationId xmlns:a16="http://schemas.microsoft.com/office/drawing/2014/main" id="{2EE54A42-5B2F-4FE0-A422-DD03503EAEB5}"/>
              </a:ext>
            </a:extLst>
          </p:cNvPr>
          <p:cNvSpPr/>
          <p:nvPr/>
        </p:nvSpPr>
        <p:spPr>
          <a:xfrm>
            <a:off x="9537693"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188" name="모서리가 둥근 직사각형 37">
            <a:extLst>
              <a:ext uri="{FF2B5EF4-FFF2-40B4-BE49-F238E27FC236}">
                <a16:creationId xmlns:a16="http://schemas.microsoft.com/office/drawing/2014/main" id="{0BDF1551-12B4-4B01-B90A-B811ECD76107}"/>
              </a:ext>
            </a:extLst>
          </p:cNvPr>
          <p:cNvSpPr/>
          <p:nvPr/>
        </p:nvSpPr>
        <p:spPr>
          <a:xfrm>
            <a:off x="10207727"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변경용이성</a:t>
            </a:r>
          </a:p>
        </p:txBody>
      </p:sp>
      <p:sp>
        <p:nvSpPr>
          <p:cNvPr id="197" name="모서리가 둥근 직사각형 37">
            <a:extLst>
              <a:ext uri="{FF2B5EF4-FFF2-40B4-BE49-F238E27FC236}">
                <a16:creationId xmlns:a16="http://schemas.microsoft.com/office/drawing/2014/main" id="{0119A226-F96E-4BEF-A47B-105FF8B1123E}"/>
              </a:ext>
            </a:extLst>
          </p:cNvPr>
          <p:cNvSpPr/>
          <p:nvPr/>
        </p:nvSpPr>
        <p:spPr>
          <a:xfrm>
            <a:off x="11097786"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Q6 </a:t>
            </a:r>
            <a:r>
              <a:rPr lang="ko-KR" altLang="en-US" sz="700" dirty="0">
                <a:latin typeface="맑은 고딕" panose="020B0503020000020004" pitchFamily="50" charset="-127"/>
              </a:rPr>
              <a:t>시스템 확장성</a:t>
            </a:r>
          </a:p>
        </p:txBody>
      </p:sp>
      <p:sp>
        <p:nvSpPr>
          <p:cNvPr id="200" name="모서리가 둥근 직사각형 37">
            <a:extLst>
              <a:ext uri="{FF2B5EF4-FFF2-40B4-BE49-F238E27FC236}">
                <a16:creationId xmlns:a16="http://schemas.microsoft.com/office/drawing/2014/main" id="{68735780-5A6B-456E-A271-9CF53087EB62}"/>
              </a:ext>
            </a:extLst>
          </p:cNvPr>
          <p:cNvSpPr/>
          <p:nvPr/>
        </p:nvSpPr>
        <p:spPr>
          <a:xfrm>
            <a:off x="10585229" y="616927"/>
            <a:ext cx="1349443"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C3</a:t>
            </a:r>
            <a:r>
              <a:rPr lang="ko-KR" altLang="en-US" sz="700" dirty="0">
                <a:latin typeface="맑은 고딕" panose="020B0503020000020004" pitchFamily="50" charset="-127"/>
              </a:rPr>
              <a:t> 시스템 확장 </a:t>
            </a:r>
            <a:r>
              <a:rPr lang="en-US" altLang="ko-KR" sz="700" dirty="0">
                <a:latin typeface="맑은 고딕" panose="020B0503020000020004" pitchFamily="50" charset="-127"/>
              </a:rPr>
              <a:t>Simulation </a:t>
            </a:r>
            <a:endParaRPr lang="ko-KR" altLang="en-US" sz="700" dirty="0">
              <a:latin typeface="맑은 고딕" panose="020B0503020000020004" pitchFamily="50" charset="-127"/>
            </a:endParaRPr>
          </a:p>
        </p:txBody>
      </p:sp>
    </p:spTree>
    <p:extLst>
      <p:ext uri="{BB962C8B-B14F-4D97-AF65-F5344CB8AC3E}">
        <p14:creationId xmlns:p14="http://schemas.microsoft.com/office/powerpoint/2010/main" val="3839404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8F40C0-89BE-4217-B5CC-E795445173CC}"/>
              </a:ext>
            </a:extLst>
          </p:cNvPr>
          <p:cNvSpPr>
            <a:spLocks noGrp="1"/>
          </p:cNvSpPr>
          <p:nvPr>
            <p:ph type="title"/>
          </p:nvPr>
        </p:nvSpPr>
        <p:spPr/>
        <p:txBody>
          <a:bodyPr/>
          <a:lstStyle/>
          <a:p>
            <a:endParaRPr lang="ko-KR" altLang="en-US"/>
          </a:p>
        </p:txBody>
      </p:sp>
      <p:sp>
        <p:nvSpPr>
          <p:cNvPr id="3" name="직사각형 2">
            <a:extLst>
              <a:ext uri="{FF2B5EF4-FFF2-40B4-BE49-F238E27FC236}">
                <a16:creationId xmlns:a16="http://schemas.microsoft.com/office/drawing/2014/main" id="{7D499F4C-4F30-4E46-AFBD-139C19B22FFE}"/>
              </a:ext>
            </a:extLst>
          </p:cNvPr>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Appendix</a:t>
            </a:r>
            <a:endParaRPr lang="ko-KR" altLang="en-US" sz="16600" b="1" dirty="0"/>
          </a:p>
        </p:txBody>
      </p:sp>
    </p:spTree>
    <p:extLst>
      <p:ext uri="{BB962C8B-B14F-4D97-AF65-F5344CB8AC3E}">
        <p14:creationId xmlns:p14="http://schemas.microsoft.com/office/powerpoint/2010/main" val="41340727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8F40C0-89BE-4217-B5CC-E795445173CC}"/>
              </a:ext>
            </a:extLst>
          </p:cNvPr>
          <p:cNvSpPr>
            <a:spLocks noGrp="1"/>
          </p:cNvSpPr>
          <p:nvPr>
            <p:ph type="title"/>
          </p:nvPr>
        </p:nvSpPr>
        <p:spPr/>
        <p:txBody>
          <a:bodyPr/>
          <a:lstStyle/>
          <a:p>
            <a:endParaRPr lang="ko-KR" altLang="en-US"/>
          </a:p>
        </p:txBody>
      </p:sp>
      <p:sp>
        <p:nvSpPr>
          <p:cNvPr id="3" name="직사각형 2">
            <a:extLst>
              <a:ext uri="{FF2B5EF4-FFF2-40B4-BE49-F238E27FC236}">
                <a16:creationId xmlns:a16="http://schemas.microsoft.com/office/drawing/2014/main" id="{7D499F4C-4F30-4E46-AFBD-139C19B22FFE}"/>
              </a:ext>
            </a:extLst>
          </p:cNvPr>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DP1 </a:t>
            </a:r>
            <a:r>
              <a:rPr lang="ko-KR" altLang="en-US" sz="16600" b="1" dirty="0"/>
              <a:t>평가</a:t>
            </a:r>
          </a:p>
        </p:txBody>
      </p:sp>
    </p:spTree>
    <p:extLst>
      <p:ext uri="{BB962C8B-B14F-4D97-AF65-F5344CB8AC3E}">
        <p14:creationId xmlns:p14="http://schemas.microsoft.com/office/powerpoint/2010/main" val="9037798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DP1 QA 평가 결과 — 정량 (H100 + B200 통합)</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C1(Resource State-driven + Data-Memory Affinity) vs C2(Behavior-driven) · 공통 룰 §10 형식 · 괄호 = 후보 ÷ Baseline · 시뮬레이션 [B+C]</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별 경계는 DP1 별점 기준 v5(Baseline 대비 경계, qa-criteria-dp1.md). 경계 일부는 결과를 본 뒤 정했다(defined_after_first_look). 수치는 시뮬레이션이며 실측 전까지 근거로 쓰지 않는다.</a:t>
            </a:r>
          </a:p>
        </p:txBody>
      </p:sp>
      <p:graphicFrame>
        <p:nvGraphicFramePr>
          <p:cNvPr id="6" name="tbl"/>
          <p:cNvGraphicFramePr>
            <a:graphicFrameLocks noGrp="1"/>
          </p:cNvGraphicFramePr>
          <p:nvPr/>
        </p:nvGraphicFramePr>
        <p:xfrm>
          <a:off x="365760" y="1170432"/>
          <a:ext cx="11457432" cy="3017520"/>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gridCol w="2953512">
                  <a:extLst>
                    <a:ext uri="{9D8B030D-6E8A-4147-A177-3AD203B41FA5}">
                      <a16:colId xmlns:a16="http://schemas.microsoft.com/office/drawing/2014/main" val="20004"/>
                    </a:ext>
                  </a:extLst>
                </a:gridCol>
              </a:tblGrid>
              <a:tr h="274320">
                <a:tc>
                  <a:txBody>
                    <a:bodyPr/>
                    <a:lstStyle/>
                    <a:p>
                      <a:pPr algn="ctr"/>
                      <a:r>
                        <a:rPr sz="1000" b="1">
                          <a:solidFill>
                            <a:srgbClr val="FFFFFF"/>
                          </a:solidFill>
                          <a:latin typeface="맑은 고딕"/>
                          <a:ea typeface="맑은 고딕"/>
                        </a:rPr>
                        <a:t>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평가 metric (↑/↓ 좋음)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C1 (Resource State-driven)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C2 (Behavior-driven)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74320">
                <a:tc>
                  <a:txBody>
                    <a:bodyPr/>
                    <a:lstStyle/>
                    <a:p>
                      <a:pPr algn="l"/>
                      <a:r>
                        <a:rPr sz="1000" b="1">
                          <a:solidFill>
                            <a:srgbClr val="000000"/>
                          </a:solidFill>
                          <a:latin typeface="맑은 고딕"/>
                          <a:ea typeface="맑은 고딕"/>
                        </a:rPr>
                        <a:t>QA1 처리량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Max SLO goodput (tok/s)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336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436 (×1.30)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478 (×1.42)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74320">
                <a:tc>
                  <a:txBody>
                    <a:bodyPr/>
                    <a:lstStyle/>
                    <a:p>
                      <a:pPr algn="l"/>
                      <a:r>
                        <a:rPr sz="1000" b="1">
                          <a:solidFill>
                            <a:srgbClr val="000000"/>
                          </a:solidFill>
                          <a:latin typeface="맑은 고딕"/>
                          <a:ea typeface="맑은 고딕"/>
                        </a:rPr>
                        <a:t>QA2 지연 (TTFT)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1,084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1,128 (×1.04)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785 (×0.72)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1000" b="1">
                          <a:solidFill>
                            <a:srgbClr val="000000"/>
                          </a:solidFill>
                          <a:latin typeface="맑은 고딕"/>
                          <a:ea typeface="맑은 고딕"/>
                        </a:rPr>
                        <a:t>QA2 지연 (TPOT)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TPOT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17.1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18.3 (×1.07)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16.0 (×0.94)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l"/>
                      <a:r>
                        <a:rPr sz="1000" b="1">
                          <a:solidFill>
                            <a:srgbClr val="000000"/>
                          </a:solidFill>
                          <a:latin typeface="맑은 고딕"/>
                          <a:ea typeface="맑은 고딕"/>
                        </a:rPr>
                        <a:t>QA2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TTFT·TPOT × P50/P95/P99 6개 개선 배수 geomean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×1.28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×1.56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74320">
                <a:tc>
                  <a:txBody>
                    <a:bodyPr/>
                    <a:lstStyle/>
                    <a:p>
                      <a:pPr algn="l"/>
                      <a:r>
                        <a:rPr sz="1000" b="1">
                          <a:solidFill>
                            <a:srgbClr val="000000"/>
                          </a:solidFill>
                          <a:latin typeface="맑은 고딕"/>
                          <a:ea typeface="맑은 고딕"/>
                        </a:rPr>
                        <a:t>QA3 자원 (HBM)</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HBM 사용량 (GiB, 시간 평균)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146.6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142.7 (×0.97)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178.0 (×1.21)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74320">
                <a:tc>
                  <a:txBody>
                    <a:bodyPr/>
                    <a:lstStyle/>
                    <a:p>
                      <a:pPr algn="l"/>
                      <a:r>
                        <a:rPr sz="1000" b="1">
                          <a:solidFill>
                            <a:srgbClr val="000000"/>
                          </a:solidFill>
                          <a:latin typeface="맑은 고딕"/>
                          <a:ea typeface="맑은 고딕"/>
                        </a:rPr>
                        <a:t>QA4 ① module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module 수 (4 시나리오 평균)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2.50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274320">
                <a:tc>
                  <a:txBody>
                    <a:bodyPr/>
                    <a:lstStyle/>
                    <a:p>
                      <a:pPr algn="l"/>
                      <a:r>
                        <a:rPr sz="1000" b="1">
                          <a:solidFill>
                            <a:srgbClr val="000000"/>
                          </a:solidFill>
                          <a:latin typeface="맑은 고딕"/>
                          <a:ea typeface="맑은 고딕"/>
                        </a:rPr>
                        <a:t>QA4 ② 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개발 공수 (man-month)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0.38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0.51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274320">
                <a:tc>
                  <a:txBody>
                    <a:bodyPr/>
                    <a:lstStyle/>
                    <a:p>
                      <a:pPr algn="l"/>
                      <a:r>
                        <a:rPr sz="1000" b="1">
                          <a:solidFill>
                            <a:srgbClr val="000000"/>
                          </a:solidFill>
                          <a:latin typeface="맑은 고딕"/>
                          <a:ea typeface="맑은 고딕"/>
                        </a:rPr>
                        <a:t>QA4 ③ 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에이전트 비용 $ (frontier tier)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8"/>
                  </a:ext>
                </a:extLst>
              </a:tr>
              <a:tr h="274320">
                <a:tc>
                  <a:txBody>
                    <a:bodyPr/>
                    <a:lstStyle/>
                    <a:p>
                      <a:pPr algn="l"/>
                      <a:r>
                        <a:rPr sz="1000" b="1">
                          <a:solidFill>
                            <a:srgbClr val="000000"/>
                          </a:solidFill>
                          <a:latin typeface="맑은 고딕"/>
                          <a:ea typeface="맑은 고딕"/>
                        </a:rPr>
                        <a:t>QA4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dirty="0">
                          <a:solidFill>
                            <a:srgbClr val="000000"/>
                          </a:solidFill>
                          <a:latin typeface="맑은 고딕"/>
                          <a:ea typeface="맑은 고딕"/>
                        </a:rPr>
                        <a:t>세 sub-</a:t>
                      </a:r>
                      <a:r>
                        <a:rPr sz="1000" b="0" dirty="0" err="1">
                          <a:solidFill>
                            <a:srgbClr val="000000"/>
                          </a:solidFill>
                          <a:latin typeface="맑은 고딕"/>
                          <a:ea typeface="맑은 고딕"/>
                        </a:rPr>
                        <a:t>star의</a:t>
                      </a:r>
                      <a:r>
                        <a:rPr sz="1000" b="0" dirty="0">
                          <a:solidFill>
                            <a:srgbClr val="000000"/>
                          </a:solidFill>
                          <a:latin typeface="맑은 고딕"/>
                          <a:ea typeface="맑은 고딕"/>
                        </a:rPr>
                        <a:t> </a:t>
                      </a:r>
                      <a:r>
                        <a:rPr sz="1000" b="0" dirty="0" err="1">
                          <a:solidFill>
                            <a:srgbClr val="000000"/>
                          </a:solidFill>
                          <a:latin typeface="맑은 고딕"/>
                          <a:ea typeface="맑은 고딕"/>
                        </a:rPr>
                        <a:t>중앙값</a:t>
                      </a:r>
                      <a:r>
                        <a:rPr sz="1000" b="0" dirty="0">
                          <a:solidFill>
                            <a:srgbClr val="000000"/>
                          </a:solidFill>
                          <a:latin typeface="맑은 고딕"/>
                          <a:ea typeface="맑은 고딕"/>
                        </a:rPr>
                        <a:t>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9"/>
                  </a:ext>
                </a:extLst>
              </a:tr>
              <a:tr h="274320">
                <a:tc>
                  <a:txBody>
                    <a:bodyPr/>
                    <a:lstStyle/>
                    <a:p>
                      <a:pPr algn="l"/>
                      <a:r>
                        <a:rPr sz="1000" b="1">
                          <a:solidFill>
                            <a:srgbClr val="000000"/>
                          </a:solidFill>
                          <a:latin typeface="맑은 고딕"/>
                          <a:ea typeface="맑은 고딕"/>
                        </a:rPr>
                        <a:t>별 합계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1000" b="0">
                          <a:solidFill>
                            <a:srgbClr val="000000"/>
                          </a:solidFill>
                          <a:latin typeface="맑은 고딕"/>
                          <a:ea typeface="맑은 고딕"/>
                        </a:rPr>
                        <a:t>QA1 + QA2 + QA3 + QA4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2+3+2+3 =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dirty="0">
                          <a:solidFill>
                            <a:srgbClr val="000000"/>
                          </a:solidFill>
                          <a:latin typeface="맑은 고딕"/>
                          <a:ea typeface="맑은 고딕"/>
                        </a:rPr>
                        <a:t>3+3+1+2 = 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10"/>
                  </a:ext>
                </a:extLst>
              </a:tr>
            </a:tbl>
          </a:graphicData>
        </a:graphic>
      </p:graphicFrame>
      <p:sp>
        <p:nvSpPr>
          <p:cNvPr id="7" name="evidence"/>
          <p:cNvSpPr txBox="1"/>
          <p:nvPr/>
        </p:nvSpPr>
        <p:spPr>
          <a:xfrm>
            <a:off x="365760" y="4257952"/>
            <a:ext cx="11430000" cy="460000"/>
          </a:xfrm>
          <a:prstGeom prst="rect">
            <a:avLst/>
          </a:prstGeom>
          <a:noFill/>
        </p:spPr>
        <p:txBody>
          <a:bodyPr wrap="square" lIns="73152" tIns="36576" rIns="73152" bIns="36576" anchor="t"/>
          <a:lstStyle/>
          <a:p>
            <a:pPr algn="l">
              <a:spcAft>
                <a:spcPts val="250"/>
              </a:spcAft>
            </a:pPr>
            <a:r>
              <a:rPr sz="900" b="1">
                <a:solidFill>
                  <a:srgbClr val="000000"/>
                </a:solidFill>
                <a:latin typeface="맑은 고딕"/>
                <a:ea typeface="맑은 고딕"/>
              </a:rPr>
              <a:t>근거 수준 표기: </a:t>
            </a:r>
            <a:r>
              <a:rPr sz="900" b="0">
                <a:solidFill>
                  <a:srgbClr val="000000"/>
                </a:solidFill>
                <a:latin typeface="맑은 고딕"/>
                <a:ea typeface="맑은 고딕"/>
              </a:rPr>
              <a:t>[B] 공개 spec · [C] 모델/시뮬레이션. DP1은 실측 Baseline이 없어 모든 값이 [B+C]다. 평가 시스템: SYS-H100, SYS-B200 (각 8-GPU 1노드), Llama-3.1-70B BF16, 입력 8K / 출력 256, SLO = TTFT P99 ≤ 2 s · TPOT P99 ≤ 50 ms. 집계 = 시나리오 × 시스템 쌍 21쌍(비교 가능, 64쌍 중)의 기하평균.</a:t>
            </a:r>
          </a:p>
        </p:txBody>
      </p:sp>
      <p:sp>
        <p:nvSpPr>
          <p:cNvPr id="8" name="selection"/>
          <p:cNvSpPr txBox="1"/>
          <p:nvPr/>
        </p:nvSpPr>
        <p:spPr>
          <a:xfrm>
            <a:off x="365760" y="4807952"/>
            <a:ext cx="6100000" cy="1612048"/>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선택 (별 합계 → 동점이면 QA 우선순위 QA1&gt;QA2&gt;QA3&gt;QA4)</a:t>
            </a:r>
          </a:p>
          <a:p>
            <a:pPr algn="l">
              <a:spcAft>
                <a:spcPts val="250"/>
              </a:spcAft>
            </a:pPr>
            <a:r>
              <a:rPr sz="900" b="0">
                <a:solidFill>
                  <a:srgbClr val="000000"/>
                </a:solidFill>
                <a:latin typeface="맑은 고딕"/>
                <a:ea typeface="맑은 고딕"/>
              </a:rPr>
              <a:t>• 합계 C1 10 대 C2 9 → C1 선택 (합계 차이 1점).</a:t>
            </a:r>
          </a:p>
          <a:p>
            <a:pPr algn="l">
              <a:spcAft>
                <a:spcPts val="250"/>
              </a:spcAft>
            </a:pPr>
            <a:r>
              <a:rPr sz="900" b="0">
                <a:solidFill>
                  <a:srgbClr val="000000"/>
                </a:solidFill>
                <a:latin typeface="맑은 고딕"/>
                <a:ea typeface="맑은 고딕"/>
              </a:rPr>
              <a:t>• C2는 처리량(QA1)·지연 값이 높고, C1은 HBM 사용(QA3)·변경 비용(QA4)이 낫다.</a:t>
            </a:r>
          </a:p>
          <a:p>
            <a:pPr algn="l">
              <a:spcAft>
                <a:spcPts val="250"/>
              </a:spcAft>
            </a:pPr>
            <a:r>
              <a:rPr sz="900" b="0">
                <a:solidFill>
                  <a:srgbClr val="000000"/>
                </a:solidFill>
                <a:latin typeface="맑은 고딕"/>
                <a:ea typeface="맑은 고딕"/>
              </a:rPr>
              <a:t>• 선택이 근소하고 별 경계에 민감하다(오른쪽).</a:t>
            </a:r>
          </a:p>
        </p:txBody>
      </p:sp>
      <p:sp>
        <p:nvSpPr>
          <p:cNvPr id="9" name="caution"/>
          <p:cNvSpPr txBox="1"/>
          <p:nvPr/>
        </p:nvSpPr>
        <p:spPr>
          <a:xfrm>
            <a:off x="6580000" y="4807952"/>
            <a:ext cx="5215000" cy="1612048"/>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읽을 때 주의</a:t>
            </a:r>
          </a:p>
          <a:p>
            <a:pPr algn="l">
              <a:spcAft>
                <a:spcPts val="250"/>
              </a:spcAft>
            </a:pPr>
            <a:r>
              <a:rPr sz="900" b="0">
                <a:solidFill>
                  <a:srgbClr val="000000"/>
                </a:solidFill>
                <a:latin typeface="맑은 고딕"/>
                <a:ea typeface="맑은 고딕"/>
              </a:rPr>
              <a:t>• QA1 C1 ×1.298은 ★★★ 경계 1.30 바로 아래(0.2%). 경계를 1.25로 두면 합계가 달라지고, 1.30~1.40이면 동점(QA1 우선순위로 C2).</a:t>
            </a:r>
          </a:p>
          <a:p>
            <a:pPr algn="l">
              <a:spcAft>
                <a:spcPts val="250"/>
              </a:spcAft>
            </a:pPr>
            <a:r>
              <a:rPr sz="900" b="0">
                <a:solidFill>
                  <a:srgbClr val="000000"/>
                </a:solidFill>
                <a:latin typeface="맑은 고딕"/>
                <a:ea typeface="맑은 고딕"/>
              </a:rPr>
              <a:t>• C1의 TTFT P99는 Baseline보다 나쁘다(×1.04). P50은 좋아지는데 꼬리가 나빠진다(이동이 링크를 점유).</a:t>
            </a:r>
          </a:p>
          <a:p>
            <a:pPr algn="l">
              <a:spcAft>
                <a:spcPts val="250"/>
              </a:spcAft>
            </a:pPr>
            <a:r>
              <a:rPr sz="900" b="0">
                <a:solidFill>
                  <a:srgbClr val="000000"/>
                </a:solidFill>
                <a:latin typeface="맑은 고딕"/>
                <a:ea typeface="맑은 고딕"/>
              </a:rPr>
              <a:t>• 평가는 mapping·commit·driver overhead를 0으로 가정한다(조건부 값).</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DP1 별 합계는 C1 9, C2 9(동점 → QA1에서 C2). 이 장의 표는 DP1 기준(v5)이고 v3와 QA2·QA4 판정이 다르다.</a:t>
            </a:r>
          </a:p>
        </p:txBody>
      </p:sp>
    </p:spTree>
    <p:extLst>
      <p:ext uri="{BB962C8B-B14F-4D97-AF65-F5344CB8AC3E}">
        <p14:creationId xmlns:p14="http://schemas.microsoft.com/office/powerpoint/2010/main" val="42229928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공통 시나리오(CB-1~3)만 본 값 — 다른 DP와 같은 시나리오·같은 형식</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공통 벤치마크 3개 × 2시스템 = 6쌍 중 비교 가능 5쌍 · 같은 QA의 같은 시나리오를 DP 간 비교할 수 있게 별도 표기 · 괄호 = 후보 ÷ Baseline</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공통 별점은 공통 시나리오에서만 산출한다(common-benchmark.md §7). DP1의 공식 별(1장)은 Common+Stress+Dynamic 21쌍 기준이며(소유자 결정, H11), 이 장의 별은 공통 6쌍 기준의 참고값이다.</a:t>
            </a:r>
          </a:p>
        </p:txBody>
      </p:sp>
      <p:graphicFrame>
        <p:nvGraphicFramePr>
          <p:cNvPr id="6" name="tbl"/>
          <p:cNvGraphicFramePr>
            <a:graphicFrameLocks noGrp="1"/>
          </p:cNvGraphicFramePr>
          <p:nvPr/>
        </p:nvGraphicFramePr>
        <p:xfrm>
          <a:off x="365760" y="1170432"/>
          <a:ext cx="11457432" cy="1645920"/>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gridCol w="2953512">
                  <a:extLst>
                    <a:ext uri="{9D8B030D-6E8A-4147-A177-3AD203B41FA5}">
                      <a16:colId xmlns:a16="http://schemas.microsoft.com/office/drawing/2014/main" val="20004"/>
                    </a:ext>
                  </a:extLst>
                </a:gridCol>
              </a:tblGrid>
              <a:tr h="274320">
                <a:tc>
                  <a:txBody>
                    <a:bodyPr/>
                    <a:lstStyle/>
                    <a:p>
                      <a:pPr algn="ctr"/>
                      <a:r>
                        <a:rPr sz="1000" b="1">
                          <a:solidFill>
                            <a:srgbClr val="FFFFFF"/>
                          </a:solidFill>
                          <a:latin typeface="맑은 고딕"/>
                          <a:ea typeface="맑은 고딕"/>
                        </a:rPr>
                        <a:t>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평가 metric (↑/↓ 좋음)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74320">
                <a:tc>
                  <a:txBody>
                    <a:bodyPr/>
                    <a:lstStyle/>
                    <a:p>
                      <a:pPr algn="l"/>
                      <a:r>
                        <a:rPr sz="1000" b="1">
                          <a:solidFill>
                            <a:srgbClr val="000000"/>
                          </a:solidFill>
                          <a:latin typeface="맑은 고딕"/>
                          <a:ea typeface="맑은 고딕"/>
                        </a:rPr>
                        <a:t>QA1 처리량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Max SLO goodput (tok/s)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3,374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3,360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3,373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74320">
                <a:tc>
                  <a:txBody>
                    <a:bodyPr/>
                    <a:lstStyle/>
                    <a:p>
                      <a:pPr algn="l"/>
                      <a:r>
                        <a:rPr sz="1000" b="1">
                          <a:solidFill>
                            <a:srgbClr val="000000"/>
                          </a:solidFill>
                          <a:latin typeface="맑은 고딕"/>
                          <a:ea typeface="맑은 고딕"/>
                        </a:rPr>
                        <a:t>QA2 지연 (TTFT)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356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1,051 (×2.95)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368 (×1.03)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1000" b="1">
                          <a:solidFill>
                            <a:srgbClr val="000000"/>
                          </a:solidFill>
                          <a:latin typeface="맑은 고딕"/>
                          <a:ea typeface="맑은 고딕"/>
                        </a:rPr>
                        <a:t>QA2 지연 (TPOT)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TPOT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7.9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10.8 (×1.37)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7.9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l"/>
                      <a:r>
                        <a:rPr sz="1000" b="1">
                          <a:solidFill>
                            <a:srgbClr val="000000"/>
                          </a:solidFill>
                          <a:latin typeface="맑은 고딕"/>
                          <a:ea typeface="맑은 고딕"/>
                        </a:rPr>
                        <a:t>QA2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6개 지표 개선 배수 geomean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×0.94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×1.22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74320">
                <a:tc>
                  <a:txBody>
                    <a:bodyPr/>
                    <a:lstStyle/>
                    <a:p>
                      <a:pPr algn="l"/>
                      <a:r>
                        <a:rPr sz="1000" b="1">
                          <a:solidFill>
                            <a:srgbClr val="000000"/>
                          </a:solidFill>
                          <a:latin typeface="맑은 고딕"/>
                          <a:ea typeface="맑은 고딕"/>
                        </a:rPr>
                        <a:t>QA3 자원 (HBM)</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HBM 사용량 (GiB)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54.2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50.0 (×0.92)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71.8 (×1.32)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graphicFrame>
        <p:nvGraphicFramePr>
          <p:cNvPr id="7" name="tbl"/>
          <p:cNvGraphicFramePr>
            <a:graphicFrameLocks noGrp="1"/>
          </p:cNvGraphicFramePr>
          <p:nvPr/>
        </p:nvGraphicFramePr>
        <p:xfrm>
          <a:off x="365760" y="2936352"/>
          <a:ext cx="11457432" cy="1728216"/>
        </p:xfrm>
        <a:graphic>
          <a:graphicData uri="http://schemas.openxmlformats.org/drawingml/2006/table">
            <a:tbl>
              <a:tblPr>
                <a:tableStyleId>{5C22544A-7EE6-4342-B048-85BDC9FD1C3A}</a:tableStyleId>
              </a:tblPr>
              <a:tblGrid>
                <a:gridCol w="210312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645920">
                  <a:extLst>
                    <a:ext uri="{9D8B030D-6E8A-4147-A177-3AD203B41FA5}">
                      <a16:colId xmlns:a16="http://schemas.microsoft.com/office/drawing/2014/main" val="20005"/>
                    </a:ext>
                  </a:extLst>
                </a:gridCol>
                <a:gridCol w="1417320">
                  <a:extLst>
                    <a:ext uri="{9D8B030D-6E8A-4147-A177-3AD203B41FA5}">
                      <a16:colId xmlns:a16="http://schemas.microsoft.com/office/drawing/2014/main" val="20006"/>
                    </a:ext>
                  </a:extLst>
                </a:gridCol>
                <a:gridCol w="1444752">
                  <a:extLst>
                    <a:ext uri="{9D8B030D-6E8A-4147-A177-3AD203B41FA5}">
                      <a16:colId xmlns:a16="http://schemas.microsoft.com/office/drawing/2014/main" val="20007"/>
                    </a:ext>
                  </a:extLst>
                </a:gridCol>
              </a:tblGrid>
              <a:tr h="246888">
                <a:tc>
                  <a:txBody>
                    <a:bodyPr/>
                    <a:lstStyle/>
                    <a:p>
                      <a:pPr algn="ctr"/>
                      <a:r>
                        <a:rPr sz="90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시스템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fit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Baseline goodput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C1 goodput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C2 goodput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TTFT P99 C1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TTFT P99 C2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46888">
                <a:tc>
                  <a:txBody>
                    <a:bodyPr/>
                    <a:lstStyle/>
                    <a:p>
                      <a:pPr algn="l"/>
                      <a:r>
                        <a:rPr sz="900" b="1">
                          <a:solidFill>
                            <a:srgbClr val="000000"/>
                          </a:solidFill>
                          <a:latin typeface="맑은 고딕"/>
                          <a:ea typeface="맑은 고딕"/>
                        </a:rPr>
                        <a:t>CB-1  cb_kv_8k_b32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3,564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×3.88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46888">
                <a:tc>
                  <a:txBody>
                    <a:bodyPr/>
                    <a:lstStyle/>
                    <a:p>
                      <a:pPr algn="l"/>
                      <a:r>
                        <a:rPr sz="900" b="1">
                          <a:solidFill>
                            <a:srgbClr val="000000"/>
                          </a:solidFill>
                          <a:latin typeface="맑은 고딕"/>
                          <a:ea typeface="맑은 고딕"/>
                        </a:rPr>
                        <a:t>CB-1  cb_kv_8k_b32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H100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3,557 (×0.99)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3,577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×4.15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×1.23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46888">
                <a:tc>
                  <a:txBody>
                    <a:bodyPr/>
                    <a:lstStyle/>
                    <a:p>
                      <a:pPr algn="l"/>
                      <a:r>
                        <a:rPr sz="900" b="1">
                          <a:solidFill>
                            <a:srgbClr val="000000"/>
                          </a:solidFill>
                          <a:latin typeface="맑은 고딕"/>
                          <a:ea typeface="맑은 고딕"/>
                        </a:rPr>
                        <a:t>CB-2  cb_kv_8k_b32_ramp</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3,591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×0.86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×0.63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46888">
                <a:tc>
                  <a:txBody>
                    <a:bodyPr/>
                    <a:lstStyle/>
                    <a:p>
                      <a:pPr algn="l"/>
                      <a:r>
                        <a:rPr sz="900" b="1">
                          <a:solidFill>
                            <a:srgbClr val="000000"/>
                          </a:solidFill>
                          <a:latin typeface="맑은 고딕"/>
                          <a:ea typeface="맑은 고딕"/>
                        </a:rPr>
                        <a:t>CB-2  cb_kv_8k_b32_ramp</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H100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×3.76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×1.14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46888">
                <a:tc>
                  <a:txBody>
                    <a:bodyPr/>
                    <a:lstStyle/>
                    <a:p>
                      <a:pPr algn="l"/>
                      <a:r>
                        <a:rPr sz="900" b="1">
                          <a:solidFill>
                            <a:srgbClr val="000000"/>
                          </a:solidFill>
                          <a:latin typeface="맑은 고딕"/>
                          <a:ea typeface="맑은 고딕"/>
                        </a:rPr>
                        <a:t>CB-3  cb_mixed_8k_b32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포화(제외)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46888">
                <a:tc>
                  <a:txBody>
                    <a:bodyPr/>
                    <a:lstStyle/>
                    <a:p>
                      <a:pPr algn="l"/>
                      <a:r>
                        <a:rPr sz="900" b="1">
                          <a:solidFill>
                            <a:srgbClr val="000000"/>
                          </a:solidFill>
                          <a:latin typeface="맑은 고딕"/>
                          <a:ea typeface="맑은 고딕"/>
                        </a:rPr>
                        <a:t>CB-3  cb_mixed_8k_b32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H100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2,641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2,630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2,640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×4.32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8" name="read"/>
          <p:cNvSpPr txBox="1"/>
          <p:nvPr/>
        </p:nvSpPr>
        <p:spPr>
          <a:xfrm>
            <a:off x="365760" y="4754568"/>
            <a:ext cx="11430000" cy="1645432"/>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공통 3개 시나리오는 Baseline이 이미 SLO를 지키고 처리량이 포화에 가까워 후보의 QA1 이득이 거의 없다(×1.00). 이득은 DP1 전용 Dynamic 시나리오에서 나온다(1장).</a:t>
            </a:r>
          </a:p>
          <a:p>
            <a:pPr algn="l">
              <a:spcAft>
                <a:spcPts val="250"/>
              </a:spcAft>
            </a:pPr>
            <a:r>
              <a:rPr sz="900" b="0">
                <a:solidFill>
                  <a:srgbClr val="000000"/>
                </a:solidFill>
                <a:latin typeface="맑은 고딕"/>
                <a:ea typeface="맑은 고딕"/>
              </a:rPr>
              <a:t>• 공통에서 C1은 지연 쪽이 나쁘다: TTFT P99 ×2.95, QA2 개선 배수 ×0.94(★ 경계 0.95 아래). C2는 TTFT P99가 Baseline과 같은 수준이다.</a:t>
            </a:r>
          </a:p>
          <a:p>
            <a:pPr algn="l">
              <a:spcAft>
                <a:spcPts val="250"/>
              </a:spcAft>
            </a:pPr>
            <a:r>
              <a:rPr sz="900" b="0">
                <a:solidFill>
                  <a:srgbClr val="000000"/>
                </a:solidFill>
                <a:latin typeface="맑은 고딕"/>
                <a:ea typeface="맑은 고딕"/>
              </a:rPr>
              <a:t>• CB-3(B200)은 모든 후보가 CI 이내로 같아 '포화'로 집계에서 제외했다(삭제하지 않고 목록에 남김).</a:t>
            </a:r>
          </a:p>
          <a:p>
            <a:pPr algn="l">
              <a:spcAft>
                <a:spcPts val="250"/>
              </a:spcAft>
            </a:pPr>
            <a:r>
              <a:rPr sz="900" b="0">
                <a:solidFill>
                  <a:srgbClr val="000000"/>
                </a:solidFill>
                <a:latin typeface="맑은 고딕"/>
                <a:ea typeface="맑은 고딕"/>
              </a:rPr>
              <a:t>• DP4는 공통 6쌍으로 별을 매기고 DP2는 전체 쌍으로 매겨 DP마다 집합이 다르다. 이 장은 DP1의 공통 값을 같은 형식으로 내어 비교 근거로 쓴다(12장 정합 점검).</a:t>
            </a:r>
          </a:p>
        </p:txBody>
      </p:sp>
    </p:spTree>
    <p:extLst>
      <p:ext uri="{BB962C8B-B14F-4D97-AF65-F5344CB8AC3E}">
        <p14:creationId xmlns:p14="http://schemas.microsoft.com/office/powerpoint/2010/main" val="42348995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평가 대상 구조 C1 · C2</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같은 이벤트·Selector 경계·Migration budget 위에서 '무엇을 보고 이동을 결정하나'만 다른 두 후보 · 결정은 DP1, mapping·commit은 공통 Migration subsystem</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정의는 dp1-ai-data-migration-decision-architecture.md §4~5, 구현은 DP1/sim/policies.py. 블록 이름은 설계 문서 용어. 변경 시나리오 S1~S4는 QA4(qa-criteria-dp1.md).</a:t>
            </a:r>
          </a:p>
        </p:txBody>
      </p:sp>
      <p:graphicFrame>
        <p:nvGraphicFramePr>
          <p:cNvPr id="6" name="tbl"/>
          <p:cNvGraphicFramePr>
            <a:graphicFrameLocks noGrp="1"/>
          </p:cNvGraphicFramePr>
          <p:nvPr/>
        </p:nvGraphicFramePr>
        <p:xfrm>
          <a:off x="365760" y="1290000"/>
          <a:ext cx="11457432" cy="2559050"/>
        </p:xfrm>
        <a:graphic>
          <a:graphicData uri="http://schemas.openxmlformats.org/drawingml/2006/table">
            <a:tbl>
              <a:tblPr>
                <a:tableStyleId>{5C22544A-7EE6-4342-B048-85BDC9FD1C3A}</a:tableStyleId>
              </a:tblPr>
              <a:tblGrid>
                <a:gridCol w="4114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2011680">
                  <a:extLst>
                    <a:ext uri="{9D8B030D-6E8A-4147-A177-3AD203B41FA5}">
                      <a16:colId xmlns:a16="http://schemas.microsoft.com/office/drawing/2014/main" val="20006"/>
                    </a:ext>
                  </a:extLst>
                </a:gridCol>
                <a:gridCol w="1307592">
                  <a:extLst>
                    <a:ext uri="{9D8B030D-6E8A-4147-A177-3AD203B41FA5}">
                      <a16:colId xmlns:a16="http://schemas.microsoft.com/office/drawing/2014/main" val="20007"/>
                    </a:ext>
                  </a:extLst>
                </a:gridCol>
              </a:tblGrid>
              <a:tr h="274320">
                <a:tc>
                  <a:txBody>
                    <a:bodyPr/>
                    <a:lstStyle/>
                    <a:p>
                      <a:pPr algn="ctr"/>
                      <a:r>
                        <a:rPr sz="85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이름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쉬운 설명</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입력 → 출력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블록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C1 구현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C2 구현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변경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26390">
                <a:tc>
                  <a:txBody>
                    <a:bodyPr/>
                    <a:lstStyle/>
                    <a:p>
                      <a:pPr algn="ctr"/>
                      <a:r>
                        <a:rPr sz="850" b="1">
                          <a:solidFill>
                            <a:srgbClr val="000000"/>
                          </a:solidFill>
                          <a:latin typeface="맑은 고딕"/>
                          <a:ea typeface="맑은 고딕"/>
                        </a:rPr>
                        <a:t>K1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Event · Migration Scheduler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용량 압박·접근·할당 같은 사건이 오면 이동 판단을 시작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telemetry · ALLOCATED/FREED/ACCESSED → 결정 주기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S4 새 event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26390">
                <a:tc>
                  <a:txBody>
                    <a:bodyPr/>
                    <a:lstStyle/>
                    <a:p>
                      <a:pPr algn="ctr"/>
                      <a:r>
                        <a:rPr sz="850" b="1">
                          <a:solidFill>
                            <a:srgbClr val="000000"/>
                          </a:solidFill>
                          <a:latin typeface="맑은 고딕"/>
                          <a:ea typeface="맑은 고딕"/>
                        </a:rPr>
                        <a:t>K2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Data Object Registry</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객체의 위치·크기·tier를 적어 두는 장부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객체 id → 위치·크기·tier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공통(스키마 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type-agnostic (종류를 모름)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type-aware (KV/LoRA/MoE/RAG별 특성)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S2 새 data 종류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26390">
                <a:tc>
                  <a:txBody>
                    <a:bodyPr/>
                    <a:lstStyle/>
                    <a:p>
                      <a:pPr algn="ctr"/>
                      <a:r>
                        <a:rPr sz="850" b="1">
                          <a:solidFill>
                            <a:srgbClr val="000000"/>
                          </a:solidFill>
                          <a:latin typeface="맑은 고딕"/>
                          <a:ea typeface="맑은 고딕"/>
                        </a:rPr>
                        <a:t>K3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관찰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무엇을 보고 상황을 파악하나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tier 상태 / 접근 이력 → 상태 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Resource State Monitor (용량·BW·부하)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Data Behavior Monitor (빈도·재사용·유휴)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26390">
                <a:tc>
                  <a:txBody>
                    <a:bodyPr/>
                    <a:lstStyle/>
                    <a:p>
                      <a:pPr algn="ctr"/>
                      <a:r>
                        <a:rPr sz="850" b="1">
                          <a:solidFill>
                            <a:srgbClr val="000000"/>
                          </a:solidFill>
                          <a:latin typeface="맑은 고딕"/>
                          <a:ea typeface="맑은 고딕"/>
                        </a:rPr>
                        <a:t>K4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판단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지금 이동이 필요한가, 무엇이 유리한가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상태 값 → 압력 · 선호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Trend Analyzer + Data-Memory Affinity(정적 힌트)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Trend Analyzer + Future Behavior Predictor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S3 정책 교체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26390">
                <a:tc>
                  <a:txBody>
                    <a:bodyPr/>
                    <a:lstStyle/>
                    <a:p>
                      <a:pPr algn="ctr"/>
                      <a:r>
                        <a:rPr sz="850" b="1">
                          <a:solidFill>
                            <a:srgbClr val="000000"/>
                          </a:solidFill>
                          <a:latin typeface="맑은 고딕"/>
                          <a:ea typeface="맑은 고딕"/>
                        </a:rPr>
                        <a:t>K5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Destination Tier Selector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어느 tier로 보낼지 고른다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후보 tier 목록 → 목적지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 비용 추정 + 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affinity 점수 − 서빙 penalty, SLO 필터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type 선호 목록 + benefit-vs-cost gating</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S1 새 메모리</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326390">
                <a:tc>
                  <a:txBody>
                    <a:bodyPr/>
                    <a:lstStyle/>
                    <a:p>
                      <a:pPr algn="ctr"/>
                      <a:r>
                        <a:rPr sz="850" b="1">
                          <a:solidFill>
                            <a:srgbClr val="000000"/>
                          </a:solidFill>
                          <a:latin typeface="맑은 고딕"/>
                          <a:ea typeface="맑은 고딕"/>
                        </a:rPr>
                        <a:t>K6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Eviction · 승격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누구를 내리고 누구를 올릴지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압력 · 후보 → 이동 대상</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Eviction Manager + 정적 승격/교환 pass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coldest-first 강등(압력 시) + 예측 승격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326390">
                <a:tc>
                  <a:txBody>
                    <a:bodyPr/>
                    <a:lstStyle/>
                    <a:p>
                      <a:pPr algn="ctr"/>
                      <a:r>
                        <a:rPr sz="850" b="1">
                          <a:solidFill>
                            <a:srgbClr val="000000"/>
                          </a:solidFill>
                          <a:latin typeface="맑은 고딕"/>
                          <a:ea typeface="맑은 고딕"/>
                        </a:rPr>
                        <a:t>K7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Migration Budget · Executor 경계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이동이 서빙 링크를 너무 쓰지 않게 제한하고 결정을 넘긴다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이동 결정 → MigrationIntent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link 시간 token bucket (몫 0.25, cooldown 8 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bl>
          </a:graphicData>
        </a:graphic>
      </p:graphicFrame>
      <p:sp>
        <p:nvSpPr>
          <p:cNvPr id="7" name="r1"/>
          <p:cNvSpPr txBox="1"/>
          <p:nvPr/>
        </p:nvSpPr>
        <p:spPr>
          <a:xfrm>
            <a:off x="365760" y="3959050"/>
            <a:ext cx="6150000" cy="244095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K1·K7과 Memory Backend I/F는 두 후보 공통이고 K2~K6이 갈린다. 그래서 C1/C2는 같은 Policy 틀의 두 구현으로 볼 수 있다.</a:t>
            </a:r>
          </a:p>
          <a:p>
            <a:pPr algn="l">
              <a:spcAft>
                <a:spcPts val="250"/>
              </a:spcAft>
            </a:pPr>
            <a:r>
              <a:rPr sz="900" b="0">
                <a:solidFill>
                  <a:srgbClr val="000000"/>
                </a:solidFill>
                <a:latin typeface="맑은 고딕"/>
                <a:ea typeface="맑은 고딕"/>
              </a:rPr>
              <a:t>• C1은 '메모리 상태가 어떻게 변하나'를, C2는 '데이터가 앞으로 어떻게 쓰이나'를 본다. 같은 종류 안의 hot/cold 구분은 C2만 한다.</a:t>
            </a:r>
          </a:p>
          <a:p>
            <a:pPr algn="l">
              <a:spcAft>
                <a:spcPts val="250"/>
              </a:spcAft>
            </a:pPr>
            <a:r>
              <a:rPr sz="900" b="0">
                <a:solidFill>
                  <a:srgbClr val="000000"/>
                </a:solidFill>
                <a:latin typeface="맑은 고딕"/>
                <a:ea typeface="맑은 고딕"/>
              </a:rPr>
              <a:t>• C1의 Data-Memory Affinity 효과는 정적 승격 pass에서 나온다(제거 실험: 처리량 ×1.30 → ×1.05).</a:t>
            </a:r>
          </a:p>
        </p:txBody>
      </p:sp>
      <p:sp>
        <p:nvSpPr>
          <p:cNvPr id="8" name="r2"/>
          <p:cNvSpPr txBox="1"/>
          <p:nvPr/>
        </p:nvSpPr>
        <p:spPr>
          <a:xfrm>
            <a:off x="6640000" y="3959050"/>
            <a:ext cx="5155000" cy="244095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범위 주의</a:t>
            </a:r>
          </a:p>
          <a:p>
            <a:pPr algn="l">
              <a:spcAft>
                <a:spcPts val="250"/>
              </a:spcAft>
            </a:pPr>
            <a:r>
              <a:rPr sz="900" b="0">
                <a:solidFill>
                  <a:srgbClr val="000000"/>
                </a:solidFill>
                <a:latin typeface="맑은 고딕"/>
                <a:ea typeface="맑은 고딕"/>
              </a:rPr>
              <a:t>• DP1은 결정(WHAT/WHERE)까지다. location 변경과 commit, 전송, HW 주소 변환은 공통 Migration subsystem과 driver의 영역이다(dp1-constraints.md C-X6, 6절).</a:t>
            </a:r>
          </a:p>
          <a:p>
            <a:pPr algn="l">
              <a:spcAft>
                <a:spcPts val="250"/>
              </a:spcAft>
            </a:pPr>
            <a:r>
              <a:rPr sz="900" b="0">
                <a:solidFill>
                  <a:srgbClr val="000000"/>
                </a:solidFill>
                <a:latin typeface="맑은 고딕"/>
                <a:ea typeface="맑은 고딕"/>
              </a:rPr>
              <a:t>• 평가는 그 구간의 overhead를 0으로 가정한다. 구현 후 실측이 필요하다.</a:t>
            </a:r>
          </a:p>
        </p:txBody>
      </p:sp>
    </p:spTree>
    <p:extLst>
      <p:ext uri="{BB962C8B-B14F-4D97-AF65-F5344CB8AC3E}">
        <p14:creationId xmlns:p14="http://schemas.microsoft.com/office/powerpoint/2010/main" val="35256922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평가 시나리오</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공통 벤치마크 CB-1~3을 기본으로 하고 DP1 전용 시나리오를 더한다 · 시나리오당 한 줄 · 시스템 2개(H100, B200)에 각각 실행</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시나리오 정의는 평가 계획이며 결과가 아니다. 파라미터는 사전 등록 값이고 결과를 본 뒤 바꾸지 않는다. 정의 원천: common-benchmark.md 2.1, DP1/benchmark.md, DP1/sim/scenarios.py.</a:t>
            </a:r>
          </a:p>
        </p:txBody>
      </p:sp>
      <p:graphicFrame>
        <p:nvGraphicFramePr>
          <p:cNvPr id="6" name="tbl"/>
          <p:cNvGraphicFramePr>
            <a:graphicFrameLocks noGrp="1"/>
          </p:cNvGraphicFramePr>
          <p:nvPr/>
        </p:nvGraphicFramePr>
        <p:xfrm>
          <a:off x="365760" y="1300000"/>
          <a:ext cx="11457432" cy="2606038"/>
        </p:xfrm>
        <a:graphic>
          <a:graphicData uri="http://schemas.openxmlformats.org/drawingml/2006/table">
            <a:tbl>
              <a:tblPr>
                <a:tableStyleId>{5C22544A-7EE6-4342-B048-85BDC9FD1C3A}</a:tableStyleId>
              </a:tblPr>
              <a:tblGrid>
                <a:gridCol w="68580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2926080">
                  <a:extLst>
                    <a:ext uri="{9D8B030D-6E8A-4147-A177-3AD203B41FA5}">
                      <a16:colId xmlns:a16="http://schemas.microsoft.com/office/drawing/2014/main" val="20004"/>
                    </a:ext>
                  </a:extLst>
                </a:gridCol>
                <a:gridCol w="2359152">
                  <a:extLst>
                    <a:ext uri="{9D8B030D-6E8A-4147-A177-3AD203B41FA5}">
                      <a16:colId xmlns:a16="http://schemas.microsoft.com/office/drawing/2014/main" val="20005"/>
                    </a:ext>
                  </a:extLst>
                </a:gridCol>
              </a:tblGrid>
              <a:tr h="274320">
                <a:tc>
                  <a:txBody>
                    <a:bodyPr/>
                    <a:lstStyle/>
                    <a:p>
                      <a:pPr algn="ctr"/>
                      <a:r>
                        <a:rPr sz="90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무엇인가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대상 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드러내는 차이 (As-Is 약점)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핵심 파라미터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42900">
                <a:tc>
                  <a:txBody>
                    <a:bodyPr/>
                    <a:lstStyle/>
                    <a:p>
                      <a:pPr algn="ctr"/>
                      <a:r>
                        <a:rPr sz="900" b="1">
                          <a:solidFill>
                            <a:srgbClr val="000000"/>
                          </a:solidFill>
                          <a:latin typeface="맑은 고딕"/>
                          <a:ea typeface="맑은 고딕"/>
                        </a:rPr>
                        <a:t>CB-1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cb_kv_8k_b32 (공통)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KV만, 정상 상태, HBM 용량 압박 고정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정적 배치가 fast tier 초과분을 느린 tier로 흘릴 때의 TPOT 악화</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8K/256, batch 32, 40 objs, HBM ×0.12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42900">
                <a:tc>
                  <a:txBody>
                    <a:bodyPr/>
                    <a:lstStyle/>
                    <a:p>
                      <a:pPr algn="ctr"/>
                      <a:r>
                        <a:rPr sz="900" b="1">
                          <a:solidFill>
                            <a:srgbClr val="000000"/>
                          </a:solidFill>
                          <a:latin typeface="맑은 고딕"/>
                          <a:ea typeface="맑은 고딕"/>
                        </a:rPr>
                        <a:t>CB-2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cb_kv_8k_b32_ramp (공통)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CB-1과 같은 KV, 압박이 시간에 따라 점진 증가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시간에 따라 필요한 배치가 바뀌는데 정적 배치가 따라가지 못함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HBM ×0.2, capacity_ramp</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42900">
                <a:tc>
                  <a:txBody>
                    <a:bodyPr/>
                    <a:lstStyle/>
                    <a:p>
                      <a:pPr algn="ctr"/>
                      <a:r>
                        <a:rPr sz="900" b="1">
                          <a:solidFill>
                            <a:srgbClr val="000000"/>
                          </a:solidFill>
                          <a:latin typeface="맑은 고딕"/>
                          <a:ea typeface="맑은 고딕"/>
                        </a:rPr>
                        <a:t>CB-3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cb_mixed_8k_b32 (공통)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 LoRA + MoE + Agent/Tool 혼합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data 종류를 구분하지 않는 관리의 한계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50/LoRA 15/MoE 15/Agent 10/Tool 10 %, 48 objs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480059">
                <a:tc>
                  <a:txBody>
                    <a:bodyPr/>
                    <a:lstStyle/>
                    <a:p>
                      <a:pPr algn="ctr"/>
                      <a:r>
                        <a:rPr sz="900" b="1">
                          <a:solidFill>
                            <a:srgbClr val="000000"/>
                          </a:solidFill>
                          <a:latin typeface="맑은 고딕"/>
                          <a:ea typeface="맑은 고딕"/>
                        </a:rPr>
                        <a:t>ST (23)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DP1 Stress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데이터 종류(KV, RAG, Agent, Tool, LoRA, MoE)·크기(32K~512K, 1~8 TiB)·압박 양상을 바꾼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tier 선택과 용량 사다리(6개 메모리 전부), 공유 링크 압박, hotness 급반전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예: rag_1tib_b16, kv_b256_c512k_stress, behavior_flip_stress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480059">
                <a:tc>
                  <a:txBody>
                    <a:bodyPr/>
                    <a:lstStyle/>
                    <a:p>
                      <a:pPr algn="ctr"/>
                      <a:r>
                        <a:rPr sz="900" b="1">
                          <a:solidFill>
                            <a:srgbClr val="000000"/>
                          </a:solidFill>
                          <a:latin typeface="맑은 고딕"/>
                          <a:ea typeface="맑은 고딕"/>
                        </a:rPr>
                        <a:t>DY (6)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DP1 Dynamic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Baseline이 처음엔 SLO를 만족하다 중간에 고정 규칙이 stale해지는 6개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hot 집합이 이동·idle 점유·링크 저하 (Baseline의 실패 양상을 알고 설계함)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dyn_kv_rotating_hotset, dyn_idle_kv_holds_hbm, dyn_rag_shard_hotset_shift 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342900">
                <a:tc>
                  <a:txBody>
                    <a:bodyPr/>
                    <a:lstStyle/>
                    <a:p>
                      <a:pPr algn="ctr"/>
                      <a:r>
                        <a:rPr sz="900" b="1">
                          <a:solidFill>
                            <a:srgbClr val="000000"/>
                          </a:solidFill>
                          <a:latin typeface="맑은 고딕"/>
                          <a:ea typeface="맑은 고딕"/>
                        </a:rPr>
                        <a:t>S1~S4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변경 시나리오 4개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새 메모리 추가 · 새 AI data 종류 · 정책 교체 · 새 event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변경이 어디까지 번지는가 (module · 공수 · 에이전트 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시뮬레이터 복사본에 구현해 측정, 가중 없음(평균)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7" name="r"/>
          <p:cNvSpPr txBox="1"/>
          <p:nvPr/>
        </p:nvSpPr>
        <p:spPr>
          <a:xfrm>
            <a:off x="365760" y="4016038"/>
            <a:ext cx="11430000" cy="2383962"/>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32개 시나리오 × 2시스템 = 64쌍 중 비교 가능 21쌍, 포화 10쌍(모든 후보가 CI 이내로 같음), Baseline도 SLO 불가 33쌍. 불가·포화 쌍은 집계에서 빼되 목록에는 남겼다.</a:t>
            </a:r>
          </a:p>
          <a:p>
            <a:pPr algn="l">
              <a:spcAft>
                <a:spcPts val="250"/>
              </a:spcAft>
            </a:pPr>
            <a:r>
              <a:rPr sz="900" b="0">
                <a:solidFill>
                  <a:srgbClr val="000000"/>
                </a:solidFill>
                <a:latin typeface="맑은 고딕"/>
                <a:ea typeface="맑은 고딕"/>
              </a:rPr>
              <a:t>• 공통 CB-1~3은 다른 DP와 같은 ID·파라미터다(common-benchmark.md). 그 외는 DP1 전용이며 후보가 지는 시나리오도 삭제하지 않았다.</a:t>
            </a:r>
          </a:p>
          <a:p>
            <a:pPr algn="l">
              <a:spcAft>
                <a:spcPts val="250"/>
              </a:spcAft>
            </a:pPr>
            <a:r>
              <a:rPr sz="900" b="0">
                <a:solidFill>
                  <a:srgbClr val="000000"/>
                </a:solidFill>
                <a:latin typeface="맑은 고딕"/>
                <a:ea typeface="맑은 고딕"/>
              </a:rPr>
              <a:t>• Dynamic은 failure mode를 알고 설계했으므로 이득은 그 상황에 한정해 읽어야 한다(시스템·시나리오 선택 의존).</a:t>
            </a:r>
          </a:p>
        </p:txBody>
      </p:sp>
    </p:spTree>
    <p:extLst>
      <p:ext uri="{BB962C8B-B14F-4D97-AF65-F5344CB8AC3E}">
        <p14:creationId xmlns:p14="http://schemas.microsoft.com/office/powerpoint/2010/main" val="2031714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시뮬레이션 수행 방식 — 시뮬레이터 단독 (실측 Baseline 없음)</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DP1은 실물 이기종 메모리(ScHBM, CXL-PNM, HBF, SSD-PIM)가 없어 Baseline까지 시뮬레이터로 돌린다: 모든 값이 [B+C]</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이 장은 평가 절차다. 시뮬레이터(DP1/sim)와 결과 데이터(DP1/results/data)는 같은 명령·같은 revision이면 같은 값이 나온다(seed 11/23/37/53/71).</a:t>
            </a:r>
          </a:p>
        </p:txBody>
      </p:sp>
      <p:sp>
        <p:nvSpPr>
          <p:cNvPr id="6" name="① 시스"/>
          <p:cNvSpPr txBox="1"/>
          <p:nvPr/>
        </p:nvSpPr>
        <p:spPr>
          <a:xfrm>
            <a:off x="365760" y="129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① 시스템 모델 구성 [B]</a:t>
            </a:r>
          </a:p>
        </p:txBody>
      </p:sp>
      <p:sp>
        <p:nvSpPr>
          <p:cNvPr id="7" name="d① "/>
          <p:cNvSpPr txBox="1"/>
          <p:nvPr/>
        </p:nvSpPr>
        <p:spPr>
          <a:xfrm>
            <a:off x="3000000" y="129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H100×8 / B200×8 프로필(공개 spec) + 6종 메모리의 용량·대역폭·지연·primitive·연산 능력(`systems.json`, SPEC/PUBLIC/ASSUMED 표기). 공통 프로필 Llama-3.1-70B BF16.</a:t>
            </a:r>
          </a:p>
        </p:txBody>
      </p:sp>
      <p:sp>
        <p:nvSpPr>
          <p:cNvPr id="8" name="② 시나"/>
          <p:cNvSpPr txBox="1"/>
          <p:nvPr/>
        </p:nvSpPr>
        <p:spPr>
          <a:xfrm>
            <a:off x="365760" y="186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② 시나리오 trace 생성</a:t>
            </a:r>
          </a:p>
        </p:txBody>
      </p:sp>
      <p:sp>
        <p:nvSpPr>
          <p:cNvPr id="9" name="d② "/>
          <p:cNvSpPr txBox="1"/>
          <p:nvPr/>
        </p:nvSpPr>
        <p:spPr>
          <a:xfrm>
            <a:off x="3000000" y="186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CB-1~3 + Stress 23 + Dynamic 6의 객체·접근률·압박을 seed별로 생성. Baseline과 후보가 같은 trace를 받는다.</a:t>
            </a:r>
          </a:p>
        </p:txBody>
      </p:sp>
      <p:sp>
        <p:nvSpPr>
          <p:cNvPr id="10" name="③ 정책"/>
          <p:cNvSpPr txBox="1"/>
          <p:nvPr/>
        </p:nvSpPr>
        <p:spPr>
          <a:xfrm>
            <a:off x="365760" y="243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③ 정책 주입</a:t>
            </a:r>
          </a:p>
        </p:txBody>
      </p:sp>
      <p:sp>
        <p:nvSpPr>
          <p:cNvPr id="11" name="d③ "/>
          <p:cNvSpPr txBox="1"/>
          <p:nvPr/>
        </p:nvSpPr>
        <p:spPr>
          <a:xfrm>
            <a:off x="3000000" y="243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Baseline-static(최초 배치 고정, 이동 없음) / C1 / C2를 같은 시뮬레이터에서 실행. 이동 비용은 링크 간섭 모델(이동이 쓴 링크 시간만큼 서빙 BW 감소)로 지연·처리량에 반영.</a:t>
            </a:r>
          </a:p>
        </p:txBody>
      </p:sp>
      <p:sp>
        <p:nvSpPr>
          <p:cNvPr id="12" name="④ 시나"/>
          <p:cNvSpPr txBox="1"/>
          <p:nvPr/>
        </p:nvSpPr>
        <p:spPr>
          <a:xfrm>
            <a:off x="365760" y="300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④ 시나리오 실행</a:t>
            </a:r>
          </a:p>
        </p:txBody>
      </p:sp>
      <p:sp>
        <p:nvSpPr>
          <p:cNvPr id="13" name="d④ "/>
          <p:cNvSpPr txBox="1"/>
          <p:nvPr/>
        </p:nvSpPr>
        <p:spPr>
          <a:xfrm>
            <a:off x="3000000" y="300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load ×0.5/1.0/1.5/2.0 sweep × seed 5개. Max SLO goodput은 SLO를 만족한 토큰의 최대값. 같은 seed·부하로 Baseline과 짝지어 비교(95% CI).</a:t>
            </a:r>
          </a:p>
        </p:txBody>
      </p:sp>
      <p:sp>
        <p:nvSpPr>
          <p:cNvPr id="14" name="⑤ 후처"/>
          <p:cNvSpPr txBox="1"/>
          <p:nvPr/>
        </p:nvSpPr>
        <p:spPr>
          <a:xfrm>
            <a:off x="365760" y="357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⑤ 후처리</a:t>
            </a:r>
          </a:p>
        </p:txBody>
      </p:sp>
      <p:sp>
        <p:nvSpPr>
          <p:cNvPr id="15" name="d⑤ "/>
          <p:cNvSpPr txBox="1"/>
          <p:nvPr/>
        </p:nvSpPr>
        <p:spPr>
          <a:xfrm>
            <a:off x="3000000" y="357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QA1 비율, QA2 6개 지표 개선 배수, QA3 HBM 점유, QA4는 변경 시나리오를 시뮬레이터 복사본에 구현해 module·LOC를 측정하고 공수·비용은 가정 상수로 계산.</a:t>
            </a:r>
          </a:p>
        </p:txBody>
      </p:sp>
      <p:graphicFrame>
        <p:nvGraphicFramePr>
          <p:cNvPr id="16" name="tbl"/>
          <p:cNvGraphicFramePr>
            <a:graphicFrameLocks noGrp="1"/>
          </p:cNvGraphicFramePr>
          <p:nvPr/>
        </p:nvGraphicFramePr>
        <p:xfrm>
          <a:off x="365760" y="4160000"/>
          <a:ext cx="11430000" cy="1481328"/>
        </p:xfrm>
        <a:graphic>
          <a:graphicData uri="http://schemas.openxmlformats.org/drawingml/2006/table">
            <a:tbl>
              <a:tblPr>
                <a:tableStyleId>{5C22544A-7EE6-4342-B048-85BDC9FD1C3A}</a:tableStyleId>
              </a:tblPr>
              <a:tblGrid>
                <a:gridCol w="3840480">
                  <a:extLst>
                    <a:ext uri="{9D8B030D-6E8A-4147-A177-3AD203B41FA5}">
                      <a16:colId xmlns:a16="http://schemas.microsoft.com/office/drawing/2014/main" val="20000"/>
                    </a:ext>
                  </a:extLst>
                </a:gridCol>
                <a:gridCol w="64922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246888">
                <a:tc>
                  <a:txBody>
                    <a:bodyPr/>
                    <a:lstStyle/>
                    <a:p>
                      <a:pPr algn="ctr"/>
                      <a:r>
                        <a:rPr sz="90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출처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Evidence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46888">
                <a:tc>
                  <a:txBody>
                    <a:bodyPr/>
                    <a:lstStyle/>
                    <a:p>
                      <a:pPr algn="l"/>
                      <a:r>
                        <a:rPr sz="900" b="1">
                          <a:solidFill>
                            <a:srgbClr val="000000"/>
                          </a:solidFill>
                          <a:latin typeface="맑은 고딕"/>
                          <a:ea typeface="맑은 고딕"/>
                        </a:rPr>
                        <a:t>GPU·호스트 spec, 모델·워크로드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공개 spec + 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46888">
                <a:tc>
                  <a:txBody>
                    <a:bodyPr/>
                    <a:lstStyle/>
                    <a:p>
                      <a:pPr algn="l"/>
                      <a:r>
                        <a:rPr sz="900" b="1">
                          <a:solidFill>
                            <a:srgbClr val="000000"/>
                          </a:solidFill>
                          <a:latin typeface="맑은 고딕"/>
                          <a:ea typeface="맑은 고딕"/>
                        </a:rPr>
                        <a:t>ScHBM·HBF·SSD-PIM·CXL-PNM 성능, 연산 능력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문헌·vendor spec을 입력으로 한 모델 (CXL-PNM 연산 3.28 TFLOPS는 ASSUMED)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46888">
                <a:tc>
                  <a:txBody>
                    <a:bodyPr/>
                    <a:lstStyle/>
                    <a:p>
                      <a:pPr algn="l"/>
                      <a:r>
                        <a:rPr sz="900" b="1">
                          <a:solidFill>
                            <a:srgbClr val="000000"/>
                          </a:solidFill>
                          <a:latin typeface="맑은 고딕"/>
                          <a:ea typeface="맑은 고딕"/>
                        </a:rPr>
                        <a:t>이동 비용(링크 간섭), decision overhead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모델 (mapping·commit·driver overhead는 0으로 가정)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46888">
                <a:tc>
                  <a:txBody>
                    <a:bodyPr/>
                    <a:lstStyle/>
                    <a:p>
                      <a:pPr algn="l"/>
                      <a:r>
                        <a:rPr sz="900" b="1">
                          <a:solidFill>
                            <a:srgbClr val="000000"/>
                          </a:solidFill>
                          <a:latin typeface="맑은 고딕"/>
                          <a:ea typeface="맑은 고딕"/>
                        </a:rPr>
                        <a:t>QA4 공수·에이전트 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시뮬레이터 복사본 구현 측정 + 가정 상수·가격(ASSUMED)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46888">
                <a:tc>
                  <a:txBody>
                    <a:bodyPr/>
                    <a:lstStyle/>
                    <a:p>
                      <a:pPr algn="l"/>
                      <a:r>
                        <a:rPr sz="900" b="1">
                          <a:solidFill>
                            <a:srgbClr val="000000"/>
                          </a:solidFill>
                          <a:latin typeface="맑은 고딕"/>
                          <a:ea typeface="맑은 고딕"/>
                        </a:rPr>
                        <a:t>실측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없음 (DP0는 H100 실측 Baseline이 있어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621834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평가 시스템과 SLO</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TTFT P99 ≤ 2 s · TPOT P99 ≤ 50 ms는 공통 문서의 고정값이며 DP0·DP2·DP4와 같다 · 시스템은 메모리 세대 두 개(H100, B200)를 통합</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SYS 값은 SPEC/PUBLIC/ASSUMED를 필드별로 표기(system-specs.md). 확인하지 못한 값은 ASSUMED로 두었다. B200·ScHBM 값은 세대 스케일 가정을 포함한다.</a:t>
            </a:r>
          </a:p>
        </p:txBody>
      </p:sp>
      <p:graphicFrame>
        <p:nvGraphicFramePr>
          <p:cNvPr id="6" name="tbl"/>
          <p:cNvGraphicFramePr>
            <a:graphicFrameLocks noGrp="1"/>
          </p:cNvGraphicFramePr>
          <p:nvPr/>
        </p:nvGraphicFramePr>
        <p:xfrm>
          <a:off x="365760" y="1290000"/>
          <a:ext cx="11429999" cy="3822192"/>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246888">
                <a:tc>
                  <a:txBody>
                    <a:bodyPr/>
                    <a:lstStyle/>
                    <a:p>
                      <a:pPr algn="ctr"/>
                      <a:r>
                        <a:rPr sz="900" b="1">
                          <a:solidFill>
                            <a:srgbClr val="FFFFFF"/>
                          </a:solidFill>
                          <a:latin typeface="맑은 고딕"/>
                          <a:ea typeface="맑은 고딕"/>
                        </a:rPr>
                        <a:t>항목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46888">
                <a:tc>
                  <a:txBody>
                    <a:bodyPr/>
                    <a:lstStyle/>
                    <a:p>
                      <a:pPr algn="l"/>
                      <a:r>
                        <a:rPr sz="900" b="1">
                          <a:solidFill>
                            <a:srgbClr val="000000"/>
                          </a:solidFill>
                          <a:latin typeface="맑은 고딕"/>
                          <a:ea typeface="맑은 고딕"/>
                        </a:rPr>
                        <a:t>노드 / GPU</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8-GPU 1노드 × 2시스템: SYS-H100 (H100 SXM5 80GB HBM3), SYS-B200 (HBM3e)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공개 spec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46888">
                <a:tc>
                  <a:txBody>
                    <a:bodyPr/>
                    <a:lstStyle/>
                    <a:p>
                      <a:pPr algn="l"/>
                      <a:r>
                        <a:rPr sz="900" b="1">
                          <a:solidFill>
                            <a:srgbClr val="000000"/>
                          </a:solidFill>
                          <a:latin typeface="맑은 고딕"/>
                          <a:ea typeface="맑은 고딕"/>
                        </a:rPr>
                        <a:t>GPU 연산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FP16 dense 989 TFLOPS (H100) / 2,250 TFLOPS (B200), GPU 1개당</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공개 spec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46888">
                <a:tc>
                  <a:txBody>
                    <a:bodyPr/>
                    <a:lstStyle/>
                    <a:p>
                      <a:pPr algn="l"/>
                      <a:r>
                        <a:rPr sz="900" b="1">
                          <a:solidFill>
                            <a:srgbClr val="000000"/>
                          </a:solidFill>
                          <a:latin typeface="맑은 고딕"/>
                          <a:ea typeface="맑은 고딕"/>
                        </a:rPr>
                        <a:t>모델 / 정밀도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Llama-3.1-70B, BF16, 8-GPU 1노드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46888">
                <a:tc>
                  <a:txBody>
                    <a:bodyPr/>
                    <a:lstStyle/>
                    <a:p>
                      <a:pPr algn="l"/>
                      <a:r>
                        <a:rPr sz="900" b="1">
                          <a:solidFill>
                            <a:srgbClr val="000000"/>
                          </a:solidFill>
                          <a:latin typeface="맑은 고딕"/>
                          <a:ea typeface="맑은 고딕"/>
                        </a:rPr>
                        <a:t>워크로드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입력 8K / 출력 256, prefix 재사용 통제 (공통 CB), DP1 전용은 5장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46888">
                <a:tc>
                  <a:txBody>
                    <a:bodyPr/>
                    <a:lstStyle/>
                    <a:p>
                      <a:pPr algn="l"/>
                      <a:r>
                        <a:rPr sz="900" b="1">
                          <a:solidFill>
                            <a:srgbClr val="000000"/>
                          </a:solidFill>
                          <a:latin typeface="맑은 고딕"/>
                          <a:ea typeface="맑은 고딕"/>
                        </a:rPr>
                        <a:t>호스트 연결 / DRAM</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PCIe 5.0 x16, DDR5-4800 (H100) / DDR5-6400 (B200), 1 TiB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PUBLIC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46888">
                <a:tc>
                  <a:txBody>
                    <a:bodyPr/>
                    <a:lstStyle/>
                    <a:p>
                      <a:pPr algn="l"/>
                      <a:r>
                        <a:rPr sz="900" b="1">
                          <a:solidFill>
                            <a:srgbClr val="000000"/>
                          </a:solidFill>
                          <a:latin typeface="맑은 고딕"/>
                          <a:ea typeface="맑은 고딕"/>
                        </a:rPr>
                        <a:t>메모리 구성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HBM 640 GiB / 1,536 GiB(GPU 8장)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SPEC/PUBLIC/ASSUMED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Samsung Custom HBM(ScHBM) 160 GiB / 384 GiB, CPU와 PCIe 5.0 x16, 연산 197.8 / 450 TFLOPS FP16(attention 연산 오프로드)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CXL-PNM 512 GiB(내부 DRAM), CXL 2.0 (PCIe 5.0 PHY), 연산 3.28 TFLOPS(attention 오프로드)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8"/>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DRAM 1 TiB, PCIe 5.0 x16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9"/>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HBF 2 TiB, GPU 직접 접근(UCIe) 1 TB/s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0"/>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SSD-PIM 16 TiB, NVMe PCIe 5.0 x4, GEMV 2 TFLOPS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1"/>
                  </a:ext>
                </a:extLst>
              </a:tr>
              <a:tr h="246888">
                <a:tc>
                  <a:txBody>
                    <a:bodyPr/>
                    <a:lstStyle/>
                    <a:p>
                      <a:pPr algn="l"/>
                      <a:r>
                        <a:rPr sz="900" b="1">
                          <a:solidFill>
                            <a:srgbClr val="000000"/>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Baseline-static: 최초 배치를 고정하고 이동하지 않음 (As-Is proxy)</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정의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2"/>
                  </a:ext>
                </a:extLst>
              </a:tr>
              <a:tr h="246888">
                <a:tc>
                  <a:txBody>
                    <a:bodyPr/>
                    <a:lstStyle/>
                    <a:p>
                      <a:pPr algn="l"/>
                      <a:r>
                        <a:rPr sz="900" b="1">
                          <a:solidFill>
                            <a:srgbClr val="000000"/>
                          </a:solidFill>
                          <a:latin typeface="맑은 고딕"/>
                          <a:ea typeface="맑은 고딕"/>
                        </a:rPr>
                        <a:t>SLO</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TTFT P99 ≤ 2 s, TPOT P99 ≤ 50 ms (공통 문서 §2, DP0와 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3"/>
                  </a:ext>
                </a:extLst>
              </a:tr>
            </a:tbl>
          </a:graphicData>
        </a:graphic>
      </p:graphicFrame>
      <p:sp>
        <p:nvSpPr>
          <p:cNvPr id="7" name="slo"/>
          <p:cNvSpPr txBox="1"/>
          <p:nvPr/>
        </p:nvSpPr>
        <p:spPr>
          <a:xfrm>
            <a:off x="365760" y="4846432"/>
            <a:ext cx="11430000" cy="1553568"/>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SLO 선정 근거 (DP0 장표 5장과 같은 값, 같은 근거)</a:t>
            </a:r>
          </a:p>
          <a:p>
            <a:pPr algn="l">
              <a:spcAft>
                <a:spcPts val="250"/>
              </a:spcAft>
            </a:pPr>
            <a:r>
              <a:rPr sz="900" b="0">
                <a:solidFill>
                  <a:srgbClr val="000000"/>
                </a:solidFill>
                <a:latin typeface="맑은 고딕"/>
                <a:ea typeface="맑은 고딕"/>
              </a:rPr>
              <a:t>• TTFT 2 s: H100×8에서 8K prefill 이론 시간은 약 0.32 s(2×70.6B×8,192 ÷ (8×989 TFLOPS×MFU 0.45), DP0 장표 계산)이며 2 s는 큐잉·스케줄링 여유를 포함한 값이다. B200은 연산이 더 커 여유가 더 크다.</a:t>
            </a:r>
          </a:p>
          <a:p>
            <a:pPr algn="l">
              <a:spcAft>
                <a:spcPts val="250"/>
              </a:spcAft>
            </a:pPr>
            <a:r>
              <a:rPr sz="900" b="0">
                <a:solidFill>
                  <a:srgbClr val="000000"/>
                </a:solidFill>
                <a:latin typeface="맑은 고딕"/>
                <a:ea typeface="맑은 고딕"/>
              </a:rPr>
              <a:t>• TPOT 50 ms: 디코드 step의 이론 하한(가중치 + KV 읽기)에 통신·스케줄링을 더해도 포화 시 약 40 ms대라는 DP0 장표의 계산과 같은 모델이다. DP1에서는 attention 오프로드 경로의 TPOT가 이 경계로 SLO 위반을 판정한다.</a:t>
            </a:r>
          </a:p>
          <a:p>
            <a:pPr algn="l">
              <a:spcAft>
                <a:spcPts val="250"/>
              </a:spcAft>
            </a:pPr>
            <a:r>
              <a:rPr sz="900" b="0">
                <a:solidFill>
                  <a:srgbClr val="000000"/>
                </a:solidFill>
                <a:latin typeface="맑은 고딕"/>
                <a:ea typeface="맑은 고딕"/>
              </a:rPr>
              <a:t>• 이 SLO는 DP 간 비교 가능성을 위해 공통 고정값이며 결과를 본 뒤 바꾸지 않는다.</a:t>
            </a:r>
          </a:p>
        </p:txBody>
      </p:sp>
    </p:spTree>
    <p:extLst>
      <p:ext uri="{BB962C8B-B14F-4D97-AF65-F5344CB8AC3E}">
        <p14:creationId xmlns:p14="http://schemas.microsoft.com/office/powerpoint/2010/main" val="28208993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QA1 처리량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QA1 · Max SLO Goodput(output tok/s) ÷ Baseline · 시나리오 쌍별 비율의 기하평균 · SLO = TTFT P99 ≤ 2 s, TPOT P99 ≤ 50 ms</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DP1 별 기준 v5. 하한은 측정, 상한은 환산이며 정책 선택이 남는다. 같은 별 경계로 QA2·QA3도 같은 방식으로 정했다.</a:t>
            </a:r>
          </a:p>
        </p:txBody>
      </p:sp>
      <p:graphicFrame>
        <p:nvGraphicFramePr>
          <p:cNvPr id="6" name="tbl"/>
          <p:cNvGraphicFramePr>
            <a:graphicFrameLocks noGrp="1"/>
          </p:cNvGraphicFramePr>
          <p:nvPr/>
        </p:nvGraphicFramePr>
        <p:xfrm>
          <a:off x="365760" y="1280000"/>
          <a:ext cx="11457432" cy="219456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54864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 1.30 ×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같은 수요를 77%의 하드웨어로 처리 = 8-GPU 노드에서 약 1.85 GPU 절감(1.14배가 GPU 1장). 추가 메모리 HW와 migration 복잡도를 정당화할 크기라는 판단(정책 선택).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환산 [C]. 결과를 본 뒤 정한 값(defined_after_first_look)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0.97 ~ 1.30 ×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하한 0.97 = Baseline끼리 seed 묶음을 바꿔 비교한 20회의 집계 범위 0.968~1.033의 아래 끝. 그 안은 잡음이라 열세로 보지 않는다.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 star_basis.py</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&lt; 0.97 ×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잡음 대역 밖의 열세: Baseline보다 느리다.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7" name="l"/>
          <p:cNvSpPr txBox="1"/>
          <p:nvPr/>
        </p:nvSpPr>
        <p:spPr>
          <a:xfrm>
            <a:off x="365760" y="3584560"/>
            <a:ext cx="5600000" cy="289544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지표와 결과</a:t>
            </a:r>
          </a:p>
          <a:p>
            <a:pPr algn="l">
              <a:spcAft>
                <a:spcPts val="250"/>
              </a:spcAft>
            </a:pPr>
            <a:r>
              <a:rPr sz="900" b="0">
                <a:solidFill>
                  <a:srgbClr val="000000"/>
                </a:solidFill>
                <a:latin typeface="맑은 고딕"/>
                <a:ea typeface="맑은 고딕"/>
              </a:rPr>
              <a:t>• Max SLO goodput = SLO를 위반한 요청의 토큰을 뺀 output tok/s를 load sweep으로 구한 최대값(공통 룰).</a:t>
            </a:r>
          </a:p>
          <a:p>
            <a:pPr algn="l">
              <a:spcAft>
                <a:spcPts val="250"/>
              </a:spcAft>
            </a:pPr>
            <a:r>
              <a:rPr sz="900" b="0">
                <a:solidFill>
                  <a:srgbClr val="000000"/>
                </a:solidFill>
                <a:latin typeface="맑은 고딕"/>
                <a:ea typeface="맑은 고딕"/>
              </a:rPr>
              <a:t>• 결과 ×1.30 (C1) / ×1.42 (C2). 이득은 Dynamic 시나리오에 집중되고 공통 CB는 ×1.00이다(2장).</a:t>
            </a:r>
          </a:p>
          <a:p>
            <a:pPr algn="l">
              <a:spcAft>
                <a:spcPts val="250"/>
              </a:spcAft>
            </a:pPr>
            <a:r>
              <a:rPr sz="900" b="0">
                <a:solidFill>
                  <a:srgbClr val="000000"/>
                </a:solidFill>
                <a:latin typeface="맑은 고딕"/>
                <a:ea typeface="맑은 고딕"/>
              </a:rPr>
              <a:t>• 공통 룰의 별 경계는 0.90 / 1.10이다. DP1은 0.97 / 1.30을 쓰고 공통 별점을 병기한다(근거: qa-criteria-dp1.md §A).</a:t>
            </a:r>
          </a:p>
        </p:txBody>
      </p:sp>
      <p:sp>
        <p:nvSpPr>
          <p:cNvPr id="8" name="r"/>
          <p:cNvSpPr txBox="1"/>
          <p:nvPr/>
        </p:nvSpPr>
        <p:spPr>
          <a:xfrm>
            <a:off x="6200000" y="3584560"/>
            <a:ext cx="5600000" cy="289544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 경계 1.30은 결과(C1 ×1.298, C2 ×1.422)를 본 뒤 정했다. 경계를 1.25로 하면 C1도 ★★★이다.</a:t>
            </a:r>
          </a:p>
          <a:p>
            <a:pPr algn="l">
              <a:spcAft>
                <a:spcPts val="250"/>
              </a:spcAft>
            </a:pPr>
            <a:r>
              <a:rPr sz="900" b="0">
                <a:solidFill>
                  <a:srgbClr val="000000"/>
                </a:solidFill>
                <a:latin typeface="맑은 고딕"/>
                <a:ea typeface="맑은 고딕"/>
              </a:rPr>
              <a:t>• 문헌 기반 대안(Oracle 대비 이득 달성률 80%)도 계산했으나 참고 지표로만 둔다(qa-capture-literature.md): C1 62% / C2 83%.</a:t>
            </a:r>
          </a:p>
        </p:txBody>
      </p:sp>
      <p:sp>
        <p:nvSpPr>
          <p:cNvPr id="9" name="src"/>
          <p:cNvSpPr txBox="1"/>
          <p:nvPr/>
        </p:nvSpPr>
        <p:spPr>
          <a:xfrm>
            <a:off x="365760" y="6500000"/>
            <a:ext cx="11430000" cy="230000"/>
          </a:xfrm>
          <a:prstGeom prst="rect">
            <a:avLst/>
          </a:prstGeom>
          <a:noFill/>
        </p:spPr>
        <p:txBody>
          <a:bodyPr wrap="square" lIns="73152" tIns="36576" rIns="73152" bIns="36576" anchor="t"/>
          <a:lstStyle/>
          <a:p>
            <a:pPr algn="l">
              <a:spcAft>
                <a:spcPts val="250"/>
              </a:spcAft>
            </a:pPr>
            <a:r>
              <a:rPr sz="750" b="0">
                <a:solidFill>
                  <a:srgbClr val="404040"/>
                </a:solidFill>
                <a:latin typeface="맑은 고딕"/>
                <a:ea typeface="맑은 고딕"/>
              </a:rPr>
              <a:t>출처: DP1/qa-criteria-dp1.md §A·§J · DP1/sim/star_basis.py · 공통 QA 문서 §4.3 (0.90/1.10, 참고 병기)</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QA1과 같은 방식이다. ★★★ 경계는 4/3(≈1.33)이다. ★★ 하한 0.97은 같다.</a:t>
            </a:r>
          </a:p>
        </p:txBody>
      </p:sp>
    </p:spTree>
    <p:extLst>
      <p:ext uri="{BB962C8B-B14F-4D97-AF65-F5344CB8AC3E}">
        <p14:creationId xmlns:p14="http://schemas.microsoft.com/office/powerpoint/2010/main" val="36544032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QA2 지연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QA2 · TTFT와 TPOT × P50/P95/P99 6개 지표의 개선 배수(Baseline ÷ 후보) 기하평균 · TTFT, TPOT는 따로 보고하고 별은 합친 값</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DP1 별 기준 v5. 평균 개선 배수로 별을 정하므로 꼬리 악화는 별에 드러나지 않는다. 꼬리는 P99 값과 악화 쌍 수로 따로 본다.</a:t>
            </a:r>
          </a:p>
        </p:txBody>
      </p:sp>
      <p:graphicFrame>
        <p:nvGraphicFramePr>
          <p:cNvPr id="6" name="tbl"/>
          <p:cNvGraphicFramePr>
            <a:graphicFrameLocks noGrp="1"/>
          </p:cNvGraphicFramePr>
          <p:nvPr/>
        </p:nvGraphicFramePr>
        <p:xfrm>
          <a:off x="365760" y="1280000"/>
          <a:ext cx="11457432" cy="219456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54864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6개 지표 개선 배수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지연 20% 감소 (예: TTFT P99 1,084 ms → 867 ms). '눈에 띄는 개선'의 크기로 둔 정책 선택.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환산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0.95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하한 0.95: Baseline끼리 비교한 잡음 범위 0.973~1.028 보다 약간 느슨하게 둠(5% 이내 열세는 열세로 보지 않음).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&lt; 0.95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지연이 5% 넘게 나빠짐(잡음 밖).</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7" name="l"/>
          <p:cNvSpPr txBox="1"/>
          <p:nvPr/>
        </p:nvSpPr>
        <p:spPr>
          <a:xfrm>
            <a:off x="365760" y="3584560"/>
            <a:ext cx="5600000" cy="289544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지표와 결과</a:t>
            </a:r>
          </a:p>
          <a:p>
            <a:pPr algn="l">
              <a:spcAft>
                <a:spcPts val="250"/>
              </a:spcAft>
            </a:pPr>
            <a:r>
              <a:rPr sz="900" b="0">
                <a:solidFill>
                  <a:srgbClr val="000000"/>
                </a:solidFill>
                <a:latin typeface="맑은 고딕"/>
                <a:ea typeface="맑은 고딕"/>
              </a:rPr>
              <a:t>• C1 ×1.28 (TTFT ×1.58 · TPOT ×1.04), C2 ×1.56. 데이터 종류별로 RAG/Agent/Tool은 TTFT, LoRA/MoE는 TPOT, KV는 둘 다 영향을 받는다.</a:t>
            </a:r>
          </a:p>
          <a:p>
            <a:pPr algn="l">
              <a:spcAft>
                <a:spcPts val="250"/>
              </a:spcAft>
            </a:pPr>
            <a:r>
              <a:rPr sz="900" b="0">
                <a:solidFill>
                  <a:srgbClr val="000000"/>
                </a:solidFill>
                <a:latin typeface="맑은 고딕"/>
                <a:ea typeface="맑은 고딕"/>
              </a:rPr>
              <a:t>• 공통 룰의 QA2는 P99 worst-case(TTFT ≤ 2 s &amp; TPOT ≤ 50 ms ★★★)다. DP1은 개선 배수를 쓰고 공통 별점을 병기한다.</a:t>
            </a:r>
          </a:p>
        </p:txBody>
      </p:sp>
      <p:sp>
        <p:nvSpPr>
          <p:cNvPr id="8" name="r"/>
          <p:cNvSpPr txBox="1"/>
          <p:nvPr/>
        </p:nvSpPr>
        <p:spPr>
          <a:xfrm>
            <a:off x="6200000" y="3584560"/>
            <a:ext cx="5600000" cy="289544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평균은 좋아지지만 C1의 P99는 나쁘다: TTFT P99 ×1.04, 21쌍 중 6쌍에서 Baseline보다 나쁘고 최악 ×4.32. 원인은 초반에 몰린 큰 이동이 DRAM 링크를 점유하는 것(loop-log iteration 4).</a:t>
            </a:r>
          </a:p>
          <a:p>
            <a:pPr algn="l">
              <a:spcAft>
                <a:spcPts val="250"/>
              </a:spcAft>
            </a:pPr>
            <a:r>
              <a:rPr sz="900" b="0">
                <a:solidFill>
                  <a:srgbClr val="000000"/>
                </a:solidFill>
                <a:latin typeface="맑은 고딕"/>
                <a:ea typeface="맑은 고딕"/>
              </a:rPr>
              <a:t>• burst 용량을 줄이면 꼬리는 줄지만 이득도 같이 사라진다(trade-off).</a:t>
            </a:r>
          </a:p>
        </p:txBody>
      </p:sp>
      <p:sp>
        <p:nvSpPr>
          <p:cNvPr id="9" name="src"/>
          <p:cNvSpPr txBox="1"/>
          <p:nvPr/>
        </p:nvSpPr>
        <p:spPr>
          <a:xfrm>
            <a:off x="365760" y="6500000"/>
            <a:ext cx="11430000" cy="230000"/>
          </a:xfrm>
          <a:prstGeom prst="rect">
            <a:avLst/>
          </a:prstGeom>
          <a:noFill/>
        </p:spPr>
        <p:txBody>
          <a:bodyPr wrap="square" lIns="73152" tIns="36576" rIns="73152" bIns="36576" anchor="t"/>
          <a:lstStyle/>
          <a:p>
            <a:pPr algn="l">
              <a:spcAft>
                <a:spcPts val="250"/>
              </a:spcAft>
            </a:pPr>
            <a:r>
              <a:rPr sz="750" b="0">
                <a:solidFill>
                  <a:srgbClr val="404040"/>
                </a:solidFill>
                <a:latin typeface="맑은 고딕"/>
                <a:ea typeface="맑은 고딕"/>
              </a:rPr>
              <a:t>출처: DP1/qa-criteria-dp1.md §A·§J · DP1/results/iterations/loop-log.md (iteration 4) · 공통 QA 문서 §5 (참고 병기)</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QA2 = Baseline 대비 개선 r(≥ 1.20 ★★★, ≥ 0.90 ★★)이며 TTFT &gt; 2 s 또는 TPOT &gt; 50 ms이면 ★.</a:t>
            </a:r>
          </a:p>
        </p:txBody>
      </p:sp>
    </p:spTree>
    <p:extLst>
      <p:ext uri="{BB962C8B-B14F-4D97-AF65-F5344CB8AC3E}">
        <p14:creationId xmlns:p14="http://schemas.microsoft.com/office/powerpoint/2010/main" val="22885276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QA3 자원 (HBM 사용량)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QA3 · HBM 사용량(GiB, 시간 평균 점유)의 Baseline 대비 비율(낮을수록 좋음) · 별은 절감 배수 = 1 ÷ 비율 · 성능은 섞지 않는다</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DP1 별 기준 v5(QA3 정의 v6 = HBM 사용량). 가격은 ASSUMED, HBM 가중은 3배/5배/10배 민감도를 둔다.</a:t>
            </a:r>
          </a:p>
        </p:txBody>
      </p:sp>
      <p:graphicFrame>
        <p:nvGraphicFramePr>
          <p:cNvPr id="6" name="tbl"/>
          <p:cNvGraphicFramePr>
            <a:graphicFrameLocks noGrp="1"/>
          </p:cNvGraphicFramePr>
          <p:nvPr/>
        </p:nvGraphicFramePr>
        <p:xfrm>
          <a:off x="365760" y="1280000"/>
          <a:ext cx="11457432" cy="219456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54864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HBM 절감 배수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HBM 점유 20% 감소 = 평균 146.6 GiB 중 약 29 GiB (8K KV object 약 1.6개분). QA2와 같은 '눈에 띄는 개선' 기준.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환산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0.95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하한 0.95: Baseline끼리 비교한 잡음 범위 0.984~1.016보다 느슨하게 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&lt; 0.95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HBM을 5% 넘게 더 씀(잡음 밖).</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7" name="l"/>
          <p:cNvSpPr txBox="1"/>
          <p:nvPr/>
        </p:nvSpPr>
        <p:spPr>
          <a:xfrm>
            <a:off x="365760" y="3584560"/>
            <a:ext cx="5600000" cy="289544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지표와 결과</a:t>
            </a:r>
          </a:p>
          <a:p>
            <a:pPr algn="l">
              <a:spcAft>
                <a:spcPts val="250"/>
              </a:spcAft>
            </a:pPr>
            <a:r>
              <a:rPr sz="900" b="0">
                <a:solidFill>
                  <a:srgbClr val="000000"/>
                </a:solidFill>
                <a:latin typeface="맑은 고딕"/>
                <a:ea typeface="맑은 고딕"/>
              </a:rPr>
              <a:t>• C1 142.7 GiB (×0.97, 절감 1.03), C2 178.0 GiB (×1.21, 절감 0.82).</a:t>
            </a:r>
          </a:p>
          <a:p>
            <a:pPr algn="l">
              <a:spcAft>
                <a:spcPts val="250"/>
              </a:spcAft>
            </a:pPr>
            <a:r>
              <a:rPr sz="900" b="0">
                <a:solidFill>
                  <a:srgbClr val="000000"/>
                </a:solidFill>
                <a:latin typeface="맑은 고딕"/>
                <a:ea typeface="맑은 고딕"/>
              </a:rPr>
              <a:t>• C2는 성능을 위해 hot 데이터를 HBM으로 올려 HBM을 더 쓴다. C1은 압력 때 DRAM·HBF로 내려 약간 줄인다.</a:t>
            </a:r>
          </a:p>
          <a:p>
            <a:pPr algn="l">
              <a:spcAft>
                <a:spcPts val="250"/>
              </a:spcAft>
            </a:pPr>
            <a:r>
              <a:rPr sz="900" b="0">
                <a:solidFill>
                  <a:srgbClr val="000000"/>
                </a:solidFill>
                <a:latin typeface="맑은 고딕"/>
                <a:ea typeface="맑은 고딕"/>
              </a:rPr>
              <a:t>• 보조: 어느 tier로 보냈는지(가격 차)를 보는 비용 가중 점유(ASSUMED 가격). 풀 활용률은 처리량과 상관이 0.99라 진단으로만 둔다.</a:t>
            </a:r>
          </a:p>
        </p:txBody>
      </p:sp>
      <p:sp>
        <p:nvSpPr>
          <p:cNvPr id="8" name="r"/>
          <p:cNvSpPr txBox="1"/>
          <p:nvPr/>
        </p:nvSpPr>
        <p:spPr>
          <a:xfrm>
            <a:off x="6200000" y="3584560"/>
            <a:ext cx="5600000" cy="289544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정의를 여러 번 바꿨다(활용률 → 풀 U → 성능÷비용 → HBM 사용량). 모두 결과를 본 뒤의 변경이며 마지막 변경이 선택을 C2에서 C1로 바꿨다.</a:t>
            </a:r>
          </a:p>
          <a:p>
            <a:pPr algn="l">
              <a:spcAft>
                <a:spcPts val="250"/>
              </a:spcAft>
            </a:pPr>
            <a:r>
              <a:rPr sz="900" b="0">
                <a:solidFill>
                  <a:srgbClr val="000000"/>
                </a:solidFill>
                <a:latin typeface="맑은 고딕"/>
                <a:ea typeface="맑은 고딕"/>
              </a:rPr>
              <a:t>• HBM을 비우되 성능이 나빠지는 정책이 유리하므로 QA1·QA2와 함께 읽어야 한다. 공통 룰의 활용률(65%/85%)은 병기한다.</a:t>
            </a:r>
          </a:p>
        </p:txBody>
      </p:sp>
      <p:sp>
        <p:nvSpPr>
          <p:cNvPr id="9" name="src"/>
          <p:cNvSpPr txBox="1"/>
          <p:nvPr/>
        </p:nvSpPr>
        <p:spPr>
          <a:xfrm>
            <a:off x="365760" y="6500000"/>
            <a:ext cx="11430000" cy="230000"/>
          </a:xfrm>
          <a:prstGeom prst="rect">
            <a:avLst/>
          </a:prstGeom>
          <a:noFill/>
        </p:spPr>
        <p:txBody>
          <a:bodyPr wrap="square" lIns="73152" tIns="36576" rIns="73152" bIns="36576" anchor="t"/>
          <a:lstStyle/>
          <a:p>
            <a:pPr algn="l">
              <a:spcAft>
                <a:spcPts val="250"/>
              </a:spcAft>
            </a:pPr>
            <a:r>
              <a:rPr sz="750" b="0">
                <a:solidFill>
                  <a:srgbClr val="404040"/>
                </a:solidFill>
                <a:latin typeface="맑은 고딕"/>
                <a:ea typeface="맑은 고딕"/>
              </a:rPr>
              <a:t>출처: DP1/qa-criteria-dp1.md §A·§I·§J · DP1/sim/cost_model.py · 공통 QA 문서 §6 (참고 병기)</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QA3과 같은 기준이다(감소율 20% / −5%). PPT에는 용량 대비 점유 %를 병기한다. 기존 별 그대로.</a:t>
            </a:r>
          </a:p>
        </p:txBody>
      </p:sp>
    </p:spTree>
    <p:extLst>
      <p:ext uri="{BB962C8B-B14F-4D97-AF65-F5344CB8AC3E}">
        <p14:creationId xmlns:p14="http://schemas.microsoft.com/office/powerpoint/2010/main" val="31398068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QA4 변경 용이성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공통 QA4 Modifiability · 세 지표를 모두 보고 세 sub-star의 중앙값으로 별 결정 · 시나리오 4개의 평균값에 기준을 적용</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module 수 경계는 공통 QA 문서 그대로. 공수·비용 경계는 측정 전에 사전 등록한 가정이며 결과를 본 뒤 바꾸지 않는다(qa4-preregistration.md).</a:t>
            </a:r>
          </a:p>
        </p:txBody>
      </p:sp>
      <p:graphicFrame>
        <p:nvGraphicFramePr>
          <p:cNvPr id="6" name="tbl"/>
          <p:cNvGraphicFramePr>
            <a:graphicFrameLocks noGrp="1"/>
          </p:cNvGraphicFramePr>
          <p:nvPr/>
        </p:nvGraphicFramePr>
        <p:xfrm>
          <a:off x="365760" y="1300000"/>
          <a:ext cx="11457432" cy="182880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3959352">
                  <a:extLst>
                    <a:ext uri="{9D8B030D-6E8A-4147-A177-3AD203B41FA5}">
                      <a16:colId xmlns:a16="http://schemas.microsoft.com/office/drawing/2014/main" val="20003"/>
                    </a:ext>
                  </a:extLst>
                </a:gridCol>
              </a:tblGrid>
              <a:tr h="45720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① 변경 module 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② 개발 공수 (man-month)</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③ 에이전트 비용 ($/변경, frontier 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 2 (주요 interface 유지)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3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 6 또는 major interface 변경</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&gt;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&gt;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graphicFrame>
        <p:nvGraphicFramePr>
          <p:cNvPr id="7" name="tbl"/>
          <p:cNvGraphicFramePr>
            <a:graphicFrameLocks noGrp="1"/>
          </p:cNvGraphicFramePr>
          <p:nvPr/>
        </p:nvGraphicFramePr>
        <p:xfrm>
          <a:off x="365760" y="3258800"/>
          <a:ext cx="7498080" cy="1417320"/>
        </p:xfrm>
        <a:graphic>
          <a:graphicData uri="http://schemas.openxmlformats.org/drawingml/2006/table">
            <a:tbl>
              <a:tblPr>
                <a:tableStyleId>{5C22544A-7EE6-4342-B048-85BDC9FD1C3A}</a:tableStyleId>
              </a:tblPr>
              <a:tblGrid>
                <a:gridCol w="2743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274320">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74320">
                <a:tc>
                  <a:txBody>
                    <a:bodyPr/>
                    <a:lstStyle/>
                    <a:p>
                      <a:pPr algn="l"/>
                      <a:r>
                        <a:rPr sz="950" b="1">
                          <a:solidFill>
                            <a:srgbClr val="000000"/>
                          </a:solidFill>
                          <a:latin typeface="맑은 고딕"/>
                          <a:ea typeface="맑은 고딕"/>
                        </a:rPr>
                        <a:t>① module 수 (평균)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1.75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2.50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74320">
                <a:tc>
                  <a:txBody>
                    <a:bodyPr/>
                    <a:lstStyle/>
                    <a:p>
                      <a:pPr algn="l"/>
                      <a:r>
                        <a:rPr sz="950" b="1">
                          <a:solidFill>
                            <a:srgbClr val="000000"/>
                          </a:solidFill>
                          <a:latin typeface="맑은 고딕"/>
                          <a:ea typeface="맑은 고딕"/>
                        </a:rPr>
                        <a:t>② 공수 (man-month)</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0.378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0.506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950" b="1">
                          <a:solidFill>
                            <a:srgbClr val="000000"/>
                          </a:solidFill>
                          <a:latin typeface="맑은 고딕"/>
                          <a:ea typeface="맑은 고딕"/>
                        </a:rPr>
                        <a:t>③ 비용 (frontier / 중간 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$1.16 / $0.39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$1.49 / $0.49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l"/>
                      <a:r>
                        <a:rPr sz="950" b="1">
                          <a:solidFill>
                            <a:srgbClr val="000000"/>
                          </a:solidFill>
                          <a:latin typeface="맑은 고딕"/>
                          <a:ea typeface="맑은 고딕"/>
                        </a:rPr>
                        <a:t>QA4 별 (중앙값)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4"/>
                  </a:ext>
                </a:extLst>
              </a:tr>
            </a:tbl>
          </a:graphicData>
        </a:graphic>
      </p:graphicFrame>
      <p:sp>
        <p:nvSpPr>
          <p:cNvPr id="8" name="l"/>
          <p:cNvSpPr txBox="1"/>
          <p:nvPr/>
        </p:nvSpPr>
        <p:spPr>
          <a:xfrm>
            <a:off x="365760" y="4740400"/>
            <a:ext cx="5600000" cy="167960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별 결정 규칙과 근거</a:t>
            </a:r>
          </a:p>
          <a:p>
            <a:pPr algn="l">
              <a:spcAft>
                <a:spcPts val="250"/>
              </a:spcAft>
            </a:pPr>
            <a:r>
              <a:rPr sz="900" b="0">
                <a:solidFill>
                  <a:srgbClr val="000000"/>
                </a:solidFill>
                <a:latin typeface="맑은 고딕"/>
                <a:ea typeface="맑은 고딕"/>
              </a:rPr>
              <a:t>• QA4 별 = 세 sub-star의 중앙값. 세 값을 모두 보인다. sub-star는 시나리오 평균값에 적용한다(최악값 집계는 공유 module 하나가 결과를 정해 신호를 가려 쓰지 않음, 소유자 결정, 결과를 본 뒤 변경).</a:t>
            </a:r>
          </a:p>
          <a:p>
            <a:pPr algn="l">
              <a:spcAft>
                <a:spcPts val="250"/>
              </a:spcAft>
            </a:pPr>
            <a:r>
              <a:rPr sz="900" b="0">
                <a:solidFill>
                  <a:srgbClr val="000000"/>
                </a:solidFill>
                <a:latin typeface="맑은 고딕"/>
                <a:ea typeface="맑은 고딕"/>
              </a:rPr>
              <a:t>• ② 공수: 변경 module 수와 LOC에서 가정 상수로 계산(c_mod 3.0, 검증 비율 등, ASSUMED). ③ 비용: 에이전트 토큰 × 가격 가정(frontier $15/$75 per MTok, 중간 tier $3/$15).</a:t>
            </a:r>
          </a:p>
        </p:txBody>
      </p:sp>
      <p:sp>
        <p:nvSpPr>
          <p:cNvPr id="9" name="r"/>
          <p:cNvSpPr txBox="1"/>
          <p:nvPr/>
        </p:nvSpPr>
        <p:spPr>
          <a:xfrm>
            <a:off x="6200000" y="4740400"/>
            <a:ext cx="5600000" cy="167960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상수 낙관/비관 조합에서도 C1과 C2의 QA4 별은 같지 않을 수 있다(민감도 qa4-modifiability.md). C2의 공수 0.506이 경계 0.5를 0.006 넘은 수준이라 상수에 민감하다.</a:t>
            </a:r>
          </a:p>
          <a:p>
            <a:pPr algn="l">
              <a:spcAft>
                <a:spcPts val="250"/>
              </a:spcAft>
            </a:pPr>
            <a:r>
              <a:rPr sz="900" b="0">
                <a:solidFill>
                  <a:srgbClr val="000000"/>
                </a:solidFill>
                <a:latin typeface="맑은 고딕"/>
                <a:ea typeface="맑은 고딕"/>
              </a:rPr>
              <a:t>• DP0의 QA4 경계(① $0.5/$2, ② man-day 3/7)와 값·단위가 다르다. 같은 QA의 경계 정합은 12장에서 점검한다.</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별 = 세 sub-star의 최솟값(AND), 비용은 mid tier $0.5/$2, 공수 0.5/1.0 MM. DP1 별 그대로.</a:t>
            </a:r>
          </a:p>
        </p:txBody>
      </p:sp>
    </p:spTree>
    <p:extLst>
      <p:ext uri="{BB962C8B-B14F-4D97-AF65-F5344CB8AC3E}">
        <p14:creationId xmlns:p14="http://schemas.microsoft.com/office/powerpoint/2010/main" val="23552503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QA4 산출 근거 — 변경 시나리오별 module · 공수 · 비용</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각 변경을 C1·C2 시뮬레이터 복사본에 실제로 구현해 module·LOC를 측정하고 공수·비용은 가정 상수로 계산 · 가중 없는 평균</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예상이 아닌 구현 측정이지만 시뮬레이터 복사본이며 실제 에이전트 세션 측정이 아니다. 공수·비용은 가정 상수(qa4-modifiability.md)에서 재계산된다. [B+C]</a:t>
            </a:r>
          </a:p>
        </p:txBody>
      </p:sp>
      <p:graphicFrame>
        <p:nvGraphicFramePr>
          <p:cNvPr id="6" name="tbl"/>
          <p:cNvGraphicFramePr>
            <a:graphicFrameLocks noGrp="1"/>
          </p:cNvGraphicFramePr>
          <p:nvPr/>
        </p:nvGraphicFramePr>
        <p:xfrm>
          <a:off x="365760" y="1300000"/>
          <a:ext cx="11457432" cy="1865376"/>
        </p:xfrm>
        <a:graphic>
          <a:graphicData uri="http://schemas.openxmlformats.org/drawingml/2006/table">
            <a:tbl>
              <a:tblPr>
                <a:tableStyleId>{5C22544A-7EE6-4342-B048-85BDC9FD1C3A}</a:tableStyleId>
              </a:tblPr>
              <a:tblGrid>
                <a:gridCol w="64008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307592">
                  <a:extLst>
                    <a:ext uri="{9D8B030D-6E8A-4147-A177-3AD203B41FA5}">
                      <a16:colId xmlns:a16="http://schemas.microsoft.com/office/drawing/2014/main" val="20004"/>
                    </a:ext>
                  </a:extLst>
                </a:gridCol>
              </a:tblGrid>
              <a:tr h="310896">
                <a:tc>
                  <a:txBody>
                    <a:bodyPr/>
                    <a:lstStyle/>
                    <a:p>
                      <a:pPr algn="ctr"/>
                      <a:r>
                        <a:rPr sz="950" b="1">
                          <a:solidFill>
                            <a:srgbClr val="FFFFFF"/>
                          </a:solidFill>
                          <a:latin typeface="맑은 고딕"/>
                          <a:ea typeface="맑은 고딕"/>
                        </a:rPr>
                        <a:t>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C1 (module · LOC · MM · $T1)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C2 (module · LOC · MM · $T1)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우세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10896">
                <a:tc>
                  <a:txBody>
                    <a:bodyPr/>
                    <a:lstStyle/>
                    <a:p>
                      <a:pPr algn="ctr"/>
                      <a:r>
                        <a:rPr sz="950" b="1">
                          <a:solidFill>
                            <a:srgbClr val="000000"/>
                          </a:solidFill>
                          <a:latin typeface="맑은 고딕"/>
                          <a:ea typeface="맑은 고딕"/>
                        </a:rPr>
                        <a:t>S1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새 메모리 추가 (CXL.mem expander)  ※ DP0 S1 새 tier 추가와 같은 변경</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1 · 23 · 0.42 · $0.96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2 · 29 · 0.63 · $1.36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10896">
                <a:tc>
                  <a:txBody>
                    <a:bodyPr/>
                    <a:lstStyle/>
                    <a:p>
                      <a:pPr algn="ctr"/>
                      <a:r>
                        <a:rPr sz="950" b="1">
                          <a:solidFill>
                            <a:srgbClr val="000000"/>
                          </a:solidFill>
                          <a:latin typeface="맑은 고딕"/>
                          <a:ea typeface="맑은 고딕"/>
                        </a:rPr>
                        <a:t>S2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새 AI data 종류 (SPARSE_EMBED)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1 · 1 · 0.15 · $0.86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3 · 3 · 0.46 · $1.68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10896">
                <a:tc>
                  <a:txBody>
                    <a:bodyPr/>
                    <a:lstStyle/>
                    <a:p>
                      <a:pPr algn="ctr"/>
                      <a:r>
                        <a:rPr sz="950" b="1">
                          <a:solidFill>
                            <a:srgbClr val="000000"/>
                          </a:solidFill>
                          <a:latin typeface="맑은 고딕"/>
                          <a:ea typeface="맑은 고딕"/>
                        </a:rPr>
                        <a:t>S3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정책 교체 (C1 Affinity Mapper 지연 우선 / C2 Predictor 관측 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2 · 8 · 0.38 · $1.08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2 · 7 · 0.37 · $1.05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C2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10896">
                <a:tc>
                  <a:txBody>
                    <a:bodyPr/>
                    <a:lstStyle/>
                    <a:p>
                      <a:pPr algn="ctr"/>
                      <a:r>
                        <a:rPr sz="950" b="1">
                          <a:solidFill>
                            <a:srgbClr val="000000"/>
                          </a:solidFill>
                          <a:latin typeface="맑은 고딕"/>
                          <a:ea typeface="맑은 고딕"/>
                        </a:rPr>
                        <a:t>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새 event 종류 (SLO_ALERT)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3 · 11 · 0.56 · $1.75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3 · 11 · 0.56 · $1.85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10896">
                <a:tc>
                  <a:txBody>
                    <a:bodyPr/>
                    <a:lstStyle/>
                    <a:p>
                      <a:pPr algn="ctr"/>
                      <a:r>
                        <a:rPr sz="950" b="1">
                          <a:solidFill>
                            <a:srgbClr val="000000"/>
                          </a:solidFill>
                          <a:latin typeface="맑은 고딕"/>
                          <a:ea typeface="맑은 고딕"/>
                        </a:rPr>
                        <a:t>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950" b="0">
                          <a:solidFill>
                            <a:srgbClr val="000000"/>
                          </a:solidFill>
                          <a:latin typeface="맑은 고딕"/>
                          <a:ea typeface="맑은 고딕"/>
                        </a:rPr>
                        <a:t>4개 시나리오 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1.75 · — · 0.38 · $1.16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2.50 · — · 0.51 · $1.49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5"/>
                  </a:ext>
                </a:extLst>
              </a:tr>
            </a:tbl>
          </a:graphicData>
        </a:graphic>
      </p:graphicFrame>
      <p:sp>
        <p:nvSpPr>
          <p:cNvPr id="7" name="l"/>
          <p:cNvSpPr txBox="1"/>
          <p:nvPr/>
        </p:nvSpPr>
        <p:spPr>
          <a:xfrm>
            <a:off x="365760" y="3285376"/>
            <a:ext cx="5600000" cy="3134624"/>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차이가 나는 이유</a:t>
            </a:r>
          </a:p>
          <a:p>
            <a:pPr algn="l">
              <a:spcAft>
                <a:spcPts val="250"/>
              </a:spcAft>
            </a:pPr>
            <a:r>
              <a:rPr sz="900" b="0">
                <a:solidFill>
                  <a:srgbClr val="000000"/>
                </a:solidFill>
                <a:latin typeface="맑은 고딕"/>
                <a:ea typeface="맑은 고딕"/>
              </a:rPr>
              <a:t>• C2는 type-aware라 새 메모리(S1)와 새 data 종류(S2)에서 Selector·registry class 수정이 더 필요하다(module 2, 3 대 1, 1).</a:t>
            </a:r>
          </a:p>
          <a:p>
            <a:pPr algn="l">
              <a:spcAft>
                <a:spcPts val="250"/>
              </a:spcAft>
            </a:pPr>
            <a:r>
              <a:rPr sz="900" b="0">
                <a:solidFill>
                  <a:srgbClr val="000000"/>
                </a:solidFill>
                <a:latin typeface="맑은 고딕"/>
                <a:ea typeface="맑은 고딕"/>
              </a:rPr>
              <a:t>• 정책 교체(S3)와 새 event(S4)는 구조가 공유하는 부분이라 두 후보가 같다(2/2, 3/3).</a:t>
            </a:r>
          </a:p>
          <a:p>
            <a:pPr algn="l">
              <a:spcAft>
                <a:spcPts val="250"/>
              </a:spcAft>
            </a:pPr>
            <a:r>
              <a:rPr sz="900" b="0">
                <a:solidFill>
                  <a:srgbClr val="000000"/>
                </a:solidFill>
                <a:latin typeface="맑은 고딕"/>
                <a:ea typeface="맑은 고딕"/>
              </a:rPr>
              <a:t>• 설계 문서의 약속(선호를 capability class로 두면 S1에서 C2 selector 무변경)은 시뮬레이터의 C2 구현에서는 지켜지지 않아 S1이 2가 되었다.</a:t>
            </a:r>
          </a:p>
        </p:txBody>
      </p:sp>
      <p:sp>
        <p:nvSpPr>
          <p:cNvPr id="8" name="r"/>
          <p:cNvSpPr txBox="1"/>
          <p:nvPr/>
        </p:nvSpPr>
        <p:spPr>
          <a:xfrm>
            <a:off x="6200000" y="3285376"/>
            <a:ext cx="5600000" cy="3134624"/>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한계</a:t>
            </a:r>
          </a:p>
          <a:p>
            <a:pPr algn="l">
              <a:spcAft>
                <a:spcPts val="250"/>
              </a:spcAft>
            </a:pPr>
            <a:r>
              <a:rPr sz="900" b="0">
                <a:solidFill>
                  <a:srgbClr val="000000"/>
                </a:solidFill>
                <a:latin typeface="맑은 고딕"/>
                <a:ea typeface="맑은 고딕"/>
              </a:rPr>
              <a:t>• 공수·비용은 가정 상수에 의존한다. 별은 상수 조합에 따라 ★★★~★★로 흔들린다. 후보 간 차이(module 1.75 대 2.50, 비용 약 1.3배)는 별 경계를 넘지 않을 수 있다.</a:t>
            </a:r>
          </a:p>
          <a:p>
            <a:pPr algn="l">
              <a:spcAft>
                <a:spcPts val="250"/>
              </a:spcAft>
            </a:pPr>
            <a:r>
              <a:rPr sz="900" b="0">
                <a:solidFill>
                  <a:srgbClr val="000000"/>
                </a:solidFill>
                <a:latin typeface="맑은 고딕"/>
                <a:ea typeface="맑은 고딕"/>
              </a:rPr>
              <a:t>• S2의 C1 smoke는 estimator 입력 도달까지만 확인했다(해당 trace에서 C1 migration 0건).</a:t>
            </a:r>
          </a:p>
          <a:p>
            <a:pPr algn="l">
              <a:spcAft>
                <a:spcPts val="250"/>
              </a:spcAft>
            </a:pPr>
            <a:r>
              <a:rPr sz="900" b="0">
                <a:solidFill>
                  <a:srgbClr val="000000"/>
                </a:solidFill>
                <a:latin typeface="맑은 고딕"/>
                <a:ea typeface="맑은 고딕"/>
              </a:rPr>
              <a:t>• DP0의 S1~S6과 달리 시나리오 가중을 두지 않았다(12장).</a:t>
            </a:r>
          </a:p>
        </p:txBody>
      </p:sp>
    </p:spTree>
    <p:extLst>
      <p:ext uri="{BB962C8B-B14F-4D97-AF65-F5344CB8AC3E}">
        <p14:creationId xmlns:p14="http://schemas.microsoft.com/office/powerpoint/2010/main" val="28925446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정합 점검 — DP0와 같은 QA의 시나리오·기준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같은 QA에서 같은 시나리오·같은 기준은 같은 ID·값을 쓰고, 다른 것은 다르다고 표기 · '조치'는 이 deck에서 한 것, '결정 필요'는 소유자 확인 사항</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DP0 deck(doc-mk/DP0/DP0-qa-result-slides.pptx)과 DP2·DP4 deck(Appendix)을 읽어 비교했다. DP0·DP2·DP4 파일은 수정하지 않았다.</a:t>
            </a:r>
          </a:p>
        </p:txBody>
      </p:sp>
      <p:graphicFrame>
        <p:nvGraphicFramePr>
          <p:cNvPr id="6" name="tbl"/>
          <p:cNvGraphicFramePr>
            <a:graphicFrameLocks noGrp="1"/>
          </p:cNvGraphicFramePr>
          <p:nvPr/>
        </p:nvGraphicFramePr>
        <p:xfrm>
          <a:off x="365760" y="1290000"/>
          <a:ext cx="11457432" cy="3092448"/>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4325112">
                  <a:extLst>
                    <a:ext uri="{9D8B030D-6E8A-4147-A177-3AD203B41FA5}">
                      <a16:colId xmlns:a16="http://schemas.microsoft.com/office/drawing/2014/main" val="20004"/>
                    </a:ext>
                  </a:extLst>
                </a:gridCol>
              </a:tblGrid>
              <a:tr h="274320">
                <a:tc>
                  <a:txBody>
                    <a:bodyPr/>
                    <a:lstStyle/>
                    <a:p>
                      <a:pPr algn="ctr"/>
                      <a:r>
                        <a:rPr sz="850" b="1">
                          <a:solidFill>
                            <a:srgbClr val="FFFFFF"/>
                          </a:solidFill>
                          <a:latin typeface="맑은 고딕"/>
                          <a:ea typeface="맑은 고딕"/>
                        </a:rPr>
                        <a:t>항목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DP0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DP1 (이 deck)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조치 / 결정 필요</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26390">
                <a:tc>
                  <a:txBody>
                    <a:bodyPr/>
                    <a:lstStyle/>
                    <a:p>
                      <a:pPr algn="l"/>
                      <a:r>
                        <a:rPr sz="850" b="1">
                          <a:solidFill>
                            <a:srgbClr val="000000"/>
                          </a:solidFill>
                          <a:latin typeface="맑은 고딕"/>
                          <a:ea typeface="맑은 고딕"/>
                        </a:rPr>
                        <a:t>QA 번호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Q1 처리량 · Q2 지연 · Q3 변경 용이성 · Q4 확장성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QA1 처리량 · QA2 지연 · QA3 HBM 사용 · QA4 변경 용이성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이 deck은 공통 문서 번호 사용. DP0의 Q3 = 공통 QA4(변경 용이성), Q4 = 공통 QA6. DP0 번호 정리는 결정 필요</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26390">
                <a:tc>
                  <a:txBody>
                    <a:bodyPr/>
                    <a:lstStyle/>
                    <a:p>
                      <a:pPr algn="l"/>
                      <a:r>
                        <a:rPr sz="850" b="1">
                          <a:solidFill>
                            <a:srgbClr val="000000"/>
                          </a:solidFill>
                          <a:latin typeface="맑은 고딕"/>
                          <a:ea typeface="맑은 고딕"/>
                        </a:rPr>
                        <a:t>모델·워크로드·SLO</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Llama-3.1-70B BF16, 8K/256, TTFT P99 ≤ 2 s, TPOT P99 ≤ 50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같음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일치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850" b="0">
                          <a:solidFill>
                            <a:srgbClr val="000000"/>
                          </a:solidFill>
                          <a:latin typeface="맑은 고딕"/>
                          <a:ea typeface="맑은 고딕"/>
                        </a:rPr>
                        <a:t>조치 없음 (공통 문서 §2 고정값)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850" b="1">
                          <a:solidFill>
                            <a:srgbClr val="000000"/>
                          </a:solidFill>
                          <a:latin typeface="맑은 고딕"/>
                          <a:ea typeface="맑은 고딕"/>
                        </a:rPr>
                        <a:t>load sweep · seed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load ×0.5/1.0/1.5/2.0, seed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load ×0.5/1.0/1.5/2.0, seed 5개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일치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850" b="0">
                          <a:solidFill>
                            <a:srgbClr val="000000"/>
                          </a:solidFill>
                          <a:latin typeface="맑은 고딕"/>
                          <a:ea typeface="맑은 고딕"/>
                        </a:rPr>
                        <a:t>조치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26390">
                <a:tc>
                  <a:txBody>
                    <a:bodyPr/>
                    <a:lstStyle/>
                    <a:p>
                      <a:pPr algn="l"/>
                      <a:r>
                        <a:rPr sz="850" b="1">
                          <a:solidFill>
                            <a:srgbClr val="000000"/>
                          </a:solidFill>
                          <a:latin typeface="맑은 고딕"/>
                          <a:ea typeface="맑은 고딕"/>
                        </a:rPr>
                        <a:t>공통 벤치마크</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W1 '공통 벤치마크' 1개 (CB 대응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CB-1·CB-2·CB-3 (common-benchmark.md 2.1과 같은 ID·파라미터)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DP1은 공통 문서 ID 사용. DP0 W1을 CB-1~3으로 실현할지는 결정 필요(common-benchmark.md §8 DP0 행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26390">
                <a:tc>
                  <a:txBody>
                    <a:bodyPr/>
                    <a:lstStyle/>
                    <a:p>
                      <a:pPr algn="l"/>
                      <a:r>
                        <a:rPr sz="850" b="1">
                          <a:solidFill>
                            <a:srgbClr val="000000"/>
                          </a:solidFill>
                          <a:latin typeface="맑은 고딕"/>
                          <a:ea typeface="맑은 고딕"/>
                        </a:rPr>
                        <a:t>별을 매기는 시나리오 집합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W1~W5 (DP0 정의)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공식: Common+Stress+Dynamic 21쌍 / 참고: Common만 (2장)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DP마다 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공통 문서는 Common만. DP4는 Common 6쌍, DP2는 전체 38쌍. 통일 여부는 결정 필요. 이 deck은 2장에 Common-only를 병기해 비교 가능하게 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455929">
                <a:tc>
                  <a:txBody>
                    <a:bodyPr/>
                    <a:lstStyle/>
                    <a:p>
                      <a:pPr algn="l"/>
                      <a:r>
                        <a:rPr sz="850" b="1">
                          <a:solidFill>
                            <a:srgbClr val="000000"/>
                          </a:solidFill>
                          <a:latin typeface="맑은 고딕"/>
                          <a:ea typeface="맑은 고딕"/>
                        </a:rPr>
                        <a:t>QA4 변경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S1~S6 (새 tier, 비용 함수, P/D 정책, 노드 지시, vLLM 계약, 신규 기능), S2~S4 가중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S1~S4 (새 메모리, 새 data 종류, 정책 교체, 새 event), 가중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일부 같음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850" b="0">
                          <a:solidFill>
                            <a:srgbClr val="000000"/>
                          </a:solidFill>
                          <a:latin typeface="맑은 고딕"/>
                          <a:ea typeface="맑은 고딕"/>
                        </a:rPr>
                        <a:t>S1은 같은 변경(새 메모리/tier 추가)이라 문구를 맞춤. S2~S4는 DP마다 의미가 달라 DP 접두사(DP1-S2) 권장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455929">
                <a:tc>
                  <a:txBody>
                    <a:bodyPr/>
                    <a:lstStyle/>
                    <a:p>
                      <a:pPr algn="l"/>
                      <a:r>
                        <a:rPr sz="850" b="1">
                          <a:solidFill>
                            <a:srgbClr val="000000"/>
                          </a:solidFill>
                          <a:latin typeface="맑은 고딕"/>
                          <a:ea typeface="맑은 고딕"/>
                        </a:rPr>
                        <a:t>QA4 경계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① $0.5/$2 ② 3/7 man-day ③ module ≤2/3~5/≥6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① module 같음 ② ≤0.5/≤1.0 man-month ③ ≤$3/≤$10 (frontier $15/$75)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module은 일치. 공수 단위(man-day 대 man-month)와 비용 가격 tier가 다름. DP1에 중간 tier($3/$15, DP0와 같은 가격) 값을 병기. 경계 통일은 결정 필요(결과를 본 뒤 변경 금지 H5)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326390">
                <a:tc>
                  <a:txBody>
                    <a:bodyPr/>
                    <a:lstStyle/>
                    <a:p>
                      <a:pPr algn="l"/>
                      <a:r>
                        <a:rPr sz="850" b="1">
                          <a:solidFill>
                            <a:srgbClr val="000000"/>
                          </a:solidFill>
                          <a:latin typeface="맑은 고딕"/>
                          <a:ea typeface="맑은 고딕"/>
                        </a:rPr>
                        <a:t>Baseline·Evidence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정책 없는 기본 라우팅, 실측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Baseline-static(이동 없음), 시뮬레이션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다름(정상)</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850" b="0">
                          <a:solidFill>
                            <a:srgbClr val="000000"/>
                          </a:solidFill>
                          <a:latin typeface="맑은 고딕"/>
                          <a:ea typeface="맑은 고딕"/>
                        </a:rPr>
                        <a:t>대상 DP가 달라 Baseline 정의가 다르다. Evidence 표기로 구분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764187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8F40C0-89BE-4217-B5CC-E795445173CC}"/>
              </a:ext>
            </a:extLst>
          </p:cNvPr>
          <p:cNvSpPr>
            <a:spLocks noGrp="1"/>
          </p:cNvSpPr>
          <p:nvPr>
            <p:ph type="title"/>
          </p:nvPr>
        </p:nvSpPr>
        <p:spPr/>
        <p:txBody>
          <a:bodyPr/>
          <a:lstStyle/>
          <a:p>
            <a:endParaRPr lang="ko-KR" altLang="en-US"/>
          </a:p>
        </p:txBody>
      </p:sp>
      <p:sp>
        <p:nvSpPr>
          <p:cNvPr id="3" name="직사각형 2">
            <a:extLst>
              <a:ext uri="{FF2B5EF4-FFF2-40B4-BE49-F238E27FC236}">
                <a16:creationId xmlns:a16="http://schemas.microsoft.com/office/drawing/2014/main" id="{7D499F4C-4F30-4E46-AFBD-139C19B22FFE}"/>
              </a:ext>
            </a:extLst>
          </p:cNvPr>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DP4 </a:t>
            </a:r>
            <a:r>
              <a:rPr lang="ko-KR" altLang="en-US" sz="16600" b="1" dirty="0"/>
              <a:t>평가</a:t>
            </a:r>
          </a:p>
        </p:txBody>
      </p:sp>
    </p:spTree>
    <p:extLst>
      <p:ext uri="{BB962C8B-B14F-4D97-AF65-F5344CB8AC3E}">
        <p14:creationId xmlns:p14="http://schemas.microsoft.com/office/powerpoint/2010/main" val="22196695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lgn="l">
              <a:spcAft>
                <a:spcPts val="200"/>
              </a:spcAft>
            </a:pPr>
            <a:r>
              <a:rPr sz="2200" b="1" dirty="0">
                <a:solidFill>
                  <a:srgbClr val="2F5597"/>
                </a:solidFill>
                <a:latin typeface="맑은 고딕"/>
                <a:ea typeface="맑은 고딕"/>
              </a:rPr>
              <a:t>DP</a:t>
            </a:r>
            <a:r>
              <a:rPr lang="en-US" sz="2200" b="1" dirty="0">
                <a:solidFill>
                  <a:srgbClr val="2F5597"/>
                </a:solidFill>
                <a:latin typeface="맑은 고딕"/>
                <a:ea typeface="맑은 고딕"/>
              </a:rPr>
              <a:t>4.</a:t>
            </a:r>
            <a:r>
              <a:rPr sz="2200" b="1" dirty="0">
                <a:solidFill>
                  <a:srgbClr val="2F5597"/>
                </a:solidFill>
                <a:latin typeface="맑은 고딕"/>
                <a:ea typeface="맑은 고딕"/>
              </a:rPr>
              <a:t> QA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결과</a:t>
            </a:r>
            <a:r>
              <a:rPr sz="2200" b="1" dirty="0">
                <a:solidFill>
                  <a:srgbClr val="2F5597"/>
                </a:solidFill>
                <a:latin typeface="맑은 고딕"/>
                <a:ea typeface="맑은 고딕"/>
              </a:rPr>
              <a:t> </a:t>
            </a:r>
          </a:p>
        </p:txBody>
      </p:sp>
      <p:sp>
        <p:nvSpPr>
          <p:cNvPr id="3" name="TextBox 2"/>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후보</a:t>
            </a:r>
            <a:r>
              <a:rPr sz="1100" b="0" dirty="0">
                <a:solidFill>
                  <a:srgbClr val="404040"/>
                </a:solidFill>
                <a:latin typeface="맑은 고딕"/>
                <a:ea typeface="맑은 고딕"/>
              </a:rPr>
              <a:t> 1(OSS </a:t>
            </a:r>
            <a:r>
              <a:rPr sz="1100" b="0" dirty="0" err="1">
                <a:solidFill>
                  <a:srgbClr val="404040"/>
                </a:solidFill>
                <a:latin typeface="맑은 고딕"/>
                <a:ea typeface="맑은 고딕"/>
              </a:rPr>
              <a:t>확장</a:t>
            </a:r>
            <a:r>
              <a:rPr sz="1100" b="0" dirty="0">
                <a:solidFill>
                  <a:srgbClr val="404040"/>
                </a:solidFill>
                <a:latin typeface="맑은 고딕"/>
                <a:ea typeface="맑은 고딕"/>
              </a:rPr>
              <a:t>, </a:t>
            </a:r>
            <a:r>
              <a:rPr sz="1100" b="0" dirty="0" err="1">
                <a:solidFill>
                  <a:srgbClr val="404040"/>
                </a:solidFill>
                <a:latin typeface="맑은 고딕"/>
                <a:ea typeface="맑은 고딕"/>
              </a:rPr>
              <a:t>llm</a:t>
            </a:r>
            <a:r>
              <a:rPr sz="1100" b="0" dirty="0">
                <a:solidFill>
                  <a:srgbClr val="404040"/>
                </a:solidFill>
                <a:latin typeface="맑은 고딕"/>
                <a:ea typeface="맑은 고딕"/>
              </a:rPr>
              <a:t>-d) vs </a:t>
            </a:r>
            <a:r>
              <a:rPr sz="1100" b="0" dirty="0" err="1">
                <a:solidFill>
                  <a:srgbClr val="404040"/>
                </a:solidFill>
                <a:latin typeface="맑은 고딕"/>
                <a:ea typeface="맑은 고딕"/>
              </a:rPr>
              <a:t>후보</a:t>
            </a:r>
            <a:r>
              <a:rPr sz="1100" b="0" dirty="0">
                <a:solidFill>
                  <a:srgbClr val="404040"/>
                </a:solidFill>
                <a:latin typeface="맑은 고딕"/>
                <a:ea typeface="맑은 고딕"/>
              </a:rPr>
              <a:t> 2(</a:t>
            </a:r>
            <a:r>
              <a:rPr sz="1100" b="0" dirty="0" err="1">
                <a:solidFill>
                  <a:srgbClr val="404040"/>
                </a:solidFill>
                <a:latin typeface="맑은 고딕"/>
                <a:ea typeface="맑은 고딕"/>
              </a:rPr>
              <a:t>자체</a:t>
            </a:r>
            <a:r>
              <a:rPr sz="1100" b="0" dirty="0">
                <a:solidFill>
                  <a:srgbClr val="404040"/>
                </a:solidFill>
                <a:latin typeface="맑은 고딕"/>
                <a:ea typeface="맑은 고딕"/>
              </a:rPr>
              <a:t> </a:t>
            </a:r>
            <a:r>
              <a:rPr sz="1100" b="0" dirty="0" err="1">
                <a:solidFill>
                  <a:srgbClr val="404040"/>
                </a:solidFill>
                <a:latin typeface="맑은 고딕"/>
                <a:ea typeface="맑은 고딕"/>
              </a:rPr>
              <a:t>구현</a:t>
            </a:r>
            <a:r>
              <a:rPr sz="1100" b="0" dirty="0">
                <a:solidFill>
                  <a:srgbClr val="404040"/>
                </a:solidFill>
                <a:latin typeface="맑은 고딕"/>
                <a:ea typeface="맑은 고딕"/>
              </a:rPr>
              <a:t> Router) · </a:t>
            </a:r>
            <a:r>
              <a:rPr sz="1100" b="0" dirty="0" err="1">
                <a:solidFill>
                  <a:srgbClr val="404040"/>
                </a:solidFill>
                <a:latin typeface="맑은 고딕"/>
                <a:ea typeface="맑은 고딕"/>
              </a:rPr>
              <a:t>공통</a:t>
            </a:r>
            <a:r>
              <a:rPr sz="1100" b="0" dirty="0">
                <a:solidFill>
                  <a:srgbClr val="404040"/>
                </a:solidFill>
                <a:latin typeface="맑은 고딕"/>
                <a:ea typeface="맑은 고딕"/>
              </a:rPr>
              <a:t> 룰 </a:t>
            </a:r>
            <a:r>
              <a:rPr sz="1100" b="0" dirty="0" err="1">
                <a:solidFill>
                  <a:srgbClr val="404040"/>
                </a:solidFill>
                <a:latin typeface="맑은 고딕"/>
                <a:ea typeface="맑은 고딕"/>
              </a:rPr>
              <a:t>형식</a:t>
            </a:r>
            <a:r>
              <a:rPr sz="1100" b="0" dirty="0">
                <a:solidFill>
                  <a:srgbClr val="404040"/>
                </a:solidFill>
                <a:latin typeface="맑은 고딕"/>
                <a:ea typeface="맑은 고딕"/>
              </a:rPr>
              <a:t> · </a:t>
            </a:r>
            <a:r>
              <a:rPr sz="1100" b="0" dirty="0" err="1">
                <a:solidFill>
                  <a:srgbClr val="404040"/>
                </a:solidFill>
                <a:latin typeface="맑은 고딕"/>
                <a:ea typeface="맑은 고딕"/>
              </a:rPr>
              <a:t>괄호</a:t>
            </a:r>
            <a:r>
              <a:rPr sz="1100" b="0" dirty="0">
                <a:solidFill>
                  <a:srgbClr val="404040"/>
                </a:solidFill>
                <a:latin typeface="맑은 고딕"/>
                <a:ea typeface="맑은 고딕"/>
              </a:rPr>
              <a:t> = </a:t>
            </a:r>
            <a:r>
              <a:rPr sz="1100" b="0" dirty="0" err="1">
                <a:solidFill>
                  <a:srgbClr val="404040"/>
                </a:solidFill>
                <a:latin typeface="맑은 고딕"/>
                <a:ea typeface="맑은 고딕"/>
              </a:rPr>
              <a:t>후보</a:t>
            </a:r>
            <a:r>
              <a:rPr sz="1100" b="0" dirty="0">
                <a:solidFill>
                  <a:srgbClr val="404040"/>
                </a:solidFill>
                <a:latin typeface="맑은 고딕"/>
                <a:ea typeface="맑은 고딕"/>
              </a:rPr>
              <a:t> ÷ Baseline </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70432"/>
          <a:ext cx="11457432" cy="3268980"/>
        </p:xfrm>
        <a:graphic>
          <a:graphicData uri="http://schemas.openxmlformats.org/drawingml/2006/table">
            <a:tbl>
              <a:tblPr>
                <a:tableStyleId>{5940675A-B579-460E-94D1-54222C63F5DA}</a:tableStyleId>
              </a:tblPr>
              <a:tblGrid>
                <a:gridCol w="160020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2587752">
                  <a:extLst>
                    <a:ext uri="{9D8B030D-6E8A-4147-A177-3AD203B41FA5}">
                      <a16:colId xmlns:a16="http://schemas.microsoft.com/office/drawing/2014/main" val="20004"/>
                    </a:ext>
                  </a:extLst>
                </a:gridCol>
              </a:tblGrid>
              <a:tr h="297180">
                <a:tc>
                  <a:txBody>
                    <a:bodyPr/>
                    <a:lstStyle/>
                    <a:p>
                      <a:pPr algn="ctr"/>
                      <a:r>
                        <a:rPr sz="1000" b="1">
                          <a:solidFill>
                            <a:srgbClr val="FFFFFF"/>
                          </a:solidFill>
                          <a:latin typeface="맑은 고딕"/>
                          <a:ea typeface="맑은 고딕"/>
                        </a:rPr>
                        <a:t>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평가 metric (↑/↓ 좋음)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후보 1 (OSS 확장)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후보 2 (자체 구현)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97180">
                <a:tc>
                  <a:txBody>
                    <a:bodyPr/>
                    <a:lstStyle/>
                    <a:p>
                      <a:pPr algn="l"/>
                      <a:r>
                        <a:rPr sz="1000" b="1">
                          <a:solidFill>
                            <a:srgbClr val="000000"/>
                          </a:solidFill>
                          <a:latin typeface="맑은 고딕"/>
                          <a:ea typeface="맑은 고딕"/>
                        </a:rPr>
                        <a:t>Q1 처리량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Max SLO Goodput (tok/s)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3,360 (×1.05)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3,340 (×1.04)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97180">
                <a:tc>
                  <a:txBody>
                    <a:bodyPr/>
                    <a:lstStyle/>
                    <a:p>
                      <a:pPr algn="l"/>
                      <a:r>
                        <a:rPr sz="1000" b="1">
                          <a:solidFill>
                            <a:srgbClr val="000000"/>
                          </a:solidFill>
                          <a:latin typeface="맑은 고딕"/>
                          <a:ea typeface="맑은 고딕"/>
                        </a:rPr>
                        <a:t>Q2 지연 (TTFT)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2,300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2,060 (×0.90)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1,940 (×0.84)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97180">
                <a:tc>
                  <a:txBody>
                    <a:bodyPr/>
                    <a:lstStyle/>
                    <a:p>
                      <a:pPr algn="l"/>
                      <a:r>
                        <a:rPr sz="1000" b="1">
                          <a:solidFill>
                            <a:srgbClr val="000000"/>
                          </a:solidFill>
                          <a:latin typeface="맑은 고딕"/>
                          <a:ea typeface="맑은 고딕"/>
                        </a:rPr>
                        <a:t>Q2 지연 (TPOT)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TPOT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53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48 (×0.91)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48 (×0.91)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97180">
                <a:tc>
                  <a:txBody>
                    <a:bodyPr/>
                    <a:lstStyle/>
                    <a:p>
                      <a:pPr algn="l"/>
                      <a:r>
                        <a:rPr sz="1000" b="1">
                          <a:solidFill>
                            <a:srgbClr val="000000"/>
                          </a:solidFill>
                          <a:latin typeface="맑은 고딕"/>
                          <a:ea typeface="맑은 고딕"/>
                        </a:rPr>
                        <a:t>Q2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dirty="0">
                          <a:solidFill>
                            <a:srgbClr val="000000"/>
                          </a:solidFill>
                          <a:latin typeface="맑은 고딕"/>
                          <a:ea typeface="맑은 고딕"/>
                        </a:rPr>
                        <a:t>TTFT·TPOT </a:t>
                      </a:r>
                      <a:r>
                        <a:rPr sz="1000" b="0" dirty="0" err="1">
                          <a:solidFill>
                            <a:srgbClr val="000000"/>
                          </a:solidFill>
                          <a:latin typeface="맑은 고딕"/>
                          <a:ea typeface="맑은 고딕"/>
                        </a:rPr>
                        <a:t>모두</a:t>
                      </a:r>
                      <a:r>
                        <a:rPr sz="1000" b="0" dirty="0">
                          <a:solidFill>
                            <a:srgbClr val="000000"/>
                          </a:solidFill>
                          <a:latin typeface="맑은 고딕"/>
                          <a:ea typeface="맑은 고딕"/>
                        </a:rPr>
                        <a:t> </a:t>
                      </a:r>
                      <a:r>
                        <a:rPr sz="1000" b="0" dirty="0" err="1">
                          <a:solidFill>
                            <a:srgbClr val="000000"/>
                          </a:solidFill>
                          <a:latin typeface="맑은 고딕"/>
                          <a:ea typeface="맑은 고딕"/>
                        </a:rPr>
                        <a:t>반영</a:t>
                      </a:r>
                      <a:r>
                        <a:rPr sz="1000" b="0" dirty="0">
                          <a:solidFill>
                            <a:srgbClr val="000000"/>
                          </a:solidFill>
                          <a:latin typeface="맑은 고딕"/>
                          <a:ea typeface="맑은 고딕"/>
                        </a:rPr>
                        <a:t> (</a:t>
                      </a:r>
                      <a:r>
                        <a:rPr sz="1000" b="0" dirty="0" err="1">
                          <a:solidFill>
                            <a:srgbClr val="000000"/>
                          </a:solidFill>
                          <a:latin typeface="맑은 고딕"/>
                          <a:ea typeface="맑은 고딕"/>
                        </a:rPr>
                        <a:t>낮은</a:t>
                      </a:r>
                      <a:r>
                        <a:rPr sz="1000" b="0" dirty="0">
                          <a:solidFill>
                            <a:srgbClr val="000000"/>
                          </a:solidFill>
                          <a:latin typeface="맑은 고딕"/>
                          <a:ea typeface="맑은 고딕"/>
                        </a:rPr>
                        <a:t> </a:t>
                      </a:r>
                      <a:r>
                        <a:rPr sz="1000" b="0" dirty="0" err="1">
                          <a:solidFill>
                            <a:srgbClr val="000000"/>
                          </a:solidFill>
                          <a:latin typeface="맑은 고딕"/>
                          <a:ea typeface="맑은 고딕"/>
                        </a:rPr>
                        <a:t>등급</a:t>
                      </a:r>
                      <a:r>
                        <a:rPr sz="1000" b="0" dirty="0">
                          <a:solidFill>
                            <a:srgbClr val="000000"/>
                          </a:solidFill>
                          <a:latin typeface="맑은 고딕"/>
                          <a:ea typeface="맑은 고딕"/>
                        </a:rPr>
                        <a:t> </a:t>
                      </a:r>
                      <a:r>
                        <a:rPr sz="1000" b="0" dirty="0" err="1">
                          <a:solidFill>
                            <a:srgbClr val="000000"/>
                          </a:solidFill>
                          <a:latin typeface="맑은 고딕"/>
                          <a:ea typeface="맑은 고딕"/>
                        </a:rPr>
                        <a:t>적용</a:t>
                      </a:r>
                      <a:r>
                        <a:rPr sz="10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[A+C]  (TTFT &gt; 2 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ctr"/>
                      <a:r>
                        <a:rPr sz="1000" b="0">
                          <a:solidFill>
                            <a:srgbClr val="000000"/>
                          </a:solidFill>
                          <a:latin typeface="맑은 고딕"/>
                          <a:ea typeface="맑은 고딕"/>
                        </a:rPr>
                        <a:t>★★★ [A+C]  (둘 다 SLO 만족)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extLst>
                  <a:ext uri="{0D108BD9-81ED-4DB2-BD59-A6C34878D82A}">
                    <a16:rowId xmlns:a16="http://schemas.microsoft.com/office/drawing/2014/main" val="10004"/>
                  </a:ext>
                </a:extLst>
              </a:tr>
              <a:tr h="297180">
                <a:tc>
                  <a:txBody>
                    <a:bodyPr/>
                    <a:lstStyle/>
                    <a:p>
                      <a:pPr algn="l"/>
                      <a:r>
                        <a:rPr sz="1000" b="1">
                          <a:solidFill>
                            <a:srgbClr val="000000"/>
                          </a:solidFill>
                          <a:latin typeface="맑은 고딕"/>
                          <a:ea typeface="맑은 고딕"/>
                        </a:rPr>
                        <a:t>Q3 ① 토큰 cost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1건당 에이전트 토큰 비용 $ ↓ (S1~S6 가중 평균, 최우선)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$1.28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$0.38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97180">
                <a:tc>
                  <a:txBody>
                    <a:bodyPr/>
                    <a:lstStyle/>
                    <a:p>
                      <a:pPr algn="l"/>
                      <a:r>
                        <a:rPr sz="1000" b="1">
                          <a:solidFill>
                            <a:srgbClr val="000000"/>
                          </a:solidFill>
                          <a:latin typeface="맑은 고딕"/>
                          <a:ea typeface="맑은 고딕"/>
                        </a:rPr>
                        <a:t>Q3 ② 개발 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1건당 man-day ↓ (②)</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2.6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297180">
                <a:tc>
                  <a:txBody>
                    <a:bodyPr/>
                    <a:lstStyle/>
                    <a:p>
                      <a:pPr algn="l"/>
                      <a:r>
                        <a:rPr sz="1000" b="1">
                          <a:solidFill>
                            <a:srgbClr val="000000"/>
                          </a:solidFill>
                          <a:latin typeface="맑은 고딕"/>
                          <a:ea typeface="맑은 고딕"/>
                        </a:rPr>
                        <a:t>Q3 ③ 변경 module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module 수 ↓ (③, 공통 QA4 기준)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297180">
                <a:tc>
                  <a:txBody>
                    <a:bodyPr/>
                    <a:lstStyle/>
                    <a:p>
                      <a:pPr algn="l"/>
                      <a:r>
                        <a:rPr sz="1000" b="1">
                          <a:solidFill>
                            <a:srgbClr val="000000"/>
                          </a:solidFill>
                          <a:latin typeface="맑은 고딕"/>
                          <a:ea typeface="맑은 고딕"/>
                        </a:rPr>
                        <a:t>Q3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①→②→③ 우선순위로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ctr"/>
                      <a:r>
                        <a:rPr sz="1000" b="0">
                          <a:solidFill>
                            <a:srgbClr val="000000"/>
                          </a:solidFill>
                          <a:latin typeface="맑은 고딕"/>
                          <a:ea typeface="맑은 고딕"/>
                        </a:rPr>
                        <a:t>★★★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extLst>
                  <a:ext uri="{0D108BD9-81ED-4DB2-BD59-A6C34878D82A}">
                    <a16:rowId xmlns:a16="http://schemas.microsoft.com/office/drawing/2014/main" val="10008"/>
                  </a:ext>
                </a:extLst>
              </a:tr>
              <a:tr h="297180">
                <a:tc>
                  <a:txBody>
                    <a:bodyPr/>
                    <a:lstStyle/>
                    <a:p>
                      <a:pPr algn="l"/>
                      <a:r>
                        <a:rPr sz="1000" b="1">
                          <a:solidFill>
                            <a:srgbClr val="000000"/>
                          </a:solidFill>
                          <a:latin typeface="맑은 고딕"/>
                          <a:ea typeface="맑은 고딕"/>
                        </a:rPr>
                        <a:t>Q4 확장성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dirty="0">
                          <a:solidFill>
                            <a:srgbClr val="000000"/>
                          </a:solidFill>
                          <a:latin typeface="맑은 고딕"/>
                          <a:ea typeface="맑은 고딕"/>
                        </a:rPr>
                        <a:t>Scaling Efficiency SE(N=16) (%) ↑ (N0=2)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93%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64%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9"/>
                  </a:ext>
                </a:extLst>
              </a:tr>
              <a:tr h="297180">
                <a:tc>
                  <a:txBody>
                    <a:bodyPr/>
                    <a:lstStyle/>
                    <a:p>
                      <a:pPr algn="l"/>
                      <a:r>
                        <a:rPr sz="1000" b="1">
                          <a:solidFill>
                            <a:srgbClr val="000000"/>
                          </a:solidFill>
                          <a:latin typeface="맑은 고딕"/>
                          <a:ea typeface="맑은 고딕"/>
                        </a:rPr>
                        <a:t>별 합계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1000" b="0">
                          <a:solidFill>
                            <a:srgbClr val="000000"/>
                          </a:solidFill>
                          <a:latin typeface="맑은 고딕"/>
                          <a:ea typeface="맑은 고딕"/>
                        </a:rPr>
                        <a:t>Q1 + Q2 + Q3 + Q4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2+2+2+3 = 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dirty="0">
                          <a:solidFill>
                            <a:srgbClr val="000000"/>
                          </a:solidFill>
                          <a:latin typeface="맑은 고딕"/>
                          <a:ea typeface="맑은 고딕"/>
                        </a:rPr>
                        <a:t>2+3+3+1 = 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10"/>
                  </a:ext>
                </a:extLst>
              </a:tr>
            </a:tbl>
          </a:graphicData>
        </a:graphic>
      </p:graphicFrame>
      <p:sp>
        <p:nvSpPr>
          <p:cNvPr id="6" name="TextBox 5"/>
          <p:cNvSpPr txBox="1"/>
          <p:nvPr/>
        </p:nvSpPr>
        <p:spPr>
          <a:xfrm>
            <a:off x="365760" y="4526280"/>
            <a:ext cx="11430000" cy="350865"/>
          </a:xfrm>
          <a:prstGeom prst="rect">
            <a:avLst/>
          </a:prstGeom>
          <a:solidFill>
            <a:srgbClr val="F2F2F2"/>
          </a:solidFill>
        </p:spPr>
        <p:txBody>
          <a:bodyPr wrap="square" lIns="73152" tIns="36576" rIns="73152" bIns="36576" anchor="t">
            <a:spAutoFit/>
          </a:bodyPr>
          <a:lstStyle/>
          <a:p>
            <a:pPr algn="l">
              <a:spcAft>
                <a:spcPts val="200"/>
              </a:spcAft>
            </a:pPr>
            <a:r>
              <a:rPr sz="900" b="1" dirty="0" err="1">
                <a:solidFill>
                  <a:srgbClr val="000000"/>
                </a:solidFill>
                <a:latin typeface="맑은 고딕"/>
                <a:ea typeface="맑은 고딕"/>
              </a:rPr>
              <a:t>근거</a:t>
            </a:r>
            <a:r>
              <a:rPr sz="900" b="1" dirty="0">
                <a:solidFill>
                  <a:srgbClr val="000000"/>
                </a:solidFill>
                <a:latin typeface="맑은 고딕"/>
                <a:ea typeface="맑은 고딕"/>
              </a:rPr>
              <a:t> </a:t>
            </a:r>
            <a:r>
              <a:rPr sz="900" b="1" dirty="0" err="1">
                <a:solidFill>
                  <a:srgbClr val="000000"/>
                </a:solidFill>
                <a:latin typeface="맑은 고딕"/>
                <a:ea typeface="맑은 고딕"/>
              </a:rPr>
              <a:t>수준</a:t>
            </a:r>
            <a:r>
              <a:rPr sz="900" b="1" dirty="0">
                <a:solidFill>
                  <a:srgbClr val="000000"/>
                </a:solidFill>
                <a:latin typeface="맑은 고딕"/>
                <a:ea typeface="맑은 고딕"/>
              </a:rPr>
              <a:t> </a:t>
            </a:r>
            <a:r>
              <a:rPr sz="900" b="1" dirty="0" err="1">
                <a:solidFill>
                  <a:srgbClr val="000000"/>
                </a:solidFill>
                <a:latin typeface="맑은 고딕"/>
                <a:ea typeface="맑은 고딕"/>
              </a:rPr>
              <a:t>표기</a:t>
            </a:r>
            <a:r>
              <a:rPr sz="900" b="1" dirty="0">
                <a:solidFill>
                  <a:srgbClr val="000000"/>
                </a:solidFill>
                <a:latin typeface="맑은 고딕"/>
                <a:ea typeface="맑은 고딕"/>
              </a:rPr>
              <a:t>: </a:t>
            </a:r>
            <a:r>
              <a:rPr sz="900" b="0" dirty="0">
                <a:solidFill>
                  <a:srgbClr val="000000"/>
                </a:solidFill>
                <a:latin typeface="맑은 고딕"/>
                <a:ea typeface="맑은 고딕"/>
              </a:rPr>
              <a:t>[A] </a:t>
            </a:r>
            <a:r>
              <a:rPr sz="900" b="0" dirty="0" err="1">
                <a:solidFill>
                  <a:srgbClr val="000000"/>
                </a:solidFill>
                <a:latin typeface="맑은 고딕"/>
                <a:ea typeface="맑은 고딕"/>
              </a:rPr>
              <a:t>실측</a:t>
            </a:r>
            <a:r>
              <a:rPr sz="900" b="0" dirty="0">
                <a:solidFill>
                  <a:srgbClr val="000000"/>
                </a:solidFill>
                <a:latin typeface="맑은 고딕"/>
                <a:ea typeface="맑은 고딕"/>
              </a:rPr>
              <a:t> · [B] </a:t>
            </a:r>
            <a:r>
              <a:rPr sz="900" b="0" dirty="0" err="1">
                <a:solidFill>
                  <a:srgbClr val="000000"/>
                </a:solidFill>
                <a:latin typeface="맑은 고딕"/>
                <a:ea typeface="맑은 고딕"/>
              </a:rPr>
              <a:t>문헌</a:t>
            </a:r>
            <a:r>
              <a:rPr sz="900" b="0" dirty="0">
                <a:solidFill>
                  <a:srgbClr val="000000"/>
                </a:solidFill>
                <a:latin typeface="맑은 고딕"/>
                <a:ea typeface="맑은 고딕"/>
              </a:rPr>
              <a:t> · [C] </a:t>
            </a:r>
            <a:r>
              <a:rPr sz="900" b="0" dirty="0" err="1">
                <a:solidFill>
                  <a:srgbClr val="000000"/>
                </a:solidFill>
                <a:latin typeface="맑은 고딕"/>
                <a:ea typeface="맑은 고딕"/>
              </a:rPr>
              <a:t>시뮬레이션</a:t>
            </a:r>
            <a:r>
              <a:rPr sz="900" b="0" dirty="0">
                <a:solidFill>
                  <a:srgbClr val="000000"/>
                </a:solidFill>
                <a:latin typeface="맑은 고딕"/>
                <a:ea typeface="맑은 고딕"/>
              </a:rPr>
              <a:t>. Q1·Q2·Q4 = </a:t>
            </a:r>
            <a:r>
              <a:rPr sz="900" b="0" dirty="0" err="1">
                <a:solidFill>
                  <a:srgbClr val="000000"/>
                </a:solidFill>
                <a:latin typeface="맑은 고딕"/>
                <a:ea typeface="맑은 고딕"/>
              </a:rPr>
              <a:t>Baseline은</a:t>
            </a:r>
            <a:r>
              <a:rPr sz="900" b="0" dirty="0">
                <a:solidFill>
                  <a:srgbClr val="000000"/>
                </a:solidFill>
                <a:latin typeface="맑은 고딕"/>
                <a:ea typeface="맑은 고딕"/>
              </a:rPr>
              <a:t> </a:t>
            </a:r>
            <a:r>
              <a:rPr sz="900" b="0" dirty="0" err="1">
                <a:solidFill>
                  <a:srgbClr val="000000"/>
                </a:solidFill>
                <a:latin typeface="맑은 고딕"/>
                <a:ea typeface="맑은 고딕"/>
              </a:rPr>
              <a:t>실측</a:t>
            </a:r>
            <a:r>
              <a:rPr sz="900" b="0" dirty="0">
                <a:solidFill>
                  <a:srgbClr val="000000"/>
                </a:solidFill>
                <a:latin typeface="맑은 고딕"/>
                <a:ea typeface="맑은 고딕"/>
              </a:rPr>
              <a:t> [A], </a:t>
            </a:r>
            <a:r>
              <a:rPr sz="900" b="0" dirty="0" err="1">
                <a:solidFill>
                  <a:srgbClr val="000000"/>
                </a:solidFill>
                <a:latin typeface="맑은 고딕"/>
                <a:ea typeface="맑은 고딕"/>
              </a:rPr>
              <a:t>실물이</a:t>
            </a:r>
            <a:r>
              <a:rPr sz="900" b="0" dirty="0">
                <a:solidFill>
                  <a:srgbClr val="000000"/>
                </a:solidFill>
                <a:latin typeface="맑은 고딕"/>
                <a:ea typeface="맑은 고딕"/>
              </a:rPr>
              <a:t> </a:t>
            </a:r>
            <a:r>
              <a:rPr sz="900" b="0" dirty="0" err="1">
                <a:solidFill>
                  <a:srgbClr val="000000"/>
                </a:solidFill>
                <a:latin typeface="맑은 고딕"/>
                <a:ea typeface="맑은 고딕"/>
              </a:rPr>
              <a:t>없는</a:t>
            </a:r>
            <a:r>
              <a:rPr sz="900" b="0" dirty="0">
                <a:solidFill>
                  <a:srgbClr val="000000"/>
                </a:solidFill>
                <a:latin typeface="맑은 고딕"/>
                <a:ea typeface="맑은 고딕"/>
              </a:rPr>
              <a:t> </a:t>
            </a:r>
            <a:r>
              <a:rPr sz="900" b="0" dirty="0" err="1">
                <a:solidFill>
                  <a:srgbClr val="000000"/>
                </a:solidFill>
                <a:latin typeface="맑은 고딕"/>
                <a:ea typeface="맑은 고딕"/>
              </a:rPr>
              <a:t>메모리와</a:t>
            </a:r>
            <a:r>
              <a:rPr sz="900" b="0" dirty="0">
                <a:solidFill>
                  <a:srgbClr val="000000"/>
                </a:solidFill>
                <a:latin typeface="맑은 고딕"/>
                <a:ea typeface="맑은 고딕"/>
              </a:rPr>
              <a:t> 2안(</a:t>
            </a:r>
            <a:r>
              <a:rPr sz="900" b="0" dirty="0" err="1">
                <a:solidFill>
                  <a:srgbClr val="000000"/>
                </a:solidFill>
                <a:latin typeface="맑은 고딕"/>
                <a:ea typeface="맑은 고딕"/>
              </a:rPr>
              <a:t>미구현</a:t>
            </a:r>
            <a:r>
              <a:rPr sz="900" b="0" dirty="0">
                <a:solidFill>
                  <a:srgbClr val="000000"/>
                </a:solidFill>
                <a:latin typeface="맑은 고딕"/>
                <a:ea typeface="맑은 고딕"/>
              </a:rPr>
              <a:t>)은 </a:t>
            </a:r>
            <a:r>
              <a:rPr sz="900" b="0" dirty="0" err="1">
                <a:solidFill>
                  <a:srgbClr val="000000"/>
                </a:solidFill>
                <a:latin typeface="맑은 고딕"/>
                <a:ea typeface="맑은 고딕"/>
              </a:rPr>
              <a:t>시뮬레이터</a:t>
            </a:r>
            <a:r>
              <a:rPr sz="900" b="0" dirty="0">
                <a:solidFill>
                  <a:srgbClr val="000000"/>
                </a:solidFill>
                <a:latin typeface="맑은 고딕"/>
                <a:ea typeface="맑은 고딕"/>
              </a:rPr>
              <a:t> </a:t>
            </a:r>
            <a:r>
              <a:rPr sz="900" b="0" dirty="0" err="1">
                <a:solidFill>
                  <a:srgbClr val="000000"/>
                </a:solidFill>
                <a:latin typeface="맑은 고딕"/>
                <a:ea typeface="맑은 고딕"/>
              </a:rPr>
              <a:t>연동</a:t>
            </a:r>
            <a:r>
              <a:rPr sz="900" b="0" dirty="0">
                <a:solidFill>
                  <a:srgbClr val="000000"/>
                </a:solidFill>
                <a:latin typeface="맑은 고딕"/>
                <a:ea typeface="맑은 고딕"/>
              </a:rPr>
              <a:t> [C] → [A+C]. Q3는 </a:t>
            </a:r>
            <a:r>
              <a:rPr sz="900" b="0" dirty="0" err="1">
                <a:solidFill>
                  <a:srgbClr val="000000"/>
                </a:solidFill>
                <a:latin typeface="맑은 고딕"/>
                <a:ea typeface="맑은 고딕"/>
              </a:rPr>
              <a:t>변경을</a:t>
            </a:r>
            <a:r>
              <a:rPr sz="900" b="0" dirty="0">
                <a:solidFill>
                  <a:srgbClr val="000000"/>
                </a:solidFill>
                <a:latin typeface="맑은 고딕"/>
                <a:ea typeface="맑은 고딕"/>
              </a:rPr>
              <a:t> </a:t>
            </a:r>
            <a:r>
              <a:rPr sz="900" b="0" dirty="0" err="1">
                <a:solidFill>
                  <a:srgbClr val="000000"/>
                </a:solidFill>
                <a:latin typeface="맑은 고딕"/>
                <a:ea typeface="맑은 고딕"/>
              </a:rPr>
              <a:t>에이전트</a:t>
            </a:r>
            <a:r>
              <a:rPr sz="900" b="0" dirty="0">
                <a:solidFill>
                  <a:srgbClr val="000000"/>
                </a:solidFill>
                <a:latin typeface="맑은 고딕"/>
                <a:ea typeface="맑은 고딕"/>
              </a:rPr>
              <a:t> </a:t>
            </a:r>
            <a:r>
              <a:rPr sz="900" b="0" dirty="0" err="1">
                <a:solidFill>
                  <a:srgbClr val="000000"/>
                </a:solidFill>
                <a:latin typeface="맑은 고딕"/>
                <a:ea typeface="맑은 고딕"/>
              </a:rPr>
              <a:t>세션으로</a:t>
            </a:r>
            <a:r>
              <a:rPr sz="900" b="0" dirty="0">
                <a:solidFill>
                  <a:srgbClr val="000000"/>
                </a:solidFill>
                <a:latin typeface="맑은 고딕"/>
                <a:ea typeface="맑은 고딕"/>
              </a:rPr>
              <a:t> </a:t>
            </a:r>
            <a:r>
              <a:rPr sz="900" b="0" dirty="0" err="1">
                <a:solidFill>
                  <a:srgbClr val="000000"/>
                </a:solidFill>
                <a:latin typeface="맑은 고딕"/>
                <a:ea typeface="맑은 고딕"/>
              </a:rPr>
              <a:t>구현한다고</a:t>
            </a:r>
            <a:r>
              <a:rPr sz="900" b="0" dirty="0">
                <a:solidFill>
                  <a:srgbClr val="000000"/>
                </a:solidFill>
                <a:latin typeface="맑은 고딕"/>
                <a:ea typeface="맑은 고딕"/>
              </a:rPr>
              <a:t> </a:t>
            </a:r>
            <a:r>
              <a:rPr sz="900" b="0" dirty="0" err="1">
                <a:solidFill>
                  <a:srgbClr val="000000"/>
                </a:solidFill>
                <a:latin typeface="맑은 고딕"/>
                <a:ea typeface="맑은 고딕"/>
              </a:rPr>
              <a:t>가정한</a:t>
            </a:r>
            <a:r>
              <a:rPr sz="900" b="0" dirty="0">
                <a:solidFill>
                  <a:srgbClr val="000000"/>
                </a:solidFill>
                <a:latin typeface="맑은 고딕"/>
                <a:ea typeface="맑은 고딕"/>
              </a:rPr>
              <a:t> </a:t>
            </a:r>
            <a:r>
              <a:rPr sz="900" b="0" dirty="0" err="1">
                <a:solidFill>
                  <a:srgbClr val="000000"/>
                </a:solidFill>
                <a:latin typeface="맑은 고딕"/>
                <a:ea typeface="맑은 고딕"/>
              </a:rPr>
              <a:t>시뮬레이션</a:t>
            </a:r>
            <a:r>
              <a:rPr sz="900" b="0" dirty="0">
                <a:solidFill>
                  <a:srgbClr val="000000"/>
                </a:solidFill>
                <a:latin typeface="맑은 고딕"/>
                <a:ea typeface="맑은 고딕"/>
              </a:rPr>
              <a:t> [C]. </a:t>
            </a:r>
            <a:r>
              <a:rPr sz="900" b="0" dirty="0" err="1">
                <a:solidFill>
                  <a:srgbClr val="000000"/>
                </a:solidFill>
                <a:latin typeface="맑은 고딕"/>
                <a:ea typeface="맑은 고딕"/>
              </a:rPr>
              <a:t>평가</a:t>
            </a:r>
            <a:r>
              <a:rPr sz="900" b="0" dirty="0">
                <a:solidFill>
                  <a:srgbClr val="000000"/>
                </a:solidFill>
                <a:latin typeface="맑은 고딕"/>
                <a:ea typeface="맑은 고딕"/>
              </a:rPr>
              <a:t> </a:t>
            </a:r>
            <a:r>
              <a:rPr sz="900" b="0" dirty="0" err="1">
                <a:solidFill>
                  <a:srgbClr val="000000"/>
                </a:solidFill>
                <a:latin typeface="맑은 고딕"/>
                <a:ea typeface="맑은 고딕"/>
              </a:rPr>
              <a:t>시스템</a:t>
            </a:r>
            <a:r>
              <a:rPr sz="900" b="0" dirty="0">
                <a:solidFill>
                  <a:srgbClr val="000000"/>
                </a:solidFill>
                <a:latin typeface="맑은 고딕"/>
                <a:ea typeface="맑은 고딕"/>
              </a:rPr>
              <a:t>: H100 SXM 80GB ×8 ×2노드(16 GPU), Llama-3.1-70B BF16, </a:t>
            </a:r>
            <a:r>
              <a:rPr sz="900" b="0" dirty="0" err="1">
                <a:solidFill>
                  <a:srgbClr val="000000"/>
                </a:solidFill>
                <a:latin typeface="맑은 고딕"/>
                <a:ea typeface="맑은 고딕"/>
              </a:rPr>
              <a:t>입력</a:t>
            </a:r>
            <a:r>
              <a:rPr sz="900" b="0" dirty="0">
                <a:solidFill>
                  <a:srgbClr val="000000"/>
                </a:solidFill>
                <a:latin typeface="맑은 고딕"/>
                <a:ea typeface="맑은 고딕"/>
              </a:rPr>
              <a:t> 8K / </a:t>
            </a:r>
            <a:r>
              <a:rPr sz="900" b="0" dirty="0" err="1">
                <a:solidFill>
                  <a:srgbClr val="000000"/>
                </a:solidFill>
                <a:latin typeface="맑은 고딕"/>
                <a:ea typeface="맑은 고딕"/>
              </a:rPr>
              <a:t>출력</a:t>
            </a:r>
            <a:r>
              <a:rPr sz="900" b="0" dirty="0">
                <a:solidFill>
                  <a:srgbClr val="000000"/>
                </a:solidFill>
                <a:latin typeface="맑은 고딕"/>
                <a:ea typeface="맑은 고딕"/>
              </a:rPr>
              <a:t> 256, SLO = TTFT P99 ≤ 2 s · TPOT P99 ≤ 50 </a:t>
            </a:r>
            <a:r>
              <a:rPr sz="900" b="0" dirty="0" err="1">
                <a:solidFill>
                  <a:srgbClr val="000000"/>
                </a:solidFill>
                <a:latin typeface="맑은 고딕"/>
                <a:ea typeface="맑은 고딕"/>
              </a:rPr>
              <a:t>ms.</a:t>
            </a:r>
            <a:r>
              <a:rPr sz="900" b="0" dirty="0">
                <a:solidFill>
                  <a:srgbClr val="000000"/>
                </a:solidFill>
                <a:latin typeface="맑은 고딕"/>
                <a:ea typeface="맑은 고딕"/>
              </a:rPr>
              <a:t> Baseline = </a:t>
            </a:r>
            <a:r>
              <a:rPr sz="900" b="0" dirty="0" err="1">
                <a:solidFill>
                  <a:srgbClr val="000000"/>
                </a:solidFill>
                <a:latin typeface="맑은 고딕"/>
                <a:ea typeface="맑은 고딕"/>
              </a:rPr>
              <a:t>정책</a:t>
            </a:r>
            <a:r>
              <a:rPr sz="900" b="0" dirty="0">
                <a:solidFill>
                  <a:srgbClr val="000000"/>
                </a:solidFill>
                <a:latin typeface="맑은 고딕"/>
                <a:ea typeface="맑은 고딕"/>
              </a:rPr>
              <a:t> </a:t>
            </a:r>
            <a:r>
              <a:rPr sz="900" b="0" dirty="0" err="1">
                <a:solidFill>
                  <a:srgbClr val="000000"/>
                </a:solidFill>
                <a:latin typeface="맑은 고딕"/>
                <a:ea typeface="맑은 고딕"/>
              </a:rPr>
              <a:t>미적용</a:t>
            </a:r>
            <a:r>
              <a:rPr sz="900" b="0" dirty="0">
                <a:solidFill>
                  <a:srgbClr val="000000"/>
                </a:solidFill>
                <a:latin typeface="맑은 고딕"/>
                <a:ea typeface="맑은 고딕"/>
              </a:rPr>
              <a:t> </a:t>
            </a:r>
            <a:r>
              <a:rPr sz="900" b="0" dirty="0" err="1">
                <a:solidFill>
                  <a:srgbClr val="000000"/>
                </a:solidFill>
                <a:latin typeface="맑은 고딕"/>
                <a:ea typeface="맑은 고딕"/>
              </a:rPr>
              <a:t>기본</a:t>
            </a:r>
            <a:r>
              <a:rPr sz="900" b="0" dirty="0">
                <a:solidFill>
                  <a:srgbClr val="000000"/>
                </a:solidFill>
                <a:latin typeface="맑은 고딕"/>
                <a:ea typeface="맑은 고딕"/>
              </a:rPr>
              <a:t> </a:t>
            </a:r>
            <a:r>
              <a:rPr sz="900" b="0" dirty="0" err="1">
                <a:solidFill>
                  <a:srgbClr val="000000"/>
                </a:solidFill>
                <a:latin typeface="맑은 고딕"/>
                <a:ea typeface="맑은 고딕"/>
              </a:rPr>
              <a:t>라우팅</a:t>
            </a:r>
            <a:r>
              <a:rPr sz="900" b="0" dirty="0">
                <a:solidFill>
                  <a:srgbClr val="000000"/>
                </a:solidFill>
                <a:latin typeface="맑은 고딕"/>
                <a:ea typeface="맑은 고딕"/>
              </a:rPr>
              <a:t>. </a:t>
            </a:r>
            <a:r>
              <a:rPr sz="900" b="0" dirty="0" err="1">
                <a:solidFill>
                  <a:srgbClr val="000000"/>
                </a:solidFill>
                <a:latin typeface="맑은 고딕"/>
                <a:ea typeface="맑은 고딕"/>
              </a:rPr>
              <a:t>수행</a:t>
            </a:r>
            <a:r>
              <a:rPr sz="900" b="0" dirty="0">
                <a:solidFill>
                  <a:srgbClr val="000000"/>
                </a:solidFill>
                <a:latin typeface="맑은 고딕"/>
                <a:ea typeface="맑은 고딕"/>
              </a:rPr>
              <a:t> </a:t>
            </a:r>
            <a:r>
              <a:rPr sz="900" b="0" dirty="0" err="1">
                <a:solidFill>
                  <a:srgbClr val="000000"/>
                </a:solidFill>
                <a:latin typeface="맑은 고딕"/>
                <a:ea typeface="맑은 고딕"/>
              </a:rPr>
              <a:t>방식</a:t>
            </a:r>
            <a:r>
              <a:rPr lang="en-US" sz="900" b="0" dirty="0">
                <a:solidFill>
                  <a:srgbClr val="000000"/>
                </a:solidFill>
                <a:latin typeface="맑은 고딕"/>
                <a:ea typeface="맑은 고딕"/>
              </a:rPr>
              <a:t> </a:t>
            </a:r>
            <a:r>
              <a:rPr lang="ko-KR" altLang="en-US" sz="900" b="0" dirty="0">
                <a:solidFill>
                  <a:srgbClr val="000000"/>
                </a:solidFill>
                <a:latin typeface="맑은 고딕"/>
                <a:ea typeface="맑은 고딕"/>
              </a:rPr>
              <a:t>및 </a:t>
            </a:r>
            <a:r>
              <a:rPr sz="900" b="0" dirty="0" err="1">
                <a:solidFill>
                  <a:srgbClr val="000000"/>
                </a:solidFill>
                <a:latin typeface="맑은 고딕"/>
                <a:ea typeface="맑은 고딕"/>
              </a:rPr>
              <a:t>시나리오는</a:t>
            </a:r>
            <a:r>
              <a:rPr sz="900" b="0" dirty="0">
                <a:solidFill>
                  <a:srgbClr val="000000"/>
                </a:solidFill>
                <a:latin typeface="맑은 고딕"/>
                <a:ea typeface="맑은 고딕"/>
              </a:rPr>
              <a:t> </a:t>
            </a:r>
            <a:r>
              <a:rPr lang="ko-KR" altLang="en-US" sz="900" b="0" dirty="0">
                <a:solidFill>
                  <a:srgbClr val="000000"/>
                </a:solidFill>
                <a:latin typeface="맑은 고딕"/>
                <a:ea typeface="맑은 고딕"/>
              </a:rPr>
              <a:t>추후 상세</a:t>
            </a:r>
            <a:r>
              <a:rPr lang="en-US" altLang="ko-KR" sz="900" b="0" dirty="0">
                <a:solidFill>
                  <a:srgbClr val="000000"/>
                </a:solidFill>
                <a:latin typeface="맑은 고딕"/>
                <a:ea typeface="맑은 고딕"/>
              </a:rPr>
              <a:t>. </a:t>
            </a:r>
            <a:endParaRPr sz="900" b="0" dirty="0">
              <a:solidFill>
                <a:srgbClr val="000000"/>
              </a:solidFill>
              <a:latin typeface="맑은 고딕"/>
              <a:ea typeface="맑은 고딕"/>
            </a:endParaRPr>
          </a:p>
        </p:txBody>
      </p:sp>
      <p:sp>
        <p:nvSpPr>
          <p:cNvPr id="7" name="TextBox 6"/>
          <p:cNvSpPr txBox="1"/>
          <p:nvPr/>
        </p:nvSpPr>
        <p:spPr>
          <a:xfrm>
            <a:off x="365760" y="5166360"/>
            <a:ext cx="5577840" cy="404726"/>
          </a:xfrm>
          <a:prstGeom prst="rect">
            <a:avLst/>
          </a:prstGeom>
          <a:solidFill>
            <a:srgbClr val="FBE5D6"/>
          </a:solidFill>
        </p:spPr>
        <p:txBody>
          <a:bodyPr wrap="square" lIns="73152" tIns="36576" rIns="73152" bIns="36576" anchor="t">
            <a:spAutoFit/>
          </a:bodyPr>
          <a:lstStyle/>
          <a:p>
            <a:pPr algn="l">
              <a:spcAft>
                <a:spcPts val="300"/>
              </a:spcAft>
            </a:pPr>
            <a:r>
              <a:rPr sz="950" b="1" dirty="0" err="1">
                <a:solidFill>
                  <a:srgbClr val="2F5597"/>
                </a:solidFill>
                <a:latin typeface="맑은 고딕"/>
                <a:ea typeface="맑은 고딕"/>
              </a:rPr>
              <a:t>선택</a:t>
            </a:r>
            <a:r>
              <a:rPr sz="950" b="1" dirty="0">
                <a:solidFill>
                  <a:srgbClr val="2F5597"/>
                </a:solidFill>
                <a:latin typeface="맑은 고딕"/>
                <a:ea typeface="맑은 고딕"/>
              </a:rPr>
              <a:t> (별 </a:t>
            </a:r>
            <a:r>
              <a:rPr sz="950" b="1" dirty="0" err="1">
                <a:solidFill>
                  <a:srgbClr val="2F5597"/>
                </a:solidFill>
                <a:latin typeface="맑은 고딕"/>
                <a:ea typeface="맑은 고딕"/>
              </a:rPr>
              <a:t>합계</a:t>
            </a:r>
            <a:r>
              <a:rPr sz="950" b="1" dirty="0">
                <a:solidFill>
                  <a:srgbClr val="2F5597"/>
                </a:solidFill>
                <a:latin typeface="맑은 고딕"/>
                <a:ea typeface="맑은 고딕"/>
              </a:rPr>
              <a:t> → </a:t>
            </a:r>
            <a:r>
              <a:rPr sz="950" b="1" dirty="0" err="1">
                <a:solidFill>
                  <a:srgbClr val="2F5597"/>
                </a:solidFill>
                <a:latin typeface="맑은 고딕"/>
                <a:ea typeface="맑은 고딕"/>
              </a:rPr>
              <a:t>동점이면</a:t>
            </a:r>
            <a:r>
              <a:rPr sz="950" b="1" dirty="0">
                <a:solidFill>
                  <a:srgbClr val="2F5597"/>
                </a:solidFill>
                <a:latin typeface="맑은 고딕"/>
                <a:ea typeface="맑은 고딕"/>
              </a:rPr>
              <a:t> QA </a:t>
            </a:r>
            <a:r>
              <a:rPr sz="950" b="1" dirty="0" err="1">
                <a:solidFill>
                  <a:srgbClr val="2F5597"/>
                </a:solidFill>
                <a:latin typeface="맑은 고딕"/>
                <a:ea typeface="맑은 고딕"/>
              </a:rPr>
              <a:t>우선순위</a:t>
            </a:r>
            <a:r>
              <a:rPr sz="950" b="1" dirty="0">
                <a:solidFill>
                  <a:srgbClr val="2F5597"/>
                </a:solidFill>
                <a:latin typeface="맑은 고딕"/>
                <a:ea typeface="맑은 고딕"/>
              </a:rPr>
              <a:t> Q1&gt;Q2&gt;Q3&gt;Q4)</a:t>
            </a:r>
          </a:p>
          <a:p>
            <a:pPr algn="l">
              <a:spcAft>
                <a:spcPts val="300"/>
              </a:spcAft>
            </a:pPr>
            <a:r>
              <a:rPr sz="950" b="0" dirty="0" err="1">
                <a:solidFill>
                  <a:srgbClr val="000000"/>
                </a:solidFill>
                <a:latin typeface="맑은 고딕"/>
                <a:ea typeface="맑은 고딕"/>
              </a:rPr>
              <a:t>합계</a:t>
            </a:r>
            <a:r>
              <a:rPr sz="950" b="0" dirty="0">
                <a:solidFill>
                  <a:srgbClr val="000000"/>
                </a:solidFill>
                <a:latin typeface="맑은 고딕"/>
                <a:ea typeface="맑은 고딕"/>
              </a:rPr>
              <a:t> 9 대 9 </a:t>
            </a:r>
            <a:r>
              <a:rPr sz="950" b="0" dirty="0" err="1">
                <a:solidFill>
                  <a:srgbClr val="000000"/>
                </a:solidFill>
                <a:latin typeface="맑은 고딕"/>
                <a:ea typeface="맑은 고딕"/>
              </a:rPr>
              <a:t>동점</a:t>
            </a:r>
            <a:r>
              <a:rPr sz="950" b="0" dirty="0">
                <a:solidFill>
                  <a:srgbClr val="000000"/>
                </a:solidFill>
                <a:latin typeface="맑은 고딕"/>
                <a:ea typeface="맑은 고딕"/>
              </a:rPr>
              <a:t> → Q1 </a:t>
            </a:r>
            <a:r>
              <a:rPr sz="950" b="0" dirty="0" err="1">
                <a:solidFill>
                  <a:srgbClr val="000000"/>
                </a:solidFill>
                <a:latin typeface="맑은 고딕"/>
                <a:ea typeface="맑은 고딕"/>
              </a:rPr>
              <a:t>처리량</a:t>
            </a:r>
            <a:r>
              <a:rPr sz="950" b="0" dirty="0">
                <a:solidFill>
                  <a:srgbClr val="000000"/>
                </a:solidFill>
                <a:latin typeface="맑은 고딕"/>
                <a:ea typeface="맑은 고딕"/>
              </a:rPr>
              <a:t> </a:t>
            </a:r>
            <a:r>
              <a:rPr sz="950" b="0" dirty="0" err="1">
                <a:solidFill>
                  <a:srgbClr val="000000"/>
                </a:solidFill>
                <a:latin typeface="맑은 고딕"/>
                <a:ea typeface="맑은 고딕"/>
              </a:rPr>
              <a:t>동점</a:t>
            </a:r>
            <a:r>
              <a:rPr sz="950" b="0" dirty="0">
                <a:solidFill>
                  <a:srgbClr val="000000"/>
                </a:solidFill>
                <a:latin typeface="맑은 고딕"/>
                <a:ea typeface="맑은 고딕"/>
              </a:rPr>
              <a:t> → Q2 </a:t>
            </a:r>
            <a:r>
              <a:rPr sz="950" b="0" dirty="0" err="1">
                <a:solidFill>
                  <a:srgbClr val="000000"/>
                </a:solidFill>
                <a:latin typeface="맑은 고딕"/>
                <a:ea typeface="맑은 고딕"/>
              </a:rPr>
              <a:t>지연에서</a:t>
            </a:r>
            <a:r>
              <a:rPr sz="950" b="0" dirty="0">
                <a:solidFill>
                  <a:srgbClr val="000000"/>
                </a:solidFill>
                <a:latin typeface="맑은 고딕"/>
                <a:ea typeface="맑은 고딕"/>
              </a:rPr>
              <a:t> </a:t>
            </a:r>
            <a:r>
              <a:rPr sz="950" b="0" dirty="0" err="1">
                <a:solidFill>
                  <a:srgbClr val="000000"/>
                </a:solidFill>
                <a:latin typeface="맑은 고딕"/>
                <a:ea typeface="맑은 고딕"/>
              </a:rPr>
              <a:t>후보</a:t>
            </a:r>
            <a:r>
              <a:rPr sz="950" b="0" dirty="0">
                <a:solidFill>
                  <a:srgbClr val="000000"/>
                </a:solidFill>
                <a:latin typeface="맑은 고딕"/>
                <a:ea typeface="맑은 고딕"/>
              </a:rPr>
              <a:t> 2 </a:t>
            </a:r>
            <a:r>
              <a:rPr sz="950" b="0" dirty="0" err="1">
                <a:solidFill>
                  <a:srgbClr val="000000"/>
                </a:solidFill>
                <a:latin typeface="맑은 고딕"/>
                <a:ea typeface="맑은 고딕"/>
              </a:rPr>
              <a:t>우세</a:t>
            </a:r>
            <a:r>
              <a:rPr sz="950" b="0" dirty="0">
                <a:solidFill>
                  <a:srgbClr val="000000"/>
                </a:solidFill>
                <a:latin typeface="맑은 고딕"/>
                <a:ea typeface="맑은 고딕"/>
              </a:rPr>
              <a:t> → </a:t>
            </a:r>
            <a:r>
              <a:rPr sz="950" b="0" dirty="0" err="1">
                <a:solidFill>
                  <a:srgbClr val="000000"/>
                </a:solidFill>
                <a:latin typeface="맑은 고딕"/>
                <a:ea typeface="맑은 고딕"/>
              </a:rPr>
              <a:t>후보</a:t>
            </a:r>
            <a:r>
              <a:rPr sz="950" b="0" dirty="0">
                <a:solidFill>
                  <a:srgbClr val="000000"/>
                </a:solidFill>
                <a:latin typeface="맑은 고딕"/>
                <a:ea typeface="맑은 고딕"/>
              </a:rPr>
              <a:t> 2 </a:t>
            </a:r>
            <a:r>
              <a:rPr sz="950" b="0" dirty="0" err="1">
                <a:solidFill>
                  <a:srgbClr val="000000"/>
                </a:solidFill>
                <a:latin typeface="맑은 고딕"/>
                <a:ea typeface="맑은 고딕"/>
              </a:rPr>
              <a:t>선택</a:t>
            </a:r>
            <a:r>
              <a:rPr sz="950" b="0" dirty="0">
                <a:solidFill>
                  <a:srgbClr val="000000"/>
                </a:solidFill>
                <a:latin typeface="맑은 고딕"/>
                <a:ea typeface="맑은 고딕"/>
              </a:rPr>
              <a:t>.</a:t>
            </a:r>
          </a:p>
        </p:txBody>
      </p:sp>
      <p:sp>
        <p:nvSpPr>
          <p:cNvPr id="8" name="TextBox 7"/>
          <p:cNvSpPr txBox="1"/>
          <p:nvPr/>
        </p:nvSpPr>
        <p:spPr>
          <a:xfrm>
            <a:off x="6080760" y="5166360"/>
            <a:ext cx="5715000" cy="843308"/>
          </a:xfrm>
          <a:prstGeom prst="rect">
            <a:avLst/>
          </a:prstGeom>
          <a:solidFill>
            <a:srgbClr val="FFFBEA"/>
          </a:solidFill>
        </p:spPr>
        <p:txBody>
          <a:bodyPr wrap="square" lIns="73152" tIns="36576" rIns="73152" bIns="36576" anchor="t">
            <a:spAutoFit/>
          </a:bodyPr>
          <a:lstStyle/>
          <a:p>
            <a:pPr algn="l">
              <a:spcAft>
                <a:spcPts val="200"/>
              </a:spcAft>
            </a:pPr>
            <a:r>
              <a:rPr sz="900" b="1" dirty="0" err="1">
                <a:solidFill>
                  <a:srgbClr val="C00000"/>
                </a:solidFill>
                <a:latin typeface="맑은 고딕"/>
                <a:ea typeface="맑은 고딕"/>
              </a:rPr>
              <a:t>읽을</a:t>
            </a:r>
            <a:r>
              <a:rPr sz="900" b="1" dirty="0">
                <a:solidFill>
                  <a:srgbClr val="C00000"/>
                </a:solidFill>
                <a:latin typeface="맑은 고딕"/>
                <a:ea typeface="맑은 고딕"/>
              </a:rPr>
              <a:t> 때 </a:t>
            </a:r>
            <a:r>
              <a:rPr sz="900" b="1" dirty="0" err="1">
                <a:solidFill>
                  <a:srgbClr val="C00000"/>
                </a:solidFill>
                <a:latin typeface="맑은 고딕"/>
                <a:ea typeface="맑은 고딕"/>
              </a:rPr>
              <a:t>주의</a:t>
            </a:r>
            <a:endParaRPr sz="900" b="1" dirty="0">
              <a:solidFill>
                <a:srgbClr val="C00000"/>
              </a:solidFill>
              <a:latin typeface="맑은 고딕"/>
              <a:ea typeface="맑은 고딕"/>
            </a:endParaRPr>
          </a:p>
          <a:p>
            <a:pPr algn="l">
              <a:spcAft>
                <a:spcPts val="200"/>
              </a:spcAft>
            </a:pPr>
            <a:r>
              <a:rPr sz="900" b="0" dirty="0">
                <a:solidFill>
                  <a:srgbClr val="000000"/>
                </a:solidFill>
                <a:latin typeface="맑은 고딕"/>
                <a:ea typeface="맑은 고딕"/>
              </a:rPr>
              <a:t>• Q2 별 </a:t>
            </a:r>
            <a:r>
              <a:rPr sz="900" b="0" dirty="0" err="1">
                <a:solidFill>
                  <a:srgbClr val="000000"/>
                </a:solidFill>
                <a:latin typeface="맑은 고딕"/>
                <a:ea typeface="맑은 고딕"/>
              </a:rPr>
              <a:t>차이는</a:t>
            </a:r>
            <a:r>
              <a:rPr sz="900" b="0" dirty="0">
                <a:solidFill>
                  <a:srgbClr val="000000"/>
                </a:solidFill>
                <a:latin typeface="맑은 고딕"/>
                <a:ea typeface="맑은 고딕"/>
              </a:rPr>
              <a:t> TTFT 2 s </a:t>
            </a:r>
            <a:r>
              <a:rPr sz="900" b="0" dirty="0" err="1">
                <a:solidFill>
                  <a:srgbClr val="000000"/>
                </a:solidFill>
                <a:latin typeface="맑은 고딕"/>
                <a:ea typeface="맑은 고딕"/>
              </a:rPr>
              <a:t>경계를</a:t>
            </a:r>
            <a:r>
              <a:rPr sz="900" b="0" dirty="0">
                <a:solidFill>
                  <a:srgbClr val="000000"/>
                </a:solidFill>
                <a:latin typeface="맑은 고딕"/>
                <a:ea typeface="맑은 고딕"/>
              </a:rPr>
              <a:t> </a:t>
            </a:r>
            <a:r>
              <a:rPr sz="900" b="0" dirty="0" err="1">
                <a:solidFill>
                  <a:srgbClr val="000000"/>
                </a:solidFill>
                <a:latin typeface="맑은 고딕"/>
                <a:ea typeface="맑은 고딕"/>
              </a:rPr>
              <a:t>사이에</a:t>
            </a:r>
            <a:r>
              <a:rPr sz="900" b="0" dirty="0">
                <a:solidFill>
                  <a:srgbClr val="000000"/>
                </a:solidFill>
                <a:latin typeface="맑은 고딕"/>
                <a:ea typeface="맑은 고딕"/>
              </a:rPr>
              <a:t> 둔 약 6% </a:t>
            </a:r>
            <a:r>
              <a:rPr sz="900" b="0" dirty="0" err="1">
                <a:solidFill>
                  <a:srgbClr val="000000"/>
                </a:solidFill>
                <a:latin typeface="맑은 고딕"/>
                <a:ea typeface="맑은 고딕"/>
              </a:rPr>
              <a:t>차이에서</a:t>
            </a:r>
            <a:r>
              <a:rPr sz="900" b="0" dirty="0">
                <a:solidFill>
                  <a:srgbClr val="000000"/>
                </a:solidFill>
                <a:latin typeface="맑은 고딕"/>
                <a:ea typeface="맑은 고딕"/>
              </a:rPr>
              <a:t> </a:t>
            </a:r>
            <a:r>
              <a:rPr sz="900" b="0" dirty="0" err="1">
                <a:solidFill>
                  <a:srgbClr val="000000"/>
                </a:solidFill>
                <a:latin typeface="맑은 고딕"/>
                <a:ea typeface="맑은 고딕"/>
              </a:rPr>
              <a:t>갈린다</a:t>
            </a:r>
            <a:r>
              <a:rPr sz="900" b="0" dirty="0">
                <a:solidFill>
                  <a:srgbClr val="000000"/>
                </a:solidFill>
                <a:latin typeface="맑은 고딕"/>
                <a:ea typeface="맑은 고딕"/>
              </a:rPr>
              <a:t>.</a:t>
            </a:r>
          </a:p>
          <a:p>
            <a:pPr algn="l">
              <a:spcAft>
                <a:spcPts val="200"/>
              </a:spcAft>
            </a:pPr>
            <a:r>
              <a:rPr sz="900" b="0" dirty="0">
                <a:solidFill>
                  <a:srgbClr val="000000"/>
                </a:solidFill>
                <a:latin typeface="맑은 고딕"/>
                <a:ea typeface="맑은 고딕"/>
              </a:rPr>
              <a:t>• Q3의 ①②③은 </a:t>
            </a:r>
            <a:r>
              <a:rPr sz="900" b="0" dirty="0" err="1">
                <a:solidFill>
                  <a:srgbClr val="000000"/>
                </a:solidFill>
                <a:latin typeface="맑은 고딕"/>
                <a:ea typeface="맑은 고딕"/>
              </a:rPr>
              <a:t>같은</a:t>
            </a:r>
            <a:r>
              <a:rPr sz="900" b="0" dirty="0">
                <a:solidFill>
                  <a:srgbClr val="000000"/>
                </a:solidFill>
                <a:latin typeface="맑은 고딕"/>
                <a:ea typeface="맑은 고딕"/>
              </a:rPr>
              <a:t> </a:t>
            </a:r>
            <a:r>
              <a:rPr sz="900" b="0" dirty="0" err="1">
                <a:solidFill>
                  <a:srgbClr val="000000"/>
                </a:solidFill>
                <a:latin typeface="맑은 고딕"/>
                <a:ea typeface="맑은 고딕"/>
              </a:rPr>
              <a:t>시나리오</a:t>
            </a:r>
            <a:r>
              <a:rPr sz="900" b="0" dirty="0">
                <a:solidFill>
                  <a:srgbClr val="000000"/>
                </a:solidFill>
                <a:latin typeface="맑은 고딕"/>
                <a:ea typeface="맑은 고딕"/>
              </a:rPr>
              <a:t> </a:t>
            </a:r>
            <a:r>
              <a:rPr sz="900" b="0" dirty="0" err="1">
                <a:solidFill>
                  <a:srgbClr val="000000"/>
                </a:solidFill>
                <a:latin typeface="맑은 고딕"/>
                <a:ea typeface="맑은 고딕"/>
              </a:rPr>
              <a:t>사실에서</a:t>
            </a:r>
            <a:r>
              <a:rPr sz="900" b="0" dirty="0">
                <a:solidFill>
                  <a:srgbClr val="000000"/>
                </a:solidFill>
                <a:latin typeface="맑은 고딕"/>
                <a:ea typeface="맑은 고딕"/>
              </a:rPr>
              <a:t> </a:t>
            </a:r>
            <a:r>
              <a:rPr sz="900" b="0" dirty="0" err="1">
                <a:solidFill>
                  <a:srgbClr val="000000"/>
                </a:solidFill>
                <a:latin typeface="맑은 고딕"/>
                <a:ea typeface="맑은 고딕"/>
              </a:rPr>
              <a:t>계산해</a:t>
            </a:r>
            <a:r>
              <a:rPr sz="900" b="0" dirty="0">
                <a:solidFill>
                  <a:srgbClr val="000000"/>
                </a:solidFill>
                <a:latin typeface="맑은 고딕"/>
                <a:ea typeface="맑은 고딕"/>
              </a:rPr>
              <a:t> </a:t>
            </a:r>
            <a:r>
              <a:rPr sz="900" b="0" dirty="0" err="1">
                <a:solidFill>
                  <a:srgbClr val="000000"/>
                </a:solidFill>
                <a:latin typeface="맑은 고딕"/>
                <a:ea typeface="맑은 고딕"/>
              </a:rPr>
              <a:t>시나리오별</a:t>
            </a:r>
            <a:r>
              <a:rPr sz="900" b="0" dirty="0">
                <a:solidFill>
                  <a:srgbClr val="000000"/>
                </a:solidFill>
                <a:latin typeface="맑은 고딕"/>
                <a:ea typeface="맑은 고딕"/>
              </a:rPr>
              <a:t> </a:t>
            </a:r>
            <a:r>
              <a:rPr sz="900" b="0" dirty="0" err="1">
                <a:solidFill>
                  <a:srgbClr val="000000"/>
                </a:solidFill>
                <a:latin typeface="맑은 고딕"/>
                <a:ea typeface="맑은 고딕"/>
              </a:rPr>
              <a:t>우열</a:t>
            </a:r>
            <a:r>
              <a:rPr sz="900" b="0" dirty="0">
                <a:solidFill>
                  <a:srgbClr val="000000"/>
                </a:solidFill>
                <a:latin typeface="맑은 고딕"/>
                <a:ea typeface="맑은 고딕"/>
              </a:rPr>
              <a:t> </a:t>
            </a:r>
            <a:r>
              <a:rPr sz="900" b="0" dirty="0" err="1">
                <a:solidFill>
                  <a:srgbClr val="000000"/>
                </a:solidFill>
                <a:latin typeface="맑은 고딕"/>
                <a:ea typeface="맑은 고딕"/>
              </a:rPr>
              <a:t>방향이</a:t>
            </a:r>
            <a:r>
              <a:rPr sz="900" b="0" dirty="0">
                <a:solidFill>
                  <a:srgbClr val="000000"/>
                </a:solidFill>
                <a:latin typeface="맑은 고딕"/>
                <a:ea typeface="맑은 고딕"/>
              </a:rPr>
              <a:t> </a:t>
            </a:r>
            <a:r>
              <a:rPr sz="900" b="0" dirty="0" err="1">
                <a:solidFill>
                  <a:srgbClr val="000000"/>
                </a:solidFill>
                <a:latin typeface="맑은 고딕"/>
                <a:ea typeface="맑은 고딕"/>
              </a:rPr>
              <a:t>모두</a:t>
            </a:r>
            <a:r>
              <a:rPr sz="900" b="0" dirty="0">
                <a:solidFill>
                  <a:srgbClr val="000000"/>
                </a:solidFill>
                <a:latin typeface="맑은 고딕"/>
                <a:ea typeface="맑은 고딕"/>
              </a:rPr>
              <a:t> </a:t>
            </a:r>
            <a:r>
              <a:rPr sz="900" b="0" dirty="0" err="1">
                <a:solidFill>
                  <a:srgbClr val="000000"/>
                </a:solidFill>
                <a:latin typeface="맑은 고딕"/>
                <a:ea typeface="맑은 고딕"/>
              </a:rPr>
              <a:t>같다</a:t>
            </a:r>
            <a:r>
              <a:rPr sz="900" b="0" dirty="0">
                <a:solidFill>
                  <a:srgbClr val="000000"/>
                </a:solidFill>
                <a:latin typeface="맑은 고딕"/>
                <a:ea typeface="맑은 고딕"/>
              </a:rPr>
              <a:t>(S1·S5·S6 </a:t>
            </a:r>
            <a:r>
              <a:rPr sz="900" b="0" dirty="0" err="1">
                <a:solidFill>
                  <a:srgbClr val="000000"/>
                </a:solidFill>
                <a:latin typeface="맑은 고딕"/>
                <a:ea typeface="맑은 고딕"/>
              </a:rPr>
              <a:t>후보</a:t>
            </a:r>
            <a:r>
              <a:rPr sz="900" b="0" dirty="0">
                <a:solidFill>
                  <a:srgbClr val="000000"/>
                </a:solidFill>
                <a:latin typeface="맑은 고딕"/>
                <a:ea typeface="맑은 고딕"/>
              </a:rPr>
              <a:t> 1, S2~S4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 단 ① </a:t>
            </a:r>
            <a:r>
              <a:rPr sz="900" b="0" dirty="0" err="1">
                <a:solidFill>
                  <a:srgbClr val="000000"/>
                </a:solidFill>
                <a:latin typeface="맑은 고딕"/>
                <a:ea typeface="맑은 고딕"/>
              </a:rPr>
              <a:t>토큰</a:t>
            </a:r>
            <a:r>
              <a:rPr sz="900" b="0" dirty="0">
                <a:solidFill>
                  <a:srgbClr val="000000"/>
                </a:solidFill>
                <a:latin typeface="맑은 고딕"/>
                <a:ea typeface="맑은 고딕"/>
              </a:rPr>
              <a:t> </a:t>
            </a:r>
            <a:r>
              <a:rPr sz="900" b="0" dirty="0" err="1">
                <a:solidFill>
                  <a:srgbClr val="000000"/>
                </a:solidFill>
                <a:latin typeface="맑은 고딕"/>
                <a:ea typeface="맑은 고딕"/>
              </a:rPr>
              <a:t>cost는</a:t>
            </a:r>
            <a:r>
              <a:rPr sz="900" b="0" dirty="0">
                <a:solidFill>
                  <a:srgbClr val="000000"/>
                </a:solidFill>
                <a:latin typeface="맑은 고딕"/>
                <a:ea typeface="맑은 고딕"/>
              </a:rPr>
              <a:t> OSS </a:t>
            </a:r>
            <a:r>
              <a:rPr sz="900" b="0" dirty="0" err="1">
                <a:solidFill>
                  <a:srgbClr val="000000"/>
                </a:solidFill>
                <a:latin typeface="맑은 고딕"/>
                <a:ea typeface="맑은 고딕"/>
              </a:rPr>
              <a:t>탐색</a:t>
            </a:r>
            <a:r>
              <a:rPr sz="900" b="0" dirty="0">
                <a:solidFill>
                  <a:srgbClr val="000000"/>
                </a:solidFill>
                <a:latin typeface="맑은 고딕"/>
                <a:ea typeface="맑은 고딕"/>
              </a:rPr>
              <a:t> </a:t>
            </a:r>
            <a:r>
              <a:rPr sz="900" b="0" dirty="0" err="1">
                <a:solidFill>
                  <a:srgbClr val="000000"/>
                </a:solidFill>
                <a:latin typeface="맑은 고딕"/>
                <a:ea typeface="맑은 고딕"/>
              </a:rPr>
              <a:t>토큰</a:t>
            </a:r>
            <a:r>
              <a:rPr sz="900" b="0" dirty="0">
                <a:solidFill>
                  <a:srgbClr val="000000"/>
                </a:solidFill>
                <a:latin typeface="맑은 고딕"/>
                <a:ea typeface="맑은 고딕"/>
              </a:rPr>
              <a:t> </a:t>
            </a:r>
            <a:r>
              <a:rPr sz="900" b="0" dirty="0" err="1">
                <a:solidFill>
                  <a:srgbClr val="000000"/>
                </a:solidFill>
                <a:latin typeface="맑은 고딕"/>
                <a:ea typeface="맑은 고딕"/>
              </a:rPr>
              <a:t>가정에</a:t>
            </a:r>
            <a:r>
              <a:rPr sz="900" b="0" dirty="0">
                <a:solidFill>
                  <a:srgbClr val="000000"/>
                </a:solidFill>
                <a:latin typeface="맑은 고딕"/>
                <a:ea typeface="맑은 고딕"/>
              </a:rPr>
              <a:t> </a:t>
            </a:r>
            <a:r>
              <a:rPr sz="900" b="0" dirty="0" err="1">
                <a:solidFill>
                  <a:srgbClr val="000000"/>
                </a:solidFill>
                <a:latin typeface="맑은 고딕"/>
                <a:ea typeface="맑은 고딕"/>
              </a:rPr>
              <a:t>민감</a:t>
            </a:r>
            <a:r>
              <a:rPr lang="en-US" sz="900" b="0" dirty="0">
                <a:solidFill>
                  <a:srgbClr val="000000"/>
                </a:solidFill>
                <a:latin typeface="맑은 고딕"/>
                <a:ea typeface="맑은 고딕"/>
              </a:rPr>
              <a:t> </a:t>
            </a:r>
            <a:r>
              <a:rPr sz="900" b="0" dirty="0">
                <a:solidFill>
                  <a:srgbClr val="000000"/>
                </a:solidFill>
                <a:latin typeface="맑은 고딕"/>
                <a:ea typeface="맑은 고딕"/>
              </a:rPr>
              <a:t>(8장).</a:t>
            </a:r>
          </a:p>
          <a:p>
            <a:pPr algn="l">
              <a:spcAft>
                <a:spcPts val="200"/>
              </a:spcAft>
            </a:pPr>
            <a:r>
              <a:rPr sz="900" b="0" dirty="0">
                <a:solidFill>
                  <a:srgbClr val="000000"/>
                </a:solidFill>
                <a:latin typeface="맑은 고딕"/>
                <a:ea typeface="맑은 고딕"/>
              </a:rPr>
              <a:t>• Q4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 ★은 </a:t>
            </a:r>
            <a:r>
              <a:rPr sz="900" b="0" dirty="0" err="1">
                <a:solidFill>
                  <a:srgbClr val="000000"/>
                </a:solidFill>
                <a:latin typeface="맑은 고딕"/>
                <a:ea typeface="맑은 고딕"/>
              </a:rPr>
              <a:t>레플리카</a:t>
            </a:r>
            <a:r>
              <a:rPr sz="900" b="0" dirty="0">
                <a:solidFill>
                  <a:srgbClr val="000000"/>
                </a:solidFill>
                <a:latin typeface="맑은 고딕"/>
                <a:ea typeface="맑은 고딕"/>
              </a:rPr>
              <a:t> </a:t>
            </a:r>
            <a:r>
              <a:rPr sz="900" b="0" dirty="0" err="1">
                <a:solidFill>
                  <a:srgbClr val="000000"/>
                </a:solidFill>
                <a:latin typeface="맑은 고딕"/>
                <a:ea typeface="맑은 고딕"/>
              </a:rPr>
              <a:t>상태</a:t>
            </a:r>
            <a:r>
              <a:rPr sz="900" b="0" dirty="0">
                <a:solidFill>
                  <a:srgbClr val="000000"/>
                </a:solidFill>
                <a:latin typeface="맑은 고딕"/>
                <a:ea typeface="맑은 고딕"/>
              </a:rPr>
              <a:t> </a:t>
            </a:r>
            <a:r>
              <a:rPr sz="900" b="0" dirty="0" err="1">
                <a:solidFill>
                  <a:srgbClr val="000000"/>
                </a:solidFill>
                <a:latin typeface="맑은 고딕"/>
                <a:ea typeface="맑은 고딕"/>
              </a:rPr>
              <a:t>비공유의</a:t>
            </a:r>
            <a:r>
              <a:rPr sz="900" b="0" dirty="0">
                <a:solidFill>
                  <a:srgbClr val="000000"/>
                </a:solidFill>
                <a:latin typeface="맑은 고딕"/>
                <a:ea typeface="맑은 고딕"/>
              </a:rPr>
              <a:t> </a:t>
            </a:r>
            <a:r>
              <a:rPr sz="900" b="0" dirty="0" err="1">
                <a:solidFill>
                  <a:srgbClr val="000000"/>
                </a:solidFill>
                <a:latin typeface="맑은 고딕"/>
                <a:ea typeface="맑은 고딕"/>
              </a:rPr>
              <a:t>결과이며</a:t>
            </a:r>
            <a:r>
              <a:rPr sz="900" b="0" dirty="0">
                <a:solidFill>
                  <a:srgbClr val="000000"/>
                </a:solidFill>
                <a:latin typeface="맑은 고딕"/>
                <a:ea typeface="맑은 고딕"/>
              </a:rPr>
              <a:t> </a:t>
            </a:r>
            <a:r>
              <a:rPr sz="900" b="0" dirty="0" err="1">
                <a:solidFill>
                  <a:srgbClr val="000000"/>
                </a:solidFill>
                <a:latin typeface="맑은 고딕"/>
                <a:ea typeface="맑은 고딕"/>
              </a:rPr>
              <a:t>보완</a:t>
            </a:r>
            <a:r>
              <a:rPr sz="900" b="0" dirty="0">
                <a:solidFill>
                  <a:srgbClr val="000000"/>
                </a:solidFill>
                <a:latin typeface="맑은 고딕"/>
                <a:ea typeface="맑은 고딕"/>
              </a:rPr>
              <a:t> </a:t>
            </a:r>
            <a:r>
              <a:rPr sz="900" b="0" dirty="0" err="1">
                <a:solidFill>
                  <a:srgbClr val="000000"/>
                </a:solidFill>
                <a:latin typeface="맑은 고딕"/>
                <a:ea typeface="맑은 고딕"/>
              </a:rPr>
              <a:t>구조는</a:t>
            </a:r>
            <a:r>
              <a:rPr sz="900" b="0" dirty="0">
                <a:solidFill>
                  <a:srgbClr val="000000"/>
                </a:solidFill>
                <a:latin typeface="맑은 고딕"/>
                <a:ea typeface="맑은 고딕"/>
              </a:rPr>
              <a:t> </a:t>
            </a:r>
            <a:r>
              <a:rPr sz="900" b="0" dirty="0" err="1">
                <a:solidFill>
                  <a:srgbClr val="000000"/>
                </a:solidFill>
                <a:latin typeface="맑은 고딕"/>
                <a:ea typeface="맑은 고딕"/>
              </a:rPr>
              <a:t>설계</a:t>
            </a:r>
            <a:r>
              <a:rPr sz="900" b="0" dirty="0">
                <a:solidFill>
                  <a:srgbClr val="000000"/>
                </a:solidFill>
                <a:latin typeface="맑은 고딕"/>
                <a:ea typeface="맑은 고딕"/>
              </a:rPr>
              <a:t> </a:t>
            </a:r>
            <a:r>
              <a:rPr sz="900" b="0" dirty="0" err="1">
                <a:solidFill>
                  <a:srgbClr val="000000"/>
                </a:solidFill>
                <a:latin typeface="맑은 고딕"/>
                <a:ea typeface="맑은 고딕"/>
              </a:rPr>
              <a:t>문서</a:t>
            </a:r>
            <a:r>
              <a:rPr sz="900" b="0" dirty="0">
                <a:solidFill>
                  <a:srgbClr val="000000"/>
                </a:solidFill>
                <a:latin typeface="맑은 고딕"/>
                <a:ea typeface="맑은 고딕"/>
              </a:rPr>
              <a:t> </a:t>
            </a:r>
            <a:r>
              <a:rPr sz="900" b="0" dirty="0" err="1">
                <a:solidFill>
                  <a:srgbClr val="000000"/>
                </a:solidFill>
                <a:latin typeface="맑은 고딕"/>
                <a:ea typeface="맑은 고딕"/>
              </a:rPr>
              <a:t>다음</a:t>
            </a:r>
            <a:r>
              <a:rPr sz="900" b="0" dirty="0">
                <a:solidFill>
                  <a:srgbClr val="000000"/>
                </a:solidFill>
                <a:latin typeface="맑은 고딕"/>
                <a:ea typeface="맑은 고딕"/>
              </a:rPr>
              <a:t> </a:t>
            </a:r>
            <a:r>
              <a:rPr sz="900" b="0" dirty="0" err="1">
                <a:solidFill>
                  <a:srgbClr val="000000"/>
                </a:solidFill>
                <a:latin typeface="맑은 고딕"/>
                <a:ea typeface="맑은 고딕"/>
              </a:rPr>
              <a:t>장에</a:t>
            </a:r>
            <a:r>
              <a:rPr sz="900" b="0" dirty="0">
                <a:solidFill>
                  <a:srgbClr val="000000"/>
                </a:solidFill>
                <a:latin typeface="맑은 고딕"/>
                <a:ea typeface="맑은 고딕"/>
              </a:rPr>
              <a:t> </a:t>
            </a:r>
            <a:r>
              <a:rPr sz="900" b="0" dirty="0" err="1">
                <a:solidFill>
                  <a:srgbClr val="000000"/>
                </a:solidFill>
                <a:latin typeface="맑은 고딕"/>
                <a:ea typeface="맑은 고딕"/>
              </a:rPr>
              <a:t>있다</a:t>
            </a:r>
            <a:r>
              <a:rPr sz="900" b="0" dirty="0">
                <a:solidFill>
                  <a:srgbClr val="000000"/>
                </a:solidFill>
                <a:latin typeface="맑은 고딕"/>
                <a:ea typeface="맑은 고딕"/>
              </a:rPr>
              <a:t>.</a:t>
            </a:r>
          </a:p>
        </p:txBody>
      </p:sp>
      <p:sp>
        <p:nvSpPr>
          <p:cNvPr id="9" name="실행 단추: 뒤로 또는 이전 8">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4269081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Q1 </a:t>
            </a:r>
            <a:r>
              <a:rPr sz="2200" b="1" dirty="0" err="1">
                <a:solidFill>
                  <a:srgbClr val="2F5597"/>
                </a:solidFill>
                <a:latin typeface="맑은 고딕"/>
                <a:ea typeface="맑은 고딕"/>
              </a:rPr>
              <a:t>처리량</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공통</a:t>
            </a:r>
            <a:r>
              <a:rPr sz="1100" b="0" dirty="0">
                <a:solidFill>
                  <a:srgbClr val="404040"/>
                </a:solidFill>
                <a:latin typeface="맑은 고딕"/>
                <a:ea typeface="맑은 고딕"/>
              </a:rPr>
              <a:t> QA1 (Max SLO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 output </a:t>
            </a:r>
            <a:r>
              <a:rPr sz="1100" b="0" dirty="0" err="1">
                <a:solidFill>
                  <a:srgbClr val="404040"/>
                </a:solidFill>
                <a:latin typeface="맑은 고딕"/>
                <a:ea typeface="맑은 고딕"/>
              </a:rPr>
              <a:t>tok</a:t>
            </a:r>
            <a:r>
              <a:rPr sz="1100" b="0" dirty="0">
                <a:solidFill>
                  <a:srgbClr val="404040"/>
                </a:solidFill>
                <a:latin typeface="맑은 고딕"/>
                <a:ea typeface="맑은 고딕"/>
              </a:rPr>
              <a:t>/s) · </a:t>
            </a:r>
            <a:r>
              <a:rPr sz="1100" b="0" dirty="0" err="1">
                <a:solidFill>
                  <a:srgbClr val="404040"/>
                </a:solidFill>
                <a:latin typeface="맑은 고딕"/>
                <a:ea typeface="맑은 고딕"/>
              </a:rPr>
              <a:t>기준</a:t>
            </a:r>
            <a:r>
              <a:rPr sz="1100" b="0" dirty="0">
                <a:solidFill>
                  <a:srgbClr val="404040"/>
                </a:solidFill>
                <a:latin typeface="맑은 고딕"/>
                <a:ea typeface="맑은 고딕"/>
              </a:rPr>
              <a:t>: </a:t>
            </a:r>
            <a:r>
              <a:rPr sz="1100" b="0" dirty="0" err="1">
                <a:solidFill>
                  <a:srgbClr val="404040"/>
                </a:solidFill>
                <a:latin typeface="맑은 고딕"/>
                <a:ea typeface="맑은 고딕"/>
              </a:rPr>
              <a:t>후보의</a:t>
            </a:r>
            <a:r>
              <a:rPr sz="1100" b="0" dirty="0">
                <a:solidFill>
                  <a:srgbClr val="404040"/>
                </a:solidFill>
                <a:latin typeface="맑은 고딕"/>
                <a:ea typeface="맑은 고딕"/>
              </a:rPr>
              <a:t> Max SLO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 ÷ Baseline(</a:t>
            </a:r>
            <a:r>
              <a:rPr sz="1100" b="0" dirty="0" err="1">
                <a:solidFill>
                  <a:srgbClr val="404040"/>
                </a:solidFill>
                <a:latin typeface="맑은 고딕"/>
                <a:ea typeface="맑은 고딕"/>
              </a:rPr>
              <a:t>T_ref</a:t>
            </a:r>
            <a:r>
              <a:rPr sz="1100" b="0" dirty="0">
                <a:solidFill>
                  <a:srgbClr val="404040"/>
                </a:solidFill>
                <a:latin typeface="맑은 고딕"/>
                <a:ea typeface="맑은 고딕"/>
              </a:rPr>
              <a:t>)</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1682496"/>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4384210">
                  <a:extLst>
                    <a:ext uri="{9D8B030D-6E8A-4147-A177-3AD203B41FA5}">
                      <a16:colId xmlns:a16="http://schemas.microsoft.com/office/drawing/2014/main" val="20001"/>
                    </a:ext>
                  </a:extLst>
                </a:gridCol>
                <a:gridCol w="6158822">
                  <a:extLst>
                    <a:ext uri="{9D8B030D-6E8A-4147-A177-3AD203B41FA5}">
                      <a16:colId xmlns:a16="http://schemas.microsoft.com/office/drawing/2014/main" val="20002"/>
                    </a:ext>
                  </a:extLst>
                </a:gridCol>
              </a:tblGrid>
              <a:tr h="420624">
                <a:tc>
                  <a:txBody>
                    <a:bodyPr/>
                    <a:lstStyle/>
                    <a:p>
                      <a:pPr algn="ctr"/>
                      <a:r>
                        <a:rPr sz="10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1050" b="0">
                          <a:solidFill>
                            <a:srgbClr val="000000"/>
                          </a:solidFill>
                          <a:latin typeface="맑은 고딕"/>
                          <a:ea typeface="맑은 고딕"/>
                        </a:rPr>
                        <a:t>≥ 1.10 × T_ref</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50" b="0" dirty="0" err="1">
                          <a:solidFill>
                            <a:srgbClr val="000000"/>
                          </a:solidFill>
                          <a:latin typeface="맑은 고딕"/>
                          <a:ea typeface="맑은 고딕"/>
                        </a:rPr>
                        <a:t>정책</a:t>
                      </a:r>
                      <a:r>
                        <a:rPr sz="1050" b="0" dirty="0">
                          <a:solidFill>
                            <a:srgbClr val="000000"/>
                          </a:solidFill>
                          <a:latin typeface="맑은 고딕"/>
                          <a:ea typeface="맑은 고딕"/>
                        </a:rPr>
                        <a:t> </a:t>
                      </a:r>
                      <a:r>
                        <a:rPr sz="1050" b="0" dirty="0" err="1">
                          <a:solidFill>
                            <a:srgbClr val="000000"/>
                          </a:solidFill>
                          <a:latin typeface="맑은 고딕"/>
                          <a:ea typeface="맑은 고딕"/>
                        </a:rPr>
                        <a:t>도입으로</a:t>
                      </a:r>
                      <a:r>
                        <a:rPr sz="1050" b="0" dirty="0">
                          <a:solidFill>
                            <a:srgbClr val="000000"/>
                          </a:solidFill>
                          <a:latin typeface="맑은 고딕"/>
                          <a:ea typeface="맑은 고딕"/>
                        </a:rPr>
                        <a:t> </a:t>
                      </a:r>
                      <a:r>
                        <a:rPr sz="1050" b="0" dirty="0" err="1">
                          <a:solidFill>
                            <a:srgbClr val="000000"/>
                          </a:solidFill>
                          <a:latin typeface="맑은 고딕"/>
                          <a:ea typeface="맑은 고딕"/>
                        </a:rPr>
                        <a:t>SLO를</a:t>
                      </a:r>
                      <a:r>
                        <a:rPr sz="1050" b="0" dirty="0">
                          <a:solidFill>
                            <a:srgbClr val="000000"/>
                          </a:solidFill>
                          <a:latin typeface="맑은 고딕"/>
                          <a:ea typeface="맑은 고딕"/>
                        </a:rPr>
                        <a:t> </a:t>
                      </a:r>
                      <a:r>
                        <a:rPr sz="1050" b="0" dirty="0" err="1">
                          <a:solidFill>
                            <a:srgbClr val="000000"/>
                          </a:solidFill>
                          <a:latin typeface="맑은 고딕"/>
                          <a:ea typeface="맑은 고딕"/>
                        </a:rPr>
                        <a:t>지키면서</a:t>
                      </a:r>
                      <a:r>
                        <a:rPr sz="1050" b="0" dirty="0">
                          <a:solidFill>
                            <a:srgbClr val="000000"/>
                          </a:solidFill>
                          <a:latin typeface="맑은 고딕"/>
                          <a:ea typeface="맑은 고딕"/>
                        </a:rPr>
                        <a:t> 10% </a:t>
                      </a:r>
                      <a:r>
                        <a:rPr sz="1050" b="0" dirty="0" err="1">
                          <a:solidFill>
                            <a:srgbClr val="000000"/>
                          </a:solidFill>
                          <a:latin typeface="맑은 고딕"/>
                          <a:ea typeface="맑은 고딕"/>
                        </a:rPr>
                        <a:t>이상</a:t>
                      </a:r>
                      <a:r>
                        <a:rPr sz="1050" b="0" dirty="0">
                          <a:solidFill>
                            <a:srgbClr val="000000"/>
                          </a:solidFill>
                          <a:latin typeface="맑은 고딕"/>
                          <a:ea typeface="맑은 고딕"/>
                        </a:rPr>
                        <a:t> 더 </a:t>
                      </a:r>
                      <a:r>
                        <a:rPr sz="1050" b="0" dirty="0" err="1">
                          <a:solidFill>
                            <a:srgbClr val="000000"/>
                          </a:solidFill>
                          <a:latin typeface="맑은 고딕"/>
                          <a:ea typeface="맑은 고딕"/>
                        </a:rPr>
                        <a:t>처리</a:t>
                      </a:r>
                      <a:r>
                        <a:rPr sz="1050" b="0" dirty="0">
                          <a:solidFill>
                            <a:srgbClr val="000000"/>
                          </a:solidFill>
                          <a:latin typeface="맑은 고딕"/>
                          <a:ea typeface="맑은 고딕"/>
                        </a:rPr>
                        <a:t> = </a:t>
                      </a:r>
                      <a:r>
                        <a:rPr sz="1050" b="0" dirty="0" err="1">
                          <a:solidFill>
                            <a:srgbClr val="000000"/>
                          </a:solidFill>
                          <a:latin typeface="맑은 고딕"/>
                          <a:ea typeface="맑은 고딕"/>
                        </a:rPr>
                        <a:t>같은</a:t>
                      </a:r>
                      <a:r>
                        <a:rPr sz="1050" b="0" dirty="0">
                          <a:solidFill>
                            <a:srgbClr val="000000"/>
                          </a:solidFill>
                          <a:latin typeface="맑은 고딕"/>
                          <a:ea typeface="맑은 고딕"/>
                        </a:rPr>
                        <a:t> </a:t>
                      </a:r>
                      <a:r>
                        <a:rPr sz="1050" b="0" dirty="0" err="1">
                          <a:solidFill>
                            <a:srgbClr val="000000"/>
                          </a:solidFill>
                          <a:latin typeface="맑은 고딕"/>
                          <a:ea typeface="맑은 고딕"/>
                        </a:rPr>
                        <a:t>부하에</a:t>
                      </a:r>
                      <a:r>
                        <a:rPr sz="1050" b="0" dirty="0">
                          <a:solidFill>
                            <a:srgbClr val="000000"/>
                          </a:solidFill>
                          <a:latin typeface="맑은 고딕"/>
                          <a:ea typeface="맑은 고딕"/>
                        </a:rPr>
                        <a:t> </a:t>
                      </a:r>
                      <a:r>
                        <a:rPr sz="1050" b="0" dirty="0" err="1">
                          <a:solidFill>
                            <a:srgbClr val="000000"/>
                          </a:solidFill>
                          <a:latin typeface="맑은 고딕"/>
                          <a:ea typeface="맑은 고딕"/>
                        </a:rPr>
                        <a:t>노드</a:t>
                      </a:r>
                      <a:r>
                        <a:rPr sz="1050" b="0" dirty="0">
                          <a:solidFill>
                            <a:srgbClr val="000000"/>
                          </a:solidFill>
                          <a:latin typeface="맑은 고딕"/>
                          <a:ea typeface="맑은 고딕"/>
                        </a:rPr>
                        <a:t> 약 9% </a:t>
                      </a:r>
                      <a:r>
                        <a:rPr sz="1050" b="0" dirty="0" err="1">
                          <a:solidFill>
                            <a:srgbClr val="000000"/>
                          </a:solidFill>
                          <a:latin typeface="맑은 고딕"/>
                          <a:ea typeface="맑은 고딕"/>
                        </a:rPr>
                        <a:t>절감</a:t>
                      </a:r>
                      <a:r>
                        <a:rPr sz="1050" b="0" dirty="0">
                          <a:solidFill>
                            <a:srgbClr val="000000"/>
                          </a:solidFill>
                          <a:latin typeface="맑은 고딕"/>
                          <a:ea typeface="맑은 고딕"/>
                        </a:rPr>
                        <a:t>(1/1.10 </a:t>
                      </a:r>
                      <a:r>
                        <a:rPr sz="1050" b="0" dirty="0" err="1">
                          <a:solidFill>
                            <a:srgbClr val="000000"/>
                          </a:solidFill>
                          <a:latin typeface="맑은 고딕"/>
                          <a:ea typeface="맑은 고딕"/>
                        </a:rPr>
                        <a:t>환산</a:t>
                      </a:r>
                      <a:r>
                        <a:rPr sz="1050" b="0" dirty="0">
                          <a:solidFill>
                            <a:srgbClr val="000000"/>
                          </a:solidFill>
                          <a:latin typeface="맑은 고딕"/>
                          <a:ea typeface="맑은 고딕"/>
                        </a:rPr>
                        <a:t>)</a:t>
                      </a:r>
                      <a:endParaRPr lang="en-US" sz="10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1050" b="0">
                          <a:solidFill>
                            <a:srgbClr val="000000"/>
                          </a:solidFill>
                          <a:latin typeface="맑은 고딕"/>
                          <a:ea typeface="맑은 고딕"/>
                        </a:rPr>
                        <a:t>0.90 ~ 1.10 × T_ref</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50" b="0" dirty="0" err="1">
                          <a:solidFill>
                            <a:srgbClr val="000000"/>
                          </a:solidFill>
                          <a:latin typeface="맑은 고딕"/>
                          <a:ea typeface="맑은 고딕"/>
                        </a:rPr>
                        <a:t>Baseline과</a:t>
                      </a:r>
                      <a:r>
                        <a:rPr sz="1050" b="0" dirty="0">
                          <a:solidFill>
                            <a:srgbClr val="000000"/>
                          </a:solidFill>
                          <a:latin typeface="맑은 고딕"/>
                          <a:ea typeface="맑은 고딕"/>
                        </a:rPr>
                        <a:t> ±10% </a:t>
                      </a:r>
                      <a:r>
                        <a:rPr sz="1050" b="0" dirty="0" err="1">
                          <a:solidFill>
                            <a:srgbClr val="000000"/>
                          </a:solidFill>
                          <a:latin typeface="맑은 고딕"/>
                          <a:ea typeface="맑은 고딕"/>
                        </a:rPr>
                        <a:t>이내</a:t>
                      </a:r>
                      <a:r>
                        <a:rPr sz="1050" b="0" dirty="0">
                          <a:solidFill>
                            <a:srgbClr val="000000"/>
                          </a:solidFill>
                          <a:latin typeface="맑은 고딕"/>
                          <a:ea typeface="맑은 고딕"/>
                        </a:rPr>
                        <a:t> = </a:t>
                      </a:r>
                      <a:r>
                        <a:rPr sz="1050" b="0" dirty="0" err="1">
                          <a:solidFill>
                            <a:srgbClr val="000000"/>
                          </a:solidFill>
                          <a:latin typeface="맑은 고딕"/>
                          <a:ea typeface="맑은 고딕"/>
                        </a:rPr>
                        <a:t>처리량</a:t>
                      </a:r>
                      <a:r>
                        <a:rPr sz="1050" b="0" dirty="0">
                          <a:solidFill>
                            <a:srgbClr val="000000"/>
                          </a:solidFill>
                          <a:latin typeface="맑은 고딕"/>
                          <a:ea typeface="맑은 고딕"/>
                        </a:rPr>
                        <a:t> </a:t>
                      </a:r>
                      <a:r>
                        <a:rPr sz="1050" b="0" dirty="0" err="1">
                          <a:solidFill>
                            <a:srgbClr val="000000"/>
                          </a:solidFill>
                          <a:latin typeface="맑은 고딕"/>
                          <a:ea typeface="맑은 고딕"/>
                        </a:rPr>
                        <a:t>천장이</a:t>
                      </a:r>
                      <a:r>
                        <a:rPr sz="1050" b="0" dirty="0">
                          <a:solidFill>
                            <a:srgbClr val="000000"/>
                          </a:solidFill>
                          <a:latin typeface="맑은 고딕"/>
                          <a:ea typeface="맑은 고딕"/>
                        </a:rPr>
                        <a:t> </a:t>
                      </a:r>
                      <a:r>
                        <a:rPr sz="1050" b="0" dirty="0" err="1">
                          <a:solidFill>
                            <a:srgbClr val="000000"/>
                          </a:solidFill>
                          <a:latin typeface="맑은 고딕"/>
                          <a:ea typeface="맑은 고딕"/>
                        </a:rPr>
                        <a:t>같다고</a:t>
                      </a:r>
                      <a:r>
                        <a:rPr sz="1050" b="0" dirty="0">
                          <a:solidFill>
                            <a:srgbClr val="000000"/>
                          </a:solidFill>
                          <a:latin typeface="맑은 고딕"/>
                          <a:ea typeface="맑은 고딕"/>
                        </a:rPr>
                        <a:t> </a:t>
                      </a:r>
                      <a:r>
                        <a:rPr sz="1050" b="0" dirty="0" err="1">
                          <a:solidFill>
                            <a:srgbClr val="000000"/>
                          </a:solidFill>
                          <a:latin typeface="맑은 고딕"/>
                          <a:ea typeface="맑은 고딕"/>
                        </a:rPr>
                        <a:t>본다</a:t>
                      </a:r>
                      <a:r>
                        <a:rPr sz="1050" b="0" dirty="0">
                          <a:solidFill>
                            <a:srgbClr val="000000"/>
                          </a:solidFill>
                          <a:latin typeface="맑은 고딕"/>
                          <a:ea typeface="맑은 고딕"/>
                        </a:rPr>
                        <a:t> (</a:t>
                      </a:r>
                      <a:r>
                        <a:rPr sz="1050" b="0" dirty="0" err="1">
                          <a:solidFill>
                            <a:srgbClr val="000000"/>
                          </a:solidFill>
                          <a:latin typeface="맑은 고딕"/>
                          <a:ea typeface="맑은 고딕"/>
                        </a:rPr>
                        <a:t>재측정</a:t>
                      </a:r>
                      <a:r>
                        <a:rPr sz="1050" b="0" dirty="0">
                          <a:solidFill>
                            <a:srgbClr val="000000"/>
                          </a:solidFill>
                          <a:latin typeface="맑은 고딕"/>
                          <a:ea typeface="맑은 고딕"/>
                        </a:rPr>
                        <a:t> </a:t>
                      </a:r>
                      <a:r>
                        <a:rPr sz="1050" b="0" dirty="0" err="1">
                          <a:solidFill>
                            <a:srgbClr val="000000"/>
                          </a:solidFill>
                          <a:latin typeface="맑은 고딕"/>
                          <a:ea typeface="맑은 고딕"/>
                        </a:rPr>
                        <a:t>잡음</a:t>
                      </a:r>
                      <a:r>
                        <a:rPr sz="1050" b="0" dirty="0">
                          <a:solidFill>
                            <a:srgbClr val="000000"/>
                          </a:solidFill>
                          <a:latin typeface="맑은 고딕"/>
                          <a:ea typeface="맑은 고딕"/>
                        </a:rPr>
                        <a:t> </a:t>
                      </a:r>
                      <a:r>
                        <a:rPr sz="1050" b="0" dirty="0" err="1">
                          <a:solidFill>
                            <a:srgbClr val="000000"/>
                          </a:solidFill>
                          <a:latin typeface="맑은 고딕"/>
                          <a:ea typeface="맑은 고딕"/>
                        </a:rPr>
                        <a:t>폭은</a:t>
                      </a:r>
                      <a:r>
                        <a:rPr sz="1050" b="0" dirty="0">
                          <a:solidFill>
                            <a:srgbClr val="000000"/>
                          </a:solidFill>
                          <a:latin typeface="맑은 고딕"/>
                          <a:ea typeface="맑은 고딕"/>
                        </a:rPr>
                        <a:t> </a:t>
                      </a:r>
                      <a:r>
                        <a:rPr sz="1050" b="0" dirty="0" err="1">
                          <a:solidFill>
                            <a:srgbClr val="000000"/>
                          </a:solidFill>
                          <a:latin typeface="맑은 고딕"/>
                          <a:ea typeface="맑은 고딕"/>
                        </a:rPr>
                        <a:t>미측정</a:t>
                      </a:r>
                      <a:r>
                        <a:rPr sz="1050" b="0" dirty="0">
                          <a:solidFill>
                            <a:srgbClr val="000000"/>
                          </a:solidFill>
                          <a:latin typeface="맑은 고딕"/>
                          <a:ea typeface="맑은 고딕"/>
                        </a:rPr>
                        <a:t>, </a:t>
                      </a:r>
                      <a:r>
                        <a:rPr sz="1050" b="0" dirty="0" err="1">
                          <a:solidFill>
                            <a:srgbClr val="000000"/>
                          </a:solidFill>
                          <a:latin typeface="맑은 고딕"/>
                          <a:ea typeface="맑은 고딕"/>
                        </a:rPr>
                        <a:t>사전</a:t>
                      </a:r>
                      <a:r>
                        <a:rPr sz="1050" b="0" dirty="0">
                          <a:solidFill>
                            <a:srgbClr val="000000"/>
                          </a:solidFill>
                          <a:latin typeface="맑은 고딕"/>
                          <a:ea typeface="맑은 고딕"/>
                        </a:rPr>
                        <a:t> </a:t>
                      </a:r>
                      <a:r>
                        <a:rPr sz="1050" b="0" dirty="0" err="1">
                          <a:solidFill>
                            <a:srgbClr val="000000"/>
                          </a:solidFill>
                          <a:latin typeface="맑은 고딕"/>
                          <a:ea typeface="맑은 고딕"/>
                        </a:rPr>
                        <a:t>확인</a:t>
                      </a:r>
                      <a:r>
                        <a:rPr sz="1050" b="0" dirty="0">
                          <a:solidFill>
                            <a:srgbClr val="000000"/>
                          </a:solidFill>
                          <a:latin typeface="맑은 고딕"/>
                          <a:ea typeface="맑은 고딕"/>
                        </a:rPr>
                        <a:t> </a:t>
                      </a:r>
                      <a:r>
                        <a:rPr sz="1050" b="0" dirty="0" err="1">
                          <a:solidFill>
                            <a:srgbClr val="000000"/>
                          </a:solidFill>
                          <a:latin typeface="맑은 고딕"/>
                          <a:ea typeface="맑은 고딕"/>
                        </a:rPr>
                        <a:t>필요</a:t>
                      </a:r>
                      <a:r>
                        <a:rPr sz="10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1050" b="0">
                          <a:solidFill>
                            <a:srgbClr val="000000"/>
                          </a:solidFill>
                          <a:latin typeface="맑은 고딕"/>
                          <a:ea typeface="맑은 고딕"/>
                        </a:rPr>
                        <a:t>&lt; 0.90 × T_ref</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50" b="0" dirty="0" err="1">
                          <a:solidFill>
                            <a:srgbClr val="000000"/>
                          </a:solidFill>
                          <a:latin typeface="맑은 고딕"/>
                          <a:ea typeface="맑은 고딕"/>
                        </a:rPr>
                        <a:t>Baseline보다</a:t>
                      </a:r>
                      <a:r>
                        <a:rPr sz="1050" b="0" dirty="0">
                          <a:solidFill>
                            <a:srgbClr val="000000"/>
                          </a:solidFill>
                          <a:latin typeface="맑은 고딕"/>
                          <a:ea typeface="맑은 고딕"/>
                        </a:rPr>
                        <a:t> 10% </a:t>
                      </a:r>
                      <a:r>
                        <a:rPr sz="1050" b="0" dirty="0" err="1">
                          <a:solidFill>
                            <a:srgbClr val="000000"/>
                          </a:solidFill>
                          <a:latin typeface="맑은 고딕"/>
                          <a:ea typeface="맑은 고딕"/>
                        </a:rPr>
                        <a:t>넘게</a:t>
                      </a:r>
                      <a:r>
                        <a:rPr sz="1050" b="0" dirty="0">
                          <a:solidFill>
                            <a:srgbClr val="000000"/>
                          </a:solidFill>
                          <a:latin typeface="맑은 고딕"/>
                          <a:ea typeface="맑은 고딕"/>
                        </a:rPr>
                        <a:t> </a:t>
                      </a:r>
                      <a:r>
                        <a:rPr sz="1050" b="0" dirty="0" err="1">
                          <a:solidFill>
                            <a:srgbClr val="000000"/>
                          </a:solidFill>
                          <a:latin typeface="맑은 고딕"/>
                          <a:ea typeface="맑은 고딕"/>
                        </a:rPr>
                        <a:t>나쁨</a:t>
                      </a:r>
                      <a:r>
                        <a:rPr sz="1050" b="0" dirty="0">
                          <a:solidFill>
                            <a:srgbClr val="000000"/>
                          </a:solidFill>
                          <a:latin typeface="맑은 고딕"/>
                          <a:ea typeface="맑은 고딕"/>
                        </a:rPr>
                        <a:t> = </a:t>
                      </a:r>
                      <a:r>
                        <a:rPr sz="1050" b="0" dirty="0" err="1">
                          <a:solidFill>
                            <a:srgbClr val="000000"/>
                          </a:solidFill>
                          <a:latin typeface="맑은 고딕"/>
                          <a:ea typeface="맑은 고딕"/>
                        </a:rPr>
                        <a:t>도입</a:t>
                      </a:r>
                      <a:r>
                        <a:rPr sz="1050" b="0" dirty="0">
                          <a:solidFill>
                            <a:srgbClr val="000000"/>
                          </a:solidFill>
                          <a:latin typeface="맑은 고딕"/>
                          <a:ea typeface="맑은 고딕"/>
                        </a:rPr>
                        <a:t> </a:t>
                      </a:r>
                      <a:r>
                        <a:rPr sz="1050" b="0" dirty="0" err="1">
                          <a:solidFill>
                            <a:srgbClr val="000000"/>
                          </a:solidFill>
                          <a:latin typeface="맑은 고딕"/>
                          <a:ea typeface="맑은 고딕"/>
                        </a:rPr>
                        <a:t>근거</a:t>
                      </a:r>
                      <a:r>
                        <a:rPr sz="1050" b="0" dirty="0">
                          <a:solidFill>
                            <a:srgbClr val="000000"/>
                          </a:solidFill>
                          <a:latin typeface="맑은 고딕"/>
                          <a:ea typeface="맑은 고딕"/>
                        </a:rPr>
                        <a:t> </a:t>
                      </a:r>
                      <a:r>
                        <a:rPr sz="1050" b="0" dirty="0" err="1">
                          <a:solidFill>
                            <a:srgbClr val="000000"/>
                          </a:solidFill>
                          <a:latin typeface="맑은 고딕"/>
                          <a:ea typeface="맑은 고딕"/>
                        </a:rPr>
                        <a:t>없음</a:t>
                      </a:r>
                      <a:r>
                        <a:rPr sz="1050" b="0" dirty="0">
                          <a:solidFill>
                            <a:srgbClr val="000000"/>
                          </a:solidFill>
                          <a:latin typeface="맑은 고딕"/>
                          <a:ea typeface="맑은 고딕"/>
                        </a:rPr>
                        <a:t>. Baseline-regression </a:t>
                      </a:r>
                      <a:r>
                        <a:rPr sz="1050" b="0" dirty="0" err="1">
                          <a:solidFill>
                            <a:srgbClr val="000000"/>
                          </a:solidFill>
                          <a:latin typeface="맑은 고딕"/>
                          <a:ea typeface="맑은 고딕"/>
                        </a:rPr>
                        <a:t>대상</a:t>
                      </a:r>
                      <a:endParaRPr sz="10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008376"/>
            <a:ext cx="11430000" cy="274320"/>
          </a:xfrm>
          <a:prstGeom prst="rect">
            <a:avLst/>
          </a:prstGeom>
          <a:noFill/>
        </p:spPr>
        <p:txBody>
          <a:bodyPr wrap="square" lIns="73152" tIns="36576" rIns="73152" bIns="36576" anchor="t">
            <a:spAutoFit/>
          </a:bodyPr>
          <a:lstStyle/>
          <a:p>
            <a:pPr algn="l">
              <a:spcAft>
                <a:spcPts val="200"/>
              </a:spcAft>
            </a:pPr>
            <a:r>
              <a:rPr sz="1200" b="1">
                <a:solidFill>
                  <a:srgbClr val="2F5597"/>
                </a:solidFill>
                <a:latin typeface="맑은 고딕"/>
                <a:ea typeface="맑은 고딕"/>
              </a:rPr>
              <a:t>근거 내용</a:t>
            </a:r>
          </a:p>
        </p:txBody>
      </p:sp>
      <p:sp>
        <p:nvSpPr>
          <p:cNvPr id="7" name="TextBox 6"/>
          <p:cNvSpPr txBox="1"/>
          <p:nvPr/>
        </p:nvSpPr>
        <p:spPr>
          <a:xfrm>
            <a:off x="365760" y="3282696"/>
            <a:ext cx="5623560" cy="1997470"/>
          </a:xfrm>
          <a:prstGeom prst="rect">
            <a:avLst/>
          </a:prstGeom>
          <a:noFill/>
        </p:spPr>
        <p:txBody>
          <a:bodyPr wrap="square" lIns="73152" tIns="36576" rIns="73152" bIns="36576" anchor="t">
            <a:spAutoFit/>
          </a:bodyPr>
          <a:lstStyle/>
          <a:p>
            <a:pPr algn="l">
              <a:spcAft>
                <a:spcPts val="300"/>
              </a:spcAft>
            </a:pPr>
            <a:r>
              <a:rPr sz="1000" b="1" dirty="0" err="1">
                <a:solidFill>
                  <a:srgbClr val="000000"/>
                </a:solidFill>
                <a:latin typeface="맑은 고딕"/>
                <a:ea typeface="맑은 고딕"/>
              </a:rPr>
              <a:t>지표와</a:t>
            </a:r>
            <a:r>
              <a:rPr sz="1000" b="1" dirty="0">
                <a:solidFill>
                  <a:srgbClr val="000000"/>
                </a:solidFill>
                <a:latin typeface="맑은 고딕"/>
                <a:ea typeface="맑은 고딕"/>
              </a:rPr>
              <a:t> Baseline</a:t>
            </a:r>
          </a:p>
          <a:p>
            <a:pPr algn="l">
              <a:spcAft>
                <a:spcPts val="300"/>
              </a:spcAft>
            </a:pPr>
            <a:r>
              <a:rPr sz="1000" b="0" dirty="0">
                <a:solidFill>
                  <a:srgbClr val="000000"/>
                </a:solidFill>
                <a:latin typeface="맑은 고딕"/>
                <a:ea typeface="맑은 고딕"/>
              </a:rPr>
              <a:t>• Max SLO </a:t>
            </a:r>
            <a:r>
              <a:rPr sz="1000" b="0" dirty="0" err="1">
                <a:solidFill>
                  <a:srgbClr val="000000"/>
                </a:solidFill>
                <a:latin typeface="맑은 고딕"/>
                <a:ea typeface="맑은 고딕"/>
              </a:rPr>
              <a:t>Goodput</a:t>
            </a:r>
            <a:r>
              <a:rPr sz="1000" b="0" dirty="0">
                <a:solidFill>
                  <a:srgbClr val="000000"/>
                </a:solidFill>
                <a:latin typeface="맑은 고딕"/>
                <a:ea typeface="맑은 고딕"/>
              </a:rPr>
              <a:t> = </a:t>
            </a:r>
            <a:r>
              <a:rPr sz="1000" b="0" dirty="0" err="1">
                <a:solidFill>
                  <a:srgbClr val="000000"/>
                </a:solidFill>
                <a:latin typeface="맑은 고딕"/>
                <a:ea typeface="맑은 고딕"/>
              </a:rPr>
              <a:t>SLO를</a:t>
            </a:r>
            <a:r>
              <a:rPr sz="1000" b="0" dirty="0">
                <a:solidFill>
                  <a:srgbClr val="000000"/>
                </a:solidFill>
                <a:latin typeface="맑은 고딕"/>
                <a:ea typeface="맑은 고딕"/>
              </a:rPr>
              <a:t> </a:t>
            </a:r>
            <a:r>
              <a:rPr sz="1000" b="0" dirty="0" err="1">
                <a:solidFill>
                  <a:srgbClr val="000000"/>
                </a:solidFill>
                <a:latin typeface="맑은 고딕"/>
                <a:ea typeface="맑은 고딕"/>
              </a:rPr>
              <a:t>위반한</a:t>
            </a:r>
            <a:r>
              <a:rPr sz="1000" b="0" dirty="0">
                <a:solidFill>
                  <a:srgbClr val="000000"/>
                </a:solidFill>
                <a:latin typeface="맑은 고딕"/>
                <a:ea typeface="맑은 고딕"/>
              </a:rPr>
              <a:t> </a:t>
            </a:r>
            <a:r>
              <a:rPr sz="1000" b="0" dirty="0" err="1">
                <a:solidFill>
                  <a:srgbClr val="000000"/>
                </a:solidFill>
                <a:latin typeface="맑은 고딕"/>
                <a:ea typeface="맑은 고딕"/>
              </a:rPr>
              <a:t>요청의</a:t>
            </a:r>
            <a:r>
              <a:rPr sz="1000" b="0" dirty="0">
                <a:solidFill>
                  <a:srgbClr val="000000"/>
                </a:solidFill>
                <a:latin typeface="맑은 고딕"/>
                <a:ea typeface="맑은 고딕"/>
              </a:rPr>
              <a:t> </a:t>
            </a:r>
            <a:r>
              <a:rPr sz="1000" b="0" dirty="0" err="1">
                <a:solidFill>
                  <a:srgbClr val="000000"/>
                </a:solidFill>
                <a:latin typeface="맑은 고딕"/>
                <a:ea typeface="맑은 고딕"/>
              </a:rPr>
              <a:t>토큰을</a:t>
            </a:r>
            <a:r>
              <a:rPr sz="1000" b="0" dirty="0">
                <a:solidFill>
                  <a:srgbClr val="000000"/>
                </a:solidFill>
                <a:latin typeface="맑은 고딕"/>
                <a:ea typeface="맑은 고딕"/>
              </a:rPr>
              <a:t> 뺀 output </a:t>
            </a:r>
            <a:r>
              <a:rPr sz="1000" b="0" dirty="0" err="1">
                <a:solidFill>
                  <a:srgbClr val="000000"/>
                </a:solidFill>
                <a:latin typeface="맑은 고딕"/>
                <a:ea typeface="맑은 고딕"/>
              </a:rPr>
              <a:t>tok</a:t>
            </a:r>
            <a:r>
              <a:rPr sz="1000" b="0" dirty="0">
                <a:solidFill>
                  <a:srgbClr val="000000"/>
                </a:solidFill>
                <a:latin typeface="맑은 고딕"/>
                <a:ea typeface="맑은 고딕"/>
              </a:rPr>
              <a:t>/</a:t>
            </a:r>
            <a:r>
              <a:rPr sz="1000" b="0" dirty="0" err="1">
                <a:solidFill>
                  <a:srgbClr val="000000"/>
                </a:solidFill>
                <a:latin typeface="맑은 고딕"/>
                <a:ea typeface="맑은 고딕"/>
              </a:rPr>
              <a:t>s를</a:t>
            </a:r>
            <a:r>
              <a:rPr sz="1000" b="0" dirty="0">
                <a:solidFill>
                  <a:srgbClr val="000000"/>
                </a:solidFill>
                <a:latin typeface="맑은 고딕"/>
                <a:ea typeface="맑은 고딕"/>
              </a:rPr>
              <a:t> load </a:t>
            </a:r>
            <a:r>
              <a:rPr sz="1000" b="0" dirty="0" err="1">
                <a:solidFill>
                  <a:srgbClr val="000000"/>
                </a:solidFill>
                <a:latin typeface="맑은 고딕"/>
                <a:ea typeface="맑은 고딕"/>
              </a:rPr>
              <a:t>sweep으로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구해</a:t>
            </a:r>
            <a:r>
              <a:rPr sz="1000" b="0" dirty="0">
                <a:solidFill>
                  <a:srgbClr val="000000"/>
                </a:solidFill>
                <a:latin typeface="맑은 고딕"/>
                <a:ea typeface="맑은 고딕"/>
              </a:rPr>
              <a:t> </a:t>
            </a:r>
            <a:r>
              <a:rPr sz="1000" b="0" dirty="0" err="1">
                <a:solidFill>
                  <a:srgbClr val="000000"/>
                </a:solidFill>
                <a:latin typeface="맑은 고딕"/>
                <a:ea typeface="맑은 고딕"/>
              </a:rPr>
              <a:t>최대값을</a:t>
            </a:r>
            <a:r>
              <a:rPr sz="1000" b="0" dirty="0">
                <a:solidFill>
                  <a:srgbClr val="000000"/>
                </a:solidFill>
                <a:latin typeface="맑은 고딕"/>
                <a:ea typeface="맑은 고딕"/>
              </a:rPr>
              <a:t> </a:t>
            </a:r>
            <a:r>
              <a:rPr sz="1000" b="0" dirty="0" err="1">
                <a:solidFill>
                  <a:srgbClr val="000000"/>
                </a:solidFill>
                <a:latin typeface="맑은 고딕"/>
                <a:ea typeface="맑은 고딕"/>
              </a:rPr>
              <a:t>취한</a:t>
            </a:r>
            <a:r>
              <a:rPr sz="1000" b="0" dirty="0">
                <a:solidFill>
                  <a:srgbClr val="000000"/>
                </a:solidFill>
                <a:latin typeface="맑은 고딕"/>
                <a:ea typeface="맑은 고딕"/>
              </a:rPr>
              <a:t> 것 (</a:t>
            </a:r>
            <a:r>
              <a:rPr sz="1000" b="0" dirty="0" err="1">
                <a:solidFill>
                  <a:srgbClr val="000000"/>
                </a:solidFill>
                <a:latin typeface="맑은 고딕"/>
                <a:ea typeface="맑은 고딕"/>
              </a:rPr>
              <a:t>공통</a:t>
            </a:r>
            <a:r>
              <a:rPr sz="1000" b="0" dirty="0">
                <a:solidFill>
                  <a:srgbClr val="000000"/>
                </a:solidFill>
                <a:latin typeface="맑은 고딕"/>
                <a:ea typeface="맑은 고딕"/>
              </a:rPr>
              <a:t> §4).</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T_ref</a:t>
            </a:r>
            <a:r>
              <a:rPr sz="1000" b="0" dirty="0">
                <a:solidFill>
                  <a:srgbClr val="000000"/>
                </a:solidFill>
                <a:latin typeface="맑은 고딕"/>
                <a:ea typeface="맑은 고딕"/>
              </a:rPr>
              <a:t> = 3,200 </a:t>
            </a:r>
            <a:r>
              <a:rPr sz="1000" b="0" dirty="0" err="1">
                <a:solidFill>
                  <a:srgbClr val="000000"/>
                </a:solidFill>
                <a:latin typeface="맑은 고딕"/>
                <a:ea typeface="맑은 고딕"/>
              </a:rPr>
              <a:t>tok</a:t>
            </a:r>
            <a:r>
              <a:rPr sz="1000" b="0" dirty="0">
                <a:solidFill>
                  <a:srgbClr val="000000"/>
                </a:solidFill>
                <a:latin typeface="맑은 고딕"/>
                <a:ea typeface="맑은 고딕"/>
              </a:rPr>
              <a:t>/s (</a:t>
            </a:r>
            <a:r>
              <a:rPr sz="1000" b="0" dirty="0" err="1">
                <a:solidFill>
                  <a:srgbClr val="000000"/>
                </a:solidFill>
                <a:latin typeface="맑은 고딕"/>
                <a:ea typeface="맑은 고딕"/>
              </a:rPr>
              <a:t>가정</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a:t>
            </a:r>
            <a:r>
              <a:rPr sz="1000" b="0" dirty="0">
                <a:solidFill>
                  <a:srgbClr val="000000"/>
                </a:solidFill>
                <a:latin typeface="맑은 고딕"/>
                <a:ea typeface="맑은 고딕"/>
              </a:rPr>
              <a:t> </a:t>
            </a:r>
            <a:r>
              <a:rPr sz="1000" b="0" dirty="0" err="1">
                <a:solidFill>
                  <a:srgbClr val="000000"/>
                </a:solidFill>
                <a:latin typeface="맑은 고딕"/>
                <a:ea typeface="맑은 고딕"/>
              </a:rPr>
              <a:t>없는</a:t>
            </a:r>
            <a:r>
              <a:rPr sz="1000" b="0" dirty="0">
                <a:solidFill>
                  <a:srgbClr val="000000"/>
                </a:solidFill>
                <a:latin typeface="맑은 고딕"/>
                <a:ea typeface="맑은 고딕"/>
              </a:rPr>
              <a:t> </a:t>
            </a:r>
            <a:r>
              <a:rPr sz="1000" b="0" dirty="0" err="1">
                <a:solidFill>
                  <a:srgbClr val="000000"/>
                </a:solidFill>
                <a:latin typeface="맑은 고딕"/>
                <a:ea typeface="맑은 고딕"/>
              </a:rPr>
              <a:t>기본</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a:t>
            </a:r>
            <a:r>
              <a:rPr sz="1000" b="0" dirty="0">
                <a:solidFill>
                  <a:srgbClr val="000000"/>
                </a:solidFill>
                <a:latin typeface="맑은 고딕"/>
                <a:ea typeface="맑은 고딕"/>
              </a:rPr>
              <a:t>. </a:t>
            </a:r>
            <a:r>
              <a:rPr sz="1000" b="0" dirty="0" err="1">
                <a:solidFill>
                  <a:srgbClr val="000000"/>
                </a:solidFill>
                <a:latin typeface="맑은 고딕"/>
                <a:ea typeface="맑은 고딕"/>
              </a:rPr>
              <a:t>공통</a:t>
            </a:r>
            <a:r>
              <a:rPr sz="1000" b="0" dirty="0">
                <a:solidFill>
                  <a:srgbClr val="000000"/>
                </a:solidFill>
                <a:latin typeface="맑은 고딕"/>
                <a:ea typeface="맑은 고딕"/>
              </a:rPr>
              <a:t> </a:t>
            </a:r>
            <a:r>
              <a:rPr sz="1000" b="0" dirty="0" err="1">
                <a:solidFill>
                  <a:srgbClr val="000000"/>
                </a:solidFill>
                <a:latin typeface="맑은 고딕"/>
                <a:ea typeface="맑은 고딕"/>
              </a:rPr>
              <a:t>벤치마크는</a:t>
            </a:r>
            <a:r>
              <a:rPr sz="1000" b="0" dirty="0">
                <a:solidFill>
                  <a:srgbClr val="000000"/>
                </a:solidFill>
                <a:latin typeface="맑은 고딕"/>
                <a:ea typeface="맑은 고딕"/>
              </a:rPr>
              <a:t> prefix </a:t>
            </a:r>
            <a:r>
              <a:rPr sz="1000" b="0" dirty="0" err="1">
                <a:solidFill>
                  <a:srgbClr val="000000"/>
                </a:solidFill>
                <a:latin typeface="맑은 고딕"/>
                <a:ea typeface="맑은 고딕"/>
              </a:rPr>
              <a:t>reuse를</a:t>
            </a:r>
            <a:r>
              <a:rPr sz="1000" b="0" dirty="0">
                <a:solidFill>
                  <a:srgbClr val="000000"/>
                </a:solidFill>
                <a:latin typeface="맑은 고딕"/>
                <a:ea typeface="맑은 고딕"/>
              </a:rPr>
              <a:t> </a:t>
            </a:r>
            <a:r>
              <a:rPr sz="1000" b="0" dirty="0" err="1">
                <a:solidFill>
                  <a:srgbClr val="000000"/>
                </a:solidFill>
                <a:latin typeface="맑은 고딕"/>
                <a:ea typeface="맑은 고딕"/>
              </a:rPr>
              <a:t>통제하므로</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정책의</a:t>
            </a:r>
            <a:r>
              <a:rPr sz="1000" b="0" dirty="0">
                <a:solidFill>
                  <a:srgbClr val="000000"/>
                </a:solidFill>
                <a:latin typeface="맑은 고딕"/>
                <a:ea typeface="맑은 고딕"/>
              </a:rPr>
              <a:t> </a:t>
            </a:r>
            <a:r>
              <a:rPr sz="1000" b="0" dirty="0" err="1">
                <a:solidFill>
                  <a:srgbClr val="000000"/>
                </a:solidFill>
                <a:latin typeface="맑은 고딕"/>
                <a:ea typeface="맑은 고딕"/>
              </a:rPr>
              <a:t>이득이</a:t>
            </a:r>
            <a:r>
              <a:rPr sz="1000" b="0" dirty="0">
                <a:solidFill>
                  <a:srgbClr val="000000"/>
                </a:solidFill>
                <a:latin typeface="맑은 고딕"/>
                <a:ea typeface="맑은 고딕"/>
              </a:rPr>
              <a:t> </a:t>
            </a:r>
            <a:r>
              <a:rPr sz="1000" b="0" dirty="0" err="1">
                <a:solidFill>
                  <a:srgbClr val="000000"/>
                </a:solidFill>
                <a:latin typeface="맑은 고딕"/>
                <a:ea typeface="맑은 고딕"/>
              </a:rPr>
              <a:t>크지</a:t>
            </a:r>
            <a:r>
              <a:rPr sz="1000" b="0" dirty="0">
                <a:solidFill>
                  <a:srgbClr val="000000"/>
                </a:solidFill>
                <a:latin typeface="맑은 고딕"/>
                <a:ea typeface="맑은 고딕"/>
              </a:rPr>
              <a:t> </a:t>
            </a:r>
            <a:r>
              <a:rPr sz="1000" b="0" dirty="0" err="1">
                <a:solidFill>
                  <a:srgbClr val="000000"/>
                </a:solidFill>
                <a:latin typeface="맑은 고딕"/>
                <a:ea typeface="맑은 고딕"/>
              </a:rPr>
              <a:t>않게</a:t>
            </a:r>
            <a:r>
              <a:rPr sz="1000" b="0" dirty="0">
                <a:solidFill>
                  <a:srgbClr val="000000"/>
                </a:solidFill>
                <a:latin typeface="맑은 고딕"/>
                <a:ea typeface="맑은 고딕"/>
              </a:rPr>
              <a:t> </a:t>
            </a:r>
            <a:r>
              <a:rPr sz="1000" b="0" dirty="0" err="1">
                <a:solidFill>
                  <a:srgbClr val="000000"/>
                </a:solidFill>
                <a:latin typeface="맑은 고딕"/>
                <a:ea typeface="맑은 고딕"/>
              </a:rPr>
              <a:t>나온다</a:t>
            </a:r>
            <a:r>
              <a:rPr sz="1000" b="0" dirty="0">
                <a:solidFill>
                  <a:srgbClr val="000000"/>
                </a:solidFill>
                <a:latin typeface="맑은 고딕"/>
                <a:ea typeface="맑은 고딕"/>
              </a:rPr>
              <a:t>.</a:t>
            </a:r>
            <a:endParaRPr lang="en-US" sz="1000" b="0" dirty="0">
              <a:solidFill>
                <a:srgbClr val="000000"/>
              </a:solidFill>
              <a:latin typeface="맑은 고딕"/>
              <a:ea typeface="맑은 고딕"/>
            </a:endParaRPr>
          </a:p>
          <a:p>
            <a:pPr algn="l">
              <a:spcAft>
                <a:spcPts val="300"/>
              </a:spcAft>
            </a:pPr>
            <a:endParaRPr sz="1000" b="0" dirty="0">
              <a:solidFill>
                <a:srgbClr val="000000"/>
              </a:solidFill>
              <a:latin typeface="맑은 고딕"/>
              <a:ea typeface="맑은 고딕"/>
            </a:endParaRPr>
          </a:p>
          <a:p>
            <a:pPr algn="l">
              <a:spcAft>
                <a:spcPts val="300"/>
              </a:spcAft>
            </a:pPr>
            <a:r>
              <a:rPr sz="1000" b="1" dirty="0" err="1">
                <a:solidFill>
                  <a:srgbClr val="000000"/>
                </a:solidFill>
                <a:latin typeface="맑은 고딕"/>
                <a:ea typeface="맑은 고딕"/>
              </a:rPr>
              <a:t>예상치</a:t>
            </a:r>
            <a:r>
              <a:rPr sz="1000" b="1" dirty="0">
                <a:solidFill>
                  <a:srgbClr val="000000"/>
                </a:solidFill>
                <a:latin typeface="맑은 고딕"/>
                <a:ea typeface="맑은 고딕"/>
              </a:rPr>
              <a:t> </a:t>
            </a:r>
            <a:r>
              <a:rPr sz="1000" b="1" dirty="0" err="1">
                <a:solidFill>
                  <a:srgbClr val="000000"/>
                </a:solidFill>
                <a:latin typeface="맑은 고딕"/>
                <a:ea typeface="맑은 고딕"/>
              </a:rPr>
              <a:t>산출</a:t>
            </a:r>
            <a:endParaRPr sz="1000" b="1"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1: 3,360 (×1.05). P1~P4는 </a:t>
            </a:r>
            <a:r>
              <a:rPr sz="1000" b="0" dirty="0" err="1">
                <a:solidFill>
                  <a:srgbClr val="000000"/>
                </a:solidFill>
                <a:latin typeface="맑은 고딕"/>
                <a:ea typeface="맑은 고딕"/>
              </a:rPr>
              <a:t>설정·plugin으로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캐시·메모리</a:t>
            </a:r>
            <a:r>
              <a:rPr sz="1000" b="0" dirty="0">
                <a:solidFill>
                  <a:srgbClr val="000000"/>
                </a:solidFill>
                <a:latin typeface="맑은 고딕"/>
                <a:ea typeface="맑은 고딕"/>
              </a:rPr>
              <a:t> </a:t>
            </a:r>
            <a:r>
              <a:rPr sz="1000" b="0" dirty="0" err="1">
                <a:solidFill>
                  <a:srgbClr val="000000"/>
                </a:solidFill>
                <a:latin typeface="맑은 고딕"/>
                <a:ea typeface="맑은 고딕"/>
              </a:rPr>
              <a:t>상태</a:t>
            </a:r>
            <a:r>
              <a:rPr sz="1000" b="0" dirty="0">
                <a:solidFill>
                  <a:srgbClr val="000000"/>
                </a:solidFill>
                <a:latin typeface="맑은 고딕"/>
                <a:ea typeface="맑은 고딕"/>
              </a:rPr>
              <a:t> </a:t>
            </a:r>
            <a:r>
              <a:rPr sz="1000" b="0" dirty="0" err="1">
                <a:solidFill>
                  <a:srgbClr val="000000"/>
                </a:solidFill>
                <a:latin typeface="맑은 고딕"/>
                <a:ea typeface="맑은 고딕"/>
              </a:rPr>
              <a:t>인지</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라우팅을</a:t>
            </a:r>
            <a:r>
              <a:rPr sz="1000" b="0" dirty="0">
                <a:solidFill>
                  <a:srgbClr val="000000"/>
                </a:solidFill>
                <a:latin typeface="맑은 고딕"/>
                <a:ea typeface="맑은 고딕"/>
              </a:rPr>
              <a:t> </a:t>
            </a:r>
            <a:r>
              <a:rPr sz="1000" b="0" dirty="0" err="1">
                <a:solidFill>
                  <a:srgbClr val="000000"/>
                </a:solidFill>
                <a:latin typeface="맑은 고딕"/>
                <a:ea typeface="맑은 고딕"/>
              </a:rPr>
              <a:t>구현해</a:t>
            </a:r>
            <a:r>
              <a:rPr sz="1000" b="0" dirty="0">
                <a:solidFill>
                  <a:srgbClr val="000000"/>
                </a:solidFill>
                <a:latin typeface="맑은 고딕"/>
                <a:ea typeface="맑은 고딕"/>
              </a:rPr>
              <a:t> </a:t>
            </a:r>
            <a:r>
              <a:rPr sz="1000" b="0" dirty="0" err="1">
                <a:solidFill>
                  <a:srgbClr val="000000"/>
                </a:solidFill>
                <a:latin typeface="맑은 고딕"/>
                <a:ea typeface="맑은 고딕"/>
              </a:rPr>
              <a:t>낭비를</a:t>
            </a:r>
            <a:r>
              <a:rPr sz="1000" b="0" dirty="0">
                <a:solidFill>
                  <a:srgbClr val="000000"/>
                </a:solidFill>
                <a:latin typeface="맑은 고딕"/>
                <a:ea typeface="맑은 고딕"/>
              </a:rPr>
              <a:t> </a:t>
            </a:r>
            <a:r>
              <a:rPr sz="1000" b="0" dirty="0" err="1">
                <a:solidFill>
                  <a:srgbClr val="000000"/>
                </a:solidFill>
                <a:latin typeface="맑은 고딕"/>
                <a:ea typeface="맑은 고딕"/>
              </a:rPr>
              <a:t>줄인다</a:t>
            </a:r>
            <a:r>
              <a:rPr sz="1000" b="0" dirty="0">
                <a:solidFill>
                  <a:srgbClr val="000000"/>
                </a:solidFill>
                <a:latin typeface="맑은 고딕"/>
                <a:ea typeface="맑은 고딕"/>
              </a:rPr>
              <a:t>.</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2: 3,340 (×1.04). </a:t>
            </a:r>
            <a:r>
              <a:rPr sz="1000" b="0" dirty="0" err="1">
                <a:solidFill>
                  <a:srgbClr val="000000"/>
                </a:solidFill>
                <a:latin typeface="맑은 고딕"/>
                <a:ea typeface="맑은 고딕"/>
              </a:rPr>
              <a:t>같은</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a:t>
            </a:r>
            <a:r>
              <a:rPr sz="1000" b="0" dirty="0">
                <a:solidFill>
                  <a:srgbClr val="000000"/>
                </a:solidFill>
                <a:latin typeface="맑은 고딕"/>
                <a:ea typeface="맑은 고딕"/>
              </a:rPr>
              <a:t> P1~P5를 </a:t>
            </a:r>
            <a:r>
              <a:rPr sz="1000" b="0" dirty="0" err="1">
                <a:solidFill>
                  <a:srgbClr val="000000"/>
                </a:solidFill>
                <a:latin typeface="맑은 고딕"/>
                <a:ea typeface="맑은 고딕"/>
              </a:rPr>
              <a:t>표현하므로</a:t>
            </a:r>
            <a:r>
              <a:rPr sz="1000" b="0" dirty="0">
                <a:solidFill>
                  <a:srgbClr val="000000"/>
                </a:solidFill>
                <a:latin typeface="맑은 고딕"/>
                <a:ea typeface="맑은 고딕"/>
              </a:rPr>
              <a:t> </a:t>
            </a:r>
            <a:r>
              <a:rPr sz="1000" b="0" dirty="0" err="1">
                <a:solidFill>
                  <a:srgbClr val="000000"/>
                </a:solidFill>
                <a:latin typeface="맑은 고딕"/>
                <a:ea typeface="맑은 고딕"/>
              </a:rPr>
              <a:t>천장이</a:t>
            </a:r>
            <a:r>
              <a:rPr sz="1000" b="0" dirty="0">
                <a:solidFill>
                  <a:srgbClr val="000000"/>
                </a:solidFill>
                <a:latin typeface="맑은 고딕"/>
                <a:ea typeface="맑은 고딕"/>
              </a:rPr>
              <a:t> </a:t>
            </a:r>
            <a:r>
              <a:rPr sz="1000" b="0" dirty="0" err="1">
                <a:solidFill>
                  <a:srgbClr val="000000"/>
                </a:solidFill>
                <a:latin typeface="맑은 고딕"/>
                <a:ea typeface="맑은 고딕"/>
              </a:rPr>
              <a:t>같다</a:t>
            </a:r>
            <a:r>
              <a:rPr sz="1000" b="0" dirty="0">
                <a:solidFill>
                  <a:srgbClr val="000000"/>
                </a:solidFill>
                <a:latin typeface="맑은 고딕"/>
                <a:ea typeface="맑은 고딕"/>
              </a:rPr>
              <a:t>. 0.6% </a:t>
            </a:r>
            <a:r>
              <a:rPr sz="1000" b="0" dirty="0" err="1">
                <a:solidFill>
                  <a:srgbClr val="000000"/>
                </a:solidFill>
                <a:latin typeface="맑은 고딕"/>
                <a:ea typeface="맑은 고딕"/>
              </a:rPr>
              <a:t>차이는</a:t>
            </a:r>
            <a:r>
              <a:rPr sz="1000" b="0" dirty="0">
                <a:solidFill>
                  <a:srgbClr val="000000"/>
                </a:solidFill>
                <a:latin typeface="맑은 고딕"/>
                <a:ea typeface="맑은 고딕"/>
              </a:rPr>
              <a:t> </a:t>
            </a:r>
            <a:r>
              <a:rPr sz="1000" b="0" dirty="0" err="1">
                <a:solidFill>
                  <a:srgbClr val="000000"/>
                </a:solidFill>
                <a:latin typeface="맑은 고딕"/>
                <a:ea typeface="맑은 고딕"/>
              </a:rPr>
              <a:t>잡음</a:t>
            </a:r>
            <a:r>
              <a:rPr sz="1000" b="0" dirty="0">
                <a:solidFill>
                  <a:srgbClr val="000000"/>
                </a:solidFill>
                <a:latin typeface="맑은 고딕"/>
                <a:ea typeface="맑은 고딕"/>
              </a:rPr>
              <a:t> </a:t>
            </a:r>
            <a:r>
              <a:rPr sz="1000" b="0" dirty="0" err="1">
                <a:solidFill>
                  <a:srgbClr val="000000"/>
                </a:solidFill>
                <a:latin typeface="맑은 고딕"/>
                <a:ea typeface="맑은 고딕"/>
              </a:rPr>
              <a:t>이하로</a:t>
            </a:r>
            <a:r>
              <a:rPr sz="1000" b="0" dirty="0">
                <a:solidFill>
                  <a:srgbClr val="000000"/>
                </a:solidFill>
                <a:latin typeface="맑은 고딕"/>
                <a:ea typeface="맑은 고딕"/>
              </a:rPr>
              <a:t> </a:t>
            </a:r>
            <a:r>
              <a:rPr sz="1000" b="0" dirty="0" err="1">
                <a:solidFill>
                  <a:srgbClr val="000000"/>
                </a:solidFill>
                <a:latin typeface="맑은 고딕"/>
                <a:ea typeface="맑은 고딕"/>
              </a:rPr>
              <a:t>가정</a:t>
            </a:r>
            <a:r>
              <a:rPr sz="1000" b="0" dirty="0">
                <a:solidFill>
                  <a:srgbClr val="000000"/>
                </a:solidFill>
                <a:latin typeface="맑은 고딕"/>
                <a:ea typeface="맑은 고딕"/>
              </a:rPr>
              <a:t>.</a:t>
            </a:r>
          </a:p>
        </p:txBody>
      </p:sp>
      <p:sp>
        <p:nvSpPr>
          <p:cNvPr id="8" name="TextBox 7"/>
          <p:cNvSpPr txBox="1"/>
          <p:nvPr/>
        </p:nvSpPr>
        <p:spPr>
          <a:xfrm>
            <a:off x="6126480" y="3282696"/>
            <a:ext cx="5696712" cy="766364"/>
          </a:xfrm>
          <a:prstGeom prst="rect">
            <a:avLst/>
          </a:prstGeom>
          <a:noFill/>
        </p:spPr>
        <p:txBody>
          <a:bodyPr wrap="square" lIns="73152" tIns="36576" rIns="73152" bIns="36576" anchor="t">
            <a:spAutoFit/>
          </a:bodyPr>
          <a:lstStyle/>
          <a:p>
            <a:pPr algn="l">
              <a:spcAft>
                <a:spcPts val="300"/>
              </a:spcAft>
            </a:pPr>
            <a:r>
              <a:rPr sz="1000" b="1" dirty="0">
                <a:solidFill>
                  <a:srgbClr val="000000"/>
                </a:solidFill>
                <a:latin typeface="맑은 고딕"/>
                <a:ea typeface="맑은 고딕"/>
              </a:rPr>
              <a:t>왜 둘 다 ★★</a:t>
            </a:r>
            <a:r>
              <a:rPr sz="1000" b="1" dirty="0" err="1">
                <a:solidFill>
                  <a:srgbClr val="000000"/>
                </a:solidFill>
                <a:latin typeface="맑은 고딕"/>
                <a:ea typeface="맑은 고딕"/>
              </a:rPr>
              <a:t>인가</a:t>
            </a:r>
            <a:endParaRPr sz="1000" b="1"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처리량</a:t>
            </a:r>
            <a:r>
              <a:rPr sz="1000" b="0" dirty="0">
                <a:solidFill>
                  <a:srgbClr val="000000"/>
                </a:solidFill>
                <a:latin typeface="맑은 고딕"/>
                <a:ea typeface="맑은 고딕"/>
              </a:rPr>
              <a:t> </a:t>
            </a:r>
            <a:r>
              <a:rPr sz="1000" b="0" dirty="0" err="1">
                <a:solidFill>
                  <a:srgbClr val="000000"/>
                </a:solidFill>
                <a:latin typeface="맑은 고딕"/>
                <a:ea typeface="맑은 고딕"/>
              </a:rPr>
              <a:t>한계는</a:t>
            </a:r>
            <a:r>
              <a:rPr sz="1000" b="0" dirty="0">
                <a:solidFill>
                  <a:srgbClr val="000000"/>
                </a:solidFill>
                <a:latin typeface="맑은 고딕"/>
                <a:ea typeface="맑은 고딕"/>
              </a:rPr>
              <a:t> </a:t>
            </a:r>
            <a:r>
              <a:rPr sz="1000" b="0" dirty="0" err="1">
                <a:solidFill>
                  <a:srgbClr val="000000"/>
                </a:solidFill>
                <a:latin typeface="맑은 고딕"/>
                <a:ea typeface="맑은 고딕"/>
              </a:rPr>
              <a:t>엔진</a:t>
            </a:r>
            <a:r>
              <a:rPr sz="1000" b="0" dirty="0">
                <a:solidFill>
                  <a:srgbClr val="000000"/>
                </a:solidFill>
                <a:latin typeface="맑은 고딕"/>
                <a:ea typeface="맑은 고딕"/>
              </a:rPr>
              <a:t>(</a:t>
            </a:r>
            <a:r>
              <a:rPr sz="1000" b="0" dirty="0" err="1">
                <a:solidFill>
                  <a:srgbClr val="000000"/>
                </a:solidFill>
                <a:latin typeface="맑은 고딕"/>
                <a:ea typeface="맑은 고딕"/>
              </a:rPr>
              <a:t>vLLM</a:t>
            </a:r>
            <a:r>
              <a:rPr sz="1000" b="0" dirty="0">
                <a:solidFill>
                  <a:srgbClr val="000000"/>
                </a:solidFill>
                <a:latin typeface="맑은 고딕"/>
                <a:ea typeface="맑은 고딕"/>
              </a:rPr>
              <a:t>)과 </a:t>
            </a:r>
            <a:r>
              <a:rPr sz="1000" b="0" dirty="0" err="1">
                <a:solidFill>
                  <a:srgbClr val="000000"/>
                </a:solidFill>
                <a:latin typeface="맑은 고딕"/>
                <a:ea typeface="맑은 고딕"/>
              </a:rPr>
              <a:t>정책이</a:t>
            </a:r>
            <a:r>
              <a:rPr sz="1000" b="0" dirty="0">
                <a:solidFill>
                  <a:srgbClr val="000000"/>
                </a:solidFill>
                <a:latin typeface="맑은 고딕"/>
                <a:ea typeface="맑은 고딕"/>
              </a:rPr>
              <a:t> </a:t>
            </a:r>
            <a:r>
              <a:rPr sz="1000" b="0" dirty="0" err="1">
                <a:solidFill>
                  <a:srgbClr val="000000"/>
                </a:solidFill>
                <a:latin typeface="맑은 고딕"/>
                <a:ea typeface="맑은 고딕"/>
              </a:rPr>
              <a:t>정하며</a:t>
            </a:r>
            <a:r>
              <a:rPr sz="1000" b="0" dirty="0">
                <a:solidFill>
                  <a:srgbClr val="000000"/>
                </a:solidFill>
                <a:latin typeface="맑은 고딕"/>
                <a:ea typeface="맑은 고딕"/>
              </a:rPr>
              <a:t>, </a:t>
            </a:r>
            <a:r>
              <a:rPr sz="1000" b="0" dirty="0" err="1">
                <a:solidFill>
                  <a:srgbClr val="000000"/>
                </a:solidFill>
                <a:latin typeface="맑은 고딕"/>
                <a:ea typeface="맑은 고딕"/>
              </a:rPr>
              <a:t>어느</a:t>
            </a:r>
            <a:r>
              <a:rPr sz="1000" b="0" dirty="0">
                <a:solidFill>
                  <a:srgbClr val="000000"/>
                </a:solidFill>
                <a:latin typeface="맑은 고딕"/>
                <a:ea typeface="맑은 고딕"/>
              </a:rPr>
              <a:t> 쪽 </a:t>
            </a:r>
            <a:r>
              <a:rPr sz="1000" b="0" dirty="0" err="1">
                <a:solidFill>
                  <a:srgbClr val="000000"/>
                </a:solidFill>
                <a:latin typeface="맑은 고딕"/>
                <a:ea typeface="맑은 고딕"/>
              </a:rPr>
              <a:t>구조로</a:t>
            </a:r>
            <a:r>
              <a:rPr sz="1000" b="0" dirty="0">
                <a:solidFill>
                  <a:srgbClr val="000000"/>
                </a:solidFill>
                <a:latin typeface="맑은 고딕"/>
                <a:ea typeface="맑은 고딕"/>
              </a:rPr>
              <a:t> </a:t>
            </a:r>
            <a:r>
              <a:rPr sz="1000" b="0" dirty="0" err="1">
                <a:solidFill>
                  <a:srgbClr val="000000"/>
                </a:solidFill>
                <a:latin typeface="맑은 고딕"/>
                <a:ea typeface="맑은 고딕"/>
              </a:rPr>
              <a:t>구현하든</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정책이</a:t>
            </a:r>
            <a:r>
              <a:rPr sz="1000" b="0" dirty="0">
                <a:solidFill>
                  <a:srgbClr val="000000"/>
                </a:solidFill>
                <a:latin typeface="맑은 고딕"/>
                <a:ea typeface="맑은 고딕"/>
              </a:rPr>
              <a:t> </a:t>
            </a:r>
            <a:r>
              <a:rPr sz="1000" b="0" dirty="0" err="1">
                <a:solidFill>
                  <a:srgbClr val="000000"/>
                </a:solidFill>
                <a:latin typeface="맑은 고딕"/>
                <a:ea typeface="맑은 고딕"/>
              </a:rPr>
              <a:t>같으면</a:t>
            </a:r>
            <a:r>
              <a:rPr sz="1000" b="0" dirty="0">
                <a:solidFill>
                  <a:srgbClr val="000000"/>
                </a:solidFill>
                <a:latin typeface="맑은 고딕"/>
                <a:ea typeface="맑은 고딕"/>
              </a:rPr>
              <a:t> </a:t>
            </a:r>
            <a:r>
              <a:rPr sz="1000" b="0" dirty="0" err="1">
                <a:solidFill>
                  <a:srgbClr val="000000"/>
                </a:solidFill>
                <a:latin typeface="맑은 고딕"/>
                <a:ea typeface="맑은 고딕"/>
              </a:rPr>
              <a:t>같다</a:t>
            </a:r>
            <a:r>
              <a:rPr sz="1000" b="0" dirty="0">
                <a:solidFill>
                  <a:srgbClr val="000000"/>
                </a:solidFill>
                <a:latin typeface="맑은 고딕"/>
                <a:ea typeface="맑은 고딕"/>
              </a:rPr>
              <a:t> </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hop은</a:t>
            </a:r>
            <a:r>
              <a:rPr sz="1000" b="0" dirty="0">
                <a:solidFill>
                  <a:srgbClr val="000000"/>
                </a:solidFill>
                <a:latin typeface="맑은 고딕"/>
                <a:ea typeface="맑은 고딕"/>
              </a:rPr>
              <a:t> 수 </a:t>
            </a:r>
            <a:r>
              <a:rPr sz="1000" b="0" dirty="0" err="1">
                <a:solidFill>
                  <a:srgbClr val="000000"/>
                </a:solidFill>
                <a:latin typeface="맑은 고딕"/>
                <a:ea typeface="맑은 고딕"/>
              </a:rPr>
              <a:t>ms</a:t>
            </a:r>
            <a:r>
              <a:rPr sz="1000" b="0" dirty="0">
                <a:solidFill>
                  <a:srgbClr val="000000"/>
                </a:solidFill>
                <a:latin typeface="맑은 고딕"/>
                <a:ea typeface="맑은 고딕"/>
              </a:rPr>
              <a:t>, </a:t>
            </a:r>
            <a:r>
              <a:rPr sz="1000" b="0" dirty="0" err="1">
                <a:solidFill>
                  <a:srgbClr val="000000"/>
                </a:solidFill>
                <a:latin typeface="맑은 고딕"/>
                <a:ea typeface="맑은 고딕"/>
              </a:rPr>
              <a:t>SLO는</a:t>
            </a:r>
            <a:r>
              <a:rPr sz="1000" b="0" dirty="0">
                <a:solidFill>
                  <a:srgbClr val="000000"/>
                </a:solidFill>
                <a:latin typeface="맑은 고딕"/>
                <a:ea typeface="맑은 고딕"/>
              </a:rPr>
              <a:t> 2 </a:t>
            </a:r>
            <a:r>
              <a:rPr sz="1000" b="0" dirty="0" err="1">
                <a:solidFill>
                  <a:srgbClr val="000000"/>
                </a:solidFill>
                <a:latin typeface="맑은 고딕"/>
                <a:ea typeface="맑은 고딕"/>
              </a:rPr>
              <a:t>s라</a:t>
            </a:r>
            <a:r>
              <a:rPr sz="1000" b="0" dirty="0">
                <a:solidFill>
                  <a:srgbClr val="000000"/>
                </a:solidFill>
                <a:latin typeface="맑은 고딕"/>
                <a:ea typeface="맑은 고딕"/>
              </a:rPr>
              <a:t> </a:t>
            </a:r>
            <a:r>
              <a:rPr sz="1000" b="0" dirty="0" err="1">
                <a:solidFill>
                  <a:srgbClr val="000000"/>
                </a:solidFill>
                <a:latin typeface="맑은 고딕"/>
                <a:ea typeface="맑은 고딕"/>
              </a:rPr>
              <a:t>goodput</a:t>
            </a:r>
            <a:r>
              <a:rPr sz="1000" b="0" dirty="0">
                <a:solidFill>
                  <a:srgbClr val="000000"/>
                </a:solidFill>
                <a:latin typeface="맑은 고딕"/>
                <a:ea typeface="맑은 고딕"/>
              </a:rPr>
              <a:t> </a:t>
            </a:r>
            <a:r>
              <a:rPr sz="1000" b="0" dirty="0" err="1">
                <a:solidFill>
                  <a:srgbClr val="000000"/>
                </a:solidFill>
                <a:latin typeface="맑은 고딕"/>
                <a:ea typeface="맑은 고딕"/>
              </a:rPr>
              <a:t>영향은</a:t>
            </a:r>
            <a:r>
              <a:rPr sz="1000" b="0" dirty="0">
                <a:solidFill>
                  <a:srgbClr val="000000"/>
                </a:solidFill>
                <a:latin typeface="맑은 고딕"/>
                <a:ea typeface="맑은 고딕"/>
              </a:rPr>
              <a:t> 1% </a:t>
            </a:r>
            <a:r>
              <a:rPr sz="1000" b="0" dirty="0" err="1">
                <a:solidFill>
                  <a:srgbClr val="000000"/>
                </a:solidFill>
                <a:latin typeface="맑은 고딕"/>
                <a:ea typeface="맑은 고딕"/>
              </a:rPr>
              <a:t>미만으로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가정</a:t>
            </a:r>
            <a:r>
              <a:rPr sz="1000" b="0" dirty="0">
                <a:solidFill>
                  <a:srgbClr val="000000"/>
                </a:solidFill>
                <a:latin typeface="맑은 고딕"/>
                <a:ea typeface="맑은 고딕"/>
              </a:rPr>
              <a:t>. </a:t>
            </a:r>
            <a:r>
              <a:rPr sz="1000" b="0" dirty="0" err="1">
                <a:solidFill>
                  <a:srgbClr val="000000"/>
                </a:solidFill>
                <a:latin typeface="맑은 고딕"/>
                <a:ea typeface="맑은 고딕"/>
              </a:rPr>
              <a:t>다만</a:t>
            </a:r>
            <a:r>
              <a:rPr sz="1000" b="0" dirty="0">
                <a:solidFill>
                  <a:srgbClr val="000000"/>
                </a:solidFill>
                <a:latin typeface="맑은 고딕"/>
                <a:ea typeface="맑은 고딕"/>
              </a:rPr>
              <a:t> SLO </a:t>
            </a:r>
            <a:r>
              <a:rPr sz="1000" b="0" dirty="0" err="1">
                <a:solidFill>
                  <a:srgbClr val="000000"/>
                </a:solidFill>
                <a:latin typeface="맑은 고딕"/>
                <a:ea typeface="맑은 고딕"/>
              </a:rPr>
              <a:t>경계</a:t>
            </a:r>
            <a:r>
              <a:rPr sz="1000" b="0" dirty="0">
                <a:solidFill>
                  <a:srgbClr val="000000"/>
                </a:solidFill>
                <a:latin typeface="맑은 고딕"/>
                <a:ea typeface="맑은 고딕"/>
              </a:rPr>
              <a:t> </a:t>
            </a:r>
            <a:r>
              <a:rPr sz="1000" b="0" dirty="0" err="1">
                <a:solidFill>
                  <a:srgbClr val="000000"/>
                </a:solidFill>
                <a:latin typeface="맑은 고딕"/>
                <a:ea typeface="맑은 고딕"/>
              </a:rPr>
              <a:t>부근</a:t>
            </a:r>
            <a:r>
              <a:rPr sz="1000" b="0" dirty="0">
                <a:solidFill>
                  <a:srgbClr val="000000"/>
                </a:solidFill>
                <a:latin typeface="맑은 고딕"/>
                <a:ea typeface="맑은 고딕"/>
              </a:rPr>
              <a:t> </a:t>
            </a:r>
            <a:r>
              <a:rPr sz="1000" b="0" dirty="0" err="1">
                <a:solidFill>
                  <a:srgbClr val="000000"/>
                </a:solidFill>
                <a:latin typeface="맑은 고딕"/>
                <a:ea typeface="맑은 고딕"/>
              </a:rPr>
              <a:t>요청이</a:t>
            </a:r>
            <a:r>
              <a:rPr sz="1000" b="0" dirty="0">
                <a:solidFill>
                  <a:srgbClr val="000000"/>
                </a:solidFill>
                <a:latin typeface="맑은 고딕"/>
                <a:ea typeface="맑은 고딕"/>
              </a:rPr>
              <a:t> </a:t>
            </a:r>
            <a:r>
              <a:rPr sz="1000" b="0" dirty="0" err="1">
                <a:solidFill>
                  <a:srgbClr val="000000"/>
                </a:solidFill>
                <a:latin typeface="맑은 고딕"/>
                <a:ea typeface="맑은 고딕"/>
              </a:rPr>
              <a:t>있으면</a:t>
            </a:r>
            <a:r>
              <a:rPr sz="1000" b="0" dirty="0">
                <a:solidFill>
                  <a:srgbClr val="000000"/>
                </a:solidFill>
                <a:latin typeface="맑은 고딕"/>
                <a:ea typeface="맑은 고딕"/>
              </a:rPr>
              <a:t> </a:t>
            </a:r>
            <a:r>
              <a:rPr sz="1000" b="0" dirty="0" err="1">
                <a:solidFill>
                  <a:srgbClr val="000000"/>
                </a:solidFill>
                <a:latin typeface="맑은 고딕"/>
                <a:ea typeface="맑은 고딕"/>
              </a:rPr>
              <a:t>작은</a:t>
            </a:r>
            <a:r>
              <a:rPr sz="1000" b="0" dirty="0">
                <a:solidFill>
                  <a:srgbClr val="000000"/>
                </a:solidFill>
                <a:latin typeface="맑은 고딕"/>
                <a:ea typeface="맑은 고딕"/>
              </a:rPr>
              <a:t> </a:t>
            </a:r>
            <a:r>
              <a:rPr sz="1000" b="0" dirty="0" err="1">
                <a:solidFill>
                  <a:srgbClr val="000000"/>
                </a:solidFill>
                <a:latin typeface="맑은 고딕"/>
                <a:ea typeface="맑은 고딕"/>
              </a:rPr>
              <a:t>차이가</a:t>
            </a:r>
            <a:r>
              <a:rPr sz="1000" b="0" dirty="0">
                <a:solidFill>
                  <a:srgbClr val="000000"/>
                </a:solidFill>
                <a:latin typeface="맑은 고딕"/>
                <a:ea typeface="맑은 고딕"/>
              </a:rPr>
              <a:t> </a:t>
            </a:r>
            <a:r>
              <a:rPr sz="1000" b="0" dirty="0" err="1">
                <a:solidFill>
                  <a:srgbClr val="000000"/>
                </a:solidFill>
                <a:latin typeface="맑은 고딕"/>
                <a:ea typeface="맑은 고딕"/>
              </a:rPr>
              <a:t>생길</a:t>
            </a:r>
            <a:r>
              <a:rPr sz="1000" b="0" dirty="0">
                <a:solidFill>
                  <a:srgbClr val="000000"/>
                </a:solidFill>
                <a:latin typeface="맑은 고딕"/>
                <a:ea typeface="맑은 고딕"/>
              </a:rPr>
              <a:t> 수 </a:t>
            </a:r>
            <a:r>
              <a:rPr sz="1000" b="0" dirty="0" err="1">
                <a:solidFill>
                  <a:srgbClr val="000000"/>
                </a:solidFill>
                <a:latin typeface="맑은 고딕"/>
                <a:ea typeface="맑은 고딕"/>
              </a:rPr>
              <a:t>있어</a:t>
            </a:r>
            <a:r>
              <a:rPr sz="1000" b="0" dirty="0">
                <a:solidFill>
                  <a:srgbClr val="000000"/>
                </a:solidFill>
                <a:latin typeface="맑은 고딕"/>
                <a:ea typeface="맑은 고딕"/>
              </a:rPr>
              <a:t> P99 </a:t>
            </a:r>
            <a:r>
              <a:rPr sz="1000" b="0" dirty="0" err="1">
                <a:solidFill>
                  <a:srgbClr val="000000"/>
                </a:solidFill>
                <a:latin typeface="맑은 고딕"/>
                <a:ea typeface="맑은 고딕"/>
              </a:rPr>
              <a:t>기준으로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확인한다</a:t>
            </a:r>
            <a:r>
              <a:rPr sz="1000" b="0" dirty="0">
                <a:solidFill>
                  <a:srgbClr val="000000"/>
                </a:solidFill>
                <a:latin typeface="맑은 고딕"/>
                <a:ea typeface="맑은 고딕"/>
              </a:rPr>
              <a:t>.</a:t>
            </a:r>
          </a:p>
        </p:txBody>
      </p:sp>
      <p:sp>
        <p:nvSpPr>
          <p:cNvPr id="10" name="TextBox 9"/>
          <p:cNvSpPr txBox="1"/>
          <p:nvPr/>
        </p:nvSpPr>
        <p:spPr>
          <a:xfrm>
            <a:off x="365760" y="6236208"/>
            <a:ext cx="11430000" cy="189283"/>
          </a:xfrm>
          <a:prstGeom prst="rect">
            <a:avLst/>
          </a:prstGeom>
          <a:noFill/>
        </p:spPr>
        <p:txBody>
          <a:bodyPr wrap="square" lIns="73152" tIns="36576" rIns="73152" bIns="36576" anchor="t">
            <a:spAutoFit/>
          </a:bodyPr>
          <a:lstStyle/>
          <a:p>
            <a:pPr algn="l">
              <a:spcAft>
                <a:spcPts val="200"/>
              </a:spcAft>
            </a:pPr>
            <a:r>
              <a:rPr sz="750" b="1" dirty="0" err="1">
                <a:solidFill>
                  <a:srgbClr val="000000"/>
                </a:solidFill>
                <a:latin typeface="맑은 고딕"/>
                <a:ea typeface="맑은 고딕"/>
              </a:rPr>
              <a:t>출처</a:t>
            </a:r>
            <a:r>
              <a:rPr sz="750" b="1" dirty="0">
                <a:solidFill>
                  <a:srgbClr val="000000"/>
                </a:solidFill>
                <a:latin typeface="맑은 고딕"/>
                <a:ea typeface="맑은 고딕"/>
              </a:rPr>
              <a:t>: </a:t>
            </a:r>
            <a:r>
              <a:rPr sz="750" b="0" dirty="0" err="1">
                <a:solidFill>
                  <a:srgbClr val="404040"/>
                </a:solidFill>
                <a:latin typeface="맑은 고딕"/>
                <a:ea typeface="맑은 고딕"/>
              </a:rPr>
              <a:t>DistServe</a:t>
            </a:r>
            <a:r>
              <a:rPr sz="750" b="0" dirty="0">
                <a:solidFill>
                  <a:srgbClr val="404040"/>
                </a:solidFill>
                <a:latin typeface="맑은 고딕"/>
                <a:ea typeface="맑은 고딕"/>
              </a:rPr>
              <a:t> (</a:t>
            </a:r>
            <a:r>
              <a:rPr sz="750" b="0" dirty="0" err="1">
                <a:solidFill>
                  <a:srgbClr val="404040"/>
                </a:solidFill>
                <a:latin typeface="맑은 고딕"/>
                <a:ea typeface="맑은 고딕"/>
              </a:rPr>
              <a:t>goodput</a:t>
            </a:r>
            <a:r>
              <a:rPr sz="750" b="0" dirty="0">
                <a:solidFill>
                  <a:srgbClr val="404040"/>
                </a:solidFill>
                <a:latin typeface="맑은 고딕"/>
                <a:ea typeface="맑은 고딕"/>
              </a:rPr>
              <a:t>, SLO attainment) arxiv.org/abs/2401.09670 [</a:t>
            </a:r>
            <a:r>
              <a:rPr sz="750" b="0" dirty="0" err="1">
                <a:solidFill>
                  <a:srgbClr val="404040"/>
                </a:solidFill>
                <a:latin typeface="맑은 고딕"/>
                <a:ea typeface="맑은 고딕"/>
              </a:rPr>
              <a:t>검색</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lang="en-US" sz="750" b="0" dirty="0">
                <a:solidFill>
                  <a:srgbClr val="404040"/>
                </a:solidFill>
                <a:latin typeface="맑은 고딕"/>
                <a:ea typeface="맑은 고딕"/>
              </a:rPr>
              <a:t>]</a:t>
            </a:r>
            <a:endParaRPr sz="750" b="0" dirty="0">
              <a:solidFill>
                <a:srgbClr val="404040"/>
              </a:solidFill>
              <a:latin typeface="맑은 고딕"/>
              <a:ea typeface="맑은 고딕"/>
            </a:endParaRPr>
          </a:p>
        </p:txBody>
      </p:sp>
      <p:sp>
        <p:nvSpPr>
          <p:cNvPr id="11" name="실행 단추: 뒤로 또는 이전 10">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QA1 경계는 0.97/4/3(이 장의 0.90/1.10 대신). Q1 = 공통 QA1. DP4 별 그대로.</a:t>
            </a:r>
          </a:p>
        </p:txBody>
      </p:sp>
    </p:spTree>
    <p:extLst>
      <p:ext uri="{BB962C8B-B14F-4D97-AF65-F5344CB8AC3E}">
        <p14:creationId xmlns:p14="http://schemas.microsoft.com/office/powerpoint/2010/main" val="35987610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Q2 </a:t>
            </a:r>
            <a:r>
              <a:rPr sz="2200" b="1" dirty="0" err="1">
                <a:solidFill>
                  <a:srgbClr val="2F5597"/>
                </a:solidFill>
                <a:latin typeface="맑은 고딕"/>
                <a:ea typeface="맑은 고딕"/>
              </a:rPr>
              <a:t>지연</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a:solidFill>
                  <a:srgbClr val="404040"/>
                </a:solidFill>
                <a:latin typeface="맑은 고딕"/>
                <a:ea typeface="맑은 고딕"/>
              </a:rPr>
              <a:t>공통 QA2 · TTFT와 TPOT를 분리 보고, 두 metric 중 낮은 등급 적용 (공통 §5)</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1830960"/>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5788152">
                  <a:extLst>
                    <a:ext uri="{9D8B030D-6E8A-4147-A177-3AD203B41FA5}">
                      <a16:colId xmlns:a16="http://schemas.microsoft.com/office/drawing/2014/main" val="20002"/>
                    </a:ext>
                  </a:extLst>
                </a:gridCol>
              </a:tblGrid>
              <a:tr h="420624">
                <a:tc>
                  <a:txBody>
                    <a:bodyPr/>
                    <a:lstStyle/>
                    <a:p>
                      <a:pPr algn="ctr"/>
                      <a:r>
                        <a:rPr sz="10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1050" b="0">
                          <a:solidFill>
                            <a:srgbClr val="000000"/>
                          </a:solidFill>
                          <a:latin typeface="맑은 고딕"/>
                          <a:ea typeface="맑은 고딕"/>
                        </a:rPr>
                        <a:t>TTFT P99 ≤ 2 s  그리고  TPOT P99 ≤ 50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lnSpc>
                          <a:spcPct val="150000"/>
                        </a:lnSpc>
                      </a:pPr>
                      <a:r>
                        <a:rPr sz="1050" b="0" dirty="0" err="1">
                          <a:solidFill>
                            <a:srgbClr val="000000"/>
                          </a:solidFill>
                          <a:latin typeface="맑은 고딕"/>
                          <a:ea typeface="맑은 고딕"/>
                        </a:rPr>
                        <a:t>공통</a:t>
                      </a:r>
                      <a:r>
                        <a:rPr sz="1050" b="0" dirty="0">
                          <a:solidFill>
                            <a:srgbClr val="000000"/>
                          </a:solidFill>
                          <a:latin typeface="맑은 고딕"/>
                          <a:ea typeface="맑은 고딕"/>
                        </a:rPr>
                        <a:t> </a:t>
                      </a:r>
                      <a:r>
                        <a:rPr sz="1050" b="0" dirty="0" err="1">
                          <a:solidFill>
                            <a:srgbClr val="000000"/>
                          </a:solidFill>
                          <a:latin typeface="맑은 고딕"/>
                          <a:ea typeface="맑은 고딕"/>
                        </a:rPr>
                        <a:t>기본</a:t>
                      </a:r>
                      <a:r>
                        <a:rPr sz="1050" b="0" dirty="0">
                          <a:solidFill>
                            <a:srgbClr val="000000"/>
                          </a:solidFill>
                          <a:latin typeface="맑은 고딕"/>
                          <a:ea typeface="맑은 고딕"/>
                        </a:rPr>
                        <a:t> SLO </a:t>
                      </a:r>
                      <a:r>
                        <a:rPr sz="1050" b="0" dirty="0" err="1">
                          <a:solidFill>
                            <a:srgbClr val="000000"/>
                          </a:solidFill>
                          <a:latin typeface="맑은 고딕"/>
                          <a:ea typeface="맑은 고딕"/>
                        </a:rPr>
                        <a:t>그대로</a:t>
                      </a:r>
                      <a:r>
                        <a:rPr sz="1050" b="0" dirty="0">
                          <a:solidFill>
                            <a:srgbClr val="000000"/>
                          </a:solidFill>
                          <a:latin typeface="맑은 고딕"/>
                          <a:ea typeface="맑은 고딕"/>
                        </a:rPr>
                        <a:t>. TPOT 50 </a:t>
                      </a:r>
                      <a:r>
                        <a:rPr sz="1050" b="0" dirty="0" err="1">
                          <a:solidFill>
                            <a:srgbClr val="000000"/>
                          </a:solidFill>
                          <a:latin typeface="맑은 고딕"/>
                          <a:ea typeface="맑은 고딕"/>
                        </a:rPr>
                        <a:t>ms</a:t>
                      </a:r>
                      <a:r>
                        <a:rPr sz="1050" b="0" dirty="0">
                          <a:solidFill>
                            <a:srgbClr val="000000"/>
                          </a:solidFill>
                          <a:latin typeface="맑은 고딕"/>
                          <a:ea typeface="맑은 고딕"/>
                        </a:rPr>
                        <a:t> = </a:t>
                      </a:r>
                      <a:r>
                        <a:rPr sz="1050" b="0" dirty="0" err="1">
                          <a:solidFill>
                            <a:srgbClr val="000000"/>
                          </a:solidFill>
                          <a:latin typeface="맑은 고딕"/>
                          <a:ea typeface="맑은 고딕"/>
                        </a:rPr>
                        <a:t>초당</a:t>
                      </a:r>
                      <a:r>
                        <a:rPr sz="1050" b="0" dirty="0">
                          <a:solidFill>
                            <a:srgbClr val="000000"/>
                          </a:solidFill>
                          <a:latin typeface="맑은 고딕"/>
                          <a:ea typeface="맑은 고딕"/>
                        </a:rPr>
                        <a:t> 20 </a:t>
                      </a:r>
                      <a:r>
                        <a:rPr sz="1050" b="0" dirty="0" err="1">
                          <a:solidFill>
                            <a:srgbClr val="000000"/>
                          </a:solidFill>
                          <a:latin typeface="맑은 고딕"/>
                          <a:ea typeface="맑은 고딕"/>
                        </a:rPr>
                        <a:t>토큰으로</a:t>
                      </a:r>
                      <a:r>
                        <a:rPr sz="1050" b="0" dirty="0">
                          <a:solidFill>
                            <a:srgbClr val="000000"/>
                          </a:solidFill>
                          <a:latin typeface="맑은 고딕"/>
                          <a:ea typeface="맑은 고딕"/>
                        </a:rPr>
                        <a:t> </a:t>
                      </a:r>
                      <a:r>
                        <a:rPr sz="1050" b="0" dirty="0" err="1">
                          <a:solidFill>
                            <a:srgbClr val="000000"/>
                          </a:solidFill>
                          <a:latin typeface="맑은 고딕"/>
                          <a:ea typeface="맑은 고딕"/>
                        </a:rPr>
                        <a:t>읽는</a:t>
                      </a:r>
                      <a:r>
                        <a:rPr sz="1050" b="0" dirty="0">
                          <a:solidFill>
                            <a:srgbClr val="000000"/>
                          </a:solidFill>
                          <a:latin typeface="맑은 고딕"/>
                          <a:ea typeface="맑은 고딕"/>
                        </a:rPr>
                        <a:t> </a:t>
                      </a:r>
                      <a:r>
                        <a:rPr sz="1050" b="0" dirty="0" err="1">
                          <a:solidFill>
                            <a:srgbClr val="000000"/>
                          </a:solidFill>
                          <a:latin typeface="맑은 고딕"/>
                          <a:ea typeface="맑은 고딕"/>
                        </a:rPr>
                        <a:t>속도보다</a:t>
                      </a:r>
                      <a:r>
                        <a:rPr sz="1050" b="0" dirty="0">
                          <a:solidFill>
                            <a:srgbClr val="000000"/>
                          </a:solidFill>
                          <a:latin typeface="맑은 고딕"/>
                          <a:ea typeface="맑은 고딕"/>
                        </a:rPr>
                        <a:t> </a:t>
                      </a:r>
                      <a:r>
                        <a:rPr sz="1050" b="0" dirty="0" err="1">
                          <a:solidFill>
                            <a:srgbClr val="000000"/>
                          </a:solidFill>
                          <a:latin typeface="맑은 고딕"/>
                          <a:ea typeface="맑은 고딕"/>
                        </a:rPr>
                        <a:t>빠름</a:t>
                      </a:r>
                      <a:endParaRPr lang="en-US" sz="1050" b="0" dirty="0">
                        <a:solidFill>
                          <a:srgbClr val="000000"/>
                        </a:solidFill>
                        <a:latin typeface="맑은 고딕"/>
                        <a:ea typeface="맑은 고딕"/>
                      </a:endParaRPr>
                    </a:p>
                    <a:p>
                      <a:pPr marL="0" marR="0" lvl="0" indent="0" algn="l" defTabSz="457200" rtl="0" eaLnBrk="1" fontAlgn="auto" latinLnBrk="0" hangingPunct="1">
                        <a:lnSpc>
                          <a:spcPct val="150000"/>
                        </a:lnSpc>
                        <a:spcBef>
                          <a:spcPts val="0"/>
                        </a:spcBef>
                        <a:spcAft>
                          <a:spcPts val="0"/>
                        </a:spcAft>
                        <a:buClrTx/>
                        <a:buSzTx/>
                        <a:buFontTx/>
                        <a:buNone/>
                        <a:tabLst/>
                        <a:defRPr/>
                      </a:pPr>
                      <a:r>
                        <a:rPr lang="ko-KR" altLang="en-US" sz="1050" b="0" dirty="0">
                          <a:solidFill>
                            <a:srgbClr val="000000"/>
                          </a:solidFill>
                          <a:latin typeface="맑은 고딕"/>
                          <a:ea typeface="맑은 고딕"/>
                        </a:rPr>
                        <a:t>출처</a:t>
                      </a:r>
                      <a:r>
                        <a:rPr lang="en-US" altLang="ko-KR" sz="1050" b="0" dirty="0">
                          <a:solidFill>
                            <a:srgbClr val="000000"/>
                          </a:solidFill>
                          <a:latin typeface="맑은 고딕"/>
                          <a:ea typeface="맑은 고딕"/>
                        </a:rPr>
                        <a:t>: </a:t>
                      </a:r>
                      <a:r>
                        <a:rPr lang="en-US" altLang="ko-KR" sz="1050" b="0" dirty="0" err="1">
                          <a:solidFill>
                            <a:srgbClr val="000000"/>
                          </a:solidFill>
                          <a:latin typeface="맑은 고딕"/>
                          <a:ea typeface="맑은 고딕"/>
                        </a:rPr>
                        <a:t>MLPerf</a:t>
                      </a:r>
                      <a:r>
                        <a:rPr lang="en-US" altLang="ko-KR" sz="1050" b="0" dirty="0">
                          <a:solidFill>
                            <a:srgbClr val="000000"/>
                          </a:solidFill>
                          <a:latin typeface="맑은 고딕"/>
                          <a:ea typeface="맑은 고딕"/>
                        </a:rPr>
                        <a:t> </a:t>
                      </a:r>
                      <a:r>
                        <a:rPr lang="ko-KR" altLang="en-US" sz="1050" b="0" dirty="0">
                          <a:solidFill>
                            <a:srgbClr val="000000"/>
                          </a:solidFill>
                          <a:latin typeface="맑은 고딕"/>
                          <a:ea typeface="맑은 고딕"/>
                        </a:rPr>
                        <a:t>표준 </a:t>
                      </a:r>
                      <a:r>
                        <a:rPr lang="en-US" altLang="ko-KR" sz="1050" b="0" dirty="0">
                          <a:solidFill>
                            <a:srgbClr val="000000"/>
                          </a:solidFill>
                          <a:latin typeface="맑은 고딕"/>
                          <a:ea typeface="맑은 고딕"/>
                        </a:rPr>
                        <a:t>TTFT 2 s(2</a:t>
                      </a:r>
                      <a:r>
                        <a:rPr lang="ko-KR" altLang="en-US" sz="1050" b="0" dirty="0">
                          <a:solidFill>
                            <a:srgbClr val="000000"/>
                          </a:solidFill>
                          <a:latin typeface="맑은 고딕"/>
                          <a:ea typeface="맑은 고딕"/>
                        </a:rPr>
                        <a:t>차</a:t>
                      </a:r>
                      <a:r>
                        <a:rPr lang="en-US" altLang="ko-KR" sz="1050" b="0" dirty="0">
                          <a:solidFill>
                            <a:srgbClr val="000000"/>
                          </a:solidFill>
                          <a:latin typeface="맑은 고딕"/>
                          <a:ea typeface="맑은 고딕"/>
                        </a:rPr>
                        <a:t>), interactive TPOT 40 </a:t>
                      </a:r>
                      <a:r>
                        <a:rPr lang="en-US" altLang="ko-KR" sz="1050" b="0" dirty="0" err="1">
                          <a:solidFill>
                            <a:srgbClr val="000000"/>
                          </a:solidFill>
                          <a:latin typeface="맑은 고딕"/>
                          <a:ea typeface="맑은 고딕"/>
                        </a:rPr>
                        <a:t>ms</a:t>
                      </a:r>
                      <a:r>
                        <a:rPr lang="en-US" altLang="ko-KR" sz="1050" b="0" dirty="0">
                          <a:solidFill>
                            <a:srgbClr val="000000"/>
                          </a:solidFill>
                          <a:latin typeface="맑은 고딕"/>
                          <a:ea typeface="맑은 고딕"/>
                        </a:rPr>
                        <a:t> · </a:t>
                      </a:r>
                      <a:r>
                        <a:rPr lang="en-US" altLang="ko-KR" sz="1050" b="0" dirty="0" err="1">
                          <a:solidFill>
                            <a:srgbClr val="000000"/>
                          </a:solidFill>
                          <a:latin typeface="맑은 고딕"/>
                          <a:ea typeface="맑은 고딕"/>
                        </a:rPr>
                        <a:t>Brysbaert</a:t>
                      </a:r>
                      <a:r>
                        <a:rPr lang="en-US" altLang="ko-KR" sz="1050" b="0" dirty="0">
                          <a:solidFill>
                            <a:srgbClr val="000000"/>
                          </a:solidFill>
                          <a:latin typeface="맑은 고딕"/>
                          <a:ea typeface="맑은 고딕"/>
                        </a:rPr>
                        <a:t> 2019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1050" b="0">
                          <a:solidFill>
                            <a:srgbClr val="000000"/>
                          </a:solidFill>
                          <a:latin typeface="맑은 고딕"/>
                          <a:ea typeface="맑은 고딕"/>
                        </a:rPr>
                        <a:t>TTFT P99 ≤ 4 s  그리고  TPOT P99 ≤ 100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lnSpc>
                          <a:spcPct val="150000"/>
                        </a:lnSpc>
                      </a:pPr>
                      <a:r>
                        <a:rPr sz="1050" b="0" dirty="0" err="1">
                          <a:solidFill>
                            <a:srgbClr val="000000"/>
                          </a:solidFill>
                          <a:latin typeface="맑은 고딕"/>
                          <a:ea typeface="맑은 고딕"/>
                        </a:rPr>
                        <a:t>기본</a:t>
                      </a:r>
                      <a:r>
                        <a:rPr sz="1050" b="0" dirty="0">
                          <a:solidFill>
                            <a:srgbClr val="000000"/>
                          </a:solidFill>
                          <a:latin typeface="맑은 고딕"/>
                          <a:ea typeface="맑은 고딕"/>
                        </a:rPr>
                        <a:t> </a:t>
                      </a:r>
                      <a:r>
                        <a:rPr sz="1050" b="0" dirty="0" err="1">
                          <a:solidFill>
                            <a:srgbClr val="000000"/>
                          </a:solidFill>
                          <a:latin typeface="맑은 고딕"/>
                          <a:ea typeface="맑은 고딕"/>
                        </a:rPr>
                        <a:t>SLO의</a:t>
                      </a:r>
                      <a:r>
                        <a:rPr sz="1050" b="0" dirty="0">
                          <a:solidFill>
                            <a:srgbClr val="000000"/>
                          </a:solidFill>
                          <a:latin typeface="맑은 고딕"/>
                          <a:ea typeface="맑은 고딕"/>
                        </a:rPr>
                        <a:t> 2배 </a:t>
                      </a:r>
                      <a:r>
                        <a:rPr sz="1050" b="0" dirty="0" err="1">
                          <a:solidFill>
                            <a:srgbClr val="000000"/>
                          </a:solidFill>
                          <a:latin typeface="맑은 고딕"/>
                          <a:ea typeface="맑은 고딕"/>
                        </a:rPr>
                        <a:t>이내</a:t>
                      </a:r>
                      <a:r>
                        <a:rPr sz="1050" b="0" dirty="0">
                          <a:solidFill>
                            <a:srgbClr val="000000"/>
                          </a:solidFill>
                          <a:latin typeface="맑은 고딕"/>
                          <a:ea typeface="맑은 고딕"/>
                        </a:rPr>
                        <a:t> = </a:t>
                      </a:r>
                      <a:r>
                        <a:rPr sz="1050" b="0" dirty="0" err="1">
                          <a:solidFill>
                            <a:srgbClr val="000000"/>
                          </a:solidFill>
                          <a:latin typeface="맑은 고딕"/>
                          <a:ea typeface="맑은 고딕"/>
                        </a:rPr>
                        <a:t>체감은</a:t>
                      </a:r>
                      <a:r>
                        <a:rPr sz="1050" b="0" dirty="0">
                          <a:solidFill>
                            <a:srgbClr val="000000"/>
                          </a:solidFill>
                          <a:latin typeface="맑은 고딕"/>
                          <a:ea typeface="맑은 고딕"/>
                        </a:rPr>
                        <a:t> </a:t>
                      </a:r>
                      <a:r>
                        <a:rPr sz="1050" b="0" dirty="0" err="1">
                          <a:solidFill>
                            <a:srgbClr val="000000"/>
                          </a:solidFill>
                          <a:latin typeface="맑은 고딕"/>
                          <a:ea typeface="맑은 고딕"/>
                        </a:rPr>
                        <a:t>느리지만</a:t>
                      </a:r>
                      <a:r>
                        <a:rPr sz="1050" b="0" dirty="0">
                          <a:solidFill>
                            <a:srgbClr val="000000"/>
                          </a:solidFill>
                          <a:latin typeface="맑은 고딕"/>
                          <a:ea typeface="맑은 고딕"/>
                        </a:rPr>
                        <a:t> </a:t>
                      </a:r>
                      <a:r>
                        <a:rPr sz="1050" b="0" dirty="0" err="1">
                          <a:solidFill>
                            <a:srgbClr val="000000"/>
                          </a:solidFill>
                          <a:latin typeface="맑은 고딕"/>
                          <a:ea typeface="맑은 고딕"/>
                        </a:rPr>
                        <a:t>대화형</a:t>
                      </a:r>
                      <a:r>
                        <a:rPr sz="1050" b="0" dirty="0">
                          <a:solidFill>
                            <a:srgbClr val="000000"/>
                          </a:solidFill>
                          <a:latin typeface="맑은 고딕"/>
                          <a:ea typeface="맑은 고딕"/>
                        </a:rPr>
                        <a:t> </a:t>
                      </a:r>
                      <a:r>
                        <a:rPr sz="1050" b="0" dirty="0" err="1">
                          <a:solidFill>
                            <a:srgbClr val="000000"/>
                          </a:solidFill>
                          <a:latin typeface="맑은 고딕"/>
                          <a:ea typeface="맑은 고딕"/>
                        </a:rPr>
                        <a:t>사용은</a:t>
                      </a:r>
                      <a:r>
                        <a:rPr sz="1050" b="0" dirty="0">
                          <a:solidFill>
                            <a:srgbClr val="000000"/>
                          </a:solidFill>
                          <a:latin typeface="맑은 고딕"/>
                          <a:ea typeface="맑은 고딕"/>
                        </a:rPr>
                        <a:t> </a:t>
                      </a:r>
                      <a:r>
                        <a:rPr sz="1050" b="0" dirty="0" err="1">
                          <a:solidFill>
                            <a:srgbClr val="000000"/>
                          </a:solidFill>
                          <a:latin typeface="맑은 고딕"/>
                          <a:ea typeface="맑은 고딕"/>
                        </a:rPr>
                        <a:t>가능한</a:t>
                      </a:r>
                      <a:r>
                        <a:rPr sz="1050" b="0" dirty="0">
                          <a:solidFill>
                            <a:srgbClr val="000000"/>
                          </a:solidFill>
                          <a:latin typeface="맑은 고딕"/>
                          <a:ea typeface="맑은 고딕"/>
                        </a:rPr>
                        <a:t> </a:t>
                      </a:r>
                      <a:r>
                        <a:rPr sz="1050" b="0" dirty="0" err="1">
                          <a:solidFill>
                            <a:srgbClr val="000000"/>
                          </a:solidFill>
                          <a:latin typeface="맑은 고딕"/>
                          <a:ea typeface="맑은 고딕"/>
                        </a:rPr>
                        <a:t>한계</a:t>
                      </a:r>
                      <a:r>
                        <a:rPr sz="1050" b="0" dirty="0">
                          <a:solidFill>
                            <a:srgbClr val="000000"/>
                          </a:solidFill>
                          <a:latin typeface="맑은 고딕"/>
                          <a:ea typeface="맑은 고딕"/>
                        </a:rPr>
                        <a:t> (</a:t>
                      </a:r>
                      <a:r>
                        <a:rPr sz="1050" b="0" dirty="0" err="1">
                          <a:solidFill>
                            <a:srgbClr val="000000"/>
                          </a:solidFill>
                          <a:latin typeface="맑은 고딕"/>
                          <a:ea typeface="맑은 고딕"/>
                        </a:rPr>
                        <a:t>정책</a:t>
                      </a:r>
                      <a:r>
                        <a:rPr sz="1050" b="0" dirty="0">
                          <a:solidFill>
                            <a:srgbClr val="000000"/>
                          </a:solidFill>
                          <a:latin typeface="맑은 고딕"/>
                          <a:ea typeface="맑은 고딕"/>
                        </a:rPr>
                        <a:t> </a:t>
                      </a:r>
                      <a:r>
                        <a:rPr sz="1050" b="0" dirty="0" err="1">
                          <a:solidFill>
                            <a:srgbClr val="000000"/>
                          </a:solidFill>
                          <a:latin typeface="맑은 고딕"/>
                          <a:ea typeface="맑은 고딕"/>
                        </a:rPr>
                        <a:t>환산</a:t>
                      </a:r>
                      <a:r>
                        <a:rPr sz="10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1050" b="0">
                          <a:solidFill>
                            <a:srgbClr val="000000"/>
                          </a:solidFill>
                          <a:latin typeface="맑은 고딕"/>
                          <a:ea typeface="맑은 고딕"/>
                        </a:rPr>
                        <a:t>TTFT P99 &gt; 4 s  또는  TPOT P99 &gt; 100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lnSpc>
                          <a:spcPct val="150000"/>
                        </a:lnSpc>
                      </a:pPr>
                      <a:r>
                        <a:rPr sz="1050" b="0" dirty="0" err="1">
                          <a:solidFill>
                            <a:srgbClr val="000000"/>
                          </a:solidFill>
                          <a:latin typeface="맑은 고딕"/>
                          <a:ea typeface="맑은 고딕"/>
                        </a:rPr>
                        <a:t>대화형</a:t>
                      </a:r>
                      <a:r>
                        <a:rPr sz="1050" b="0" dirty="0">
                          <a:solidFill>
                            <a:srgbClr val="000000"/>
                          </a:solidFill>
                          <a:latin typeface="맑은 고딕"/>
                          <a:ea typeface="맑은 고딕"/>
                        </a:rPr>
                        <a:t> </a:t>
                      </a:r>
                      <a:r>
                        <a:rPr sz="1050" b="0" dirty="0" err="1">
                          <a:solidFill>
                            <a:srgbClr val="000000"/>
                          </a:solidFill>
                          <a:latin typeface="맑은 고딕"/>
                          <a:ea typeface="맑은 고딕"/>
                        </a:rPr>
                        <a:t>사용</a:t>
                      </a:r>
                      <a:r>
                        <a:rPr sz="1050" b="0" dirty="0">
                          <a:solidFill>
                            <a:srgbClr val="000000"/>
                          </a:solidFill>
                          <a:latin typeface="맑은 고딕"/>
                          <a:ea typeface="맑은 고딕"/>
                        </a:rPr>
                        <a:t> </a:t>
                      </a:r>
                      <a:r>
                        <a:rPr sz="1050" b="0" dirty="0" err="1">
                          <a:solidFill>
                            <a:srgbClr val="000000"/>
                          </a:solidFill>
                          <a:latin typeface="맑은 고딕"/>
                          <a:ea typeface="맑은 고딕"/>
                        </a:rPr>
                        <a:t>한계</a:t>
                      </a:r>
                      <a:r>
                        <a:rPr sz="1050" b="0" dirty="0">
                          <a:solidFill>
                            <a:srgbClr val="000000"/>
                          </a:solidFill>
                          <a:latin typeface="맑은 고딕"/>
                          <a:ea typeface="맑은 고딕"/>
                        </a:rPr>
                        <a:t> </a:t>
                      </a:r>
                      <a:r>
                        <a:rPr sz="1050" b="0" dirty="0" err="1">
                          <a:solidFill>
                            <a:srgbClr val="000000"/>
                          </a:solidFill>
                          <a:latin typeface="맑은 고딕"/>
                          <a:ea typeface="맑은 고딕"/>
                        </a:rPr>
                        <a:t>초과</a:t>
                      </a:r>
                      <a:endParaRPr lang="en-US" sz="1050" b="0" dirty="0">
                        <a:solidFill>
                          <a:srgbClr val="000000"/>
                        </a:solidFill>
                        <a:latin typeface="맑은 고딕"/>
                        <a:ea typeface="맑은 고딕"/>
                      </a:endParaRPr>
                    </a:p>
                    <a:p>
                      <a:pPr marL="0" marR="0" lvl="0" indent="0" algn="l" defTabSz="457200" rtl="0" eaLnBrk="1" fontAlgn="auto" latinLnBrk="0" hangingPunct="1">
                        <a:lnSpc>
                          <a:spcPct val="150000"/>
                        </a:lnSpc>
                        <a:spcBef>
                          <a:spcPts val="0"/>
                        </a:spcBef>
                        <a:spcAft>
                          <a:spcPts val="0"/>
                        </a:spcAft>
                        <a:buClrTx/>
                        <a:buSzTx/>
                        <a:buFontTx/>
                        <a:buNone/>
                        <a:tabLst/>
                        <a:defRPr/>
                      </a:pPr>
                      <a:r>
                        <a:rPr lang="ko-KR" altLang="en-US" sz="1050" b="0" dirty="0">
                          <a:solidFill>
                            <a:srgbClr val="000000"/>
                          </a:solidFill>
                          <a:latin typeface="맑은 고딕"/>
                          <a:ea typeface="맑은 고딕"/>
                        </a:rPr>
                        <a:t>출처</a:t>
                      </a:r>
                      <a:r>
                        <a:rPr lang="en-US" altLang="ko-KR" sz="1050" b="0" dirty="0">
                          <a:solidFill>
                            <a:srgbClr val="000000"/>
                          </a:solidFill>
                          <a:latin typeface="맑은 고딕"/>
                          <a:ea typeface="맑은 고딕"/>
                        </a:rPr>
                        <a:t>: </a:t>
                      </a:r>
                      <a:r>
                        <a:rPr lang="en-US" altLang="ko-KR" sz="1050" b="0" dirty="0" err="1">
                          <a:solidFill>
                            <a:srgbClr val="000000"/>
                          </a:solidFill>
                          <a:latin typeface="맑은 고딕"/>
                          <a:ea typeface="맑은 고딕"/>
                        </a:rPr>
                        <a:t>Brysbaert</a:t>
                      </a:r>
                      <a:r>
                        <a:rPr lang="en-US" altLang="ko-KR" sz="1050" b="0" dirty="0">
                          <a:solidFill>
                            <a:srgbClr val="000000"/>
                          </a:solidFill>
                          <a:latin typeface="맑은 고딕"/>
                          <a:ea typeface="맑은 고딕"/>
                        </a:rPr>
                        <a:t> 2019 </a:t>
                      </a:r>
                      <a:r>
                        <a:rPr lang="ko-KR" altLang="en-US" sz="1050" b="0" dirty="0">
                          <a:solidFill>
                            <a:srgbClr val="000000"/>
                          </a:solidFill>
                          <a:latin typeface="맑은 고딕"/>
                          <a:ea typeface="맑은 고딕"/>
                        </a:rPr>
                        <a:t>환산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081528"/>
            <a:ext cx="11430000" cy="274320"/>
          </a:xfrm>
          <a:prstGeom prst="rect">
            <a:avLst/>
          </a:prstGeom>
          <a:noFill/>
        </p:spPr>
        <p:txBody>
          <a:bodyPr wrap="square" lIns="73152" tIns="36576" rIns="73152" bIns="36576" anchor="t">
            <a:spAutoFit/>
          </a:bodyPr>
          <a:lstStyle/>
          <a:p>
            <a:pPr algn="l">
              <a:spcAft>
                <a:spcPts val="200"/>
              </a:spcAft>
            </a:pPr>
            <a:r>
              <a:rPr sz="1200" b="1" dirty="0" err="1">
                <a:solidFill>
                  <a:srgbClr val="2F5597"/>
                </a:solidFill>
                <a:latin typeface="맑은 고딕"/>
                <a:ea typeface="맑은 고딕"/>
              </a:rPr>
              <a:t>근거</a:t>
            </a:r>
            <a:r>
              <a:rPr sz="1200" b="1" dirty="0">
                <a:solidFill>
                  <a:srgbClr val="2F5597"/>
                </a:solidFill>
                <a:latin typeface="맑은 고딕"/>
                <a:ea typeface="맑은 고딕"/>
              </a:rPr>
              <a:t> </a:t>
            </a:r>
            <a:r>
              <a:rPr sz="1200" b="1" dirty="0" err="1">
                <a:solidFill>
                  <a:srgbClr val="2F5597"/>
                </a:solidFill>
                <a:latin typeface="맑은 고딕"/>
                <a:ea typeface="맑은 고딕"/>
              </a:rPr>
              <a:t>내용</a:t>
            </a:r>
            <a:endParaRPr sz="1200" b="1" dirty="0">
              <a:solidFill>
                <a:srgbClr val="2F5597"/>
              </a:solidFill>
              <a:latin typeface="맑은 고딕"/>
              <a:ea typeface="맑은 고딕"/>
            </a:endParaRPr>
          </a:p>
        </p:txBody>
      </p:sp>
      <p:sp>
        <p:nvSpPr>
          <p:cNvPr id="7" name="TextBox 6"/>
          <p:cNvSpPr txBox="1"/>
          <p:nvPr/>
        </p:nvSpPr>
        <p:spPr>
          <a:xfrm>
            <a:off x="365760" y="3434688"/>
            <a:ext cx="5623560" cy="1689693"/>
          </a:xfrm>
          <a:prstGeom prst="rect">
            <a:avLst/>
          </a:prstGeom>
          <a:noFill/>
        </p:spPr>
        <p:txBody>
          <a:bodyPr wrap="square" lIns="73152" tIns="36576" rIns="73152" bIns="36576" anchor="t">
            <a:spAutoFit/>
          </a:bodyPr>
          <a:lstStyle/>
          <a:p>
            <a:pPr algn="l">
              <a:spcAft>
                <a:spcPts val="300"/>
              </a:spcAft>
            </a:pPr>
            <a:r>
              <a:rPr sz="1000" b="1" dirty="0" err="1">
                <a:solidFill>
                  <a:srgbClr val="000000"/>
                </a:solidFill>
                <a:latin typeface="맑은 고딕"/>
                <a:ea typeface="맑은 고딕"/>
              </a:rPr>
              <a:t>예상치</a:t>
            </a:r>
            <a:r>
              <a:rPr sz="1000" b="1" dirty="0">
                <a:solidFill>
                  <a:srgbClr val="000000"/>
                </a:solidFill>
                <a:latin typeface="맑은 고딕"/>
                <a:ea typeface="맑은 고딕"/>
              </a:rPr>
              <a:t> </a:t>
            </a:r>
            <a:r>
              <a:rPr sz="1000" b="1" dirty="0" err="1">
                <a:solidFill>
                  <a:srgbClr val="000000"/>
                </a:solidFill>
                <a:latin typeface="맑은 고딕"/>
                <a:ea typeface="맑은 고딕"/>
              </a:rPr>
              <a:t>산출</a:t>
            </a:r>
            <a:r>
              <a:rPr sz="1000" b="1" dirty="0">
                <a:solidFill>
                  <a:srgbClr val="000000"/>
                </a:solidFill>
                <a:latin typeface="맑은 고딕"/>
                <a:ea typeface="맑은 고딕"/>
              </a:rPr>
              <a:t> (P99)</a:t>
            </a:r>
          </a:p>
          <a:p>
            <a:pPr algn="l">
              <a:spcAft>
                <a:spcPts val="300"/>
              </a:spcAft>
            </a:pPr>
            <a:r>
              <a:rPr sz="1000" b="0" dirty="0">
                <a:solidFill>
                  <a:srgbClr val="000000"/>
                </a:solidFill>
                <a:latin typeface="맑은 고딕"/>
                <a:ea typeface="맑은 고딕"/>
              </a:rPr>
              <a:t>• Baseline: TTFT 2,300 </a:t>
            </a:r>
            <a:r>
              <a:rPr sz="1000" b="0" dirty="0" err="1">
                <a:solidFill>
                  <a:srgbClr val="000000"/>
                </a:solidFill>
                <a:latin typeface="맑은 고딕"/>
                <a:ea typeface="맑은 고딕"/>
              </a:rPr>
              <a:t>ms</a:t>
            </a:r>
            <a:r>
              <a:rPr sz="1000" b="0" dirty="0">
                <a:solidFill>
                  <a:srgbClr val="000000"/>
                </a:solidFill>
                <a:latin typeface="맑은 고딕"/>
                <a:ea typeface="맑은 고딕"/>
              </a:rPr>
              <a:t> / TPOT 53 </a:t>
            </a:r>
            <a:r>
              <a:rPr sz="1000" b="0" dirty="0" err="1">
                <a:solidFill>
                  <a:srgbClr val="000000"/>
                </a:solidFill>
                <a:latin typeface="맑은 고딕"/>
                <a:ea typeface="맑은 고딕"/>
              </a:rPr>
              <a:t>ms</a:t>
            </a:r>
            <a:r>
              <a:rPr sz="1000" b="0" dirty="0">
                <a:solidFill>
                  <a:srgbClr val="000000"/>
                </a:solidFill>
                <a:latin typeface="맑은 고딕"/>
                <a:ea typeface="맑은 고딕"/>
              </a:rPr>
              <a:t> (둘 다 SLO </a:t>
            </a:r>
            <a:r>
              <a:rPr sz="1000" b="0" dirty="0" err="1">
                <a:solidFill>
                  <a:srgbClr val="000000"/>
                </a:solidFill>
                <a:latin typeface="맑은 고딕"/>
                <a:ea typeface="맑은 고딕"/>
              </a:rPr>
              <a:t>미달</a:t>
            </a:r>
            <a:r>
              <a:rPr sz="1000" b="0" dirty="0">
                <a:solidFill>
                  <a:srgbClr val="000000"/>
                </a:solidFill>
                <a:latin typeface="맑은 고딕"/>
                <a:ea typeface="맑은 고딕"/>
              </a:rPr>
              <a:t>, ★★).</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1: TTFT 2,060 (×0.90) / TPOT 48 (×0.91). </a:t>
            </a:r>
            <a:r>
              <a:rPr sz="1000" b="0" dirty="0" err="1">
                <a:solidFill>
                  <a:srgbClr val="000000"/>
                </a:solidFill>
                <a:latin typeface="맑은 고딕"/>
                <a:ea typeface="맑은 고딕"/>
              </a:rPr>
              <a:t>정책으로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줄지만</a:t>
            </a:r>
            <a:r>
              <a:rPr sz="1000" b="0" dirty="0">
                <a:solidFill>
                  <a:srgbClr val="000000"/>
                </a:solidFill>
                <a:latin typeface="맑은 고딕"/>
                <a:ea typeface="맑은 고딕"/>
              </a:rPr>
              <a:t> </a:t>
            </a:r>
            <a:r>
              <a:rPr sz="1000" b="0" dirty="0" err="1">
                <a:solidFill>
                  <a:srgbClr val="000000"/>
                </a:solidFill>
                <a:latin typeface="맑은 고딕"/>
                <a:ea typeface="맑은 고딕"/>
              </a:rPr>
              <a:t>TTFT가</a:t>
            </a:r>
            <a:r>
              <a:rPr sz="1000" b="0" dirty="0">
                <a:solidFill>
                  <a:srgbClr val="000000"/>
                </a:solidFill>
                <a:latin typeface="맑은 고딕"/>
                <a:ea typeface="맑은 고딕"/>
              </a:rPr>
              <a:t> 2 </a:t>
            </a:r>
            <a:r>
              <a:rPr sz="1000" b="0" dirty="0" err="1">
                <a:solidFill>
                  <a:srgbClr val="000000"/>
                </a:solidFill>
                <a:latin typeface="맑은 고딕"/>
                <a:ea typeface="맑은 고딕"/>
              </a:rPr>
              <a:t>s를</a:t>
            </a:r>
            <a:r>
              <a:rPr sz="1000" b="0" dirty="0">
                <a:solidFill>
                  <a:srgbClr val="000000"/>
                </a:solidFill>
                <a:latin typeface="맑은 고딕"/>
                <a:ea typeface="맑은 고딕"/>
              </a:rPr>
              <a:t> 60 </a:t>
            </a:r>
            <a:r>
              <a:rPr sz="1000" b="0" dirty="0" err="1">
                <a:solidFill>
                  <a:srgbClr val="000000"/>
                </a:solidFill>
                <a:latin typeface="맑은 고딕"/>
                <a:ea typeface="맑은 고딕"/>
              </a:rPr>
              <a:t>ms</a:t>
            </a:r>
            <a:r>
              <a:rPr sz="1000" b="0" dirty="0">
                <a:solidFill>
                  <a:srgbClr val="000000"/>
                </a:solidFill>
                <a:latin typeface="맑은 고딕"/>
                <a:ea typeface="맑은 고딕"/>
              </a:rPr>
              <a:t> </a:t>
            </a:r>
            <a:r>
              <a:rPr sz="1000" b="0" dirty="0" err="1">
                <a:solidFill>
                  <a:srgbClr val="000000"/>
                </a:solidFill>
                <a:latin typeface="맑은 고딕"/>
                <a:ea typeface="맑은 고딕"/>
              </a:rPr>
              <a:t>넘는다</a:t>
            </a:r>
            <a:r>
              <a:rPr sz="1000" b="0" dirty="0">
                <a:solidFill>
                  <a:srgbClr val="000000"/>
                </a:solidFill>
                <a:latin typeface="맑은 고딕"/>
                <a:ea typeface="맑은 고딕"/>
              </a:rPr>
              <a:t> → ★★.</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2: TTFT 1,940 (×0.84) / TPOT 48 (×0.91) → 둘 다 SLO </a:t>
            </a:r>
            <a:r>
              <a:rPr sz="1000" b="0" dirty="0" err="1">
                <a:solidFill>
                  <a:srgbClr val="000000"/>
                </a:solidFill>
                <a:latin typeface="맑은 고딕"/>
                <a:ea typeface="맑은 고딕"/>
              </a:rPr>
              <a:t>만족</a:t>
            </a:r>
            <a:r>
              <a:rPr sz="1000" b="0" dirty="0">
                <a:solidFill>
                  <a:srgbClr val="000000"/>
                </a:solidFill>
                <a:latin typeface="맑은 고딕"/>
                <a:ea typeface="맑은 고딕"/>
              </a:rPr>
              <a:t> → ★★★.</a:t>
            </a:r>
            <a:endParaRPr lang="en-US" sz="1000" b="0" dirty="0">
              <a:solidFill>
                <a:srgbClr val="000000"/>
              </a:solidFill>
              <a:latin typeface="맑은 고딕"/>
              <a:ea typeface="맑은 고딕"/>
            </a:endParaRPr>
          </a:p>
          <a:p>
            <a:pPr algn="l">
              <a:spcAft>
                <a:spcPts val="300"/>
              </a:spcAft>
            </a:pPr>
            <a:endParaRPr sz="1000" b="0" dirty="0">
              <a:solidFill>
                <a:srgbClr val="000000"/>
              </a:solidFill>
              <a:latin typeface="맑은 고딕"/>
              <a:ea typeface="맑은 고딕"/>
            </a:endParaRPr>
          </a:p>
          <a:p>
            <a:pPr algn="l">
              <a:spcAft>
                <a:spcPts val="300"/>
              </a:spcAft>
            </a:pPr>
            <a:r>
              <a:rPr sz="1000" b="1" dirty="0" err="1">
                <a:solidFill>
                  <a:srgbClr val="000000"/>
                </a:solidFill>
                <a:latin typeface="맑은 고딕"/>
                <a:ea typeface="맑은 고딕"/>
              </a:rPr>
              <a:t>TPOT이</a:t>
            </a:r>
            <a:r>
              <a:rPr sz="1000" b="1" dirty="0">
                <a:solidFill>
                  <a:srgbClr val="000000"/>
                </a:solidFill>
                <a:latin typeface="맑은 고딕"/>
                <a:ea typeface="맑은 고딕"/>
              </a:rPr>
              <a:t> </a:t>
            </a:r>
            <a:r>
              <a:rPr sz="1000" b="1" dirty="0" err="1">
                <a:solidFill>
                  <a:srgbClr val="000000"/>
                </a:solidFill>
                <a:latin typeface="맑은 고딕"/>
                <a:ea typeface="맑은 고딕"/>
              </a:rPr>
              <a:t>같은</a:t>
            </a:r>
            <a:r>
              <a:rPr sz="1000" b="1" dirty="0">
                <a:solidFill>
                  <a:srgbClr val="000000"/>
                </a:solidFill>
                <a:latin typeface="맑은 고딕"/>
                <a:ea typeface="맑은 고딕"/>
              </a:rPr>
              <a:t> </a:t>
            </a:r>
            <a:r>
              <a:rPr sz="1000" b="1" dirty="0" err="1">
                <a:solidFill>
                  <a:srgbClr val="000000"/>
                </a:solidFill>
                <a:latin typeface="맑은 고딕"/>
                <a:ea typeface="맑은 고딕"/>
              </a:rPr>
              <a:t>이유</a:t>
            </a:r>
            <a:endParaRPr sz="1000" b="1"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Decode </a:t>
            </a:r>
            <a:r>
              <a:rPr sz="1000" b="0" dirty="0" err="1">
                <a:solidFill>
                  <a:srgbClr val="000000"/>
                </a:solidFill>
                <a:latin typeface="맑은 고딕"/>
                <a:ea typeface="맑은 고딕"/>
              </a:rPr>
              <a:t>단계는</a:t>
            </a:r>
            <a:r>
              <a:rPr sz="1000" b="0" dirty="0">
                <a:solidFill>
                  <a:srgbClr val="000000"/>
                </a:solidFill>
                <a:latin typeface="맑은 고딕"/>
                <a:ea typeface="맑은 고딕"/>
              </a:rPr>
              <a:t> </a:t>
            </a:r>
            <a:r>
              <a:rPr sz="1000" b="0" dirty="0" err="1">
                <a:solidFill>
                  <a:srgbClr val="000000"/>
                </a:solidFill>
                <a:latin typeface="맑은 고딕"/>
                <a:ea typeface="맑은 고딕"/>
              </a:rPr>
              <a:t>엔진이</a:t>
            </a:r>
            <a:r>
              <a:rPr sz="1000" b="0" dirty="0">
                <a:solidFill>
                  <a:srgbClr val="000000"/>
                </a:solidFill>
                <a:latin typeface="맑은 고딕"/>
                <a:ea typeface="맑은 고딕"/>
              </a:rPr>
              <a:t> </a:t>
            </a:r>
            <a:r>
              <a:rPr sz="1000" b="0" dirty="0" err="1">
                <a:solidFill>
                  <a:srgbClr val="000000"/>
                </a:solidFill>
                <a:latin typeface="맑은 고딕"/>
                <a:ea typeface="맑은 고딕"/>
              </a:rPr>
              <a:t>실행하므로</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a:t>
            </a:r>
            <a:r>
              <a:rPr sz="1000" b="0" dirty="0">
                <a:solidFill>
                  <a:srgbClr val="000000"/>
                </a:solidFill>
                <a:latin typeface="맑은 고딕"/>
                <a:ea typeface="맑은 고딕"/>
              </a:rPr>
              <a:t> </a:t>
            </a:r>
            <a:r>
              <a:rPr sz="1000" b="0" dirty="0" err="1">
                <a:solidFill>
                  <a:srgbClr val="000000"/>
                </a:solidFill>
                <a:latin typeface="맑은 고딕"/>
                <a:ea typeface="맑은 고딕"/>
              </a:rPr>
              <a:t>구조가</a:t>
            </a:r>
            <a:r>
              <a:rPr sz="1000" b="0" dirty="0">
                <a:solidFill>
                  <a:srgbClr val="000000"/>
                </a:solidFill>
                <a:latin typeface="맑은 고딕"/>
                <a:ea typeface="맑은 고딕"/>
              </a:rPr>
              <a:t> </a:t>
            </a:r>
            <a:r>
              <a:rPr sz="1000" b="0" dirty="0" err="1">
                <a:solidFill>
                  <a:srgbClr val="000000"/>
                </a:solidFill>
                <a:latin typeface="맑은 고딕"/>
                <a:ea typeface="맑은 고딕"/>
              </a:rPr>
              <a:t>바뀌어도</a:t>
            </a:r>
            <a:r>
              <a:rPr sz="1000" b="0" dirty="0">
                <a:solidFill>
                  <a:srgbClr val="000000"/>
                </a:solidFill>
                <a:latin typeface="맑은 고딕"/>
                <a:ea typeface="맑은 고딕"/>
              </a:rPr>
              <a:t> </a:t>
            </a:r>
            <a:r>
              <a:rPr sz="1000" b="0" dirty="0" err="1">
                <a:solidFill>
                  <a:srgbClr val="000000"/>
                </a:solidFill>
                <a:latin typeface="맑은 고딕"/>
                <a:ea typeface="맑은 고딕"/>
              </a:rPr>
              <a:t>TPOT은</a:t>
            </a:r>
            <a:r>
              <a:rPr sz="1000" b="0" dirty="0">
                <a:solidFill>
                  <a:srgbClr val="000000"/>
                </a:solidFill>
                <a:latin typeface="맑은 고딕"/>
                <a:ea typeface="맑은 고딕"/>
              </a:rPr>
              <a:t> </a:t>
            </a:r>
            <a:r>
              <a:rPr sz="1000" b="0" dirty="0" err="1">
                <a:solidFill>
                  <a:srgbClr val="000000"/>
                </a:solidFill>
                <a:latin typeface="맑은 고딕"/>
                <a:ea typeface="맑은 고딕"/>
              </a:rPr>
              <a:t>같다고</a:t>
            </a:r>
            <a:r>
              <a:rPr sz="1000" b="0" dirty="0">
                <a:solidFill>
                  <a:srgbClr val="000000"/>
                </a:solidFill>
                <a:latin typeface="맑은 고딕"/>
                <a:ea typeface="맑은 고딕"/>
              </a:rPr>
              <a:t> </a:t>
            </a:r>
            <a:r>
              <a:rPr sz="1000" b="0" dirty="0" err="1">
                <a:solidFill>
                  <a:srgbClr val="000000"/>
                </a:solidFill>
                <a:latin typeface="맑은 고딕"/>
                <a:ea typeface="맑은 고딕"/>
              </a:rPr>
              <a:t>본다</a:t>
            </a:r>
            <a:r>
              <a:rPr sz="1000" b="0" dirty="0">
                <a:solidFill>
                  <a:srgbClr val="000000"/>
                </a:solidFill>
                <a:latin typeface="맑은 고딕"/>
                <a:ea typeface="맑은 고딕"/>
              </a:rPr>
              <a:t>. </a:t>
            </a:r>
            <a:r>
              <a:rPr sz="1000" b="0" dirty="0" err="1">
                <a:solidFill>
                  <a:srgbClr val="000000"/>
                </a:solidFill>
                <a:latin typeface="맑은 고딕"/>
                <a:ea typeface="맑은 고딕"/>
              </a:rPr>
              <a:t>차이는</a:t>
            </a:r>
            <a:r>
              <a:rPr sz="1000" b="0" dirty="0">
                <a:solidFill>
                  <a:srgbClr val="000000"/>
                </a:solidFill>
                <a:latin typeface="맑은 고딕"/>
                <a:ea typeface="맑은 고딕"/>
              </a:rPr>
              <a:t> TTFT(</a:t>
            </a:r>
            <a:r>
              <a:rPr sz="1000" b="0" dirty="0" err="1">
                <a:solidFill>
                  <a:srgbClr val="000000"/>
                </a:solidFill>
                <a:latin typeface="맑은 고딕"/>
                <a:ea typeface="맑은 고딕"/>
              </a:rPr>
              <a:t>요청이</a:t>
            </a:r>
            <a:r>
              <a:rPr sz="1000" b="0" dirty="0">
                <a:solidFill>
                  <a:srgbClr val="000000"/>
                </a:solidFill>
                <a:latin typeface="맑은 고딕"/>
                <a:ea typeface="맑은 고딕"/>
              </a:rPr>
              <a:t> </a:t>
            </a:r>
            <a:r>
              <a:rPr sz="1000" b="0" dirty="0" err="1">
                <a:solidFill>
                  <a:srgbClr val="000000"/>
                </a:solidFill>
                <a:latin typeface="맑은 고딕"/>
                <a:ea typeface="맑은 고딕"/>
              </a:rPr>
              <a:t>엔진에</a:t>
            </a:r>
            <a:r>
              <a:rPr sz="1000" b="0" dirty="0">
                <a:solidFill>
                  <a:srgbClr val="000000"/>
                </a:solidFill>
                <a:latin typeface="맑은 고딕"/>
                <a:ea typeface="맑은 고딕"/>
              </a:rPr>
              <a:t> </a:t>
            </a:r>
            <a:r>
              <a:rPr sz="1000" b="0" dirty="0" err="1">
                <a:solidFill>
                  <a:srgbClr val="000000"/>
                </a:solidFill>
                <a:latin typeface="맑은 고딕"/>
                <a:ea typeface="맑은 고딕"/>
              </a:rPr>
              <a:t>닿기까지</a:t>
            </a:r>
            <a:r>
              <a:rPr sz="1000" b="0" dirty="0">
                <a:solidFill>
                  <a:srgbClr val="000000"/>
                </a:solidFill>
                <a:latin typeface="맑은 고딕"/>
                <a:ea typeface="맑은 고딕"/>
              </a:rPr>
              <a:t>)</a:t>
            </a:r>
            <a:r>
              <a:rPr sz="1000" b="0" dirty="0" err="1">
                <a:solidFill>
                  <a:srgbClr val="000000"/>
                </a:solidFill>
                <a:latin typeface="맑은 고딕"/>
                <a:ea typeface="맑은 고딕"/>
              </a:rPr>
              <a:t>에서만</a:t>
            </a:r>
            <a:r>
              <a:rPr sz="1000" b="0" dirty="0">
                <a:solidFill>
                  <a:srgbClr val="000000"/>
                </a:solidFill>
                <a:latin typeface="맑은 고딕"/>
                <a:ea typeface="맑은 고딕"/>
              </a:rPr>
              <a:t> </a:t>
            </a:r>
            <a:r>
              <a:rPr sz="1000" b="0" dirty="0" err="1">
                <a:solidFill>
                  <a:srgbClr val="000000"/>
                </a:solidFill>
                <a:latin typeface="맑은 고딕"/>
                <a:ea typeface="맑은 고딕"/>
              </a:rPr>
              <a:t>난다</a:t>
            </a:r>
            <a:r>
              <a:rPr sz="1000" b="0" dirty="0">
                <a:solidFill>
                  <a:srgbClr val="000000"/>
                </a:solidFill>
                <a:latin typeface="맑은 고딕"/>
                <a:ea typeface="맑은 고딕"/>
              </a:rPr>
              <a:t>.</a:t>
            </a:r>
          </a:p>
        </p:txBody>
      </p:sp>
      <p:sp>
        <p:nvSpPr>
          <p:cNvPr id="8" name="TextBox 7"/>
          <p:cNvSpPr txBox="1"/>
          <p:nvPr/>
        </p:nvSpPr>
        <p:spPr>
          <a:xfrm>
            <a:off x="6126480" y="3282696"/>
            <a:ext cx="5696712" cy="1920526"/>
          </a:xfrm>
          <a:prstGeom prst="rect">
            <a:avLst/>
          </a:prstGeom>
          <a:noFill/>
        </p:spPr>
        <p:txBody>
          <a:bodyPr wrap="square" lIns="73152" tIns="36576" rIns="73152" bIns="36576" anchor="t">
            <a:spAutoFit/>
          </a:bodyPr>
          <a:lstStyle/>
          <a:p>
            <a:pPr algn="l">
              <a:spcAft>
                <a:spcPts val="300"/>
              </a:spcAft>
            </a:pPr>
            <a:r>
              <a:rPr sz="1000" b="1" dirty="0">
                <a:solidFill>
                  <a:srgbClr val="000000"/>
                </a:solidFill>
                <a:latin typeface="맑은 고딕"/>
                <a:ea typeface="맑은 고딕"/>
              </a:rPr>
              <a:t>TTFT </a:t>
            </a:r>
            <a:r>
              <a:rPr sz="1000" b="1" dirty="0" err="1">
                <a:solidFill>
                  <a:srgbClr val="000000"/>
                </a:solidFill>
                <a:latin typeface="맑은 고딕"/>
                <a:ea typeface="맑은 고딕"/>
              </a:rPr>
              <a:t>차이</a:t>
            </a:r>
            <a:r>
              <a:rPr sz="1000" b="1" dirty="0">
                <a:solidFill>
                  <a:srgbClr val="000000"/>
                </a:solidFill>
                <a:latin typeface="맑은 고딕"/>
                <a:ea typeface="맑은 고딕"/>
              </a:rPr>
              <a:t> 120 </a:t>
            </a:r>
            <a:r>
              <a:rPr sz="1000" b="1" dirty="0" err="1">
                <a:solidFill>
                  <a:srgbClr val="000000"/>
                </a:solidFill>
                <a:latin typeface="맑은 고딕"/>
                <a:ea typeface="맑은 고딕"/>
              </a:rPr>
              <a:t>ms의</a:t>
            </a:r>
            <a:r>
              <a:rPr sz="1000" b="1" dirty="0">
                <a:solidFill>
                  <a:srgbClr val="000000"/>
                </a:solidFill>
                <a:latin typeface="맑은 고딕"/>
                <a:ea typeface="맑은 고딕"/>
              </a:rPr>
              <a:t> </a:t>
            </a:r>
            <a:r>
              <a:rPr sz="1000" b="1" dirty="0" err="1">
                <a:solidFill>
                  <a:srgbClr val="000000"/>
                </a:solidFill>
                <a:latin typeface="맑은 고딕"/>
                <a:ea typeface="맑은 고딕"/>
              </a:rPr>
              <a:t>구성</a:t>
            </a:r>
            <a:r>
              <a:rPr sz="1000" b="1" dirty="0">
                <a:solidFill>
                  <a:srgbClr val="000000"/>
                </a:solidFill>
                <a:latin typeface="맑은 고딕"/>
                <a:ea typeface="맑은 고딕"/>
              </a:rPr>
              <a:t> (</a:t>
            </a:r>
            <a:r>
              <a:rPr sz="1000" b="1" dirty="0" err="1">
                <a:solidFill>
                  <a:srgbClr val="000000"/>
                </a:solidFill>
                <a:latin typeface="맑은 고딕"/>
                <a:ea typeface="맑은 고딕"/>
              </a:rPr>
              <a:t>가설</a:t>
            </a:r>
            <a:r>
              <a:rPr sz="1000" b="1" dirty="0">
                <a:solidFill>
                  <a:srgbClr val="000000"/>
                </a:solidFill>
                <a:latin typeface="맑은 고딕"/>
                <a:ea typeface="맑은 고딕"/>
              </a:rPr>
              <a:t>)</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프록시</a:t>
            </a:r>
            <a:r>
              <a:rPr sz="1000" b="0" dirty="0">
                <a:solidFill>
                  <a:srgbClr val="000000"/>
                </a:solidFill>
                <a:latin typeface="맑은 고딕"/>
                <a:ea typeface="맑은 고딕"/>
              </a:rPr>
              <a:t> → Router </a:t>
            </a:r>
            <a:r>
              <a:rPr sz="1000" b="0" dirty="0" err="1">
                <a:solidFill>
                  <a:srgbClr val="000000"/>
                </a:solidFill>
                <a:latin typeface="맑은 고딕"/>
                <a:ea typeface="맑은 고딕"/>
              </a:rPr>
              <a:t>원격</a:t>
            </a:r>
            <a:r>
              <a:rPr sz="1000" b="0" dirty="0">
                <a:solidFill>
                  <a:srgbClr val="000000"/>
                </a:solidFill>
                <a:latin typeface="맑은 고딕"/>
                <a:ea typeface="맑은 고딕"/>
              </a:rPr>
              <a:t> </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호출</a:t>
            </a:r>
            <a:r>
              <a:rPr sz="1000" b="0" dirty="0">
                <a:solidFill>
                  <a:srgbClr val="000000"/>
                </a:solidFill>
                <a:latin typeface="맑은 고딕"/>
                <a:ea typeface="맑은 고딕"/>
              </a:rPr>
              <a:t> 1회: 약 10 </a:t>
            </a:r>
            <a:r>
              <a:rPr sz="1000" b="0" dirty="0" err="1">
                <a:solidFill>
                  <a:srgbClr val="000000"/>
                </a:solidFill>
                <a:latin typeface="맑은 고딕"/>
                <a:ea typeface="맑은 고딕"/>
              </a:rPr>
              <a:t>ms</a:t>
            </a:r>
            <a:endParaRPr sz="1000" b="0"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P/D </a:t>
            </a:r>
            <a:r>
              <a:rPr sz="1000" b="0" dirty="0" err="1">
                <a:solidFill>
                  <a:srgbClr val="000000"/>
                </a:solidFill>
                <a:latin typeface="맑은 고딕"/>
                <a:ea typeface="맑은 고딕"/>
              </a:rPr>
              <a:t>경로의</a:t>
            </a:r>
            <a:r>
              <a:rPr sz="1000" b="0" dirty="0">
                <a:solidFill>
                  <a:srgbClr val="000000"/>
                </a:solidFill>
                <a:latin typeface="맑은 고딕"/>
                <a:ea typeface="맑은 고딕"/>
              </a:rPr>
              <a:t> </a:t>
            </a:r>
            <a:r>
              <a:rPr sz="1000" b="0" dirty="0" err="1">
                <a:solidFill>
                  <a:srgbClr val="000000"/>
                </a:solidFill>
                <a:latin typeface="맑은 고딕"/>
                <a:ea typeface="맑은 고딕"/>
              </a:rPr>
              <a:t>보조</a:t>
            </a:r>
            <a:r>
              <a:rPr sz="1000" b="0" dirty="0">
                <a:solidFill>
                  <a:srgbClr val="000000"/>
                </a:solidFill>
                <a:latin typeface="맑은 고딕"/>
                <a:ea typeface="맑은 고딕"/>
              </a:rPr>
              <a:t> </a:t>
            </a:r>
            <a:r>
              <a:rPr sz="1000" b="0" dirty="0" err="1">
                <a:solidFill>
                  <a:srgbClr val="000000"/>
                </a:solidFill>
                <a:latin typeface="맑은 고딕"/>
                <a:ea typeface="맑은 고딕"/>
              </a:rPr>
              <a:t>프로세스</a:t>
            </a:r>
            <a:r>
              <a:rPr sz="1000" b="0" dirty="0">
                <a:solidFill>
                  <a:srgbClr val="000000"/>
                </a:solidFill>
                <a:latin typeface="맑은 고딕"/>
                <a:ea typeface="맑은 고딕"/>
              </a:rPr>
              <a:t> </a:t>
            </a:r>
            <a:r>
              <a:rPr sz="1000" b="0" dirty="0" err="1">
                <a:solidFill>
                  <a:srgbClr val="000000"/>
                </a:solidFill>
                <a:latin typeface="맑은 고딕"/>
                <a:ea typeface="맑은 고딕"/>
              </a:rPr>
              <a:t>경유</a:t>
            </a:r>
            <a:r>
              <a:rPr sz="1000" b="0" dirty="0">
                <a:solidFill>
                  <a:srgbClr val="000000"/>
                </a:solidFill>
                <a:latin typeface="맑은 고딕"/>
                <a:ea typeface="맑은 고딕"/>
              </a:rPr>
              <a:t>(</a:t>
            </a:r>
            <a:r>
              <a:rPr sz="1000" b="0" dirty="0" err="1">
                <a:solidFill>
                  <a:srgbClr val="000000"/>
                </a:solidFill>
                <a:latin typeface="맑은 고딕"/>
                <a:ea typeface="맑은 고딕"/>
              </a:rPr>
              <a:t>요청</a:t>
            </a:r>
            <a:r>
              <a:rPr sz="1000" b="0" dirty="0">
                <a:solidFill>
                  <a:srgbClr val="000000"/>
                </a:solidFill>
                <a:latin typeface="맑은 고딕"/>
                <a:ea typeface="맑은 고딕"/>
              </a:rPr>
              <a:t> 한 번 더 </a:t>
            </a:r>
            <a:r>
              <a:rPr sz="1000" b="0" dirty="0" err="1">
                <a:solidFill>
                  <a:srgbClr val="000000"/>
                </a:solidFill>
                <a:latin typeface="맑은 고딕"/>
                <a:ea typeface="맑은 고딕"/>
              </a:rPr>
              <a:t>전달·큐잉</a:t>
            </a:r>
            <a:r>
              <a:rPr sz="1000" b="0" dirty="0">
                <a:solidFill>
                  <a:srgbClr val="000000"/>
                </a:solidFill>
                <a:latin typeface="맑은 고딕"/>
                <a:ea typeface="맑은 고딕"/>
              </a:rPr>
              <a:t>): 약 40 </a:t>
            </a:r>
            <a:r>
              <a:rPr sz="1000" b="0" dirty="0" err="1">
                <a:solidFill>
                  <a:srgbClr val="000000"/>
                </a:solidFill>
                <a:latin typeface="맑은 고딕"/>
                <a:ea typeface="맑은 고딕"/>
              </a:rPr>
              <a:t>ms</a:t>
            </a:r>
            <a:endParaRPr sz="1000" b="0"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부하</a:t>
            </a:r>
            <a:r>
              <a:rPr sz="1000" b="0" dirty="0">
                <a:solidFill>
                  <a:srgbClr val="000000"/>
                </a:solidFill>
                <a:latin typeface="맑은 고딕"/>
                <a:ea typeface="맑은 고딕"/>
              </a:rPr>
              <a:t> 시 위 두 </a:t>
            </a:r>
            <a:r>
              <a:rPr sz="1000" b="0" dirty="0" err="1">
                <a:solidFill>
                  <a:srgbClr val="000000"/>
                </a:solidFill>
                <a:latin typeface="맑은 고딕"/>
                <a:ea typeface="맑은 고딕"/>
              </a:rPr>
              <a:t>지점의</a:t>
            </a:r>
            <a:r>
              <a:rPr sz="1000" b="0" dirty="0">
                <a:solidFill>
                  <a:srgbClr val="000000"/>
                </a:solidFill>
                <a:latin typeface="맑은 고딕"/>
                <a:ea typeface="맑은 고딕"/>
              </a:rPr>
              <a:t> </a:t>
            </a:r>
            <a:r>
              <a:rPr sz="1000" b="0" dirty="0" err="1">
                <a:solidFill>
                  <a:srgbClr val="000000"/>
                </a:solidFill>
                <a:latin typeface="맑은 고딕"/>
                <a:ea typeface="맑은 고딕"/>
              </a:rPr>
              <a:t>꼬리</a:t>
            </a:r>
            <a:r>
              <a:rPr sz="1000" b="0" dirty="0">
                <a:solidFill>
                  <a:srgbClr val="000000"/>
                </a:solidFill>
                <a:latin typeface="맑은 고딕"/>
                <a:ea typeface="맑은 고딕"/>
              </a:rPr>
              <a:t>(P99) </a:t>
            </a:r>
            <a:r>
              <a:rPr sz="1000" b="0" dirty="0" err="1">
                <a:solidFill>
                  <a:srgbClr val="000000"/>
                </a:solidFill>
                <a:latin typeface="맑은 고딕"/>
                <a:ea typeface="맑은 고딕"/>
              </a:rPr>
              <a:t>큐잉</a:t>
            </a:r>
            <a:r>
              <a:rPr sz="1000" b="0" dirty="0">
                <a:solidFill>
                  <a:srgbClr val="000000"/>
                </a:solidFill>
                <a:latin typeface="맑은 고딕"/>
                <a:ea typeface="맑은 고딕"/>
              </a:rPr>
              <a:t>: 약 70 </a:t>
            </a:r>
            <a:r>
              <a:rPr sz="1000" b="0" dirty="0" err="1">
                <a:solidFill>
                  <a:srgbClr val="000000"/>
                </a:solidFill>
                <a:latin typeface="맑은 고딕"/>
                <a:ea typeface="맑은 고딕"/>
              </a:rPr>
              <a:t>ms</a:t>
            </a:r>
            <a:endParaRPr sz="1000" b="0"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2는 두 </a:t>
            </a:r>
            <a:r>
              <a:rPr sz="1000" b="0" dirty="0" err="1">
                <a:solidFill>
                  <a:srgbClr val="000000"/>
                </a:solidFill>
                <a:latin typeface="맑은 고딕"/>
                <a:ea typeface="맑은 고딕"/>
              </a:rPr>
              <a:t>hop이</a:t>
            </a:r>
            <a:r>
              <a:rPr sz="1000" b="0" dirty="0">
                <a:solidFill>
                  <a:srgbClr val="000000"/>
                </a:solidFill>
                <a:latin typeface="맑은 고딕"/>
                <a:ea typeface="맑은 고딕"/>
              </a:rPr>
              <a:t> </a:t>
            </a:r>
            <a:r>
              <a:rPr sz="1000" b="0" dirty="0" err="1">
                <a:solidFill>
                  <a:srgbClr val="000000"/>
                </a:solidFill>
                <a:latin typeface="맑은 고딕"/>
                <a:ea typeface="맑은 고딕"/>
              </a:rPr>
              <a:t>없다</a:t>
            </a:r>
            <a:r>
              <a:rPr sz="1000" b="0" dirty="0">
                <a:solidFill>
                  <a:srgbClr val="000000"/>
                </a:solidFill>
                <a:latin typeface="맑은 고딕"/>
                <a:ea typeface="맑은 고딕"/>
              </a:rPr>
              <a:t> (</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위치</a:t>
            </a:r>
            <a:r>
              <a:rPr sz="1000" b="0" dirty="0">
                <a:solidFill>
                  <a:srgbClr val="000000"/>
                </a:solidFill>
                <a:latin typeface="맑은 고딕"/>
                <a:ea typeface="맑은 고딕"/>
              </a:rPr>
              <a:t> D1, P/D </a:t>
            </a:r>
            <a:r>
              <a:rPr sz="1000" b="0" dirty="0" err="1">
                <a:solidFill>
                  <a:srgbClr val="000000"/>
                </a:solidFill>
                <a:latin typeface="맑은 고딕"/>
                <a:ea typeface="맑은 고딕"/>
              </a:rPr>
              <a:t>조율</a:t>
            </a:r>
            <a:r>
              <a:rPr sz="1000" b="0" dirty="0">
                <a:solidFill>
                  <a:srgbClr val="000000"/>
                </a:solidFill>
                <a:latin typeface="맑은 고딕"/>
                <a:ea typeface="맑은 고딕"/>
              </a:rPr>
              <a:t> </a:t>
            </a:r>
            <a:r>
              <a:rPr sz="1000" b="0" dirty="0" err="1">
                <a:solidFill>
                  <a:srgbClr val="000000"/>
                </a:solidFill>
                <a:latin typeface="맑은 고딕"/>
                <a:ea typeface="맑은 고딕"/>
              </a:rPr>
              <a:t>위치</a:t>
            </a:r>
            <a:r>
              <a:rPr sz="1000" b="0" dirty="0">
                <a:solidFill>
                  <a:srgbClr val="000000"/>
                </a:solidFill>
                <a:latin typeface="맑은 고딕"/>
                <a:ea typeface="맑은 고딕"/>
              </a:rPr>
              <a:t> D2).</a:t>
            </a:r>
            <a:endParaRPr lang="en-US" sz="1000" b="0" dirty="0">
              <a:solidFill>
                <a:srgbClr val="000000"/>
              </a:solidFill>
              <a:latin typeface="맑은 고딕"/>
              <a:ea typeface="맑은 고딕"/>
            </a:endParaRPr>
          </a:p>
          <a:p>
            <a:pPr algn="l">
              <a:spcAft>
                <a:spcPts val="300"/>
              </a:spcAft>
            </a:pPr>
            <a:endParaRPr sz="1000" b="0" dirty="0">
              <a:solidFill>
                <a:srgbClr val="000000"/>
              </a:solidFill>
              <a:latin typeface="맑은 고딕"/>
              <a:ea typeface="맑은 고딕"/>
            </a:endParaRPr>
          </a:p>
          <a:p>
            <a:pPr algn="l">
              <a:spcAft>
                <a:spcPts val="300"/>
              </a:spcAft>
            </a:pPr>
            <a:r>
              <a:rPr sz="1000" b="1" dirty="0" err="1">
                <a:solidFill>
                  <a:srgbClr val="C00000"/>
                </a:solidFill>
                <a:latin typeface="맑은 고딕"/>
                <a:ea typeface="맑은 고딕"/>
              </a:rPr>
              <a:t>정직한</a:t>
            </a:r>
            <a:r>
              <a:rPr sz="1000" b="1" dirty="0">
                <a:solidFill>
                  <a:srgbClr val="C00000"/>
                </a:solidFill>
                <a:latin typeface="맑은 고딕"/>
                <a:ea typeface="맑은 고딕"/>
              </a:rPr>
              <a:t> </a:t>
            </a:r>
            <a:r>
              <a:rPr sz="1000" b="1" dirty="0" err="1">
                <a:solidFill>
                  <a:srgbClr val="C00000"/>
                </a:solidFill>
                <a:latin typeface="맑은 고딕"/>
                <a:ea typeface="맑은 고딕"/>
              </a:rPr>
              <a:t>주의</a:t>
            </a:r>
            <a:endParaRPr sz="1000" b="1" dirty="0">
              <a:solidFill>
                <a:srgbClr val="C00000"/>
              </a:solidFill>
              <a:latin typeface="맑은 고딕"/>
              <a:ea typeface="맑은 고딕"/>
            </a:endParaRPr>
          </a:p>
          <a:p>
            <a:pPr algn="l">
              <a:spcAft>
                <a:spcPts val="300"/>
              </a:spcAft>
            </a:pPr>
            <a:r>
              <a:rPr sz="1000" b="0" dirty="0">
                <a:solidFill>
                  <a:srgbClr val="000000"/>
                </a:solidFill>
                <a:latin typeface="맑은 고딕"/>
                <a:ea typeface="맑은 고딕"/>
              </a:rPr>
              <a:t>• 별 </a:t>
            </a:r>
            <a:r>
              <a:rPr sz="1000" b="0" dirty="0" err="1">
                <a:solidFill>
                  <a:srgbClr val="000000"/>
                </a:solidFill>
                <a:latin typeface="맑은 고딕"/>
                <a:ea typeface="맑은 고딕"/>
              </a:rPr>
              <a:t>차이가</a:t>
            </a:r>
            <a:r>
              <a:rPr sz="1000" b="0" dirty="0">
                <a:solidFill>
                  <a:srgbClr val="000000"/>
                </a:solidFill>
                <a:latin typeface="맑은 고딕"/>
                <a:ea typeface="맑은 고딕"/>
              </a:rPr>
              <a:t> TTFT 2 s </a:t>
            </a:r>
            <a:r>
              <a:rPr sz="1000" b="0" dirty="0" err="1">
                <a:solidFill>
                  <a:srgbClr val="000000"/>
                </a:solidFill>
                <a:latin typeface="맑은 고딕"/>
                <a:ea typeface="맑은 고딕"/>
              </a:rPr>
              <a:t>경계를</a:t>
            </a:r>
            <a:r>
              <a:rPr sz="1000" b="0" dirty="0">
                <a:solidFill>
                  <a:srgbClr val="000000"/>
                </a:solidFill>
                <a:latin typeface="맑은 고딕"/>
                <a:ea typeface="맑은 고딕"/>
              </a:rPr>
              <a:t> </a:t>
            </a:r>
            <a:r>
              <a:rPr sz="1000" b="0" dirty="0" err="1">
                <a:solidFill>
                  <a:srgbClr val="000000"/>
                </a:solidFill>
                <a:latin typeface="맑은 고딕"/>
                <a:ea typeface="맑은 고딕"/>
              </a:rPr>
              <a:t>사이에</a:t>
            </a:r>
            <a:r>
              <a:rPr sz="1000" b="0" dirty="0">
                <a:solidFill>
                  <a:srgbClr val="000000"/>
                </a:solidFill>
                <a:latin typeface="맑은 고딕"/>
                <a:ea typeface="맑은 고딕"/>
              </a:rPr>
              <a:t> 둔 약 6%에서 </a:t>
            </a:r>
            <a:r>
              <a:rPr sz="1000" b="0" dirty="0" err="1">
                <a:solidFill>
                  <a:srgbClr val="000000"/>
                </a:solidFill>
                <a:latin typeface="맑은 고딕"/>
                <a:ea typeface="맑은 고딕"/>
              </a:rPr>
              <a:t>갈린다</a:t>
            </a:r>
            <a:r>
              <a:rPr sz="1000" b="0" dirty="0">
                <a:solidFill>
                  <a:srgbClr val="000000"/>
                </a:solidFill>
                <a:latin typeface="맑은 고딕"/>
                <a:ea typeface="맑은 고딕"/>
              </a:rPr>
              <a:t>. ±3~4%만 </a:t>
            </a:r>
            <a:r>
              <a:rPr sz="1000" b="0" dirty="0" err="1">
                <a:solidFill>
                  <a:srgbClr val="000000"/>
                </a:solidFill>
                <a:latin typeface="맑은 고딕"/>
                <a:ea typeface="맑은 고딕"/>
              </a:rPr>
              <a:t>움직여도</a:t>
            </a:r>
            <a:r>
              <a:rPr sz="1000" b="0" dirty="0">
                <a:solidFill>
                  <a:srgbClr val="000000"/>
                </a:solidFill>
                <a:latin typeface="맑은 고딕"/>
                <a:ea typeface="맑은 고딕"/>
              </a:rPr>
              <a:t> </a:t>
            </a:r>
            <a:r>
              <a:rPr sz="1000" b="0" dirty="0" err="1">
                <a:solidFill>
                  <a:srgbClr val="000000"/>
                </a:solidFill>
                <a:latin typeface="맑은 고딕"/>
                <a:ea typeface="맑은 고딕"/>
              </a:rPr>
              <a:t>동점이거나</a:t>
            </a:r>
            <a:r>
              <a:rPr sz="1000" b="0" dirty="0">
                <a:solidFill>
                  <a:srgbClr val="000000"/>
                </a:solidFill>
                <a:latin typeface="맑은 고딕"/>
                <a:ea typeface="맑은 고딕"/>
              </a:rPr>
              <a:t> </a:t>
            </a:r>
            <a:r>
              <a:rPr sz="1000" b="0" dirty="0" err="1">
                <a:solidFill>
                  <a:srgbClr val="000000"/>
                </a:solidFill>
                <a:latin typeface="맑은 고딕"/>
                <a:ea typeface="맑은 고딕"/>
              </a:rPr>
              <a:t>뒤집힌다</a:t>
            </a:r>
            <a:r>
              <a:rPr sz="1000" b="0" dirty="0">
                <a:solidFill>
                  <a:srgbClr val="000000"/>
                </a:solidFill>
                <a:latin typeface="맑은 고딕"/>
                <a:ea typeface="맑은 고딕"/>
              </a:rPr>
              <a:t>.</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근거가</a:t>
            </a:r>
            <a:r>
              <a:rPr sz="1000" b="0" dirty="0">
                <a:solidFill>
                  <a:srgbClr val="000000"/>
                </a:solidFill>
                <a:latin typeface="맑은 고딕"/>
                <a:ea typeface="맑은 고딕"/>
              </a:rPr>
              <a:t> </a:t>
            </a:r>
            <a:r>
              <a:rPr sz="1000" b="0" dirty="0" err="1">
                <a:solidFill>
                  <a:srgbClr val="000000"/>
                </a:solidFill>
                <a:latin typeface="맑은 고딕"/>
                <a:ea typeface="맑은 고딕"/>
              </a:rPr>
              <a:t>가장</a:t>
            </a:r>
            <a:r>
              <a:rPr sz="1000" b="0" dirty="0">
                <a:solidFill>
                  <a:srgbClr val="000000"/>
                </a:solidFill>
                <a:latin typeface="맑은 고딕"/>
                <a:ea typeface="맑은 고딕"/>
              </a:rPr>
              <a:t> </a:t>
            </a:r>
            <a:r>
              <a:rPr sz="1000" b="0" dirty="0" err="1">
                <a:solidFill>
                  <a:srgbClr val="000000"/>
                </a:solidFill>
                <a:latin typeface="맑은 고딕"/>
                <a:ea typeface="맑은 고딕"/>
              </a:rPr>
              <a:t>약하다</a:t>
            </a:r>
            <a:r>
              <a:rPr sz="1000" b="0" dirty="0">
                <a:solidFill>
                  <a:srgbClr val="000000"/>
                </a:solidFill>
                <a:latin typeface="맑은 고딕"/>
                <a:ea typeface="맑은 고딕"/>
              </a:rPr>
              <a:t> [C]. </a:t>
            </a:r>
            <a:r>
              <a:rPr sz="1000" b="0" dirty="0" err="1">
                <a:solidFill>
                  <a:srgbClr val="000000"/>
                </a:solidFill>
                <a:latin typeface="맑은 고딕"/>
                <a:ea typeface="맑은 고딕"/>
              </a:rPr>
              <a:t>확정</a:t>
            </a:r>
            <a:r>
              <a:rPr sz="1000" b="0" dirty="0">
                <a:solidFill>
                  <a:srgbClr val="000000"/>
                </a:solidFill>
                <a:latin typeface="맑은 고딕"/>
                <a:ea typeface="맑은 고딕"/>
              </a:rPr>
              <a:t>: E1(</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경로</a:t>
            </a:r>
            <a:r>
              <a:rPr sz="1000" b="0" dirty="0">
                <a:solidFill>
                  <a:srgbClr val="000000"/>
                </a:solidFill>
                <a:latin typeface="맑은 고딕"/>
                <a:ea typeface="맑은 고딕"/>
              </a:rPr>
              <a:t> </a:t>
            </a:r>
            <a:r>
              <a:rPr sz="1000" b="0" dirty="0" err="1">
                <a:solidFill>
                  <a:srgbClr val="000000"/>
                </a:solidFill>
                <a:latin typeface="맑은 고딕"/>
                <a:ea typeface="맑은 고딕"/>
              </a:rPr>
              <a:t>오버헤드</a:t>
            </a:r>
            <a:r>
              <a:rPr sz="1000" b="0" dirty="0">
                <a:solidFill>
                  <a:srgbClr val="000000"/>
                </a:solidFill>
                <a:latin typeface="맑은 고딕"/>
                <a:ea typeface="맑은 고딕"/>
              </a:rPr>
              <a:t>)을 </a:t>
            </a:r>
            <a:r>
              <a:rPr sz="1000" b="0" dirty="0" err="1">
                <a:solidFill>
                  <a:srgbClr val="000000"/>
                </a:solidFill>
                <a:latin typeface="맑은 고딕"/>
                <a:ea typeface="맑은 고딕"/>
              </a:rPr>
              <a:t>평균이</a:t>
            </a:r>
            <a:r>
              <a:rPr sz="1000" b="0" dirty="0">
                <a:solidFill>
                  <a:srgbClr val="000000"/>
                </a:solidFill>
                <a:latin typeface="맑은 고딕"/>
                <a:ea typeface="맑은 고딕"/>
              </a:rPr>
              <a:t> </a:t>
            </a:r>
            <a:r>
              <a:rPr sz="1000" b="0" dirty="0" err="1">
                <a:solidFill>
                  <a:srgbClr val="000000"/>
                </a:solidFill>
                <a:latin typeface="맑은 고딕"/>
                <a:ea typeface="맑은 고딕"/>
              </a:rPr>
              <a:t>아닌</a:t>
            </a:r>
            <a:r>
              <a:rPr sz="1000" b="0" dirty="0">
                <a:solidFill>
                  <a:srgbClr val="000000"/>
                </a:solidFill>
                <a:latin typeface="맑은 고딕"/>
                <a:ea typeface="맑은 고딕"/>
              </a:rPr>
              <a:t> P99로.</a:t>
            </a:r>
          </a:p>
        </p:txBody>
      </p:sp>
      <p:sp>
        <p:nvSpPr>
          <p:cNvPr id="10" name="TextBox 9"/>
          <p:cNvSpPr txBox="1"/>
          <p:nvPr/>
        </p:nvSpPr>
        <p:spPr>
          <a:xfrm>
            <a:off x="365760" y="6236208"/>
            <a:ext cx="11430000" cy="274320"/>
          </a:xfrm>
          <a:prstGeom prst="rect">
            <a:avLst/>
          </a:prstGeom>
          <a:noFill/>
        </p:spPr>
        <p:txBody>
          <a:bodyPr wrap="square" lIns="73152" tIns="36576" rIns="73152" bIns="36576" anchor="t">
            <a:spAutoFit/>
          </a:bodyPr>
          <a:lstStyle/>
          <a:p>
            <a:pPr algn="l">
              <a:spcAft>
                <a:spcPts val="200"/>
              </a:spcAft>
            </a:pPr>
            <a:r>
              <a:rPr sz="750" b="1" dirty="0" err="1">
                <a:solidFill>
                  <a:srgbClr val="000000"/>
                </a:solidFill>
                <a:latin typeface="맑은 고딕"/>
                <a:ea typeface="맑은 고딕"/>
              </a:rPr>
              <a:t>출처</a:t>
            </a:r>
            <a:r>
              <a:rPr sz="750" b="1" dirty="0">
                <a:solidFill>
                  <a:srgbClr val="000000"/>
                </a:solidFill>
                <a:latin typeface="맑은 고딕"/>
                <a:ea typeface="맑은 고딕"/>
              </a:rPr>
              <a:t>: </a:t>
            </a:r>
            <a:r>
              <a:rPr sz="750" b="0" dirty="0" err="1">
                <a:solidFill>
                  <a:srgbClr val="404040"/>
                </a:solidFill>
                <a:latin typeface="맑은 고딕"/>
                <a:ea typeface="맑은 고딕"/>
              </a:rPr>
              <a:t>MLPerf</a:t>
            </a:r>
            <a:r>
              <a:rPr sz="750" b="0" dirty="0">
                <a:solidFill>
                  <a:srgbClr val="404040"/>
                </a:solidFill>
                <a:latin typeface="맑은 고딕"/>
                <a:ea typeface="맑은 고딕"/>
              </a:rPr>
              <a:t> interactive 450 </a:t>
            </a:r>
            <a:r>
              <a:rPr sz="750" b="0" dirty="0" err="1">
                <a:solidFill>
                  <a:srgbClr val="404040"/>
                </a:solidFill>
                <a:latin typeface="맑은 고딕"/>
                <a:ea typeface="맑은 고딕"/>
              </a:rPr>
              <a:t>ms</a:t>
            </a:r>
            <a:r>
              <a:rPr sz="750" b="0" dirty="0">
                <a:solidFill>
                  <a:srgbClr val="404040"/>
                </a:solidFill>
                <a:latin typeface="맑은 고딕"/>
                <a:ea typeface="맑은 고딕"/>
              </a:rPr>
              <a:t>/40 </a:t>
            </a:r>
            <a:r>
              <a:rPr sz="750" b="0" dirty="0" err="1">
                <a:solidFill>
                  <a:srgbClr val="404040"/>
                </a:solidFill>
                <a:latin typeface="맑은 고딕"/>
                <a:ea typeface="맑은 고딕"/>
              </a:rPr>
              <a:t>ms</a:t>
            </a:r>
            <a:r>
              <a:rPr sz="750" b="0" dirty="0">
                <a:solidFill>
                  <a:srgbClr val="404040"/>
                </a:solidFill>
                <a:latin typeface="맑은 고딕"/>
                <a:ea typeface="맑은 고딕"/>
              </a:rPr>
              <a:t>: marktechpost.com/2025/10/01/mlperf-inference-v5-1-2025-results-explained-for-gpus-cpus-and-ai-accelerators/ · it-online.co.za/?p=294312 [2차 </a:t>
            </a:r>
            <a:r>
              <a:rPr sz="750" b="0" dirty="0" err="1">
                <a:solidFill>
                  <a:srgbClr val="404040"/>
                </a:solidFill>
                <a:latin typeface="맑은 고딕"/>
                <a:ea typeface="맑은 고딕"/>
              </a:rPr>
              <a:t>확인</a:t>
            </a:r>
            <a:r>
              <a:rPr sz="750" b="0" dirty="0">
                <a:solidFill>
                  <a:srgbClr val="404040"/>
                </a:solidFill>
                <a:latin typeface="맑은 고딕"/>
                <a:ea typeface="맑은 고딕"/>
              </a:rPr>
              <a:t>] · </a:t>
            </a:r>
            <a:r>
              <a:rPr sz="750" b="0" dirty="0" err="1">
                <a:solidFill>
                  <a:srgbClr val="404040"/>
                </a:solidFill>
                <a:latin typeface="맑은 고딕"/>
                <a:ea typeface="맑은 고딕"/>
              </a:rPr>
              <a:t>표준</a:t>
            </a:r>
            <a:r>
              <a:rPr sz="750" b="0" dirty="0">
                <a:solidFill>
                  <a:srgbClr val="404040"/>
                </a:solidFill>
                <a:latin typeface="맑은 고딕"/>
                <a:ea typeface="맑은 고딕"/>
              </a:rPr>
              <a:t> 2 s/200 </a:t>
            </a:r>
            <a:r>
              <a:rPr sz="750" b="0" dirty="0" err="1">
                <a:solidFill>
                  <a:srgbClr val="404040"/>
                </a:solidFill>
                <a:latin typeface="맑은 고딕"/>
                <a:ea typeface="맑은 고딕"/>
              </a:rPr>
              <a:t>ms</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sz="750" b="0" dirty="0">
                <a:solidFill>
                  <a:srgbClr val="404040"/>
                </a:solidFill>
                <a:latin typeface="맑은 고딕"/>
                <a:ea typeface="맑은 고딕"/>
              </a:rPr>
              <a:t> </a:t>
            </a:r>
            <a:r>
              <a:rPr sz="750" b="0" dirty="0" err="1">
                <a:solidFill>
                  <a:srgbClr val="404040"/>
                </a:solidFill>
                <a:latin typeface="맑은 고딕"/>
                <a:ea typeface="맑은 고딕"/>
              </a:rPr>
              <a:t>필요</a:t>
            </a:r>
            <a:r>
              <a:rPr sz="750" b="0" dirty="0">
                <a:solidFill>
                  <a:srgbClr val="404040"/>
                </a:solidFill>
                <a:latin typeface="맑은 고딕"/>
                <a:ea typeface="맑은 고딕"/>
              </a:rPr>
              <a:t>] · gwern.net/doc/psychology/linguistics/2019-brysbaert.pdf [</a:t>
            </a:r>
            <a:r>
              <a:rPr sz="750" b="0" dirty="0" err="1">
                <a:solidFill>
                  <a:srgbClr val="404040"/>
                </a:solidFill>
                <a:latin typeface="맑은 고딕"/>
                <a:ea typeface="맑은 고딕"/>
              </a:rPr>
              <a:t>검색</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sz="750" b="0" dirty="0">
                <a:solidFill>
                  <a:srgbClr val="404040"/>
                </a:solidFill>
                <a:latin typeface="맑은 고딕"/>
                <a:ea typeface="맑은 고딕"/>
              </a:rPr>
              <a:t>] · nngroup.com/articles/response-times-3-important-limits/ [</a:t>
            </a:r>
            <a:r>
              <a:rPr sz="750" b="0" dirty="0" err="1">
                <a:solidFill>
                  <a:srgbClr val="404040"/>
                </a:solidFill>
                <a:latin typeface="맑은 고딕"/>
                <a:ea typeface="맑은 고딕"/>
              </a:rPr>
              <a:t>링크</a:t>
            </a:r>
            <a:r>
              <a:rPr sz="750" b="0" dirty="0">
                <a:solidFill>
                  <a:srgbClr val="404040"/>
                </a:solidFill>
                <a:latin typeface="맑은 고딕"/>
                <a:ea typeface="맑은 고딕"/>
              </a:rPr>
              <a:t> </a:t>
            </a:r>
            <a:r>
              <a:rPr sz="750" b="0" dirty="0" err="1">
                <a:solidFill>
                  <a:srgbClr val="404040"/>
                </a:solidFill>
                <a:latin typeface="맑은 고딕"/>
                <a:ea typeface="맑은 고딕"/>
              </a:rPr>
              <a:t>미검증</a:t>
            </a:r>
            <a:r>
              <a:rPr sz="750" b="0" dirty="0">
                <a:solidFill>
                  <a:srgbClr val="404040"/>
                </a:solidFill>
                <a:latin typeface="맑은 고딕"/>
                <a:ea typeface="맑은 고딕"/>
              </a:rPr>
              <a:t>]</a:t>
            </a:r>
          </a:p>
        </p:txBody>
      </p:sp>
      <p:sp>
        <p:nvSpPr>
          <p:cNvPr id="11" name="실행 단추: 뒤로 또는 이전 10">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개선 r로 별을 정하고 절대 SLO 초과 시 ★. Q2 = 공통 QA2. DP4 후보1 ★, 후보2 ★★.</a:t>
            </a:r>
          </a:p>
        </p:txBody>
      </p:sp>
    </p:spTree>
    <p:extLst>
      <p:ext uri="{BB962C8B-B14F-4D97-AF65-F5344CB8AC3E}">
        <p14:creationId xmlns:p14="http://schemas.microsoft.com/office/powerpoint/2010/main" val="39751218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Q3 </a:t>
            </a:r>
            <a:r>
              <a:rPr sz="2200" b="1" dirty="0" err="1">
                <a:solidFill>
                  <a:srgbClr val="2F5597"/>
                </a:solidFill>
                <a:latin typeface="맑은 고딕"/>
                <a:ea typeface="맑은 고딕"/>
              </a:rPr>
              <a:t>변경·유지</a:t>
            </a:r>
            <a:r>
              <a:rPr sz="2200" b="1" dirty="0">
                <a:solidFill>
                  <a:srgbClr val="2F5597"/>
                </a:solidFill>
                <a:latin typeface="맑은 고딕"/>
                <a:ea typeface="맑은 고딕"/>
              </a:rPr>
              <a:t> </a:t>
            </a:r>
            <a:r>
              <a:rPr sz="2200" b="1" dirty="0" err="1">
                <a:solidFill>
                  <a:srgbClr val="2F5597"/>
                </a:solidFill>
                <a:latin typeface="맑은 고딕"/>
                <a:ea typeface="맑은 고딕"/>
              </a:rPr>
              <a:t>용이성</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a:solidFill>
                  <a:srgbClr val="404040"/>
                </a:solidFill>
                <a:latin typeface="맑은 고딕"/>
                <a:ea typeface="맑은 고딕"/>
              </a:rPr>
              <a:t>공통 QA4 Modifiability · 세 지표를 모두 보되 우선순위 ① 토큰 cost &gt; ② 개발 공수 &gt; ③ 변경 module 수</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1828800"/>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3410712">
                  <a:extLst>
                    <a:ext uri="{9D8B030D-6E8A-4147-A177-3AD203B41FA5}">
                      <a16:colId xmlns:a16="http://schemas.microsoft.com/office/drawing/2014/main" val="20003"/>
                    </a:ext>
                  </a:extLst>
                </a:gridCol>
              </a:tblGrid>
              <a:tr h="45720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① 토큰 cost ($/변경, 가중 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dirty="0">
                          <a:solidFill>
                            <a:srgbClr val="FFFFFF"/>
                          </a:solidFill>
                          <a:latin typeface="맑은 고딕"/>
                          <a:ea typeface="맑은 고딕"/>
                        </a:rPr>
                        <a:t>② </a:t>
                      </a:r>
                      <a:r>
                        <a:rPr sz="950" b="1" dirty="0" err="1">
                          <a:solidFill>
                            <a:srgbClr val="FFFFFF"/>
                          </a:solidFill>
                          <a:latin typeface="맑은 고딕"/>
                          <a:ea typeface="맑은 고딕"/>
                        </a:rPr>
                        <a:t>개발</a:t>
                      </a:r>
                      <a:r>
                        <a:rPr sz="950" b="1" dirty="0">
                          <a:solidFill>
                            <a:srgbClr val="FFFFFF"/>
                          </a:solidFill>
                          <a:latin typeface="맑은 고딕"/>
                          <a:ea typeface="맑은 고딕"/>
                        </a:rPr>
                        <a:t> </a:t>
                      </a:r>
                      <a:r>
                        <a:rPr sz="950" b="1" dirty="0" err="1">
                          <a:solidFill>
                            <a:srgbClr val="FFFFFF"/>
                          </a:solidFill>
                          <a:latin typeface="맑은 고딕"/>
                          <a:ea typeface="맑은 고딕"/>
                        </a:rPr>
                        <a:t>공수</a:t>
                      </a:r>
                      <a:r>
                        <a:rPr sz="950" b="1" dirty="0">
                          <a:solidFill>
                            <a:srgbClr val="FFFFFF"/>
                          </a:solidFill>
                          <a:latin typeface="맑은 고딕"/>
                          <a:ea typeface="맑은 고딕"/>
                        </a:rPr>
                        <a:t> (man-day/</a:t>
                      </a:r>
                      <a:r>
                        <a:rPr sz="950" b="1" dirty="0" err="1">
                          <a:solidFill>
                            <a:srgbClr val="FFFFFF"/>
                          </a:solidFill>
                          <a:latin typeface="맑은 고딕"/>
                          <a:ea typeface="맑은 고딕"/>
                        </a:rPr>
                        <a:t>변경</a:t>
                      </a:r>
                      <a:r>
                        <a:rPr sz="950" b="1" dirty="0">
                          <a:solidFill>
                            <a:srgbClr val="FFFFFF"/>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③ 변경 module 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dirty="0">
                          <a:solidFill>
                            <a:srgbClr val="000000"/>
                          </a:solidFill>
                          <a:latin typeface="맑은 고딕"/>
                          <a:ea typeface="맑은 고딕"/>
                        </a:rPr>
                        <a:t>≤ $0.5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2 (주요 interface 유지)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$0.5 ~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3 ~ 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3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&gt;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&gt; 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 6 </a:t>
                      </a:r>
                      <a:r>
                        <a:rPr sz="950" b="0" dirty="0" err="1">
                          <a:solidFill>
                            <a:srgbClr val="000000"/>
                          </a:solidFill>
                          <a:latin typeface="맑은 고딕"/>
                          <a:ea typeface="맑은 고딕"/>
                        </a:rPr>
                        <a:t>또는</a:t>
                      </a:r>
                      <a:r>
                        <a:rPr sz="950" b="0" dirty="0">
                          <a:solidFill>
                            <a:srgbClr val="000000"/>
                          </a:solidFill>
                          <a:latin typeface="맑은 고딕"/>
                          <a:ea typeface="맑은 고딕"/>
                        </a:rPr>
                        <a:t> major interface </a:t>
                      </a:r>
                      <a:r>
                        <a:rPr sz="950" b="0" dirty="0" err="1">
                          <a:solidFill>
                            <a:srgbClr val="000000"/>
                          </a:solidFill>
                          <a:latin typeface="맑은 고딕"/>
                          <a:ea typeface="맑은 고딕"/>
                        </a:rPr>
                        <a:t>변경</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108960"/>
            <a:ext cx="5623560" cy="1950790"/>
          </a:xfrm>
          <a:prstGeom prst="rect">
            <a:avLst/>
          </a:prstGeom>
          <a:noFill/>
        </p:spPr>
        <p:txBody>
          <a:bodyPr wrap="square" lIns="73152" tIns="36576" rIns="73152" bIns="36576" anchor="t">
            <a:spAutoFit/>
          </a:bodyPr>
          <a:lstStyle/>
          <a:p>
            <a:pPr algn="l">
              <a:spcAft>
                <a:spcPts val="200"/>
              </a:spcAft>
            </a:pPr>
            <a:r>
              <a:rPr sz="919" b="1" dirty="0">
                <a:solidFill>
                  <a:srgbClr val="2F5597"/>
                </a:solidFill>
                <a:latin typeface="맑은 고딕"/>
                <a:ea typeface="맑은 고딕"/>
              </a:rPr>
              <a:t>별 </a:t>
            </a:r>
            <a:r>
              <a:rPr sz="919" b="1" dirty="0" err="1">
                <a:solidFill>
                  <a:srgbClr val="2F5597"/>
                </a:solidFill>
                <a:latin typeface="맑은 고딕"/>
                <a:ea typeface="맑은 고딕"/>
              </a:rPr>
              <a:t>결정</a:t>
            </a:r>
            <a:r>
              <a:rPr sz="919" b="1" dirty="0">
                <a:solidFill>
                  <a:srgbClr val="2F5597"/>
                </a:solidFill>
                <a:latin typeface="맑은 고딕"/>
                <a:ea typeface="맑은 고딕"/>
              </a:rPr>
              <a:t> </a:t>
            </a:r>
            <a:r>
              <a:rPr sz="919" b="1" dirty="0" err="1">
                <a:solidFill>
                  <a:srgbClr val="2F5597"/>
                </a:solidFill>
                <a:latin typeface="맑은 고딕"/>
                <a:ea typeface="맑은 고딕"/>
              </a:rPr>
              <a:t>규칙</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Q3 별 = ① </a:t>
            </a:r>
            <a:r>
              <a:rPr sz="919" b="0" dirty="0" err="1">
                <a:solidFill>
                  <a:srgbClr val="000000"/>
                </a:solidFill>
                <a:latin typeface="맑은 고딕"/>
                <a:ea typeface="맑은 고딕"/>
              </a:rPr>
              <a:t>토큰</a:t>
            </a:r>
            <a:r>
              <a:rPr sz="919" b="0" dirty="0">
                <a:solidFill>
                  <a:srgbClr val="000000"/>
                </a:solidFill>
                <a:latin typeface="맑은 고딕"/>
                <a:ea typeface="맑은 고딕"/>
              </a:rPr>
              <a:t> </a:t>
            </a:r>
            <a:r>
              <a:rPr sz="919" b="0" dirty="0" err="1">
                <a:solidFill>
                  <a:srgbClr val="000000"/>
                </a:solidFill>
                <a:latin typeface="맑은 고딕"/>
                <a:ea typeface="맑은 고딕"/>
              </a:rPr>
              <a:t>cost의</a:t>
            </a:r>
            <a:r>
              <a:rPr sz="919" b="0" dirty="0">
                <a:solidFill>
                  <a:srgbClr val="000000"/>
                </a:solidFill>
                <a:latin typeface="맑은 고딕"/>
                <a:ea typeface="맑은 고딕"/>
              </a:rPr>
              <a:t> 별. 두 </a:t>
            </a:r>
            <a:r>
              <a:rPr sz="919" b="0" dirty="0" err="1">
                <a:solidFill>
                  <a:srgbClr val="000000"/>
                </a:solidFill>
                <a:latin typeface="맑은 고딕"/>
                <a:ea typeface="맑은 고딕"/>
              </a:rPr>
              <a:t>후보의</a:t>
            </a:r>
            <a:r>
              <a:rPr sz="919" b="0" dirty="0">
                <a:solidFill>
                  <a:srgbClr val="000000"/>
                </a:solidFill>
                <a:latin typeface="맑은 고딕"/>
                <a:ea typeface="맑은 고딕"/>
              </a:rPr>
              <a:t> ① </a:t>
            </a:r>
            <a:r>
              <a:rPr sz="919" b="0" dirty="0" err="1">
                <a:solidFill>
                  <a:srgbClr val="000000"/>
                </a:solidFill>
                <a:latin typeface="맑은 고딕"/>
                <a:ea typeface="맑은 고딕"/>
              </a:rPr>
              <a:t>별이</a:t>
            </a:r>
            <a:r>
              <a:rPr sz="919" b="0" dirty="0">
                <a:solidFill>
                  <a:srgbClr val="000000"/>
                </a:solidFill>
                <a:latin typeface="맑은 고딕"/>
                <a:ea typeface="맑은 고딕"/>
              </a:rPr>
              <a:t> </a:t>
            </a:r>
            <a:r>
              <a:rPr sz="919" b="0" dirty="0" err="1">
                <a:solidFill>
                  <a:srgbClr val="000000"/>
                </a:solidFill>
                <a:latin typeface="맑은 고딕"/>
                <a:ea typeface="맑은 고딕"/>
              </a:rPr>
              <a:t>같으면</a:t>
            </a:r>
            <a:r>
              <a:rPr sz="919" b="0" dirty="0">
                <a:solidFill>
                  <a:srgbClr val="000000"/>
                </a:solidFill>
                <a:latin typeface="맑은 고딕"/>
                <a:ea typeface="맑은 고딕"/>
              </a:rPr>
              <a:t> ② </a:t>
            </a:r>
            <a:r>
              <a:rPr sz="919" b="0" dirty="0" err="1">
                <a:solidFill>
                  <a:srgbClr val="000000"/>
                </a:solidFill>
                <a:latin typeface="맑은 고딕"/>
                <a:ea typeface="맑은 고딕"/>
              </a:rPr>
              <a:t>공수</a:t>
            </a:r>
            <a:r>
              <a:rPr sz="919" b="0" dirty="0">
                <a:solidFill>
                  <a:srgbClr val="000000"/>
                </a:solidFill>
                <a:latin typeface="맑은 고딕"/>
                <a:ea typeface="맑은 고딕"/>
              </a:rPr>
              <a:t>, </a:t>
            </a:r>
            <a:r>
              <a:rPr sz="919" b="0" dirty="0" err="1">
                <a:solidFill>
                  <a:srgbClr val="000000"/>
                </a:solidFill>
                <a:latin typeface="맑은 고딕"/>
                <a:ea typeface="맑은 고딕"/>
              </a:rPr>
              <a:t>그것도</a:t>
            </a:r>
            <a:r>
              <a:rPr sz="919" b="0" dirty="0">
                <a:solidFill>
                  <a:srgbClr val="000000"/>
                </a:solidFill>
                <a:latin typeface="맑은 고딕"/>
                <a:ea typeface="맑은 고딕"/>
              </a:rPr>
              <a:t> </a:t>
            </a:r>
            <a:r>
              <a:rPr sz="919" b="0" dirty="0" err="1">
                <a:solidFill>
                  <a:srgbClr val="000000"/>
                </a:solidFill>
                <a:latin typeface="맑은 고딕"/>
                <a:ea typeface="맑은 고딕"/>
              </a:rPr>
              <a:t>같으면</a:t>
            </a:r>
            <a:r>
              <a:rPr sz="919" b="0" dirty="0">
                <a:solidFill>
                  <a:srgbClr val="000000"/>
                </a:solidFill>
                <a:latin typeface="맑은 고딕"/>
                <a:ea typeface="맑은 고딕"/>
              </a:rPr>
              <a:t> ③ module </a:t>
            </a:r>
            <a:r>
              <a:rPr sz="919" b="0" dirty="0" err="1">
                <a:solidFill>
                  <a:srgbClr val="000000"/>
                </a:solidFill>
                <a:latin typeface="맑은 고딕"/>
                <a:ea typeface="맑은 고딕"/>
              </a:rPr>
              <a:t>수로</a:t>
            </a:r>
            <a:r>
              <a:rPr sz="919" b="0" dirty="0">
                <a:solidFill>
                  <a:srgbClr val="000000"/>
                </a:solidFill>
                <a:latin typeface="맑은 고딕"/>
                <a:ea typeface="맑은 고딕"/>
              </a:rPr>
              <a:t> </a:t>
            </a:r>
            <a:r>
              <a:rPr sz="919" b="0" dirty="0" err="1">
                <a:solidFill>
                  <a:srgbClr val="000000"/>
                </a:solidFill>
                <a:latin typeface="맑은 고딕"/>
                <a:ea typeface="맑은 고딕"/>
              </a:rPr>
              <a:t>결정한다</a:t>
            </a:r>
            <a:r>
              <a:rPr sz="919" b="0" dirty="0">
                <a:solidFill>
                  <a:srgbClr val="000000"/>
                </a:solidFill>
                <a:latin typeface="맑은 고딕"/>
                <a:ea typeface="맑은 고딕"/>
              </a:rPr>
              <a:t>. 세 </a:t>
            </a:r>
            <a:r>
              <a:rPr sz="919" b="0" dirty="0" err="1">
                <a:solidFill>
                  <a:srgbClr val="000000"/>
                </a:solidFill>
                <a:latin typeface="맑은 고딕"/>
                <a:ea typeface="맑은 고딕"/>
              </a:rPr>
              <a:t>지표가</a:t>
            </a:r>
            <a:r>
              <a:rPr sz="919" b="0" dirty="0">
                <a:solidFill>
                  <a:srgbClr val="000000"/>
                </a:solidFill>
                <a:latin typeface="맑은 고딕"/>
                <a:ea typeface="맑은 고딕"/>
              </a:rPr>
              <a:t> </a:t>
            </a:r>
            <a:r>
              <a:rPr sz="919" b="0" dirty="0" err="1">
                <a:solidFill>
                  <a:srgbClr val="000000"/>
                </a:solidFill>
                <a:latin typeface="맑은 고딕"/>
                <a:ea typeface="맑은 고딕"/>
              </a:rPr>
              <a:t>같은</a:t>
            </a:r>
            <a:r>
              <a:rPr sz="919" b="0" dirty="0">
                <a:solidFill>
                  <a:srgbClr val="000000"/>
                </a:solidFill>
                <a:latin typeface="맑은 고딕"/>
                <a:ea typeface="맑은 고딕"/>
              </a:rPr>
              <a:t> </a:t>
            </a:r>
            <a:r>
              <a:rPr sz="919" b="0" dirty="0" err="1">
                <a:solidFill>
                  <a:srgbClr val="000000"/>
                </a:solidFill>
                <a:latin typeface="맑은 고딕"/>
                <a:ea typeface="맑은 고딕"/>
              </a:rPr>
              <a:t>방향인지는</a:t>
            </a:r>
            <a:r>
              <a:rPr sz="919" b="0" dirty="0">
                <a:solidFill>
                  <a:srgbClr val="000000"/>
                </a:solidFill>
                <a:latin typeface="맑은 고딕"/>
                <a:ea typeface="맑은 고딕"/>
              </a:rPr>
              <a:t> 8장에서 </a:t>
            </a:r>
            <a:r>
              <a:rPr sz="919" b="0" dirty="0" err="1">
                <a:solidFill>
                  <a:srgbClr val="000000"/>
                </a:solidFill>
                <a:latin typeface="맑은 고딕"/>
                <a:ea typeface="맑은 고딕"/>
              </a:rPr>
              <a:t>시나리오별로</a:t>
            </a:r>
            <a:r>
              <a:rPr sz="919" b="0" dirty="0">
                <a:solidFill>
                  <a:srgbClr val="000000"/>
                </a:solidFill>
                <a:latin typeface="맑은 고딕"/>
                <a:ea typeface="맑은 고딕"/>
              </a:rPr>
              <a:t> </a:t>
            </a:r>
            <a:r>
              <a:rPr sz="919" b="0" dirty="0" err="1">
                <a:solidFill>
                  <a:srgbClr val="000000"/>
                </a:solidFill>
                <a:latin typeface="맑은 고딕"/>
                <a:ea typeface="맑은 고딕"/>
              </a:rPr>
              <a:t>확인한다</a:t>
            </a:r>
            <a:r>
              <a:rPr sz="919" b="0" dirty="0">
                <a:solidFill>
                  <a:srgbClr val="000000"/>
                </a:solidFill>
                <a:latin typeface="맑은 고딕"/>
                <a:ea typeface="맑은 고딕"/>
              </a:rPr>
              <a:t>.</a:t>
            </a: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a:solidFill>
                  <a:srgbClr val="2F5597"/>
                </a:solidFill>
                <a:latin typeface="맑은 고딕"/>
                <a:ea typeface="맑은 고딕"/>
              </a:rPr>
              <a:t>왜 이 </a:t>
            </a:r>
            <a:r>
              <a:rPr sz="919" b="1" dirty="0" err="1">
                <a:solidFill>
                  <a:srgbClr val="2F5597"/>
                </a:solidFill>
                <a:latin typeface="맑은 고딕"/>
                <a:ea typeface="맑은 고딕"/>
              </a:rPr>
              <a:t>우선순위인가</a:t>
            </a:r>
            <a:r>
              <a:rPr sz="919" b="1" dirty="0">
                <a:solidFill>
                  <a:srgbClr val="2F5597"/>
                </a:solidFill>
                <a:latin typeface="맑은 고딕"/>
                <a:ea typeface="맑은 고딕"/>
              </a:rPr>
              <a:t> (</a:t>
            </a:r>
            <a:r>
              <a:rPr sz="919" b="1" dirty="0" err="1">
                <a:solidFill>
                  <a:srgbClr val="2F5597"/>
                </a:solidFill>
                <a:latin typeface="맑은 고딕"/>
                <a:ea typeface="맑은 고딕"/>
              </a:rPr>
              <a:t>소유자</a:t>
            </a:r>
            <a:r>
              <a:rPr sz="919" b="1" dirty="0">
                <a:solidFill>
                  <a:srgbClr val="2F5597"/>
                </a:solidFill>
                <a:latin typeface="맑은 고딕"/>
                <a:ea typeface="맑은 고딕"/>
              </a:rPr>
              <a:t> </a:t>
            </a:r>
            <a:r>
              <a:rPr sz="919" b="1" dirty="0" err="1">
                <a:solidFill>
                  <a:srgbClr val="2F5597"/>
                </a:solidFill>
                <a:latin typeface="맑은 고딕"/>
                <a:ea typeface="맑은 고딕"/>
              </a:rPr>
              <a:t>결정</a:t>
            </a:r>
            <a:r>
              <a:rPr sz="919" b="1" dirty="0">
                <a:solidFill>
                  <a:srgbClr val="2F5597"/>
                </a:solidFill>
                <a:latin typeface="맑은 고딕"/>
                <a:ea typeface="맑은 고딕"/>
              </a:rPr>
              <a:t>)</a:t>
            </a:r>
          </a:p>
          <a:p>
            <a:pPr algn="l">
              <a:spcAft>
                <a:spcPts val="200"/>
              </a:spcAft>
            </a:pPr>
            <a:r>
              <a:rPr sz="919" b="0" dirty="0">
                <a:solidFill>
                  <a:srgbClr val="000000"/>
                </a:solidFill>
                <a:latin typeface="맑은 고딕"/>
                <a:ea typeface="맑은 고딕"/>
              </a:rPr>
              <a:t>① </a:t>
            </a:r>
            <a:r>
              <a:rPr sz="919" b="0" dirty="0" err="1">
                <a:solidFill>
                  <a:srgbClr val="000000"/>
                </a:solidFill>
                <a:latin typeface="맑은 고딕"/>
                <a:ea typeface="맑은 고딕"/>
              </a:rPr>
              <a:t>토큰</a:t>
            </a:r>
            <a:r>
              <a:rPr sz="919" b="0" dirty="0">
                <a:solidFill>
                  <a:srgbClr val="000000"/>
                </a:solidFill>
                <a:latin typeface="맑은 고딕"/>
                <a:ea typeface="맑은 고딕"/>
              </a:rPr>
              <a:t> cost: </a:t>
            </a:r>
            <a:r>
              <a:rPr sz="919" b="0" dirty="0" err="1">
                <a:solidFill>
                  <a:srgbClr val="000000"/>
                </a:solidFill>
                <a:latin typeface="맑은 고딕"/>
                <a:ea typeface="맑은 고딕"/>
              </a:rPr>
              <a:t>변경을</a:t>
            </a:r>
            <a:r>
              <a:rPr sz="919" b="0" dirty="0">
                <a:solidFill>
                  <a:srgbClr val="000000"/>
                </a:solidFill>
                <a:latin typeface="맑은 고딕"/>
                <a:ea typeface="맑은 고딕"/>
              </a:rPr>
              <a:t> </a:t>
            </a:r>
            <a:r>
              <a:rPr sz="919" b="0" dirty="0" err="1">
                <a:solidFill>
                  <a:srgbClr val="000000"/>
                </a:solidFill>
                <a:latin typeface="맑은 고딕"/>
                <a:ea typeface="맑은 고딕"/>
              </a:rPr>
              <a:t>에이전트</a:t>
            </a:r>
            <a:r>
              <a:rPr sz="919" b="0" dirty="0">
                <a:solidFill>
                  <a:srgbClr val="000000"/>
                </a:solidFill>
                <a:latin typeface="맑은 고딕"/>
                <a:ea typeface="맑은 고딕"/>
              </a:rPr>
              <a:t> </a:t>
            </a:r>
            <a:r>
              <a:rPr sz="919" b="0" dirty="0" err="1">
                <a:solidFill>
                  <a:srgbClr val="000000"/>
                </a:solidFill>
                <a:latin typeface="맑은 고딕"/>
                <a:ea typeface="맑은 고딕"/>
              </a:rPr>
              <a:t>세션으로</a:t>
            </a:r>
            <a:r>
              <a:rPr sz="919" b="0" dirty="0">
                <a:solidFill>
                  <a:srgbClr val="000000"/>
                </a:solidFill>
                <a:latin typeface="맑은 고딕"/>
                <a:ea typeface="맑은 고딕"/>
              </a:rPr>
              <a:t> </a:t>
            </a:r>
            <a:r>
              <a:rPr sz="919" b="0" dirty="0" err="1">
                <a:solidFill>
                  <a:srgbClr val="000000"/>
                </a:solidFill>
                <a:latin typeface="맑은 고딕"/>
                <a:ea typeface="맑은 고딕"/>
              </a:rPr>
              <a:t>구현할</a:t>
            </a:r>
            <a:r>
              <a:rPr sz="919" b="0" dirty="0">
                <a:solidFill>
                  <a:srgbClr val="000000"/>
                </a:solidFill>
                <a:latin typeface="맑은 고딕"/>
                <a:ea typeface="맑은 고딕"/>
              </a:rPr>
              <a:t> 때 </a:t>
            </a:r>
            <a:r>
              <a:rPr sz="919" b="0" dirty="0" err="1">
                <a:solidFill>
                  <a:srgbClr val="000000"/>
                </a:solidFill>
                <a:latin typeface="맑은 고딕"/>
                <a:ea typeface="맑은 고딕"/>
              </a:rPr>
              <a:t>세션</a:t>
            </a:r>
            <a:r>
              <a:rPr sz="919" b="0" dirty="0">
                <a:solidFill>
                  <a:srgbClr val="000000"/>
                </a:solidFill>
                <a:latin typeface="맑은 고딕"/>
                <a:ea typeface="맑은 고딕"/>
              </a:rPr>
              <a:t> </a:t>
            </a:r>
            <a:r>
              <a:rPr sz="919" b="0" dirty="0" err="1">
                <a:solidFill>
                  <a:srgbClr val="000000"/>
                </a:solidFill>
                <a:latin typeface="맑은 고딕"/>
                <a:ea typeface="맑은 고딕"/>
              </a:rPr>
              <a:t>로그에서</a:t>
            </a:r>
            <a:r>
              <a:rPr sz="919" b="0" dirty="0">
                <a:solidFill>
                  <a:srgbClr val="000000"/>
                </a:solidFill>
                <a:latin typeface="맑은 고딕"/>
                <a:ea typeface="맑은 고딕"/>
              </a:rPr>
              <a:t> </a:t>
            </a:r>
            <a:r>
              <a:rPr sz="919" b="0" dirty="0" err="1">
                <a:solidFill>
                  <a:srgbClr val="000000"/>
                </a:solidFill>
                <a:latin typeface="맑은 고딕"/>
                <a:ea typeface="맑은 고딕"/>
              </a:rPr>
              <a:t>바로</a:t>
            </a:r>
            <a:r>
              <a:rPr sz="919" b="0" dirty="0">
                <a:solidFill>
                  <a:srgbClr val="000000"/>
                </a:solidFill>
                <a:latin typeface="맑은 고딕"/>
                <a:ea typeface="맑은 고딕"/>
              </a:rPr>
              <a:t> </a:t>
            </a:r>
            <a:r>
              <a:rPr sz="919" b="0" dirty="0" err="1">
                <a:solidFill>
                  <a:srgbClr val="000000"/>
                </a:solidFill>
                <a:latin typeface="맑은 고딕"/>
                <a:ea typeface="맑은 고딕"/>
              </a:rPr>
              <a:t>읽히는</a:t>
            </a:r>
            <a:r>
              <a:rPr sz="919" b="0" dirty="0">
                <a:solidFill>
                  <a:srgbClr val="000000"/>
                </a:solidFill>
                <a:latin typeface="맑은 고딕"/>
                <a:ea typeface="맑은 고딕"/>
              </a:rPr>
              <a:t> </a:t>
            </a:r>
            <a:r>
              <a:rPr sz="919" b="0" dirty="0" err="1">
                <a:solidFill>
                  <a:srgbClr val="000000"/>
                </a:solidFill>
                <a:latin typeface="맑은 고딕"/>
                <a:ea typeface="맑은 고딕"/>
              </a:rPr>
              <a:t>가장</a:t>
            </a:r>
            <a:r>
              <a:rPr sz="919" b="0" dirty="0">
                <a:solidFill>
                  <a:srgbClr val="000000"/>
                </a:solidFill>
                <a:latin typeface="맑은 고딕"/>
                <a:ea typeface="맑은 고딕"/>
              </a:rPr>
              <a:t> </a:t>
            </a:r>
            <a:r>
              <a:rPr sz="919" b="0" dirty="0" err="1">
                <a:solidFill>
                  <a:srgbClr val="000000"/>
                </a:solidFill>
                <a:latin typeface="맑은 고딕"/>
                <a:ea typeface="맑은 고딕"/>
              </a:rPr>
              <a:t>객관적인</a:t>
            </a:r>
            <a:r>
              <a:rPr sz="919" b="0" dirty="0">
                <a:solidFill>
                  <a:srgbClr val="000000"/>
                </a:solidFill>
                <a:latin typeface="맑은 고딕"/>
                <a:ea typeface="맑은 고딕"/>
              </a:rPr>
              <a:t> </a:t>
            </a:r>
            <a:r>
              <a:rPr sz="919" b="0" dirty="0" err="1">
                <a:solidFill>
                  <a:srgbClr val="000000"/>
                </a:solidFill>
                <a:latin typeface="맑은 고딕"/>
                <a:ea typeface="맑은 고딕"/>
              </a:rPr>
              <a:t>비용</a:t>
            </a:r>
            <a:r>
              <a:rPr sz="919" b="0" dirty="0">
                <a:solidFill>
                  <a:srgbClr val="000000"/>
                </a:solidFill>
                <a:latin typeface="맑은 고딕"/>
                <a:ea typeface="맑은 고딕"/>
              </a:rPr>
              <a:t>. ② </a:t>
            </a:r>
            <a:r>
              <a:rPr sz="919" b="0" dirty="0" err="1">
                <a:solidFill>
                  <a:srgbClr val="000000"/>
                </a:solidFill>
                <a:latin typeface="맑은 고딕"/>
                <a:ea typeface="맑은 고딕"/>
              </a:rPr>
              <a:t>공수</a:t>
            </a:r>
            <a:r>
              <a:rPr sz="919" b="0" dirty="0">
                <a:solidFill>
                  <a:srgbClr val="000000"/>
                </a:solidFill>
                <a:latin typeface="맑은 고딕"/>
                <a:ea typeface="맑은 고딕"/>
              </a:rPr>
              <a:t>: </a:t>
            </a:r>
            <a:r>
              <a:rPr sz="919" b="0" dirty="0" err="1">
                <a:solidFill>
                  <a:srgbClr val="000000"/>
                </a:solidFill>
                <a:latin typeface="맑은 고딕"/>
                <a:ea typeface="맑은 고딕"/>
              </a:rPr>
              <a:t>토큰</a:t>
            </a:r>
            <a:r>
              <a:rPr sz="919" b="0" dirty="0">
                <a:solidFill>
                  <a:srgbClr val="000000"/>
                </a:solidFill>
                <a:latin typeface="맑은 고딕"/>
                <a:ea typeface="맑은 고딕"/>
              </a:rPr>
              <a:t> </a:t>
            </a:r>
            <a:r>
              <a:rPr sz="919" b="0" dirty="0" err="1">
                <a:solidFill>
                  <a:srgbClr val="000000"/>
                </a:solidFill>
                <a:latin typeface="맑은 고딕"/>
                <a:ea typeface="맑은 고딕"/>
              </a:rPr>
              <a:t>cost에</a:t>
            </a:r>
            <a:r>
              <a:rPr sz="919" b="0" dirty="0">
                <a:solidFill>
                  <a:srgbClr val="000000"/>
                </a:solidFill>
                <a:latin typeface="맑은 고딕"/>
                <a:ea typeface="맑은 고딕"/>
              </a:rPr>
              <a:t> 안 </a:t>
            </a:r>
            <a:r>
              <a:rPr sz="919" b="0" dirty="0" err="1">
                <a:solidFill>
                  <a:srgbClr val="000000"/>
                </a:solidFill>
                <a:latin typeface="맑은 고딕"/>
                <a:ea typeface="맑은 고딕"/>
              </a:rPr>
              <a:t>잡히는</a:t>
            </a:r>
            <a:r>
              <a:rPr sz="919" b="0" dirty="0">
                <a:solidFill>
                  <a:srgbClr val="000000"/>
                </a:solidFill>
                <a:latin typeface="맑은 고딕"/>
                <a:ea typeface="맑은 고딕"/>
              </a:rPr>
              <a:t> </a:t>
            </a:r>
            <a:r>
              <a:rPr sz="919" b="0" dirty="0" err="1">
                <a:solidFill>
                  <a:srgbClr val="000000"/>
                </a:solidFill>
                <a:latin typeface="맑은 고딕"/>
                <a:ea typeface="맑은 고딕"/>
              </a:rPr>
              <a:t>사람</a:t>
            </a:r>
            <a:r>
              <a:rPr sz="919" b="0" dirty="0">
                <a:solidFill>
                  <a:srgbClr val="000000"/>
                </a:solidFill>
                <a:latin typeface="맑은 고딕"/>
                <a:ea typeface="맑은 고딕"/>
              </a:rPr>
              <a:t> </a:t>
            </a:r>
            <a:r>
              <a:rPr sz="919" b="0" dirty="0" err="1">
                <a:solidFill>
                  <a:srgbClr val="000000"/>
                </a:solidFill>
                <a:latin typeface="맑은 고딕"/>
                <a:ea typeface="맑은 고딕"/>
              </a:rPr>
              <a:t>시간</a:t>
            </a:r>
            <a:r>
              <a:rPr sz="919" b="0" dirty="0">
                <a:solidFill>
                  <a:srgbClr val="000000"/>
                </a:solidFill>
                <a:latin typeface="맑은 고딕"/>
                <a:ea typeface="맑은 고딕"/>
              </a:rPr>
              <a:t>(</a:t>
            </a:r>
            <a:r>
              <a:rPr sz="919" b="0" dirty="0" err="1">
                <a:solidFill>
                  <a:srgbClr val="000000"/>
                </a:solidFill>
                <a:latin typeface="맑은 고딕"/>
                <a:ea typeface="맑은 고딕"/>
              </a:rPr>
              <a:t>리뷰·검증·배포·upstream</a:t>
            </a:r>
            <a:r>
              <a:rPr sz="919" b="0" dirty="0">
                <a:solidFill>
                  <a:srgbClr val="000000"/>
                </a:solidFill>
                <a:latin typeface="맑은 고딕"/>
                <a:ea typeface="맑은 고딕"/>
              </a:rPr>
              <a:t> </a:t>
            </a:r>
            <a:r>
              <a:rPr sz="919" b="0" dirty="0" err="1">
                <a:solidFill>
                  <a:srgbClr val="000000"/>
                </a:solidFill>
                <a:latin typeface="맑은 고딕"/>
                <a:ea typeface="맑은 고딕"/>
              </a:rPr>
              <a:t>재검증</a:t>
            </a:r>
            <a:r>
              <a:rPr sz="919" b="0" dirty="0">
                <a:solidFill>
                  <a:srgbClr val="000000"/>
                </a:solidFill>
                <a:latin typeface="맑은 고딕"/>
                <a:ea typeface="맑은 고딕"/>
              </a:rPr>
              <a:t>). ③ module 수: </a:t>
            </a:r>
            <a:r>
              <a:rPr sz="919" b="0" dirty="0" err="1">
                <a:solidFill>
                  <a:srgbClr val="000000"/>
                </a:solidFill>
                <a:latin typeface="맑은 고딕"/>
                <a:ea typeface="맑은 고딕"/>
              </a:rPr>
              <a:t>구조</a:t>
            </a:r>
            <a:r>
              <a:rPr sz="919" b="0" dirty="0">
                <a:solidFill>
                  <a:srgbClr val="000000"/>
                </a:solidFill>
                <a:latin typeface="맑은 고딕"/>
                <a:ea typeface="맑은 고딕"/>
              </a:rPr>
              <a:t> </a:t>
            </a:r>
            <a:r>
              <a:rPr sz="919" b="0" dirty="0" err="1">
                <a:solidFill>
                  <a:srgbClr val="000000"/>
                </a:solidFill>
                <a:latin typeface="맑은 고딕"/>
                <a:ea typeface="맑은 고딕"/>
              </a:rPr>
              <a:t>영향의</a:t>
            </a:r>
            <a:r>
              <a:rPr sz="919" b="0" dirty="0">
                <a:solidFill>
                  <a:srgbClr val="000000"/>
                </a:solidFill>
                <a:latin typeface="맑은 고딕"/>
                <a:ea typeface="맑은 고딕"/>
              </a:rPr>
              <a:t> </a:t>
            </a:r>
            <a:r>
              <a:rPr sz="919" b="0" dirty="0" err="1">
                <a:solidFill>
                  <a:srgbClr val="000000"/>
                </a:solidFill>
                <a:latin typeface="맑은 고딕"/>
                <a:ea typeface="맑은 고딕"/>
              </a:rPr>
              <a:t>대리</a:t>
            </a:r>
            <a:r>
              <a:rPr sz="919" b="0" dirty="0">
                <a:solidFill>
                  <a:srgbClr val="000000"/>
                </a:solidFill>
                <a:latin typeface="맑은 고딕"/>
                <a:ea typeface="맑은 고딕"/>
              </a:rPr>
              <a:t> </a:t>
            </a:r>
            <a:r>
              <a:rPr sz="919" b="0" dirty="0" err="1">
                <a:solidFill>
                  <a:srgbClr val="000000"/>
                </a:solidFill>
                <a:latin typeface="맑은 고딕"/>
                <a:ea typeface="맑은 고딕"/>
              </a:rPr>
              <a:t>지표</a:t>
            </a:r>
            <a:r>
              <a:rPr sz="919" b="0" dirty="0">
                <a:solidFill>
                  <a:srgbClr val="000000"/>
                </a:solidFill>
                <a:latin typeface="맑은 고딕"/>
                <a:ea typeface="맑은 고딕"/>
              </a:rPr>
              <a:t>(</a:t>
            </a:r>
            <a:r>
              <a:rPr sz="919" b="0" dirty="0" err="1">
                <a:solidFill>
                  <a:srgbClr val="000000"/>
                </a:solidFill>
                <a:latin typeface="맑은 고딕"/>
                <a:ea typeface="맑은 고딕"/>
              </a:rPr>
              <a:t>공통</a:t>
            </a:r>
            <a:r>
              <a:rPr sz="919" b="0" dirty="0">
                <a:solidFill>
                  <a:srgbClr val="000000"/>
                </a:solidFill>
                <a:latin typeface="맑은 고딕"/>
                <a:ea typeface="맑은 고딕"/>
              </a:rPr>
              <a:t> 룰).</a:t>
            </a: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a:solidFill>
                  <a:srgbClr val="2F5597"/>
                </a:solidFill>
                <a:latin typeface="맑은 고딕"/>
                <a:ea typeface="맑은 고딕"/>
              </a:rPr>
              <a:t>왜 세 </a:t>
            </a:r>
            <a:r>
              <a:rPr sz="919" b="1" dirty="0" err="1">
                <a:solidFill>
                  <a:srgbClr val="2F5597"/>
                </a:solidFill>
                <a:latin typeface="맑은 고딕"/>
                <a:ea typeface="맑은 고딕"/>
              </a:rPr>
              <a:t>개를</a:t>
            </a:r>
            <a:r>
              <a:rPr sz="919" b="1" dirty="0">
                <a:solidFill>
                  <a:srgbClr val="2F5597"/>
                </a:solidFill>
                <a:latin typeface="맑은 고딕"/>
                <a:ea typeface="맑은 고딕"/>
              </a:rPr>
              <a:t> </a:t>
            </a:r>
            <a:r>
              <a:rPr sz="919" b="1" dirty="0" err="1">
                <a:solidFill>
                  <a:srgbClr val="2F5597"/>
                </a:solidFill>
                <a:latin typeface="맑은 고딕"/>
                <a:ea typeface="맑은 고딕"/>
              </a:rPr>
              <a:t>모두</a:t>
            </a:r>
            <a:r>
              <a:rPr sz="919" b="1" dirty="0">
                <a:solidFill>
                  <a:srgbClr val="2F5597"/>
                </a:solidFill>
                <a:latin typeface="맑은 고딕"/>
                <a:ea typeface="맑은 고딕"/>
              </a:rPr>
              <a:t> </a:t>
            </a:r>
            <a:r>
              <a:rPr sz="919" b="1" dirty="0" err="1">
                <a:solidFill>
                  <a:srgbClr val="2F5597"/>
                </a:solidFill>
                <a:latin typeface="맑은 고딕"/>
                <a:ea typeface="맑은 고딕"/>
              </a:rPr>
              <a:t>계산하는가</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한 </a:t>
            </a:r>
            <a:r>
              <a:rPr sz="919" b="0" dirty="0" err="1">
                <a:solidFill>
                  <a:srgbClr val="000000"/>
                </a:solidFill>
                <a:latin typeface="맑은 고딕"/>
                <a:ea typeface="맑은 고딕"/>
              </a:rPr>
              <a:t>지표만</a:t>
            </a:r>
            <a:r>
              <a:rPr sz="919" b="0" dirty="0">
                <a:solidFill>
                  <a:srgbClr val="000000"/>
                </a:solidFill>
                <a:latin typeface="맑은 고딕"/>
                <a:ea typeface="맑은 고딕"/>
              </a:rPr>
              <a:t> </a:t>
            </a:r>
            <a:r>
              <a:rPr sz="919" b="0" dirty="0" err="1">
                <a:solidFill>
                  <a:srgbClr val="000000"/>
                </a:solidFill>
                <a:latin typeface="맑은 고딕"/>
                <a:ea typeface="맑은 고딕"/>
              </a:rPr>
              <a:t>쓰면</a:t>
            </a:r>
            <a:r>
              <a:rPr sz="919" b="0" dirty="0">
                <a:solidFill>
                  <a:srgbClr val="000000"/>
                </a:solidFill>
                <a:latin typeface="맑은 고딕"/>
                <a:ea typeface="맑은 고딕"/>
              </a:rPr>
              <a:t> </a:t>
            </a:r>
            <a:r>
              <a:rPr sz="919" b="0" dirty="0" err="1">
                <a:solidFill>
                  <a:srgbClr val="000000"/>
                </a:solidFill>
                <a:latin typeface="맑은 고딕"/>
                <a:ea typeface="맑은 고딕"/>
              </a:rPr>
              <a:t>가정</a:t>
            </a:r>
            <a:r>
              <a:rPr sz="919" b="0" dirty="0">
                <a:solidFill>
                  <a:srgbClr val="000000"/>
                </a:solidFill>
                <a:latin typeface="맑은 고딕"/>
                <a:ea typeface="맑은 고딕"/>
              </a:rPr>
              <a:t> </a:t>
            </a:r>
            <a:r>
              <a:rPr sz="919" b="0" dirty="0" err="1">
                <a:solidFill>
                  <a:srgbClr val="000000"/>
                </a:solidFill>
                <a:latin typeface="맑은 고딕"/>
                <a:ea typeface="맑은 고딕"/>
              </a:rPr>
              <a:t>하나로</a:t>
            </a:r>
            <a:r>
              <a:rPr sz="919" b="0" dirty="0">
                <a:solidFill>
                  <a:srgbClr val="000000"/>
                </a:solidFill>
                <a:latin typeface="맑은 고딕"/>
                <a:ea typeface="맑은 고딕"/>
              </a:rPr>
              <a:t> </a:t>
            </a:r>
            <a:r>
              <a:rPr sz="919" b="0" dirty="0" err="1">
                <a:solidFill>
                  <a:srgbClr val="000000"/>
                </a:solidFill>
                <a:latin typeface="맑은 고딕"/>
                <a:ea typeface="맑은 고딕"/>
              </a:rPr>
              <a:t>결론이</a:t>
            </a:r>
            <a:r>
              <a:rPr sz="919" b="0" dirty="0">
                <a:solidFill>
                  <a:srgbClr val="000000"/>
                </a:solidFill>
                <a:latin typeface="맑은 고딕"/>
                <a:ea typeface="맑은 고딕"/>
              </a:rPr>
              <a:t> </a:t>
            </a:r>
            <a:r>
              <a:rPr sz="919" b="0" dirty="0" err="1">
                <a:solidFill>
                  <a:srgbClr val="000000"/>
                </a:solidFill>
                <a:latin typeface="맑은 고딕"/>
                <a:ea typeface="맑은 고딕"/>
              </a:rPr>
              <a:t>바뀐다</a:t>
            </a:r>
            <a:r>
              <a:rPr sz="919" b="0" dirty="0">
                <a:solidFill>
                  <a:srgbClr val="000000"/>
                </a:solidFill>
                <a:latin typeface="맑은 고딕"/>
                <a:ea typeface="맑은 고딕"/>
              </a:rPr>
              <a:t>. 세 </a:t>
            </a:r>
            <a:r>
              <a:rPr sz="919" b="0" dirty="0" err="1">
                <a:solidFill>
                  <a:srgbClr val="000000"/>
                </a:solidFill>
                <a:latin typeface="맑은 고딕"/>
                <a:ea typeface="맑은 고딕"/>
              </a:rPr>
              <a:t>지표가</a:t>
            </a:r>
            <a:r>
              <a:rPr sz="919" b="0" dirty="0">
                <a:solidFill>
                  <a:srgbClr val="000000"/>
                </a:solidFill>
                <a:latin typeface="맑은 고딕"/>
                <a:ea typeface="맑은 고딕"/>
              </a:rPr>
              <a:t> </a:t>
            </a:r>
            <a:r>
              <a:rPr sz="919" b="0" dirty="0" err="1">
                <a:solidFill>
                  <a:srgbClr val="000000"/>
                </a:solidFill>
                <a:latin typeface="맑은 고딕"/>
                <a:ea typeface="맑은 고딕"/>
              </a:rPr>
              <a:t>시나리오마다</a:t>
            </a:r>
            <a:r>
              <a:rPr sz="919" b="0" dirty="0">
                <a:solidFill>
                  <a:srgbClr val="000000"/>
                </a:solidFill>
                <a:latin typeface="맑은 고딕"/>
                <a:ea typeface="맑은 고딕"/>
              </a:rPr>
              <a:t> </a:t>
            </a:r>
            <a:r>
              <a:rPr sz="919" b="0" dirty="0" err="1">
                <a:solidFill>
                  <a:srgbClr val="000000"/>
                </a:solidFill>
                <a:latin typeface="맑은 고딕"/>
                <a:ea typeface="맑은 고딕"/>
              </a:rPr>
              <a:t>같은</a:t>
            </a:r>
            <a:r>
              <a:rPr sz="919" b="0" dirty="0">
                <a:solidFill>
                  <a:srgbClr val="000000"/>
                </a:solidFill>
                <a:latin typeface="맑은 고딕"/>
                <a:ea typeface="맑은 고딕"/>
              </a:rPr>
              <a:t> </a:t>
            </a:r>
            <a:r>
              <a:rPr sz="919" b="0" dirty="0" err="1">
                <a:solidFill>
                  <a:srgbClr val="000000"/>
                </a:solidFill>
                <a:latin typeface="맑은 고딕"/>
                <a:ea typeface="맑은 고딕"/>
              </a:rPr>
              <a:t>방향이면</a:t>
            </a:r>
            <a:r>
              <a:rPr sz="919" b="0" dirty="0">
                <a:solidFill>
                  <a:srgbClr val="000000"/>
                </a:solidFill>
                <a:latin typeface="맑은 고딕"/>
                <a:ea typeface="맑은 고딕"/>
              </a:rPr>
              <a:t> </a:t>
            </a:r>
            <a:r>
              <a:rPr sz="919" b="0" dirty="0" err="1">
                <a:solidFill>
                  <a:srgbClr val="000000"/>
                </a:solidFill>
                <a:latin typeface="맑은 고딕"/>
                <a:ea typeface="맑은 고딕"/>
              </a:rPr>
              <a:t>결론의</a:t>
            </a:r>
            <a:r>
              <a:rPr sz="919" b="0" dirty="0">
                <a:solidFill>
                  <a:srgbClr val="000000"/>
                </a:solidFill>
                <a:latin typeface="맑은 고딕"/>
                <a:ea typeface="맑은 고딕"/>
              </a:rPr>
              <a:t> </a:t>
            </a:r>
            <a:r>
              <a:rPr sz="919" b="0" dirty="0" err="1">
                <a:solidFill>
                  <a:srgbClr val="000000"/>
                </a:solidFill>
                <a:latin typeface="맑은 고딕"/>
                <a:ea typeface="맑은 고딕"/>
              </a:rPr>
              <a:t>신뢰가</a:t>
            </a:r>
            <a:r>
              <a:rPr sz="919" b="0" dirty="0">
                <a:solidFill>
                  <a:srgbClr val="000000"/>
                </a:solidFill>
                <a:latin typeface="맑은 고딕"/>
                <a:ea typeface="맑은 고딕"/>
              </a:rPr>
              <a:t> </a:t>
            </a:r>
            <a:r>
              <a:rPr sz="919" b="0" dirty="0" err="1">
                <a:solidFill>
                  <a:srgbClr val="000000"/>
                </a:solidFill>
                <a:latin typeface="맑은 고딕"/>
                <a:ea typeface="맑은 고딕"/>
              </a:rPr>
              <a:t>올라가고</a:t>
            </a:r>
            <a:r>
              <a:rPr sz="919" b="0" dirty="0">
                <a:solidFill>
                  <a:srgbClr val="000000"/>
                </a:solidFill>
                <a:latin typeface="맑은 고딕"/>
                <a:ea typeface="맑은 고딕"/>
              </a:rPr>
              <a:t>, </a:t>
            </a:r>
            <a:r>
              <a:rPr sz="919" b="0" dirty="0" err="1">
                <a:solidFill>
                  <a:srgbClr val="000000"/>
                </a:solidFill>
                <a:latin typeface="맑은 고딕"/>
                <a:ea typeface="맑은 고딕"/>
              </a:rPr>
              <a:t>갈리면</a:t>
            </a:r>
            <a:r>
              <a:rPr sz="919" b="0" dirty="0">
                <a:solidFill>
                  <a:srgbClr val="000000"/>
                </a:solidFill>
                <a:latin typeface="맑은 고딕"/>
                <a:ea typeface="맑은 고딕"/>
              </a:rPr>
              <a:t> </a:t>
            </a:r>
            <a:r>
              <a:rPr sz="919" b="0" dirty="0" err="1">
                <a:solidFill>
                  <a:srgbClr val="000000"/>
                </a:solidFill>
                <a:latin typeface="맑은 고딕"/>
                <a:ea typeface="맑은 고딕"/>
              </a:rPr>
              <a:t>가정이</a:t>
            </a:r>
            <a:r>
              <a:rPr sz="919" b="0" dirty="0">
                <a:solidFill>
                  <a:srgbClr val="000000"/>
                </a:solidFill>
                <a:latin typeface="맑은 고딕"/>
                <a:ea typeface="맑은 고딕"/>
              </a:rPr>
              <a:t> </a:t>
            </a:r>
            <a:r>
              <a:rPr sz="919" b="0" dirty="0" err="1">
                <a:solidFill>
                  <a:srgbClr val="000000"/>
                </a:solidFill>
                <a:latin typeface="맑은 고딕"/>
                <a:ea typeface="맑은 고딕"/>
              </a:rPr>
              <a:t>결과를</a:t>
            </a:r>
            <a:r>
              <a:rPr sz="919" b="0" dirty="0">
                <a:solidFill>
                  <a:srgbClr val="000000"/>
                </a:solidFill>
                <a:latin typeface="맑은 고딕"/>
                <a:ea typeface="맑은 고딕"/>
              </a:rPr>
              <a:t> </a:t>
            </a:r>
            <a:r>
              <a:rPr sz="919" b="0" dirty="0" err="1">
                <a:solidFill>
                  <a:srgbClr val="000000"/>
                </a:solidFill>
                <a:latin typeface="맑은 고딕"/>
                <a:ea typeface="맑은 고딕"/>
              </a:rPr>
              <a:t>흔든다는</a:t>
            </a:r>
            <a:r>
              <a:rPr sz="919" b="0" dirty="0">
                <a:solidFill>
                  <a:srgbClr val="000000"/>
                </a:solidFill>
                <a:latin typeface="맑은 고딕"/>
                <a:ea typeface="맑은 고딕"/>
              </a:rPr>
              <a:t> </a:t>
            </a:r>
            <a:r>
              <a:rPr sz="919" b="0" dirty="0" err="1">
                <a:solidFill>
                  <a:srgbClr val="000000"/>
                </a:solidFill>
                <a:latin typeface="맑은 고딕"/>
                <a:ea typeface="맑은 고딕"/>
              </a:rPr>
              <a:t>신호다</a:t>
            </a:r>
            <a:r>
              <a:rPr lang="en-US" sz="919" dirty="0">
                <a:solidFill>
                  <a:srgbClr val="000000"/>
                </a:solidFill>
                <a:latin typeface="맑은 고딕"/>
                <a:ea typeface="맑은 고딕"/>
              </a:rPr>
              <a:t>.</a:t>
            </a:r>
            <a:endParaRPr sz="919" b="0" dirty="0">
              <a:solidFill>
                <a:srgbClr val="000000"/>
              </a:solidFill>
              <a:latin typeface="맑은 고딕"/>
              <a:ea typeface="맑은 고딕"/>
            </a:endParaRPr>
          </a:p>
        </p:txBody>
      </p:sp>
      <p:sp>
        <p:nvSpPr>
          <p:cNvPr id="7" name="TextBox 6"/>
          <p:cNvSpPr txBox="1"/>
          <p:nvPr/>
        </p:nvSpPr>
        <p:spPr>
          <a:xfrm>
            <a:off x="6126480" y="3108960"/>
            <a:ext cx="5669280" cy="1809341"/>
          </a:xfrm>
          <a:prstGeom prst="rect">
            <a:avLst/>
          </a:prstGeom>
          <a:noFill/>
        </p:spPr>
        <p:txBody>
          <a:bodyPr wrap="square" lIns="73152" tIns="36576" rIns="73152" bIns="36576" anchor="t">
            <a:spAutoFit/>
          </a:bodyPr>
          <a:lstStyle/>
          <a:p>
            <a:pPr algn="l">
              <a:spcAft>
                <a:spcPts val="200"/>
              </a:spcAft>
            </a:pPr>
            <a:r>
              <a:rPr sz="919" b="1" dirty="0" err="1">
                <a:solidFill>
                  <a:srgbClr val="2F5597"/>
                </a:solidFill>
                <a:latin typeface="맑은 고딕"/>
                <a:ea typeface="맑은 고딕"/>
              </a:rPr>
              <a:t>경계값의</a:t>
            </a:r>
            <a:r>
              <a:rPr sz="919" b="1" dirty="0">
                <a:solidFill>
                  <a:srgbClr val="2F5597"/>
                </a:solidFill>
                <a:latin typeface="맑은 고딕"/>
                <a:ea typeface="맑은 고딕"/>
              </a:rPr>
              <a:t> </a:t>
            </a:r>
            <a:r>
              <a:rPr sz="919" b="1" dirty="0" err="1">
                <a:solidFill>
                  <a:srgbClr val="2F5597"/>
                </a:solidFill>
                <a:latin typeface="맑은 고딕"/>
                <a:ea typeface="맑은 고딕"/>
              </a:rPr>
              <a:t>근거</a:t>
            </a:r>
            <a:r>
              <a:rPr sz="919" b="1" dirty="0">
                <a:solidFill>
                  <a:srgbClr val="2F5597"/>
                </a:solidFill>
                <a:latin typeface="맑은 고딕"/>
                <a:ea typeface="맑은 고딕"/>
              </a:rPr>
              <a:t> (</a:t>
            </a:r>
            <a:r>
              <a:rPr sz="919" b="1" dirty="0" err="1">
                <a:solidFill>
                  <a:srgbClr val="2F5597"/>
                </a:solidFill>
                <a:latin typeface="맑은 고딕"/>
                <a:ea typeface="맑은 고딕"/>
              </a:rPr>
              <a:t>모두</a:t>
            </a:r>
            <a:r>
              <a:rPr sz="919" b="1" dirty="0">
                <a:solidFill>
                  <a:srgbClr val="2F5597"/>
                </a:solidFill>
                <a:latin typeface="맑은 고딕"/>
                <a:ea typeface="맑은 고딕"/>
              </a:rPr>
              <a:t> </a:t>
            </a:r>
            <a:r>
              <a:rPr sz="919" b="1" dirty="0" err="1">
                <a:solidFill>
                  <a:srgbClr val="2F5597"/>
                </a:solidFill>
                <a:latin typeface="맑은 고딕"/>
                <a:ea typeface="맑은 고딕"/>
              </a:rPr>
              <a:t>사전</a:t>
            </a:r>
            <a:r>
              <a:rPr sz="919" b="1" dirty="0">
                <a:solidFill>
                  <a:srgbClr val="2F5597"/>
                </a:solidFill>
                <a:latin typeface="맑은 고딕"/>
                <a:ea typeface="맑은 고딕"/>
              </a:rPr>
              <a:t> </a:t>
            </a:r>
            <a:r>
              <a:rPr sz="919" b="1" dirty="0" err="1">
                <a:solidFill>
                  <a:srgbClr val="2F5597"/>
                </a:solidFill>
                <a:latin typeface="맑은 고딕"/>
                <a:ea typeface="맑은 고딕"/>
              </a:rPr>
              <a:t>등록</a:t>
            </a:r>
            <a:r>
              <a:rPr sz="919" b="1" dirty="0">
                <a:solidFill>
                  <a:srgbClr val="2F5597"/>
                </a:solidFill>
                <a:latin typeface="맑은 고딕"/>
                <a:ea typeface="맑은 고딕"/>
              </a:rPr>
              <a:t> </a:t>
            </a:r>
            <a:r>
              <a:rPr sz="919" b="1" dirty="0" err="1">
                <a:solidFill>
                  <a:srgbClr val="2F5597"/>
                </a:solidFill>
                <a:latin typeface="맑은 고딕"/>
                <a:ea typeface="맑은 고딕"/>
              </a:rPr>
              <a:t>가정</a:t>
            </a:r>
            <a:r>
              <a:rPr sz="919" b="1" dirty="0">
                <a:solidFill>
                  <a:srgbClr val="2F5597"/>
                </a:solidFill>
                <a:latin typeface="맑은 고딕"/>
                <a:ea typeface="맑은 고딕"/>
              </a:rPr>
              <a:t>)</a:t>
            </a:r>
          </a:p>
          <a:p>
            <a:pPr algn="l">
              <a:spcAft>
                <a:spcPts val="200"/>
              </a:spcAft>
            </a:pPr>
            <a:r>
              <a:rPr sz="919" b="0" dirty="0">
                <a:solidFill>
                  <a:srgbClr val="000000"/>
                </a:solidFill>
                <a:latin typeface="맑은 고딕"/>
                <a:ea typeface="맑은 고딕"/>
              </a:rPr>
              <a:t>• ① </a:t>
            </a:r>
            <a:r>
              <a:rPr sz="919" b="0" dirty="0">
                <a:solidFill>
                  <a:schemeClr val="accent1"/>
                </a:solidFill>
                <a:latin typeface="맑은 고딕"/>
                <a:ea typeface="맑은 고딕"/>
              </a:rPr>
              <a:t>$0.5: </a:t>
            </a:r>
            <a:r>
              <a:rPr sz="919" b="0" dirty="0" err="1">
                <a:solidFill>
                  <a:schemeClr val="accent1"/>
                </a:solidFill>
                <a:latin typeface="맑은 고딕"/>
                <a:ea typeface="맑은 고딕"/>
              </a:rPr>
              <a:t>원본</a:t>
            </a:r>
            <a:r>
              <a:rPr sz="919" b="0" dirty="0">
                <a:solidFill>
                  <a:schemeClr val="accent1"/>
                </a:solidFill>
                <a:latin typeface="맑은 고딕"/>
                <a:ea typeface="맑은 고딕"/>
              </a:rPr>
              <a:t> 약 25k </a:t>
            </a:r>
            <a:r>
              <a:rPr sz="919" b="0" dirty="0" err="1">
                <a:solidFill>
                  <a:schemeClr val="accent1"/>
                </a:solidFill>
                <a:latin typeface="맑은 고딕"/>
                <a:ea typeface="맑은 고딕"/>
              </a:rPr>
              <a:t>토큰</a:t>
            </a:r>
            <a:r>
              <a:rPr sz="919" b="0" dirty="0">
                <a:solidFill>
                  <a:schemeClr val="accent1"/>
                </a:solidFill>
                <a:latin typeface="맑은 고딕"/>
                <a:ea typeface="맑은 고딕"/>
              </a:rPr>
              <a:t>(module 약 3개 </a:t>
            </a:r>
            <a:r>
              <a:rPr sz="919" b="0" dirty="0" err="1">
                <a:solidFill>
                  <a:schemeClr val="accent1"/>
                </a:solidFill>
                <a:latin typeface="맑은 고딕"/>
                <a:ea typeface="맑은 고딕"/>
              </a:rPr>
              <a:t>읽기</a:t>
            </a:r>
            <a:r>
              <a:rPr sz="919" b="0" dirty="0">
                <a:solidFill>
                  <a:schemeClr val="accent1"/>
                </a:solidFill>
                <a:latin typeface="맑은 고딕"/>
                <a:ea typeface="맑은 고딕"/>
              </a:rPr>
              <a:t> + </a:t>
            </a:r>
            <a:r>
              <a:rPr sz="919" b="0" dirty="0" err="1">
                <a:solidFill>
                  <a:schemeClr val="accent1"/>
                </a:solidFill>
                <a:latin typeface="맑은 고딕"/>
                <a:ea typeface="맑은 고딕"/>
              </a:rPr>
              <a:t>소규모</a:t>
            </a:r>
            <a:r>
              <a:rPr sz="919" b="0" dirty="0">
                <a:solidFill>
                  <a:schemeClr val="accent1"/>
                </a:solidFill>
                <a:latin typeface="맑은 고딕"/>
                <a:ea typeface="맑은 고딕"/>
              </a:rPr>
              <a:t> </a:t>
            </a:r>
            <a:r>
              <a:rPr sz="919" b="0" dirty="0" err="1">
                <a:solidFill>
                  <a:schemeClr val="accent1"/>
                </a:solidFill>
                <a:latin typeface="맑은 고딕"/>
                <a:ea typeface="맑은 고딕"/>
              </a:rPr>
              <a:t>수정</a:t>
            </a:r>
            <a:r>
              <a:rPr sz="919" b="0" dirty="0">
                <a:solidFill>
                  <a:schemeClr val="accent1"/>
                </a:solidFill>
                <a:latin typeface="맑은 고딕"/>
                <a:ea typeface="맑은 고딕"/>
              </a:rPr>
              <a:t>)을 한 </a:t>
            </a:r>
            <a:r>
              <a:rPr sz="919" b="0" dirty="0" err="1">
                <a:solidFill>
                  <a:schemeClr val="accent1"/>
                </a:solidFill>
                <a:latin typeface="맑은 고딕"/>
                <a:ea typeface="맑은 고딕"/>
              </a:rPr>
              <a:t>세션에서</a:t>
            </a:r>
            <a:r>
              <a:rPr sz="919" b="0" dirty="0">
                <a:solidFill>
                  <a:schemeClr val="accent1"/>
                </a:solidFill>
                <a:latin typeface="맑은 고딕"/>
                <a:ea typeface="맑은 고딕"/>
              </a:rPr>
              <a:t> </a:t>
            </a:r>
            <a:r>
              <a:rPr sz="919" b="0" dirty="0" err="1">
                <a:solidFill>
                  <a:schemeClr val="accent1"/>
                </a:solidFill>
                <a:latin typeface="맑은 고딕"/>
                <a:ea typeface="맑은 고딕"/>
              </a:rPr>
              <a:t>재작업</a:t>
            </a:r>
            <a:r>
              <a:rPr sz="919" b="0" dirty="0">
                <a:solidFill>
                  <a:schemeClr val="accent1"/>
                </a:solidFill>
                <a:latin typeface="맑은 고딕"/>
                <a:ea typeface="맑은 고딕"/>
              </a:rPr>
              <a:t> </a:t>
            </a:r>
            <a:r>
              <a:rPr sz="919" b="0" dirty="0" err="1">
                <a:solidFill>
                  <a:schemeClr val="accent1"/>
                </a:solidFill>
                <a:latin typeface="맑은 고딕"/>
                <a:ea typeface="맑은 고딕"/>
              </a:rPr>
              <a:t>없이</a:t>
            </a:r>
            <a:r>
              <a:rPr sz="919" b="0" dirty="0">
                <a:solidFill>
                  <a:schemeClr val="accent1"/>
                </a:solidFill>
                <a:latin typeface="맑은 고딕"/>
                <a:ea typeface="맑은 고딕"/>
              </a:rPr>
              <a:t> </a:t>
            </a:r>
            <a:r>
              <a:rPr sz="919" b="0" dirty="0" err="1">
                <a:solidFill>
                  <a:schemeClr val="accent1"/>
                </a:solidFill>
                <a:latin typeface="맑은 고딕"/>
                <a:ea typeface="맑은 고딕"/>
              </a:rPr>
              <a:t>끝내는</a:t>
            </a:r>
            <a:r>
              <a:rPr sz="919" b="0" dirty="0">
                <a:solidFill>
                  <a:schemeClr val="accent1"/>
                </a:solidFill>
                <a:latin typeface="맑은 고딕"/>
                <a:ea typeface="맑은 고딕"/>
              </a:rPr>
              <a:t> </a:t>
            </a:r>
            <a:r>
              <a:rPr sz="919" b="0" dirty="0" err="1">
                <a:solidFill>
                  <a:schemeClr val="accent1"/>
                </a:solidFill>
                <a:latin typeface="맑은 고딕"/>
                <a:ea typeface="맑은 고딕"/>
              </a:rPr>
              <a:t>비용</a:t>
            </a:r>
            <a:r>
              <a:rPr sz="919" b="0" dirty="0">
                <a:solidFill>
                  <a:schemeClr val="accent1"/>
                </a:solidFill>
                <a:latin typeface="맑은 고딕"/>
                <a:ea typeface="맑은 고딕"/>
              </a:rPr>
              <a:t>(</a:t>
            </a:r>
            <a:r>
              <a:rPr sz="919" b="0" dirty="0" err="1">
                <a:solidFill>
                  <a:schemeClr val="accent1"/>
                </a:solidFill>
                <a:latin typeface="맑은 고딕"/>
                <a:ea typeface="맑은 고딕"/>
              </a:rPr>
              <a:t>유효</a:t>
            </a:r>
            <a:r>
              <a:rPr sz="919" b="0" dirty="0">
                <a:solidFill>
                  <a:schemeClr val="accent1"/>
                </a:solidFill>
                <a:latin typeface="맑은 고딕"/>
                <a:ea typeface="맑은 고딕"/>
              </a:rPr>
              <a:t> </a:t>
            </a:r>
            <a:r>
              <a:rPr sz="919" b="0" dirty="0" err="1">
                <a:solidFill>
                  <a:schemeClr val="accent1"/>
                </a:solidFill>
                <a:latin typeface="맑은 고딕"/>
                <a:ea typeface="맑은 고딕"/>
              </a:rPr>
              <a:t>입력</a:t>
            </a:r>
            <a:r>
              <a:rPr sz="919" b="0" dirty="0">
                <a:solidFill>
                  <a:schemeClr val="accent1"/>
                </a:solidFill>
                <a:latin typeface="맑은 고딕"/>
                <a:ea typeface="맑은 고딕"/>
              </a:rPr>
              <a:t> </a:t>
            </a:r>
            <a:r>
              <a:rPr sz="919" b="0" dirty="0" err="1">
                <a:solidFill>
                  <a:schemeClr val="accent1"/>
                </a:solidFill>
                <a:latin typeface="맑은 고딕"/>
                <a:ea typeface="맑은 고딕"/>
              </a:rPr>
              <a:t>재과금</a:t>
            </a:r>
            <a:r>
              <a:rPr sz="919" b="0" dirty="0">
                <a:solidFill>
                  <a:schemeClr val="accent1"/>
                </a:solidFill>
                <a:latin typeface="맑은 고딕"/>
                <a:ea typeface="맑은 고딕"/>
              </a:rPr>
              <a:t> 6배, </a:t>
            </a:r>
            <a:r>
              <a:rPr sz="919" b="0" dirty="0" err="1">
                <a:solidFill>
                  <a:schemeClr val="accent1"/>
                </a:solidFill>
                <a:latin typeface="맑은 고딕"/>
                <a:ea typeface="맑은 고딕"/>
              </a:rPr>
              <a:t>Sonnet급</a:t>
            </a:r>
            <a:r>
              <a:rPr sz="919" b="0" dirty="0">
                <a:solidFill>
                  <a:schemeClr val="accent1"/>
                </a:solidFill>
                <a:latin typeface="맑은 고딕"/>
                <a:ea typeface="맑은 고딕"/>
              </a:rPr>
              <a:t> $3/$15 per </a:t>
            </a:r>
            <a:r>
              <a:rPr sz="919" b="0" dirty="0" err="1">
                <a:solidFill>
                  <a:schemeClr val="accent1"/>
                </a:solidFill>
                <a:latin typeface="맑은 고딕"/>
                <a:ea typeface="맑은 고딕"/>
              </a:rPr>
              <a:t>MTok</a:t>
            </a:r>
            <a:r>
              <a:rPr sz="919" b="0" dirty="0">
                <a:solidFill>
                  <a:schemeClr val="accent1"/>
                </a:solidFill>
                <a:latin typeface="맑은 고딕"/>
                <a:ea typeface="맑은 고딕"/>
              </a:rPr>
              <a:t> </a:t>
            </a:r>
            <a:r>
              <a:rPr sz="919" b="0" dirty="0" err="1">
                <a:solidFill>
                  <a:schemeClr val="accent1"/>
                </a:solidFill>
                <a:latin typeface="맑은 고딕"/>
                <a:ea typeface="맑은 고딕"/>
              </a:rPr>
              <a:t>가정</a:t>
            </a:r>
            <a:r>
              <a:rPr sz="919" b="0" dirty="0">
                <a:solidFill>
                  <a:schemeClr val="accent1"/>
                </a:solidFill>
                <a:latin typeface="맑은 고딕"/>
                <a:ea typeface="맑은 고딕"/>
              </a:rPr>
              <a:t>). </a:t>
            </a:r>
            <a:endParaRPr lang="en-US" sz="919" b="0" dirty="0">
              <a:solidFill>
                <a:schemeClr val="accent1"/>
              </a:solidFill>
              <a:latin typeface="맑은 고딕"/>
              <a:ea typeface="맑은 고딕"/>
            </a:endParaRPr>
          </a:p>
          <a:p>
            <a:pPr algn="l">
              <a:spcAft>
                <a:spcPts val="200"/>
              </a:spcAft>
            </a:pPr>
            <a:r>
              <a:rPr sz="919" b="0" dirty="0">
                <a:solidFill>
                  <a:srgbClr val="000000"/>
                </a:solidFill>
                <a:latin typeface="맑은 고딕"/>
                <a:ea typeface="맑은 고딕"/>
              </a:rPr>
              <a:t>$2는 그 4배 = </a:t>
            </a:r>
            <a:r>
              <a:rPr sz="919" b="0" dirty="0" err="1">
                <a:solidFill>
                  <a:srgbClr val="000000"/>
                </a:solidFill>
                <a:latin typeface="맑은 고딕"/>
                <a:ea typeface="맑은 고딕"/>
              </a:rPr>
              <a:t>다중</a:t>
            </a:r>
            <a:r>
              <a:rPr sz="919" b="0" dirty="0">
                <a:solidFill>
                  <a:srgbClr val="000000"/>
                </a:solidFill>
                <a:latin typeface="맑은 고딕"/>
                <a:ea typeface="맑은 고딕"/>
              </a:rPr>
              <a:t> </a:t>
            </a:r>
            <a:r>
              <a:rPr sz="919" b="0" dirty="0" err="1">
                <a:solidFill>
                  <a:srgbClr val="000000"/>
                </a:solidFill>
                <a:latin typeface="맑은 고딕"/>
                <a:ea typeface="맑은 고딕"/>
              </a:rPr>
              <a:t>세션·OSS</a:t>
            </a:r>
            <a:r>
              <a:rPr sz="919" b="0" dirty="0">
                <a:solidFill>
                  <a:srgbClr val="000000"/>
                </a:solidFill>
                <a:latin typeface="맑은 고딕"/>
                <a:ea typeface="맑은 고딕"/>
              </a:rPr>
              <a:t> </a:t>
            </a:r>
            <a:r>
              <a:rPr sz="919" b="0" dirty="0" err="1">
                <a:solidFill>
                  <a:srgbClr val="000000"/>
                </a:solidFill>
                <a:latin typeface="맑은 고딕"/>
                <a:ea typeface="맑은 고딕"/>
              </a:rPr>
              <a:t>코드</a:t>
            </a:r>
            <a:r>
              <a:rPr sz="919" b="0" dirty="0">
                <a:solidFill>
                  <a:srgbClr val="000000"/>
                </a:solidFill>
                <a:latin typeface="맑은 고딕"/>
                <a:ea typeface="맑은 고딕"/>
              </a:rPr>
              <a:t> </a:t>
            </a:r>
            <a:r>
              <a:rPr sz="919" b="0" dirty="0" err="1">
                <a:solidFill>
                  <a:srgbClr val="000000"/>
                </a:solidFill>
                <a:latin typeface="맑은 고딕"/>
                <a:ea typeface="맑은 고딕"/>
              </a:rPr>
              <a:t>탐색이</a:t>
            </a:r>
            <a:r>
              <a:rPr sz="919" b="0" dirty="0">
                <a:solidFill>
                  <a:srgbClr val="000000"/>
                </a:solidFill>
                <a:latin typeface="맑은 고딕"/>
                <a:ea typeface="맑은 고딕"/>
              </a:rPr>
              <a:t> </a:t>
            </a:r>
            <a:r>
              <a:rPr sz="919" b="0" dirty="0" err="1">
                <a:solidFill>
                  <a:srgbClr val="000000"/>
                </a:solidFill>
                <a:latin typeface="맑은 고딕"/>
                <a:ea typeface="맑은 고딕"/>
              </a:rPr>
              <a:t>들어가는</a:t>
            </a:r>
            <a:r>
              <a:rPr sz="919" b="0" dirty="0">
                <a:solidFill>
                  <a:srgbClr val="000000"/>
                </a:solidFill>
                <a:latin typeface="맑은 고딕"/>
                <a:ea typeface="맑은 고딕"/>
              </a:rPr>
              <a:t> </a:t>
            </a:r>
            <a:r>
              <a:rPr sz="919" b="0" dirty="0" err="1">
                <a:solidFill>
                  <a:srgbClr val="000000"/>
                </a:solidFill>
                <a:latin typeface="맑은 고딕"/>
                <a:ea typeface="맑은 고딕"/>
              </a:rPr>
              <a:t>수준</a:t>
            </a:r>
            <a:r>
              <a:rPr sz="919" b="0" dirty="0">
                <a:solidFill>
                  <a:srgbClr val="000000"/>
                </a:solidFill>
                <a:latin typeface="맑은 고딕"/>
                <a:ea typeface="맑은 고딕"/>
              </a:rPr>
              <a:t>.</a:t>
            </a:r>
          </a:p>
          <a:p>
            <a:pPr algn="l">
              <a:spcAft>
                <a:spcPts val="200"/>
              </a:spcAft>
            </a:pPr>
            <a:r>
              <a:rPr sz="919" b="0" dirty="0">
                <a:solidFill>
                  <a:srgbClr val="000000"/>
                </a:solidFill>
                <a:latin typeface="맑은 고딕"/>
                <a:ea typeface="맑은 고딕"/>
              </a:rPr>
              <a:t>• ② 3 man-day: </a:t>
            </a:r>
            <a:r>
              <a:rPr sz="919" b="0" dirty="0" err="1">
                <a:solidFill>
                  <a:srgbClr val="000000"/>
                </a:solidFill>
                <a:latin typeface="맑은 고딕"/>
                <a:ea typeface="맑은 고딕"/>
              </a:rPr>
              <a:t>스프린트</a:t>
            </a:r>
            <a:r>
              <a:rPr sz="919" b="0" dirty="0">
                <a:solidFill>
                  <a:srgbClr val="000000"/>
                </a:solidFill>
                <a:latin typeface="맑은 고딕"/>
                <a:ea typeface="맑은 고딕"/>
              </a:rPr>
              <a:t>(10 man-day)의 30%, 한 </a:t>
            </a:r>
            <a:r>
              <a:rPr sz="919" b="0" dirty="0" err="1">
                <a:solidFill>
                  <a:srgbClr val="000000"/>
                </a:solidFill>
                <a:latin typeface="맑은 고딕"/>
                <a:ea typeface="맑은 고딕"/>
              </a:rPr>
              <a:t>사람이</a:t>
            </a:r>
            <a:r>
              <a:rPr sz="919" b="0" dirty="0">
                <a:solidFill>
                  <a:srgbClr val="000000"/>
                </a:solidFill>
                <a:latin typeface="맑은 고딕"/>
                <a:ea typeface="맑은 고딕"/>
              </a:rPr>
              <a:t> 한 주 </a:t>
            </a:r>
            <a:r>
              <a:rPr sz="919" b="0" dirty="0" err="1">
                <a:solidFill>
                  <a:srgbClr val="000000"/>
                </a:solidFill>
                <a:latin typeface="맑은 고딕"/>
                <a:ea typeface="맑은 고딕"/>
              </a:rPr>
              <a:t>안에</a:t>
            </a:r>
            <a:r>
              <a:rPr sz="919" b="0" dirty="0">
                <a:solidFill>
                  <a:srgbClr val="000000"/>
                </a:solidFill>
                <a:latin typeface="맑은 고딕"/>
                <a:ea typeface="맑은 고딕"/>
              </a:rPr>
              <a:t> </a:t>
            </a:r>
            <a:r>
              <a:rPr sz="919" b="0" dirty="0" err="1">
                <a:solidFill>
                  <a:srgbClr val="000000"/>
                </a:solidFill>
                <a:latin typeface="맑은 고딕"/>
                <a:ea typeface="맑은 고딕"/>
              </a:rPr>
              <a:t>배포까지</a:t>
            </a:r>
            <a:r>
              <a:rPr sz="919" b="0" dirty="0">
                <a:solidFill>
                  <a:srgbClr val="000000"/>
                </a:solidFill>
                <a:latin typeface="맑은 고딕"/>
                <a:ea typeface="맑은 고딕"/>
              </a:rPr>
              <a:t>. 7 man-day: </a:t>
            </a:r>
            <a:r>
              <a:rPr sz="919" b="0" dirty="0" err="1">
                <a:solidFill>
                  <a:srgbClr val="000000"/>
                </a:solidFill>
                <a:latin typeface="맑은 고딕"/>
                <a:ea typeface="맑은 고딕"/>
              </a:rPr>
              <a:t>가용률</a:t>
            </a:r>
            <a:r>
              <a:rPr sz="919" b="0" dirty="0">
                <a:solidFill>
                  <a:srgbClr val="000000"/>
                </a:solidFill>
                <a:latin typeface="맑은 고딕"/>
                <a:ea typeface="맑은 고딕"/>
              </a:rPr>
              <a:t> 70% </a:t>
            </a:r>
            <a:r>
              <a:rPr sz="919" b="0" dirty="0" err="1">
                <a:solidFill>
                  <a:srgbClr val="000000"/>
                </a:solidFill>
                <a:latin typeface="맑은 고딕"/>
                <a:ea typeface="맑은 고딕"/>
              </a:rPr>
              <a:t>가정의</a:t>
            </a:r>
            <a:r>
              <a:rPr sz="919" b="0" dirty="0">
                <a:solidFill>
                  <a:srgbClr val="000000"/>
                </a:solidFill>
                <a:latin typeface="맑은 고딕"/>
                <a:ea typeface="맑은 고딕"/>
              </a:rPr>
              <a:t> 한 </a:t>
            </a:r>
            <a:r>
              <a:rPr sz="919" b="0" dirty="0" err="1">
                <a:solidFill>
                  <a:srgbClr val="000000"/>
                </a:solidFill>
                <a:latin typeface="맑은 고딕"/>
                <a:ea typeface="맑은 고딕"/>
              </a:rPr>
              <a:t>스프린트</a:t>
            </a:r>
            <a:r>
              <a:rPr sz="919" b="0" dirty="0">
                <a:solidFill>
                  <a:srgbClr val="000000"/>
                </a:solidFill>
                <a:latin typeface="맑은 고딕"/>
                <a:ea typeface="맑은 고딕"/>
              </a:rPr>
              <a:t> </a:t>
            </a:r>
            <a:r>
              <a:rPr sz="919" b="0" dirty="0" err="1">
                <a:solidFill>
                  <a:srgbClr val="000000"/>
                </a:solidFill>
                <a:latin typeface="맑은 고딕"/>
                <a:ea typeface="맑은 고딕"/>
              </a:rPr>
              <a:t>상한</a:t>
            </a:r>
            <a:r>
              <a:rPr sz="919" b="0" dirty="0">
                <a:solidFill>
                  <a:srgbClr val="000000"/>
                </a:solidFill>
                <a:latin typeface="맑은 고딕"/>
                <a:ea typeface="맑은 고딕"/>
              </a:rPr>
              <a:t>.</a:t>
            </a:r>
          </a:p>
          <a:p>
            <a:pPr algn="l">
              <a:spcAft>
                <a:spcPts val="200"/>
              </a:spcAft>
            </a:pPr>
            <a:r>
              <a:rPr sz="919" b="0" dirty="0">
                <a:solidFill>
                  <a:srgbClr val="000000"/>
                </a:solidFill>
                <a:latin typeface="맑은 고딕"/>
                <a:ea typeface="맑은 고딕"/>
              </a:rPr>
              <a:t>• ③ 2 / 6: </a:t>
            </a:r>
            <a:r>
              <a:rPr sz="919" b="0" dirty="0" err="1">
                <a:solidFill>
                  <a:srgbClr val="000000"/>
                </a:solidFill>
                <a:latin typeface="맑은 고딕"/>
                <a:ea typeface="맑은 고딕"/>
              </a:rPr>
              <a:t>공통</a:t>
            </a:r>
            <a:r>
              <a:rPr sz="919" b="0" dirty="0">
                <a:solidFill>
                  <a:srgbClr val="000000"/>
                </a:solidFill>
                <a:latin typeface="맑은 고딕"/>
                <a:ea typeface="맑은 고딕"/>
              </a:rPr>
              <a:t> 룰 §7 </a:t>
            </a:r>
            <a:r>
              <a:rPr sz="919" b="0" dirty="0" err="1">
                <a:solidFill>
                  <a:srgbClr val="000000"/>
                </a:solidFill>
                <a:latin typeface="맑은 고딕"/>
                <a:ea typeface="맑은 고딕"/>
              </a:rPr>
              <a:t>그대로</a:t>
            </a:r>
            <a:r>
              <a:rPr sz="919" b="0" dirty="0">
                <a:solidFill>
                  <a:srgbClr val="000000"/>
                </a:solidFill>
                <a:latin typeface="맑은 고딕"/>
                <a:ea typeface="맑은 고딕"/>
              </a:rPr>
              <a:t>.</a:t>
            </a: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err="1">
                <a:solidFill>
                  <a:srgbClr val="C00000"/>
                </a:solidFill>
                <a:latin typeface="맑은 고딕"/>
                <a:ea typeface="맑은 고딕"/>
              </a:rPr>
              <a:t>출처</a:t>
            </a:r>
            <a:r>
              <a:rPr sz="919" b="1" dirty="0">
                <a:solidFill>
                  <a:srgbClr val="C00000"/>
                </a:solidFill>
                <a:latin typeface="맑은 고딕"/>
                <a:ea typeface="맑은 고딕"/>
              </a:rPr>
              <a:t> </a:t>
            </a:r>
            <a:r>
              <a:rPr sz="919" b="1" dirty="0" err="1">
                <a:solidFill>
                  <a:srgbClr val="C00000"/>
                </a:solidFill>
                <a:latin typeface="맑은 고딕"/>
                <a:ea typeface="맑은 고딕"/>
              </a:rPr>
              <a:t>한계</a:t>
            </a:r>
            <a:endParaRPr sz="919" b="1" dirty="0">
              <a:solidFill>
                <a:srgbClr val="C00000"/>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에이전트</a:t>
            </a:r>
            <a:r>
              <a:rPr sz="919" b="0" dirty="0">
                <a:solidFill>
                  <a:srgbClr val="000000"/>
                </a:solidFill>
                <a:latin typeface="맑은 고딕"/>
                <a:ea typeface="맑은 고딕"/>
              </a:rPr>
              <a:t> </a:t>
            </a:r>
            <a:r>
              <a:rPr sz="919" b="0" dirty="0" err="1">
                <a:solidFill>
                  <a:srgbClr val="000000"/>
                </a:solidFill>
                <a:latin typeface="맑은 고딕"/>
                <a:ea typeface="맑은 고딕"/>
              </a:rPr>
              <a:t>토큰</a:t>
            </a:r>
            <a:r>
              <a:rPr sz="919" b="0" dirty="0">
                <a:solidFill>
                  <a:srgbClr val="000000"/>
                </a:solidFill>
                <a:latin typeface="맑은 고딕"/>
                <a:ea typeface="맑은 고딕"/>
              </a:rPr>
              <a:t> </a:t>
            </a:r>
            <a:r>
              <a:rPr sz="919" b="0" dirty="0" err="1">
                <a:solidFill>
                  <a:srgbClr val="000000"/>
                </a:solidFill>
                <a:latin typeface="맑은 고딕"/>
                <a:ea typeface="맑은 고딕"/>
              </a:rPr>
              <a:t>단가는</a:t>
            </a:r>
            <a:r>
              <a:rPr sz="919" b="0" dirty="0">
                <a:solidFill>
                  <a:srgbClr val="000000"/>
                </a:solidFill>
                <a:latin typeface="맑은 고딕"/>
                <a:ea typeface="맑은 고딕"/>
              </a:rPr>
              <a:t> 2차 </a:t>
            </a:r>
            <a:r>
              <a:rPr sz="919" b="0" dirty="0" err="1">
                <a:solidFill>
                  <a:srgbClr val="000000"/>
                </a:solidFill>
                <a:latin typeface="맑은 고딕"/>
                <a:ea typeface="맑은 고딕"/>
              </a:rPr>
              <a:t>자료</a:t>
            </a:r>
            <a:r>
              <a:rPr sz="919" b="0" dirty="0">
                <a:solidFill>
                  <a:srgbClr val="000000"/>
                </a:solidFill>
                <a:latin typeface="맑은 고딕"/>
                <a:ea typeface="맑은 고딕"/>
              </a:rPr>
              <a:t>(</a:t>
            </a:r>
            <a:r>
              <a:rPr sz="919" b="0" dirty="0" err="1">
                <a:solidFill>
                  <a:srgbClr val="000000"/>
                </a:solidFill>
                <a:latin typeface="맑은 고딕"/>
                <a:ea typeface="맑은 고딕"/>
              </a:rPr>
              <a:t>공식</a:t>
            </a:r>
            <a:r>
              <a:rPr sz="919" b="0" dirty="0">
                <a:solidFill>
                  <a:srgbClr val="000000"/>
                </a:solidFill>
                <a:latin typeface="맑은 고딕"/>
                <a:ea typeface="맑은 고딕"/>
              </a:rPr>
              <a:t> </a:t>
            </a:r>
            <a:r>
              <a:rPr sz="919" b="0" dirty="0" err="1">
                <a:solidFill>
                  <a:srgbClr val="000000"/>
                </a:solidFill>
                <a:latin typeface="맑은 고딕"/>
                <a:ea typeface="맑은 고딕"/>
              </a:rPr>
              <a:t>가격</a:t>
            </a:r>
            <a:r>
              <a:rPr sz="919" b="0" dirty="0">
                <a:solidFill>
                  <a:srgbClr val="000000"/>
                </a:solidFill>
                <a:latin typeface="맑은 고딕"/>
                <a:ea typeface="맑은 고딕"/>
              </a:rPr>
              <a:t> </a:t>
            </a:r>
            <a:r>
              <a:rPr sz="919" b="0" dirty="0" err="1">
                <a:solidFill>
                  <a:srgbClr val="000000"/>
                </a:solidFill>
                <a:latin typeface="맑은 고딕"/>
                <a:ea typeface="맑은 고딕"/>
              </a:rPr>
              <a:t>페이지</a:t>
            </a:r>
            <a:r>
              <a:rPr sz="919" b="0" dirty="0">
                <a:solidFill>
                  <a:srgbClr val="000000"/>
                </a:solidFill>
                <a:latin typeface="맑은 고딕"/>
                <a:ea typeface="맑은 고딕"/>
              </a:rPr>
              <a:t> </a:t>
            </a:r>
            <a:r>
              <a:rPr sz="919" b="0" dirty="0" err="1">
                <a:solidFill>
                  <a:srgbClr val="000000"/>
                </a:solidFill>
                <a:latin typeface="맑은 고딕"/>
                <a:ea typeface="맑은 고딕"/>
              </a:rPr>
              <a:t>확인</a:t>
            </a:r>
            <a:r>
              <a:rPr sz="919" b="0" dirty="0">
                <a:solidFill>
                  <a:srgbClr val="000000"/>
                </a:solidFill>
                <a:latin typeface="맑은 고딕"/>
                <a:ea typeface="맑은 고딕"/>
              </a:rPr>
              <a:t> </a:t>
            </a:r>
            <a:r>
              <a:rPr sz="919" b="0" dirty="0" err="1">
                <a:solidFill>
                  <a:srgbClr val="000000"/>
                </a:solidFill>
                <a:latin typeface="맑은 고딕"/>
                <a:ea typeface="맑은 고딕"/>
              </a:rPr>
              <a:t>필요</a:t>
            </a:r>
            <a:r>
              <a:rPr sz="919" b="0" dirty="0">
                <a:solidFill>
                  <a:srgbClr val="000000"/>
                </a:solidFill>
                <a:latin typeface="맑은 고딕"/>
                <a:ea typeface="맑은 고딕"/>
              </a:rPr>
              <a:t>). ①②의 </a:t>
            </a:r>
            <a:r>
              <a:rPr sz="919" b="0" dirty="0" err="1">
                <a:solidFill>
                  <a:srgbClr val="000000"/>
                </a:solidFill>
                <a:latin typeface="맑은 고딕"/>
                <a:ea typeface="맑은 고딕"/>
              </a:rPr>
              <a:t>경계는</a:t>
            </a:r>
            <a:r>
              <a:rPr sz="919" b="0" dirty="0">
                <a:solidFill>
                  <a:srgbClr val="000000"/>
                </a:solidFill>
                <a:latin typeface="맑은 고딕"/>
                <a:ea typeface="맑은 고딕"/>
              </a:rPr>
              <a:t> </a:t>
            </a:r>
            <a:r>
              <a:rPr sz="919" b="0" dirty="0" err="1">
                <a:solidFill>
                  <a:srgbClr val="000000"/>
                </a:solidFill>
                <a:latin typeface="맑은 고딕"/>
                <a:ea typeface="맑은 고딕"/>
              </a:rPr>
              <a:t>공개</a:t>
            </a:r>
            <a:r>
              <a:rPr sz="919" b="0" dirty="0">
                <a:solidFill>
                  <a:srgbClr val="000000"/>
                </a:solidFill>
                <a:latin typeface="맑은 고딕"/>
                <a:ea typeface="맑은 고딕"/>
              </a:rPr>
              <a:t> </a:t>
            </a:r>
            <a:r>
              <a:rPr sz="919" b="0" dirty="0" err="1">
                <a:solidFill>
                  <a:srgbClr val="000000"/>
                </a:solidFill>
                <a:latin typeface="맑은 고딕"/>
                <a:ea typeface="맑은 고딕"/>
              </a:rPr>
              <a:t>요구사항이</a:t>
            </a:r>
            <a:r>
              <a:rPr sz="919" b="0" dirty="0">
                <a:solidFill>
                  <a:srgbClr val="000000"/>
                </a:solidFill>
                <a:latin typeface="맑은 고딕"/>
                <a:ea typeface="맑은 고딕"/>
              </a:rPr>
              <a:t> </a:t>
            </a:r>
            <a:r>
              <a:rPr sz="919" b="0" dirty="0" err="1">
                <a:solidFill>
                  <a:srgbClr val="000000"/>
                </a:solidFill>
                <a:latin typeface="맑은 고딕"/>
                <a:ea typeface="맑은 고딕"/>
              </a:rPr>
              <a:t>아니라</a:t>
            </a:r>
            <a:r>
              <a:rPr sz="919" b="0" dirty="0">
                <a:solidFill>
                  <a:srgbClr val="000000"/>
                </a:solidFill>
                <a:latin typeface="맑은 고딕"/>
                <a:ea typeface="맑은 고딕"/>
              </a:rPr>
              <a:t> </a:t>
            </a:r>
            <a:r>
              <a:rPr sz="919" b="0" dirty="0" err="1">
                <a:solidFill>
                  <a:srgbClr val="000000"/>
                </a:solidFill>
                <a:latin typeface="맑은 고딕"/>
                <a:ea typeface="맑은 고딕"/>
              </a:rPr>
              <a:t>내부</a:t>
            </a:r>
            <a:r>
              <a:rPr sz="919" b="0" dirty="0">
                <a:solidFill>
                  <a:srgbClr val="000000"/>
                </a:solidFill>
                <a:latin typeface="맑은 고딕"/>
                <a:ea typeface="맑은 고딕"/>
              </a:rPr>
              <a:t> </a:t>
            </a:r>
            <a:r>
              <a:rPr sz="919" b="0" dirty="0" err="1">
                <a:solidFill>
                  <a:srgbClr val="000000"/>
                </a:solidFill>
                <a:latin typeface="맑은 고딕"/>
                <a:ea typeface="맑은 고딕"/>
              </a:rPr>
              <a:t>가정</a:t>
            </a:r>
            <a:r>
              <a:rPr sz="919" b="0" dirty="0">
                <a:solidFill>
                  <a:srgbClr val="000000"/>
                </a:solidFill>
                <a:latin typeface="맑은 고딕"/>
                <a:ea typeface="맑은 고딕"/>
              </a:rPr>
              <a:t>.</a:t>
            </a:r>
          </a:p>
        </p:txBody>
      </p:sp>
      <p:sp>
        <p:nvSpPr>
          <p:cNvPr id="8" name="TextBox 7"/>
          <p:cNvSpPr txBox="1"/>
          <p:nvPr/>
        </p:nvSpPr>
        <p:spPr>
          <a:xfrm>
            <a:off x="365760" y="6236208"/>
            <a:ext cx="11430000" cy="189283"/>
          </a:xfrm>
          <a:prstGeom prst="rect">
            <a:avLst/>
          </a:prstGeom>
          <a:noFill/>
        </p:spPr>
        <p:txBody>
          <a:bodyPr wrap="square" lIns="73152" tIns="36576" rIns="73152" bIns="36576" anchor="t">
            <a:spAutoFit/>
          </a:bodyPr>
          <a:lstStyle/>
          <a:p>
            <a:pPr algn="l">
              <a:spcAft>
                <a:spcPts val="200"/>
              </a:spcAft>
            </a:pPr>
            <a:r>
              <a:rPr sz="750" b="1" dirty="0" err="1">
                <a:solidFill>
                  <a:srgbClr val="000000"/>
                </a:solidFill>
                <a:latin typeface="맑은 고딕"/>
                <a:ea typeface="맑은 고딕"/>
              </a:rPr>
              <a:t>출처</a:t>
            </a:r>
            <a:r>
              <a:rPr sz="750" b="1" dirty="0">
                <a:solidFill>
                  <a:srgbClr val="000000"/>
                </a:solidFill>
                <a:latin typeface="맑은 고딕"/>
                <a:ea typeface="맑은 고딕"/>
              </a:rPr>
              <a:t>: </a:t>
            </a:r>
            <a:r>
              <a:rPr sz="750" b="0" dirty="0" err="1">
                <a:solidFill>
                  <a:srgbClr val="404040"/>
                </a:solidFill>
                <a:latin typeface="맑은 고딕"/>
                <a:ea typeface="맑은 고딕"/>
              </a:rPr>
              <a:t>토큰</a:t>
            </a:r>
            <a:r>
              <a:rPr sz="750" b="0" dirty="0">
                <a:solidFill>
                  <a:srgbClr val="404040"/>
                </a:solidFill>
                <a:latin typeface="맑은 고딕"/>
                <a:ea typeface="맑은 고딕"/>
              </a:rPr>
              <a:t> </a:t>
            </a:r>
            <a:r>
              <a:rPr sz="750" b="0" dirty="0" err="1">
                <a:solidFill>
                  <a:srgbClr val="404040"/>
                </a:solidFill>
                <a:latin typeface="맑은 고딕"/>
                <a:ea typeface="맑은 고딕"/>
              </a:rPr>
              <a:t>단가</a:t>
            </a:r>
            <a:r>
              <a:rPr sz="750" b="0" dirty="0">
                <a:solidFill>
                  <a:srgbClr val="404040"/>
                </a:solidFill>
                <a:latin typeface="맑은 고딕"/>
                <a:ea typeface="맑은 고딕"/>
              </a:rPr>
              <a:t>: finout.io/blog/anthropic-</a:t>
            </a:r>
            <a:r>
              <a:rPr sz="750" b="0" dirty="0" err="1">
                <a:solidFill>
                  <a:srgbClr val="404040"/>
                </a:solidFill>
                <a:latin typeface="맑은 고딕"/>
                <a:ea typeface="맑은 고딕"/>
              </a:rPr>
              <a:t>api</a:t>
            </a:r>
            <a:r>
              <a:rPr sz="750" b="0" dirty="0">
                <a:solidFill>
                  <a:srgbClr val="404040"/>
                </a:solidFill>
                <a:latin typeface="맑은 고딕"/>
                <a:ea typeface="맑은 고딕"/>
              </a:rPr>
              <a:t>-pricing [2차, </a:t>
            </a:r>
            <a:r>
              <a:rPr sz="750" b="0" dirty="0" err="1">
                <a:solidFill>
                  <a:srgbClr val="404040"/>
                </a:solidFill>
                <a:latin typeface="맑은 고딕"/>
                <a:ea typeface="맑은 고딕"/>
              </a:rPr>
              <a:t>공식</a:t>
            </a:r>
            <a:r>
              <a:rPr sz="750" b="0" dirty="0">
                <a:solidFill>
                  <a:srgbClr val="404040"/>
                </a:solidFill>
                <a:latin typeface="맑은 고딕"/>
                <a:ea typeface="맑은 고딕"/>
              </a:rPr>
              <a:t> </a:t>
            </a:r>
            <a:r>
              <a:rPr sz="750" b="0" dirty="0" err="1">
                <a:solidFill>
                  <a:srgbClr val="404040"/>
                </a:solidFill>
                <a:latin typeface="맑은 고딕"/>
                <a:ea typeface="맑은 고딕"/>
              </a:rPr>
              <a:t>페이지</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sz="750" b="0" dirty="0">
                <a:solidFill>
                  <a:srgbClr val="404040"/>
                </a:solidFill>
                <a:latin typeface="맑은 고딕"/>
                <a:ea typeface="맑은 고딕"/>
              </a:rPr>
              <a:t> </a:t>
            </a:r>
            <a:r>
              <a:rPr sz="750" b="0" dirty="0" err="1">
                <a:solidFill>
                  <a:srgbClr val="404040"/>
                </a:solidFill>
                <a:latin typeface="맑은 고딕"/>
                <a:ea typeface="맑은 고딕"/>
              </a:rPr>
              <a:t>필요</a:t>
            </a:r>
            <a:r>
              <a:rPr sz="750" b="0" dirty="0">
                <a:solidFill>
                  <a:srgbClr val="404040"/>
                </a:solidFill>
                <a:latin typeface="맑은 고딕"/>
                <a:ea typeface="맑은 고딕"/>
              </a:rPr>
              <a:t>] </a:t>
            </a:r>
          </a:p>
        </p:txBody>
      </p:sp>
      <p:sp>
        <p:nvSpPr>
          <p:cNvPr id="9" name="실행 단추: 뒤로 또는 이전 8">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우선순위 규칙 대신 AND 조건, 공수는 MM(man-day ÷ 21), 단순 평균. Q3 = 공통 QA4. DP4 후보1·후보2 ★★.</a:t>
            </a:r>
          </a:p>
        </p:txBody>
      </p:sp>
    </p:spTree>
    <p:extLst>
      <p:ext uri="{BB962C8B-B14F-4D97-AF65-F5344CB8AC3E}">
        <p14:creationId xmlns:p14="http://schemas.microsoft.com/office/powerpoint/2010/main" val="24805263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Q3 </a:t>
            </a:r>
            <a:r>
              <a:rPr sz="2200" b="1" dirty="0" err="1">
                <a:solidFill>
                  <a:srgbClr val="2F5597"/>
                </a:solidFill>
                <a:latin typeface="맑은 고딕"/>
                <a:ea typeface="맑은 고딕"/>
              </a:rPr>
              <a:t>산출</a:t>
            </a:r>
            <a:r>
              <a:rPr sz="2200" b="1" dirty="0">
                <a:solidFill>
                  <a:srgbClr val="2F5597"/>
                </a:solidFill>
                <a:latin typeface="맑은 고딕"/>
                <a:ea typeface="맑은 고딕"/>
              </a:rPr>
              <a:t> </a:t>
            </a:r>
            <a:r>
              <a:rPr sz="2200" b="1" dirty="0" err="1">
                <a:solidFill>
                  <a:srgbClr val="2F5597"/>
                </a:solidFill>
                <a:latin typeface="맑은 고딕"/>
                <a:ea typeface="맑은 고딕"/>
              </a:rPr>
              <a:t>근거</a:t>
            </a:r>
            <a:r>
              <a:rPr sz="2200" b="1" dirty="0">
                <a:solidFill>
                  <a:srgbClr val="2F5597"/>
                </a:solidFill>
                <a:latin typeface="맑은 고딕"/>
                <a:ea typeface="맑은 고딕"/>
              </a:rPr>
              <a:t> — </a:t>
            </a:r>
            <a:r>
              <a:rPr sz="2200" b="1" dirty="0" err="1">
                <a:solidFill>
                  <a:srgbClr val="2F5597"/>
                </a:solidFill>
                <a:latin typeface="맑은 고딕"/>
                <a:ea typeface="맑은 고딕"/>
              </a:rPr>
              <a:t>토큰</a:t>
            </a:r>
            <a:r>
              <a:rPr sz="2200" b="1" dirty="0">
                <a:solidFill>
                  <a:srgbClr val="2F5597"/>
                </a:solidFill>
                <a:latin typeface="맑은 고딕"/>
                <a:ea typeface="맑은 고딕"/>
              </a:rPr>
              <a:t> </a:t>
            </a:r>
            <a:r>
              <a:rPr sz="2200" b="1" dirty="0" err="1">
                <a:solidFill>
                  <a:srgbClr val="2F5597"/>
                </a:solidFill>
                <a:latin typeface="맑은 고딕"/>
                <a:ea typeface="맑은 고딕"/>
              </a:rPr>
              <a:t>cost와</a:t>
            </a:r>
            <a:r>
              <a:rPr sz="2200" b="1" dirty="0">
                <a:solidFill>
                  <a:srgbClr val="2F5597"/>
                </a:solidFill>
                <a:latin typeface="맑은 고딕"/>
                <a:ea typeface="맑은 고딕"/>
              </a:rPr>
              <a:t> </a:t>
            </a:r>
            <a:r>
              <a:rPr sz="2200" b="1" dirty="0" err="1">
                <a:solidFill>
                  <a:srgbClr val="2F5597"/>
                </a:solidFill>
                <a:latin typeface="맑은 고딕"/>
                <a:ea typeface="맑은 고딕"/>
              </a:rPr>
              <a:t>공수는</a:t>
            </a:r>
            <a:r>
              <a:rPr sz="2200" b="1" dirty="0">
                <a:solidFill>
                  <a:srgbClr val="2F5597"/>
                </a:solidFill>
                <a:latin typeface="맑은 고딕"/>
                <a:ea typeface="맑은 고딕"/>
              </a:rPr>
              <a:t> </a:t>
            </a:r>
            <a:r>
              <a:rPr sz="2200" b="1" dirty="0" err="1">
                <a:solidFill>
                  <a:srgbClr val="2F5597"/>
                </a:solidFill>
                <a:latin typeface="맑은 고딕"/>
                <a:ea typeface="맑은 고딕"/>
              </a:rPr>
              <a:t>어떻게</a:t>
            </a:r>
            <a:r>
              <a:rPr sz="2200" b="1" dirty="0">
                <a:solidFill>
                  <a:srgbClr val="2F5597"/>
                </a:solidFill>
                <a:latin typeface="맑은 고딕"/>
                <a:ea typeface="맑은 고딕"/>
              </a:rPr>
              <a:t> </a:t>
            </a:r>
            <a:r>
              <a:rPr sz="2200" b="1" dirty="0" err="1">
                <a:solidFill>
                  <a:srgbClr val="2F5597"/>
                </a:solidFill>
                <a:latin typeface="맑은 고딕"/>
                <a:ea typeface="맑은 고딕"/>
              </a:rPr>
              <a:t>계산했나</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같은</a:t>
            </a:r>
            <a:r>
              <a:rPr sz="1100" b="0" dirty="0">
                <a:solidFill>
                  <a:srgbClr val="404040"/>
                </a:solidFill>
                <a:latin typeface="맑은 고딕"/>
                <a:ea typeface="맑은 고딕"/>
              </a:rPr>
              <a:t> </a:t>
            </a:r>
            <a:r>
              <a:rPr sz="1100" b="0" dirty="0" err="1">
                <a:solidFill>
                  <a:srgbClr val="404040"/>
                </a:solidFill>
                <a:latin typeface="맑은 고딕"/>
                <a:ea typeface="맑은 고딕"/>
              </a:rPr>
              <a:t>시나리오</a:t>
            </a:r>
            <a:r>
              <a:rPr sz="1100" b="0" dirty="0">
                <a:solidFill>
                  <a:srgbClr val="404040"/>
                </a:solidFill>
                <a:latin typeface="맑은 고딕"/>
                <a:ea typeface="맑은 고딕"/>
              </a:rPr>
              <a:t> </a:t>
            </a:r>
            <a:r>
              <a:rPr sz="1100" b="0" dirty="0" err="1">
                <a:solidFill>
                  <a:srgbClr val="404040"/>
                </a:solidFill>
                <a:latin typeface="맑은 고딕"/>
                <a:ea typeface="맑은 고딕"/>
              </a:rPr>
              <a:t>사실</a:t>
            </a:r>
            <a:r>
              <a:rPr sz="1100" b="0" dirty="0">
                <a:solidFill>
                  <a:srgbClr val="404040"/>
                </a:solidFill>
                <a:latin typeface="맑은 고딕"/>
                <a:ea typeface="맑은 고딕"/>
              </a:rPr>
              <a:t>(M </a:t>
            </a:r>
            <a:r>
              <a:rPr sz="1100" b="0" dirty="0" err="1">
                <a:solidFill>
                  <a:srgbClr val="404040"/>
                </a:solidFill>
                <a:latin typeface="맑은 고딕"/>
                <a:ea typeface="맑은 고딕"/>
              </a:rPr>
              <a:t>변경</a:t>
            </a:r>
            <a:r>
              <a:rPr sz="1100" b="0" dirty="0">
                <a:solidFill>
                  <a:srgbClr val="404040"/>
                </a:solidFill>
                <a:latin typeface="맑은 고딕"/>
                <a:ea typeface="맑은 고딕"/>
              </a:rPr>
              <a:t> module, L </a:t>
            </a:r>
            <a:r>
              <a:rPr sz="1100" b="0" dirty="0" err="1">
                <a:solidFill>
                  <a:srgbClr val="404040"/>
                </a:solidFill>
                <a:latin typeface="맑은 고딕"/>
                <a:ea typeface="맑은 고딕"/>
              </a:rPr>
              <a:t>변경</a:t>
            </a:r>
            <a:r>
              <a:rPr sz="1100" b="0" dirty="0">
                <a:solidFill>
                  <a:srgbClr val="404040"/>
                </a:solidFill>
                <a:latin typeface="맑은 고딕"/>
                <a:ea typeface="맑은 고딕"/>
              </a:rPr>
              <a:t> LOC, E OSS </a:t>
            </a:r>
            <a:r>
              <a:rPr sz="1100" b="0" dirty="0" err="1">
                <a:solidFill>
                  <a:srgbClr val="404040"/>
                </a:solidFill>
                <a:latin typeface="맑은 고딕"/>
                <a:ea typeface="맑은 고딕"/>
              </a:rPr>
              <a:t>탐색</a:t>
            </a:r>
            <a:r>
              <a:rPr sz="1100" b="0" dirty="0">
                <a:solidFill>
                  <a:srgbClr val="404040"/>
                </a:solidFill>
                <a:latin typeface="맑은 고딕"/>
                <a:ea typeface="맑은 고딕"/>
              </a:rPr>
              <a:t> </a:t>
            </a:r>
            <a:r>
              <a:rPr sz="1100" b="0" dirty="0" err="1">
                <a:solidFill>
                  <a:srgbClr val="404040"/>
                </a:solidFill>
                <a:latin typeface="맑은 고딕"/>
                <a:ea typeface="맑은 고딕"/>
              </a:rPr>
              <a:t>토큰</a:t>
            </a:r>
            <a:r>
              <a:rPr sz="1100" b="0" dirty="0">
                <a:solidFill>
                  <a:srgbClr val="404040"/>
                </a:solidFill>
                <a:latin typeface="맑은 고딕"/>
                <a:ea typeface="맑은 고딕"/>
              </a:rPr>
              <a:t>, B </a:t>
            </a:r>
            <a:r>
              <a:rPr sz="1100" b="0" dirty="0" err="1">
                <a:solidFill>
                  <a:srgbClr val="404040"/>
                </a:solidFill>
                <a:latin typeface="맑은 고딕"/>
                <a:ea typeface="맑은 고딕"/>
              </a:rPr>
              <a:t>빌드·배포</a:t>
            </a:r>
            <a:r>
              <a:rPr sz="1100" b="0" dirty="0">
                <a:solidFill>
                  <a:srgbClr val="404040"/>
                </a:solidFill>
                <a:latin typeface="맑은 고딕"/>
                <a:ea typeface="맑은 고딕"/>
              </a:rPr>
              <a:t>, U upstream </a:t>
            </a:r>
            <a:r>
              <a:rPr sz="1100" b="0" dirty="0" err="1">
                <a:solidFill>
                  <a:srgbClr val="404040"/>
                </a:solidFill>
                <a:latin typeface="맑은 고딕"/>
                <a:ea typeface="맑은 고딕"/>
              </a:rPr>
              <a:t>재검증</a:t>
            </a:r>
            <a:r>
              <a:rPr sz="1100" b="0" dirty="0">
                <a:solidFill>
                  <a:srgbClr val="404040"/>
                </a:solidFill>
                <a:latin typeface="맑은 고딕"/>
                <a:ea typeface="맑은 고딕"/>
              </a:rPr>
              <a:t>)</a:t>
            </a:r>
            <a:r>
              <a:rPr sz="1100" b="0" dirty="0" err="1">
                <a:solidFill>
                  <a:srgbClr val="404040"/>
                </a:solidFill>
                <a:latin typeface="맑은 고딕"/>
                <a:ea typeface="맑은 고딕"/>
              </a:rPr>
              <a:t>에서</a:t>
            </a:r>
            <a:r>
              <a:rPr sz="1100" b="0" dirty="0">
                <a:solidFill>
                  <a:srgbClr val="404040"/>
                </a:solidFill>
                <a:latin typeface="맑은 고딕"/>
                <a:ea typeface="맑은 고딕"/>
              </a:rPr>
              <a:t> 세 </a:t>
            </a:r>
            <a:r>
              <a:rPr sz="1100" b="0" dirty="0" err="1">
                <a:solidFill>
                  <a:srgbClr val="404040"/>
                </a:solidFill>
                <a:latin typeface="맑은 고딕"/>
                <a:ea typeface="맑은 고딕"/>
              </a:rPr>
              <a:t>지표를</a:t>
            </a:r>
            <a:r>
              <a:rPr sz="1100" b="0" dirty="0">
                <a:solidFill>
                  <a:srgbClr val="404040"/>
                </a:solidFill>
                <a:latin typeface="맑은 고딕"/>
                <a:ea typeface="맑은 고딕"/>
              </a:rPr>
              <a:t> </a:t>
            </a:r>
            <a:r>
              <a:rPr sz="1100" b="0" dirty="0" err="1">
                <a:solidFill>
                  <a:srgbClr val="404040"/>
                </a:solidFill>
                <a:latin typeface="맑은 고딕"/>
                <a:ea typeface="맑은 고딕"/>
              </a:rPr>
              <a:t>모두</a:t>
            </a:r>
            <a:r>
              <a:rPr sz="1100" b="0" dirty="0">
                <a:solidFill>
                  <a:srgbClr val="404040"/>
                </a:solidFill>
                <a:latin typeface="맑은 고딕"/>
                <a:ea typeface="맑은 고딕"/>
              </a:rPr>
              <a:t> </a:t>
            </a:r>
            <a:r>
              <a:rPr sz="1100" b="0" dirty="0" err="1">
                <a:solidFill>
                  <a:srgbClr val="404040"/>
                </a:solidFill>
                <a:latin typeface="맑은 고딕"/>
                <a:ea typeface="맑은 고딕"/>
              </a:rPr>
              <a:t>계산</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70432"/>
            <a:ext cx="5669280" cy="1417320"/>
          </a:xfrm>
          <a:prstGeom prst="rect">
            <a:avLst/>
          </a:prstGeom>
          <a:solidFill>
            <a:srgbClr val="F2F2F2"/>
          </a:solidFill>
        </p:spPr>
        <p:txBody>
          <a:bodyPr wrap="square" lIns="73152" tIns="36576" rIns="73152" bIns="36576" anchor="t">
            <a:spAutoFit/>
          </a:bodyPr>
          <a:lstStyle/>
          <a:p>
            <a:pPr algn="l">
              <a:spcAft>
                <a:spcPts val="200"/>
              </a:spcAft>
            </a:pPr>
            <a:r>
              <a:rPr sz="900" b="1">
                <a:solidFill>
                  <a:srgbClr val="2F5597"/>
                </a:solidFill>
                <a:latin typeface="맑은 고딕"/>
                <a:ea typeface="맑은 고딕"/>
              </a:rPr>
              <a:t>① 토큰 cost = [ (M × 8,000 + E) × 6 × $3 + L × 13 × 2 × $15 ] ÷ 10⁶</a:t>
            </a:r>
          </a:p>
          <a:p>
            <a:pPr algn="l">
              <a:spcAft>
                <a:spcPts val="200"/>
              </a:spcAft>
            </a:pPr>
            <a:r>
              <a:rPr sz="900" b="0">
                <a:solidFill>
                  <a:srgbClr val="000000"/>
                </a:solidFill>
                <a:latin typeface="맑은 고딕"/>
                <a:ea typeface="맑은 고딕"/>
              </a:rPr>
              <a:t>• 입력: module 1개 읽기 8,000 토큰(약 600 LOC), E = 1안에서 우리가 만든 코드가 아닌 OSS 내부를 읽는 토큰, 유효 재과금 배수 6(캐시 적중 후).</a:t>
            </a:r>
          </a:p>
          <a:p>
            <a:pPr algn="l">
              <a:spcAft>
                <a:spcPts val="200"/>
              </a:spcAft>
            </a:pPr>
            <a:r>
              <a:rPr sz="900" b="0">
                <a:solidFill>
                  <a:srgbClr val="000000"/>
                </a:solidFill>
                <a:latin typeface="맑은 고딕"/>
                <a:ea typeface="맑은 고딕"/>
              </a:rPr>
              <a:t>• 출력: 코드 1줄 13 토큰 × 2(최초 작성 + 수정 1회). 단가 $3 / $15 per MTok(Sonnet급, 가정).</a:t>
            </a:r>
          </a:p>
        </p:txBody>
      </p:sp>
      <p:sp>
        <p:nvSpPr>
          <p:cNvPr id="6" name="TextBox 5"/>
          <p:cNvSpPr txBox="1"/>
          <p:nvPr/>
        </p:nvSpPr>
        <p:spPr>
          <a:xfrm>
            <a:off x="6126480" y="1170432"/>
            <a:ext cx="5669280" cy="1417320"/>
          </a:xfrm>
          <a:prstGeom prst="rect">
            <a:avLst/>
          </a:prstGeom>
          <a:solidFill>
            <a:srgbClr val="F2F2F2"/>
          </a:solidFill>
        </p:spPr>
        <p:txBody>
          <a:bodyPr wrap="square" lIns="73152" tIns="36576" rIns="73152" bIns="36576" anchor="t">
            <a:spAutoFit/>
          </a:bodyPr>
          <a:lstStyle/>
          <a:p>
            <a:pPr algn="l">
              <a:spcAft>
                <a:spcPts val="200"/>
              </a:spcAft>
            </a:pPr>
            <a:r>
              <a:rPr sz="900" b="1" dirty="0">
                <a:solidFill>
                  <a:srgbClr val="2F5597"/>
                </a:solidFill>
                <a:latin typeface="맑은 고딕"/>
                <a:ea typeface="맑은 고딕"/>
              </a:rPr>
              <a:t>② </a:t>
            </a:r>
            <a:r>
              <a:rPr sz="900" b="1" dirty="0" err="1">
                <a:solidFill>
                  <a:srgbClr val="2F5597"/>
                </a:solidFill>
                <a:latin typeface="맑은 고딕"/>
                <a:ea typeface="맑은 고딕"/>
              </a:rPr>
              <a:t>개발</a:t>
            </a:r>
            <a:r>
              <a:rPr sz="900" b="1" dirty="0">
                <a:solidFill>
                  <a:srgbClr val="2F5597"/>
                </a:solidFill>
                <a:latin typeface="맑은 고딕"/>
                <a:ea typeface="맑은 고딕"/>
              </a:rPr>
              <a:t> </a:t>
            </a:r>
            <a:r>
              <a:rPr sz="900" b="1" dirty="0" err="1">
                <a:solidFill>
                  <a:srgbClr val="2F5597"/>
                </a:solidFill>
                <a:latin typeface="맑은 고딕"/>
                <a:ea typeface="맑은 고딕"/>
              </a:rPr>
              <a:t>공수</a:t>
            </a:r>
            <a:r>
              <a:rPr sz="900" b="1" dirty="0">
                <a:solidFill>
                  <a:srgbClr val="2F5597"/>
                </a:solidFill>
                <a:latin typeface="맑은 고딕"/>
                <a:ea typeface="맑은 고딕"/>
              </a:rPr>
              <a:t> = 0.5·M + L ÷ 400 + 1.0·B + 1.0·U  (man-day)</a:t>
            </a:r>
          </a:p>
          <a:p>
            <a:pPr algn="l">
              <a:spcAft>
                <a:spcPts val="200"/>
              </a:spcAft>
            </a:pPr>
            <a:r>
              <a:rPr sz="900" b="0" dirty="0">
                <a:solidFill>
                  <a:srgbClr val="000000"/>
                </a:solidFill>
                <a:latin typeface="맑은 고딕"/>
                <a:ea typeface="맑은 고딕"/>
              </a:rPr>
              <a:t>• 0.5/module = </a:t>
            </a:r>
            <a:r>
              <a:rPr sz="900" b="0" dirty="0" err="1">
                <a:solidFill>
                  <a:srgbClr val="000000"/>
                </a:solidFill>
                <a:latin typeface="맑은 고딕"/>
                <a:ea typeface="맑은 고딕"/>
              </a:rPr>
              <a:t>사람</a:t>
            </a:r>
            <a:r>
              <a:rPr sz="900" b="0" dirty="0">
                <a:solidFill>
                  <a:srgbClr val="000000"/>
                </a:solidFill>
                <a:latin typeface="맑은 고딕"/>
                <a:ea typeface="맑은 고딕"/>
              </a:rPr>
              <a:t> </a:t>
            </a:r>
            <a:r>
              <a:rPr sz="900" b="0" dirty="0" err="1">
                <a:solidFill>
                  <a:srgbClr val="000000"/>
                </a:solidFill>
                <a:latin typeface="맑은 고딕"/>
                <a:ea typeface="맑은 고딕"/>
              </a:rPr>
              <a:t>리뷰·수정</a:t>
            </a:r>
            <a:r>
              <a:rPr sz="900" b="0" dirty="0">
                <a:solidFill>
                  <a:srgbClr val="000000"/>
                </a:solidFill>
                <a:latin typeface="맑은 고딕"/>
                <a:ea typeface="맑은 고딕"/>
              </a:rPr>
              <a:t> </a:t>
            </a:r>
            <a:r>
              <a:rPr sz="900" b="0" dirty="0" err="1">
                <a:solidFill>
                  <a:srgbClr val="000000"/>
                </a:solidFill>
                <a:latin typeface="맑은 고딕"/>
                <a:ea typeface="맑은 고딕"/>
              </a:rPr>
              <a:t>반영</a:t>
            </a:r>
            <a:r>
              <a:rPr sz="900" b="0" dirty="0">
                <a:solidFill>
                  <a:srgbClr val="000000"/>
                </a:solidFill>
                <a:latin typeface="맑은 고딕"/>
                <a:ea typeface="맑은 고딕"/>
              </a:rPr>
              <a:t>, L/400 = </a:t>
            </a:r>
            <a:r>
              <a:rPr sz="900" b="0" dirty="0" err="1">
                <a:solidFill>
                  <a:srgbClr val="000000"/>
                </a:solidFill>
                <a:latin typeface="맑은 고딕"/>
                <a:ea typeface="맑은 고딕"/>
              </a:rPr>
              <a:t>검증·테스트</a:t>
            </a:r>
            <a:r>
              <a:rPr sz="900" b="0" dirty="0">
                <a:solidFill>
                  <a:srgbClr val="000000"/>
                </a:solidFill>
                <a:latin typeface="맑은 고딕"/>
                <a:ea typeface="맑은 고딕"/>
              </a:rPr>
              <a:t> </a:t>
            </a:r>
            <a:r>
              <a:rPr sz="900" b="0" dirty="0" err="1">
                <a:solidFill>
                  <a:srgbClr val="000000"/>
                </a:solidFill>
                <a:latin typeface="맑은 고딕"/>
                <a:ea typeface="맑은 고딕"/>
              </a:rPr>
              <a:t>보강</a:t>
            </a:r>
            <a:r>
              <a:rPr sz="900" b="0" dirty="0">
                <a:solidFill>
                  <a:srgbClr val="000000"/>
                </a:solidFill>
                <a:latin typeface="맑은 고딕"/>
                <a:ea typeface="맑은 고딕"/>
              </a:rPr>
              <a:t>(400 LOC/일), B = </a:t>
            </a:r>
            <a:r>
              <a:rPr sz="900" b="0" dirty="0" err="1">
                <a:solidFill>
                  <a:srgbClr val="000000"/>
                </a:solidFill>
                <a:latin typeface="맑은 고딕"/>
                <a:ea typeface="맑은 고딕"/>
              </a:rPr>
              <a:t>이미지</a:t>
            </a:r>
            <a:r>
              <a:rPr sz="900" b="0" dirty="0">
                <a:solidFill>
                  <a:srgbClr val="000000"/>
                </a:solidFill>
                <a:latin typeface="맑은 고딕"/>
                <a:ea typeface="맑은 고딕"/>
              </a:rPr>
              <a:t> </a:t>
            </a:r>
            <a:r>
              <a:rPr sz="900" b="0" dirty="0" err="1">
                <a:solidFill>
                  <a:srgbClr val="000000"/>
                </a:solidFill>
                <a:latin typeface="맑은 고딕"/>
                <a:ea typeface="맑은 고딕"/>
              </a:rPr>
              <a:t>빌드·재배포</a:t>
            </a:r>
            <a:r>
              <a:rPr sz="900" b="0" dirty="0">
                <a:solidFill>
                  <a:srgbClr val="000000"/>
                </a:solidFill>
                <a:latin typeface="맑은 고딕"/>
                <a:ea typeface="맑은 고딕"/>
              </a:rPr>
              <a:t> </a:t>
            </a:r>
            <a:r>
              <a:rPr sz="900" b="0" dirty="0" err="1">
                <a:solidFill>
                  <a:srgbClr val="000000"/>
                </a:solidFill>
                <a:latin typeface="맑은 고딕"/>
                <a:ea typeface="맑은 고딕"/>
              </a:rPr>
              <a:t>횟수</a:t>
            </a:r>
            <a:r>
              <a:rPr sz="900" b="0" dirty="0">
                <a:solidFill>
                  <a:srgbClr val="000000"/>
                </a:solidFill>
                <a:latin typeface="맑은 고딕"/>
                <a:ea typeface="맑은 고딕"/>
              </a:rPr>
              <a:t>, U = upstream </a:t>
            </a:r>
            <a:r>
              <a:rPr sz="900" b="0" dirty="0" err="1">
                <a:solidFill>
                  <a:srgbClr val="000000"/>
                </a:solidFill>
                <a:latin typeface="맑은 고딕"/>
                <a:ea typeface="맑은 고딕"/>
              </a:rPr>
              <a:t>호환</a:t>
            </a:r>
            <a:r>
              <a:rPr sz="900" b="0" dirty="0">
                <a:solidFill>
                  <a:srgbClr val="000000"/>
                </a:solidFill>
                <a:latin typeface="맑은 고딕"/>
                <a:ea typeface="맑은 고딕"/>
              </a:rPr>
              <a:t> </a:t>
            </a:r>
            <a:r>
              <a:rPr sz="900" b="0" dirty="0" err="1">
                <a:solidFill>
                  <a:srgbClr val="000000"/>
                </a:solidFill>
                <a:latin typeface="맑은 고딕"/>
                <a:ea typeface="맑은 고딕"/>
              </a:rPr>
              <a:t>재검증</a:t>
            </a:r>
            <a:r>
              <a:rPr sz="900" b="0" dirty="0">
                <a:solidFill>
                  <a:srgbClr val="000000"/>
                </a:solidFill>
                <a:latin typeface="맑은 고딕"/>
                <a:ea typeface="맑은 고딕"/>
              </a:rPr>
              <a:t> </a:t>
            </a:r>
            <a:r>
              <a:rPr sz="900" b="0" dirty="0" err="1">
                <a:solidFill>
                  <a:srgbClr val="000000"/>
                </a:solidFill>
                <a:latin typeface="맑은 고딕"/>
                <a:ea typeface="맑은 고딕"/>
              </a:rPr>
              <a:t>횟수</a:t>
            </a:r>
            <a:r>
              <a:rPr sz="900" b="0" dirty="0">
                <a:solidFill>
                  <a:srgbClr val="000000"/>
                </a:solidFill>
                <a:latin typeface="맑은 고딕"/>
                <a:ea typeface="맑은 고딕"/>
              </a:rPr>
              <a:t>(1안만).</a:t>
            </a:r>
          </a:p>
          <a:p>
            <a:pPr algn="l">
              <a:spcAft>
                <a:spcPts val="200"/>
              </a:spcAft>
            </a:pPr>
            <a:r>
              <a:rPr sz="900" b="1" dirty="0">
                <a:solidFill>
                  <a:srgbClr val="C00000"/>
                </a:solidFill>
                <a:latin typeface="맑은 고딕"/>
                <a:ea typeface="맑은 고딕"/>
              </a:rPr>
              <a:t>왜 </a:t>
            </a:r>
            <a:r>
              <a:rPr sz="900" b="1" dirty="0" err="1">
                <a:solidFill>
                  <a:srgbClr val="C00000"/>
                </a:solidFill>
                <a:latin typeface="맑은 고딕"/>
                <a:ea typeface="맑은 고딕"/>
              </a:rPr>
              <a:t>계산하나</a:t>
            </a:r>
            <a:r>
              <a:rPr sz="900" b="1" dirty="0">
                <a:solidFill>
                  <a:srgbClr val="C00000"/>
                </a:solidFill>
                <a:latin typeface="맑은 고딕"/>
                <a:ea typeface="맑은 고딕"/>
              </a:rPr>
              <a:t>: </a:t>
            </a:r>
            <a:r>
              <a:rPr sz="900" b="1" dirty="0" err="1">
                <a:solidFill>
                  <a:srgbClr val="C00000"/>
                </a:solidFill>
                <a:latin typeface="맑은 고딕"/>
                <a:ea typeface="맑은 고딕"/>
              </a:rPr>
              <a:t>에이전트가</a:t>
            </a:r>
            <a:r>
              <a:rPr sz="900" b="1" dirty="0">
                <a:solidFill>
                  <a:srgbClr val="C00000"/>
                </a:solidFill>
                <a:latin typeface="맑은 고딕"/>
                <a:ea typeface="맑은 고딕"/>
              </a:rPr>
              <a:t> </a:t>
            </a:r>
            <a:r>
              <a:rPr sz="900" b="1" dirty="0" err="1">
                <a:solidFill>
                  <a:srgbClr val="C00000"/>
                </a:solidFill>
                <a:latin typeface="맑은 고딕"/>
                <a:ea typeface="맑은 고딕"/>
              </a:rPr>
              <a:t>코드를</a:t>
            </a:r>
            <a:r>
              <a:rPr sz="900" b="1" dirty="0">
                <a:solidFill>
                  <a:srgbClr val="C00000"/>
                </a:solidFill>
                <a:latin typeface="맑은 고딕"/>
                <a:ea typeface="맑은 고딕"/>
              </a:rPr>
              <a:t> </a:t>
            </a:r>
            <a:r>
              <a:rPr sz="900" b="1" dirty="0" err="1">
                <a:solidFill>
                  <a:srgbClr val="C00000"/>
                </a:solidFill>
                <a:latin typeface="맑은 고딕"/>
                <a:ea typeface="맑은 고딕"/>
              </a:rPr>
              <a:t>쓰는</a:t>
            </a:r>
            <a:r>
              <a:rPr sz="900" b="1" dirty="0">
                <a:solidFill>
                  <a:srgbClr val="C00000"/>
                </a:solidFill>
                <a:latin typeface="맑은 고딕"/>
                <a:ea typeface="맑은 고딕"/>
              </a:rPr>
              <a:t> </a:t>
            </a:r>
            <a:r>
              <a:rPr sz="900" b="1" dirty="0" err="1">
                <a:solidFill>
                  <a:srgbClr val="C00000"/>
                </a:solidFill>
                <a:latin typeface="맑은 고딕"/>
                <a:ea typeface="맑은 고딕"/>
              </a:rPr>
              <a:t>시대에도</a:t>
            </a:r>
            <a:r>
              <a:rPr sz="900" b="1" dirty="0">
                <a:solidFill>
                  <a:srgbClr val="C00000"/>
                </a:solidFill>
                <a:latin typeface="맑은 고딕"/>
                <a:ea typeface="맑은 고딕"/>
              </a:rPr>
              <a:t> </a:t>
            </a:r>
            <a:r>
              <a:rPr sz="900" b="1" dirty="0" err="1">
                <a:solidFill>
                  <a:srgbClr val="C00000"/>
                </a:solidFill>
                <a:latin typeface="맑은 고딕"/>
                <a:ea typeface="맑은 고딕"/>
              </a:rPr>
              <a:t>사람</a:t>
            </a:r>
            <a:r>
              <a:rPr sz="900" b="1" dirty="0">
                <a:solidFill>
                  <a:srgbClr val="C00000"/>
                </a:solidFill>
                <a:latin typeface="맑은 고딕"/>
                <a:ea typeface="맑은 고딕"/>
              </a:rPr>
              <a:t> </a:t>
            </a:r>
            <a:r>
              <a:rPr sz="900" b="1" dirty="0" err="1">
                <a:solidFill>
                  <a:srgbClr val="C00000"/>
                </a:solidFill>
                <a:latin typeface="맑은 고딕"/>
                <a:ea typeface="맑은 고딕"/>
              </a:rPr>
              <a:t>시간</a:t>
            </a:r>
            <a:r>
              <a:rPr sz="900" b="1" dirty="0">
                <a:solidFill>
                  <a:srgbClr val="C00000"/>
                </a:solidFill>
                <a:latin typeface="맑은 고딕"/>
                <a:ea typeface="맑은 고딕"/>
              </a:rPr>
              <a:t>(</a:t>
            </a:r>
            <a:r>
              <a:rPr sz="900" b="1" dirty="0" err="1">
                <a:solidFill>
                  <a:srgbClr val="C00000"/>
                </a:solidFill>
                <a:latin typeface="맑은 고딕"/>
                <a:ea typeface="맑은 고딕"/>
              </a:rPr>
              <a:t>리뷰·검증·배포</a:t>
            </a:r>
            <a:r>
              <a:rPr sz="900" b="1" dirty="0">
                <a:solidFill>
                  <a:srgbClr val="C00000"/>
                </a:solidFill>
                <a:latin typeface="맑은 고딕"/>
                <a:ea typeface="맑은 고딕"/>
              </a:rPr>
              <a:t>)이 </a:t>
            </a:r>
            <a:r>
              <a:rPr sz="900" b="1" dirty="0" err="1">
                <a:solidFill>
                  <a:srgbClr val="C00000"/>
                </a:solidFill>
                <a:latin typeface="맑은 고딕"/>
                <a:ea typeface="맑은 고딕"/>
              </a:rPr>
              <a:t>변경</a:t>
            </a:r>
            <a:r>
              <a:rPr sz="900" b="1" dirty="0">
                <a:solidFill>
                  <a:srgbClr val="C00000"/>
                </a:solidFill>
                <a:latin typeface="맑은 고딕"/>
                <a:ea typeface="맑은 고딕"/>
              </a:rPr>
              <a:t> </a:t>
            </a:r>
            <a:r>
              <a:rPr sz="900" b="1" dirty="0" err="1">
                <a:solidFill>
                  <a:srgbClr val="C00000"/>
                </a:solidFill>
                <a:latin typeface="맑은 고딕"/>
                <a:ea typeface="맑은 고딕"/>
              </a:rPr>
              <a:t>비용의</a:t>
            </a:r>
            <a:r>
              <a:rPr sz="900" b="1" dirty="0">
                <a:solidFill>
                  <a:srgbClr val="C00000"/>
                </a:solidFill>
                <a:latin typeface="맑은 고딕"/>
                <a:ea typeface="맑은 고딕"/>
              </a:rPr>
              <a:t> </a:t>
            </a:r>
            <a:r>
              <a:rPr sz="900" b="1" dirty="0" err="1">
                <a:solidFill>
                  <a:srgbClr val="C00000"/>
                </a:solidFill>
                <a:latin typeface="맑은 고딕"/>
                <a:ea typeface="맑은 고딕"/>
              </a:rPr>
              <a:t>대부분이며</a:t>
            </a:r>
            <a:r>
              <a:rPr sz="900" b="1" dirty="0">
                <a:solidFill>
                  <a:srgbClr val="C00000"/>
                </a:solidFill>
                <a:latin typeface="맑은 고딕"/>
                <a:ea typeface="맑은 고딕"/>
              </a:rPr>
              <a:t>, </a:t>
            </a:r>
            <a:r>
              <a:rPr sz="900" b="1" dirty="0" err="1">
                <a:solidFill>
                  <a:srgbClr val="C00000"/>
                </a:solidFill>
                <a:latin typeface="맑은 고딕"/>
                <a:ea typeface="맑은 고딕"/>
              </a:rPr>
              <a:t>토큰</a:t>
            </a:r>
            <a:r>
              <a:rPr sz="900" b="1" dirty="0">
                <a:solidFill>
                  <a:srgbClr val="C00000"/>
                </a:solidFill>
                <a:latin typeface="맑은 고딕"/>
                <a:ea typeface="맑은 고딕"/>
              </a:rPr>
              <a:t> </a:t>
            </a:r>
            <a:r>
              <a:rPr sz="900" b="1" dirty="0" err="1">
                <a:solidFill>
                  <a:srgbClr val="C00000"/>
                </a:solidFill>
                <a:latin typeface="맑은 고딕"/>
                <a:ea typeface="맑은 고딕"/>
              </a:rPr>
              <a:t>cost에는</a:t>
            </a:r>
            <a:r>
              <a:rPr sz="900" b="1" dirty="0">
                <a:solidFill>
                  <a:srgbClr val="C00000"/>
                </a:solidFill>
                <a:latin typeface="맑은 고딕"/>
                <a:ea typeface="맑은 고딕"/>
              </a:rPr>
              <a:t> </a:t>
            </a:r>
            <a:r>
              <a:rPr sz="900" b="1" dirty="0" err="1">
                <a:solidFill>
                  <a:srgbClr val="C00000"/>
                </a:solidFill>
                <a:latin typeface="맑은 고딕"/>
                <a:ea typeface="맑은 고딕"/>
              </a:rPr>
              <a:t>잡히지</a:t>
            </a:r>
            <a:r>
              <a:rPr sz="900" b="1" dirty="0">
                <a:solidFill>
                  <a:srgbClr val="C00000"/>
                </a:solidFill>
                <a:latin typeface="맑은 고딕"/>
                <a:ea typeface="맑은 고딕"/>
              </a:rPr>
              <a:t> </a:t>
            </a:r>
            <a:r>
              <a:rPr sz="900" b="1" dirty="0" err="1">
                <a:solidFill>
                  <a:srgbClr val="C00000"/>
                </a:solidFill>
                <a:latin typeface="맑은 고딕"/>
                <a:ea typeface="맑은 고딕"/>
              </a:rPr>
              <a:t>않기</a:t>
            </a:r>
            <a:r>
              <a:rPr sz="900" b="1" dirty="0">
                <a:solidFill>
                  <a:srgbClr val="C00000"/>
                </a:solidFill>
                <a:latin typeface="맑은 고딕"/>
                <a:ea typeface="맑은 고딕"/>
              </a:rPr>
              <a:t> </a:t>
            </a:r>
            <a:r>
              <a:rPr sz="900" b="1" dirty="0" err="1">
                <a:solidFill>
                  <a:srgbClr val="C00000"/>
                </a:solidFill>
                <a:latin typeface="맑은 고딕"/>
                <a:ea typeface="맑은 고딕"/>
              </a:rPr>
              <a:t>때문</a:t>
            </a:r>
            <a:r>
              <a:rPr sz="900" b="1" dirty="0">
                <a:solidFill>
                  <a:srgbClr val="C00000"/>
                </a:solidFill>
                <a:latin typeface="맑은 고딕"/>
                <a:ea typeface="맑은 고딕"/>
              </a:rPr>
              <a:t>.</a:t>
            </a:r>
          </a:p>
        </p:txBody>
      </p:sp>
      <p:graphicFrame>
        <p:nvGraphicFramePr>
          <p:cNvPr id="7" name="Table 6"/>
          <p:cNvGraphicFramePr>
            <a:graphicFrameLocks noGrp="1"/>
          </p:cNvGraphicFramePr>
          <p:nvPr/>
        </p:nvGraphicFramePr>
        <p:xfrm>
          <a:off x="365760" y="2697480"/>
          <a:ext cx="11457432" cy="2464301"/>
        </p:xfrm>
        <a:graphic>
          <a:graphicData uri="http://schemas.openxmlformats.org/drawingml/2006/table">
            <a:tbl>
              <a:tblPr>
                <a:tableStyleId>{5940675A-B579-460E-94D1-54222C63F5DA}</a:tableStyleId>
              </a:tblPr>
              <a:tblGrid>
                <a:gridCol w="6858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54864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548640">
                  <a:extLst>
                    <a:ext uri="{9D8B030D-6E8A-4147-A177-3AD203B41FA5}">
                      <a16:colId xmlns:a16="http://schemas.microsoft.com/office/drawing/2014/main" val="20008"/>
                    </a:ext>
                  </a:extLst>
                </a:gridCol>
                <a:gridCol w="2907792">
                  <a:extLst>
                    <a:ext uri="{9D8B030D-6E8A-4147-A177-3AD203B41FA5}">
                      <a16:colId xmlns:a16="http://schemas.microsoft.com/office/drawing/2014/main" val="20009"/>
                    </a:ext>
                  </a:extLst>
                </a:gridCol>
              </a:tblGrid>
              <a:tr h="260603">
                <a:tc>
                  <a:txBody>
                    <a:bodyPr/>
                    <a:lstStyle/>
                    <a:p>
                      <a:pPr algn="ctr"/>
                      <a:r>
                        <a:rPr sz="900" b="1">
                          <a:solidFill>
                            <a:srgbClr val="FFFFFF"/>
                          </a:solidFill>
                          <a:latin typeface="맑은 고딕"/>
                          <a:ea typeface="맑은 고딕"/>
                        </a:rPr>
                        <a:t>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가중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dirty="0" err="1">
                          <a:solidFill>
                            <a:srgbClr val="FFFFFF"/>
                          </a:solidFill>
                          <a:latin typeface="맑은 고딕"/>
                          <a:ea typeface="맑은 고딕"/>
                        </a:rPr>
                        <a:t>후보</a:t>
                      </a:r>
                      <a:r>
                        <a:rPr sz="900" b="1" dirty="0">
                          <a:solidFill>
                            <a:srgbClr val="FFFFFF"/>
                          </a:solidFill>
                          <a:latin typeface="맑은 고딕"/>
                          <a:ea typeface="맑은 고딕"/>
                        </a:rPr>
                        <a:t> 1  (M · L · 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토큰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후보 2  (M · L)</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토큰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dirty="0" err="1">
                          <a:solidFill>
                            <a:srgbClr val="FFFFFF"/>
                          </a:solidFill>
                          <a:latin typeface="맑은 고딕"/>
                          <a:ea typeface="맑은 고딕"/>
                        </a:rPr>
                        <a:t>우세</a:t>
                      </a:r>
                      <a:endParaRPr sz="900" b="1" dirty="0">
                        <a:solidFill>
                          <a:srgbClr val="FFFFFF"/>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60603">
                <a:tc>
                  <a:txBody>
                    <a:bodyPr/>
                    <a:lstStyle/>
                    <a:p>
                      <a:pPr algn="ctr"/>
                      <a:r>
                        <a:rPr sz="900" b="1">
                          <a:solidFill>
                            <a:srgbClr val="000000"/>
                          </a:solidFill>
                          <a:latin typeface="맑은 고딕"/>
                          <a:ea typeface="맑은 고딕"/>
                        </a:rPr>
                        <a:t>S1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새 tier 추가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10 · 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 · 60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6">
                        <a:lumMod val="20000"/>
                        <a:lumOff val="80000"/>
                      </a:schemeClr>
                    </a:solidFill>
                  </a:tcPr>
                </a:tc>
                <a:extLst>
                  <a:ext uri="{0D108BD9-81ED-4DB2-BD59-A6C34878D82A}">
                    <a16:rowId xmlns:a16="http://schemas.microsoft.com/office/drawing/2014/main" val="10001"/>
                  </a:ext>
                </a:extLst>
              </a:tr>
              <a:tr h="260603">
                <a:tc>
                  <a:txBody>
                    <a:bodyPr/>
                    <a:lstStyle/>
                    <a:p>
                      <a:pPr algn="ctr"/>
                      <a:r>
                        <a:rPr sz="900" b="1">
                          <a:solidFill>
                            <a:srgbClr val="000000"/>
                          </a:solidFill>
                          <a:latin typeface="맑은 고딕"/>
                          <a:ea typeface="맑은 고딕"/>
                        </a:rPr>
                        <a:t>S2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비용</a:t>
                      </a:r>
                      <a:r>
                        <a:rPr sz="900" b="0" dirty="0">
                          <a:solidFill>
                            <a:srgbClr val="000000"/>
                          </a:solidFill>
                          <a:latin typeface="맑은 고딕"/>
                          <a:ea typeface="맑은 고딕"/>
                        </a:rPr>
                        <a:t> </a:t>
                      </a:r>
                      <a:r>
                        <a:rPr sz="900" b="0" dirty="0" err="1">
                          <a:solidFill>
                            <a:srgbClr val="000000"/>
                          </a:solidFill>
                          <a:latin typeface="맑은 고딕"/>
                          <a:ea typeface="맑은 고딕"/>
                        </a:rPr>
                        <a:t>함수</a:t>
                      </a:r>
                      <a:r>
                        <a:rPr sz="900" b="0" dirty="0">
                          <a:solidFill>
                            <a:srgbClr val="000000"/>
                          </a:solidFill>
                          <a:latin typeface="맑은 고딕"/>
                          <a:ea typeface="맑은 고딕"/>
                        </a:rPr>
                        <a:t> </a:t>
                      </a:r>
                      <a:r>
                        <a:rPr sz="900" b="0" dirty="0" err="1">
                          <a:solidFill>
                            <a:srgbClr val="000000"/>
                          </a:solidFill>
                          <a:latin typeface="맑은 고딕"/>
                          <a:ea typeface="맑은 고딕"/>
                        </a:rPr>
                        <a:t>교체</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3 · 250 · 40k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4.1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120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4">
                        <a:lumMod val="20000"/>
                        <a:lumOff val="80000"/>
                      </a:schemeClr>
                    </a:solidFill>
                  </a:tcPr>
                </a:tc>
                <a:extLst>
                  <a:ext uri="{0D108BD9-81ED-4DB2-BD59-A6C34878D82A}">
                    <a16:rowId xmlns:a16="http://schemas.microsoft.com/office/drawing/2014/main" val="10002"/>
                  </a:ext>
                </a:extLst>
              </a:tr>
              <a:tr h="260603">
                <a:tc>
                  <a:txBody>
                    <a:bodyPr/>
                    <a:lstStyle/>
                    <a:p>
                      <a:pPr algn="ctr"/>
                      <a:r>
                        <a:rPr sz="900" b="1">
                          <a:solidFill>
                            <a:srgbClr val="000000"/>
                          </a:solidFill>
                          <a:latin typeface="맑은 고딕"/>
                          <a:ea typeface="맑은 고딕"/>
                        </a:rPr>
                        <a:t>S3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a:solidFill>
                            <a:srgbClr val="000000"/>
                          </a:solidFill>
                          <a:latin typeface="맑은 고딕"/>
                          <a:ea typeface="맑은 고딕"/>
                        </a:rPr>
                        <a:t>P/D </a:t>
                      </a:r>
                      <a:r>
                        <a:rPr sz="900" b="0" dirty="0" err="1">
                          <a:solidFill>
                            <a:srgbClr val="000000"/>
                          </a:solidFill>
                          <a:latin typeface="맑은 고딕"/>
                          <a:ea typeface="맑은 고딕"/>
                        </a:rPr>
                        <a:t>정책</a:t>
                      </a:r>
                      <a:r>
                        <a:rPr sz="900" b="0" dirty="0">
                          <a:solidFill>
                            <a:srgbClr val="000000"/>
                          </a:solidFill>
                          <a:latin typeface="맑은 고딕"/>
                          <a:ea typeface="맑은 고딕"/>
                        </a:rPr>
                        <a:t> </a:t>
                      </a:r>
                      <a:r>
                        <a:rPr sz="900" b="0" dirty="0" err="1">
                          <a:solidFill>
                            <a:srgbClr val="000000"/>
                          </a:solidFill>
                          <a:latin typeface="맑은 고딕"/>
                          <a:ea typeface="맑은 고딕"/>
                        </a:rPr>
                        <a:t>교체</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4 · 300 · 60k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1.77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4.8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120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4">
                        <a:lumMod val="20000"/>
                        <a:lumOff val="80000"/>
                      </a:schemeClr>
                    </a:solidFill>
                  </a:tcPr>
                </a:tc>
                <a:extLst>
                  <a:ext uri="{0D108BD9-81ED-4DB2-BD59-A6C34878D82A}">
                    <a16:rowId xmlns:a16="http://schemas.microsoft.com/office/drawing/2014/main" val="10003"/>
                  </a:ext>
                </a:extLst>
              </a:tr>
              <a:tr h="260603">
                <a:tc>
                  <a:txBody>
                    <a:bodyPr/>
                    <a:lstStyle/>
                    <a:p>
                      <a:pPr algn="ctr"/>
                      <a:r>
                        <a:rPr sz="900" b="1">
                          <a:solidFill>
                            <a:srgbClr val="000000"/>
                          </a:solidFill>
                          <a:latin typeface="맑은 고딕"/>
                          <a:ea typeface="맑은 고딕"/>
                        </a:rPr>
                        <a:t>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노드</a:t>
                      </a:r>
                      <a:r>
                        <a:rPr sz="900" b="0" dirty="0">
                          <a:solidFill>
                            <a:srgbClr val="000000"/>
                          </a:solidFill>
                          <a:latin typeface="맑은 고딕"/>
                          <a:ea typeface="맑은 고딕"/>
                        </a:rPr>
                        <a:t> </a:t>
                      </a:r>
                      <a:r>
                        <a:rPr sz="900" b="0" dirty="0" err="1">
                          <a:solidFill>
                            <a:srgbClr val="000000"/>
                          </a:solidFill>
                          <a:latin typeface="맑은 고딕"/>
                          <a:ea typeface="맑은 고딕"/>
                        </a:rPr>
                        <a:t>지시</a:t>
                      </a:r>
                      <a:r>
                        <a:rPr sz="900" b="0" dirty="0">
                          <a:solidFill>
                            <a:srgbClr val="000000"/>
                          </a:solidFill>
                          <a:latin typeface="맑은 고딕"/>
                          <a:ea typeface="맑은 고딕"/>
                        </a:rPr>
                        <a:t> </a:t>
                      </a:r>
                      <a:r>
                        <a:rPr sz="900" b="0" dirty="0" err="1">
                          <a:solidFill>
                            <a:srgbClr val="000000"/>
                          </a:solidFill>
                          <a:latin typeface="맑은 고딕"/>
                          <a:ea typeface="맑은 고딕"/>
                        </a:rPr>
                        <a:t>추가</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5 · 420 · 80k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6.5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80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4">
                        <a:lumMod val="20000"/>
                        <a:lumOff val="80000"/>
                      </a:schemeClr>
                    </a:solidFill>
                  </a:tcPr>
                </a:tc>
                <a:extLst>
                  <a:ext uri="{0D108BD9-81ED-4DB2-BD59-A6C34878D82A}">
                    <a16:rowId xmlns:a16="http://schemas.microsoft.com/office/drawing/2014/main" val="10004"/>
                  </a:ext>
                </a:extLst>
              </a:tr>
              <a:tr h="260603">
                <a:tc>
                  <a:txBody>
                    <a:bodyPr/>
                    <a:lstStyle/>
                    <a:p>
                      <a:pPr algn="ctr"/>
                      <a:r>
                        <a:rPr sz="900" b="1">
                          <a:solidFill>
                            <a:srgbClr val="000000"/>
                          </a:solidFill>
                          <a:latin typeface="맑은 고딕"/>
                          <a:ea typeface="맑은 고딕"/>
                        </a:rPr>
                        <a:t>S5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vLLM 계약 변경</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 · 60 · 10k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3 · 300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0.55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6">
                        <a:lumMod val="20000"/>
                        <a:lumOff val="80000"/>
                      </a:schemeClr>
                    </a:solidFill>
                  </a:tcPr>
                </a:tc>
                <a:extLst>
                  <a:ext uri="{0D108BD9-81ED-4DB2-BD59-A6C34878D82A}">
                    <a16:rowId xmlns:a16="http://schemas.microsoft.com/office/drawing/2014/main" val="10005"/>
                  </a:ext>
                </a:extLst>
              </a:tr>
              <a:tr h="260603">
                <a:tc>
                  <a:txBody>
                    <a:bodyPr/>
                    <a:lstStyle/>
                    <a:p>
                      <a:pPr algn="ctr"/>
                      <a:r>
                        <a:rPr sz="900" b="1">
                          <a:solidFill>
                            <a:srgbClr val="000000"/>
                          </a:solidFill>
                          <a:latin typeface="맑은 고딕"/>
                          <a:ea typeface="맑은 고딕"/>
                        </a:rPr>
                        <a:t>S6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신규 기능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 · 15 · 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6 · 1500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1.45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6">
                        <a:lumMod val="20000"/>
                        <a:lumOff val="80000"/>
                      </a:schemeClr>
                    </a:solidFill>
                  </a:tcPr>
                </a:tc>
                <a:extLst>
                  <a:ext uri="{0D108BD9-81ED-4DB2-BD59-A6C34878D82A}">
                    <a16:rowId xmlns:a16="http://schemas.microsoft.com/office/drawing/2014/main" val="10006"/>
                  </a:ext>
                </a:extLst>
              </a:tr>
              <a:tr h="260603">
                <a:tc>
                  <a:txBody>
                    <a:bodyPr/>
                    <a:lstStyle/>
                    <a:p>
                      <a:pPr algn="ctr"/>
                      <a:r>
                        <a:rPr sz="900" b="1">
                          <a:solidFill>
                            <a:srgbClr val="000000"/>
                          </a:solidFill>
                          <a:latin typeface="맑은 고딕"/>
                          <a:ea typeface="맑은 고딕"/>
                        </a:rPr>
                        <a:t>가중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900" b="0">
                          <a:solidFill>
                            <a:srgbClr val="000000"/>
                          </a:solidFill>
                          <a:latin typeface="맑은 고딕"/>
                          <a:ea typeface="맑은 고딕"/>
                        </a:rPr>
                        <a:t>S1~S6 (S2~S4 가중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module 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1.28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3.9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module 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0.38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2.6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후보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7"/>
                  </a:ext>
                </a:extLst>
              </a:tr>
              <a:tr h="260603">
                <a:tc>
                  <a:txBody>
                    <a:bodyPr/>
                    <a:lstStyle/>
                    <a:p>
                      <a:pPr algn="ctr"/>
                      <a:r>
                        <a:rPr sz="900" b="1">
                          <a:solidFill>
                            <a:srgbClr val="000000"/>
                          </a:solidFill>
                          <a:latin typeface="맑은 고딕"/>
                          <a:ea typeface="맑은 고딕"/>
                        </a:rPr>
                        <a:t>동일 가중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900" b="0">
                          <a:solidFill>
                            <a:srgbClr val="000000"/>
                          </a:solidFill>
                          <a:latin typeface="맑은 고딕"/>
                          <a:ea typeface="맑은 고딕"/>
                        </a:rPr>
                        <a:t>S1~S6 모두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module 2.7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1.02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3.3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module 2.3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0.48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 (</a:t>
                      </a:r>
                      <a:r>
                        <a:rPr sz="900" b="0" dirty="0" err="1">
                          <a:solidFill>
                            <a:srgbClr val="000000"/>
                          </a:solidFill>
                          <a:latin typeface="맑은 고딕"/>
                          <a:ea typeface="맑은 고딕"/>
                        </a:rPr>
                        <a:t>공수·module은</a:t>
                      </a:r>
                      <a:r>
                        <a:rPr sz="900" b="0" dirty="0">
                          <a:solidFill>
                            <a:srgbClr val="000000"/>
                          </a:solidFill>
                          <a:latin typeface="맑은 고딕"/>
                          <a:ea typeface="맑은 고딕"/>
                        </a:rPr>
                        <a:t> ★ </a:t>
                      </a:r>
                      <a:r>
                        <a:rPr sz="900" b="0" dirty="0" err="1">
                          <a:solidFill>
                            <a:srgbClr val="000000"/>
                          </a:solidFill>
                          <a:latin typeface="맑은 고딕"/>
                          <a:ea typeface="맑은 고딕"/>
                        </a:rPr>
                        <a:t>동급</a:t>
                      </a:r>
                      <a:r>
                        <a:rPr sz="9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8"/>
                  </a:ext>
                </a:extLst>
              </a:tr>
            </a:tbl>
          </a:graphicData>
        </a:graphic>
      </p:graphicFrame>
      <p:sp>
        <p:nvSpPr>
          <p:cNvPr id="8" name="TextBox 7"/>
          <p:cNvSpPr txBox="1"/>
          <p:nvPr/>
        </p:nvSpPr>
        <p:spPr>
          <a:xfrm>
            <a:off x="365760" y="5303520"/>
            <a:ext cx="5669280" cy="1097280"/>
          </a:xfrm>
          <a:prstGeom prst="rect">
            <a:avLst/>
          </a:prstGeom>
          <a:noFill/>
          <a:ln w="12700">
            <a:solidFill>
              <a:srgbClr val="BFBFBF"/>
            </a:solidFill>
          </a:ln>
        </p:spPr>
        <p:txBody>
          <a:bodyPr wrap="square" lIns="73152" tIns="36576" rIns="73152" bIns="36576" anchor="t">
            <a:spAutoFit/>
          </a:bodyPr>
          <a:lstStyle/>
          <a:p>
            <a:pPr algn="l">
              <a:spcAft>
                <a:spcPts val="200"/>
              </a:spcAft>
            </a:pPr>
            <a:r>
              <a:rPr sz="900" b="1" dirty="0">
                <a:solidFill>
                  <a:srgbClr val="2F5597"/>
                </a:solidFill>
                <a:latin typeface="맑은 고딕"/>
                <a:ea typeface="맑은 고딕"/>
              </a:rPr>
              <a:t>세 </a:t>
            </a:r>
            <a:r>
              <a:rPr sz="900" b="1" dirty="0" err="1">
                <a:solidFill>
                  <a:srgbClr val="2F5597"/>
                </a:solidFill>
                <a:latin typeface="맑은 고딕"/>
                <a:ea typeface="맑은 고딕"/>
              </a:rPr>
              <a:t>지표가</a:t>
            </a:r>
            <a:r>
              <a:rPr sz="900" b="1" dirty="0">
                <a:solidFill>
                  <a:srgbClr val="2F5597"/>
                </a:solidFill>
                <a:latin typeface="맑은 고딕"/>
                <a:ea typeface="맑은 고딕"/>
              </a:rPr>
              <a:t> </a:t>
            </a:r>
            <a:r>
              <a:rPr sz="900" b="1" dirty="0" err="1">
                <a:solidFill>
                  <a:srgbClr val="2F5597"/>
                </a:solidFill>
                <a:latin typeface="맑은 고딕"/>
                <a:ea typeface="맑은 고딕"/>
              </a:rPr>
              <a:t>같은</a:t>
            </a:r>
            <a:r>
              <a:rPr sz="900" b="1" dirty="0">
                <a:solidFill>
                  <a:srgbClr val="2F5597"/>
                </a:solidFill>
                <a:latin typeface="맑은 고딕"/>
                <a:ea typeface="맑은 고딕"/>
              </a:rPr>
              <a:t> </a:t>
            </a:r>
            <a:r>
              <a:rPr sz="900" b="1" dirty="0" err="1">
                <a:solidFill>
                  <a:srgbClr val="2F5597"/>
                </a:solidFill>
                <a:latin typeface="맑은 고딕"/>
                <a:ea typeface="맑은 고딕"/>
              </a:rPr>
              <a:t>방향인가</a:t>
            </a:r>
            <a:endParaRPr sz="900" b="1" dirty="0">
              <a:solidFill>
                <a:srgbClr val="2F5597"/>
              </a:solidFill>
              <a:latin typeface="맑은 고딕"/>
              <a:ea typeface="맑은 고딕"/>
            </a:endParaRP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시나리오별로</a:t>
            </a:r>
            <a:r>
              <a:rPr sz="900" b="0" dirty="0">
                <a:solidFill>
                  <a:srgbClr val="000000"/>
                </a:solidFill>
                <a:latin typeface="맑은 고딕"/>
                <a:ea typeface="맑은 고딕"/>
              </a:rPr>
              <a:t> </a:t>
            </a:r>
            <a:r>
              <a:rPr sz="900" b="0" dirty="0" err="1">
                <a:solidFill>
                  <a:srgbClr val="000000"/>
                </a:solidFill>
                <a:latin typeface="맑은 고딕"/>
                <a:ea typeface="맑은 고딕"/>
              </a:rPr>
              <a:t>보면</a:t>
            </a:r>
            <a:r>
              <a:rPr sz="900" b="0" dirty="0">
                <a:solidFill>
                  <a:srgbClr val="000000"/>
                </a:solidFill>
                <a:latin typeface="맑은 고딕"/>
                <a:ea typeface="맑은 고딕"/>
              </a:rPr>
              <a:t> </a:t>
            </a:r>
            <a:r>
              <a:rPr sz="900" b="0" dirty="0" err="1">
                <a:solidFill>
                  <a:srgbClr val="000000"/>
                </a:solidFill>
                <a:latin typeface="맑은 고딕"/>
                <a:ea typeface="맑은 고딕"/>
              </a:rPr>
              <a:t>토큰</a:t>
            </a:r>
            <a:r>
              <a:rPr sz="900" b="0" dirty="0">
                <a:solidFill>
                  <a:srgbClr val="000000"/>
                </a:solidFill>
                <a:latin typeface="맑은 고딕"/>
                <a:ea typeface="맑은 고딕"/>
              </a:rPr>
              <a:t> </a:t>
            </a:r>
            <a:r>
              <a:rPr sz="900" b="0" dirty="0" err="1">
                <a:solidFill>
                  <a:srgbClr val="000000"/>
                </a:solidFill>
                <a:latin typeface="맑은 고딕"/>
                <a:ea typeface="맑은 고딕"/>
              </a:rPr>
              <a:t>cost·공수·module</a:t>
            </a:r>
            <a:r>
              <a:rPr sz="900" b="0" dirty="0">
                <a:solidFill>
                  <a:srgbClr val="000000"/>
                </a:solidFill>
                <a:latin typeface="맑은 고딕"/>
                <a:ea typeface="맑은 고딕"/>
              </a:rPr>
              <a:t> </a:t>
            </a:r>
            <a:r>
              <a:rPr sz="900" b="0" dirty="0" err="1">
                <a:solidFill>
                  <a:srgbClr val="000000"/>
                </a:solidFill>
                <a:latin typeface="맑은 고딕"/>
                <a:ea typeface="맑은 고딕"/>
              </a:rPr>
              <a:t>수의</a:t>
            </a:r>
            <a:r>
              <a:rPr sz="900" b="0" dirty="0">
                <a:solidFill>
                  <a:srgbClr val="000000"/>
                </a:solidFill>
                <a:latin typeface="맑은 고딕"/>
                <a:ea typeface="맑은 고딕"/>
              </a:rPr>
              <a:t> </a:t>
            </a:r>
            <a:r>
              <a:rPr sz="900" b="0" dirty="0" err="1">
                <a:solidFill>
                  <a:srgbClr val="000000"/>
                </a:solidFill>
                <a:latin typeface="맑은 고딕"/>
                <a:ea typeface="맑은 고딕"/>
              </a:rPr>
              <a:t>우열이</a:t>
            </a:r>
            <a:r>
              <a:rPr sz="900" b="0" dirty="0">
                <a:solidFill>
                  <a:srgbClr val="000000"/>
                </a:solidFill>
                <a:latin typeface="맑은 고딕"/>
                <a:ea typeface="맑은 고딕"/>
              </a:rPr>
              <a:t> 6개 </a:t>
            </a:r>
            <a:r>
              <a:rPr sz="900" b="0" dirty="0" err="1">
                <a:solidFill>
                  <a:srgbClr val="000000"/>
                </a:solidFill>
                <a:latin typeface="맑은 고딕"/>
                <a:ea typeface="맑은 고딕"/>
              </a:rPr>
              <a:t>모두</a:t>
            </a:r>
            <a:r>
              <a:rPr sz="900" b="0" dirty="0">
                <a:solidFill>
                  <a:srgbClr val="000000"/>
                </a:solidFill>
                <a:latin typeface="맑은 고딕"/>
                <a:ea typeface="맑은 고딕"/>
              </a:rPr>
              <a:t> </a:t>
            </a:r>
            <a:r>
              <a:rPr sz="900" b="0" dirty="0" err="1">
                <a:solidFill>
                  <a:srgbClr val="000000"/>
                </a:solidFill>
                <a:latin typeface="맑은 고딕"/>
                <a:ea typeface="맑은 고딕"/>
              </a:rPr>
              <a:t>같다</a:t>
            </a:r>
            <a:r>
              <a:rPr sz="900" b="0" dirty="0">
                <a:solidFill>
                  <a:srgbClr val="000000"/>
                </a:solidFill>
                <a:latin typeface="맑은 고딕"/>
                <a:ea typeface="맑은 고딕"/>
              </a:rPr>
              <a:t>: S1·S5·S6 </a:t>
            </a: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r>
              <a:rPr sz="900" b="0" dirty="0" err="1">
                <a:solidFill>
                  <a:srgbClr val="000000"/>
                </a:solidFill>
                <a:latin typeface="맑은 고딕"/>
                <a:ea typeface="맑은 고딕"/>
              </a:rPr>
              <a:t>설정·OSS</a:t>
            </a:r>
            <a:r>
              <a:rPr sz="900" b="0" dirty="0">
                <a:solidFill>
                  <a:srgbClr val="000000"/>
                </a:solidFill>
                <a:latin typeface="맑은 고딕"/>
                <a:ea typeface="맑은 고딕"/>
              </a:rPr>
              <a:t> </a:t>
            </a:r>
            <a:r>
              <a:rPr sz="900" b="0" dirty="0" err="1">
                <a:solidFill>
                  <a:srgbClr val="000000"/>
                </a:solidFill>
                <a:latin typeface="맑은 고딕"/>
                <a:ea typeface="맑은 고딕"/>
              </a:rPr>
              <a:t>제공으로</a:t>
            </a:r>
            <a:r>
              <a:rPr sz="900" b="0" dirty="0">
                <a:solidFill>
                  <a:srgbClr val="000000"/>
                </a:solidFill>
                <a:latin typeface="맑은 고딕"/>
                <a:ea typeface="맑은 고딕"/>
              </a:rPr>
              <a:t> </a:t>
            </a:r>
            <a:r>
              <a:rPr sz="900" b="0" dirty="0" err="1">
                <a:solidFill>
                  <a:srgbClr val="000000"/>
                </a:solidFill>
                <a:latin typeface="맑은 고딕"/>
                <a:ea typeface="맑은 고딕"/>
              </a:rPr>
              <a:t>작은</a:t>
            </a:r>
            <a:r>
              <a:rPr sz="900" b="0" dirty="0">
                <a:solidFill>
                  <a:srgbClr val="000000"/>
                </a:solidFill>
                <a:latin typeface="맑은 고딕"/>
                <a:ea typeface="맑은 고딕"/>
              </a:rPr>
              <a:t> </a:t>
            </a:r>
            <a:r>
              <a:rPr sz="900" b="0" dirty="0" err="1">
                <a:solidFill>
                  <a:srgbClr val="000000"/>
                </a:solidFill>
                <a:latin typeface="맑은 고딕"/>
                <a:ea typeface="맑은 고딕"/>
              </a:rPr>
              <a:t>변경</a:t>
            </a:r>
            <a:r>
              <a:rPr sz="900" b="0" dirty="0">
                <a:solidFill>
                  <a:srgbClr val="000000"/>
                </a:solidFill>
                <a:latin typeface="맑은 고딕"/>
                <a:ea typeface="맑은 고딕"/>
              </a:rPr>
              <a:t>), S2~S4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2(한 </a:t>
            </a:r>
            <a:r>
              <a:rPr sz="900" b="0" dirty="0" err="1">
                <a:solidFill>
                  <a:srgbClr val="000000"/>
                </a:solidFill>
                <a:latin typeface="맑은 고딕"/>
                <a:ea typeface="맑은 고딕"/>
              </a:rPr>
              <a:t>구현체만</a:t>
            </a:r>
            <a:r>
              <a:rPr sz="900" b="0" dirty="0">
                <a:solidFill>
                  <a:srgbClr val="000000"/>
                </a:solidFill>
                <a:latin typeface="맑은 고딕"/>
                <a:ea typeface="맑은 고딕"/>
              </a:rPr>
              <a:t> </a:t>
            </a:r>
            <a:r>
              <a:rPr sz="900" b="0" dirty="0" err="1">
                <a:solidFill>
                  <a:srgbClr val="000000"/>
                </a:solidFill>
                <a:latin typeface="맑은 고딕"/>
                <a:ea typeface="맑은 고딕"/>
              </a:rPr>
              <a:t>교체</a:t>
            </a:r>
            <a:r>
              <a:rPr sz="900" b="0" dirty="0">
                <a:solidFill>
                  <a:srgbClr val="000000"/>
                </a:solidFill>
                <a:latin typeface="맑은 고딕"/>
                <a:ea typeface="맑은 고딕"/>
              </a:rPr>
              <a:t>).</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가중</a:t>
            </a:r>
            <a:r>
              <a:rPr sz="900" b="0" dirty="0">
                <a:solidFill>
                  <a:srgbClr val="000000"/>
                </a:solidFill>
                <a:latin typeface="맑은 고딕"/>
                <a:ea typeface="맑은 고딕"/>
              </a:rPr>
              <a:t> </a:t>
            </a:r>
            <a:r>
              <a:rPr sz="900" b="0" dirty="0" err="1">
                <a:solidFill>
                  <a:srgbClr val="000000"/>
                </a:solidFill>
                <a:latin typeface="맑은 고딕"/>
                <a:ea typeface="맑은 고딕"/>
              </a:rPr>
              <a:t>평균에서도</a:t>
            </a:r>
            <a:r>
              <a:rPr sz="900" b="0" dirty="0">
                <a:solidFill>
                  <a:srgbClr val="000000"/>
                </a:solidFill>
                <a:latin typeface="맑은 고딕"/>
                <a:ea typeface="맑은 고딕"/>
              </a:rPr>
              <a:t> 세 </a:t>
            </a:r>
            <a:r>
              <a:rPr sz="900" b="0" dirty="0" err="1">
                <a:solidFill>
                  <a:srgbClr val="000000"/>
                </a:solidFill>
                <a:latin typeface="맑은 고딕"/>
                <a:ea typeface="맑은 고딕"/>
              </a:rPr>
              <a:t>지표</a:t>
            </a:r>
            <a:r>
              <a:rPr sz="900" b="0" dirty="0">
                <a:solidFill>
                  <a:srgbClr val="000000"/>
                </a:solidFill>
                <a:latin typeface="맑은 고딕"/>
                <a:ea typeface="맑은 고딕"/>
              </a:rPr>
              <a:t> </a:t>
            </a:r>
            <a:r>
              <a:rPr sz="900" b="0" dirty="0" err="1">
                <a:solidFill>
                  <a:srgbClr val="000000"/>
                </a:solidFill>
                <a:latin typeface="맑은 고딕"/>
                <a:ea typeface="맑은 고딕"/>
              </a:rPr>
              <a:t>모두</a:t>
            </a:r>
            <a:r>
              <a:rPr sz="900" b="0" dirty="0">
                <a:solidFill>
                  <a:srgbClr val="000000"/>
                </a:solidFill>
                <a:latin typeface="맑은 고딕"/>
                <a:ea typeface="맑은 고딕"/>
              </a:rPr>
              <a:t>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2가 </a:t>
            </a:r>
            <a:r>
              <a:rPr sz="900" b="0" dirty="0" err="1">
                <a:solidFill>
                  <a:srgbClr val="000000"/>
                </a:solidFill>
                <a:latin typeface="맑은 고딕"/>
                <a:ea typeface="맑은 고딕"/>
              </a:rPr>
              <a:t>낮다</a:t>
            </a:r>
            <a:r>
              <a:rPr sz="900" b="0" dirty="0">
                <a:solidFill>
                  <a:srgbClr val="000000"/>
                </a:solidFill>
                <a:latin typeface="맑은 고딕"/>
                <a:ea typeface="맑은 고딕"/>
              </a:rPr>
              <a:t>(별 ★★ → ★★★). ①이 </a:t>
            </a:r>
            <a:r>
              <a:rPr sz="900" b="0" dirty="0" err="1">
                <a:solidFill>
                  <a:srgbClr val="000000"/>
                </a:solidFill>
                <a:latin typeface="맑은 고딕"/>
                <a:ea typeface="맑은 고딕"/>
              </a:rPr>
              <a:t>경계를</a:t>
            </a:r>
            <a:r>
              <a:rPr sz="900" b="0" dirty="0">
                <a:solidFill>
                  <a:srgbClr val="000000"/>
                </a:solidFill>
                <a:latin typeface="맑은 고딕"/>
                <a:ea typeface="맑은 고딕"/>
              </a:rPr>
              <a:t> </a:t>
            </a:r>
            <a:r>
              <a:rPr sz="900" b="0" dirty="0" err="1">
                <a:solidFill>
                  <a:srgbClr val="000000"/>
                </a:solidFill>
                <a:latin typeface="맑은 고딕"/>
                <a:ea typeface="맑은 고딕"/>
              </a:rPr>
              <a:t>넘어</a:t>
            </a:r>
            <a:r>
              <a:rPr sz="900" b="0" dirty="0">
                <a:solidFill>
                  <a:srgbClr val="000000"/>
                </a:solidFill>
                <a:latin typeface="맑은 고딕"/>
                <a:ea typeface="맑은 고딕"/>
              </a:rPr>
              <a:t> </a:t>
            </a:r>
            <a:r>
              <a:rPr sz="900" b="0" dirty="0" err="1">
                <a:solidFill>
                  <a:srgbClr val="000000"/>
                </a:solidFill>
                <a:latin typeface="맑은 고딕"/>
                <a:ea typeface="맑은 고딕"/>
              </a:rPr>
              <a:t>별을</a:t>
            </a:r>
            <a:r>
              <a:rPr sz="900" b="0" dirty="0">
                <a:solidFill>
                  <a:srgbClr val="000000"/>
                </a:solidFill>
                <a:latin typeface="맑은 고딕"/>
                <a:ea typeface="맑은 고딕"/>
              </a:rPr>
              <a:t> </a:t>
            </a:r>
            <a:r>
              <a:rPr sz="900" b="0" dirty="0" err="1">
                <a:solidFill>
                  <a:srgbClr val="000000"/>
                </a:solidFill>
                <a:latin typeface="맑은 고딕"/>
                <a:ea typeface="맑은 고딕"/>
              </a:rPr>
              <a:t>가르므로</a:t>
            </a:r>
            <a:r>
              <a:rPr sz="900" b="0" dirty="0">
                <a:solidFill>
                  <a:srgbClr val="000000"/>
                </a:solidFill>
                <a:latin typeface="맑은 고딕"/>
                <a:ea typeface="맑은 고딕"/>
              </a:rPr>
              <a:t> </a:t>
            </a:r>
            <a:r>
              <a:rPr sz="900" b="0" dirty="0" err="1">
                <a:solidFill>
                  <a:srgbClr val="000000"/>
                </a:solidFill>
                <a:latin typeface="맑은 고딕"/>
                <a:ea typeface="맑은 고딕"/>
              </a:rPr>
              <a:t>우선순위</a:t>
            </a:r>
            <a:r>
              <a:rPr sz="900" b="0" dirty="0">
                <a:solidFill>
                  <a:srgbClr val="000000"/>
                </a:solidFill>
                <a:latin typeface="맑은 고딕"/>
                <a:ea typeface="맑은 고딕"/>
              </a:rPr>
              <a:t> </a:t>
            </a:r>
            <a:r>
              <a:rPr sz="900" b="0" dirty="0" err="1">
                <a:solidFill>
                  <a:srgbClr val="000000"/>
                </a:solidFill>
                <a:latin typeface="맑은 고딕"/>
                <a:ea typeface="맑은 고딕"/>
              </a:rPr>
              <a:t>규칙대로</a:t>
            </a:r>
            <a:r>
              <a:rPr sz="900" b="0" dirty="0">
                <a:solidFill>
                  <a:srgbClr val="000000"/>
                </a:solidFill>
                <a:latin typeface="맑은 고딕"/>
                <a:ea typeface="맑은 고딕"/>
              </a:rPr>
              <a:t> Q3는 1안 ★★, 2안 ★★★.</a:t>
            </a:r>
          </a:p>
        </p:txBody>
      </p:sp>
      <p:sp>
        <p:nvSpPr>
          <p:cNvPr id="9" name="TextBox 8"/>
          <p:cNvSpPr txBox="1"/>
          <p:nvPr/>
        </p:nvSpPr>
        <p:spPr>
          <a:xfrm>
            <a:off x="6126480" y="5303520"/>
            <a:ext cx="5669280" cy="1097280"/>
          </a:xfrm>
          <a:prstGeom prst="rect">
            <a:avLst/>
          </a:prstGeom>
          <a:solidFill>
            <a:srgbClr val="FFFBEA"/>
          </a:solidFill>
        </p:spPr>
        <p:txBody>
          <a:bodyPr wrap="square" lIns="73152" tIns="36576" rIns="73152" bIns="36576" anchor="t">
            <a:spAutoFit/>
          </a:bodyPr>
          <a:lstStyle/>
          <a:p>
            <a:pPr algn="l">
              <a:spcAft>
                <a:spcPts val="200"/>
              </a:spcAft>
            </a:pPr>
            <a:r>
              <a:rPr sz="900" b="1">
                <a:solidFill>
                  <a:srgbClr val="C00000"/>
                </a:solidFill>
                <a:latin typeface="맑은 고딕"/>
                <a:ea typeface="맑은 고딕"/>
              </a:rPr>
              <a:t>민감도 · 정직한 한계</a:t>
            </a:r>
          </a:p>
          <a:p>
            <a:pPr algn="l">
              <a:spcAft>
                <a:spcPts val="200"/>
              </a:spcAft>
            </a:pPr>
            <a:r>
              <a:rPr sz="900" b="0">
                <a:solidFill>
                  <a:srgbClr val="000000"/>
                </a:solidFill>
                <a:latin typeface="맑은 고딕"/>
                <a:ea typeface="맑은 고딕"/>
              </a:rPr>
              <a:t>• E(OSS 탐색 토큰)가 결과를 좌우한다. E = 0이면 가중 평균 ① 1안 $0.54(★★, 경계 직상)이고 동일 가중이면 $0.45로 ★★★ → 후보 2와 동점. E를 2배로 하면 $2.02.</a:t>
            </a:r>
          </a:p>
          <a:p>
            <a:pPr algn="l">
              <a:spcAft>
                <a:spcPts val="200"/>
              </a:spcAft>
            </a:pPr>
            <a:r>
              <a:rPr sz="900" b="0">
                <a:solidFill>
                  <a:srgbClr val="000000"/>
                </a:solidFill>
                <a:latin typeface="맑은 고딕"/>
                <a:ea typeface="맑은 고딕"/>
              </a:rPr>
              <a:t>• 토큰 cost의 절대 금액은 작다($0.15~2.3). 사람 시간(공수)이 실제 비용 대부분이지만, 소유자 우선순위(① &gt; ② &gt; ③)에 따라 별은 ①로 정하고 ②③은 방향 확인에 쓴다.</a:t>
            </a:r>
          </a:p>
        </p:txBody>
      </p:sp>
      <p:sp>
        <p:nvSpPr>
          <p:cNvPr id="10" name="실행 단추: 뒤로 또는 이전 9">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2508291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Q4 </a:t>
            </a:r>
            <a:r>
              <a:rPr sz="2200" b="1" dirty="0" err="1">
                <a:solidFill>
                  <a:srgbClr val="2F5597"/>
                </a:solidFill>
                <a:latin typeface="맑은 고딕"/>
                <a:ea typeface="맑은 고딕"/>
              </a:rPr>
              <a:t>확장성</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공통</a:t>
            </a:r>
            <a:r>
              <a:rPr sz="1100" b="0" dirty="0">
                <a:solidFill>
                  <a:srgbClr val="404040"/>
                </a:solidFill>
                <a:latin typeface="맑은 고딕"/>
                <a:ea typeface="맑은 고딕"/>
              </a:rPr>
              <a:t> QA6 Scalability · SE(N) =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(N) ÷ ((N / N0) ×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(N0)) · N0 = 2 </a:t>
            </a:r>
            <a:r>
              <a:rPr sz="1100" b="0" dirty="0" err="1">
                <a:solidFill>
                  <a:srgbClr val="404040"/>
                </a:solidFill>
                <a:latin typeface="맑은 고딕"/>
                <a:ea typeface="맑은 고딕"/>
              </a:rPr>
              <a:t>노드</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70432"/>
          <a:ext cx="11457432" cy="2560320"/>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5852160">
                  <a:extLst>
                    <a:ext uri="{9D8B030D-6E8A-4147-A177-3AD203B41FA5}">
                      <a16:colId xmlns:a16="http://schemas.microsoft.com/office/drawing/2014/main" val="20002"/>
                    </a:ext>
                  </a:extLst>
                </a:gridCol>
                <a:gridCol w="2587752">
                  <a:extLst>
                    <a:ext uri="{9D8B030D-6E8A-4147-A177-3AD203B41FA5}">
                      <a16:colId xmlns:a16="http://schemas.microsoft.com/office/drawing/2014/main" val="20003"/>
                    </a:ext>
                  </a:extLst>
                </a:gridCol>
              </a:tblGrid>
              <a:tr h="64008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64008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SE(N_max) ≥ 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서버를</a:t>
                      </a:r>
                      <a:r>
                        <a:rPr sz="950" b="0" dirty="0">
                          <a:solidFill>
                            <a:srgbClr val="000000"/>
                          </a:solidFill>
                          <a:latin typeface="맑은 고딕"/>
                          <a:ea typeface="맑은 고딕"/>
                        </a:rPr>
                        <a:t> </a:t>
                      </a:r>
                      <a:r>
                        <a:rPr sz="950" b="0" dirty="0" err="1">
                          <a:solidFill>
                            <a:srgbClr val="000000"/>
                          </a:solidFill>
                          <a:latin typeface="맑은 고딕"/>
                          <a:ea typeface="맑은 고딕"/>
                        </a:rPr>
                        <a:t>N배로</a:t>
                      </a:r>
                      <a:r>
                        <a:rPr sz="950" b="0" dirty="0">
                          <a:solidFill>
                            <a:srgbClr val="000000"/>
                          </a:solidFill>
                          <a:latin typeface="맑은 고딕"/>
                          <a:ea typeface="맑은 고딕"/>
                        </a:rPr>
                        <a:t> </a:t>
                      </a:r>
                      <a:r>
                        <a:rPr sz="950" b="0" dirty="0" err="1">
                          <a:solidFill>
                            <a:srgbClr val="000000"/>
                          </a:solidFill>
                          <a:latin typeface="맑은 고딕"/>
                          <a:ea typeface="맑은 고딕"/>
                        </a:rPr>
                        <a:t>늘릴</a:t>
                      </a:r>
                      <a:r>
                        <a:rPr sz="950" b="0" dirty="0">
                          <a:solidFill>
                            <a:srgbClr val="000000"/>
                          </a:solidFill>
                          <a:latin typeface="맑은 고딕"/>
                          <a:ea typeface="맑은 고딕"/>
                        </a:rPr>
                        <a:t> 때 </a:t>
                      </a:r>
                      <a:r>
                        <a:rPr sz="950" b="0" dirty="0" err="1">
                          <a:solidFill>
                            <a:srgbClr val="000000"/>
                          </a:solidFill>
                          <a:latin typeface="맑은 고딕"/>
                          <a:ea typeface="맑은 고딕"/>
                        </a:rPr>
                        <a:t>처리량</a:t>
                      </a:r>
                      <a:r>
                        <a:rPr sz="950" b="0" dirty="0">
                          <a:solidFill>
                            <a:srgbClr val="000000"/>
                          </a:solidFill>
                          <a:latin typeface="맑은 고딕"/>
                          <a:ea typeface="맑은 고딕"/>
                        </a:rPr>
                        <a:t> </a:t>
                      </a:r>
                      <a:r>
                        <a:rPr sz="950" b="0" dirty="0" err="1">
                          <a:solidFill>
                            <a:srgbClr val="000000"/>
                          </a:solidFill>
                          <a:latin typeface="맑은 고딕"/>
                          <a:ea typeface="맑은 고딕"/>
                        </a:rPr>
                        <a:t>손실</a:t>
                      </a:r>
                      <a:r>
                        <a:rPr sz="950" b="0" dirty="0">
                          <a:solidFill>
                            <a:srgbClr val="000000"/>
                          </a:solidFill>
                          <a:latin typeface="맑은 고딕"/>
                          <a:ea typeface="맑은 고딕"/>
                        </a:rPr>
                        <a:t> 10% </a:t>
                      </a:r>
                      <a:r>
                        <a:rPr sz="950" b="0" dirty="0" err="1">
                          <a:solidFill>
                            <a:srgbClr val="000000"/>
                          </a:solidFill>
                          <a:latin typeface="맑은 고딕"/>
                          <a:ea typeface="맑은 고딕"/>
                        </a:rPr>
                        <a:t>이내</a:t>
                      </a:r>
                      <a:r>
                        <a:rPr sz="950" b="0" dirty="0">
                          <a:solidFill>
                            <a:srgbClr val="000000"/>
                          </a:solidFill>
                          <a:latin typeface="맑은 고딕"/>
                          <a:ea typeface="맑은 고딕"/>
                        </a:rPr>
                        <a:t>. 16노드 </a:t>
                      </a:r>
                      <a:r>
                        <a:rPr sz="950" b="0" dirty="0" err="1">
                          <a:solidFill>
                            <a:srgbClr val="000000"/>
                          </a:solidFill>
                          <a:latin typeface="맑은 고딕"/>
                          <a:ea typeface="맑은 고딕"/>
                        </a:rPr>
                        <a:t>규모에서</a:t>
                      </a:r>
                      <a:r>
                        <a:rPr sz="950" b="0" dirty="0">
                          <a:solidFill>
                            <a:srgbClr val="000000"/>
                          </a:solidFill>
                          <a:latin typeface="맑은 고딕"/>
                          <a:ea typeface="맑은 고딕"/>
                        </a:rPr>
                        <a:t> 90% = 14.4노드분 </a:t>
                      </a:r>
                      <a:r>
                        <a:rPr sz="950" b="0" dirty="0" err="1">
                          <a:solidFill>
                            <a:srgbClr val="000000"/>
                          </a:solidFill>
                          <a:latin typeface="맑은 고딕"/>
                          <a:ea typeface="맑은 고딕"/>
                        </a:rPr>
                        <a:t>효과</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r>
                        <a:rPr sz="950" b="0" dirty="0" err="1">
                          <a:solidFill>
                            <a:srgbClr val="000000"/>
                          </a:solidFill>
                          <a:latin typeface="맑은 고딕"/>
                          <a:ea typeface="맑은 고딕"/>
                        </a:rPr>
                        <a:t>병렬</a:t>
                      </a:r>
                      <a:r>
                        <a:rPr sz="950" b="0" dirty="0">
                          <a:solidFill>
                            <a:srgbClr val="000000"/>
                          </a:solidFill>
                          <a:latin typeface="맑은 고딕"/>
                          <a:ea typeface="맑은 고딕"/>
                        </a:rPr>
                        <a:t> </a:t>
                      </a:r>
                      <a:r>
                        <a:rPr sz="950" b="0" dirty="0" err="1">
                          <a:solidFill>
                            <a:srgbClr val="000000"/>
                          </a:solidFill>
                          <a:latin typeface="맑은 고딕"/>
                          <a:ea typeface="맑은 고딕"/>
                        </a:rPr>
                        <a:t>효율</a:t>
                      </a:r>
                      <a:r>
                        <a:rPr sz="950" b="0" dirty="0">
                          <a:solidFill>
                            <a:srgbClr val="000000"/>
                          </a:solidFill>
                          <a:latin typeface="맑은 고딕"/>
                          <a:ea typeface="맑은 고딕"/>
                        </a:rPr>
                        <a:t> </a:t>
                      </a:r>
                      <a:r>
                        <a:rPr sz="950" b="0" dirty="0" err="1">
                          <a:solidFill>
                            <a:srgbClr val="000000"/>
                          </a:solidFill>
                          <a:latin typeface="맑은 고딕"/>
                          <a:ea typeface="맑은 고딕"/>
                        </a:rPr>
                        <a:t>논문에서</a:t>
                      </a:r>
                      <a:r>
                        <a:rPr sz="950" b="0" dirty="0">
                          <a:solidFill>
                            <a:srgbClr val="000000"/>
                          </a:solidFill>
                          <a:latin typeface="맑은 고딕"/>
                          <a:ea typeface="맑은 고딕"/>
                        </a:rPr>
                        <a:t> '</a:t>
                      </a:r>
                      <a:r>
                        <a:rPr sz="950" b="0" dirty="0" err="1">
                          <a:solidFill>
                            <a:srgbClr val="000000"/>
                          </a:solidFill>
                          <a:latin typeface="맑은 고딕"/>
                          <a:ea typeface="맑은 고딕"/>
                        </a:rPr>
                        <a:t>효율적'이라</a:t>
                      </a:r>
                      <a:r>
                        <a:rPr sz="950" b="0" dirty="0">
                          <a:solidFill>
                            <a:srgbClr val="000000"/>
                          </a:solidFill>
                          <a:latin typeface="맑은 고딕"/>
                          <a:ea typeface="맑은 고딕"/>
                        </a:rPr>
                        <a:t> </a:t>
                      </a:r>
                      <a:r>
                        <a:rPr sz="950" b="0" dirty="0" err="1">
                          <a:solidFill>
                            <a:srgbClr val="000000"/>
                          </a:solidFill>
                          <a:latin typeface="맑은 고딕"/>
                          <a:ea typeface="맑은 고딕"/>
                        </a:rPr>
                        <a:t>보고할</a:t>
                      </a:r>
                      <a:r>
                        <a:rPr sz="950" b="0" dirty="0">
                          <a:solidFill>
                            <a:srgbClr val="000000"/>
                          </a:solidFill>
                          <a:latin typeface="맑은 고딕"/>
                          <a:ea typeface="맑은 고딕"/>
                        </a:rPr>
                        <a:t> 때 </a:t>
                      </a:r>
                      <a:r>
                        <a:rPr sz="950" b="0" dirty="0" err="1">
                          <a:solidFill>
                            <a:srgbClr val="000000"/>
                          </a:solidFill>
                          <a:latin typeface="맑은 고딕"/>
                          <a:ea typeface="맑은 고딕"/>
                        </a:rPr>
                        <a:t>흔히</a:t>
                      </a:r>
                      <a:r>
                        <a:rPr sz="950" b="0" dirty="0">
                          <a:solidFill>
                            <a:srgbClr val="000000"/>
                          </a:solidFill>
                          <a:latin typeface="맑은 고딕"/>
                          <a:ea typeface="맑은 고딕"/>
                        </a:rPr>
                        <a:t> </a:t>
                      </a:r>
                      <a:r>
                        <a:rPr sz="950" b="0" dirty="0" err="1">
                          <a:solidFill>
                            <a:srgbClr val="000000"/>
                          </a:solidFill>
                          <a:latin typeface="맑은 고딕"/>
                          <a:ea typeface="맑은 고딕"/>
                        </a:rPr>
                        <a:t>쓰는</a:t>
                      </a:r>
                      <a:r>
                        <a:rPr sz="950" b="0" dirty="0">
                          <a:solidFill>
                            <a:srgbClr val="000000"/>
                          </a:solidFill>
                          <a:latin typeface="맑은 고딕"/>
                          <a:ea typeface="맑은 고딕"/>
                        </a:rPr>
                        <a:t> 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Cornell CVW · arXiv 1704.03329 (효율 90% 미만으로 안 떨어짐) [검색 확인]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64008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SE(N_max) 70 ~ 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확장은</a:t>
                      </a:r>
                      <a:r>
                        <a:rPr sz="950" b="0" dirty="0">
                          <a:solidFill>
                            <a:srgbClr val="000000"/>
                          </a:solidFill>
                          <a:latin typeface="맑은 고딕"/>
                          <a:ea typeface="맑은 고딕"/>
                        </a:rPr>
                        <a:t> </a:t>
                      </a:r>
                      <a:r>
                        <a:rPr sz="950" b="0" dirty="0" err="1">
                          <a:solidFill>
                            <a:srgbClr val="000000"/>
                          </a:solidFill>
                          <a:latin typeface="맑은 고딕"/>
                          <a:ea typeface="맑은 고딕"/>
                        </a:rPr>
                        <a:t>되지만</a:t>
                      </a:r>
                      <a:r>
                        <a:rPr sz="950" b="0" dirty="0">
                          <a:solidFill>
                            <a:srgbClr val="000000"/>
                          </a:solidFill>
                          <a:latin typeface="맑은 고딕"/>
                          <a:ea typeface="맑은 고딕"/>
                        </a:rPr>
                        <a:t> </a:t>
                      </a:r>
                      <a:r>
                        <a:rPr sz="950" b="0" dirty="0" err="1">
                          <a:solidFill>
                            <a:srgbClr val="000000"/>
                          </a:solidFill>
                          <a:latin typeface="맑은 고딕"/>
                          <a:ea typeface="맑은 고딕"/>
                        </a:rPr>
                        <a:t>조율</a:t>
                      </a:r>
                      <a:r>
                        <a:rPr sz="950" b="0" dirty="0">
                          <a:solidFill>
                            <a:srgbClr val="000000"/>
                          </a:solidFill>
                          <a:latin typeface="맑은 고딕"/>
                          <a:ea typeface="맑은 고딕"/>
                        </a:rPr>
                        <a:t> </a:t>
                      </a:r>
                      <a:r>
                        <a:rPr sz="950" b="0" dirty="0" err="1">
                          <a:solidFill>
                            <a:srgbClr val="000000"/>
                          </a:solidFill>
                          <a:latin typeface="맑은 고딕"/>
                          <a:ea typeface="맑은 고딕"/>
                        </a:rPr>
                        <a:t>계층이</a:t>
                      </a:r>
                      <a:r>
                        <a:rPr sz="950" b="0" dirty="0">
                          <a:solidFill>
                            <a:srgbClr val="000000"/>
                          </a:solidFill>
                          <a:latin typeface="맑은 고딕"/>
                          <a:ea typeface="맑은 고딕"/>
                        </a:rPr>
                        <a:t> </a:t>
                      </a:r>
                      <a:r>
                        <a:rPr sz="950" b="0" dirty="0" err="1">
                          <a:solidFill>
                            <a:srgbClr val="000000"/>
                          </a:solidFill>
                          <a:latin typeface="맑은 고딕"/>
                          <a:ea typeface="맑은 고딕"/>
                        </a:rPr>
                        <a:t>병목</a:t>
                      </a:r>
                      <a:r>
                        <a:rPr sz="950" b="0" dirty="0">
                          <a:solidFill>
                            <a:srgbClr val="000000"/>
                          </a:solidFill>
                          <a:latin typeface="맑은 고딕"/>
                          <a:ea typeface="맑은 고딕"/>
                        </a:rPr>
                        <a:t> </a:t>
                      </a:r>
                      <a:r>
                        <a:rPr sz="950" b="0" dirty="0" err="1">
                          <a:solidFill>
                            <a:srgbClr val="000000"/>
                          </a:solidFill>
                          <a:latin typeface="맑은 고딕"/>
                          <a:ea typeface="맑은 고딕"/>
                        </a:rPr>
                        <a:t>조짐</a:t>
                      </a:r>
                      <a:r>
                        <a:rPr sz="950" b="0" dirty="0">
                          <a:solidFill>
                            <a:srgbClr val="000000"/>
                          </a:solidFill>
                          <a:latin typeface="맑은 고딕"/>
                          <a:ea typeface="맑은 고딕"/>
                        </a:rPr>
                        <a:t>. 70% </a:t>
                      </a:r>
                      <a:r>
                        <a:rPr sz="950" b="0" dirty="0" err="1">
                          <a:solidFill>
                            <a:srgbClr val="000000"/>
                          </a:solidFill>
                          <a:latin typeface="맑은 고딕"/>
                          <a:ea typeface="맑은 고딕"/>
                        </a:rPr>
                        <a:t>하한</a:t>
                      </a:r>
                      <a:r>
                        <a:rPr sz="950" b="0" dirty="0">
                          <a:solidFill>
                            <a:srgbClr val="000000"/>
                          </a:solidFill>
                          <a:latin typeface="맑은 고딕"/>
                          <a:ea typeface="맑은 고딕"/>
                        </a:rPr>
                        <a:t> = </a:t>
                      </a:r>
                      <a:r>
                        <a:rPr sz="950" b="0" dirty="0" err="1">
                          <a:solidFill>
                            <a:srgbClr val="000000"/>
                          </a:solidFill>
                          <a:latin typeface="맑은 고딕"/>
                          <a:ea typeface="맑은 고딕"/>
                        </a:rPr>
                        <a:t>노드</a:t>
                      </a:r>
                      <a:r>
                        <a:rPr sz="950" b="0" dirty="0">
                          <a:solidFill>
                            <a:srgbClr val="000000"/>
                          </a:solidFill>
                          <a:latin typeface="맑은 고딕"/>
                          <a:ea typeface="맑은 고딕"/>
                        </a:rPr>
                        <a:t> 10대 </a:t>
                      </a:r>
                      <a:r>
                        <a:rPr sz="950" b="0" dirty="0" err="1">
                          <a:solidFill>
                            <a:srgbClr val="000000"/>
                          </a:solidFill>
                          <a:latin typeface="맑은 고딕"/>
                          <a:ea typeface="맑은 고딕"/>
                        </a:rPr>
                        <a:t>증설에</a:t>
                      </a:r>
                      <a:r>
                        <a:rPr sz="950" b="0" dirty="0">
                          <a:solidFill>
                            <a:srgbClr val="000000"/>
                          </a:solidFill>
                          <a:latin typeface="맑은 고딕"/>
                          <a:ea typeface="맑은 고딕"/>
                        </a:rPr>
                        <a:t> 7대분 </a:t>
                      </a:r>
                      <a:r>
                        <a:rPr sz="950" b="0" dirty="0" err="1">
                          <a:solidFill>
                            <a:srgbClr val="000000"/>
                          </a:solidFill>
                          <a:latin typeface="맑은 고딕"/>
                          <a:ea typeface="맑은 고딕"/>
                        </a:rPr>
                        <a:t>효과</a:t>
                      </a:r>
                      <a:r>
                        <a:rPr sz="950" b="0" dirty="0">
                          <a:solidFill>
                            <a:srgbClr val="000000"/>
                          </a:solidFill>
                          <a:latin typeface="맑은 고딕"/>
                          <a:ea typeface="맑은 고딕"/>
                        </a:rPr>
                        <a:t>(3대분 </a:t>
                      </a:r>
                      <a:r>
                        <a:rPr sz="950" b="0" dirty="0" err="1">
                          <a:solidFill>
                            <a:srgbClr val="000000"/>
                          </a:solidFill>
                          <a:latin typeface="맑은 고딕"/>
                          <a:ea typeface="맑은 고딕"/>
                        </a:rPr>
                        <a:t>낭비</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r>
                        <a:rPr sz="950" b="0" dirty="0" err="1">
                          <a:solidFill>
                            <a:srgbClr val="000000"/>
                          </a:solidFill>
                          <a:latin typeface="맑은 고딕"/>
                          <a:ea typeface="맑은 고딕"/>
                        </a:rPr>
                        <a:t>매우</a:t>
                      </a:r>
                      <a:r>
                        <a:rPr sz="950" b="0" dirty="0">
                          <a:solidFill>
                            <a:srgbClr val="000000"/>
                          </a:solidFill>
                          <a:latin typeface="맑은 고딕"/>
                          <a:ea typeface="맑은 고딕"/>
                        </a:rPr>
                        <a:t> 큰 </a:t>
                      </a:r>
                      <a:r>
                        <a:rPr sz="950" b="0" dirty="0" err="1">
                          <a:solidFill>
                            <a:srgbClr val="000000"/>
                          </a:solidFill>
                          <a:latin typeface="맑은 고딕"/>
                          <a:ea typeface="맑은 고딕"/>
                        </a:rPr>
                        <a:t>규모에서</a:t>
                      </a:r>
                      <a:r>
                        <a:rPr sz="950" b="0" dirty="0">
                          <a:solidFill>
                            <a:srgbClr val="000000"/>
                          </a:solidFill>
                          <a:latin typeface="맑은 고딕"/>
                          <a:ea typeface="맑은 고딕"/>
                        </a:rPr>
                        <a:t> 70~80%도 '</a:t>
                      </a:r>
                      <a:r>
                        <a:rPr sz="950" b="0" dirty="0" err="1">
                          <a:solidFill>
                            <a:srgbClr val="000000"/>
                          </a:solidFill>
                          <a:latin typeface="맑은 고딕"/>
                          <a:ea typeface="맑은 고딕"/>
                        </a:rPr>
                        <a:t>우수'로</a:t>
                      </a:r>
                      <a:r>
                        <a:rPr sz="950" b="0" dirty="0">
                          <a:solidFill>
                            <a:srgbClr val="000000"/>
                          </a:solidFill>
                          <a:latin typeface="맑은 고딕"/>
                          <a:ea typeface="맑은 고딕"/>
                        </a:rPr>
                        <a:t> </a:t>
                      </a:r>
                      <a:r>
                        <a:rPr sz="950" b="0" dirty="0" err="1">
                          <a:solidFill>
                            <a:srgbClr val="000000"/>
                          </a:solidFill>
                          <a:latin typeface="맑은 고딕"/>
                          <a:ea typeface="맑은 고딕"/>
                        </a:rPr>
                        <a:t>보고한</a:t>
                      </a:r>
                      <a:r>
                        <a:rPr sz="950" b="0" dirty="0">
                          <a:solidFill>
                            <a:srgbClr val="000000"/>
                          </a:solidFill>
                          <a:latin typeface="맑은 고딕"/>
                          <a:ea typeface="맑은 고딕"/>
                        </a:rPr>
                        <a:t> </a:t>
                      </a:r>
                      <a:r>
                        <a:rPr sz="950" b="0" dirty="0" err="1">
                          <a:solidFill>
                            <a:srgbClr val="000000"/>
                          </a:solidFill>
                          <a:latin typeface="맑은 고딕"/>
                          <a:ea typeface="맑은 고딕"/>
                        </a:rPr>
                        <a:t>사례</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arXiv 2409.16053 AthenaK (65,536 GPU에서 80%, 일부 70%) [검색 확인]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64008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SE(N_max) &lt; 70%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손실</a:t>
                      </a:r>
                      <a:r>
                        <a:rPr sz="950" b="0" dirty="0">
                          <a:solidFill>
                            <a:srgbClr val="000000"/>
                          </a:solidFill>
                          <a:latin typeface="맑은 고딕"/>
                          <a:ea typeface="맑은 고딕"/>
                        </a:rPr>
                        <a:t> 30% </a:t>
                      </a:r>
                      <a:r>
                        <a:rPr sz="950" b="0" dirty="0" err="1">
                          <a:solidFill>
                            <a:srgbClr val="000000"/>
                          </a:solidFill>
                          <a:latin typeface="맑은 고딕"/>
                          <a:ea typeface="맑은 고딕"/>
                        </a:rPr>
                        <a:t>초과</a:t>
                      </a:r>
                      <a:r>
                        <a:rPr sz="950" b="0" dirty="0">
                          <a:solidFill>
                            <a:srgbClr val="000000"/>
                          </a:solidFill>
                          <a:latin typeface="맑은 고딕"/>
                          <a:ea typeface="맑은 고딕"/>
                        </a:rPr>
                        <a:t> = </a:t>
                      </a:r>
                      <a:r>
                        <a:rPr sz="950" b="0" dirty="0" err="1">
                          <a:solidFill>
                            <a:srgbClr val="000000"/>
                          </a:solidFill>
                          <a:latin typeface="맑은 고딕"/>
                          <a:ea typeface="맑은 고딕"/>
                        </a:rPr>
                        <a:t>증설</a:t>
                      </a:r>
                      <a:r>
                        <a:rPr sz="950" b="0" dirty="0">
                          <a:solidFill>
                            <a:srgbClr val="000000"/>
                          </a:solidFill>
                          <a:latin typeface="맑은 고딕"/>
                          <a:ea typeface="맑은 고딕"/>
                        </a:rPr>
                        <a:t> </a:t>
                      </a:r>
                      <a:r>
                        <a:rPr sz="950" b="0" dirty="0" err="1">
                          <a:solidFill>
                            <a:srgbClr val="000000"/>
                          </a:solidFill>
                          <a:latin typeface="맑은 고딕"/>
                          <a:ea typeface="맑은 고딕"/>
                        </a:rPr>
                        <a:t>비용의</a:t>
                      </a:r>
                      <a:r>
                        <a:rPr sz="950" b="0" dirty="0">
                          <a:solidFill>
                            <a:srgbClr val="000000"/>
                          </a:solidFill>
                          <a:latin typeface="맑은 고딕"/>
                          <a:ea typeface="맑은 고딕"/>
                        </a:rPr>
                        <a:t> 1/3 </a:t>
                      </a:r>
                      <a:r>
                        <a:rPr sz="950" b="0" dirty="0" err="1">
                          <a:solidFill>
                            <a:srgbClr val="000000"/>
                          </a:solidFill>
                          <a:latin typeface="맑은 고딕"/>
                          <a:ea typeface="맑은 고딕"/>
                        </a:rPr>
                        <a:t>이상</a:t>
                      </a:r>
                      <a:r>
                        <a:rPr sz="950" b="0" dirty="0">
                          <a:solidFill>
                            <a:srgbClr val="000000"/>
                          </a:solidFill>
                          <a:latin typeface="맑은 고딕"/>
                          <a:ea typeface="맑은 고딕"/>
                        </a:rPr>
                        <a:t> </a:t>
                      </a:r>
                      <a:r>
                        <a:rPr sz="950" b="0" dirty="0" err="1">
                          <a:solidFill>
                            <a:srgbClr val="000000"/>
                          </a:solidFill>
                          <a:latin typeface="맑은 고딕"/>
                          <a:ea typeface="맑은 고딕"/>
                        </a:rPr>
                        <a:t>낭비</a:t>
                      </a:r>
                      <a:r>
                        <a:rPr sz="950" b="0" dirty="0">
                          <a:solidFill>
                            <a:srgbClr val="000000"/>
                          </a:solidFill>
                          <a:latin typeface="맑은 고딕"/>
                          <a:ea typeface="맑은 고딕"/>
                        </a:rPr>
                        <a:t>. </a:t>
                      </a:r>
                      <a:r>
                        <a:rPr sz="950" b="0" dirty="0" err="1">
                          <a:solidFill>
                            <a:srgbClr val="000000"/>
                          </a:solidFill>
                          <a:latin typeface="맑은 고딕"/>
                          <a:ea typeface="맑은 고딕"/>
                        </a:rPr>
                        <a:t>조율</a:t>
                      </a:r>
                      <a:r>
                        <a:rPr sz="950" b="0" dirty="0">
                          <a:solidFill>
                            <a:srgbClr val="000000"/>
                          </a:solidFill>
                          <a:latin typeface="맑은 고딕"/>
                          <a:ea typeface="맑은 고딕"/>
                        </a:rPr>
                        <a:t> </a:t>
                      </a:r>
                      <a:r>
                        <a:rPr sz="950" b="0" dirty="0" err="1">
                          <a:solidFill>
                            <a:srgbClr val="000000"/>
                          </a:solidFill>
                          <a:latin typeface="맑은 고딕"/>
                          <a:ea typeface="맑은 고딕"/>
                        </a:rPr>
                        <a:t>계층이</a:t>
                      </a:r>
                      <a:r>
                        <a:rPr sz="950" b="0" dirty="0">
                          <a:solidFill>
                            <a:srgbClr val="000000"/>
                          </a:solidFill>
                          <a:latin typeface="맑은 고딕"/>
                          <a:ea typeface="맑은 고딕"/>
                        </a:rPr>
                        <a:t> </a:t>
                      </a:r>
                      <a:r>
                        <a:rPr sz="950" b="0" dirty="0" err="1">
                          <a:solidFill>
                            <a:srgbClr val="000000"/>
                          </a:solidFill>
                          <a:latin typeface="맑은 고딕"/>
                          <a:ea typeface="맑은 고딕"/>
                        </a:rPr>
                        <a:t>병목이다</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r>
                        <a:rPr sz="950" b="0" dirty="0" err="1">
                          <a:solidFill>
                            <a:srgbClr val="000000"/>
                          </a:solidFill>
                          <a:latin typeface="맑은 고딕"/>
                          <a:ea typeface="맑은 고딕"/>
                        </a:rPr>
                        <a:t>공통</a:t>
                      </a:r>
                      <a:r>
                        <a:rPr sz="950" b="0" dirty="0">
                          <a:solidFill>
                            <a:srgbClr val="000000"/>
                          </a:solidFill>
                          <a:latin typeface="맑은 고딕"/>
                          <a:ea typeface="맑은 고딕"/>
                        </a:rPr>
                        <a:t> QA6의 </a:t>
                      </a:r>
                      <a:r>
                        <a:rPr sz="950" b="0" dirty="0" err="1">
                          <a:solidFill>
                            <a:srgbClr val="000000"/>
                          </a:solidFill>
                          <a:latin typeface="맑은 고딕"/>
                          <a:ea typeface="맑은 고딕"/>
                        </a:rPr>
                        <a:t>임시</a:t>
                      </a:r>
                      <a:r>
                        <a:rPr sz="950" b="0" dirty="0">
                          <a:solidFill>
                            <a:srgbClr val="000000"/>
                          </a:solidFill>
                          <a:latin typeface="맑은 고딕"/>
                          <a:ea typeface="맑은 고딕"/>
                        </a:rPr>
                        <a:t> </a:t>
                      </a:r>
                      <a:r>
                        <a:rPr sz="950" b="0" dirty="0" err="1">
                          <a:solidFill>
                            <a:srgbClr val="000000"/>
                          </a:solidFill>
                          <a:latin typeface="맑은 고딕"/>
                          <a:ea typeface="맑은 고딕"/>
                        </a:rPr>
                        <a:t>정의</a:t>
                      </a:r>
                      <a:r>
                        <a:rPr sz="950" b="0" dirty="0">
                          <a:solidFill>
                            <a:srgbClr val="000000"/>
                          </a:solidFill>
                          <a:latin typeface="맑은 고딕"/>
                          <a:ea typeface="맑은 고딕"/>
                        </a:rPr>
                        <a:t> </a:t>
                      </a:r>
                      <a:r>
                        <a:rPr sz="950" b="0" dirty="0" err="1">
                          <a:solidFill>
                            <a:srgbClr val="000000"/>
                          </a:solidFill>
                          <a:latin typeface="맑은 고딕"/>
                          <a:ea typeface="맑은 고딕"/>
                        </a:rPr>
                        <a:t>경계</a:t>
                      </a:r>
                      <a:r>
                        <a:rPr sz="950" b="0" dirty="0">
                          <a:solidFill>
                            <a:srgbClr val="000000"/>
                          </a:solidFill>
                          <a:latin typeface="맑은 고딕"/>
                          <a:ea typeface="맑은 고딕"/>
                        </a:rPr>
                        <a:t>(DP4 </a:t>
                      </a:r>
                      <a:r>
                        <a:rPr sz="950" b="0" dirty="0" err="1">
                          <a:solidFill>
                            <a:srgbClr val="000000"/>
                          </a:solidFill>
                          <a:latin typeface="맑은 고딕"/>
                          <a:ea typeface="맑은 고딕"/>
                        </a:rPr>
                        <a:t>초안</a:t>
                      </a:r>
                      <a:r>
                        <a:rPr sz="950" b="0" dirty="0">
                          <a:solidFill>
                            <a:srgbClr val="000000"/>
                          </a:solidFill>
                          <a:latin typeface="맑은 고딕"/>
                          <a:ea typeface="맑은 고딕"/>
                        </a:rPr>
                        <a:t> 값 </a:t>
                      </a:r>
                      <a:r>
                        <a:rPr sz="950" b="0" dirty="0" err="1">
                          <a:solidFill>
                            <a:srgbClr val="000000"/>
                          </a:solidFill>
                          <a:latin typeface="맑은 고딕"/>
                          <a:ea typeface="맑은 고딕"/>
                        </a:rPr>
                        <a:t>재사용</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공통</a:t>
                      </a:r>
                      <a:r>
                        <a:rPr sz="950" b="0" dirty="0">
                          <a:solidFill>
                            <a:srgbClr val="000000"/>
                          </a:solidFill>
                          <a:latin typeface="맑은 고딕"/>
                          <a:ea typeface="맑은 고딕"/>
                        </a:rPr>
                        <a:t> QA </a:t>
                      </a:r>
                      <a:r>
                        <a:rPr sz="950" b="0" dirty="0" err="1">
                          <a:solidFill>
                            <a:srgbClr val="000000"/>
                          </a:solidFill>
                          <a:latin typeface="맑은 고딕"/>
                          <a:ea typeface="맑은 고딕"/>
                        </a:rPr>
                        <a:t>문서</a:t>
                      </a:r>
                      <a:r>
                        <a:rPr sz="950" b="0" dirty="0">
                          <a:solidFill>
                            <a:srgbClr val="000000"/>
                          </a:solidFill>
                          <a:latin typeface="맑은 고딕"/>
                          <a:ea typeface="맑은 고딕"/>
                        </a:rPr>
                        <a:t> §13 [</a:t>
                      </a:r>
                      <a:r>
                        <a:rPr sz="950" b="0" dirty="0" err="1">
                          <a:solidFill>
                            <a:srgbClr val="000000"/>
                          </a:solidFill>
                          <a:latin typeface="맑은 고딕"/>
                          <a:ea typeface="맑은 고딕"/>
                        </a:rPr>
                        <a:t>내부</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822191"/>
            <a:ext cx="5623560" cy="2027735"/>
          </a:xfrm>
          <a:prstGeom prst="rect">
            <a:avLst/>
          </a:prstGeom>
          <a:noFill/>
        </p:spPr>
        <p:txBody>
          <a:bodyPr wrap="square" lIns="73152" tIns="36576" rIns="73152" bIns="36576" anchor="t">
            <a:spAutoFit/>
          </a:bodyPr>
          <a:lstStyle/>
          <a:p>
            <a:pPr algn="l">
              <a:spcAft>
                <a:spcPts val="200"/>
              </a:spcAft>
            </a:pPr>
            <a:r>
              <a:rPr sz="919" b="1" dirty="0" err="1">
                <a:solidFill>
                  <a:srgbClr val="2F5597"/>
                </a:solidFill>
                <a:latin typeface="맑은 고딕"/>
                <a:ea typeface="맑은 고딕"/>
              </a:rPr>
              <a:t>예상치</a:t>
            </a:r>
            <a:r>
              <a:rPr sz="919" b="1" dirty="0">
                <a:solidFill>
                  <a:srgbClr val="2F5597"/>
                </a:solidFill>
                <a:latin typeface="맑은 고딕"/>
                <a:ea typeface="맑은 고딕"/>
              </a:rPr>
              <a:t> (SE </a:t>
            </a:r>
            <a:r>
              <a:rPr sz="919" b="1" dirty="0" err="1">
                <a:solidFill>
                  <a:srgbClr val="2F5597"/>
                </a:solidFill>
                <a:latin typeface="맑은 고딕"/>
                <a:ea typeface="맑은 고딕"/>
              </a:rPr>
              <a:t>곡선</a:t>
            </a:r>
            <a:r>
              <a:rPr sz="919" b="1" dirty="0">
                <a:solidFill>
                  <a:srgbClr val="2F5597"/>
                </a:solidFill>
                <a:latin typeface="맑은 고딕"/>
                <a:ea typeface="맑은 고딕"/>
              </a:rPr>
              <a:t>)</a:t>
            </a: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err="1">
                <a:solidFill>
                  <a:srgbClr val="2F5597"/>
                </a:solidFill>
                <a:latin typeface="맑은 고딕"/>
                <a:ea typeface="맑은 고딕"/>
              </a:rPr>
              <a:t>후보</a:t>
            </a:r>
            <a:r>
              <a:rPr sz="919" b="1" dirty="0">
                <a:solidFill>
                  <a:srgbClr val="2F5597"/>
                </a:solidFill>
                <a:latin typeface="맑은 고딕"/>
                <a:ea typeface="맑은 고딕"/>
              </a:rPr>
              <a:t> 2가 </a:t>
            </a:r>
            <a:r>
              <a:rPr sz="919" b="1" dirty="0" err="1">
                <a:solidFill>
                  <a:srgbClr val="2F5597"/>
                </a:solidFill>
                <a:latin typeface="맑은 고딕"/>
                <a:ea typeface="맑은 고딕"/>
              </a:rPr>
              <a:t>낮은</a:t>
            </a:r>
            <a:r>
              <a:rPr sz="919" b="1" dirty="0">
                <a:solidFill>
                  <a:srgbClr val="2F5597"/>
                </a:solidFill>
                <a:latin typeface="맑은 고딕"/>
                <a:ea typeface="맑은 고딕"/>
              </a:rPr>
              <a:t> </a:t>
            </a:r>
            <a:r>
              <a:rPr sz="919" b="1" dirty="0" err="1">
                <a:solidFill>
                  <a:srgbClr val="2F5597"/>
                </a:solidFill>
                <a:latin typeface="맑은 고딕"/>
                <a:ea typeface="맑은 고딕"/>
              </a:rPr>
              <a:t>이유</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레플리카가</a:t>
            </a:r>
            <a:r>
              <a:rPr sz="919" b="0" dirty="0">
                <a:solidFill>
                  <a:srgbClr val="000000"/>
                </a:solidFill>
                <a:latin typeface="맑은 고딕"/>
                <a:ea typeface="맑은 고딕"/>
              </a:rPr>
              <a:t> </a:t>
            </a:r>
            <a:r>
              <a:rPr sz="919" b="0" dirty="0" err="1">
                <a:solidFill>
                  <a:srgbClr val="000000"/>
                </a:solidFill>
                <a:latin typeface="맑은 고딕"/>
                <a:ea typeface="맑은 고딕"/>
              </a:rPr>
              <a:t>상태를</a:t>
            </a:r>
            <a:r>
              <a:rPr sz="919" b="0" dirty="0">
                <a:solidFill>
                  <a:srgbClr val="000000"/>
                </a:solidFill>
                <a:latin typeface="맑은 고딕"/>
                <a:ea typeface="맑은 고딕"/>
              </a:rPr>
              <a:t> </a:t>
            </a:r>
            <a:r>
              <a:rPr sz="919" b="0" dirty="0" err="1">
                <a:solidFill>
                  <a:srgbClr val="000000"/>
                </a:solidFill>
                <a:latin typeface="맑은 고딕"/>
                <a:ea typeface="맑은 고딕"/>
              </a:rPr>
              <a:t>공유하지</a:t>
            </a:r>
            <a:r>
              <a:rPr sz="919" b="0" dirty="0">
                <a:solidFill>
                  <a:srgbClr val="000000"/>
                </a:solidFill>
                <a:latin typeface="맑은 고딕"/>
                <a:ea typeface="맑은 고딕"/>
              </a:rPr>
              <a:t> </a:t>
            </a:r>
            <a:r>
              <a:rPr sz="919" b="0" dirty="0" err="1">
                <a:solidFill>
                  <a:srgbClr val="000000"/>
                </a:solidFill>
                <a:latin typeface="맑은 고딕"/>
                <a:ea typeface="맑은 고딕"/>
              </a:rPr>
              <a:t>않아</a:t>
            </a:r>
            <a:r>
              <a:rPr sz="919" b="0" dirty="0">
                <a:solidFill>
                  <a:srgbClr val="000000"/>
                </a:solidFill>
                <a:latin typeface="맑은 고딕"/>
                <a:ea typeface="맑은 고딕"/>
              </a:rPr>
              <a:t> </a:t>
            </a:r>
            <a:r>
              <a:rPr sz="919" b="0" dirty="0">
                <a:solidFill>
                  <a:schemeClr val="accent1"/>
                </a:solidFill>
                <a:latin typeface="맑은 고딕"/>
                <a:ea typeface="맑은 고딕"/>
              </a:rPr>
              <a:t>각 </a:t>
            </a:r>
            <a:r>
              <a:rPr sz="919" b="0" dirty="0" err="1">
                <a:solidFill>
                  <a:schemeClr val="accent1"/>
                </a:solidFill>
                <a:latin typeface="맑은 고딕"/>
                <a:ea typeface="맑은 고딕"/>
              </a:rPr>
              <a:t>레플리카가</a:t>
            </a:r>
            <a:r>
              <a:rPr sz="919" b="0" dirty="0">
                <a:solidFill>
                  <a:schemeClr val="accent1"/>
                </a:solidFill>
                <a:latin typeface="맑은 고딕"/>
                <a:ea typeface="맑은 고딕"/>
              </a:rPr>
              <a:t> </a:t>
            </a:r>
            <a:r>
              <a:rPr sz="919" b="0" dirty="0" err="1">
                <a:solidFill>
                  <a:schemeClr val="accent1"/>
                </a:solidFill>
                <a:latin typeface="맑은 고딕"/>
                <a:ea typeface="맑은 고딕"/>
              </a:rPr>
              <a:t>전체</a:t>
            </a:r>
            <a:r>
              <a:rPr sz="919" b="0" dirty="0">
                <a:solidFill>
                  <a:schemeClr val="accent1"/>
                </a:solidFill>
                <a:latin typeface="맑은 고딕"/>
                <a:ea typeface="맑은 고딕"/>
              </a:rPr>
              <a:t> </a:t>
            </a:r>
            <a:r>
              <a:rPr sz="919" b="0" dirty="0" err="1">
                <a:solidFill>
                  <a:schemeClr val="accent1"/>
                </a:solidFill>
                <a:latin typeface="맑은 고딕"/>
                <a:ea typeface="맑은 고딕"/>
              </a:rPr>
              <a:t>서버의</a:t>
            </a:r>
            <a:r>
              <a:rPr sz="919" b="0" dirty="0">
                <a:solidFill>
                  <a:schemeClr val="accent1"/>
                </a:solidFill>
                <a:latin typeface="맑은 고딕"/>
                <a:ea typeface="맑은 고딕"/>
              </a:rPr>
              <a:t> KV </a:t>
            </a:r>
            <a:r>
              <a:rPr sz="919" b="0" dirty="0" err="1">
                <a:solidFill>
                  <a:schemeClr val="accent1"/>
                </a:solidFill>
                <a:latin typeface="맑은 고딕"/>
                <a:ea typeface="맑은 고딕"/>
              </a:rPr>
              <a:t>이벤트·메트릭을</a:t>
            </a:r>
            <a:r>
              <a:rPr sz="919" b="0" dirty="0">
                <a:solidFill>
                  <a:schemeClr val="accent1"/>
                </a:solidFill>
                <a:latin typeface="맑은 고딕"/>
                <a:ea typeface="맑은 고딕"/>
              </a:rPr>
              <a:t> </a:t>
            </a:r>
            <a:r>
              <a:rPr sz="919" b="0" dirty="0" err="1">
                <a:solidFill>
                  <a:schemeClr val="accent1"/>
                </a:solidFill>
                <a:latin typeface="맑은 고딕"/>
                <a:ea typeface="맑은 고딕"/>
              </a:rPr>
              <a:t>중복</a:t>
            </a:r>
            <a:r>
              <a:rPr sz="919" b="0" dirty="0">
                <a:solidFill>
                  <a:schemeClr val="accent1"/>
                </a:solidFill>
                <a:latin typeface="맑은 고딕"/>
                <a:ea typeface="맑은 고딕"/>
              </a:rPr>
              <a:t> </a:t>
            </a:r>
            <a:r>
              <a:rPr sz="919" b="0" dirty="0" err="1">
                <a:solidFill>
                  <a:schemeClr val="accent1"/>
                </a:solidFill>
                <a:latin typeface="맑은 고딕"/>
                <a:ea typeface="맑은 고딕"/>
              </a:rPr>
              <a:t>처리</a:t>
            </a:r>
            <a:r>
              <a:rPr sz="919" b="0" dirty="0">
                <a:solidFill>
                  <a:schemeClr val="accent1"/>
                </a:solidFill>
                <a:latin typeface="맑은 고딕"/>
                <a:ea typeface="맑은 고딕"/>
              </a:rPr>
              <a:t> → </a:t>
            </a:r>
            <a:r>
              <a:rPr sz="919" b="0" dirty="0" err="1">
                <a:solidFill>
                  <a:schemeClr val="accent1"/>
                </a:solidFill>
                <a:latin typeface="맑은 고딕"/>
                <a:ea typeface="맑은 고딕"/>
              </a:rPr>
              <a:t>서버가</a:t>
            </a:r>
            <a:r>
              <a:rPr sz="919" b="0" dirty="0">
                <a:solidFill>
                  <a:schemeClr val="accent1"/>
                </a:solidFill>
                <a:latin typeface="맑은 고딕"/>
                <a:ea typeface="맑은 고딕"/>
              </a:rPr>
              <a:t> </a:t>
            </a:r>
            <a:r>
              <a:rPr sz="919" b="0" dirty="0" err="1">
                <a:solidFill>
                  <a:schemeClr val="accent1"/>
                </a:solidFill>
                <a:latin typeface="맑은 고딕"/>
                <a:ea typeface="맑은 고딕"/>
              </a:rPr>
              <a:t>N배면</a:t>
            </a:r>
            <a:r>
              <a:rPr sz="919" b="0" dirty="0">
                <a:solidFill>
                  <a:schemeClr val="accent1"/>
                </a:solidFill>
                <a:latin typeface="맑은 고딕"/>
                <a:ea typeface="맑은 고딕"/>
              </a:rPr>
              <a:t> </a:t>
            </a:r>
            <a:r>
              <a:rPr sz="919" b="0" dirty="0" err="1">
                <a:solidFill>
                  <a:schemeClr val="accent1"/>
                </a:solidFill>
                <a:latin typeface="맑은 고딕"/>
                <a:ea typeface="맑은 고딕"/>
              </a:rPr>
              <a:t>레플리카당</a:t>
            </a:r>
            <a:r>
              <a:rPr sz="919" b="0" dirty="0">
                <a:solidFill>
                  <a:schemeClr val="accent1"/>
                </a:solidFill>
                <a:latin typeface="맑은 고딕"/>
                <a:ea typeface="맑은 고딕"/>
              </a:rPr>
              <a:t> </a:t>
            </a:r>
            <a:r>
              <a:rPr sz="919" b="0" dirty="0" err="1">
                <a:solidFill>
                  <a:schemeClr val="accent1"/>
                </a:solidFill>
                <a:latin typeface="맑은 고딕"/>
                <a:ea typeface="맑은 고딕"/>
              </a:rPr>
              <a:t>갱신</a:t>
            </a:r>
            <a:r>
              <a:rPr sz="919" b="0" dirty="0">
                <a:solidFill>
                  <a:schemeClr val="accent1"/>
                </a:solidFill>
                <a:latin typeface="맑은 고딕"/>
                <a:ea typeface="맑은 고딕"/>
              </a:rPr>
              <a:t> </a:t>
            </a:r>
            <a:r>
              <a:rPr sz="919" b="0" dirty="0" err="1">
                <a:solidFill>
                  <a:schemeClr val="accent1"/>
                </a:solidFill>
                <a:latin typeface="맑은 고딕"/>
                <a:ea typeface="맑은 고딕"/>
              </a:rPr>
              <a:t>부하</a:t>
            </a:r>
            <a:r>
              <a:rPr sz="919" b="0" dirty="0">
                <a:solidFill>
                  <a:schemeClr val="accent1"/>
                </a:solidFill>
                <a:latin typeface="맑은 고딕"/>
                <a:ea typeface="맑은 고딕"/>
              </a:rPr>
              <a:t> ≈ </a:t>
            </a:r>
            <a:r>
              <a:rPr sz="919" b="0" dirty="0" err="1">
                <a:solidFill>
                  <a:schemeClr val="accent1"/>
                </a:solidFill>
                <a:latin typeface="맑은 고딕"/>
                <a:ea typeface="맑은 고딕"/>
              </a:rPr>
              <a:t>N배</a:t>
            </a:r>
            <a:r>
              <a:rPr sz="919" b="0" dirty="0">
                <a:solidFill>
                  <a:srgbClr val="000000"/>
                </a:solidFill>
                <a:latin typeface="맑은 고딕"/>
                <a:ea typeface="맑은 고딕"/>
              </a:rPr>
              <a:t> → </a:t>
            </a:r>
            <a:r>
              <a:rPr sz="919" b="0" dirty="0" err="1">
                <a:solidFill>
                  <a:srgbClr val="000000"/>
                </a:solidFill>
                <a:latin typeface="맑은 고딕"/>
                <a:ea typeface="맑은 고딕"/>
              </a:rPr>
              <a:t>결정</a:t>
            </a:r>
            <a:r>
              <a:rPr sz="919" b="0" dirty="0">
                <a:solidFill>
                  <a:srgbClr val="000000"/>
                </a:solidFill>
                <a:latin typeface="맑은 고딕"/>
                <a:ea typeface="맑은 고딕"/>
              </a:rPr>
              <a:t> </a:t>
            </a:r>
            <a:r>
              <a:rPr sz="919" b="0" dirty="0" err="1">
                <a:solidFill>
                  <a:srgbClr val="000000"/>
                </a:solidFill>
                <a:latin typeface="맑은 고딕"/>
                <a:ea typeface="맑은 고딕"/>
              </a:rPr>
              <a:t>지연·상태</a:t>
            </a:r>
            <a:r>
              <a:rPr sz="919" b="0" dirty="0">
                <a:solidFill>
                  <a:srgbClr val="000000"/>
                </a:solidFill>
                <a:latin typeface="맑은 고딕"/>
                <a:ea typeface="맑은 고딕"/>
              </a:rPr>
              <a:t> </a:t>
            </a:r>
            <a:r>
              <a:rPr sz="919" b="0" dirty="0" err="1">
                <a:solidFill>
                  <a:srgbClr val="000000"/>
                </a:solidFill>
                <a:latin typeface="맑은 고딕"/>
                <a:ea typeface="맑은 고딕"/>
              </a:rPr>
              <a:t>낡음</a:t>
            </a:r>
            <a:r>
              <a:rPr sz="919" b="0" dirty="0">
                <a:solidFill>
                  <a:srgbClr val="000000"/>
                </a:solidFill>
                <a:latin typeface="맑은 고딕"/>
                <a:ea typeface="맑은 고딕"/>
              </a:rPr>
              <a:t> → </a:t>
            </a:r>
            <a:r>
              <a:rPr sz="919" b="0" dirty="0" err="1">
                <a:solidFill>
                  <a:srgbClr val="000000"/>
                </a:solidFill>
                <a:latin typeface="맑은 고딕"/>
                <a:ea typeface="맑은 고딕"/>
              </a:rPr>
              <a:t>goodput</a:t>
            </a:r>
            <a:r>
              <a:rPr sz="919" b="0" dirty="0">
                <a:solidFill>
                  <a:srgbClr val="000000"/>
                </a:solidFill>
                <a:latin typeface="맑은 고딕"/>
                <a:ea typeface="맑은 고딕"/>
              </a:rPr>
              <a:t> </a:t>
            </a:r>
            <a:r>
              <a:rPr sz="919" b="0" dirty="0" err="1">
                <a:solidFill>
                  <a:srgbClr val="000000"/>
                </a:solidFill>
                <a:latin typeface="맑은 고딕"/>
                <a:ea typeface="맑은 고딕"/>
              </a:rPr>
              <a:t>포화</a:t>
            </a:r>
            <a:r>
              <a:rPr sz="919" b="0" dirty="0">
                <a:solidFill>
                  <a:srgbClr val="000000"/>
                </a:solidFill>
                <a:latin typeface="맑은 고딕"/>
                <a:ea typeface="맑은 고딕"/>
              </a:rPr>
              <a:t>.</a:t>
            </a:r>
          </a:p>
        </p:txBody>
      </p:sp>
      <p:sp>
        <p:nvSpPr>
          <p:cNvPr id="7" name="TextBox 6"/>
          <p:cNvSpPr txBox="1"/>
          <p:nvPr/>
        </p:nvSpPr>
        <p:spPr>
          <a:xfrm>
            <a:off x="6126480" y="3822191"/>
            <a:ext cx="5669280" cy="1359346"/>
          </a:xfrm>
          <a:prstGeom prst="rect">
            <a:avLst/>
          </a:prstGeom>
          <a:noFill/>
        </p:spPr>
        <p:txBody>
          <a:bodyPr wrap="square" lIns="73152" tIns="36576" rIns="73152" bIns="36576" anchor="t">
            <a:spAutoFit/>
          </a:bodyPr>
          <a:lstStyle/>
          <a:p>
            <a:pPr algn="l">
              <a:spcAft>
                <a:spcPts val="200"/>
              </a:spcAft>
            </a:pPr>
            <a:r>
              <a:rPr sz="919" b="1" dirty="0" err="1">
                <a:solidFill>
                  <a:srgbClr val="2F5597"/>
                </a:solidFill>
                <a:latin typeface="맑은 고딕"/>
                <a:ea typeface="맑은 고딕"/>
              </a:rPr>
              <a:t>후보</a:t>
            </a:r>
            <a:r>
              <a:rPr sz="919" b="1" dirty="0">
                <a:solidFill>
                  <a:srgbClr val="2F5597"/>
                </a:solidFill>
                <a:latin typeface="맑은 고딕"/>
                <a:ea typeface="맑은 고딕"/>
              </a:rPr>
              <a:t> 1이 </a:t>
            </a:r>
            <a:r>
              <a:rPr sz="919" b="1" dirty="0" err="1">
                <a:solidFill>
                  <a:srgbClr val="2F5597"/>
                </a:solidFill>
                <a:latin typeface="맑은 고딕"/>
                <a:ea typeface="맑은 고딕"/>
              </a:rPr>
              <a:t>높은</a:t>
            </a:r>
            <a:r>
              <a:rPr sz="919" b="1" dirty="0">
                <a:solidFill>
                  <a:srgbClr val="2F5597"/>
                </a:solidFill>
                <a:latin typeface="맑은 고딕"/>
                <a:ea typeface="맑은 고딕"/>
              </a:rPr>
              <a:t> </a:t>
            </a:r>
            <a:r>
              <a:rPr sz="919" b="1" dirty="0" err="1">
                <a:solidFill>
                  <a:srgbClr val="2F5597"/>
                </a:solidFill>
                <a:latin typeface="맑은 고딕"/>
                <a:ea typeface="맑은 고딕"/>
              </a:rPr>
              <a:t>이유와</a:t>
            </a:r>
            <a:r>
              <a:rPr sz="919" b="1" dirty="0">
                <a:solidFill>
                  <a:srgbClr val="2F5597"/>
                </a:solidFill>
                <a:latin typeface="맑은 고딕"/>
                <a:ea typeface="맑은 고딕"/>
              </a:rPr>
              <a:t> </a:t>
            </a:r>
            <a:r>
              <a:rPr sz="919" b="1" dirty="0" err="1">
                <a:solidFill>
                  <a:srgbClr val="2F5597"/>
                </a:solidFill>
                <a:latin typeface="맑은 고딕"/>
                <a:ea typeface="맑은 고딕"/>
              </a:rPr>
              <a:t>한계</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K8s </a:t>
            </a:r>
            <a:r>
              <a:rPr sz="919" b="0" dirty="0" err="1">
                <a:solidFill>
                  <a:srgbClr val="000000"/>
                </a:solidFill>
                <a:latin typeface="맑은 고딕"/>
                <a:ea typeface="맑은 고딕"/>
              </a:rPr>
              <a:t>복제·서버</a:t>
            </a:r>
            <a:r>
              <a:rPr sz="919" b="0" dirty="0">
                <a:solidFill>
                  <a:srgbClr val="000000"/>
                </a:solidFill>
                <a:latin typeface="맑은 고딕"/>
                <a:ea typeface="맑은 고딕"/>
              </a:rPr>
              <a:t> </a:t>
            </a:r>
            <a:r>
              <a:rPr sz="919" b="0" dirty="0" err="1">
                <a:solidFill>
                  <a:srgbClr val="000000"/>
                </a:solidFill>
                <a:latin typeface="맑은 고딕"/>
                <a:ea typeface="맑은 고딕"/>
              </a:rPr>
              <a:t>풀·흐름</a:t>
            </a:r>
            <a:r>
              <a:rPr sz="919" b="0" dirty="0">
                <a:solidFill>
                  <a:srgbClr val="000000"/>
                </a:solidFill>
                <a:latin typeface="맑은 고딕"/>
                <a:ea typeface="맑은 고딕"/>
              </a:rPr>
              <a:t> </a:t>
            </a:r>
            <a:r>
              <a:rPr sz="919" b="0" dirty="0" err="1">
                <a:solidFill>
                  <a:srgbClr val="000000"/>
                </a:solidFill>
                <a:latin typeface="맑은 고딕"/>
                <a:ea typeface="맑은 고딕"/>
              </a:rPr>
              <a:t>제어가</a:t>
            </a:r>
            <a:r>
              <a:rPr sz="919" b="0" dirty="0">
                <a:solidFill>
                  <a:srgbClr val="000000"/>
                </a:solidFill>
                <a:latin typeface="맑은 고딕"/>
                <a:ea typeface="맑은 고딕"/>
              </a:rPr>
              <a:t> </a:t>
            </a:r>
            <a:r>
              <a:rPr sz="919" b="0" dirty="0" err="1">
                <a:solidFill>
                  <a:srgbClr val="000000"/>
                </a:solidFill>
                <a:latin typeface="맑은 고딕"/>
                <a:ea typeface="맑은 고딕"/>
              </a:rPr>
              <a:t>검증된</a:t>
            </a:r>
            <a:r>
              <a:rPr sz="919" b="0" dirty="0">
                <a:solidFill>
                  <a:srgbClr val="000000"/>
                </a:solidFill>
                <a:latin typeface="맑은 고딕"/>
                <a:ea typeface="맑은 고딕"/>
              </a:rPr>
              <a:t> </a:t>
            </a:r>
            <a:r>
              <a:rPr sz="919" b="0" dirty="0" err="1">
                <a:solidFill>
                  <a:srgbClr val="000000"/>
                </a:solidFill>
                <a:latin typeface="맑은 고딕"/>
                <a:ea typeface="맑은 고딕"/>
              </a:rPr>
              <a:t>경로이고</a:t>
            </a:r>
            <a:r>
              <a:rPr sz="919" b="0" dirty="0">
                <a:solidFill>
                  <a:srgbClr val="000000"/>
                </a:solidFill>
                <a:latin typeface="맑은 고딕"/>
                <a:ea typeface="맑은 고딕"/>
              </a:rPr>
              <a:t> </a:t>
            </a:r>
            <a:r>
              <a:rPr sz="919" b="0" dirty="0" err="1">
                <a:solidFill>
                  <a:srgbClr val="000000"/>
                </a:solidFill>
                <a:latin typeface="맑은 고딕"/>
                <a:ea typeface="맑은 고딕"/>
              </a:rPr>
              <a:t>Router가</a:t>
            </a:r>
            <a:r>
              <a:rPr sz="919" b="0" dirty="0">
                <a:solidFill>
                  <a:srgbClr val="000000"/>
                </a:solidFill>
                <a:latin typeface="맑은 고딕"/>
                <a:ea typeface="맑은 고딕"/>
              </a:rPr>
              <a:t> P/D </a:t>
            </a:r>
            <a:r>
              <a:rPr sz="919" b="0" dirty="0" err="1">
                <a:solidFill>
                  <a:srgbClr val="000000"/>
                </a:solidFill>
                <a:latin typeface="맑은 고딕"/>
                <a:ea typeface="맑은 고딕"/>
              </a:rPr>
              <a:t>데이터</a:t>
            </a:r>
            <a:r>
              <a:rPr sz="919" b="0" dirty="0">
                <a:solidFill>
                  <a:srgbClr val="000000"/>
                </a:solidFill>
                <a:latin typeface="맑은 고딕"/>
                <a:ea typeface="맑은 고딕"/>
              </a:rPr>
              <a:t> </a:t>
            </a:r>
            <a:r>
              <a:rPr sz="919" b="0" dirty="0" err="1">
                <a:solidFill>
                  <a:srgbClr val="000000"/>
                </a:solidFill>
                <a:latin typeface="맑은 고딕"/>
                <a:ea typeface="맑은 고딕"/>
              </a:rPr>
              <a:t>경로</a:t>
            </a:r>
            <a:r>
              <a:rPr sz="919" b="0" dirty="0">
                <a:solidFill>
                  <a:srgbClr val="000000"/>
                </a:solidFill>
                <a:latin typeface="맑은 고딕"/>
                <a:ea typeface="맑은 고딕"/>
              </a:rPr>
              <a:t> </a:t>
            </a:r>
            <a:r>
              <a:rPr sz="919" b="0" dirty="0" err="1">
                <a:solidFill>
                  <a:srgbClr val="000000"/>
                </a:solidFill>
                <a:latin typeface="맑은 고딕"/>
                <a:ea typeface="맑은 고딕"/>
              </a:rPr>
              <a:t>밖이다</a:t>
            </a:r>
            <a:r>
              <a:rPr sz="919" b="0" dirty="0">
                <a:solidFill>
                  <a:srgbClr val="000000"/>
                </a:solidFill>
                <a:latin typeface="맑은 고딕"/>
                <a:ea typeface="맑은 고딕"/>
              </a:rPr>
              <a:t>.</a:t>
            </a:r>
          </a:p>
          <a:p>
            <a:pPr algn="l">
              <a:spcAft>
                <a:spcPts val="200"/>
              </a:spcAft>
            </a:pPr>
            <a:r>
              <a:rPr sz="919" b="1" dirty="0" err="1">
                <a:solidFill>
                  <a:srgbClr val="C00000"/>
                </a:solidFill>
                <a:latin typeface="맑은 고딕"/>
                <a:ea typeface="맑은 고딕"/>
              </a:rPr>
              <a:t>정직한</a:t>
            </a:r>
            <a:r>
              <a:rPr sz="919" b="1" dirty="0">
                <a:solidFill>
                  <a:srgbClr val="C00000"/>
                </a:solidFill>
                <a:latin typeface="맑은 고딕"/>
                <a:ea typeface="맑은 고딕"/>
              </a:rPr>
              <a:t> </a:t>
            </a:r>
            <a:r>
              <a:rPr sz="919" b="1" dirty="0" err="1">
                <a:solidFill>
                  <a:srgbClr val="C00000"/>
                </a:solidFill>
                <a:latin typeface="맑은 고딕"/>
                <a:ea typeface="맑은 고딕"/>
              </a:rPr>
              <a:t>주의</a:t>
            </a:r>
            <a:endParaRPr sz="919" b="1" dirty="0">
              <a:solidFill>
                <a:srgbClr val="C00000"/>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후보</a:t>
            </a:r>
            <a:r>
              <a:rPr sz="919" b="0" dirty="0">
                <a:solidFill>
                  <a:srgbClr val="000000"/>
                </a:solidFill>
                <a:latin typeface="맑은 고딕"/>
                <a:ea typeface="맑은 고딕"/>
              </a:rPr>
              <a:t> 1의 </a:t>
            </a:r>
            <a:r>
              <a:rPr sz="919" b="0" dirty="0" err="1">
                <a:solidFill>
                  <a:srgbClr val="000000"/>
                </a:solidFill>
                <a:latin typeface="맑은 고딕"/>
                <a:ea typeface="맑은 고딕"/>
              </a:rPr>
              <a:t>Router도</a:t>
            </a:r>
            <a:r>
              <a:rPr sz="919" b="0" dirty="0">
                <a:solidFill>
                  <a:srgbClr val="000000"/>
                </a:solidFill>
                <a:latin typeface="맑은 고딕"/>
                <a:ea typeface="맑은 고딕"/>
              </a:rPr>
              <a:t> </a:t>
            </a:r>
            <a:r>
              <a:rPr sz="919" b="0" dirty="0" err="1">
                <a:solidFill>
                  <a:srgbClr val="000000"/>
                </a:solidFill>
                <a:latin typeface="맑은 고딕"/>
                <a:ea typeface="맑은 고딕"/>
              </a:rPr>
              <a:t>전체</a:t>
            </a:r>
            <a:r>
              <a:rPr sz="919" b="0" dirty="0">
                <a:solidFill>
                  <a:srgbClr val="000000"/>
                </a:solidFill>
                <a:latin typeface="맑은 고딕"/>
                <a:ea typeface="맑은 고딕"/>
              </a:rPr>
              <a:t> </a:t>
            </a:r>
            <a:r>
              <a:rPr sz="919" b="0" dirty="0" err="1">
                <a:solidFill>
                  <a:srgbClr val="000000"/>
                </a:solidFill>
                <a:latin typeface="맑은 고딕"/>
                <a:ea typeface="맑은 고딕"/>
              </a:rPr>
              <a:t>이벤트를</a:t>
            </a:r>
            <a:r>
              <a:rPr sz="919" b="0" dirty="0">
                <a:solidFill>
                  <a:srgbClr val="000000"/>
                </a:solidFill>
                <a:latin typeface="맑은 고딕"/>
                <a:ea typeface="맑은 고딕"/>
              </a:rPr>
              <a:t> </a:t>
            </a:r>
            <a:r>
              <a:rPr sz="919" b="0" dirty="0" err="1">
                <a:solidFill>
                  <a:srgbClr val="000000"/>
                </a:solidFill>
                <a:latin typeface="맑은 고딕"/>
                <a:ea typeface="맑은 고딕"/>
              </a:rPr>
              <a:t>처리하는</a:t>
            </a:r>
            <a:r>
              <a:rPr sz="919" b="0" dirty="0">
                <a:solidFill>
                  <a:srgbClr val="000000"/>
                </a:solidFill>
                <a:latin typeface="맑은 고딕"/>
                <a:ea typeface="맑은 고딕"/>
              </a:rPr>
              <a:t> </a:t>
            </a:r>
            <a:r>
              <a:rPr sz="919" b="0" dirty="0" err="1">
                <a:solidFill>
                  <a:srgbClr val="000000"/>
                </a:solidFill>
                <a:latin typeface="맑은 고딕"/>
                <a:ea typeface="맑은 고딕"/>
              </a:rPr>
              <a:t>구조라</a:t>
            </a:r>
            <a:r>
              <a:rPr sz="919" b="0" dirty="0">
                <a:solidFill>
                  <a:srgbClr val="000000"/>
                </a:solidFill>
                <a:latin typeface="맑은 고딕"/>
                <a:ea typeface="맑은 고딕"/>
              </a:rPr>
              <a:t> </a:t>
            </a:r>
            <a:r>
              <a:rPr sz="919" b="0" dirty="0" err="1">
                <a:solidFill>
                  <a:srgbClr val="000000"/>
                </a:solidFill>
                <a:latin typeface="맑은 고딕"/>
                <a:ea typeface="맑은 고딕"/>
              </a:rPr>
              <a:t>비슷한</a:t>
            </a:r>
            <a:r>
              <a:rPr sz="919" b="0" dirty="0">
                <a:solidFill>
                  <a:srgbClr val="000000"/>
                </a:solidFill>
                <a:latin typeface="맑은 고딕"/>
                <a:ea typeface="맑은 고딕"/>
              </a:rPr>
              <a:t> </a:t>
            </a:r>
            <a:r>
              <a:rPr sz="919" b="0" dirty="0" err="1">
                <a:solidFill>
                  <a:srgbClr val="000000"/>
                </a:solidFill>
                <a:latin typeface="맑은 고딕"/>
                <a:ea typeface="맑은 고딕"/>
              </a:rPr>
              <a:t>한계가</a:t>
            </a:r>
            <a:r>
              <a:rPr sz="919" b="0" dirty="0">
                <a:solidFill>
                  <a:srgbClr val="000000"/>
                </a:solidFill>
                <a:latin typeface="맑은 고딕"/>
                <a:ea typeface="맑은 고딕"/>
              </a:rPr>
              <a:t> </a:t>
            </a:r>
            <a:r>
              <a:rPr sz="919" b="0" dirty="0" err="1">
                <a:solidFill>
                  <a:srgbClr val="000000"/>
                </a:solidFill>
                <a:latin typeface="맑은 고딕"/>
                <a:ea typeface="맑은 고딕"/>
              </a:rPr>
              <a:t>있을</a:t>
            </a:r>
            <a:r>
              <a:rPr sz="919" b="0" dirty="0">
                <a:solidFill>
                  <a:srgbClr val="000000"/>
                </a:solidFill>
                <a:latin typeface="맑은 고딕"/>
                <a:ea typeface="맑은 고딕"/>
              </a:rPr>
              <a:t> 수 </a:t>
            </a:r>
            <a:r>
              <a:rPr sz="919" b="0" dirty="0" err="1">
                <a:solidFill>
                  <a:srgbClr val="000000"/>
                </a:solidFill>
                <a:latin typeface="맑은 고딕"/>
                <a:ea typeface="맑은 고딕"/>
              </a:rPr>
              <a:t>있다</a:t>
            </a:r>
            <a:r>
              <a:rPr sz="919" b="0" dirty="0">
                <a:solidFill>
                  <a:srgbClr val="000000"/>
                </a:solidFill>
                <a:latin typeface="맑은 고딕"/>
                <a:ea typeface="맑은 고딕"/>
              </a:rPr>
              <a:t> .</a:t>
            </a:r>
          </a:p>
          <a:p>
            <a:pPr algn="l">
              <a:spcAft>
                <a:spcPts val="200"/>
              </a:spcAft>
            </a:pPr>
            <a:r>
              <a:rPr sz="919" b="0" dirty="0">
                <a:solidFill>
                  <a:srgbClr val="000000"/>
                </a:solidFill>
                <a:latin typeface="맑은 고딕"/>
                <a:ea typeface="맑은 고딕"/>
              </a:rPr>
              <a:t>• 90%는 HPC </a:t>
            </a:r>
            <a:r>
              <a:rPr sz="919" b="0" dirty="0" err="1">
                <a:solidFill>
                  <a:srgbClr val="000000"/>
                </a:solidFill>
                <a:latin typeface="맑은 고딕"/>
                <a:ea typeface="맑은 고딕"/>
              </a:rPr>
              <a:t>보고</a:t>
            </a:r>
            <a:r>
              <a:rPr sz="919" b="0" dirty="0">
                <a:solidFill>
                  <a:srgbClr val="000000"/>
                </a:solidFill>
                <a:latin typeface="맑은 고딕"/>
                <a:ea typeface="맑은 고딕"/>
              </a:rPr>
              <a:t> </a:t>
            </a:r>
            <a:r>
              <a:rPr sz="919" b="0" dirty="0" err="1">
                <a:solidFill>
                  <a:srgbClr val="000000"/>
                </a:solidFill>
                <a:latin typeface="맑은 고딕"/>
                <a:ea typeface="맑은 고딕"/>
              </a:rPr>
              <a:t>관행이지</a:t>
            </a:r>
            <a:r>
              <a:rPr sz="919" b="0" dirty="0">
                <a:solidFill>
                  <a:srgbClr val="000000"/>
                </a:solidFill>
                <a:latin typeface="맑은 고딕"/>
                <a:ea typeface="맑은 고딕"/>
              </a:rPr>
              <a:t> </a:t>
            </a:r>
            <a:r>
              <a:rPr sz="919" b="0" dirty="0" err="1">
                <a:solidFill>
                  <a:srgbClr val="000000"/>
                </a:solidFill>
                <a:latin typeface="맑은 고딕"/>
                <a:ea typeface="맑은 고딕"/>
              </a:rPr>
              <a:t>공식</a:t>
            </a:r>
            <a:r>
              <a:rPr sz="919" b="0" dirty="0">
                <a:solidFill>
                  <a:srgbClr val="000000"/>
                </a:solidFill>
                <a:latin typeface="맑은 고딕"/>
                <a:ea typeface="맑은 고딕"/>
              </a:rPr>
              <a:t> </a:t>
            </a:r>
            <a:r>
              <a:rPr sz="919" b="0" dirty="0" err="1">
                <a:solidFill>
                  <a:srgbClr val="000000"/>
                </a:solidFill>
                <a:latin typeface="맑은 고딕"/>
                <a:ea typeface="맑은 고딕"/>
              </a:rPr>
              <a:t>표준이</a:t>
            </a:r>
            <a:r>
              <a:rPr sz="919" b="0" dirty="0">
                <a:solidFill>
                  <a:srgbClr val="000000"/>
                </a:solidFill>
                <a:latin typeface="맑은 고딕"/>
                <a:ea typeface="맑은 고딕"/>
              </a:rPr>
              <a:t> </a:t>
            </a:r>
            <a:r>
              <a:rPr sz="919" b="0" dirty="0" err="1">
                <a:solidFill>
                  <a:srgbClr val="000000"/>
                </a:solidFill>
                <a:latin typeface="맑은 고딕"/>
                <a:ea typeface="맑은 고딕"/>
              </a:rPr>
              <a:t>아니다</a:t>
            </a:r>
            <a:r>
              <a:rPr sz="919" b="0" dirty="0">
                <a:solidFill>
                  <a:srgbClr val="000000"/>
                </a:solidFill>
                <a:latin typeface="맑은 고딕"/>
                <a:ea typeface="맑은 고딕"/>
              </a:rPr>
              <a:t>(</a:t>
            </a:r>
            <a:r>
              <a:rPr sz="919" b="0" dirty="0" err="1">
                <a:solidFill>
                  <a:srgbClr val="000000"/>
                </a:solidFill>
                <a:latin typeface="맑은 고딕"/>
                <a:ea typeface="맑은 고딕"/>
              </a:rPr>
              <a:t>검색에서</a:t>
            </a:r>
            <a:r>
              <a:rPr sz="919" b="0" dirty="0">
                <a:solidFill>
                  <a:srgbClr val="000000"/>
                </a:solidFill>
                <a:latin typeface="맑은 고딕"/>
                <a:ea typeface="맑은 고딕"/>
              </a:rPr>
              <a:t> </a:t>
            </a:r>
            <a:r>
              <a:rPr sz="919" b="0" dirty="0" err="1">
                <a:solidFill>
                  <a:srgbClr val="000000"/>
                </a:solidFill>
                <a:latin typeface="맑은 고딕"/>
                <a:ea typeface="맑은 고딕"/>
              </a:rPr>
              <a:t>공식</a:t>
            </a:r>
            <a:r>
              <a:rPr sz="919" b="0" dirty="0">
                <a:solidFill>
                  <a:srgbClr val="000000"/>
                </a:solidFill>
                <a:latin typeface="맑은 고딕"/>
                <a:ea typeface="맑은 고딕"/>
              </a:rPr>
              <a:t> </a:t>
            </a:r>
            <a:r>
              <a:rPr sz="919" b="0" dirty="0" err="1">
                <a:solidFill>
                  <a:srgbClr val="000000"/>
                </a:solidFill>
                <a:latin typeface="맑은 고딕"/>
                <a:ea typeface="맑은 고딕"/>
              </a:rPr>
              <a:t>기준은</a:t>
            </a:r>
            <a:r>
              <a:rPr sz="919" b="0" dirty="0">
                <a:solidFill>
                  <a:srgbClr val="000000"/>
                </a:solidFill>
                <a:latin typeface="맑은 고딕"/>
                <a:ea typeface="맑은 고딕"/>
              </a:rPr>
              <a:t> </a:t>
            </a:r>
            <a:r>
              <a:rPr sz="919" b="0" dirty="0" err="1">
                <a:solidFill>
                  <a:srgbClr val="000000"/>
                </a:solidFill>
                <a:latin typeface="맑은 고딕"/>
                <a:ea typeface="맑은 고딕"/>
              </a:rPr>
              <a:t>찾지</a:t>
            </a:r>
            <a:r>
              <a:rPr sz="919" b="0" dirty="0">
                <a:solidFill>
                  <a:srgbClr val="000000"/>
                </a:solidFill>
                <a:latin typeface="맑은 고딕"/>
                <a:ea typeface="맑은 고딕"/>
              </a:rPr>
              <a:t> </a:t>
            </a:r>
            <a:r>
              <a:rPr sz="919" b="0" dirty="0" err="1">
                <a:solidFill>
                  <a:srgbClr val="000000"/>
                </a:solidFill>
                <a:latin typeface="맑은 고딕"/>
                <a:ea typeface="맑은 고딕"/>
              </a:rPr>
              <a:t>못함</a:t>
            </a:r>
            <a:r>
              <a:rPr sz="919" b="0" dirty="0">
                <a:solidFill>
                  <a:srgbClr val="000000"/>
                </a:solidFill>
                <a:latin typeface="맑은 고딕"/>
                <a:ea typeface="맑은 고딕"/>
              </a:rPr>
              <a:t>).</a:t>
            </a:r>
          </a:p>
          <a:p>
            <a:pPr algn="l">
              <a:spcAft>
                <a:spcPts val="200"/>
              </a:spcAft>
            </a:pPr>
            <a:r>
              <a:rPr sz="919" b="1" dirty="0" err="1">
                <a:solidFill>
                  <a:srgbClr val="2F5597"/>
                </a:solidFill>
                <a:latin typeface="맑은 고딕"/>
                <a:ea typeface="맑은 고딕"/>
              </a:rPr>
              <a:t>보완</a:t>
            </a:r>
            <a:r>
              <a:rPr sz="919" b="1" dirty="0">
                <a:solidFill>
                  <a:srgbClr val="2F5597"/>
                </a:solidFill>
                <a:latin typeface="맑은 고딕"/>
                <a:ea typeface="맑은 고딕"/>
              </a:rPr>
              <a:t> </a:t>
            </a:r>
            <a:r>
              <a:rPr sz="919" b="1" dirty="0" err="1">
                <a:solidFill>
                  <a:srgbClr val="2F5597"/>
                </a:solidFill>
                <a:latin typeface="맑은 고딕"/>
                <a:ea typeface="맑은 고딕"/>
              </a:rPr>
              <a:t>가능성</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서버를</a:t>
            </a:r>
            <a:r>
              <a:rPr sz="919" b="0" dirty="0">
                <a:solidFill>
                  <a:srgbClr val="000000"/>
                </a:solidFill>
                <a:latin typeface="맑은 고딕"/>
                <a:ea typeface="맑은 고딕"/>
              </a:rPr>
              <a:t> </a:t>
            </a:r>
            <a:r>
              <a:rPr sz="919" b="0" dirty="0" err="1">
                <a:solidFill>
                  <a:srgbClr val="000000"/>
                </a:solidFill>
                <a:latin typeface="맑은 고딕"/>
                <a:ea typeface="맑은 고딕"/>
              </a:rPr>
              <a:t>레플리카에</a:t>
            </a:r>
            <a:r>
              <a:rPr sz="919" b="0" dirty="0">
                <a:solidFill>
                  <a:srgbClr val="000000"/>
                </a:solidFill>
                <a:latin typeface="맑은 고딕"/>
                <a:ea typeface="맑은 고딕"/>
              </a:rPr>
              <a:t> </a:t>
            </a:r>
            <a:r>
              <a:rPr sz="919" b="0" dirty="0" err="1">
                <a:solidFill>
                  <a:srgbClr val="000000"/>
                </a:solidFill>
                <a:latin typeface="맑은 고딕"/>
                <a:ea typeface="맑은 고딕"/>
              </a:rPr>
              <a:t>나눠</a:t>
            </a:r>
            <a:r>
              <a:rPr sz="919" b="0" dirty="0">
                <a:solidFill>
                  <a:srgbClr val="000000"/>
                </a:solidFill>
                <a:latin typeface="맑은 고딕"/>
                <a:ea typeface="맑은 고딕"/>
              </a:rPr>
              <a:t> </a:t>
            </a:r>
            <a:r>
              <a:rPr sz="919" b="0" dirty="0" err="1">
                <a:solidFill>
                  <a:srgbClr val="000000"/>
                </a:solidFill>
                <a:latin typeface="맑은 고딕"/>
                <a:ea typeface="맑은 고딕"/>
              </a:rPr>
              <a:t>맡기는</a:t>
            </a:r>
            <a:r>
              <a:rPr sz="919" b="0" dirty="0">
                <a:solidFill>
                  <a:srgbClr val="000000"/>
                </a:solidFill>
                <a:latin typeface="맑은 고딕"/>
                <a:ea typeface="맑은 고딕"/>
              </a:rPr>
              <a:t> </a:t>
            </a:r>
            <a:r>
              <a:rPr sz="919" b="0" dirty="0" err="1">
                <a:solidFill>
                  <a:srgbClr val="000000"/>
                </a:solidFill>
                <a:latin typeface="맑은 고딕"/>
                <a:ea typeface="맑은 고딕"/>
              </a:rPr>
              <a:t>샤딩</a:t>
            </a:r>
            <a:r>
              <a:rPr sz="919" b="0" dirty="0">
                <a:solidFill>
                  <a:srgbClr val="000000"/>
                </a:solidFill>
                <a:latin typeface="맑은 고딕"/>
                <a:ea typeface="맑은 고딕"/>
              </a:rPr>
              <a:t> </a:t>
            </a:r>
            <a:r>
              <a:rPr sz="919" b="0" dirty="0" err="1">
                <a:solidFill>
                  <a:srgbClr val="000000"/>
                </a:solidFill>
                <a:latin typeface="맑은 고딕"/>
                <a:ea typeface="맑은 고딕"/>
              </a:rPr>
              <a:t>구조</a:t>
            </a:r>
            <a:r>
              <a:rPr sz="919" b="0" dirty="0">
                <a:solidFill>
                  <a:srgbClr val="000000"/>
                </a:solidFill>
                <a:latin typeface="맑은 고딕"/>
                <a:ea typeface="맑은 고딕"/>
              </a:rPr>
              <a:t>(</a:t>
            </a:r>
            <a:r>
              <a:rPr sz="919" b="0" dirty="0" err="1">
                <a:solidFill>
                  <a:srgbClr val="000000"/>
                </a:solidFill>
                <a:latin typeface="맑은 고딕"/>
                <a:ea typeface="맑은 고딕"/>
              </a:rPr>
              <a:t>설계</a:t>
            </a:r>
            <a:r>
              <a:rPr sz="919" b="0" dirty="0">
                <a:solidFill>
                  <a:srgbClr val="000000"/>
                </a:solidFill>
                <a:latin typeface="맑은 고딕"/>
                <a:ea typeface="맑은 고딕"/>
              </a:rPr>
              <a:t> </a:t>
            </a:r>
            <a:r>
              <a:rPr sz="919" b="0" dirty="0" err="1">
                <a:solidFill>
                  <a:srgbClr val="000000"/>
                </a:solidFill>
                <a:latin typeface="맑은 고딕"/>
                <a:ea typeface="맑은 고딕"/>
              </a:rPr>
              <a:t>문서</a:t>
            </a:r>
            <a:r>
              <a:rPr sz="919" b="0" dirty="0">
                <a:solidFill>
                  <a:srgbClr val="000000"/>
                </a:solidFill>
                <a:latin typeface="맑은 고딕"/>
                <a:ea typeface="맑은 고딕"/>
              </a:rPr>
              <a:t> </a:t>
            </a:r>
            <a:r>
              <a:rPr sz="919" b="0" dirty="0" err="1">
                <a:solidFill>
                  <a:srgbClr val="000000"/>
                </a:solidFill>
                <a:latin typeface="맑은 고딕"/>
                <a:ea typeface="맑은 고딕"/>
              </a:rPr>
              <a:t>다음</a:t>
            </a:r>
            <a:r>
              <a:rPr sz="919" b="0" dirty="0">
                <a:solidFill>
                  <a:srgbClr val="000000"/>
                </a:solidFill>
                <a:latin typeface="맑은 고딕"/>
                <a:ea typeface="맑은 고딕"/>
              </a:rPr>
              <a:t> 장)로 70% </a:t>
            </a:r>
            <a:r>
              <a:rPr sz="919" b="0" dirty="0" err="1">
                <a:solidFill>
                  <a:srgbClr val="000000"/>
                </a:solidFill>
                <a:latin typeface="맑은 고딕"/>
                <a:ea typeface="맑은 고딕"/>
              </a:rPr>
              <a:t>경계를</a:t>
            </a:r>
            <a:r>
              <a:rPr sz="919" b="0" dirty="0">
                <a:solidFill>
                  <a:srgbClr val="000000"/>
                </a:solidFill>
                <a:latin typeface="맑은 고딕"/>
                <a:ea typeface="맑은 고딕"/>
              </a:rPr>
              <a:t> </a:t>
            </a:r>
            <a:r>
              <a:rPr sz="919" b="0" dirty="0" err="1">
                <a:solidFill>
                  <a:srgbClr val="000000"/>
                </a:solidFill>
                <a:latin typeface="맑은 고딕"/>
                <a:ea typeface="맑은 고딕"/>
              </a:rPr>
              <a:t>넘길</a:t>
            </a:r>
            <a:r>
              <a:rPr sz="919" b="0" dirty="0">
                <a:solidFill>
                  <a:srgbClr val="000000"/>
                </a:solidFill>
                <a:latin typeface="맑은 고딕"/>
                <a:ea typeface="맑은 고딕"/>
              </a:rPr>
              <a:t> </a:t>
            </a:r>
            <a:r>
              <a:rPr sz="919" b="0" dirty="0" err="1">
                <a:solidFill>
                  <a:srgbClr val="000000"/>
                </a:solidFill>
                <a:latin typeface="맑은 고딕"/>
                <a:ea typeface="맑은 고딕"/>
              </a:rPr>
              <a:t>여지가</a:t>
            </a:r>
            <a:r>
              <a:rPr sz="919" b="0" dirty="0">
                <a:solidFill>
                  <a:srgbClr val="000000"/>
                </a:solidFill>
                <a:latin typeface="맑은 고딕"/>
                <a:ea typeface="맑은 고딕"/>
              </a:rPr>
              <a:t> </a:t>
            </a:r>
            <a:r>
              <a:rPr sz="919" b="0" dirty="0" err="1">
                <a:solidFill>
                  <a:srgbClr val="000000"/>
                </a:solidFill>
                <a:latin typeface="맑은 고딕"/>
                <a:ea typeface="맑은 고딕"/>
              </a:rPr>
              <a:t>있다</a:t>
            </a:r>
            <a:r>
              <a:rPr sz="919" b="0" dirty="0">
                <a:solidFill>
                  <a:srgbClr val="000000"/>
                </a:solidFill>
                <a:latin typeface="맑은 고딕"/>
                <a:ea typeface="맑은 고딕"/>
              </a:rPr>
              <a:t>. 이 </a:t>
            </a:r>
            <a:r>
              <a:rPr sz="919" b="0" dirty="0" err="1">
                <a:solidFill>
                  <a:srgbClr val="000000"/>
                </a:solidFill>
                <a:latin typeface="맑은 고딕"/>
                <a:ea typeface="맑은 고딕"/>
              </a:rPr>
              <a:t>장의</a:t>
            </a:r>
            <a:r>
              <a:rPr sz="919" b="0" dirty="0">
                <a:solidFill>
                  <a:srgbClr val="000000"/>
                </a:solidFill>
                <a:latin typeface="맑은 고딕"/>
                <a:ea typeface="맑은 고딕"/>
              </a:rPr>
              <a:t> 별(★)은 </a:t>
            </a:r>
            <a:r>
              <a:rPr sz="919" b="0" dirty="0" err="1">
                <a:solidFill>
                  <a:srgbClr val="000000"/>
                </a:solidFill>
                <a:latin typeface="맑은 고딕"/>
                <a:ea typeface="맑은 고딕"/>
              </a:rPr>
              <a:t>보완</a:t>
            </a:r>
            <a:r>
              <a:rPr sz="919" b="0" dirty="0">
                <a:solidFill>
                  <a:srgbClr val="000000"/>
                </a:solidFill>
                <a:latin typeface="맑은 고딕"/>
                <a:ea typeface="맑은 고딕"/>
              </a:rPr>
              <a:t> 전 </a:t>
            </a:r>
            <a:r>
              <a:rPr sz="919" b="0" dirty="0" err="1">
                <a:solidFill>
                  <a:srgbClr val="000000"/>
                </a:solidFill>
                <a:latin typeface="맑은 고딕"/>
                <a:ea typeface="맑은 고딕"/>
              </a:rPr>
              <a:t>현재</a:t>
            </a:r>
            <a:r>
              <a:rPr sz="919" b="0" dirty="0">
                <a:solidFill>
                  <a:srgbClr val="000000"/>
                </a:solidFill>
                <a:latin typeface="맑은 고딕"/>
                <a:ea typeface="맑은 고딕"/>
              </a:rPr>
              <a:t> </a:t>
            </a:r>
            <a:r>
              <a:rPr sz="919" b="0" dirty="0" err="1">
                <a:solidFill>
                  <a:srgbClr val="000000"/>
                </a:solidFill>
                <a:latin typeface="맑은 고딕"/>
                <a:ea typeface="맑은 고딕"/>
              </a:rPr>
              <a:t>설계</a:t>
            </a:r>
            <a:r>
              <a:rPr sz="919" b="0" dirty="0">
                <a:solidFill>
                  <a:srgbClr val="000000"/>
                </a:solidFill>
                <a:latin typeface="맑은 고딕"/>
                <a:ea typeface="맑은 고딕"/>
              </a:rPr>
              <a:t> </a:t>
            </a:r>
            <a:r>
              <a:rPr sz="919" b="0" dirty="0" err="1">
                <a:solidFill>
                  <a:srgbClr val="000000"/>
                </a:solidFill>
                <a:latin typeface="맑은 고딕"/>
                <a:ea typeface="맑은 고딕"/>
              </a:rPr>
              <a:t>기준</a:t>
            </a:r>
            <a:r>
              <a:rPr sz="919" b="0" dirty="0">
                <a:solidFill>
                  <a:srgbClr val="000000"/>
                </a:solidFill>
                <a:latin typeface="맑은 고딕"/>
                <a:ea typeface="맑은 고딕"/>
              </a:rPr>
              <a:t>.</a:t>
            </a:r>
          </a:p>
        </p:txBody>
      </p:sp>
      <p:sp>
        <p:nvSpPr>
          <p:cNvPr id="8" name="TextBox 7"/>
          <p:cNvSpPr txBox="1"/>
          <p:nvPr/>
        </p:nvSpPr>
        <p:spPr>
          <a:xfrm>
            <a:off x="365760" y="6236208"/>
            <a:ext cx="11430000" cy="274320"/>
          </a:xfrm>
          <a:prstGeom prst="rect">
            <a:avLst/>
          </a:prstGeom>
          <a:noFill/>
        </p:spPr>
        <p:txBody>
          <a:bodyPr wrap="square" lIns="73152" tIns="36576" rIns="73152" bIns="36576" anchor="t">
            <a:spAutoFit/>
          </a:bodyPr>
          <a:lstStyle/>
          <a:p>
            <a:pPr algn="l">
              <a:spcAft>
                <a:spcPts val="200"/>
              </a:spcAft>
            </a:pPr>
            <a:r>
              <a:rPr sz="750" b="1">
                <a:solidFill>
                  <a:srgbClr val="000000"/>
                </a:solidFill>
                <a:latin typeface="맑은 고딕"/>
                <a:ea typeface="맑은 고딕"/>
              </a:rPr>
              <a:t>출처: </a:t>
            </a:r>
            <a:r>
              <a:rPr sz="750" b="0">
                <a:solidFill>
                  <a:srgbClr val="404040"/>
                </a:solidFill>
                <a:latin typeface="맑은 고딕"/>
                <a:ea typeface="맑은 고딕"/>
              </a:rPr>
              <a:t>cvw.cac.cornell.edu/parallel/efficiency/scaling · arxiv.org/abs/1704.03329 · arxiv.org/abs/2409.16053 [모두 검색 확인, 90% 공식 기준은 아님]</a:t>
            </a:r>
          </a:p>
        </p:txBody>
      </p:sp>
      <p:graphicFrame>
        <p:nvGraphicFramePr>
          <p:cNvPr id="10" name="Table 6"/>
          <p:cNvGraphicFramePr>
            <a:graphicFrameLocks noGrp="1"/>
          </p:cNvGraphicFramePr>
          <p:nvPr/>
        </p:nvGraphicFramePr>
        <p:xfrm>
          <a:off x="427129" y="4042599"/>
          <a:ext cx="5028587" cy="1014217"/>
        </p:xfrm>
        <a:graphic>
          <a:graphicData uri="http://schemas.openxmlformats.org/drawingml/2006/table">
            <a:tbl>
              <a:tblPr>
                <a:tableStyleId>{5940675A-B579-460E-94D1-54222C63F5DA}</a:tableStyleId>
              </a:tblPr>
              <a:tblGrid>
                <a:gridCol w="1547257">
                  <a:extLst>
                    <a:ext uri="{9D8B030D-6E8A-4147-A177-3AD203B41FA5}">
                      <a16:colId xmlns:a16="http://schemas.microsoft.com/office/drawing/2014/main" val="20000"/>
                    </a:ext>
                  </a:extLst>
                </a:gridCol>
                <a:gridCol w="696266">
                  <a:extLst>
                    <a:ext uri="{9D8B030D-6E8A-4147-A177-3AD203B41FA5}">
                      <a16:colId xmlns:a16="http://schemas.microsoft.com/office/drawing/2014/main" val="20001"/>
                    </a:ext>
                  </a:extLst>
                </a:gridCol>
                <a:gridCol w="618903">
                  <a:extLst>
                    <a:ext uri="{9D8B030D-6E8A-4147-A177-3AD203B41FA5}">
                      <a16:colId xmlns:a16="http://schemas.microsoft.com/office/drawing/2014/main" val="20002"/>
                    </a:ext>
                  </a:extLst>
                </a:gridCol>
                <a:gridCol w="618903">
                  <a:extLst>
                    <a:ext uri="{9D8B030D-6E8A-4147-A177-3AD203B41FA5}">
                      <a16:colId xmlns:a16="http://schemas.microsoft.com/office/drawing/2014/main" val="20003"/>
                    </a:ext>
                  </a:extLst>
                </a:gridCol>
                <a:gridCol w="850992">
                  <a:extLst>
                    <a:ext uri="{9D8B030D-6E8A-4147-A177-3AD203B41FA5}">
                      <a16:colId xmlns:a16="http://schemas.microsoft.com/office/drawing/2014/main" val="20004"/>
                    </a:ext>
                  </a:extLst>
                </a:gridCol>
                <a:gridCol w="696266">
                  <a:extLst>
                    <a:ext uri="{9D8B030D-6E8A-4147-A177-3AD203B41FA5}">
                      <a16:colId xmlns:a16="http://schemas.microsoft.com/office/drawing/2014/main" val="20005"/>
                    </a:ext>
                  </a:extLst>
                </a:gridCol>
              </a:tblGrid>
              <a:tr h="308650">
                <a:tc>
                  <a:txBody>
                    <a:bodyPr/>
                    <a:lstStyle/>
                    <a:p>
                      <a:pPr algn="ctr"/>
                      <a:r>
                        <a:rPr sz="1000" b="1">
                          <a:solidFill>
                            <a:srgbClr val="FFFFFF"/>
                          </a:solidFill>
                          <a:latin typeface="맑은 고딕"/>
                          <a:ea typeface="맑은 고딕"/>
                        </a:rPr>
                        <a:t>서버 수 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2 (N0)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16 (N_max)</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35189">
                <a:tc>
                  <a:txBody>
                    <a:bodyPr/>
                    <a:lstStyle/>
                    <a:p>
                      <a:pPr algn="l"/>
                      <a:r>
                        <a:rPr sz="1000" b="1">
                          <a:solidFill>
                            <a:srgbClr val="000000"/>
                          </a:solidFill>
                          <a:latin typeface="맑은 고딕"/>
                          <a:ea typeface="맑은 고딕"/>
                        </a:rPr>
                        <a:t>Baseline (무상태 LB)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35189">
                <a:tc>
                  <a:txBody>
                    <a:bodyPr/>
                    <a:lstStyle/>
                    <a:p>
                      <a:pPr algn="l"/>
                      <a:r>
                        <a:rPr sz="1000" b="1">
                          <a:solidFill>
                            <a:srgbClr val="000000"/>
                          </a:solidFill>
                          <a:latin typeface="맑은 고딕"/>
                          <a:ea typeface="맑은 고딕"/>
                        </a:rPr>
                        <a:t>후보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35189">
                <a:tc>
                  <a:txBody>
                    <a:bodyPr/>
                    <a:lstStyle/>
                    <a:p>
                      <a:pPr algn="l"/>
                      <a:r>
                        <a:rPr sz="1000" b="1">
                          <a:solidFill>
                            <a:srgbClr val="000000"/>
                          </a:solidFill>
                          <a:latin typeface="맑은 고딕"/>
                          <a:ea typeface="맑은 고딕"/>
                        </a:rPr>
                        <a:t>후보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dirty="0">
                          <a:solidFill>
                            <a:srgbClr val="000000"/>
                          </a:solidFill>
                          <a:latin typeface="맑은 고딕"/>
                          <a:ea typeface="맑은 고딕"/>
                        </a:rPr>
                        <a:t>88%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a:solidFill>
                            <a:srgbClr val="000000"/>
                          </a:solidFill>
                          <a:latin typeface="맑은 고딕"/>
                          <a:ea typeface="맑은 고딕"/>
                        </a:rPr>
                        <a:t>76%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a:solidFill>
                            <a:srgbClr val="000000"/>
                          </a:solidFill>
                          <a:latin typeface="맑은 고딕"/>
                          <a:ea typeface="맑은 고딕"/>
                        </a:rPr>
                        <a:t>64%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extLst>
                  <a:ext uri="{0D108BD9-81ED-4DB2-BD59-A6C34878D82A}">
                    <a16:rowId xmlns:a16="http://schemas.microsoft.com/office/drawing/2014/main" val="10003"/>
                  </a:ext>
                </a:extLst>
              </a:tr>
            </a:tbl>
          </a:graphicData>
        </a:graphic>
      </p:graphicFrame>
      <p:sp>
        <p:nvSpPr>
          <p:cNvPr id="11" name="실행 단추: 뒤로 또는 이전 10">
            <a:hlinkClick r:id="rId3"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QA6과 같은 기준이다(SE 90/70, N_max=16). Q4 = 공통 QA6. 기존 별 그대로.</a:t>
            </a:r>
          </a:p>
        </p:txBody>
      </p:sp>
    </p:spTree>
    <p:extLst>
      <p:ext uri="{BB962C8B-B14F-4D97-AF65-F5344CB8AC3E}">
        <p14:creationId xmlns:p14="http://schemas.microsoft.com/office/powerpoint/2010/main" val="27870514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시나리오</a:t>
            </a:r>
            <a:endParaRPr sz="2200" b="1" dirty="0">
              <a:solidFill>
                <a:srgbClr val="2F5597"/>
              </a:solidFill>
              <a:latin typeface="맑은 고딕"/>
              <a:ea typeface="맑은 고딕"/>
            </a:endParaRPr>
          </a:p>
        </p:txBody>
      </p:sp>
      <p:sp>
        <p:nvSpPr>
          <p:cNvPr id="3" name="TextBox 2"/>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공통</a:t>
            </a:r>
            <a:r>
              <a:rPr sz="1100" b="0" dirty="0">
                <a:solidFill>
                  <a:srgbClr val="404040"/>
                </a:solidFill>
                <a:latin typeface="맑은 고딕"/>
                <a:ea typeface="맑은 고딕"/>
              </a:rPr>
              <a:t> </a:t>
            </a:r>
            <a:r>
              <a:rPr sz="1100" b="0" dirty="0" err="1">
                <a:solidFill>
                  <a:srgbClr val="404040"/>
                </a:solidFill>
                <a:latin typeface="맑은 고딕"/>
                <a:ea typeface="맑은 고딕"/>
              </a:rPr>
              <a:t>벤치마크를</a:t>
            </a:r>
            <a:r>
              <a:rPr sz="1100" b="0" dirty="0">
                <a:solidFill>
                  <a:srgbClr val="404040"/>
                </a:solidFill>
                <a:latin typeface="맑은 고딕"/>
                <a:ea typeface="맑은 고딕"/>
              </a:rPr>
              <a:t> </a:t>
            </a:r>
            <a:r>
              <a:rPr sz="1100" b="0" dirty="0" err="1">
                <a:solidFill>
                  <a:srgbClr val="404040"/>
                </a:solidFill>
                <a:latin typeface="맑은 고딕"/>
                <a:ea typeface="맑은 고딕"/>
              </a:rPr>
              <a:t>기본으로</a:t>
            </a:r>
            <a:r>
              <a:rPr sz="1100" b="0" dirty="0">
                <a:solidFill>
                  <a:srgbClr val="404040"/>
                </a:solidFill>
                <a:latin typeface="맑은 고딕"/>
                <a:ea typeface="맑은 고딕"/>
              </a:rPr>
              <a:t> </a:t>
            </a:r>
            <a:r>
              <a:rPr sz="1100" b="0" dirty="0" err="1">
                <a:solidFill>
                  <a:srgbClr val="404040"/>
                </a:solidFill>
                <a:latin typeface="맑은 고딕"/>
                <a:ea typeface="맑은 고딕"/>
              </a:rPr>
              <a:t>하고</a:t>
            </a:r>
            <a:r>
              <a:rPr sz="1100" b="0" dirty="0">
                <a:solidFill>
                  <a:srgbClr val="404040"/>
                </a:solidFill>
                <a:latin typeface="맑은 고딕"/>
                <a:ea typeface="맑은 고딕"/>
              </a:rPr>
              <a:t> DP</a:t>
            </a:r>
            <a:r>
              <a:rPr lang="en-US" sz="1100" b="0" dirty="0">
                <a:solidFill>
                  <a:srgbClr val="404040"/>
                </a:solidFill>
                <a:latin typeface="맑은 고딕"/>
                <a:ea typeface="맑은 고딕"/>
              </a:rPr>
              <a:t>1</a:t>
            </a:r>
            <a:r>
              <a:rPr sz="1100" b="0" dirty="0">
                <a:solidFill>
                  <a:srgbClr val="404040"/>
                </a:solidFill>
                <a:latin typeface="맑은 고딕"/>
                <a:ea typeface="맑은 고딕"/>
              </a:rPr>
              <a:t> </a:t>
            </a:r>
            <a:r>
              <a:rPr sz="1100" b="0" dirty="0" err="1">
                <a:solidFill>
                  <a:srgbClr val="404040"/>
                </a:solidFill>
                <a:latin typeface="맑은 고딕"/>
                <a:ea typeface="맑은 고딕"/>
              </a:rPr>
              <a:t>전용</a:t>
            </a:r>
            <a:r>
              <a:rPr sz="1100" b="0" dirty="0">
                <a:solidFill>
                  <a:srgbClr val="404040"/>
                </a:solidFill>
                <a:latin typeface="맑은 고딕"/>
                <a:ea typeface="맑은 고딕"/>
              </a:rPr>
              <a:t> </a:t>
            </a:r>
            <a:r>
              <a:rPr sz="1100" b="0" dirty="0" err="1">
                <a:solidFill>
                  <a:srgbClr val="404040"/>
                </a:solidFill>
                <a:latin typeface="맑은 고딕"/>
                <a:ea typeface="맑은 고딕"/>
              </a:rPr>
              <a:t>시나리오를</a:t>
            </a:r>
            <a:r>
              <a:rPr sz="1100" b="0" dirty="0">
                <a:solidFill>
                  <a:srgbClr val="404040"/>
                </a:solidFill>
                <a:latin typeface="맑은 고딕"/>
                <a:ea typeface="맑은 고딕"/>
              </a:rPr>
              <a:t> </a:t>
            </a:r>
            <a:r>
              <a:rPr sz="1100" b="0" dirty="0" err="1">
                <a:solidFill>
                  <a:srgbClr val="404040"/>
                </a:solidFill>
                <a:latin typeface="맑은 고딕"/>
                <a:ea typeface="맑은 고딕"/>
              </a:rPr>
              <a:t>더한다</a:t>
            </a:r>
            <a:r>
              <a:rPr sz="1100" b="0" dirty="0">
                <a:solidFill>
                  <a:srgbClr val="404040"/>
                </a:solidFill>
                <a:latin typeface="맑은 고딕"/>
                <a:ea typeface="맑은 고딕"/>
              </a:rPr>
              <a:t> · </a:t>
            </a:r>
            <a:r>
              <a:rPr sz="1100" b="0" dirty="0" err="1">
                <a:solidFill>
                  <a:srgbClr val="404040"/>
                </a:solidFill>
                <a:latin typeface="맑은 고딕"/>
                <a:ea typeface="맑은 고딕"/>
              </a:rPr>
              <a:t>시나리오당</a:t>
            </a:r>
            <a:r>
              <a:rPr sz="1100" b="0" dirty="0">
                <a:solidFill>
                  <a:srgbClr val="404040"/>
                </a:solidFill>
                <a:latin typeface="맑은 고딕"/>
                <a:ea typeface="맑은 고딕"/>
              </a:rPr>
              <a:t> 한 줄</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3968496"/>
        </p:xfrm>
        <a:graphic>
          <a:graphicData uri="http://schemas.openxmlformats.org/drawingml/2006/table">
            <a:tbl>
              <a:tblPr>
                <a:tableStyleId>{5940675A-B579-460E-94D1-54222C63F5DA}</a:tableStyleId>
              </a:tblPr>
              <a:tblGrid>
                <a:gridCol w="573188">
                  <a:extLst>
                    <a:ext uri="{9D8B030D-6E8A-4147-A177-3AD203B41FA5}">
                      <a16:colId xmlns:a16="http://schemas.microsoft.com/office/drawing/2014/main" val="20000"/>
                    </a:ext>
                  </a:extLst>
                </a:gridCol>
                <a:gridCol w="1294888">
                  <a:extLst>
                    <a:ext uri="{9D8B030D-6E8A-4147-A177-3AD203B41FA5}">
                      <a16:colId xmlns:a16="http://schemas.microsoft.com/office/drawing/2014/main" val="20001"/>
                    </a:ext>
                  </a:extLst>
                </a:gridCol>
                <a:gridCol w="3596231">
                  <a:extLst>
                    <a:ext uri="{9D8B030D-6E8A-4147-A177-3AD203B41FA5}">
                      <a16:colId xmlns:a16="http://schemas.microsoft.com/office/drawing/2014/main" val="20002"/>
                    </a:ext>
                  </a:extLst>
                </a:gridCol>
                <a:gridCol w="607554">
                  <a:extLst>
                    <a:ext uri="{9D8B030D-6E8A-4147-A177-3AD203B41FA5}">
                      <a16:colId xmlns:a16="http://schemas.microsoft.com/office/drawing/2014/main" val="20003"/>
                    </a:ext>
                  </a:extLst>
                </a:gridCol>
                <a:gridCol w="3123689">
                  <a:extLst>
                    <a:ext uri="{9D8B030D-6E8A-4147-A177-3AD203B41FA5}">
                      <a16:colId xmlns:a16="http://schemas.microsoft.com/office/drawing/2014/main" val="20004"/>
                    </a:ext>
                  </a:extLst>
                </a:gridCol>
                <a:gridCol w="2261882">
                  <a:extLst>
                    <a:ext uri="{9D8B030D-6E8A-4147-A177-3AD203B41FA5}">
                      <a16:colId xmlns:a16="http://schemas.microsoft.com/office/drawing/2014/main" val="20005"/>
                    </a:ext>
                  </a:extLst>
                </a:gridCol>
              </a:tblGrid>
              <a:tr h="566928">
                <a:tc>
                  <a:txBody>
                    <a:bodyPr/>
                    <a:lstStyle/>
                    <a:p>
                      <a:pPr algn="ctr"/>
                      <a:r>
                        <a:rPr sz="95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무엇인가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대상 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dirty="0" err="1">
                          <a:solidFill>
                            <a:srgbClr val="FFFFFF"/>
                          </a:solidFill>
                          <a:latin typeface="맑은 고딕"/>
                          <a:ea typeface="맑은 고딕"/>
                        </a:rPr>
                        <a:t>드러내는</a:t>
                      </a:r>
                      <a:r>
                        <a:rPr sz="950" b="1" dirty="0">
                          <a:solidFill>
                            <a:srgbClr val="FFFFFF"/>
                          </a:solidFill>
                          <a:latin typeface="맑은 고딕"/>
                          <a:ea typeface="맑은 고딕"/>
                        </a:rPr>
                        <a:t> </a:t>
                      </a:r>
                      <a:r>
                        <a:rPr sz="950" b="1" dirty="0" err="1">
                          <a:solidFill>
                            <a:srgbClr val="FFFFFF"/>
                          </a:solidFill>
                          <a:latin typeface="맑은 고딕"/>
                          <a:ea typeface="맑은 고딕"/>
                        </a:rPr>
                        <a:t>차이</a:t>
                      </a:r>
                      <a:r>
                        <a:rPr sz="950" b="1" dirty="0">
                          <a:solidFill>
                            <a:srgbClr val="FFFFFF"/>
                          </a:solidFill>
                          <a:latin typeface="맑은 고딕"/>
                          <a:ea typeface="맑은 고딕"/>
                        </a:rPr>
                        <a:t> (As-Is </a:t>
                      </a:r>
                      <a:r>
                        <a:rPr sz="950" b="1" dirty="0" err="1">
                          <a:solidFill>
                            <a:srgbClr val="FFFFFF"/>
                          </a:solidFill>
                          <a:latin typeface="맑은 고딕"/>
                          <a:ea typeface="맑은 고딕"/>
                        </a:rPr>
                        <a:t>약점</a:t>
                      </a:r>
                      <a:r>
                        <a:rPr sz="950" b="1" dirty="0">
                          <a:solidFill>
                            <a:srgbClr val="FFFFFF"/>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핵심 파라미터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66928">
                <a:tc>
                  <a:txBody>
                    <a:bodyPr/>
                    <a:lstStyle/>
                    <a:p>
                      <a:pPr algn="ctr"/>
                      <a:r>
                        <a:rPr sz="950" b="1">
                          <a:solidFill>
                            <a:srgbClr val="000000"/>
                          </a:solidFill>
                          <a:latin typeface="맑은 고딕"/>
                          <a:ea typeface="맑은 고딕"/>
                        </a:rPr>
                        <a:t>W1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err="1">
                          <a:solidFill>
                            <a:srgbClr val="000000"/>
                          </a:solidFill>
                          <a:latin typeface="맑은 고딕"/>
                          <a:ea typeface="맑은 고딕"/>
                        </a:rPr>
                        <a:t>공통</a:t>
                      </a:r>
                      <a:r>
                        <a:rPr sz="950" b="1" dirty="0">
                          <a:solidFill>
                            <a:srgbClr val="000000"/>
                          </a:solidFill>
                          <a:latin typeface="맑은 고딕"/>
                          <a:ea typeface="맑은 고딕"/>
                        </a:rPr>
                        <a:t> </a:t>
                      </a:r>
                      <a:r>
                        <a:rPr sz="950" b="1" dirty="0" err="1">
                          <a:solidFill>
                            <a:srgbClr val="000000"/>
                          </a:solidFill>
                          <a:latin typeface="맑은 고딕"/>
                          <a:ea typeface="맑은 고딕"/>
                        </a:rPr>
                        <a:t>벤치마크</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Llama-3.1-70B BF16, </a:t>
                      </a:r>
                      <a:r>
                        <a:rPr sz="950" b="0" dirty="0" err="1">
                          <a:solidFill>
                            <a:srgbClr val="000000"/>
                          </a:solidFill>
                          <a:latin typeface="맑은 고딕"/>
                          <a:ea typeface="맑은 고딕"/>
                        </a:rPr>
                        <a:t>입력</a:t>
                      </a:r>
                      <a:r>
                        <a:rPr sz="950" b="0" dirty="0">
                          <a:solidFill>
                            <a:srgbClr val="000000"/>
                          </a:solidFill>
                          <a:latin typeface="맑은 고딕"/>
                          <a:ea typeface="맑은 고딕"/>
                        </a:rPr>
                        <a:t> 8K / </a:t>
                      </a:r>
                      <a:r>
                        <a:rPr sz="950" b="0" dirty="0" err="1">
                          <a:solidFill>
                            <a:srgbClr val="000000"/>
                          </a:solidFill>
                          <a:latin typeface="맑은 고딕"/>
                          <a:ea typeface="맑은 고딕"/>
                        </a:rPr>
                        <a:t>출력</a:t>
                      </a:r>
                      <a:r>
                        <a:rPr sz="950" b="0" dirty="0">
                          <a:solidFill>
                            <a:srgbClr val="000000"/>
                          </a:solidFill>
                          <a:latin typeface="맑은 고딕"/>
                          <a:ea typeface="맑은 고딕"/>
                        </a:rPr>
                        <a:t> 256, prefix </a:t>
                      </a:r>
                      <a:r>
                        <a:rPr sz="950" b="0" dirty="0" err="1">
                          <a:solidFill>
                            <a:srgbClr val="000000"/>
                          </a:solidFill>
                          <a:latin typeface="맑은 고딕"/>
                          <a:ea typeface="맑은 고딕"/>
                        </a:rPr>
                        <a:t>재사용</a:t>
                      </a:r>
                      <a:r>
                        <a:rPr sz="950" b="0" dirty="0">
                          <a:solidFill>
                            <a:srgbClr val="000000"/>
                          </a:solidFill>
                          <a:latin typeface="맑은 고딕"/>
                          <a:ea typeface="맑은 고딕"/>
                        </a:rPr>
                        <a:t> </a:t>
                      </a:r>
                      <a:r>
                        <a:rPr sz="950" b="0" dirty="0" err="1">
                          <a:solidFill>
                            <a:srgbClr val="000000"/>
                          </a:solidFill>
                          <a:latin typeface="맑은 고딕"/>
                          <a:ea typeface="맑은 고딕"/>
                        </a:rPr>
                        <a:t>통제</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Q1 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Baseline </a:t>
                      </a:r>
                      <a:r>
                        <a:rPr sz="950" b="0" dirty="0" err="1">
                          <a:solidFill>
                            <a:srgbClr val="000000"/>
                          </a:solidFill>
                          <a:latin typeface="맑은 고딕"/>
                          <a:ea typeface="맑은 고딕"/>
                        </a:rPr>
                        <a:t>대비</a:t>
                      </a:r>
                      <a:r>
                        <a:rPr sz="950" b="0" dirty="0">
                          <a:solidFill>
                            <a:srgbClr val="000000"/>
                          </a:solidFill>
                          <a:latin typeface="맑은 고딕"/>
                          <a:ea typeface="맑은 고딕"/>
                        </a:rPr>
                        <a:t> </a:t>
                      </a:r>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효과의</a:t>
                      </a:r>
                      <a:r>
                        <a:rPr sz="950" b="0" dirty="0">
                          <a:solidFill>
                            <a:srgbClr val="000000"/>
                          </a:solidFill>
                          <a:latin typeface="맑은 고딕"/>
                          <a:ea typeface="맑은 고딕"/>
                        </a:rPr>
                        <a:t> </a:t>
                      </a:r>
                      <a:r>
                        <a:rPr sz="950" b="0" dirty="0" err="1">
                          <a:solidFill>
                            <a:srgbClr val="000000"/>
                          </a:solidFill>
                          <a:latin typeface="맑은 고딕"/>
                          <a:ea typeface="맑은 고딕"/>
                        </a:rPr>
                        <a:t>기준선</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load ×0.5 / 1.0 / 1.5 / 2.0, seed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66928">
                <a:tc>
                  <a:txBody>
                    <a:bodyPr/>
                    <a:lstStyle/>
                    <a:p>
                      <a:pPr algn="ctr"/>
                      <a:r>
                        <a:rPr sz="950" b="1">
                          <a:solidFill>
                            <a:srgbClr val="000000"/>
                          </a:solidFill>
                          <a:latin typeface="맑은 고딕"/>
                          <a:ea typeface="맑은 고딕"/>
                        </a:rPr>
                        <a:t>W2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err="1">
                          <a:solidFill>
                            <a:srgbClr val="000000"/>
                          </a:solidFill>
                          <a:latin typeface="맑은 고딕"/>
                          <a:ea typeface="맑은 고딕"/>
                        </a:rPr>
                        <a:t>캐시</a:t>
                      </a:r>
                      <a:r>
                        <a:rPr sz="950" b="1" dirty="0">
                          <a:solidFill>
                            <a:srgbClr val="000000"/>
                          </a:solidFill>
                          <a:latin typeface="맑은 고딕"/>
                          <a:ea typeface="맑은 고딕"/>
                        </a:rPr>
                        <a:t> </a:t>
                      </a:r>
                      <a:r>
                        <a:rPr sz="950" b="1" dirty="0" err="1">
                          <a:solidFill>
                            <a:srgbClr val="000000"/>
                          </a:solidFill>
                          <a:latin typeface="맑은 고딕"/>
                          <a:ea typeface="맑은 고딕"/>
                        </a:rPr>
                        <a:t>재사용</a:t>
                      </a:r>
                      <a:r>
                        <a:rPr sz="950" b="1" dirty="0">
                          <a:solidFill>
                            <a:srgbClr val="000000"/>
                          </a:solidFill>
                          <a:latin typeface="맑은 고딕"/>
                          <a:ea typeface="맑은 고딕"/>
                        </a:rPr>
                        <a:t> </a:t>
                      </a:r>
                      <a:r>
                        <a:rPr sz="950" b="1" dirty="0" err="1">
                          <a:solidFill>
                            <a:srgbClr val="000000"/>
                          </a:solidFill>
                          <a:latin typeface="맑은 고딕"/>
                          <a:ea typeface="맑은 고딕"/>
                        </a:rPr>
                        <a:t>대화</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W1에 </a:t>
                      </a:r>
                      <a:r>
                        <a:rPr sz="950" b="0" dirty="0" err="1">
                          <a:solidFill>
                            <a:srgbClr val="000000"/>
                          </a:solidFill>
                          <a:latin typeface="맑은 고딕"/>
                          <a:ea typeface="맑은 고딕"/>
                        </a:rPr>
                        <a:t>같은</a:t>
                      </a:r>
                      <a:r>
                        <a:rPr sz="950" b="0" dirty="0">
                          <a:solidFill>
                            <a:srgbClr val="000000"/>
                          </a:solidFill>
                          <a:latin typeface="맑은 고딕"/>
                          <a:ea typeface="맑은 고딕"/>
                        </a:rPr>
                        <a:t> </a:t>
                      </a:r>
                      <a:r>
                        <a:rPr sz="950" b="0" dirty="0" err="1">
                          <a:solidFill>
                            <a:srgbClr val="000000"/>
                          </a:solidFill>
                          <a:latin typeface="맑은 고딕"/>
                          <a:ea typeface="맑은 고딕"/>
                        </a:rPr>
                        <a:t>prefix를</a:t>
                      </a:r>
                      <a:r>
                        <a:rPr sz="950" b="0" dirty="0">
                          <a:solidFill>
                            <a:srgbClr val="000000"/>
                          </a:solidFill>
                          <a:latin typeface="맑은 고딕"/>
                          <a:ea typeface="맑은 고딕"/>
                        </a:rPr>
                        <a:t> </a:t>
                      </a:r>
                      <a:r>
                        <a:rPr sz="950" b="0" dirty="0" err="1">
                          <a:solidFill>
                            <a:srgbClr val="000000"/>
                          </a:solidFill>
                          <a:latin typeface="맑은 고딕"/>
                          <a:ea typeface="맑은 고딕"/>
                        </a:rPr>
                        <a:t>다시</a:t>
                      </a:r>
                      <a:r>
                        <a:rPr sz="950" b="0" dirty="0">
                          <a:solidFill>
                            <a:srgbClr val="000000"/>
                          </a:solidFill>
                          <a:latin typeface="맑은 고딕"/>
                          <a:ea typeface="맑은 고딕"/>
                        </a:rPr>
                        <a:t> </a:t>
                      </a:r>
                      <a:r>
                        <a:rPr sz="950" b="0" dirty="0" err="1">
                          <a:solidFill>
                            <a:srgbClr val="000000"/>
                          </a:solidFill>
                          <a:latin typeface="맑은 고딕"/>
                          <a:ea typeface="맑은 고딕"/>
                        </a:rPr>
                        <a:t>쓰는</a:t>
                      </a:r>
                      <a:r>
                        <a:rPr sz="950" b="0" dirty="0">
                          <a:solidFill>
                            <a:srgbClr val="000000"/>
                          </a:solidFill>
                          <a:latin typeface="맑은 고딕"/>
                          <a:ea typeface="맑은 고딕"/>
                        </a:rPr>
                        <a:t> </a:t>
                      </a:r>
                      <a:r>
                        <a:rPr sz="950" b="0" dirty="0" err="1">
                          <a:solidFill>
                            <a:srgbClr val="000000"/>
                          </a:solidFill>
                          <a:latin typeface="맑은 고딕"/>
                          <a:ea typeface="맑은 고딕"/>
                        </a:rPr>
                        <a:t>대화</a:t>
                      </a:r>
                      <a:r>
                        <a:rPr sz="950" b="0" dirty="0">
                          <a:solidFill>
                            <a:srgbClr val="000000"/>
                          </a:solidFill>
                          <a:latin typeface="맑은 고딕"/>
                          <a:ea typeface="맑은 고딕"/>
                        </a:rPr>
                        <a:t> </a:t>
                      </a:r>
                      <a:r>
                        <a:rPr sz="950" b="0" dirty="0" err="1">
                          <a:solidFill>
                            <a:srgbClr val="000000"/>
                          </a:solidFill>
                          <a:latin typeface="맑은 고딕"/>
                          <a:ea typeface="맑은 고딕"/>
                        </a:rPr>
                        <a:t>요청을</a:t>
                      </a:r>
                      <a:r>
                        <a:rPr sz="950" b="0" dirty="0">
                          <a:solidFill>
                            <a:srgbClr val="000000"/>
                          </a:solidFill>
                          <a:latin typeface="맑은 고딕"/>
                          <a:ea typeface="맑은 고딕"/>
                        </a:rPr>
                        <a:t> </a:t>
                      </a:r>
                      <a:r>
                        <a:rPr sz="950" b="0" dirty="0" err="1">
                          <a:solidFill>
                            <a:srgbClr val="000000"/>
                          </a:solidFill>
                          <a:latin typeface="맑은 고딕"/>
                          <a:ea typeface="맑은 고딕"/>
                        </a:rPr>
                        <a:t>섞음</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a:solidFill>
                            <a:srgbClr val="000000"/>
                          </a:solidFill>
                          <a:latin typeface="맑은 고딕"/>
                          <a:ea typeface="맑은 고딕"/>
                        </a:rPr>
                        <a:t>Q1 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캐시·메모리</a:t>
                      </a:r>
                      <a:r>
                        <a:rPr sz="950" b="0" dirty="0">
                          <a:solidFill>
                            <a:srgbClr val="000000"/>
                          </a:solidFill>
                          <a:latin typeface="맑은 고딕"/>
                          <a:ea typeface="맑은 고딕"/>
                        </a:rPr>
                        <a:t> </a:t>
                      </a:r>
                      <a:r>
                        <a:rPr sz="950" b="0" dirty="0" err="1">
                          <a:solidFill>
                            <a:srgbClr val="000000"/>
                          </a:solidFill>
                          <a:latin typeface="맑은 고딕"/>
                          <a:ea typeface="맑은 고딕"/>
                        </a:rPr>
                        <a:t>상태</a:t>
                      </a:r>
                      <a:r>
                        <a:rPr sz="950" b="0" dirty="0">
                          <a:solidFill>
                            <a:srgbClr val="000000"/>
                          </a:solidFill>
                          <a:latin typeface="맑은 고딕"/>
                          <a:ea typeface="맑은 고딕"/>
                        </a:rPr>
                        <a:t> </a:t>
                      </a:r>
                      <a:r>
                        <a:rPr sz="950" b="0" dirty="0" err="1">
                          <a:solidFill>
                            <a:srgbClr val="000000"/>
                          </a:solidFill>
                          <a:latin typeface="맑은 고딕"/>
                          <a:ea typeface="맑은 고딕"/>
                        </a:rPr>
                        <a:t>인지</a:t>
                      </a:r>
                      <a:r>
                        <a:rPr sz="950" b="0" dirty="0">
                          <a:solidFill>
                            <a:srgbClr val="000000"/>
                          </a:solidFill>
                          <a:latin typeface="맑은 고딕"/>
                          <a:ea typeface="맑은 고딕"/>
                        </a:rPr>
                        <a:t> </a:t>
                      </a:r>
                      <a:r>
                        <a:rPr sz="950" b="0" dirty="0" err="1">
                          <a:solidFill>
                            <a:srgbClr val="000000"/>
                          </a:solidFill>
                          <a:latin typeface="맑은 고딕"/>
                          <a:ea typeface="맑은 고딕"/>
                        </a:rPr>
                        <a:t>라우팅</a:t>
                      </a:r>
                      <a:r>
                        <a:rPr sz="950" b="0" dirty="0">
                          <a:solidFill>
                            <a:srgbClr val="000000"/>
                          </a:solidFill>
                          <a:latin typeface="맑은 고딕"/>
                          <a:ea typeface="맑은 고딕"/>
                        </a:rPr>
                        <a:t>(P1~P3)의 </a:t>
                      </a:r>
                      <a:r>
                        <a:rPr sz="950" b="0" dirty="0" err="1">
                          <a:solidFill>
                            <a:srgbClr val="000000"/>
                          </a:solidFill>
                          <a:latin typeface="맑은 고딕"/>
                          <a:ea typeface="맑은 고딕"/>
                        </a:rPr>
                        <a:t>이득</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재사용률</a:t>
                      </a:r>
                      <a:r>
                        <a:rPr sz="950" b="0" dirty="0">
                          <a:solidFill>
                            <a:srgbClr val="000000"/>
                          </a:solidFill>
                          <a:latin typeface="맑은 고딕"/>
                          <a:ea typeface="맑은 고딕"/>
                        </a:rPr>
                        <a:t> 0 / 30 / 60%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66928">
                <a:tc>
                  <a:txBody>
                    <a:bodyPr/>
                    <a:lstStyle/>
                    <a:p>
                      <a:pPr algn="ctr"/>
                      <a:r>
                        <a:rPr sz="950" b="1" dirty="0">
                          <a:solidFill>
                            <a:srgbClr val="000000"/>
                          </a:solidFill>
                          <a:latin typeface="맑은 고딕"/>
                          <a:ea typeface="맑은 고딕"/>
                        </a:rPr>
                        <a:t>W3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a:solidFill>
                            <a:srgbClr val="000000"/>
                          </a:solidFill>
                          <a:latin typeface="맑은 고딕"/>
                          <a:ea typeface="맑은 고딕"/>
                        </a:rPr>
                        <a:t>긴 </a:t>
                      </a:r>
                      <a:r>
                        <a:rPr sz="950" b="1" dirty="0" err="1">
                          <a:solidFill>
                            <a:srgbClr val="000000"/>
                          </a:solidFill>
                          <a:latin typeface="맑은 고딕"/>
                          <a:ea typeface="맑은 고딕"/>
                        </a:rPr>
                        <a:t>입력</a:t>
                      </a:r>
                      <a:r>
                        <a:rPr sz="950" b="1" dirty="0">
                          <a:solidFill>
                            <a:srgbClr val="000000"/>
                          </a:solidFill>
                          <a:latin typeface="맑은 고딕"/>
                          <a:ea typeface="맑은 고딕"/>
                        </a:rPr>
                        <a:t> P/D </a:t>
                      </a:r>
                      <a:r>
                        <a:rPr sz="950" b="1" dirty="0" err="1">
                          <a:solidFill>
                            <a:srgbClr val="000000"/>
                          </a:solidFill>
                          <a:latin typeface="맑은 고딕"/>
                          <a:ea typeface="맑은 고딕"/>
                        </a:rPr>
                        <a:t>분리</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입력</a:t>
                      </a:r>
                      <a:r>
                        <a:rPr sz="950" b="0" dirty="0">
                          <a:solidFill>
                            <a:srgbClr val="000000"/>
                          </a:solidFill>
                          <a:latin typeface="맑은 고딕"/>
                          <a:ea typeface="맑은 고딕"/>
                        </a:rPr>
                        <a:t> 32K </a:t>
                      </a:r>
                      <a:r>
                        <a:rPr sz="950" b="0" dirty="0" err="1">
                          <a:solidFill>
                            <a:srgbClr val="000000"/>
                          </a:solidFill>
                          <a:latin typeface="맑은 고딕"/>
                          <a:ea typeface="맑은 고딕"/>
                        </a:rPr>
                        <a:t>요청을</a:t>
                      </a:r>
                      <a:r>
                        <a:rPr sz="950" b="0" dirty="0">
                          <a:solidFill>
                            <a:srgbClr val="000000"/>
                          </a:solidFill>
                          <a:latin typeface="맑은 고딕"/>
                          <a:ea typeface="맑은 고딕"/>
                        </a:rPr>
                        <a:t> </a:t>
                      </a:r>
                      <a:r>
                        <a:rPr sz="950" b="0" dirty="0" err="1">
                          <a:solidFill>
                            <a:srgbClr val="000000"/>
                          </a:solidFill>
                          <a:latin typeface="맑은 고딕"/>
                          <a:ea typeface="맑은 고딕"/>
                        </a:rPr>
                        <a:t>섞어</a:t>
                      </a:r>
                      <a:r>
                        <a:rPr sz="950" b="0" dirty="0">
                          <a:solidFill>
                            <a:srgbClr val="000000"/>
                          </a:solidFill>
                          <a:latin typeface="맑은 고딕"/>
                          <a:ea typeface="맑은 고딕"/>
                        </a:rPr>
                        <a:t> Prefill/Decode </a:t>
                      </a:r>
                      <a:r>
                        <a:rPr sz="950" b="0" dirty="0" err="1">
                          <a:solidFill>
                            <a:srgbClr val="000000"/>
                          </a:solidFill>
                          <a:latin typeface="맑은 고딕"/>
                          <a:ea typeface="맑은 고딕"/>
                        </a:rPr>
                        <a:t>분리</a:t>
                      </a:r>
                      <a:r>
                        <a:rPr sz="950" b="0" dirty="0">
                          <a:solidFill>
                            <a:srgbClr val="000000"/>
                          </a:solidFill>
                          <a:latin typeface="맑은 고딕"/>
                          <a:ea typeface="맑은 고딕"/>
                        </a:rPr>
                        <a:t> </a:t>
                      </a:r>
                      <a:r>
                        <a:rPr sz="950" b="0" dirty="0" err="1">
                          <a:solidFill>
                            <a:srgbClr val="000000"/>
                          </a:solidFill>
                          <a:latin typeface="맑은 고딕"/>
                          <a:ea typeface="맑은 고딕"/>
                        </a:rPr>
                        <a:t>경로를</a:t>
                      </a:r>
                      <a:r>
                        <a:rPr sz="950" b="0" dirty="0">
                          <a:solidFill>
                            <a:srgbClr val="000000"/>
                          </a:solidFill>
                          <a:latin typeface="맑은 고딕"/>
                          <a:ea typeface="맑은 고딕"/>
                        </a:rPr>
                        <a:t> 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a:solidFill>
                            <a:srgbClr val="000000"/>
                          </a:solidFill>
                          <a:latin typeface="맑은 고딕"/>
                          <a:ea typeface="맑은 고딕"/>
                        </a:rPr>
                        <a:t>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P/D </a:t>
                      </a:r>
                      <a:r>
                        <a:rPr sz="950" b="0" dirty="0" err="1">
                          <a:solidFill>
                            <a:srgbClr val="000000"/>
                          </a:solidFill>
                          <a:latin typeface="맑은 고딕"/>
                          <a:ea typeface="맑은 고딕"/>
                        </a:rPr>
                        <a:t>보조</a:t>
                      </a:r>
                      <a:r>
                        <a:rPr sz="950" b="0" dirty="0">
                          <a:solidFill>
                            <a:srgbClr val="000000"/>
                          </a:solidFill>
                          <a:latin typeface="맑은 고딕"/>
                          <a:ea typeface="맑은 고딕"/>
                        </a:rPr>
                        <a:t> </a:t>
                      </a:r>
                      <a:r>
                        <a:rPr sz="950" b="0" dirty="0" err="1">
                          <a:solidFill>
                            <a:srgbClr val="000000"/>
                          </a:solidFill>
                          <a:latin typeface="맑은 고딕"/>
                          <a:ea typeface="맑은 고딕"/>
                        </a:rPr>
                        <a:t>프로세스</a:t>
                      </a:r>
                      <a:r>
                        <a:rPr sz="950" b="0" dirty="0">
                          <a:solidFill>
                            <a:srgbClr val="000000"/>
                          </a:solidFill>
                          <a:latin typeface="맑은 고딕"/>
                          <a:ea typeface="맑은 고딕"/>
                        </a:rPr>
                        <a:t> </a:t>
                      </a:r>
                      <a:r>
                        <a:rPr sz="950" b="0" dirty="0" err="1">
                          <a:solidFill>
                            <a:srgbClr val="000000"/>
                          </a:solidFill>
                          <a:latin typeface="맑은 고딕"/>
                          <a:ea typeface="맑은 고딕"/>
                        </a:rPr>
                        <a:t>경유</a:t>
                      </a:r>
                      <a:r>
                        <a:rPr sz="950" b="0" dirty="0">
                          <a:solidFill>
                            <a:srgbClr val="000000"/>
                          </a:solidFill>
                          <a:latin typeface="맑은 고딕"/>
                          <a:ea typeface="맑은 고딕"/>
                        </a:rPr>
                        <a:t> hop, P5 </a:t>
                      </a:r>
                      <a:r>
                        <a:rPr sz="950" b="0" dirty="0" err="1">
                          <a:solidFill>
                            <a:srgbClr val="000000"/>
                          </a:solidFill>
                          <a:latin typeface="맑은 고딕"/>
                          <a:ea typeface="맑은 고딕"/>
                        </a:rPr>
                        <a:t>전달</a:t>
                      </a:r>
                      <a:r>
                        <a:rPr sz="950" b="0" dirty="0">
                          <a:solidFill>
                            <a:srgbClr val="000000"/>
                          </a:solidFill>
                          <a:latin typeface="맑은 고딕"/>
                          <a:ea typeface="맑은 고딕"/>
                        </a:rPr>
                        <a:t>(1안 </a:t>
                      </a:r>
                      <a:r>
                        <a:rPr sz="950" b="0" dirty="0" err="1">
                          <a:solidFill>
                            <a:srgbClr val="000000"/>
                          </a:solidFill>
                          <a:latin typeface="맑은 고딕"/>
                          <a:ea typeface="맑은 고딕"/>
                        </a:rPr>
                        <a:t>수정</a:t>
                      </a:r>
                      <a:r>
                        <a:rPr sz="950" b="0" dirty="0">
                          <a:solidFill>
                            <a:srgbClr val="000000"/>
                          </a:solidFill>
                          <a:latin typeface="맑은 고딕"/>
                          <a:ea typeface="맑은 고딕"/>
                        </a:rPr>
                        <a:t> </a:t>
                      </a:r>
                      <a:r>
                        <a:rPr sz="950" b="0" dirty="0" err="1">
                          <a:solidFill>
                            <a:srgbClr val="000000"/>
                          </a:solidFill>
                          <a:latin typeface="맑은 고딕"/>
                          <a:ea typeface="맑은 고딕"/>
                        </a:rPr>
                        <a:t>필요</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긴 요청 비율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566928">
                <a:tc>
                  <a:txBody>
                    <a:bodyPr/>
                    <a:lstStyle/>
                    <a:p>
                      <a:pPr algn="ctr"/>
                      <a:r>
                        <a:rPr sz="950" b="1">
                          <a:solidFill>
                            <a:srgbClr val="000000"/>
                          </a:solidFill>
                          <a:latin typeface="맑은 고딕"/>
                          <a:ea typeface="맑은 고딕"/>
                        </a:rPr>
                        <a:t>W4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a:solidFill>
                            <a:srgbClr val="000000"/>
                          </a:solidFill>
                          <a:latin typeface="맑은 고딕"/>
                          <a:ea typeface="맑은 고딕"/>
                        </a:rPr>
                        <a:t>메모리 압박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HBM </a:t>
                      </a:r>
                      <a:r>
                        <a:rPr sz="950" b="0" dirty="0" err="1">
                          <a:solidFill>
                            <a:srgbClr val="000000"/>
                          </a:solidFill>
                          <a:latin typeface="맑은 고딕"/>
                          <a:ea typeface="맑은 고딕"/>
                        </a:rPr>
                        <a:t>점유가</a:t>
                      </a:r>
                      <a:r>
                        <a:rPr sz="950" b="0" dirty="0">
                          <a:solidFill>
                            <a:srgbClr val="000000"/>
                          </a:solidFill>
                          <a:latin typeface="맑은 고딕"/>
                          <a:ea typeface="맑은 고딕"/>
                        </a:rPr>
                        <a:t> </a:t>
                      </a:r>
                      <a:r>
                        <a:rPr sz="950" b="0" dirty="0" err="1">
                          <a:solidFill>
                            <a:srgbClr val="000000"/>
                          </a:solidFill>
                          <a:latin typeface="맑은 고딕"/>
                          <a:ea typeface="맑은 고딕"/>
                        </a:rPr>
                        <a:t>높은</a:t>
                      </a:r>
                      <a:r>
                        <a:rPr sz="950" b="0" dirty="0">
                          <a:solidFill>
                            <a:srgbClr val="000000"/>
                          </a:solidFill>
                          <a:latin typeface="맑은 고딕"/>
                          <a:ea typeface="맑은 고딕"/>
                        </a:rPr>
                        <a:t> </a:t>
                      </a:r>
                      <a:r>
                        <a:rPr sz="950" b="0" dirty="0" err="1">
                          <a:solidFill>
                            <a:srgbClr val="000000"/>
                          </a:solidFill>
                          <a:latin typeface="맑은 고딕"/>
                          <a:ea typeface="맑은 고딕"/>
                        </a:rPr>
                        <a:t>상태에서</a:t>
                      </a:r>
                      <a:r>
                        <a:rPr sz="950" b="0" dirty="0">
                          <a:solidFill>
                            <a:srgbClr val="000000"/>
                          </a:solidFill>
                          <a:latin typeface="맑은 고딕"/>
                          <a:ea typeface="맑은 고딕"/>
                        </a:rPr>
                        <a:t> CXL·HBF·SSD </a:t>
                      </a:r>
                      <a:r>
                        <a:rPr sz="950" b="0" dirty="0" err="1">
                          <a:solidFill>
                            <a:srgbClr val="000000"/>
                          </a:solidFill>
                          <a:latin typeface="맑은 고딕"/>
                          <a:ea typeface="맑은 고딕"/>
                        </a:rPr>
                        <a:t>tier를</a:t>
                      </a:r>
                      <a:r>
                        <a:rPr sz="950" b="0" dirty="0">
                          <a:solidFill>
                            <a:srgbClr val="000000"/>
                          </a:solidFill>
                          <a:latin typeface="맑은 고딕"/>
                          <a:ea typeface="맑은 고딕"/>
                        </a:rPr>
                        <a:t> </a:t>
                      </a:r>
                      <a:r>
                        <a:rPr sz="950" b="0" dirty="0" err="1">
                          <a:solidFill>
                            <a:srgbClr val="000000"/>
                          </a:solidFill>
                          <a:latin typeface="맑은 고딕"/>
                          <a:ea typeface="맑은 고딕"/>
                        </a:rPr>
                        <a:t>사용</a:t>
                      </a:r>
                      <a:r>
                        <a:rPr sz="950" b="0" dirty="0">
                          <a:solidFill>
                            <a:srgbClr val="000000"/>
                          </a:solidFill>
                          <a:latin typeface="맑은 고딕"/>
                          <a:ea typeface="맑은 고딕"/>
                        </a:rPr>
                        <a:t>(</a:t>
                      </a:r>
                      <a:r>
                        <a:rPr sz="950" b="0" dirty="0" err="1">
                          <a:solidFill>
                            <a:srgbClr val="000000"/>
                          </a:solidFill>
                          <a:latin typeface="맑은 고딕"/>
                          <a:ea typeface="맑은 고딕"/>
                        </a:rPr>
                        <a:t>시뮬</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a:solidFill>
                            <a:srgbClr val="000000"/>
                          </a:solidFill>
                          <a:latin typeface="맑은 고딕"/>
                          <a:ea typeface="맑은 고딕"/>
                        </a:rPr>
                        <a:t>Q1 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tier </a:t>
                      </a:r>
                      <a:r>
                        <a:rPr sz="950" b="0" dirty="0" err="1">
                          <a:solidFill>
                            <a:srgbClr val="000000"/>
                          </a:solidFill>
                          <a:latin typeface="맑은 고딕"/>
                          <a:ea typeface="맑은 고딕"/>
                        </a:rPr>
                        <a:t>선택</a:t>
                      </a:r>
                      <a:r>
                        <a:rPr sz="950" b="0" dirty="0">
                          <a:solidFill>
                            <a:srgbClr val="000000"/>
                          </a:solidFill>
                          <a:latin typeface="맑은 고딕"/>
                          <a:ea typeface="맑은 고딕"/>
                        </a:rPr>
                        <a:t>(P1·P2·P5)이 </a:t>
                      </a:r>
                      <a:r>
                        <a:rPr sz="950" b="0" dirty="0" err="1">
                          <a:solidFill>
                            <a:srgbClr val="000000"/>
                          </a:solidFill>
                          <a:latin typeface="맑은 고딕"/>
                          <a:ea typeface="맑은 고딕"/>
                        </a:rPr>
                        <a:t>SLO를</a:t>
                      </a:r>
                      <a:r>
                        <a:rPr sz="950" b="0" dirty="0">
                          <a:solidFill>
                            <a:srgbClr val="000000"/>
                          </a:solidFill>
                          <a:latin typeface="맑은 고딕"/>
                          <a:ea typeface="맑은 고딕"/>
                        </a:rPr>
                        <a:t> </a:t>
                      </a:r>
                      <a:r>
                        <a:rPr sz="950" b="0" dirty="0" err="1">
                          <a:solidFill>
                            <a:srgbClr val="000000"/>
                          </a:solidFill>
                          <a:latin typeface="맑은 고딕"/>
                          <a:ea typeface="맑은 고딕"/>
                        </a:rPr>
                        <a:t>지키는가</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HBM </a:t>
                      </a:r>
                      <a:r>
                        <a:rPr sz="950" b="0" dirty="0" err="1">
                          <a:solidFill>
                            <a:srgbClr val="000000"/>
                          </a:solidFill>
                          <a:latin typeface="맑은 고딕"/>
                          <a:ea typeface="맑은 고딕"/>
                        </a:rPr>
                        <a:t>점유</a:t>
                      </a:r>
                      <a:r>
                        <a:rPr sz="950" b="0" dirty="0">
                          <a:solidFill>
                            <a:srgbClr val="000000"/>
                          </a:solidFill>
                          <a:latin typeface="맑은 고딕"/>
                          <a:ea typeface="맑은 고딕"/>
                        </a:rPr>
                        <a:t> 70 → 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566928">
                <a:tc>
                  <a:txBody>
                    <a:bodyPr/>
                    <a:lstStyle/>
                    <a:p>
                      <a:pPr algn="ctr"/>
                      <a:r>
                        <a:rPr sz="950" b="1">
                          <a:solidFill>
                            <a:srgbClr val="000000"/>
                          </a:solidFill>
                          <a:latin typeface="맑은 고딕"/>
                          <a:ea typeface="맑은 고딕"/>
                        </a:rPr>
                        <a:t>W5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err="1">
                          <a:solidFill>
                            <a:srgbClr val="000000"/>
                          </a:solidFill>
                          <a:latin typeface="맑은 고딕"/>
                          <a:ea typeface="맑은 고딕"/>
                        </a:rPr>
                        <a:t>서버</a:t>
                      </a:r>
                      <a:r>
                        <a:rPr sz="950" b="1" dirty="0">
                          <a:solidFill>
                            <a:srgbClr val="000000"/>
                          </a:solidFill>
                          <a:latin typeface="맑은 고딕"/>
                          <a:ea typeface="맑은 고딕"/>
                        </a:rPr>
                        <a:t> </a:t>
                      </a:r>
                      <a:r>
                        <a:rPr sz="950" b="1" dirty="0" err="1">
                          <a:solidFill>
                            <a:srgbClr val="000000"/>
                          </a:solidFill>
                          <a:latin typeface="맑은 고딕"/>
                          <a:ea typeface="맑은 고딕"/>
                        </a:rPr>
                        <a:t>증설</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서버당</a:t>
                      </a:r>
                      <a:r>
                        <a:rPr sz="950" b="0" dirty="0">
                          <a:solidFill>
                            <a:srgbClr val="000000"/>
                          </a:solidFill>
                          <a:latin typeface="맑은 고딕"/>
                          <a:ea typeface="맑은 고딕"/>
                        </a:rPr>
                        <a:t> </a:t>
                      </a:r>
                      <a:r>
                        <a:rPr sz="950" b="0" dirty="0" err="1">
                          <a:solidFill>
                            <a:srgbClr val="000000"/>
                          </a:solidFill>
                          <a:latin typeface="맑은 고딕"/>
                          <a:ea typeface="맑은 고딕"/>
                        </a:rPr>
                        <a:t>부하를</a:t>
                      </a:r>
                      <a:r>
                        <a:rPr sz="950" b="0" dirty="0">
                          <a:solidFill>
                            <a:srgbClr val="000000"/>
                          </a:solidFill>
                          <a:latin typeface="맑은 고딕"/>
                          <a:ea typeface="맑은 고딕"/>
                        </a:rPr>
                        <a:t> </a:t>
                      </a:r>
                      <a:r>
                        <a:rPr sz="950" b="0" dirty="0" err="1">
                          <a:solidFill>
                            <a:srgbClr val="000000"/>
                          </a:solidFill>
                          <a:latin typeface="맑은 고딕"/>
                          <a:ea typeface="맑은 고딕"/>
                        </a:rPr>
                        <a:t>고정하고</a:t>
                      </a:r>
                      <a:r>
                        <a:rPr sz="950" b="0" dirty="0">
                          <a:solidFill>
                            <a:srgbClr val="000000"/>
                          </a:solidFill>
                          <a:latin typeface="맑은 고딕"/>
                          <a:ea typeface="맑은 고딕"/>
                        </a:rPr>
                        <a:t> </a:t>
                      </a:r>
                      <a:r>
                        <a:rPr sz="950" b="0" dirty="0" err="1">
                          <a:solidFill>
                            <a:srgbClr val="000000"/>
                          </a:solidFill>
                          <a:latin typeface="맑은 고딕"/>
                          <a:ea typeface="맑은 고딕"/>
                        </a:rPr>
                        <a:t>서버</a:t>
                      </a:r>
                      <a:r>
                        <a:rPr sz="950" b="0" dirty="0">
                          <a:solidFill>
                            <a:srgbClr val="000000"/>
                          </a:solidFill>
                          <a:latin typeface="맑은 고딕"/>
                          <a:ea typeface="맑은 고딕"/>
                        </a:rPr>
                        <a:t> </a:t>
                      </a:r>
                      <a:r>
                        <a:rPr sz="950" b="0" dirty="0" err="1">
                          <a:solidFill>
                            <a:srgbClr val="000000"/>
                          </a:solidFill>
                          <a:latin typeface="맑은 고딕"/>
                          <a:ea typeface="맑은 고딕"/>
                        </a:rPr>
                        <a:t>수를</a:t>
                      </a:r>
                      <a:r>
                        <a:rPr sz="950" b="0" dirty="0">
                          <a:solidFill>
                            <a:srgbClr val="000000"/>
                          </a:solidFill>
                          <a:latin typeface="맑은 고딕"/>
                          <a:ea typeface="맑은 고딕"/>
                        </a:rPr>
                        <a:t> </a:t>
                      </a:r>
                      <a:r>
                        <a:rPr sz="950" b="0" dirty="0" err="1">
                          <a:solidFill>
                            <a:srgbClr val="000000"/>
                          </a:solidFill>
                          <a:latin typeface="맑은 고딕"/>
                          <a:ea typeface="맑은 고딕"/>
                        </a:rPr>
                        <a:t>N배로</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Q4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조율</a:t>
                      </a:r>
                      <a:r>
                        <a:rPr sz="950" b="0" dirty="0">
                          <a:solidFill>
                            <a:srgbClr val="000000"/>
                          </a:solidFill>
                          <a:latin typeface="맑은 고딕"/>
                          <a:ea typeface="맑은 고딕"/>
                        </a:rPr>
                        <a:t> </a:t>
                      </a:r>
                      <a:r>
                        <a:rPr sz="950" b="0" dirty="0" err="1">
                          <a:solidFill>
                            <a:srgbClr val="000000"/>
                          </a:solidFill>
                          <a:latin typeface="맑은 고딕"/>
                          <a:ea typeface="맑은 고딕"/>
                        </a:rPr>
                        <a:t>계층이</a:t>
                      </a:r>
                      <a:r>
                        <a:rPr sz="950" b="0" dirty="0">
                          <a:solidFill>
                            <a:srgbClr val="000000"/>
                          </a:solidFill>
                          <a:latin typeface="맑은 고딕"/>
                          <a:ea typeface="맑은 고딕"/>
                        </a:rPr>
                        <a:t> </a:t>
                      </a:r>
                      <a:r>
                        <a:rPr sz="950" b="0" dirty="0" err="1">
                          <a:solidFill>
                            <a:srgbClr val="000000"/>
                          </a:solidFill>
                          <a:latin typeface="맑은 고딕"/>
                          <a:ea typeface="맑은 고딕"/>
                        </a:rPr>
                        <a:t>병목이</a:t>
                      </a:r>
                      <a:r>
                        <a:rPr sz="950" b="0" dirty="0">
                          <a:solidFill>
                            <a:srgbClr val="000000"/>
                          </a:solidFill>
                          <a:latin typeface="맑은 고딕"/>
                          <a:ea typeface="맑은 고딕"/>
                        </a:rPr>
                        <a:t> </a:t>
                      </a:r>
                      <a:r>
                        <a:rPr sz="950" b="0" dirty="0" err="1">
                          <a:solidFill>
                            <a:srgbClr val="000000"/>
                          </a:solidFill>
                          <a:latin typeface="맑은 고딕"/>
                          <a:ea typeface="맑은 고딕"/>
                        </a:rPr>
                        <a:t>되는</a:t>
                      </a:r>
                      <a:r>
                        <a:rPr sz="950" b="0" dirty="0">
                          <a:solidFill>
                            <a:srgbClr val="000000"/>
                          </a:solidFill>
                          <a:latin typeface="맑은 고딕"/>
                          <a:ea typeface="맑은 고딕"/>
                        </a:rPr>
                        <a:t> </a:t>
                      </a:r>
                      <a:r>
                        <a:rPr sz="950" b="0" dirty="0" err="1">
                          <a:solidFill>
                            <a:srgbClr val="000000"/>
                          </a:solidFill>
                          <a:latin typeface="맑은 고딕"/>
                          <a:ea typeface="맑은 고딕"/>
                        </a:rPr>
                        <a:t>시점</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N = 2, 4, 8, 16 (N0 =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566928">
                <a:tc>
                  <a:txBody>
                    <a:bodyPr/>
                    <a:lstStyle/>
                    <a:p>
                      <a:pPr algn="ctr"/>
                      <a:r>
                        <a:rPr sz="950" b="1">
                          <a:solidFill>
                            <a:srgbClr val="000000"/>
                          </a:solidFill>
                          <a:latin typeface="맑은 고딕"/>
                          <a:ea typeface="맑은 고딕"/>
                        </a:rPr>
                        <a:t>S1~S6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a:solidFill>
                            <a:srgbClr val="000000"/>
                          </a:solidFill>
                          <a:latin typeface="맑은 고딕"/>
                          <a:ea typeface="맑은 고딕"/>
                        </a:rPr>
                        <a:t>변경 시나리오 6개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새 tier </a:t>
                      </a:r>
                      <a:r>
                        <a:rPr sz="950" b="0" dirty="0" err="1">
                          <a:solidFill>
                            <a:srgbClr val="000000"/>
                          </a:solidFill>
                          <a:latin typeface="맑은 고딕"/>
                          <a:ea typeface="맑은 고딕"/>
                        </a:rPr>
                        <a:t>추가</a:t>
                      </a:r>
                      <a:r>
                        <a:rPr sz="950" b="0" dirty="0">
                          <a:solidFill>
                            <a:srgbClr val="000000"/>
                          </a:solidFill>
                          <a:latin typeface="맑은 고딕"/>
                          <a:ea typeface="맑은 고딕"/>
                        </a:rPr>
                        <a:t> · </a:t>
                      </a:r>
                      <a:r>
                        <a:rPr sz="950" b="0" dirty="0" err="1">
                          <a:solidFill>
                            <a:srgbClr val="000000"/>
                          </a:solidFill>
                          <a:latin typeface="맑은 고딕"/>
                          <a:ea typeface="맑은 고딕"/>
                        </a:rPr>
                        <a:t>비용</a:t>
                      </a:r>
                      <a:r>
                        <a:rPr sz="950" b="0" dirty="0">
                          <a:solidFill>
                            <a:srgbClr val="000000"/>
                          </a:solidFill>
                          <a:latin typeface="맑은 고딕"/>
                          <a:ea typeface="맑은 고딕"/>
                        </a:rPr>
                        <a:t> </a:t>
                      </a:r>
                      <a:r>
                        <a:rPr sz="950" b="0" dirty="0" err="1">
                          <a:solidFill>
                            <a:srgbClr val="000000"/>
                          </a:solidFill>
                          <a:latin typeface="맑은 고딕"/>
                          <a:ea typeface="맑은 고딕"/>
                        </a:rPr>
                        <a:t>함수</a:t>
                      </a:r>
                      <a:r>
                        <a:rPr sz="950" b="0" dirty="0">
                          <a:solidFill>
                            <a:srgbClr val="000000"/>
                          </a:solidFill>
                          <a:latin typeface="맑은 고딕"/>
                          <a:ea typeface="맑은 고딕"/>
                        </a:rPr>
                        <a:t> </a:t>
                      </a:r>
                      <a:r>
                        <a:rPr sz="950" b="0" dirty="0" err="1">
                          <a:solidFill>
                            <a:srgbClr val="000000"/>
                          </a:solidFill>
                          <a:latin typeface="맑은 고딕"/>
                          <a:ea typeface="맑은 고딕"/>
                        </a:rPr>
                        <a:t>교체</a:t>
                      </a:r>
                      <a:r>
                        <a:rPr sz="950" b="0" dirty="0">
                          <a:solidFill>
                            <a:srgbClr val="000000"/>
                          </a:solidFill>
                          <a:latin typeface="맑은 고딕"/>
                          <a:ea typeface="맑은 고딕"/>
                        </a:rPr>
                        <a:t> · P/D </a:t>
                      </a:r>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교체</a:t>
                      </a:r>
                      <a:r>
                        <a:rPr sz="950" b="0" dirty="0">
                          <a:solidFill>
                            <a:srgbClr val="000000"/>
                          </a:solidFill>
                          <a:latin typeface="맑은 고딕"/>
                          <a:ea typeface="맑은 고딕"/>
                        </a:rPr>
                        <a:t> · </a:t>
                      </a:r>
                      <a:r>
                        <a:rPr sz="950" b="0" dirty="0" err="1">
                          <a:solidFill>
                            <a:srgbClr val="000000"/>
                          </a:solidFill>
                          <a:latin typeface="맑은 고딕"/>
                          <a:ea typeface="맑은 고딕"/>
                        </a:rPr>
                        <a:t>노드</a:t>
                      </a:r>
                      <a:r>
                        <a:rPr sz="950" b="0" dirty="0">
                          <a:solidFill>
                            <a:srgbClr val="000000"/>
                          </a:solidFill>
                          <a:latin typeface="맑은 고딕"/>
                          <a:ea typeface="맑은 고딕"/>
                        </a:rPr>
                        <a:t> </a:t>
                      </a:r>
                      <a:r>
                        <a:rPr sz="950" b="0" dirty="0" err="1">
                          <a:solidFill>
                            <a:srgbClr val="000000"/>
                          </a:solidFill>
                          <a:latin typeface="맑은 고딕"/>
                          <a:ea typeface="맑은 고딕"/>
                        </a:rPr>
                        <a:t>지시</a:t>
                      </a:r>
                      <a:r>
                        <a:rPr sz="950" b="0" dirty="0">
                          <a:solidFill>
                            <a:srgbClr val="000000"/>
                          </a:solidFill>
                          <a:latin typeface="맑은 고딕"/>
                          <a:ea typeface="맑은 고딕"/>
                        </a:rPr>
                        <a:t> </a:t>
                      </a:r>
                      <a:r>
                        <a:rPr sz="950" b="0" dirty="0" err="1">
                          <a:solidFill>
                            <a:srgbClr val="000000"/>
                          </a:solidFill>
                          <a:latin typeface="맑은 고딕"/>
                          <a:ea typeface="맑은 고딕"/>
                        </a:rPr>
                        <a:t>추가</a:t>
                      </a:r>
                      <a:r>
                        <a:rPr sz="950" b="0" dirty="0">
                          <a:solidFill>
                            <a:srgbClr val="000000"/>
                          </a:solidFill>
                          <a:latin typeface="맑은 고딕"/>
                          <a:ea typeface="맑은 고딕"/>
                        </a:rPr>
                        <a:t> · </a:t>
                      </a:r>
                      <a:r>
                        <a:rPr sz="950" b="0" dirty="0" err="1">
                          <a:solidFill>
                            <a:srgbClr val="000000"/>
                          </a:solidFill>
                          <a:latin typeface="맑은 고딕"/>
                          <a:ea typeface="맑은 고딕"/>
                        </a:rPr>
                        <a:t>vLLM</a:t>
                      </a:r>
                      <a:r>
                        <a:rPr sz="950" b="0" dirty="0">
                          <a:solidFill>
                            <a:srgbClr val="000000"/>
                          </a:solidFill>
                          <a:latin typeface="맑은 고딕"/>
                          <a:ea typeface="맑은 고딕"/>
                        </a:rPr>
                        <a:t>/NIXL </a:t>
                      </a:r>
                      <a:r>
                        <a:rPr sz="950" b="0" dirty="0" err="1">
                          <a:solidFill>
                            <a:srgbClr val="000000"/>
                          </a:solidFill>
                          <a:latin typeface="맑은 고딕"/>
                          <a:ea typeface="맑은 고딕"/>
                        </a:rPr>
                        <a:t>계약</a:t>
                      </a:r>
                      <a:r>
                        <a:rPr sz="950" b="0" dirty="0">
                          <a:solidFill>
                            <a:srgbClr val="000000"/>
                          </a:solidFill>
                          <a:latin typeface="맑은 고딕"/>
                          <a:ea typeface="맑은 고딕"/>
                        </a:rPr>
                        <a:t> </a:t>
                      </a:r>
                      <a:r>
                        <a:rPr sz="950" b="0" dirty="0" err="1">
                          <a:solidFill>
                            <a:srgbClr val="000000"/>
                          </a:solidFill>
                          <a:latin typeface="맑은 고딕"/>
                          <a:ea typeface="맑은 고딕"/>
                        </a:rPr>
                        <a:t>변경</a:t>
                      </a:r>
                      <a:r>
                        <a:rPr sz="950" b="0" dirty="0">
                          <a:solidFill>
                            <a:srgbClr val="000000"/>
                          </a:solidFill>
                          <a:latin typeface="맑은 고딕"/>
                          <a:ea typeface="맑은 고딕"/>
                        </a:rPr>
                        <a:t> · </a:t>
                      </a:r>
                      <a:r>
                        <a:rPr sz="950" b="0" dirty="0" err="1">
                          <a:solidFill>
                            <a:srgbClr val="000000"/>
                          </a:solidFill>
                          <a:latin typeface="맑은 고딕"/>
                          <a:ea typeface="맑은 고딕"/>
                        </a:rPr>
                        <a:t>신규</a:t>
                      </a:r>
                      <a:r>
                        <a:rPr sz="950" b="0" dirty="0">
                          <a:solidFill>
                            <a:srgbClr val="000000"/>
                          </a:solidFill>
                          <a:latin typeface="맑은 고딕"/>
                          <a:ea typeface="맑은 고딕"/>
                        </a:rPr>
                        <a:t> </a:t>
                      </a:r>
                      <a:r>
                        <a:rPr sz="950" b="0" dirty="0" err="1">
                          <a:solidFill>
                            <a:srgbClr val="000000"/>
                          </a:solidFill>
                          <a:latin typeface="맑은 고딕"/>
                          <a:ea typeface="맑은 고딕"/>
                        </a:rPr>
                        <a:t>기능</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Q3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변경이 어디까지 번지는가 (module · 공수 · 토큰 cost)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가중</a:t>
                      </a:r>
                      <a:r>
                        <a:rPr sz="950" b="0" dirty="0">
                          <a:solidFill>
                            <a:srgbClr val="000000"/>
                          </a:solidFill>
                          <a:latin typeface="맑은 고딕"/>
                          <a:ea typeface="맑은 고딕"/>
                        </a:rPr>
                        <a:t>: S2~S4 = 2, </a:t>
                      </a:r>
                      <a:r>
                        <a:rPr sz="950" b="0" dirty="0" err="1">
                          <a:solidFill>
                            <a:srgbClr val="000000"/>
                          </a:solidFill>
                          <a:latin typeface="맑은 고딕"/>
                          <a:ea typeface="맑은 고딕"/>
                        </a:rPr>
                        <a:t>나머지</a:t>
                      </a:r>
                      <a:r>
                        <a:rPr sz="950" b="0" dirty="0">
                          <a:solidFill>
                            <a:srgbClr val="000000"/>
                          </a:solidFill>
                          <a:latin typeface="맑은 고딕"/>
                          <a:ea typeface="맑은 고딕"/>
                        </a:rPr>
                        <a:t> 1 (</a:t>
                      </a:r>
                      <a:r>
                        <a:rPr sz="950" b="0" dirty="0" err="1">
                          <a:solidFill>
                            <a:srgbClr val="000000"/>
                          </a:solidFill>
                          <a:latin typeface="맑은 고딕"/>
                          <a:ea typeface="맑은 고딕"/>
                        </a:rPr>
                        <a:t>가정</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365760" y="5440680"/>
            <a:ext cx="11430000" cy="735586"/>
          </a:xfrm>
          <a:prstGeom prst="rect">
            <a:avLst/>
          </a:prstGeom>
          <a:solidFill>
            <a:srgbClr val="F2F2F2"/>
          </a:solidFill>
        </p:spPr>
        <p:txBody>
          <a:bodyPr wrap="square" lIns="73152" tIns="36576" rIns="73152" bIns="36576" anchor="t">
            <a:spAutoFit/>
          </a:bodyPr>
          <a:lstStyle/>
          <a:p>
            <a:pPr algn="l">
              <a:spcAft>
                <a:spcPts val="200"/>
              </a:spcAft>
            </a:pPr>
            <a:r>
              <a:rPr sz="950" b="1" dirty="0" err="1">
                <a:solidFill>
                  <a:srgbClr val="2F5597"/>
                </a:solidFill>
                <a:latin typeface="맑은 고딕"/>
                <a:ea typeface="맑은 고딕"/>
              </a:rPr>
              <a:t>읽는</a:t>
            </a:r>
            <a:r>
              <a:rPr sz="950" b="1" dirty="0">
                <a:solidFill>
                  <a:srgbClr val="2F5597"/>
                </a:solidFill>
                <a:latin typeface="맑은 고딕"/>
                <a:ea typeface="맑은 고딕"/>
              </a:rPr>
              <a:t> 법</a:t>
            </a:r>
          </a:p>
          <a:p>
            <a:pPr algn="l">
              <a:spcAft>
                <a:spcPts val="200"/>
              </a:spcAft>
            </a:pPr>
            <a:r>
              <a:rPr sz="950" b="0" dirty="0">
                <a:solidFill>
                  <a:srgbClr val="000000"/>
                </a:solidFill>
                <a:latin typeface="맑은 고딕"/>
                <a:ea typeface="맑은 고딕"/>
              </a:rPr>
              <a:t>• W1이 </a:t>
            </a:r>
            <a:r>
              <a:rPr sz="950" b="0" dirty="0" err="1">
                <a:solidFill>
                  <a:srgbClr val="000000"/>
                </a:solidFill>
                <a:latin typeface="맑은 고딕"/>
                <a:ea typeface="맑은 고딕"/>
              </a:rPr>
              <a:t>공통</a:t>
            </a:r>
            <a:r>
              <a:rPr sz="950" b="0" dirty="0">
                <a:solidFill>
                  <a:srgbClr val="000000"/>
                </a:solidFill>
                <a:latin typeface="맑은 고딕"/>
                <a:ea typeface="맑은 고딕"/>
              </a:rPr>
              <a:t> </a:t>
            </a:r>
            <a:r>
              <a:rPr sz="950" b="0" dirty="0" err="1">
                <a:solidFill>
                  <a:srgbClr val="000000"/>
                </a:solidFill>
                <a:latin typeface="맑은 고딕"/>
                <a:ea typeface="맑은 고딕"/>
              </a:rPr>
              <a:t>기준이다</a:t>
            </a:r>
            <a:r>
              <a:rPr sz="950" b="0" dirty="0">
                <a:solidFill>
                  <a:srgbClr val="000000"/>
                </a:solidFill>
                <a:latin typeface="맑은 고딕"/>
                <a:ea typeface="맑은 고딕"/>
              </a:rPr>
              <a:t>. W2~W4는 </a:t>
            </a:r>
            <a:r>
              <a:rPr sz="950" b="0" dirty="0" err="1">
                <a:solidFill>
                  <a:srgbClr val="000000"/>
                </a:solidFill>
                <a:latin typeface="맑은 고딕"/>
                <a:ea typeface="맑은 고딕"/>
              </a:rPr>
              <a:t>정책이</a:t>
            </a:r>
            <a:r>
              <a:rPr sz="950" b="0" dirty="0">
                <a:solidFill>
                  <a:srgbClr val="000000"/>
                </a:solidFill>
                <a:latin typeface="맑은 고딕"/>
                <a:ea typeface="맑은 고딕"/>
              </a:rPr>
              <a:t> </a:t>
            </a:r>
            <a:r>
              <a:rPr sz="950" b="0" dirty="0" err="1">
                <a:solidFill>
                  <a:srgbClr val="000000"/>
                </a:solidFill>
                <a:latin typeface="맑은 고딕"/>
                <a:ea typeface="맑은 고딕"/>
              </a:rPr>
              <a:t>실제로</a:t>
            </a:r>
            <a:r>
              <a:rPr sz="950" b="0" dirty="0">
                <a:solidFill>
                  <a:srgbClr val="000000"/>
                </a:solidFill>
                <a:latin typeface="맑은 고딕"/>
                <a:ea typeface="맑은 고딕"/>
              </a:rPr>
              <a:t> </a:t>
            </a:r>
            <a:r>
              <a:rPr sz="950" b="0" dirty="0" err="1">
                <a:solidFill>
                  <a:srgbClr val="000000"/>
                </a:solidFill>
                <a:latin typeface="맑은 고딕"/>
                <a:ea typeface="맑은 고딕"/>
              </a:rPr>
              <a:t>갈리는</a:t>
            </a:r>
            <a:r>
              <a:rPr sz="950" b="0" dirty="0">
                <a:solidFill>
                  <a:srgbClr val="000000"/>
                </a:solidFill>
                <a:latin typeface="맑은 고딕"/>
                <a:ea typeface="맑은 고딕"/>
              </a:rPr>
              <a:t> </a:t>
            </a:r>
            <a:r>
              <a:rPr sz="950" b="0" dirty="0" err="1">
                <a:solidFill>
                  <a:srgbClr val="000000"/>
                </a:solidFill>
                <a:latin typeface="맑은 고딕"/>
                <a:ea typeface="맑은 고딕"/>
              </a:rPr>
              <a:t>조건을</a:t>
            </a:r>
            <a:r>
              <a:rPr sz="950" b="0" dirty="0">
                <a:solidFill>
                  <a:srgbClr val="000000"/>
                </a:solidFill>
                <a:latin typeface="맑은 고딕"/>
                <a:ea typeface="맑은 고딕"/>
              </a:rPr>
              <a:t> </a:t>
            </a:r>
            <a:r>
              <a:rPr sz="950" b="0" dirty="0" err="1">
                <a:solidFill>
                  <a:srgbClr val="000000"/>
                </a:solidFill>
                <a:latin typeface="맑은 고딕"/>
                <a:ea typeface="맑은 고딕"/>
              </a:rPr>
              <a:t>만들기</a:t>
            </a:r>
            <a:r>
              <a:rPr sz="950" b="0" dirty="0">
                <a:solidFill>
                  <a:srgbClr val="000000"/>
                </a:solidFill>
                <a:latin typeface="맑은 고딕"/>
                <a:ea typeface="맑은 고딕"/>
              </a:rPr>
              <a:t> </a:t>
            </a:r>
            <a:r>
              <a:rPr sz="950" b="0" dirty="0" err="1">
                <a:solidFill>
                  <a:srgbClr val="000000"/>
                </a:solidFill>
                <a:latin typeface="맑은 고딕"/>
                <a:ea typeface="맑은 고딕"/>
              </a:rPr>
              <a:t>위한</a:t>
            </a:r>
            <a:r>
              <a:rPr sz="950" b="0" dirty="0">
                <a:solidFill>
                  <a:srgbClr val="000000"/>
                </a:solidFill>
                <a:latin typeface="맑은 고딕"/>
                <a:ea typeface="맑은 고딕"/>
              </a:rPr>
              <a:t> DP</a:t>
            </a:r>
            <a:r>
              <a:rPr lang="en-US" sz="950" b="0" dirty="0">
                <a:solidFill>
                  <a:srgbClr val="000000"/>
                </a:solidFill>
                <a:latin typeface="맑은 고딕"/>
                <a:ea typeface="맑은 고딕"/>
              </a:rPr>
              <a:t>1</a:t>
            </a:r>
            <a:r>
              <a:rPr sz="950" b="0" dirty="0">
                <a:solidFill>
                  <a:srgbClr val="000000"/>
                </a:solidFill>
                <a:latin typeface="맑은 고딕"/>
                <a:ea typeface="맑은 고딕"/>
              </a:rPr>
              <a:t> </a:t>
            </a:r>
            <a:r>
              <a:rPr sz="950" b="0" dirty="0" err="1">
                <a:solidFill>
                  <a:srgbClr val="000000"/>
                </a:solidFill>
                <a:latin typeface="맑은 고딕"/>
                <a:ea typeface="맑은 고딕"/>
              </a:rPr>
              <a:t>전용</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시나리오이며</a:t>
            </a:r>
            <a:r>
              <a:rPr sz="950" b="0" dirty="0">
                <a:solidFill>
                  <a:srgbClr val="000000"/>
                </a:solidFill>
                <a:latin typeface="맑은 고딕"/>
                <a:ea typeface="맑은 고딕"/>
              </a:rPr>
              <a:t>, </a:t>
            </a:r>
            <a:r>
              <a:rPr sz="950" b="0" dirty="0" err="1">
                <a:solidFill>
                  <a:srgbClr val="000000"/>
                </a:solidFill>
                <a:latin typeface="맑은 고딕"/>
                <a:ea typeface="맑은 고딕"/>
              </a:rPr>
              <a:t>후보가</a:t>
            </a:r>
            <a:r>
              <a:rPr sz="950" b="0" dirty="0">
                <a:solidFill>
                  <a:srgbClr val="000000"/>
                </a:solidFill>
                <a:latin typeface="맑은 고딕"/>
                <a:ea typeface="맑은 고딕"/>
              </a:rPr>
              <a:t> </a:t>
            </a:r>
            <a:r>
              <a:rPr sz="950" b="0" dirty="0" err="1">
                <a:solidFill>
                  <a:srgbClr val="000000"/>
                </a:solidFill>
                <a:latin typeface="맑은 고딕"/>
                <a:ea typeface="맑은 고딕"/>
              </a:rPr>
              <a:t>지는</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시나리오도</a:t>
            </a:r>
            <a:r>
              <a:rPr sz="950" b="0" dirty="0">
                <a:solidFill>
                  <a:srgbClr val="000000"/>
                </a:solidFill>
                <a:latin typeface="맑은 고딕"/>
                <a:ea typeface="맑은 고딕"/>
              </a:rPr>
              <a:t> </a:t>
            </a:r>
            <a:r>
              <a:rPr sz="950" b="0" dirty="0" err="1">
                <a:solidFill>
                  <a:srgbClr val="000000"/>
                </a:solidFill>
                <a:latin typeface="맑은 고딕"/>
                <a:ea typeface="맑은 고딕"/>
              </a:rPr>
              <a:t>삭제하지</a:t>
            </a:r>
            <a:r>
              <a:rPr sz="950" b="0" dirty="0">
                <a:solidFill>
                  <a:srgbClr val="000000"/>
                </a:solidFill>
                <a:latin typeface="맑은 고딕"/>
                <a:ea typeface="맑은 고딕"/>
              </a:rPr>
              <a:t> </a:t>
            </a:r>
            <a:r>
              <a:rPr sz="950" b="0" dirty="0" err="1">
                <a:solidFill>
                  <a:srgbClr val="000000"/>
                </a:solidFill>
                <a:latin typeface="맑은 고딕"/>
                <a:ea typeface="맑은 고딕"/>
              </a:rPr>
              <a:t>않는다</a:t>
            </a:r>
            <a:r>
              <a:rPr sz="950" b="0" dirty="0">
                <a:solidFill>
                  <a:srgbClr val="000000"/>
                </a:solidFill>
                <a:latin typeface="맑은 고딕"/>
                <a:ea typeface="맑은 고딕"/>
              </a:rPr>
              <a:t>.</a:t>
            </a:r>
          </a:p>
          <a:p>
            <a:pPr algn="l">
              <a:spcAft>
                <a:spcPts val="2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Baseline이</a:t>
            </a:r>
            <a:r>
              <a:rPr sz="950" b="0" dirty="0">
                <a:solidFill>
                  <a:srgbClr val="000000"/>
                </a:solidFill>
                <a:latin typeface="맑은 고딕"/>
                <a:ea typeface="맑은 고딕"/>
              </a:rPr>
              <a:t> </a:t>
            </a:r>
            <a:r>
              <a:rPr sz="950" b="0" dirty="0" err="1">
                <a:solidFill>
                  <a:srgbClr val="000000"/>
                </a:solidFill>
                <a:latin typeface="맑은 고딕"/>
                <a:ea typeface="맑은 고딕"/>
              </a:rPr>
              <a:t>SLO를</a:t>
            </a:r>
            <a:r>
              <a:rPr sz="950" b="0" dirty="0">
                <a:solidFill>
                  <a:srgbClr val="000000"/>
                </a:solidFill>
                <a:latin typeface="맑은 고딕"/>
                <a:ea typeface="맑은 고딕"/>
              </a:rPr>
              <a:t> 못 </a:t>
            </a:r>
            <a:r>
              <a:rPr sz="950" b="0" dirty="0" err="1">
                <a:solidFill>
                  <a:srgbClr val="000000"/>
                </a:solidFill>
                <a:latin typeface="맑은 고딕"/>
                <a:ea typeface="맑은 고딕"/>
              </a:rPr>
              <a:t>지키는</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시나리오는</a:t>
            </a:r>
            <a:r>
              <a:rPr sz="950" b="0" dirty="0">
                <a:solidFill>
                  <a:srgbClr val="000000"/>
                </a:solidFill>
                <a:latin typeface="맑은 고딕"/>
                <a:ea typeface="맑은 고딕"/>
              </a:rPr>
              <a:t> </a:t>
            </a:r>
            <a:r>
              <a:rPr sz="950" b="0" dirty="0" err="1">
                <a:solidFill>
                  <a:srgbClr val="000000"/>
                </a:solidFill>
                <a:latin typeface="맑은 고딕"/>
                <a:ea typeface="맑은 고딕"/>
              </a:rPr>
              <a:t>비교에서</a:t>
            </a:r>
            <a:r>
              <a:rPr sz="950" b="0" dirty="0">
                <a:solidFill>
                  <a:srgbClr val="000000"/>
                </a:solidFill>
                <a:latin typeface="맑은 고딕"/>
                <a:ea typeface="맑은 고딕"/>
              </a:rPr>
              <a:t> </a:t>
            </a:r>
            <a:r>
              <a:rPr sz="950" b="0" dirty="0" err="1">
                <a:solidFill>
                  <a:srgbClr val="000000"/>
                </a:solidFill>
                <a:latin typeface="맑은 고딕"/>
                <a:ea typeface="맑은 고딕"/>
              </a:rPr>
              <a:t>제외하고</a:t>
            </a:r>
            <a:r>
              <a:rPr sz="950" b="0" dirty="0">
                <a:solidFill>
                  <a:srgbClr val="000000"/>
                </a:solidFill>
                <a:latin typeface="맑은 고딕"/>
                <a:ea typeface="맑은 고딕"/>
              </a:rPr>
              <a:t> </a:t>
            </a:r>
            <a:r>
              <a:rPr sz="950" b="0" dirty="0" err="1">
                <a:solidFill>
                  <a:srgbClr val="000000"/>
                </a:solidFill>
                <a:latin typeface="맑은 고딕"/>
                <a:ea typeface="맑은 고딕"/>
              </a:rPr>
              <a:t>목록에는</a:t>
            </a:r>
            <a:r>
              <a:rPr sz="950" b="0" dirty="0">
                <a:solidFill>
                  <a:srgbClr val="000000"/>
                </a:solidFill>
                <a:latin typeface="맑은 고딕"/>
                <a:ea typeface="맑은 고딕"/>
              </a:rPr>
              <a:t> </a:t>
            </a:r>
            <a:r>
              <a:rPr sz="950" b="0" dirty="0" err="1">
                <a:solidFill>
                  <a:srgbClr val="000000"/>
                </a:solidFill>
                <a:latin typeface="맑은 고딕"/>
                <a:ea typeface="맑은 고딕"/>
              </a:rPr>
              <a:t>남긴다</a:t>
            </a:r>
            <a:r>
              <a:rPr sz="950" b="0" dirty="0">
                <a:solidFill>
                  <a:srgbClr val="000000"/>
                </a:solidFill>
                <a:latin typeface="맑은 고딕"/>
                <a:ea typeface="맑은 고딕"/>
              </a:rPr>
              <a:t>. </a:t>
            </a:r>
            <a:r>
              <a:rPr sz="950" b="0" dirty="0" err="1">
                <a:solidFill>
                  <a:srgbClr val="000000"/>
                </a:solidFill>
                <a:latin typeface="맑은 고딕"/>
                <a:ea typeface="맑은 고딕"/>
              </a:rPr>
              <a:t>모든</a:t>
            </a:r>
            <a:r>
              <a:rPr sz="950" b="0" dirty="0">
                <a:solidFill>
                  <a:srgbClr val="000000"/>
                </a:solidFill>
                <a:latin typeface="맑은 고딕"/>
                <a:ea typeface="맑은 고딕"/>
              </a:rPr>
              <a:t> </a:t>
            </a:r>
            <a:r>
              <a:rPr sz="950" b="0" dirty="0" err="1">
                <a:solidFill>
                  <a:srgbClr val="000000"/>
                </a:solidFill>
                <a:latin typeface="맑은 고딕"/>
                <a:ea typeface="맑은 고딕"/>
              </a:rPr>
              <a:t>후보가</a:t>
            </a:r>
            <a:r>
              <a:rPr sz="950" b="0" dirty="0">
                <a:solidFill>
                  <a:srgbClr val="000000"/>
                </a:solidFill>
                <a:latin typeface="맑은 고딕"/>
                <a:ea typeface="맑은 고딕"/>
              </a:rPr>
              <a:t> CI </a:t>
            </a:r>
            <a:r>
              <a:rPr sz="950" b="0" dirty="0" err="1">
                <a:solidFill>
                  <a:srgbClr val="000000"/>
                </a:solidFill>
                <a:latin typeface="맑은 고딕"/>
                <a:ea typeface="맑은 고딕"/>
              </a:rPr>
              <a:t>이내로</a:t>
            </a:r>
            <a:r>
              <a:rPr sz="950" b="0" dirty="0">
                <a:solidFill>
                  <a:srgbClr val="000000"/>
                </a:solidFill>
                <a:latin typeface="맑은 고딕"/>
                <a:ea typeface="맑은 고딕"/>
              </a:rPr>
              <a:t> </a:t>
            </a:r>
            <a:r>
              <a:rPr sz="950" b="0" dirty="0" err="1">
                <a:solidFill>
                  <a:srgbClr val="000000"/>
                </a:solidFill>
                <a:latin typeface="맑은 고딕"/>
                <a:ea typeface="맑은 고딕"/>
              </a:rPr>
              <a:t>같으면</a:t>
            </a:r>
            <a:r>
              <a:rPr sz="950" b="0" dirty="0">
                <a:solidFill>
                  <a:srgbClr val="000000"/>
                </a:solidFill>
                <a:latin typeface="맑은 고딕"/>
                <a:ea typeface="맑은 고딕"/>
              </a:rPr>
              <a:t> '</a:t>
            </a:r>
            <a:r>
              <a:rPr sz="950" b="0" dirty="0" err="1">
                <a:solidFill>
                  <a:srgbClr val="000000"/>
                </a:solidFill>
                <a:latin typeface="맑은 고딕"/>
                <a:ea typeface="맑은 고딕"/>
              </a:rPr>
              <a:t>포화'로</a:t>
            </a:r>
            <a:r>
              <a:rPr sz="950" b="0" dirty="0">
                <a:solidFill>
                  <a:srgbClr val="000000"/>
                </a:solidFill>
                <a:latin typeface="맑은 고딕"/>
                <a:ea typeface="맑은 고딕"/>
              </a:rPr>
              <a:t> </a:t>
            </a:r>
            <a:r>
              <a:rPr sz="950" b="0" dirty="0" err="1">
                <a:solidFill>
                  <a:srgbClr val="000000"/>
                </a:solidFill>
                <a:latin typeface="맑은 고딕"/>
                <a:ea typeface="맑은 고딕"/>
              </a:rPr>
              <a:t>표기해</a:t>
            </a:r>
            <a:r>
              <a:rPr sz="950" b="0" dirty="0">
                <a:solidFill>
                  <a:srgbClr val="000000"/>
                </a:solidFill>
                <a:latin typeface="맑은 고딕"/>
                <a:ea typeface="맑은 고딕"/>
              </a:rPr>
              <a:t> </a:t>
            </a:r>
            <a:r>
              <a:rPr sz="950" b="0" dirty="0" err="1">
                <a:solidFill>
                  <a:srgbClr val="000000"/>
                </a:solidFill>
                <a:latin typeface="맑은 고딕"/>
                <a:ea typeface="맑은 고딕"/>
              </a:rPr>
              <a:t>이득</a:t>
            </a:r>
            <a:r>
              <a:rPr sz="950" b="0" dirty="0">
                <a:solidFill>
                  <a:srgbClr val="000000"/>
                </a:solidFill>
                <a:latin typeface="맑은 고딕"/>
                <a:ea typeface="맑은 고딕"/>
              </a:rPr>
              <a:t> </a:t>
            </a:r>
            <a:r>
              <a:rPr sz="950" b="0" dirty="0" err="1">
                <a:solidFill>
                  <a:srgbClr val="000000"/>
                </a:solidFill>
                <a:latin typeface="맑은 고딕"/>
                <a:ea typeface="맑은 고딕"/>
              </a:rPr>
              <a:t>근거로</a:t>
            </a:r>
            <a:r>
              <a:rPr sz="950" b="0" dirty="0">
                <a:solidFill>
                  <a:srgbClr val="000000"/>
                </a:solidFill>
                <a:latin typeface="맑은 고딕"/>
                <a:ea typeface="맑은 고딕"/>
              </a:rPr>
              <a:t> </a:t>
            </a:r>
            <a:r>
              <a:rPr sz="950" b="0" dirty="0" err="1">
                <a:solidFill>
                  <a:srgbClr val="000000"/>
                </a:solidFill>
                <a:latin typeface="맑은 고딕"/>
                <a:ea typeface="맑은 고딕"/>
              </a:rPr>
              <a:t>쓰지</a:t>
            </a:r>
            <a:r>
              <a:rPr sz="950" b="0" dirty="0">
                <a:solidFill>
                  <a:srgbClr val="000000"/>
                </a:solidFill>
                <a:latin typeface="맑은 고딕"/>
                <a:ea typeface="맑은 고딕"/>
              </a:rPr>
              <a:t> </a:t>
            </a:r>
            <a:r>
              <a:rPr sz="950" b="0" dirty="0" err="1">
                <a:solidFill>
                  <a:srgbClr val="000000"/>
                </a:solidFill>
                <a:latin typeface="맑은 고딕"/>
                <a:ea typeface="맑은 고딕"/>
              </a:rPr>
              <a:t>않는다</a:t>
            </a:r>
            <a:r>
              <a:rPr sz="950" b="0" dirty="0">
                <a:solidFill>
                  <a:srgbClr val="000000"/>
                </a:solidFill>
                <a:latin typeface="맑은 고딕"/>
                <a:ea typeface="맑은 고딕"/>
              </a:rPr>
              <a:t>. (</a:t>
            </a:r>
            <a:r>
              <a:rPr sz="950" b="0" dirty="0" err="1">
                <a:solidFill>
                  <a:srgbClr val="000000"/>
                </a:solidFill>
                <a:latin typeface="맑은 고딕"/>
                <a:ea typeface="맑은 고딕"/>
              </a:rPr>
              <a:t>공통</a:t>
            </a:r>
            <a:r>
              <a:rPr sz="950" b="0" dirty="0">
                <a:solidFill>
                  <a:srgbClr val="000000"/>
                </a:solidFill>
                <a:latin typeface="맑은 고딕"/>
                <a:ea typeface="맑은 고딕"/>
              </a:rPr>
              <a:t> </a:t>
            </a:r>
            <a:r>
              <a:rPr sz="950" b="0" dirty="0" err="1">
                <a:solidFill>
                  <a:srgbClr val="000000"/>
                </a:solidFill>
                <a:latin typeface="맑은 고딕"/>
                <a:ea typeface="맑은 고딕"/>
              </a:rPr>
              <a:t>평가</a:t>
            </a:r>
            <a:r>
              <a:rPr sz="950" b="0" dirty="0">
                <a:solidFill>
                  <a:srgbClr val="000000"/>
                </a:solidFill>
                <a:latin typeface="맑은 고딕"/>
                <a:ea typeface="맑은 고딕"/>
              </a:rPr>
              <a:t> </a:t>
            </a:r>
            <a:r>
              <a:rPr sz="950" b="0" dirty="0" err="1">
                <a:solidFill>
                  <a:srgbClr val="000000"/>
                </a:solidFill>
                <a:latin typeface="맑은 고딕"/>
                <a:ea typeface="맑은 고딕"/>
              </a:rPr>
              <a:t>규칙</a:t>
            </a:r>
            <a:r>
              <a:rPr sz="950" b="0" dirty="0">
                <a:solidFill>
                  <a:srgbClr val="000000"/>
                </a:solidFill>
                <a:latin typeface="맑은 고딕"/>
                <a:ea typeface="맑은 고딕"/>
              </a:rPr>
              <a:t>)</a:t>
            </a:r>
          </a:p>
          <a:p>
            <a:pPr algn="l">
              <a:spcAft>
                <a:spcPts val="2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이기종</a:t>
            </a:r>
            <a:r>
              <a:rPr sz="950" b="0" dirty="0">
                <a:solidFill>
                  <a:srgbClr val="000000"/>
                </a:solidFill>
                <a:latin typeface="맑은 고딕"/>
                <a:ea typeface="맑은 고딕"/>
              </a:rPr>
              <a:t> </a:t>
            </a:r>
            <a:r>
              <a:rPr sz="950" b="0" dirty="0" err="1">
                <a:solidFill>
                  <a:srgbClr val="000000"/>
                </a:solidFill>
                <a:latin typeface="맑은 고딕"/>
                <a:ea typeface="맑은 고딕"/>
              </a:rPr>
              <a:t>메모리는</a:t>
            </a:r>
            <a:r>
              <a:rPr sz="950" b="0" dirty="0">
                <a:solidFill>
                  <a:srgbClr val="000000"/>
                </a:solidFill>
                <a:latin typeface="맑은 고딕"/>
                <a:ea typeface="맑은 고딕"/>
              </a:rPr>
              <a:t> </a:t>
            </a:r>
            <a:r>
              <a:rPr sz="950" b="0" dirty="0" err="1">
                <a:solidFill>
                  <a:srgbClr val="000000"/>
                </a:solidFill>
                <a:latin typeface="맑은 고딕"/>
                <a:ea typeface="맑은 고딕"/>
              </a:rPr>
              <a:t>실물이</a:t>
            </a:r>
            <a:r>
              <a:rPr sz="950" b="0" dirty="0">
                <a:solidFill>
                  <a:srgbClr val="000000"/>
                </a:solidFill>
                <a:latin typeface="맑은 고딕"/>
                <a:ea typeface="맑은 고딕"/>
              </a:rPr>
              <a:t> </a:t>
            </a:r>
            <a:r>
              <a:rPr sz="950" b="0" dirty="0" err="1">
                <a:solidFill>
                  <a:srgbClr val="000000"/>
                </a:solidFill>
                <a:latin typeface="맑은 고딕"/>
                <a:ea typeface="맑은 고딕"/>
              </a:rPr>
              <a:t>없으므로</a:t>
            </a:r>
            <a:r>
              <a:rPr sz="950" b="0" dirty="0">
                <a:solidFill>
                  <a:srgbClr val="000000"/>
                </a:solidFill>
                <a:latin typeface="맑은 고딕"/>
                <a:ea typeface="맑은 고딕"/>
              </a:rPr>
              <a:t> W4는 </a:t>
            </a:r>
            <a:r>
              <a:rPr sz="950" b="0" dirty="0" err="1">
                <a:solidFill>
                  <a:srgbClr val="000000"/>
                </a:solidFill>
                <a:latin typeface="맑은 고딕"/>
                <a:ea typeface="맑은 고딕"/>
              </a:rPr>
              <a:t>시뮬레이터</a:t>
            </a:r>
            <a:r>
              <a:rPr sz="950" b="0" dirty="0">
                <a:solidFill>
                  <a:srgbClr val="000000"/>
                </a:solidFill>
                <a:latin typeface="맑은 고딕"/>
                <a:ea typeface="맑은 고딕"/>
              </a:rPr>
              <a:t> tier </a:t>
            </a:r>
            <a:r>
              <a:rPr sz="950" b="0" dirty="0" err="1">
                <a:solidFill>
                  <a:srgbClr val="000000"/>
                </a:solidFill>
                <a:latin typeface="맑은 고딕"/>
                <a:ea typeface="맑은 고딕"/>
              </a:rPr>
              <a:t>모델을</a:t>
            </a:r>
            <a:r>
              <a:rPr sz="950" b="0" dirty="0">
                <a:solidFill>
                  <a:srgbClr val="000000"/>
                </a:solidFill>
                <a:latin typeface="맑은 고딕"/>
                <a:ea typeface="맑은 고딕"/>
              </a:rPr>
              <a:t> </a:t>
            </a:r>
            <a:r>
              <a:rPr sz="950" b="0" dirty="0" err="1">
                <a:solidFill>
                  <a:srgbClr val="000000"/>
                </a:solidFill>
                <a:latin typeface="맑은 고딕"/>
                <a:ea typeface="맑은 고딕"/>
              </a:rPr>
              <a:t>쓴다</a:t>
            </a:r>
            <a:r>
              <a:rPr sz="950" b="0" dirty="0">
                <a:solidFill>
                  <a:srgbClr val="000000"/>
                </a:solidFill>
                <a:latin typeface="맑은 고딕"/>
                <a:ea typeface="맑은 고딕"/>
              </a:rPr>
              <a:t>(3장). </a:t>
            </a:r>
            <a:r>
              <a:rPr sz="950" b="0" dirty="0" err="1">
                <a:solidFill>
                  <a:srgbClr val="000000"/>
                </a:solidFill>
                <a:latin typeface="맑은 고딕"/>
                <a:ea typeface="맑은 고딕"/>
              </a:rPr>
              <a:t>아직</a:t>
            </a:r>
            <a:r>
              <a:rPr sz="950" b="0" dirty="0">
                <a:solidFill>
                  <a:srgbClr val="000000"/>
                </a:solidFill>
                <a:latin typeface="맑은 고딕"/>
                <a:ea typeface="맑은 고딕"/>
              </a:rPr>
              <a:t> </a:t>
            </a:r>
            <a:r>
              <a:rPr sz="950" b="0" dirty="0" err="1">
                <a:solidFill>
                  <a:srgbClr val="000000"/>
                </a:solidFill>
                <a:latin typeface="맑은 고딕"/>
                <a:ea typeface="맑은 고딕"/>
              </a:rPr>
              <a:t>없는</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a:t>
            </a:r>
            <a:r>
              <a:rPr sz="950" b="0" dirty="0">
                <a:solidFill>
                  <a:srgbClr val="000000"/>
                </a:solidFill>
                <a:latin typeface="맑은 고딕"/>
                <a:ea typeface="맑은 고딕"/>
              </a:rPr>
              <a:t>: </a:t>
            </a:r>
            <a:r>
              <a:rPr sz="950" b="0" dirty="0" err="1">
                <a:solidFill>
                  <a:srgbClr val="000000"/>
                </a:solidFill>
                <a:latin typeface="맑은 고딕"/>
                <a:ea typeface="맑은 고딕"/>
              </a:rPr>
              <a:t>장애</a:t>
            </a:r>
            <a:r>
              <a:rPr sz="950" b="0" dirty="0">
                <a:solidFill>
                  <a:srgbClr val="000000"/>
                </a:solidFill>
                <a:latin typeface="맑은 고딕"/>
                <a:ea typeface="맑은 고딕"/>
              </a:rPr>
              <a:t> </a:t>
            </a:r>
            <a:r>
              <a:rPr sz="950" b="0" dirty="0" err="1">
                <a:solidFill>
                  <a:srgbClr val="000000"/>
                </a:solidFill>
                <a:latin typeface="맑은 고딕"/>
                <a:ea typeface="맑은 고딕"/>
              </a:rPr>
              <a:t>주입</a:t>
            </a:r>
            <a:r>
              <a:rPr sz="950" b="0" dirty="0">
                <a:solidFill>
                  <a:srgbClr val="000000"/>
                </a:solidFill>
                <a:latin typeface="맑은 고딕"/>
                <a:ea typeface="맑은 고딕"/>
              </a:rPr>
              <a:t>(</a:t>
            </a:r>
            <a:r>
              <a:rPr sz="950" b="0" dirty="0" err="1">
                <a:solidFill>
                  <a:srgbClr val="000000"/>
                </a:solidFill>
                <a:latin typeface="맑은 고딕"/>
                <a:ea typeface="맑은 고딕"/>
              </a:rPr>
              <a:t>공통</a:t>
            </a:r>
            <a:r>
              <a:rPr sz="950" b="0" dirty="0">
                <a:solidFill>
                  <a:srgbClr val="000000"/>
                </a:solidFill>
                <a:latin typeface="맑은 고딕"/>
                <a:ea typeface="맑은 고딕"/>
              </a:rPr>
              <a:t> QA5), </a:t>
            </a:r>
            <a:r>
              <a:rPr sz="950" b="0" dirty="0" err="1">
                <a:solidFill>
                  <a:srgbClr val="000000"/>
                </a:solidFill>
                <a:latin typeface="맑은 고딕"/>
                <a:ea typeface="맑은 고딕"/>
              </a:rPr>
              <a:t>다중</a:t>
            </a:r>
            <a:r>
              <a:rPr sz="950" b="0" dirty="0">
                <a:solidFill>
                  <a:srgbClr val="000000"/>
                </a:solidFill>
                <a:latin typeface="맑은 고딕"/>
                <a:ea typeface="맑은 고딕"/>
              </a:rPr>
              <a:t> </a:t>
            </a:r>
            <a:r>
              <a:rPr sz="950" b="0" dirty="0" err="1">
                <a:solidFill>
                  <a:srgbClr val="000000"/>
                </a:solidFill>
                <a:latin typeface="맑은 고딕"/>
                <a:ea typeface="맑은 고딕"/>
              </a:rPr>
              <a:t>클러스터</a:t>
            </a:r>
            <a:r>
              <a:rPr sz="950" b="0" dirty="0">
                <a:solidFill>
                  <a:srgbClr val="000000"/>
                </a:solidFill>
                <a:latin typeface="맑은 고딕"/>
                <a:ea typeface="맑은 고딕"/>
              </a:rPr>
              <a:t>.</a:t>
            </a:r>
          </a:p>
        </p:txBody>
      </p:sp>
      <p:sp>
        <p:nvSpPr>
          <p:cNvPr id="7" name="실행 단추: 뒤로 또는 이전 6">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4310205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시뮬레이션</a:t>
            </a:r>
            <a:r>
              <a:rPr sz="2200" b="1" dirty="0">
                <a:solidFill>
                  <a:srgbClr val="2F5597"/>
                </a:solidFill>
                <a:latin typeface="맑은 고딕"/>
                <a:ea typeface="맑은 고딕"/>
              </a:rPr>
              <a:t> </a:t>
            </a:r>
            <a:r>
              <a:rPr sz="2200" b="1" dirty="0" err="1">
                <a:solidFill>
                  <a:srgbClr val="2F5597"/>
                </a:solidFill>
                <a:latin typeface="맑은 고딕"/>
                <a:ea typeface="맑은 고딕"/>
              </a:rPr>
              <a:t>수행</a:t>
            </a:r>
            <a:r>
              <a:rPr sz="2200" b="1" dirty="0">
                <a:solidFill>
                  <a:srgbClr val="2F5597"/>
                </a:solidFill>
                <a:latin typeface="맑은 고딕"/>
                <a:ea typeface="맑은 고딕"/>
              </a:rPr>
              <a:t> </a:t>
            </a:r>
            <a:r>
              <a:rPr sz="2200" b="1" dirty="0" err="1">
                <a:solidFill>
                  <a:srgbClr val="2F5597"/>
                </a:solidFill>
                <a:latin typeface="맑은 고딕"/>
                <a:ea typeface="맑은 고딕"/>
              </a:rPr>
              <a:t>방식</a:t>
            </a:r>
            <a:r>
              <a:rPr sz="2200" b="1" dirty="0">
                <a:solidFill>
                  <a:srgbClr val="2F5597"/>
                </a:solidFill>
                <a:latin typeface="맑은 고딕"/>
                <a:ea typeface="맑은 고딕"/>
              </a:rPr>
              <a:t> — </a:t>
            </a:r>
            <a:r>
              <a:rPr sz="2200" b="1" dirty="0" err="1">
                <a:solidFill>
                  <a:srgbClr val="2F5597"/>
                </a:solidFill>
                <a:latin typeface="맑은 고딕"/>
                <a:ea typeface="맑은 고딕"/>
              </a:rPr>
              <a:t>실측</a:t>
            </a:r>
            <a:r>
              <a:rPr sz="2200" b="1" dirty="0">
                <a:solidFill>
                  <a:srgbClr val="2F5597"/>
                </a:solidFill>
                <a:latin typeface="맑은 고딕"/>
                <a:ea typeface="맑은 고딕"/>
              </a:rPr>
              <a:t> Baseline + </a:t>
            </a:r>
            <a:r>
              <a:rPr sz="2200" b="1" dirty="0" err="1">
                <a:solidFill>
                  <a:srgbClr val="2F5597"/>
                </a:solidFill>
                <a:latin typeface="맑은 고딕"/>
                <a:ea typeface="맑은 고딕"/>
              </a:rPr>
              <a:t>시뮬레이터</a:t>
            </a:r>
            <a:r>
              <a:rPr sz="2200" b="1" dirty="0">
                <a:solidFill>
                  <a:srgbClr val="2F5597"/>
                </a:solidFill>
                <a:latin typeface="맑은 고딕"/>
                <a:ea typeface="맑은 고딕"/>
              </a:rPr>
              <a:t> </a:t>
            </a:r>
            <a:r>
              <a:rPr sz="2200" b="1" dirty="0" err="1">
                <a:solidFill>
                  <a:srgbClr val="2F5597"/>
                </a:solidFill>
                <a:latin typeface="맑은 고딕"/>
                <a:ea typeface="맑은 고딕"/>
              </a:rPr>
              <a:t>연동</a:t>
            </a:r>
            <a:endParaRPr sz="2200" b="1" dirty="0">
              <a:solidFill>
                <a:srgbClr val="2F5597"/>
              </a:solidFill>
              <a:latin typeface="맑은 고딕"/>
              <a:ea typeface="맑은 고딕"/>
            </a:endParaRPr>
          </a:p>
        </p:txBody>
      </p:sp>
      <p:sp>
        <p:nvSpPr>
          <p:cNvPr id="3" name="TextBox 2"/>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보유한</a:t>
            </a:r>
            <a:r>
              <a:rPr sz="1100" b="0" dirty="0">
                <a:solidFill>
                  <a:srgbClr val="404040"/>
                </a:solidFill>
                <a:latin typeface="맑은 고딕"/>
                <a:ea typeface="맑은 고딕"/>
              </a:rPr>
              <a:t> </a:t>
            </a:r>
            <a:r>
              <a:rPr sz="1100" b="0" dirty="0" err="1">
                <a:solidFill>
                  <a:srgbClr val="404040"/>
                </a:solidFill>
                <a:latin typeface="맑은 고딕"/>
                <a:ea typeface="맑은 고딕"/>
              </a:rPr>
              <a:t>시스템에서</a:t>
            </a:r>
            <a:r>
              <a:rPr sz="1100" b="0" dirty="0">
                <a:solidFill>
                  <a:srgbClr val="404040"/>
                </a:solidFill>
                <a:latin typeface="맑은 고딕"/>
                <a:ea typeface="맑은 고딕"/>
              </a:rPr>
              <a:t> </a:t>
            </a:r>
            <a:r>
              <a:rPr sz="1100" b="0" dirty="0" err="1">
                <a:solidFill>
                  <a:srgbClr val="404040"/>
                </a:solidFill>
                <a:latin typeface="맑은 고딕"/>
                <a:ea typeface="맑은 고딕"/>
              </a:rPr>
              <a:t>Baseline을</a:t>
            </a:r>
            <a:r>
              <a:rPr sz="1100" b="0" dirty="0">
                <a:solidFill>
                  <a:srgbClr val="404040"/>
                </a:solidFill>
                <a:latin typeface="맑은 고딕"/>
                <a:ea typeface="맑은 고딕"/>
              </a:rPr>
              <a:t> </a:t>
            </a:r>
            <a:r>
              <a:rPr sz="1100" b="0" dirty="0" err="1">
                <a:solidFill>
                  <a:srgbClr val="404040"/>
                </a:solidFill>
                <a:latin typeface="맑은 고딕"/>
                <a:ea typeface="맑은 고딕"/>
              </a:rPr>
              <a:t>실측하고</a:t>
            </a:r>
            <a:r>
              <a:rPr sz="1100" b="0" dirty="0">
                <a:solidFill>
                  <a:srgbClr val="404040"/>
                </a:solidFill>
                <a:latin typeface="맑은 고딕"/>
                <a:ea typeface="맑은 고딕"/>
              </a:rPr>
              <a:t>, </a:t>
            </a:r>
            <a:r>
              <a:rPr sz="1100" b="0" dirty="0" err="1">
                <a:solidFill>
                  <a:srgbClr val="404040"/>
                </a:solidFill>
                <a:latin typeface="맑은 고딕"/>
                <a:ea typeface="맑은 고딕"/>
              </a:rPr>
              <a:t>실물이</a:t>
            </a:r>
            <a:r>
              <a:rPr sz="1100" b="0" dirty="0">
                <a:solidFill>
                  <a:srgbClr val="404040"/>
                </a:solidFill>
                <a:latin typeface="맑은 고딕"/>
                <a:ea typeface="맑은 고딕"/>
              </a:rPr>
              <a:t> </a:t>
            </a:r>
            <a:r>
              <a:rPr sz="1100" b="0" dirty="0" err="1">
                <a:solidFill>
                  <a:srgbClr val="404040"/>
                </a:solidFill>
                <a:latin typeface="맑은 고딕"/>
                <a:ea typeface="맑은 고딕"/>
              </a:rPr>
              <a:t>없는</a:t>
            </a:r>
            <a:r>
              <a:rPr sz="1100" b="0" dirty="0">
                <a:solidFill>
                  <a:srgbClr val="404040"/>
                </a:solidFill>
                <a:latin typeface="맑은 고딕"/>
                <a:ea typeface="맑은 고딕"/>
              </a:rPr>
              <a:t> </a:t>
            </a:r>
            <a:r>
              <a:rPr sz="1100" b="0" dirty="0" err="1">
                <a:solidFill>
                  <a:srgbClr val="404040"/>
                </a:solidFill>
                <a:latin typeface="맑은 고딕"/>
                <a:ea typeface="맑은 고딕"/>
              </a:rPr>
              <a:t>메모리와</a:t>
            </a:r>
            <a:r>
              <a:rPr sz="1100" b="0" dirty="0">
                <a:solidFill>
                  <a:srgbClr val="404040"/>
                </a:solidFill>
                <a:latin typeface="맑은 고딕"/>
                <a:ea typeface="맑은 고딕"/>
              </a:rPr>
              <a:t> 2안만 </a:t>
            </a:r>
            <a:r>
              <a:rPr sz="1100" b="0" dirty="0" err="1">
                <a:solidFill>
                  <a:srgbClr val="404040"/>
                </a:solidFill>
                <a:latin typeface="맑은 고딕"/>
                <a:ea typeface="맑은 고딕"/>
              </a:rPr>
              <a:t>모델로</a:t>
            </a:r>
            <a:r>
              <a:rPr sz="1100" b="0" dirty="0">
                <a:solidFill>
                  <a:srgbClr val="404040"/>
                </a:solidFill>
                <a:latin typeface="맑은 고딕"/>
                <a:ea typeface="맑은 고딕"/>
              </a:rPr>
              <a:t> </a:t>
            </a:r>
            <a:r>
              <a:rPr sz="1100" b="0" dirty="0" err="1">
                <a:solidFill>
                  <a:srgbClr val="404040"/>
                </a:solidFill>
                <a:latin typeface="맑은 고딕"/>
                <a:ea typeface="맑은 고딕"/>
              </a:rPr>
              <a:t>대체한다</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0"/>
            <a:ext cx="2560320" cy="713232"/>
          </a:xfrm>
          <a:prstGeom prst="rect">
            <a:avLst/>
          </a:prstGeom>
          <a:solidFill>
            <a:srgbClr val="DAE3F3"/>
          </a:solidFill>
          <a:ln w="12700">
            <a:solidFill>
              <a:srgbClr val="2F5597"/>
            </a:solidFill>
          </a:ln>
        </p:spPr>
        <p:txBody>
          <a:bodyPr wrap="square" lIns="73152" tIns="36576" rIns="73152" bIns="36576" anchor="ctr">
            <a:spAutoFit/>
          </a:bodyPr>
          <a:lstStyle/>
          <a:p>
            <a:pPr algn="l">
              <a:spcAft>
                <a:spcPts val="200"/>
              </a:spcAft>
            </a:pPr>
            <a:r>
              <a:rPr sz="1050" b="1">
                <a:solidFill>
                  <a:srgbClr val="2F5597"/>
                </a:solidFill>
                <a:latin typeface="맑은 고딕"/>
                <a:ea typeface="맑은 고딕"/>
              </a:rPr>
              <a:t>① Baseline 실측 [A]</a:t>
            </a:r>
          </a:p>
        </p:txBody>
      </p:sp>
      <p:sp>
        <p:nvSpPr>
          <p:cNvPr id="6" name="TextBox 5"/>
          <p:cNvSpPr txBox="1"/>
          <p:nvPr/>
        </p:nvSpPr>
        <p:spPr>
          <a:xfrm>
            <a:off x="3017520" y="1188720"/>
            <a:ext cx="8778240" cy="713232"/>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H100 ×8 ×2노드에서 </a:t>
            </a:r>
            <a:r>
              <a:rPr sz="950" b="0" dirty="0" err="1">
                <a:solidFill>
                  <a:srgbClr val="000000"/>
                </a:solidFill>
                <a:latin typeface="맑은 고딕"/>
                <a:ea typeface="맑은 고딕"/>
              </a:rPr>
              <a:t>vLLM</a:t>
            </a:r>
            <a:r>
              <a:rPr sz="950" b="0" dirty="0">
                <a:solidFill>
                  <a:srgbClr val="000000"/>
                </a:solidFill>
                <a:latin typeface="맑은 고딕"/>
                <a:ea typeface="맑은 고딕"/>
              </a:rPr>
              <a:t> + </a:t>
            </a:r>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없는</a:t>
            </a:r>
            <a:r>
              <a:rPr sz="950" b="0" dirty="0">
                <a:solidFill>
                  <a:srgbClr val="000000"/>
                </a:solidFill>
                <a:latin typeface="맑은 고딕"/>
                <a:ea typeface="맑은 고딕"/>
              </a:rPr>
              <a:t> </a:t>
            </a:r>
            <a:r>
              <a:rPr sz="950" b="0" dirty="0" err="1">
                <a:solidFill>
                  <a:srgbClr val="000000"/>
                </a:solidFill>
                <a:latin typeface="맑은 고딕"/>
                <a:ea typeface="맑은 고딕"/>
              </a:rPr>
              <a:t>기본</a:t>
            </a:r>
            <a:r>
              <a:rPr sz="950" b="0" dirty="0">
                <a:solidFill>
                  <a:srgbClr val="000000"/>
                </a:solidFill>
                <a:latin typeface="맑은 고딕"/>
                <a:ea typeface="맑은 고딕"/>
              </a:rPr>
              <a:t> </a:t>
            </a:r>
            <a:r>
              <a:rPr sz="950" b="0" dirty="0" err="1">
                <a:solidFill>
                  <a:srgbClr val="000000"/>
                </a:solidFill>
                <a:latin typeface="맑은 고딕"/>
                <a:ea typeface="맑은 고딕"/>
              </a:rPr>
              <a:t>라우팅을</a:t>
            </a:r>
            <a:r>
              <a:rPr sz="950" b="0" dirty="0">
                <a:solidFill>
                  <a:srgbClr val="000000"/>
                </a:solidFill>
                <a:latin typeface="맑은 고딕"/>
                <a:ea typeface="맑은 고딕"/>
              </a:rPr>
              <a:t> </a:t>
            </a:r>
            <a:r>
              <a:rPr sz="950" b="0" dirty="0" err="1">
                <a:solidFill>
                  <a:srgbClr val="000000"/>
                </a:solidFill>
                <a:latin typeface="맑은 고딕"/>
                <a:ea typeface="맑은 고딕"/>
              </a:rPr>
              <a:t>실행</a:t>
            </a:r>
            <a:r>
              <a:rPr sz="950" b="0" dirty="0">
                <a:solidFill>
                  <a:srgbClr val="000000"/>
                </a:solidFill>
                <a:latin typeface="맑은 고딕"/>
                <a:ea typeface="맑은 고딕"/>
              </a:rPr>
              <a:t>. W1 load sweep, seed ≥ 5, P99·Goodput·SE(N0=2) </a:t>
            </a:r>
            <a:r>
              <a:rPr sz="950" b="0" dirty="0" err="1">
                <a:solidFill>
                  <a:srgbClr val="000000"/>
                </a:solidFill>
                <a:latin typeface="맑은 고딕"/>
                <a:ea typeface="맑은 고딕"/>
              </a:rPr>
              <a:t>기록</a:t>
            </a:r>
            <a:endParaRPr sz="950" b="0" dirty="0">
              <a:solidFill>
                <a:srgbClr val="000000"/>
              </a:solidFill>
              <a:latin typeface="맑은 고딕"/>
              <a:ea typeface="맑은 고딕"/>
            </a:endParaRPr>
          </a:p>
        </p:txBody>
      </p:sp>
      <p:sp>
        <p:nvSpPr>
          <p:cNvPr id="7" name="TextBox 6"/>
          <p:cNvSpPr txBox="1"/>
          <p:nvPr/>
        </p:nvSpPr>
        <p:spPr>
          <a:xfrm>
            <a:off x="365760" y="1975104"/>
            <a:ext cx="2560320" cy="713232"/>
          </a:xfrm>
          <a:prstGeom prst="rect">
            <a:avLst/>
          </a:prstGeom>
          <a:solidFill>
            <a:srgbClr val="FFF2CC"/>
          </a:solidFill>
          <a:ln w="12700">
            <a:solidFill>
              <a:srgbClr val="BF9000"/>
            </a:solidFill>
          </a:ln>
        </p:spPr>
        <p:txBody>
          <a:bodyPr wrap="square" lIns="73152" tIns="36576" rIns="73152" bIns="36576" anchor="ctr">
            <a:spAutoFit/>
          </a:bodyPr>
          <a:lstStyle/>
          <a:p>
            <a:pPr algn="l">
              <a:spcAft>
                <a:spcPts val="200"/>
              </a:spcAft>
            </a:pPr>
            <a:r>
              <a:rPr sz="1050" b="1">
                <a:solidFill>
                  <a:srgbClr val="BF9000"/>
                </a:solidFill>
                <a:latin typeface="맑은 고딕"/>
                <a:ea typeface="맑은 고딕"/>
              </a:rPr>
              <a:t>② 이기종 메모리 시뮬레이터 연동 [C]</a:t>
            </a:r>
          </a:p>
        </p:txBody>
      </p:sp>
      <p:sp>
        <p:nvSpPr>
          <p:cNvPr id="8" name="TextBox 7"/>
          <p:cNvSpPr txBox="1"/>
          <p:nvPr/>
        </p:nvSpPr>
        <p:spPr>
          <a:xfrm>
            <a:off x="3017520" y="2049848"/>
            <a:ext cx="8778240" cy="563744"/>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HBF</a:t>
            </a:r>
            <a:r>
              <a:rPr lang="en-US" sz="950" b="0" dirty="0">
                <a:solidFill>
                  <a:srgbClr val="000000"/>
                </a:solidFill>
                <a:latin typeface="맑은 고딕"/>
                <a:ea typeface="맑은 고딕"/>
              </a:rPr>
              <a:t> </a:t>
            </a:r>
            <a:r>
              <a:rPr lang="ko-KR" altLang="en-US" sz="950" b="0" dirty="0">
                <a:solidFill>
                  <a:srgbClr val="000000"/>
                </a:solidFill>
                <a:latin typeface="맑은 고딕"/>
                <a:ea typeface="맑은 고딕"/>
              </a:rPr>
              <a:t>및 </a:t>
            </a:r>
            <a:r>
              <a:rPr lang="en-US" altLang="ko-KR" sz="950" b="0" dirty="0">
                <a:solidFill>
                  <a:srgbClr val="000000"/>
                </a:solidFill>
                <a:latin typeface="맑은 고딕"/>
                <a:ea typeface="맑은 고딕"/>
              </a:rPr>
              <a:t>3</a:t>
            </a:r>
            <a:r>
              <a:rPr lang="ko-KR" altLang="en-US" sz="950" b="0" dirty="0">
                <a:solidFill>
                  <a:srgbClr val="000000"/>
                </a:solidFill>
                <a:latin typeface="맑은 고딕"/>
                <a:ea typeface="맑은 고딕"/>
              </a:rPr>
              <a:t>이상의 다중 노드</a:t>
            </a:r>
            <a:r>
              <a:rPr sz="950" b="0" dirty="0">
                <a:solidFill>
                  <a:srgbClr val="000000"/>
                </a:solidFill>
                <a:latin typeface="맑은 고딕"/>
                <a:ea typeface="맑은 고딕"/>
              </a:rPr>
              <a:t>는 </a:t>
            </a:r>
            <a:r>
              <a:rPr sz="950" b="0" dirty="0" err="1">
                <a:solidFill>
                  <a:srgbClr val="000000"/>
                </a:solidFill>
                <a:latin typeface="맑은 고딕"/>
                <a:ea typeface="맑은 고딕"/>
              </a:rPr>
              <a:t>실물이</a:t>
            </a:r>
            <a:r>
              <a:rPr sz="950" b="0" dirty="0">
                <a:solidFill>
                  <a:srgbClr val="000000"/>
                </a:solidFill>
                <a:latin typeface="맑은 고딕"/>
                <a:ea typeface="맑은 고딕"/>
              </a:rPr>
              <a:t> </a:t>
            </a:r>
            <a:r>
              <a:rPr sz="950" b="0" dirty="0" err="1">
                <a:solidFill>
                  <a:srgbClr val="000000"/>
                </a:solidFill>
                <a:latin typeface="맑은 고딕"/>
                <a:ea typeface="맑은 고딕"/>
              </a:rPr>
              <a:t>없다</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spcAft>
                <a:spcPts val="200"/>
              </a:spcAft>
            </a:pPr>
            <a:r>
              <a:rPr sz="950" b="0" dirty="0" err="1">
                <a:solidFill>
                  <a:srgbClr val="000000"/>
                </a:solidFill>
                <a:latin typeface="맑은 고딕"/>
                <a:ea typeface="맑은 고딕"/>
              </a:rPr>
              <a:t>tier별</a:t>
            </a:r>
            <a:r>
              <a:rPr sz="950" b="0" dirty="0">
                <a:solidFill>
                  <a:srgbClr val="000000"/>
                </a:solidFill>
                <a:latin typeface="맑은 고딕"/>
                <a:ea typeface="맑은 고딕"/>
              </a:rPr>
              <a:t> </a:t>
            </a:r>
            <a:r>
              <a:rPr sz="950" b="0" dirty="0" err="1">
                <a:solidFill>
                  <a:srgbClr val="000000"/>
                </a:solidFill>
                <a:latin typeface="맑은 고딕"/>
                <a:ea typeface="맑은 고딕"/>
              </a:rPr>
              <a:t>용량·대역폭·지연을</a:t>
            </a:r>
            <a:r>
              <a:rPr sz="950" b="0" dirty="0">
                <a:solidFill>
                  <a:srgbClr val="000000"/>
                </a:solidFill>
                <a:latin typeface="맑은 고딕"/>
                <a:ea typeface="맑은 고딕"/>
              </a:rPr>
              <a:t> </a:t>
            </a:r>
            <a:r>
              <a:rPr sz="950" b="0" dirty="0" err="1">
                <a:solidFill>
                  <a:srgbClr val="000000"/>
                </a:solidFill>
                <a:latin typeface="맑은 고딕"/>
                <a:ea typeface="맑은 고딕"/>
              </a:rPr>
              <a:t>파라미터로</a:t>
            </a:r>
            <a:r>
              <a:rPr sz="950" b="0" dirty="0">
                <a:solidFill>
                  <a:srgbClr val="000000"/>
                </a:solidFill>
                <a:latin typeface="맑은 고딕"/>
                <a:ea typeface="맑은 고딕"/>
              </a:rPr>
              <a:t> 둔 </a:t>
            </a:r>
            <a:r>
              <a:rPr sz="950" b="0" dirty="0" err="1">
                <a:solidFill>
                  <a:srgbClr val="000000"/>
                </a:solidFill>
                <a:latin typeface="맑은 고딕"/>
                <a:ea typeface="맑은 고딕"/>
              </a:rPr>
              <a:t>모델을</a:t>
            </a:r>
            <a:r>
              <a:rPr sz="950" b="0" dirty="0">
                <a:solidFill>
                  <a:srgbClr val="000000"/>
                </a:solidFill>
                <a:latin typeface="맑은 고딕"/>
                <a:ea typeface="맑은 고딕"/>
              </a:rPr>
              <a:t> KV </a:t>
            </a:r>
            <a:r>
              <a:rPr sz="950" b="0" dirty="0" err="1">
                <a:solidFill>
                  <a:srgbClr val="000000"/>
                </a:solidFill>
                <a:latin typeface="맑은 고딕"/>
                <a:ea typeface="맑은 고딕"/>
              </a:rPr>
              <a:t>접근</a:t>
            </a:r>
            <a:r>
              <a:rPr sz="950" b="0" dirty="0">
                <a:solidFill>
                  <a:srgbClr val="000000"/>
                </a:solidFill>
                <a:latin typeface="맑은 고딕"/>
                <a:ea typeface="맑은 고딕"/>
              </a:rPr>
              <a:t> </a:t>
            </a:r>
            <a:r>
              <a:rPr sz="950" b="0" dirty="0" err="1">
                <a:solidFill>
                  <a:srgbClr val="000000"/>
                </a:solidFill>
                <a:latin typeface="맑은 고딕"/>
                <a:ea typeface="맑은 고딕"/>
              </a:rPr>
              <a:t>경로에</a:t>
            </a:r>
            <a:r>
              <a:rPr sz="950" b="0" dirty="0">
                <a:solidFill>
                  <a:srgbClr val="000000"/>
                </a:solidFill>
                <a:latin typeface="맑은 고딕"/>
                <a:ea typeface="맑은 고딕"/>
              </a:rPr>
              <a:t> </a:t>
            </a:r>
            <a:r>
              <a:rPr sz="950" b="0" dirty="0" err="1">
                <a:solidFill>
                  <a:srgbClr val="000000"/>
                </a:solidFill>
                <a:latin typeface="맑은 고딕"/>
                <a:ea typeface="맑은 고딕"/>
              </a:rPr>
              <a:t>삽입해</a:t>
            </a:r>
            <a:r>
              <a:rPr sz="950" b="0" dirty="0">
                <a:solidFill>
                  <a:srgbClr val="000000"/>
                </a:solidFill>
                <a:latin typeface="맑은 고딕"/>
                <a:ea typeface="맑은 고딕"/>
              </a:rPr>
              <a:t>, tier </a:t>
            </a:r>
            <a:r>
              <a:rPr sz="950" b="0" dirty="0" err="1">
                <a:solidFill>
                  <a:srgbClr val="000000"/>
                </a:solidFill>
                <a:latin typeface="맑은 고딕"/>
                <a:ea typeface="맑은 고딕"/>
              </a:rPr>
              <a:t>접근</a:t>
            </a:r>
            <a:r>
              <a:rPr sz="950" b="0" dirty="0">
                <a:solidFill>
                  <a:srgbClr val="000000"/>
                </a:solidFill>
                <a:latin typeface="맑은 고딕"/>
                <a:ea typeface="맑은 고딕"/>
              </a:rPr>
              <a:t> 때 </a:t>
            </a:r>
            <a:r>
              <a:rPr sz="950" b="0" dirty="0" err="1">
                <a:solidFill>
                  <a:srgbClr val="000000"/>
                </a:solidFill>
                <a:latin typeface="맑은 고딕"/>
                <a:ea typeface="맑은 고딕"/>
              </a:rPr>
              <a:t>서비스</a:t>
            </a:r>
            <a:r>
              <a:rPr sz="950" b="0" dirty="0">
                <a:solidFill>
                  <a:srgbClr val="000000"/>
                </a:solidFill>
                <a:latin typeface="맑은 고딕"/>
                <a:ea typeface="맑은 고딕"/>
              </a:rPr>
              <a:t> </a:t>
            </a:r>
            <a:r>
              <a:rPr sz="950" b="0" dirty="0" err="1">
                <a:solidFill>
                  <a:srgbClr val="000000"/>
                </a:solidFill>
                <a:latin typeface="맑은 고딕"/>
                <a:ea typeface="맑은 고딕"/>
              </a:rPr>
              <a:t>시간</a:t>
            </a:r>
            <a:r>
              <a:rPr sz="950" b="0" dirty="0">
                <a:solidFill>
                  <a:srgbClr val="000000"/>
                </a:solidFill>
                <a:latin typeface="맑은 고딕"/>
                <a:ea typeface="맑은 고딕"/>
              </a:rPr>
              <a:t>(</a:t>
            </a:r>
            <a:r>
              <a:rPr sz="950" b="0" dirty="0" err="1">
                <a:solidFill>
                  <a:srgbClr val="000000"/>
                </a:solidFill>
                <a:latin typeface="맑은 고딕"/>
                <a:ea typeface="맑은 고딕"/>
              </a:rPr>
              <a:t>바이트</a:t>
            </a:r>
            <a:r>
              <a:rPr sz="950" b="0" dirty="0">
                <a:solidFill>
                  <a:srgbClr val="000000"/>
                </a:solidFill>
                <a:latin typeface="맑은 고딕"/>
                <a:ea typeface="맑은 고딕"/>
              </a:rPr>
              <a:t> ÷ </a:t>
            </a:r>
            <a:r>
              <a:rPr sz="950" b="0" dirty="0" err="1">
                <a:solidFill>
                  <a:srgbClr val="000000"/>
                </a:solidFill>
                <a:latin typeface="맑은 고딕"/>
                <a:ea typeface="맑은 고딕"/>
              </a:rPr>
              <a:t>대역폭</a:t>
            </a:r>
            <a:r>
              <a:rPr sz="950" b="0" dirty="0">
                <a:solidFill>
                  <a:srgbClr val="000000"/>
                </a:solidFill>
                <a:latin typeface="맑은 고딕"/>
                <a:ea typeface="맑은 고딕"/>
              </a:rPr>
              <a:t> + </a:t>
            </a:r>
            <a:r>
              <a:rPr sz="950" b="0" dirty="0" err="1">
                <a:solidFill>
                  <a:srgbClr val="000000"/>
                </a:solidFill>
                <a:latin typeface="맑은 고딕"/>
                <a:ea typeface="맑은 고딕"/>
              </a:rPr>
              <a:t>지연</a:t>
            </a:r>
            <a:r>
              <a:rPr sz="950" b="0" dirty="0">
                <a:solidFill>
                  <a:srgbClr val="000000"/>
                </a:solidFill>
                <a:latin typeface="맑은 고딕"/>
                <a:ea typeface="맑은 고딕"/>
              </a:rPr>
              <a:t>)</a:t>
            </a:r>
            <a:r>
              <a:rPr sz="950" b="0" dirty="0" err="1">
                <a:solidFill>
                  <a:srgbClr val="000000"/>
                </a:solidFill>
                <a:latin typeface="맑은 고딕"/>
                <a:ea typeface="맑은 고딕"/>
              </a:rPr>
              <a:t>만큼</a:t>
            </a:r>
            <a:r>
              <a:rPr sz="950" b="0" dirty="0">
                <a:solidFill>
                  <a:srgbClr val="000000"/>
                </a:solidFill>
                <a:latin typeface="맑은 고딕"/>
                <a:ea typeface="맑은 고딕"/>
              </a:rPr>
              <a:t> </a:t>
            </a:r>
            <a:r>
              <a:rPr sz="950" b="0" dirty="0" err="1">
                <a:solidFill>
                  <a:srgbClr val="000000"/>
                </a:solidFill>
                <a:latin typeface="맑은 고딕"/>
                <a:ea typeface="맑은 고딕"/>
              </a:rPr>
              <a:t>지연을</a:t>
            </a:r>
            <a:r>
              <a:rPr sz="950" b="0" dirty="0">
                <a:solidFill>
                  <a:srgbClr val="000000"/>
                </a:solidFill>
                <a:latin typeface="맑은 고딕"/>
                <a:ea typeface="맑은 고딕"/>
              </a:rPr>
              <a:t> </a:t>
            </a:r>
            <a:r>
              <a:rPr sz="950" b="0" dirty="0" err="1">
                <a:solidFill>
                  <a:srgbClr val="000000"/>
                </a:solidFill>
                <a:latin typeface="맑은 고딕"/>
                <a:ea typeface="맑은 고딕"/>
              </a:rPr>
              <a:t>주입</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spcAft>
                <a:spcPts val="200"/>
              </a:spcAft>
            </a:pPr>
            <a:r>
              <a:rPr sz="950" b="0" dirty="0" err="1">
                <a:solidFill>
                  <a:srgbClr val="000000"/>
                </a:solidFill>
                <a:latin typeface="맑은 고딕"/>
                <a:ea typeface="맑은 고딕"/>
              </a:rPr>
              <a:t>HBM·DRAM은</a:t>
            </a:r>
            <a:r>
              <a:rPr sz="950" b="0" dirty="0">
                <a:solidFill>
                  <a:srgbClr val="000000"/>
                </a:solidFill>
                <a:latin typeface="맑은 고딕"/>
                <a:ea typeface="맑은 고딕"/>
              </a:rPr>
              <a:t> </a:t>
            </a:r>
            <a:r>
              <a:rPr sz="950" b="0" dirty="0" err="1">
                <a:solidFill>
                  <a:srgbClr val="000000"/>
                </a:solidFill>
                <a:latin typeface="맑은 고딕"/>
                <a:ea typeface="맑은 고딕"/>
              </a:rPr>
              <a:t>실물</a:t>
            </a:r>
            <a:r>
              <a:rPr sz="950" b="0" dirty="0">
                <a:solidFill>
                  <a:srgbClr val="000000"/>
                </a:solidFill>
                <a:latin typeface="맑은 고딕"/>
                <a:ea typeface="맑은 고딕"/>
              </a:rPr>
              <a:t> </a:t>
            </a:r>
            <a:r>
              <a:rPr sz="950" b="0" dirty="0" err="1">
                <a:solidFill>
                  <a:srgbClr val="000000"/>
                </a:solidFill>
                <a:latin typeface="맑은 고딕"/>
                <a:ea typeface="맑은 고딕"/>
              </a:rPr>
              <a:t>값으로</a:t>
            </a:r>
            <a:r>
              <a:rPr sz="950" b="0" dirty="0">
                <a:solidFill>
                  <a:srgbClr val="000000"/>
                </a:solidFill>
                <a:latin typeface="맑은 고딕"/>
                <a:ea typeface="맑은 고딕"/>
              </a:rPr>
              <a:t> </a:t>
            </a:r>
            <a:r>
              <a:rPr sz="950" b="0" dirty="0" err="1">
                <a:solidFill>
                  <a:srgbClr val="000000"/>
                </a:solidFill>
                <a:latin typeface="맑은 고딕"/>
                <a:ea typeface="맑은 고딕"/>
              </a:rPr>
              <a:t>보정</a:t>
            </a:r>
            <a:endParaRPr sz="950" b="0" dirty="0">
              <a:solidFill>
                <a:srgbClr val="000000"/>
              </a:solidFill>
              <a:latin typeface="맑은 고딕"/>
              <a:ea typeface="맑은 고딕"/>
            </a:endParaRPr>
          </a:p>
        </p:txBody>
      </p:sp>
      <p:sp>
        <p:nvSpPr>
          <p:cNvPr id="9" name="TextBox 8"/>
          <p:cNvSpPr txBox="1"/>
          <p:nvPr/>
        </p:nvSpPr>
        <p:spPr>
          <a:xfrm>
            <a:off x="365760" y="2761488"/>
            <a:ext cx="2560320" cy="713232"/>
          </a:xfrm>
          <a:prstGeom prst="rect">
            <a:avLst/>
          </a:prstGeom>
          <a:solidFill>
            <a:srgbClr val="FBE5D6"/>
          </a:solidFill>
          <a:ln w="12700">
            <a:solidFill>
              <a:srgbClr val="C55A11"/>
            </a:solidFill>
          </a:ln>
        </p:spPr>
        <p:txBody>
          <a:bodyPr wrap="square" lIns="73152" tIns="36576" rIns="73152" bIns="36576" anchor="ctr">
            <a:spAutoFit/>
          </a:bodyPr>
          <a:lstStyle/>
          <a:p>
            <a:pPr algn="l">
              <a:spcAft>
                <a:spcPts val="200"/>
              </a:spcAft>
            </a:pPr>
            <a:r>
              <a:rPr sz="1050" b="1">
                <a:solidFill>
                  <a:srgbClr val="C55A11"/>
                </a:solidFill>
                <a:latin typeface="맑은 고딕"/>
                <a:ea typeface="맑은 고딕"/>
              </a:rPr>
              <a:t>③ 후보 라우팅 계층 주입</a:t>
            </a:r>
          </a:p>
        </p:txBody>
      </p:sp>
      <p:sp>
        <p:nvSpPr>
          <p:cNvPr id="10" name="TextBox 9"/>
          <p:cNvSpPr txBox="1"/>
          <p:nvPr/>
        </p:nvSpPr>
        <p:spPr>
          <a:xfrm>
            <a:off x="3017520" y="2922153"/>
            <a:ext cx="8778240" cy="391902"/>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1안: </a:t>
            </a:r>
            <a:r>
              <a:rPr sz="950" b="0" dirty="0" err="1">
                <a:solidFill>
                  <a:srgbClr val="000000"/>
                </a:solidFill>
                <a:latin typeface="맑은 고딕"/>
                <a:ea typeface="맑은 고딕"/>
              </a:rPr>
              <a:t>llm</a:t>
            </a:r>
            <a:r>
              <a:rPr sz="950" b="0" dirty="0">
                <a:solidFill>
                  <a:srgbClr val="000000"/>
                </a:solidFill>
                <a:latin typeface="맑은 고딕"/>
                <a:ea typeface="맑은 고딕"/>
              </a:rPr>
              <a:t>-d + </a:t>
            </a:r>
            <a:r>
              <a:rPr sz="950" b="0" dirty="0" err="1">
                <a:solidFill>
                  <a:srgbClr val="000000"/>
                </a:solidFill>
                <a:latin typeface="맑은 고딕"/>
                <a:ea typeface="맑은 고딕"/>
              </a:rPr>
              <a:t>우리</a:t>
            </a:r>
            <a:r>
              <a:rPr sz="950" b="0" dirty="0">
                <a:solidFill>
                  <a:srgbClr val="000000"/>
                </a:solidFill>
                <a:latin typeface="맑은 고딕"/>
                <a:ea typeface="맑은 고딕"/>
              </a:rPr>
              <a:t> plugin </a:t>
            </a:r>
            <a:r>
              <a:rPr sz="950" b="0" dirty="0" err="1">
                <a:solidFill>
                  <a:srgbClr val="000000"/>
                </a:solidFill>
                <a:latin typeface="맑은 고딕"/>
                <a:ea typeface="맑은 고딕"/>
              </a:rPr>
              <a:t>코드를</a:t>
            </a:r>
            <a:r>
              <a:rPr sz="950" b="0" dirty="0">
                <a:solidFill>
                  <a:srgbClr val="000000"/>
                </a:solidFill>
                <a:latin typeface="맑은 고딕"/>
                <a:ea typeface="맑은 고딕"/>
              </a:rPr>
              <a:t> </a:t>
            </a:r>
            <a:r>
              <a:rPr sz="950" b="0" dirty="0" err="1">
                <a:solidFill>
                  <a:srgbClr val="000000"/>
                </a:solidFill>
                <a:latin typeface="맑은 고딕"/>
                <a:ea typeface="맑은 고딕"/>
              </a:rPr>
              <a:t>그대로</a:t>
            </a:r>
            <a:r>
              <a:rPr sz="950" b="0" dirty="0">
                <a:solidFill>
                  <a:srgbClr val="000000"/>
                </a:solidFill>
                <a:latin typeface="맑은 고딕"/>
                <a:ea typeface="맑은 고딕"/>
              </a:rPr>
              <a:t> </a:t>
            </a:r>
            <a:r>
              <a:rPr sz="950" b="0" dirty="0" err="1">
                <a:solidFill>
                  <a:srgbClr val="000000"/>
                </a:solidFill>
                <a:latin typeface="맑은 고딕"/>
                <a:ea typeface="맑은 고딕"/>
              </a:rPr>
              <a:t>실행</a:t>
            </a:r>
            <a:r>
              <a:rPr sz="950" b="0" dirty="0">
                <a:solidFill>
                  <a:srgbClr val="000000"/>
                </a:solidFill>
                <a:latin typeface="맑은 고딕"/>
                <a:ea typeface="맑은 고딕"/>
              </a:rPr>
              <a:t>(P1~P4는 </a:t>
            </a:r>
            <a:r>
              <a:rPr sz="950" b="0" dirty="0" err="1">
                <a:solidFill>
                  <a:srgbClr val="000000"/>
                </a:solidFill>
                <a:latin typeface="맑은 고딕"/>
                <a:ea typeface="맑은 고딕"/>
              </a:rPr>
              <a:t>합성</a:t>
            </a:r>
            <a:r>
              <a:rPr sz="950" b="0" dirty="0">
                <a:solidFill>
                  <a:srgbClr val="000000"/>
                </a:solidFill>
                <a:latin typeface="맑은 고딕"/>
                <a:ea typeface="맑은 고딕"/>
              </a:rPr>
              <a:t> </a:t>
            </a:r>
            <a:r>
              <a:rPr sz="950" b="0" dirty="0" err="1">
                <a:solidFill>
                  <a:srgbClr val="000000"/>
                </a:solidFill>
                <a:latin typeface="맑은 고딕"/>
                <a:ea typeface="맑은 고딕"/>
              </a:rPr>
              <a:t>백엔드</a:t>
            </a:r>
            <a:r>
              <a:rPr sz="950" b="0" dirty="0">
                <a:solidFill>
                  <a:srgbClr val="000000"/>
                </a:solidFill>
                <a:latin typeface="맑은 고딕"/>
                <a:ea typeface="맑은 고딕"/>
              </a:rPr>
              <a:t> </a:t>
            </a:r>
            <a:r>
              <a:rPr sz="950" b="0" dirty="0" err="1">
                <a:solidFill>
                  <a:srgbClr val="000000"/>
                </a:solidFill>
                <a:latin typeface="맑은 고딕"/>
                <a:ea typeface="맑은 고딕"/>
              </a:rPr>
              <a:t>끝단</a:t>
            </a:r>
            <a:r>
              <a:rPr sz="950" b="0" dirty="0">
                <a:solidFill>
                  <a:srgbClr val="000000"/>
                </a:solidFill>
                <a:latin typeface="맑은 고딕"/>
                <a:ea typeface="맑은 고딕"/>
              </a:rPr>
              <a:t> </a:t>
            </a:r>
            <a:r>
              <a:rPr sz="950" b="0" dirty="0" err="1">
                <a:solidFill>
                  <a:srgbClr val="000000"/>
                </a:solidFill>
                <a:latin typeface="맑은 고딕"/>
                <a:ea typeface="맑은 고딕"/>
              </a:rPr>
              <a:t>실행으로</a:t>
            </a:r>
            <a:r>
              <a:rPr sz="950" b="0" dirty="0">
                <a:solidFill>
                  <a:srgbClr val="000000"/>
                </a:solidFill>
                <a:latin typeface="맑은 고딕"/>
                <a:ea typeface="맑은 고딕"/>
              </a:rPr>
              <a:t> </a:t>
            </a:r>
            <a:r>
              <a:rPr sz="950" b="0" dirty="0" err="1">
                <a:solidFill>
                  <a:srgbClr val="000000"/>
                </a:solidFill>
                <a:latin typeface="맑은 고딕"/>
                <a:ea typeface="맑은 고딕"/>
              </a:rPr>
              <a:t>확인</a:t>
            </a:r>
            <a:r>
              <a:rPr sz="950" b="0" dirty="0">
                <a:solidFill>
                  <a:srgbClr val="000000"/>
                </a:solidFill>
                <a:latin typeface="맑은 고딕"/>
                <a:ea typeface="맑은 고딕"/>
              </a:rPr>
              <a:t> [A]). </a:t>
            </a:r>
            <a:endParaRPr lang="en-US" sz="950" b="0" dirty="0">
              <a:solidFill>
                <a:srgbClr val="000000"/>
              </a:solidFill>
              <a:latin typeface="맑은 고딕"/>
              <a:ea typeface="맑은 고딕"/>
            </a:endParaRPr>
          </a:p>
          <a:p>
            <a:pPr algn="l">
              <a:spcAft>
                <a:spcPts val="200"/>
              </a:spcAft>
            </a:pPr>
            <a:r>
              <a:rPr sz="950" b="0" dirty="0">
                <a:solidFill>
                  <a:srgbClr val="000000"/>
                </a:solidFill>
                <a:latin typeface="맑은 고딕"/>
                <a:ea typeface="맑은 고딕"/>
              </a:rPr>
              <a:t>2안: </a:t>
            </a:r>
            <a:r>
              <a:rPr sz="950" b="0" dirty="0" err="1">
                <a:solidFill>
                  <a:srgbClr val="000000"/>
                </a:solidFill>
                <a:latin typeface="맑은 고딕"/>
                <a:ea typeface="맑은 고딕"/>
              </a:rPr>
              <a:t>미구현이므로</a:t>
            </a:r>
            <a:r>
              <a:rPr sz="950" b="0" dirty="0">
                <a:solidFill>
                  <a:srgbClr val="000000"/>
                </a:solidFill>
                <a:latin typeface="맑은 고딕"/>
                <a:ea typeface="맑은 고딕"/>
              </a:rPr>
              <a:t> </a:t>
            </a:r>
            <a:r>
              <a:rPr sz="950" b="0" dirty="0" err="1">
                <a:solidFill>
                  <a:srgbClr val="000000"/>
                </a:solidFill>
                <a:latin typeface="맑은 고딕"/>
                <a:ea typeface="맑은 고딕"/>
              </a:rPr>
              <a:t>결정</a:t>
            </a:r>
            <a:r>
              <a:rPr sz="950" b="0" dirty="0">
                <a:solidFill>
                  <a:srgbClr val="000000"/>
                </a:solidFill>
                <a:latin typeface="맑은 고딕"/>
                <a:ea typeface="맑은 고딕"/>
              </a:rPr>
              <a:t> </a:t>
            </a:r>
            <a:r>
              <a:rPr sz="950" b="0" dirty="0" err="1">
                <a:solidFill>
                  <a:srgbClr val="000000"/>
                </a:solidFill>
                <a:latin typeface="맑은 고딕"/>
                <a:ea typeface="맑은 고딕"/>
              </a:rPr>
              <a:t>경로</a:t>
            </a:r>
            <a:r>
              <a:rPr sz="950" b="0" dirty="0">
                <a:solidFill>
                  <a:srgbClr val="000000"/>
                </a:solidFill>
                <a:latin typeface="맑은 고딕"/>
                <a:ea typeface="맑은 고딕"/>
              </a:rPr>
              <a:t> </a:t>
            </a:r>
            <a:r>
              <a:rPr sz="950" b="0" dirty="0" err="1">
                <a:solidFill>
                  <a:srgbClr val="000000"/>
                </a:solidFill>
                <a:latin typeface="맑은 고딕"/>
                <a:ea typeface="맑은 고딕"/>
              </a:rPr>
              <a:t>지연·상태</a:t>
            </a:r>
            <a:r>
              <a:rPr sz="950" b="0" dirty="0">
                <a:solidFill>
                  <a:srgbClr val="000000"/>
                </a:solidFill>
                <a:latin typeface="맑은 고딕"/>
                <a:ea typeface="맑은 고딕"/>
              </a:rPr>
              <a:t> </a:t>
            </a:r>
            <a:r>
              <a:rPr sz="950" b="0" dirty="0" err="1">
                <a:solidFill>
                  <a:srgbClr val="000000"/>
                </a:solidFill>
                <a:latin typeface="맑은 고딕"/>
                <a:ea typeface="맑은 고딕"/>
              </a:rPr>
              <a:t>갱신</a:t>
            </a:r>
            <a:r>
              <a:rPr sz="950" b="0" dirty="0">
                <a:solidFill>
                  <a:srgbClr val="000000"/>
                </a:solidFill>
                <a:latin typeface="맑은 고딕"/>
                <a:ea typeface="맑은 고딕"/>
              </a:rPr>
              <a:t> </a:t>
            </a:r>
            <a:r>
              <a:rPr sz="950" b="0" dirty="0" err="1">
                <a:solidFill>
                  <a:srgbClr val="000000"/>
                </a:solidFill>
                <a:latin typeface="맑은 고딕"/>
                <a:ea typeface="맑은 고딕"/>
              </a:rPr>
              <a:t>부하를</a:t>
            </a:r>
            <a:r>
              <a:rPr sz="950" b="0" dirty="0">
                <a:solidFill>
                  <a:srgbClr val="000000"/>
                </a:solidFill>
                <a:latin typeface="맑은 고딕"/>
                <a:ea typeface="맑은 고딕"/>
              </a:rPr>
              <a:t> </a:t>
            </a:r>
            <a:r>
              <a:rPr sz="950" b="0" dirty="0" err="1">
                <a:solidFill>
                  <a:srgbClr val="000000"/>
                </a:solidFill>
                <a:latin typeface="맑은 고딕"/>
                <a:ea typeface="맑은 고딕"/>
              </a:rPr>
              <a:t>모델로</a:t>
            </a:r>
            <a:r>
              <a:rPr sz="950" b="0" dirty="0">
                <a:solidFill>
                  <a:srgbClr val="000000"/>
                </a:solidFill>
                <a:latin typeface="맑은 고딕"/>
                <a:ea typeface="맑은 고딕"/>
              </a:rPr>
              <a:t> </a:t>
            </a:r>
            <a:r>
              <a:rPr sz="950" b="0" dirty="0" err="1">
                <a:solidFill>
                  <a:srgbClr val="000000"/>
                </a:solidFill>
                <a:latin typeface="맑은 고딕"/>
                <a:ea typeface="맑은 고딕"/>
              </a:rPr>
              <a:t>대체하고</a:t>
            </a:r>
            <a:r>
              <a:rPr sz="950" b="0" dirty="0">
                <a:solidFill>
                  <a:srgbClr val="000000"/>
                </a:solidFill>
                <a:latin typeface="맑은 고딕"/>
                <a:ea typeface="맑은 고딕"/>
              </a:rPr>
              <a:t> E1 </a:t>
            </a:r>
            <a:r>
              <a:rPr sz="950" b="0" dirty="0" err="1">
                <a:solidFill>
                  <a:srgbClr val="000000"/>
                </a:solidFill>
                <a:latin typeface="맑은 고딕"/>
                <a:ea typeface="맑은 고딕"/>
              </a:rPr>
              <a:t>측정값으로</a:t>
            </a:r>
            <a:r>
              <a:rPr sz="950" b="0" dirty="0">
                <a:solidFill>
                  <a:srgbClr val="000000"/>
                </a:solidFill>
                <a:latin typeface="맑은 고딕"/>
                <a:ea typeface="맑은 고딕"/>
              </a:rPr>
              <a:t> </a:t>
            </a:r>
            <a:r>
              <a:rPr sz="950" b="0" dirty="0" err="1">
                <a:solidFill>
                  <a:srgbClr val="000000"/>
                </a:solidFill>
                <a:latin typeface="맑은 고딕"/>
                <a:ea typeface="맑은 고딕"/>
              </a:rPr>
              <a:t>보정</a:t>
            </a:r>
            <a:r>
              <a:rPr sz="950" b="0" dirty="0">
                <a:solidFill>
                  <a:srgbClr val="000000"/>
                </a:solidFill>
                <a:latin typeface="맑은 고딕"/>
                <a:ea typeface="맑은 고딕"/>
              </a:rPr>
              <a:t> [C]</a:t>
            </a:r>
          </a:p>
        </p:txBody>
      </p:sp>
      <p:sp>
        <p:nvSpPr>
          <p:cNvPr id="11" name="TextBox 10"/>
          <p:cNvSpPr txBox="1"/>
          <p:nvPr/>
        </p:nvSpPr>
        <p:spPr>
          <a:xfrm>
            <a:off x="365760" y="3547872"/>
            <a:ext cx="2560320" cy="713232"/>
          </a:xfrm>
          <a:prstGeom prst="rect">
            <a:avLst/>
          </a:prstGeom>
          <a:solidFill>
            <a:srgbClr val="E2F0D9"/>
          </a:solidFill>
          <a:ln w="12700">
            <a:solidFill>
              <a:srgbClr val="548235"/>
            </a:solidFill>
          </a:ln>
        </p:spPr>
        <p:txBody>
          <a:bodyPr wrap="square" lIns="73152" tIns="36576" rIns="73152" bIns="36576" anchor="ctr">
            <a:spAutoFit/>
          </a:bodyPr>
          <a:lstStyle/>
          <a:p>
            <a:pPr algn="l">
              <a:spcAft>
                <a:spcPts val="200"/>
              </a:spcAft>
            </a:pPr>
            <a:r>
              <a:rPr sz="1050" b="1">
                <a:solidFill>
                  <a:srgbClr val="548235"/>
                </a:solidFill>
                <a:latin typeface="맑은 고딕"/>
                <a:ea typeface="맑은 고딕"/>
              </a:rPr>
              <a:t>④ 시나리오 실행</a:t>
            </a:r>
          </a:p>
        </p:txBody>
      </p:sp>
      <p:sp>
        <p:nvSpPr>
          <p:cNvPr id="12" name="TextBox 11"/>
          <p:cNvSpPr txBox="1"/>
          <p:nvPr/>
        </p:nvSpPr>
        <p:spPr>
          <a:xfrm>
            <a:off x="3017520" y="3547872"/>
            <a:ext cx="8778240" cy="713232"/>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W1~W5 × load sweep × seed ≥ 5. </a:t>
            </a:r>
            <a:r>
              <a:rPr sz="950" b="0" dirty="0" err="1">
                <a:solidFill>
                  <a:srgbClr val="000000"/>
                </a:solidFill>
                <a:latin typeface="맑은 고딕"/>
                <a:ea typeface="맑은 고딕"/>
              </a:rPr>
              <a:t>같은</a:t>
            </a:r>
            <a:r>
              <a:rPr sz="950" b="0" dirty="0">
                <a:solidFill>
                  <a:srgbClr val="000000"/>
                </a:solidFill>
                <a:latin typeface="맑은 고딕"/>
                <a:ea typeface="맑은 고딕"/>
              </a:rPr>
              <a:t> </a:t>
            </a:r>
            <a:r>
              <a:rPr sz="950" b="0" dirty="0" err="1">
                <a:solidFill>
                  <a:srgbClr val="000000"/>
                </a:solidFill>
                <a:latin typeface="맑은 고딕"/>
                <a:ea typeface="맑은 고딕"/>
              </a:rPr>
              <a:t>seed·부하로</a:t>
            </a:r>
            <a:r>
              <a:rPr sz="950" b="0" dirty="0">
                <a:solidFill>
                  <a:srgbClr val="000000"/>
                </a:solidFill>
                <a:latin typeface="맑은 고딕"/>
                <a:ea typeface="맑은 고딕"/>
              </a:rPr>
              <a:t> </a:t>
            </a:r>
            <a:r>
              <a:rPr sz="950" b="0" dirty="0" err="1">
                <a:solidFill>
                  <a:srgbClr val="000000"/>
                </a:solidFill>
                <a:latin typeface="맑은 고딕"/>
                <a:ea typeface="맑은 고딕"/>
              </a:rPr>
              <a:t>Baseline과</a:t>
            </a:r>
            <a:r>
              <a:rPr sz="950" b="0" dirty="0">
                <a:solidFill>
                  <a:srgbClr val="000000"/>
                </a:solidFill>
                <a:latin typeface="맑은 고딕"/>
                <a:ea typeface="맑은 고딕"/>
              </a:rPr>
              <a:t> </a:t>
            </a:r>
            <a:r>
              <a:rPr sz="950" b="0" dirty="0" err="1">
                <a:solidFill>
                  <a:srgbClr val="000000"/>
                </a:solidFill>
                <a:latin typeface="맑은 고딕"/>
                <a:ea typeface="맑은 고딕"/>
              </a:rPr>
              <a:t>짝지어</a:t>
            </a:r>
            <a:r>
              <a:rPr sz="950" b="0" dirty="0">
                <a:solidFill>
                  <a:srgbClr val="000000"/>
                </a:solidFill>
                <a:latin typeface="맑은 고딕"/>
                <a:ea typeface="맑은 고딕"/>
              </a:rPr>
              <a:t> </a:t>
            </a:r>
            <a:r>
              <a:rPr sz="950" b="0" dirty="0" err="1">
                <a:solidFill>
                  <a:srgbClr val="000000"/>
                </a:solidFill>
                <a:latin typeface="맑은 고딕"/>
                <a:ea typeface="맑은 고딕"/>
              </a:rPr>
              <a:t>비교</a:t>
            </a:r>
            <a:r>
              <a:rPr sz="950" b="0" dirty="0">
                <a:solidFill>
                  <a:srgbClr val="000000"/>
                </a:solidFill>
                <a:latin typeface="맑은 고딕"/>
                <a:ea typeface="맑은 고딕"/>
              </a:rPr>
              <a:t>, </a:t>
            </a:r>
            <a:r>
              <a:rPr sz="950" b="0" dirty="0" err="1">
                <a:solidFill>
                  <a:srgbClr val="000000"/>
                </a:solidFill>
                <a:latin typeface="맑은 고딕"/>
                <a:ea typeface="맑은 고딕"/>
              </a:rPr>
              <a:t>중앙값과</a:t>
            </a:r>
            <a:r>
              <a:rPr sz="950" b="0" dirty="0">
                <a:solidFill>
                  <a:srgbClr val="000000"/>
                </a:solidFill>
                <a:latin typeface="맑은 고딕"/>
                <a:ea typeface="맑은 고딕"/>
              </a:rPr>
              <a:t> 95% CI·CV </a:t>
            </a:r>
            <a:r>
              <a:rPr sz="950" b="0" dirty="0" err="1">
                <a:solidFill>
                  <a:srgbClr val="000000"/>
                </a:solidFill>
                <a:latin typeface="맑은 고딕"/>
                <a:ea typeface="맑은 고딕"/>
              </a:rPr>
              <a:t>기록</a:t>
            </a:r>
            <a:endParaRPr sz="950" b="0" dirty="0">
              <a:solidFill>
                <a:srgbClr val="000000"/>
              </a:solidFill>
              <a:latin typeface="맑은 고딕"/>
              <a:ea typeface="맑은 고딕"/>
            </a:endParaRPr>
          </a:p>
        </p:txBody>
      </p:sp>
      <p:sp>
        <p:nvSpPr>
          <p:cNvPr id="13" name="TextBox 12"/>
          <p:cNvSpPr txBox="1"/>
          <p:nvPr/>
        </p:nvSpPr>
        <p:spPr>
          <a:xfrm>
            <a:off x="365760" y="4334256"/>
            <a:ext cx="2560320" cy="713232"/>
          </a:xfrm>
          <a:prstGeom prst="rect">
            <a:avLst/>
          </a:prstGeom>
          <a:solidFill>
            <a:srgbClr val="F2F2F2"/>
          </a:solidFill>
          <a:ln w="12700">
            <a:solidFill>
              <a:srgbClr val="7F7F7F"/>
            </a:solidFill>
          </a:ln>
        </p:spPr>
        <p:txBody>
          <a:bodyPr wrap="square" lIns="73152" tIns="36576" rIns="73152" bIns="36576" anchor="ctr">
            <a:spAutoFit/>
          </a:bodyPr>
          <a:lstStyle/>
          <a:p>
            <a:pPr algn="l">
              <a:spcAft>
                <a:spcPts val="200"/>
              </a:spcAft>
            </a:pPr>
            <a:r>
              <a:rPr sz="1050" b="1">
                <a:solidFill>
                  <a:srgbClr val="7F7F7F"/>
                </a:solidFill>
                <a:latin typeface="맑은 고딕"/>
                <a:ea typeface="맑은 고딕"/>
              </a:rPr>
              <a:t>⑤ 후처리</a:t>
            </a:r>
          </a:p>
        </p:txBody>
      </p:sp>
      <p:sp>
        <p:nvSpPr>
          <p:cNvPr id="14" name="TextBox 13"/>
          <p:cNvSpPr txBox="1"/>
          <p:nvPr/>
        </p:nvSpPr>
        <p:spPr>
          <a:xfrm>
            <a:off x="3017520" y="4580842"/>
            <a:ext cx="8778240" cy="220060"/>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err="1">
                <a:solidFill>
                  <a:srgbClr val="000000"/>
                </a:solidFill>
                <a:latin typeface="맑은 고딕"/>
                <a:ea typeface="맑은 고딕"/>
              </a:rPr>
              <a:t>Goodput</a:t>
            </a:r>
            <a:r>
              <a:rPr sz="950" b="0" dirty="0">
                <a:solidFill>
                  <a:srgbClr val="000000"/>
                </a:solidFill>
                <a:latin typeface="맑은 고딕"/>
                <a:ea typeface="맑은 고딕"/>
              </a:rPr>
              <a:t>(SLO </a:t>
            </a:r>
            <a:r>
              <a:rPr sz="950" b="0" dirty="0" err="1">
                <a:solidFill>
                  <a:srgbClr val="000000"/>
                </a:solidFill>
                <a:latin typeface="맑은 고딕"/>
                <a:ea typeface="맑은 고딕"/>
              </a:rPr>
              <a:t>위반</a:t>
            </a:r>
            <a:r>
              <a:rPr sz="950" b="0" dirty="0">
                <a:solidFill>
                  <a:srgbClr val="000000"/>
                </a:solidFill>
                <a:latin typeface="맑은 고딕"/>
                <a:ea typeface="맑은 고딕"/>
              </a:rPr>
              <a:t> </a:t>
            </a:r>
            <a:r>
              <a:rPr sz="950" b="0" dirty="0" err="1">
                <a:solidFill>
                  <a:srgbClr val="000000"/>
                </a:solidFill>
                <a:latin typeface="맑은 고딕"/>
                <a:ea typeface="맑은 고딕"/>
              </a:rPr>
              <a:t>요청</a:t>
            </a:r>
            <a:r>
              <a:rPr sz="950" b="0" dirty="0">
                <a:solidFill>
                  <a:srgbClr val="000000"/>
                </a:solidFill>
                <a:latin typeface="맑은 고딕"/>
                <a:ea typeface="맑은 고딕"/>
              </a:rPr>
              <a:t> </a:t>
            </a:r>
            <a:r>
              <a:rPr sz="950" b="0" dirty="0" err="1">
                <a:solidFill>
                  <a:srgbClr val="000000"/>
                </a:solidFill>
                <a:latin typeface="맑은 고딕"/>
                <a:ea typeface="맑은 고딕"/>
              </a:rPr>
              <a:t>제외</a:t>
            </a:r>
            <a:r>
              <a:rPr sz="950" b="0" dirty="0">
                <a:solidFill>
                  <a:srgbClr val="000000"/>
                </a:solidFill>
                <a:latin typeface="맑은 고딕"/>
                <a:ea typeface="맑은 고딕"/>
              </a:rPr>
              <a:t>), TTFT·TPOT P99, SE(N) </a:t>
            </a:r>
            <a:r>
              <a:rPr sz="950" b="0" dirty="0" err="1">
                <a:solidFill>
                  <a:srgbClr val="000000"/>
                </a:solidFill>
                <a:latin typeface="맑은 고딕"/>
                <a:ea typeface="맑은 고딕"/>
              </a:rPr>
              <a:t>산출</a:t>
            </a:r>
            <a:r>
              <a:rPr sz="950" b="0" dirty="0">
                <a:solidFill>
                  <a:srgbClr val="000000"/>
                </a:solidFill>
                <a:latin typeface="맑은 고딕"/>
                <a:ea typeface="맑은 고딕"/>
              </a:rPr>
              <a:t> → </a:t>
            </a:r>
            <a:r>
              <a:rPr sz="950" b="0" dirty="0" err="1">
                <a:solidFill>
                  <a:srgbClr val="000000"/>
                </a:solidFill>
                <a:latin typeface="맑은 고딕"/>
                <a:ea typeface="맑은 고딕"/>
              </a:rPr>
              <a:t>공통</a:t>
            </a:r>
            <a:r>
              <a:rPr sz="950" b="0" dirty="0">
                <a:solidFill>
                  <a:srgbClr val="000000"/>
                </a:solidFill>
                <a:latin typeface="맑은 고딕"/>
                <a:ea typeface="맑은 고딕"/>
              </a:rPr>
              <a:t> </a:t>
            </a:r>
            <a:r>
              <a:rPr sz="950" b="0" dirty="0" err="1">
                <a:solidFill>
                  <a:srgbClr val="000000"/>
                </a:solidFill>
                <a:latin typeface="맑은 고딕"/>
                <a:ea typeface="맑은 고딕"/>
              </a:rPr>
              <a:t>기준으로</a:t>
            </a:r>
            <a:r>
              <a:rPr sz="950" b="0" dirty="0">
                <a:solidFill>
                  <a:srgbClr val="000000"/>
                </a:solidFill>
                <a:latin typeface="맑은 고딕"/>
                <a:ea typeface="맑은 고딕"/>
              </a:rPr>
              <a:t> </a:t>
            </a:r>
            <a:r>
              <a:rPr sz="950" b="0" dirty="0" err="1">
                <a:solidFill>
                  <a:srgbClr val="000000"/>
                </a:solidFill>
                <a:latin typeface="맑은 고딕"/>
                <a:ea typeface="맑은 고딕"/>
              </a:rPr>
              <a:t>별점</a:t>
            </a:r>
            <a:r>
              <a:rPr sz="950" b="0" dirty="0">
                <a:solidFill>
                  <a:srgbClr val="000000"/>
                </a:solidFill>
                <a:latin typeface="맑은 고딕"/>
                <a:ea typeface="맑은 고딕"/>
              </a:rPr>
              <a:t>. Q3는 </a:t>
            </a:r>
            <a:r>
              <a:rPr sz="950" b="0" dirty="0" err="1">
                <a:solidFill>
                  <a:srgbClr val="000000"/>
                </a:solidFill>
                <a:latin typeface="맑은 고딕"/>
                <a:ea typeface="맑은 고딕"/>
              </a:rPr>
              <a:t>변경</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시나리오를</a:t>
            </a:r>
            <a:r>
              <a:rPr sz="950" b="0" dirty="0">
                <a:solidFill>
                  <a:srgbClr val="000000"/>
                </a:solidFill>
                <a:latin typeface="맑은 고딕"/>
                <a:ea typeface="맑은 고딕"/>
              </a:rPr>
              <a:t> </a:t>
            </a:r>
            <a:r>
              <a:rPr sz="950" b="0" dirty="0" err="1">
                <a:solidFill>
                  <a:srgbClr val="000000"/>
                </a:solidFill>
                <a:latin typeface="맑은 고딕"/>
                <a:ea typeface="맑은 고딕"/>
              </a:rPr>
              <a:t>에이전트</a:t>
            </a:r>
            <a:r>
              <a:rPr sz="950" b="0" dirty="0">
                <a:solidFill>
                  <a:srgbClr val="000000"/>
                </a:solidFill>
                <a:latin typeface="맑은 고딕"/>
                <a:ea typeface="맑은 고딕"/>
              </a:rPr>
              <a:t> </a:t>
            </a:r>
            <a:r>
              <a:rPr sz="950" b="0" dirty="0" err="1">
                <a:solidFill>
                  <a:srgbClr val="000000"/>
                </a:solidFill>
                <a:latin typeface="맑은 고딕"/>
                <a:ea typeface="맑은 고딕"/>
              </a:rPr>
              <a:t>세션</a:t>
            </a:r>
            <a:r>
              <a:rPr sz="950" b="0" dirty="0">
                <a:solidFill>
                  <a:srgbClr val="000000"/>
                </a:solidFill>
                <a:latin typeface="맑은 고딕"/>
                <a:ea typeface="맑은 고딕"/>
              </a:rPr>
              <a:t> </a:t>
            </a:r>
            <a:r>
              <a:rPr sz="950" b="0" dirty="0" err="1">
                <a:solidFill>
                  <a:srgbClr val="000000"/>
                </a:solidFill>
                <a:latin typeface="맑은 고딕"/>
                <a:ea typeface="맑은 고딕"/>
              </a:rPr>
              <a:t>모델로</a:t>
            </a:r>
            <a:r>
              <a:rPr sz="950" b="0" dirty="0">
                <a:solidFill>
                  <a:srgbClr val="000000"/>
                </a:solidFill>
                <a:latin typeface="맑은 고딕"/>
                <a:ea typeface="맑은 고딕"/>
              </a:rPr>
              <a:t> </a:t>
            </a:r>
            <a:r>
              <a:rPr sz="950" b="0" dirty="0" err="1">
                <a:solidFill>
                  <a:srgbClr val="000000"/>
                </a:solidFill>
                <a:latin typeface="맑은 고딕"/>
                <a:ea typeface="맑은 고딕"/>
              </a:rPr>
              <a:t>환산</a:t>
            </a:r>
            <a:endParaRPr sz="950" b="0" dirty="0">
              <a:solidFill>
                <a:srgbClr val="000000"/>
              </a:solidFill>
              <a:latin typeface="맑은 고딕"/>
              <a:ea typeface="맑은 고딕"/>
            </a:endParaRPr>
          </a:p>
        </p:txBody>
      </p:sp>
      <p:graphicFrame>
        <p:nvGraphicFramePr>
          <p:cNvPr id="15" name="Table 14"/>
          <p:cNvGraphicFramePr>
            <a:graphicFrameLocks noGrp="1"/>
          </p:cNvGraphicFramePr>
          <p:nvPr/>
        </p:nvGraphicFramePr>
        <p:xfrm>
          <a:off x="365760" y="5166360"/>
          <a:ext cx="11430000" cy="1316736"/>
        </p:xfrm>
        <a:graphic>
          <a:graphicData uri="http://schemas.openxmlformats.org/drawingml/2006/table">
            <a:tbl>
              <a:tblPr>
                <a:tableStyleId>{5940675A-B579-460E-94D1-54222C63F5DA}</a:tableStyleId>
              </a:tblPr>
              <a:tblGrid>
                <a:gridCol w="3931920">
                  <a:extLst>
                    <a:ext uri="{9D8B030D-6E8A-4147-A177-3AD203B41FA5}">
                      <a16:colId xmlns:a16="http://schemas.microsoft.com/office/drawing/2014/main" val="20000"/>
                    </a:ext>
                  </a:extLst>
                </a:gridCol>
                <a:gridCol w="56692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219456">
                <a:tc>
                  <a:txBody>
                    <a:bodyPr/>
                    <a:lstStyle/>
                    <a:p>
                      <a:pPr algn="ctr"/>
                      <a:r>
                        <a:rPr sz="90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출처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Evidence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19456">
                <a:tc>
                  <a:txBody>
                    <a:bodyPr/>
                    <a:lstStyle/>
                    <a:p>
                      <a:pPr algn="l"/>
                      <a:r>
                        <a:rPr sz="900" b="0" dirty="0">
                          <a:solidFill>
                            <a:srgbClr val="000000"/>
                          </a:solidFill>
                          <a:latin typeface="맑은 고딕"/>
                          <a:ea typeface="맑은 고딕"/>
                        </a:rPr>
                        <a:t>Baseline </a:t>
                      </a:r>
                      <a:r>
                        <a:rPr sz="900" b="0" dirty="0" err="1">
                          <a:solidFill>
                            <a:srgbClr val="000000"/>
                          </a:solidFill>
                          <a:latin typeface="맑은 고딕"/>
                          <a:ea typeface="맑은 고딕"/>
                        </a:rPr>
                        <a:t>처리량·지연·SE</a:t>
                      </a:r>
                      <a:r>
                        <a:rPr sz="900" b="0" dirty="0">
                          <a:solidFill>
                            <a:srgbClr val="000000"/>
                          </a:solidFill>
                          <a:latin typeface="맑은 고딕"/>
                          <a:ea typeface="맑은 고딕"/>
                        </a:rPr>
                        <a:t>(N0=2)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보유 시스템 실측</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19456">
                <a:tc>
                  <a:txBody>
                    <a:bodyPr/>
                    <a:lstStyle/>
                    <a:p>
                      <a:pPr algn="l"/>
                      <a:r>
                        <a:rPr sz="900" b="0" dirty="0" err="1">
                          <a:solidFill>
                            <a:srgbClr val="000000"/>
                          </a:solidFill>
                          <a:latin typeface="맑은 고딕"/>
                          <a:ea typeface="맑은 고딕"/>
                        </a:rPr>
                        <a:t>HBM·호스트</a:t>
                      </a:r>
                      <a:r>
                        <a:rPr sz="900" b="0" dirty="0">
                          <a:solidFill>
                            <a:srgbClr val="000000"/>
                          </a:solidFill>
                          <a:latin typeface="맑은 고딕"/>
                          <a:ea typeface="맑은 고딕"/>
                        </a:rPr>
                        <a:t> DRAM </a:t>
                      </a:r>
                      <a:r>
                        <a:rPr sz="900" b="0" dirty="0" err="1">
                          <a:solidFill>
                            <a:srgbClr val="000000"/>
                          </a:solidFill>
                          <a:latin typeface="맑은 고딕"/>
                          <a:ea typeface="맑은 고딕"/>
                        </a:rPr>
                        <a:t>대역폭·용량</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실물 + 공개 spec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19456">
                <a:tc>
                  <a:txBody>
                    <a:bodyPr/>
                    <a:lstStyle/>
                    <a:p>
                      <a:pPr algn="l"/>
                      <a:r>
                        <a:rPr sz="900" b="0" dirty="0">
                          <a:solidFill>
                            <a:srgbClr val="000000"/>
                          </a:solidFill>
                          <a:latin typeface="맑은 고딕"/>
                          <a:ea typeface="맑은 고딕"/>
                        </a:rPr>
                        <a:t>CXL·HBF·SSD tier </a:t>
                      </a:r>
                      <a:r>
                        <a:rPr sz="900" b="0" dirty="0" err="1">
                          <a:solidFill>
                            <a:srgbClr val="000000"/>
                          </a:solidFill>
                          <a:latin typeface="맑은 고딕"/>
                          <a:ea typeface="맑은 고딕"/>
                        </a:rPr>
                        <a:t>성능</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문헌·vendor</a:t>
                      </a:r>
                      <a:r>
                        <a:rPr sz="900" b="0" dirty="0">
                          <a:solidFill>
                            <a:srgbClr val="000000"/>
                          </a:solidFill>
                          <a:latin typeface="맑은 고딕"/>
                          <a:ea typeface="맑은 고딕"/>
                        </a:rPr>
                        <a:t> </a:t>
                      </a:r>
                      <a:r>
                        <a:rPr sz="900" b="0" dirty="0" err="1">
                          <a:solidFill>
                            <a:srgbClr val="000000"/>
                          </a:solidFill>
                          <a:latin typeface="맑은 고딕"/>
                          <a:ea typeface="맑은 고딕"/>
                        </a:rPr>
                        <a:t>spec을</a:t>
                      </a:r>
                      <a:r>
                        <a:rPr sz="900" b="0" dirty="0">
                          <a:solidFill>
                            <a:srgbClr val="000000"/>
                          </a:solidFill>
                          <a:latin typeface="맑은 고딕"/>
                          <a:ea typeface="맑은 고딕"/>
                        </a:rPr>
                        <a:t> </a:t>
                      </a:r>
                      <a:r>
                        <a:rPr sz="900" b="0" dirty="0" err="1">
                          <a:solidFill>
                            <a:srgbClr val="000000"/>
                          </a:solidFill>
                          <a:latin typeface="맑은 고딕"/>
                          <a:ea typeface="맑은 고딕"/>
                        </a:rPr>
                        <a:t>입력으로</a:t>
                      </a:r>
                      <a:r>
                        <a:rPr sz="900" b="0" dirty="0">
                          <a:solidFill>
                            <a:srgbClr val="000000"/>
                          </a:solidFill>
                          <a:latin typeface="맑은 고딕"/>
                          <a:ea typeface="맑은 고딕"/>
                        </a:rPr>
                        <a:t> 한 </a:t>
                      </a:r>
                      <a:r>
                        <a:rPr sz="900" b="0" dirty="0" err="1">
                          <a:solidFill>
                            <a:srgbClr val="000000"/>
                          </a:solidFill>
                          <a:latin typeface="맑은 고딕"/>
                          <a:ea typeface="맑은 고딕"/>
                        </a:rPr>
                        <a:t>시뮬레이터</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19456">
                <a:tc>
                  <a:txBody>
                    <a:bodyPr/>
                    <a:lstStyle/>
                    <a:p>
                      <a:pPr algn="l"/>
                      <a:r>
                        <a:rPr sz="900" b="0" dirty="0" err="1">
                          <a:solidFill>
                            <a:srgbClr val="000000"/>
                          </a:solidFill>
                          <a:latin typeface="맑은 고딕"/>
                          <a:ea typeface="맑은 고딕"/>
                        </a:rPr>
                        <a:t>후보</a:t>
                      </a:r>
                      <a:r>
                        <a:rPr sz="900" b="0" dirty="0">
                          <a:solidFill>
                            <a:srgbClr val="000000"/>
                          </a:solidFill>
                          <a:latin typeface="맑은 고딕"/>
                          <a:ea typeface="맑은 고딕"/>
                        </a:rPr>
                        <a:t> 2 </a:t>
                      </a:r>
                      <a:r>
                        <a:rPr sz="900" b="0" dirty="0" err="1">
                          <a:solidFill>
                            <a:srgbClr val="000000"/>
                          </a:solidFill>
                          <a:latin typeface="맑은 고딕"/>
                          <a:ea typeface="맑은 고딕"/>
                        </a:rPr>
                        <a:t>결정</a:t>
                      </a:r>
                      <a:r>
                        <a:rPr sz="900" b="0" dirty="0">
                          <a:solidFill>
                            <a:srgbClr val="000000"/>
                          </a:solidFill>
                          <a:latin typeface="맑은 고딕"/>
                          <a:ea typeface="맑은 고딕"/>
                        </a:rPr>
                        <a:t> </a:t>
                      </a:r>
                      <a:r>
                        <a:rPr sz="900" b="0" dirty="0" err="1">
                          <a:solidFill>
                            <a:srgbClr val="000000"/>
                          </a:solidFill>
                          <a:latin typeface="맑은 고딕"/>
                          <a:ea typeface="맑은 고딕"/>
                        </a:rPr>
                        <a:t>경로·상태</a:t>
                      </a:r>
                      <a:r>
                        <a:rPr sz="900" b="0" dirty="0">
                          <a:solidFill>
                            <a:srgbClr val="000000"/>
                          </a:solidFill>
                          <a:latin typeface="맑은 고딕"/>
                          <a:ea typeface="맑은 고딕"/>
                        </a:rPr>
                        <a:t> </a:t>
                      </a:r>
                      <a:r>
                        <a:rPr sz="900" b="0" dirty="0" err="1">
                          <a:solidFill>
                            <a:srgbClr val="000000"/>
                          </a:solidFill>
                          <a:latin typeface="맑은 고딕"/>
                          <a:ea typeface="맑은 고딕"/>
                        </a:rPr>
                        <a:t>갱신</a:t>
                      </a:r>
                      <a:r>
                        <a:rPr sz="900" b="0" dirty="0">
                          <a:solidFill>
                            <a:srgbClr val="000000"/>
                          </a:solidFill>
                          <a:latin typeface="맑은 고딕"/>
                          <a:ea typeface="맑은 고딕"/>
                        </a:rPr>
                        <a:t> </a:t>
                      </a:r>
                      <a:r>
                        <a:rPr sz="900" b="0" dirty="0" err="1">
                          <a:solidFill>
                            <a:srgbClr val="000000"/>
                          </a:solidFill>
                          <a:latin typeface="맑은 고딕"/>
                          <a:ea typeface="맑은 고딕"/>
                        </a:rPr>
                        <a:t>부하</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모델 + E1 보정(미측정)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19456">
                <a:tc>
                  <a:txBody>
                    <a:bodyPr/>
                    <a:lstStyle/>
                    <a:p>
                      <a:pPr algn="l"/>
                      <a:r>
                        <a:rPr sz="900" b="0" dirty="0">
                          <a:solidFill>
                            <a:srgbClr val="000000"/>
                          </a:solidFill>
                          <a:latin typeface="맑은 고딕"/>
                          <a:ea typeface="맑은 고딕"/>
                        </a:rPr>
                        <a:t>N &gt; 2 </a:t>
                      </a:r>
                      <a:r>
                        <a:rPr sz="900" b="0" dirty="0" err="1">
                          <a:solidFill>
                            <a:srgbClr val="000000"/>
                          </a:solidFill>
                          <a:latin typeface="맑은 고딕"/>
                          <a:ea typeface="맑은 고딕"/>
                        </a:rPr>
                        <a:t>서버</a:t>
                      </a:r>
                      <a:r>
                        <a:rPr sz="900" b="0" dirty="0">
                          <a:solidFill>
                            <a:srgbClr val="000000"/>
                          </a:solidFill>
                          <a:latin typeface="맑은 고딕"/>
                          <a:ea typeface="맑은 고딕"/>
                        </a:rPr>
                        <a:t> </a:t>
                      </a:r>
                      <a:r>
                        <a:rPr sz="900" b="0" dirty="0" err="1">
                          <a:solidFill>
                            <a:srgbClr val="000000"/>
                          </a:solidFill>
                          <a:latin typeface="맑은 고딕"/>
                          <a:ea typeface="맑은 고딕"/>
                        </a:rPr>
                        <a:t>확장</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모델</a:t>
                      </a:r>
                      <a:r>
                        <a:rPr sz="900" b="0" dirty="0">
                          <a:solidFill>
                            <a:srgbClr val="000000"/>
                          </a:solidFill>
                          <a:latin typeface="맑은 고딕"/>
                          <a:ea typeface="맑은 고딕"/>
                        </a:rPr>
                        <a:t> </a:t>
                      </a:r>
                      <a:r>
                        <a:rPr sz="900" b="0" dirty="0" err="1">
                          <a:solidFill>
                            <a:srgbClr val="000000"/>
                          </a:solidFill>
                          <a:latin typeface="맑은 고딕"/>
                          <a:ea typeface="맑은 고딕"/>
                        </a:rPr>
                        <a:t>외삽</a:t>
                      </a:r>
                      <a:r>
                        <a:rPr sz="900" b="0" dirty="0">
                          <a:solidFill>
                            <a:srgbClr val="000000"/>
                          </a:solidFill>
                          <a:latin typeface="맑은 고딕"/>
                          <a:ea typeface="맑은 고딕"/>
                        </a:rPr>
                        <a:t> (</a:t>
                      </a:r>
                      <a:r>
                        <a:rPr sz="900" b="0" dirty="0" err="1">
                          <a:solidFill>
                            <a:srgbClr val="000000"/>
                          </a:solidFill>
                          <a:latin typeface="맑은 고딕"/>
                          <a:ea typeface="맑은 고딕"/>
                        </a:rPr>
                        <a:t>실측은</a:t>
                      </a:r>
                      <a:r>
                        <a:rPr sz="900" b="0" dirty="0">
                          <a:solidFill>
                            <a:srgbClr val="000000"/>
                          </a:solidFill>
                          <a:latin typeface="맑은 고딕"/>
                          <a:ea typeface="맑은 고딕"/>
                        </a:rPr>
                        <a:t> 2노드까지)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sp>
        <p:nvSpPr>
          <p:cNvPr id="16" name="실행 단추: 뒤로 또는 이전 15">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6058392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시스템과</a:t>
            </a:r>
            <a:r>
              <a:rPr sz="2200" b="1" dirty="0">
                <a:solidFill>
                  <a:srgbClr val="2F5597"/>
                </a:solidFill>
                <a:latin typeface="맑은 고딕"/>
                <a:ea typeface="맑은 고딕"/>
              </a:rPr>
              <a:t> SLO </a:t>
            </a:r>
            <a:r>
              <a:rPr sz="2200" b="1" dirty="0" err="1">
                <a:solidFill>
                  <a:srgbClr val="2F5597"/>
                </a:solidFill>
                <a:latin typeface="맑은 고딕"/>
                <a:ea typeface="맑은 고딕"/>
              </a:rPr>
              <a:t>선정</a:t>
            </a:r>
            <a:r>
              <a:rPr sz="2200" b="1" dirty="0">
                <a:solidFill>
                  <a:srgbClr val="2F5597"/>
                </a:solidFill>
                <a:latin typeface="맑은 고딕"/>
                <a:ea typeface="맑은 고딕"/>
              </a:rPr>
              <a:t> </a:t>
            </a:r>
            <a:r>
              <a:rPr sz="2200" b="1" dirty="0" err="1">
                <a:solidFill>
                  <a:srgbClr val="2F5597"/>
                </a:solidFill>
                <a:latin typeface="맑은 고딕"/>
                <a:ea typeface="맑은 고딕"/>
              </a:rPr>
              <a:t>근거</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a:solidFill>
                  <a:srgbClr val="404040"/>
                </a:solidFill>
                <a:latin typeface="맑은 고딕"/>
                <a:ea typeface="맑은 고딕"/>
              </a:rPr>
              <a:t>TTFT P99 ≤ 2 s · TPOT P99 ≤ 50 </a:t>
            </a:r>
            <a:r>
              <a:rPr sz="1100" b="0" dirty="0" err="1">
                <a:solidFill>
                  <a:srgbClr val="404040"/>
                </a:solidFill>
                <a:latin typeface="맑은 고딕"/>
                <a:ea typeface="맑은 고딕"/>
              </a:rPr>
              <a:t>ms는</a:t>
            </a:r>
            <a:r>
              <a:rPr sz="1100" b="0" dirty="0">
                <a:solidFill>
                  <a:srgbClr val="404040"/>
                </a:solidFill>
                <a:latin typeface="맑은 고딕"/>
                <a:ea typeface="맑은 고딕"/>
              </a:rPr>
              <a:t> </a:t>
            </a:r>
            <a:r>
              <a:rPr sz="1100" b="0" dirty="0" err="1">
                <a:solidFill>
                  <a:srgbClr val="404040"/>
                </a:solidFill>
                <a:latin typeface="맑은 고딕"/>
                <a:ea typeface="맑은 고딕"/>
              </a:rPr>
              <a:t>우리</a:t>
            </a:r>
            <a:r>
              <a:rPr sz="1100" b="0" dirty="0">
                <a:solidFill>
                  <a:srgbClr val="404040"/>
                </a:solidFill>
                <a:latin typeface="맑은 고딕"/>
                <a:ea typeface="맑은 고딕"/>
              </a:rPr>
              <a:t> </a:t>
            </a:r>
            <a:r>
              <a:rPr sz="1100" b="0" dirty="0" err="1">
                <a:solidFill>
                  <a:srgbClr val="404040"/>
                </a:solidFill>
                <a:latin typeface="맑은 고딕"/>
                <a:ea typeface="맑은 고딕"/>
              </a:rPr>
              <a:t>시스템에서</a:t>
            </a:r>
            <a:r>
              <a:rPr sz="1100" b="0" dirty="0">
                <a:solidFill>
                  <a:srgbClr val="404040"/>
                </a:solidFill>
                <a:latin typeface="맑은 고딕"/>
                <a:ea typeface="맑은 고딕"/>
              </a:rPr>
              <a:t> </a:t>
            </a:r>
            <a:r>
              <a:rPr sz="1100" b="0" dirty="0" err="1">
                <a:solidFill>
                  <a:srgbClr val="404040"/>
                </a:solidFill>
                <a:latin typeface="맑은 고딕"/>
                <a:ea typeface="맑은 고딕"/>
              </a:rPr>
              <a:t>달성</a:t>
            </a:r>
            <a:r>
              <a:rPr sz="1100" b="0" dirty="0">
                <a:solidFill>
                  <a:srgbClr val="404040"/>
                </a:solidFill>
                <a:latin typeface="맑은 고딕"/>
                <a:ea typeface="맑은 고딕"/>
              </a:rPr>
              <a:t> </a:t>
            </a:r>
            <a:r>
              <a:rPr sz="1100" b="0" dirty="0" err="1">
                <a:solidFill>
                  <a:srgbClr val="404040"/>
                </a:solidFill>
                <a:latin typeface="맑은 고딕"/>
                <a:ea typeface="맑은 고딕"/>
              </a:rPr>
              <a:t>가능한</a:t>
            </a:r>
            <a:r>
              <a:rPr sz="1100" b="0" dirty="0">
                <a:solidFill>
                  <a:srgbClr val="404040"/>
                </a:solidFill>
                <a:latin typeface="맑은 고딕"/>
                <a:ea typeface="맑은 고딕"/>
              </a:rPr>
              <a:t> </a:t>
            </a:r>
            <a:r>
              <a:rPr sz="1100" b="0" dirty="0" err="1">
                <a:solidFill>
                  <a:srgbClr val="404040"/>
                </a:solidFill>
                <a:latin typeface="맑은 고딕"/>
                <a:ea typeface="맑은 고딕"/>
              </a:rPr>
              <a:t>범위이면서</a:t>
            </a:r>
            <a:r>
              <a:rPr sz="1100" b="0" dirty="0">
                <a:solidFill>
                  <a:srgbClr val="404040"/>
                </a:solidFill>
                <a:latin typeface="맑은 고딕"/>
                <a:ea typeface="맑은 고딕"/>
              </a:rPr>
              <a:t> </a:t>
            </a:r>
            <a:r>
              <a:rPr sz="1100" b="0" dirty="0" err="1">
                <a:solidFill>
                  <a:srgbClr val="404040"/>
                </a:solidFill>
                <a:latin typeface="맑은 고딕"/>
                <a:ea typeface="맑은 고딕"/>
              </a:rPr>
              <a:t>공개</a:t>
            </a:r>
            <a:r>
              <a:rPr sz="1100" b="0" dirty="0">
                <a:solidFill>
                  <a:srgbClr val="404040"/>
                </a:solidFill>
                <a:latin typeface="맑은 고딕"/>
                <a:ea typeface="맑은 고딕"/>
              </a:rPr>
              <a:t> </a:t>
            </a:r>
            <a:r>
              <a:rPr sz="1100" b="0" dirty="0" err="1">
                <a:solidFill>
                  <a:srgbClr val="404040"/>
                </a:solidFill>
                <a:latin typeface="맑은 고딕"/>
                <a:ea typeface="맑은 고딕"/>
              </a:rPr>
              <a:t>기준·사용자</a:t>
            </a:r>
            <a:r>
              <a:rPr sz="1100" b="0" dirty="0">
                <a:solidFill>
                  <a:srgbClr val="404040"/>
                </a:solidFill>
                <a:latin typeface="맑은 고딕"/>
                <a:ea typeface="맑은 고딕"/>
              </a:rPr>
              <a:t> </a:t>
            </a:r>
            <a:r>
              <a:rPr sz="1100" b="0" dirty="0" err="1">
                <a:solidFill>
                  <a:srgbClr val="404040"/>
                </a:solidFill>
                <a:latin typeface="맑은 고딕"/>
                <a:ea typeface="맑은 고딕"/>
              </a:rPr>
              <a:t>읽기</a:t>
            </a:r>
            <a:r>
              <a:rPr sz="1100" b="0" dirty="0">
                <a:solidFill>
                  <a:srgbClr val="404040"/>
                </a:solidFill>
                <a:latin typeface="맑은 고딕"/>
                <a:ea typeface="맑은 고딕"/>
              </a:rPr>
              <a:t> </a:t>
            </a:r>
            <a:r>
              <a:rPr sz="1100" b="0" dirty="0" err="1">
                <a:solidFill>
                  <a:srgbClr val="404040"/>
                </a:solidFill>
                <a:latin typeface="맑은 고딕"/>
                <a:ea typeface="맑은 고딕"/>
              </a:rPr>
              <a:t>속도와</a:t>
            </a:r>
            <a:r>
              <a:rPr sz="1100" b="0" dirty="0">
                <a:solidFill>
                  <a:srgbClr val="404040"/>
                </a:solidFill>
                <a:latin typeface="맑은 고딕"/>
                <a:ea typeface="맑은 고딕"/>
              </a:rPr>
              <a:t> </a:t>
            </a:r>
            <a:r>
              <a:rPr sz="1100" b="0" dirty="0" err="1">
                <a:solidFill>
                  <a:srgbClr val="404040"/>
                </a:solidFill>
                <a:latin typeface="맑은 고딕"/>
                <a:ea typeface="맑은 고딕"/>
              </a:rPr>
              <a:t>정합하는</a:t>
            </a:r>
            <a:r>
              <a:rPr sz="1100" b="0" dirty="0">
                <a:solidFill>
                  <a:srgbClr val="404040"/>
                </a:solidFill>
                <a:latin typeface="맑은 고딕"/>
                <a:ea typeface="맑은 고딕"/>
              </a:rPr>
              <a:t> </a:t>
            </a:r>
            <a:r>
              <a:rPr sz="1100" b="0" dirty="0" err="1">
                <a:solidFill>
                  <a:srgbClr val="404040"/>
                </a:solidFill>
                <a:latin typeface="맑은 고딕"/>
                <a:ea typeface="맑은 고딕"/>
              </a:rPr>
              <a:t>값이다</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7772400" cy="2304288"/>
        </p:xfrm>
        <a:graphic>
          <a:graphicData uri="http://schemas.openxmlformats.org/drawingml/2006/table">
            <a:tbl>
              <a:tblPr>
                <a:tableStyleId>{5940675A-B579-460E-94D1-54222C63F5DA}</a:tableStyleId>
              </a:tblPr>
              <a:tblGrid>
                <a:gridCol w="201168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29184">
                <a:tc>
                  <a:txBody>
                    <a:bodyPr/>
                    <a:lstStyle/>
                    <a:p>
                      <a:pPr algn="ctr"/>
                      <a:r>
                        <a:rPr sz="950" b="1">
                          <a:solidFill>
                            <a:srgbClr val="FFFFFF"/>
                          </a:solidFill>
                          <a:latin typeface="맑은 고딕"/>
                          <a:ea typeface="맑은 고딕"/>
                        </a:rPr>
                        <a:t>항목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29184">
                <a:tc>
                  <a:txBody>
                    <a:bodyPr/>
                    <a:lstStyle/>
                    <a:p>
                      <a:pPr algn="l"/>
                      <a:r>
                        <a:rPr sz="950" b="1">
                          <a:solidFill>
                            <a:srgbClr val="000000"/>
                          </a:solidFill>
                          <a:latin typeface="맑은 고딕"/>
                          <a:ea typeface="맑은 고딕"/>
                        </a:rPr>
                        <a:t>노드 / GPU</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2 노드 × H100 SXM 80GB × 8 = 16 GPU</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보유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29184">
                <a:tc>
                  <a:txBody>
                    <a:bodyPr/>
                    <a:lstStyle/>
                    <a:p>
                      <a:pPr algn="l"/>
                      <a:r>
                        <a:rPr sz="950" b="1">
                          <a:solidFill>
                            <a:srgbClr val="000000"/>
                          </a:solidFill>
                          <a:latin typeface="맑은 고딕"/>
                          <a:ea typeface="맑은 고딕"/>
                        </a:rPr>
                        <a:t>GPU 사양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HBM3 3.35 TB/s, BF16 dense 989 TFLOPS, NVLink 900 GB/s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공개 spec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29184">
                <a:tc>
                  <a:txBody>
                    <a:bodyPr/>
                    <a:lstStyle/>
                    <a:p>
                      <a:pPr algn="l"/>
                      <a:r>
                        <a:rPr sz="950" b="1">
                          <a:solidFill>
                            <a:srgbClr val="000000"/>
                          </a:solidFill>
                          <a:latin typeface="맑은 고딕"/>
                          <a:ea typeface="맑은 고딕"/>
                        </a:rPr>
                        <a:t>모델 / 정밀도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Llama-3.1-70B, BF16, TP=8 (노드당 1 replica)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29184">
                <a:tc>
                  <a:txBody>
                    <a:bodyPr/>
                    <a:lstStyle/>
                    <a:p>
                      <a:pPr algn="l"/>
                      <a:r>
                        <a:rPr sz="950" b="1">
                          <a:solidFill>
                            <a:srgbClr val="000000"/>
                          </a:solidFill>
                          <a:latin typeface="맑은 고딕"/>
                          <a:ea typeface="맑은 고딕"/>
                        </a:rPr>
                        <a:t>워크로드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입력 8K / 출력 256, prefix 재사용 통제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29184">
                <a:tc>
                  <a:txBody>
                    <a:bodyPr/>
                    <a:lstStyle/>
                    <a:p>
                      <a:pPr algn="l"/>
                      <a:r>
                        <a:rPr sz="950" b="1" dirty="0" err="1">
                          <a:solidFill>
                            <a:srgbClr val="000000"/>
                          </a:solidFill>
                          <a:latin typeface="맑은 고딕"/>
                          <a:ea typeface="맑은 고딕"/>
                        </a:rPr>
                        <a:t>노드</a:t>
                      </a:r>
                      <a:r>
                        <a:rPr sz="950" b="1" dirty="0">
                          <a:solidFill>
                            <a:srgbClr val="000000"/>
                          </a:solidFill>
                          <a:latin typeface="맑은 고딕"/>
                          <a:ea typeface="맑은 고딕"/>
                        </a:rPr>
                        <a:t> 간 </a:t>
                      </a:r>
                      <a:r>
                        <a:rPr sz="950" b="1" dirty="0" err="1">
                          <a:solidFill>
                            <a:srgbClr val="000000"/>
                          </a:solidFill>
                          <a:latin typeface="맑은 고딕"/>
                          <a:ea typeface="맑은 고딕"/>
                        </a:rPr>
                        <a:t>링크</a:t>
                      </a:r>
                      <a:r>
                        <a:rPr sz="950" b="1" dirty="0">
                          <a:solidFill>
                            <a:srgbClr val="000000"/>
                          </a:solidFill>
                          <a:latin typeface="맑은 고딕"/>
                          <a:ea typeface="맑은 고딕"/>
                        </a:rPr>
                        <a:t> / DRAM / SSD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확인</a:t>
                      </a:r>
                      <a:r>
                        <a:rPr sz="950" b="0" dirty="0">
                          <a:solidFill>
                            <a:srgbClr val="000000"/>
                          </a:solidFill>
                          <a:latin typeface="맑은 고딕"/>
                          <a:ea typeface="맑은 고딕"/>
                        </a:rPr>
                        <a:t> </a:t>
                      </a:r>
                      <a:r>
                        <a:rPr sz="950" b="0" dirty="0" err="1">
                          <a:solidFill>
                            <a:srgbClr val="000000"/>
                          </a:solidFill>
                          <a:latin typeface="맑은 고딕"/>
                          <a:ea typeface="맑은 고딕"/>
                        </a:rPr>
                        <a:t>필요</a:t>
                      </a:r>
                      <a:r>
                        <a:rPr sz="950" b="0" dirty="0">
                          <a:solidFill>
                            <a:srgbClr val="000000"/>
                          </a:solidFill>
                          <a:latin typeface="맑은 고딕"/>
                          <a:ea typeface="맑은 고딕"/>
                        </a:rPr>
                        <a:t> (KV </a:t>
                      </a:r>
                      <a:r>
                        <a:rPr sz="950" b="0" dirty="0" err="1">
                          <a:solidFill>
                            <a:srgbClr val="000000"/>
                          </a:solidFill>
                          <a:latin typeface="맑은 고딕"/>
                          <a:ea typeface="맑은 고딕"/>
                        </a:rPr>
                        <a:t>전송</a:t>
                      </a:r>
                      <a:r>
                        <a:rPr sz="950" b="0" dirty="0">
                          <a:solidFill>
                            <a:srgbClr val="000000"/>
                          </a:solidFill>
                          <a:latin typeface="맑은 고딕"/>
                          <a:ea typeface="맑은 고딕"/>
                        </a:rPr>
                        <a:t> </a:t>
                      </a:r>
                      <a:r>
                        <a:rPr sz="950" b="0" dirty="0" err="1">
                          <a:solidFill>
                            <a:srgbClr val="000000"/>
                          </a:solidFill>
                          <a:latin typeface="맑은 고딕"/>
                          <a:ea typeface="맑은 고딕"/>
                        </a:rPr>
                        <a:t>계산은</a:t>
                      </a:r>
                      <a:r>
                        <a:rPr sz="950" b="0" dirty="0">
                          <a:solidFill>
                            <a:srgbClr val="000000"/>
                          </a:solidFill>
                          <a:latin typeface="맑은 고딕"/>
                          <a:ea typeface="맑은 고딕"/>
                        </a:rPr>
                        <a:t> 400 Gb/s ≈ 50 GB/s </a:t>
                      </a:r>
                      <a:r>
                        <a:rPr sz="950" b="0" dirty="0" err="1">
                          <a:solidFill>
                            <a:srgbClr val="000000"/>
                          </a:solidFill>
                          <a:latin typeface="맑은 고딕"/>
                          <a:ea typeface="맑은 고딕"/>
                        </a:rPr>
                        <a:t>가정</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err="1">
                          <a:solidFill>
                            <a:srgbClr val="000000"/>
                          </a:solidFill>
                          <a:latin typeface="맑은 고딕"/>
                          <a:ea typeface="맑은 고딕"/>
                        </a:rPr>
                        <a:t>미확인</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329184">
                <a:tc>
                  <a:txBody>
                    <a:bodyPr/>
                    <a:lstStyle/>
                    <a:p>
                      <a:pPr algn="l"/>
                      <a:r>
                        <a:rPr sz="950" b="1" dirty="0">
                          <a:solidFill>
                            <a:srgbClr val="000000"/>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미적용</a:t>
                      </a:r>
                      <a:r>
                        <a:rPr sz="950" b="0" dirty="0">
                          <a:solidFill>
                            <a:srgbClr val="000000"/>
                          </a:solidFill>
                          <a:latin typeface="맑은 고딕"/>
                          <a:ea typeface="맑은 고딕"/>
                        </a:rPr>
                        <a:t> </a:t>
                      </a:r>
                      <a:r>
                        <a:rPr sz="950" b="0" dirty="0" err="1">
                          <a:solidFill>
                            <a:srgbClr val="000000"/>
                          </a:solidFill>
                          <a:latin typeface="맑은 고딕"/>
                          <a:ea typeface="맑은 고딕"/>
                        </a:rPr>
                        <a:t>기본</a:t>
                      </a:r>
                      <a:r>
                        <a:rPr sz="950" b="0" dirty="0">
                          <a:solidFill>
                            <a:srgbClr val="000000"/>
                          </a:solidFill>
                          <a:latin typeface="맑은 고딕"/>
                          <a:ea typeface="맑은 고딕"/>
                        </a:rPr>
                        <a:t> </a:t>
                      </a:r>
                      <a:r>
                        <a:rPr sz="950" b="0" dirty="0" err="1">
                          <a:solidFill>
                            <a:srgbClr val="000000"/>
                          </a:solidFill>
                          <a:latin typeface="맑은 고딕"/>
                          <a:ea typeface="맑은 고딕"/>
                        </a:rPr>
                        <a:t>라우팅</a:t>
                      </a:r>
                      <a:r>
                        <a:rPr sz="950" b="0" dirty="0">
                          <a:solidFill>
                            <a:srgbClr val="000000"/>
                          </a:solidFill>
                          <a:latin typeface="맑은 고딕"/>
                          <a:ea typeface="맑은 고딕"/>
                        </a:rPr>
                        <a:t> (</a:t>
                      </a:r>
                      <a:r>
                        <a:rPr sz="950" b="0" dirty="0" err="1">
                          <a:solidFill>
                            <a:srgbClr val="000000"/>
                          </a:solidFill>
                          <a:latin typeface="맑은 고딕"/>
                          <a:ea typeface="맑은 고딕"/>
                        </a:rPr>
                        <a:t>상태·캐시</a:t>
                      </a:r>
                      <a:r>
                        <a:rPr sz="950" b="0" dirty="0">
                          <a:solidFill>
                            <a:srgbClr val="000000"/>
                          </a:solidFill>
                          <a:latin typeface="맑은 고딕"/>
                          <a:ea typeface="맑은 고딕"/>
                        </a:rPr>
                        <a:t> </a:t>
                      </a:r>
                      <a:r>
                        <a:rPr sz="950" b="0" dirty="0" err="1">
                          <a:solidFill>
                            <a:srgbClr val="000000"/>
                          </a:solidFill>
                          <a:latin typeface="맑은 고딕"/>
                          <a:ea typeface="맑은 고딕"/>
                        </a:rPr>
                        <a:t>비인지</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err="1">
                          <a:solidFill>
                            <a:srgbClr val="000000"/>
                          </a:solidFill>
                          <a:latin typeface="맑은 고딕"/>
                          <a:ea typeface="맑은 고딕"/>
                        </a:rPr>
                        <a:t>정의</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8321040" y="1188720"/>
            <a:ext cx="3474720" cy="2286000"/>
          </a:xfrm>
          <a:prstGeom prst="rect">
            <a:avLst/>
          </a:prstGeom>
          <a:solidFill>
            <a:srgbClr val="F2F2F2"/>
          </a:solidFill>
        </p:spPr>
        <p:txBody>
          <a:bodyPr wrap="square" lIns="73152" tIns="36576" rIns="73152" bIns="36576" anchor="t">
            <a:spAutoFit/>
          </a:bodyPr>
          <a:lstStyle/>
          <a:p>
            <a:pPr algn="l">
              <a:spcAft>
                <a:spcPts val="200"/>
              </a:spcAft>
            </a:pPr>
            <a:r>
              <a:rPr sz="900" b="1" dirty="0" err="1">
                <a:solidFill>
                  <a:srgbClr val="2F5597"/>
                </a:solidFill>
                <a:latin typeface="맑은 고딕"/>
                <a:ea typeface="맑은 고딕"/>
              </a:rPr>
              <a:t>계산</a:t>
            </a:r>
            <a:r>
              <a:rPr sz="900" b="1" dirty="0">
                <a:solidFill>
                  <a:srgbClr val="2F5597"/>
                </a:solidFill>
                <a:latin typeface="맑은 고딕"/>
                <a:ea typeface="맑은 고딕"/>
              </a:rPr>
              <a:t> </a:t>
            </a:r>
            <a:r>
              <a:rPr sz="900" b="1" dirty="0" err="1">
                <a:solidFill>
                  <a:srgbClr val="2F5597"/>
                </a:solidFill>
                <a:latin typeface="맑은 고딕"/>
                <a:ea typeface="맑은 고딕"/>
              </a:rPr>
              <a:t>입력</a:t>
            </a:r>
            <a:r>
              <a:rPr sz="900" b="1" dirty="0">
                <a:solidFill>
                  <a:srgbClr val="2F5597"/>
                </a:solidFill>
                <a:latin typeface="맑은 고딕"/>
                <a:ea typeface="맑은 고딕"/>
              </a:rPr>
              <a:t>(</a:t>
            </a:r>
            <a:r>
              <a:rPr sz="900" b="1" dirty="0" err="1">
                <a:solidFill>
                  <a:srgbClr val="2F5597"/>
                </a:solidFill>
                <a:latin typeface="맑은 고딕"/>
                <a:ea typeface="맑은 고딕"/>
              </a:rPr>
              <a:t>가정</a:t>
            </a:r>
            <a:r>
              <a:rPr sz="900" b="1" dirty="0">
                <a:solidFill>
                  <a:srgbClr val="2F5597"/>
                </a:solidFill>
                <a:latin typeface="맑은 고딕"/>
                <a:ea typeface="맑은 고딕"/>
              </a:rPr>
              <a:t>)</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지속</a:t>
            </a:r>
            <a:r>
              <a:rPr sz="900" b="0" dirty="0">
                <a:solidFill>
                  <a:srgbClr val="000000"/>
                </a:solidFill>
                <a:latin typeface="맑은 고딕"/>
                <a:ea typeface="맑은 고딕"/>
              </a:rPr>
              <a:t> </a:t>
            </a:r>
            <a:r>
              <a:rPr sz="900" b="0" dirty="0" err="1">
                <a:solidFill>
                  <a:srgbClr val="000000"/>
                </a:solidFill>
                <a:latin typeface="맑은 고딕"/>
                <a:ea typeface="맑은 고딕"/>
              </a:rPr>
              <a:t>대역폭</a:t>
            </a:r>
            <a:r>
              <a:rPr sz="900" b="0" dirty="0">
                <a:solidFill>
                  <a:srgbClr val="000000"/>
                </a:solidFill>
                <a:latin typeface="맑은 고딕"/>
                <a:ea typeface="맑은 고딕"/>
              </a:rPr>
              <a:t> = </a:t>
            </a:r>
            <a:r>
              <a:rPr sz="900" b="0" dirty="0" err="1">
                <a:solidFill>
                  <a:srgbClr val="000000"/>
                </a:solidFill>
                <a:latin typeface="맑은 고딕"/>
                <a:ea typeface="맑은 고딕"/>
              </a:rPr>
              <a:t>이론의</a:t>
            </a:r>
            <a:r>
              <a:rPr sz="900" b="0" dirty="0">
                <a:solidFill>
                  <a:srgbClr val="000000"/>
                </a:solidFill>
                <a:latin typeface="맑은 고딕"/>
                <a:ea typeface="맑은 고딕"/>
              </a:rPr>
              <a:t> 70%</a:t>
            </a:r>
          </a:p>
          <a:p>
            <a:pPr algn="l">
              <a:spcAft>
                <a:spcPts val="200"/>
              </a:spcAft>
            </a:pPr>
            <a:r>
              <a:rPr sz="900" b="0" dirty="0">
                <a:solidFill>
                  <a:srgbClr val="000000"/>
                </a:solidFill>
                <a:latin typeface="맑은 고딕"/>
                <a:ea typeface="맑은 고딕"/>
              </a:rPr>
              <a:t>• Prefill MFU = 45%</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가중치</a:t>
            </a:r>
            <a:r>
              <a:rPr sz="900" b="0" dirty="0">
                <a:solidFill>
                  <a:srgbClr val="000000"/>
                </a:solidFill>
                <a:latin typeface="맑은 고딕"/>
                <a:ea typeface="맑은 고딕"/>
              </a:rPr>
              <a:t> 70.6B × 2 B = 141 GB</a:t>
            </a:r>
          </a:p>
          <a:p>
            <a:pPr algn="l">
              <a:spcAft>
                <a:spcPts val="200"/>
              </a:spcAft>
            </a:pPr>
            <a:r>
              <a:rPr sz="900" b="0" dirty="0">
                <a:solidFill>
                  <a:srgbClr val="000000"/>
                </a:solidFill>
                <a:latin typeface="맑은 고딕"/>
                <a:ea typeface="맑은 고딕"/>
              </a:rPr>
              <a:t>• KV = 0.31 MB/token (80층 × 2 × 8 KV head × 128 × 2 B)</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요청</a:t>
            </a:r>
            <a:r>
              <a:rPr sz="900" b="0" dirty="0">
                <a:solidFill>
                  <a:srgbClr val="000000"/>
                </a:solidFill>
                <a:latin typeface="맑은 고딕"/>
                <a:ea typeface="맑은 고딕"/>
              </a:rPr>
              <a:t> 1건 KV(</a:t>
            </a:r>
            <a:r>
              <a:rPr sz="900" b="0" dirty="0" err="1">
                <a:solidFill>
                  <a:srgbClr val="000000"/>
                </a:solidFill>
                <a:latin typeface="맑은 고딕"/>
                <a:ea typeface="맑은 고딕"/>
              </a:rPr>
              <a:t>입력</a:t>
            </a:r>
            <a:r>
              <a:rPr sz="900" b="0" dirty="0">
                <a:solidFill>
                  <a:srgbClr val="000000"/>
                </a:solidFill>
                <a:latin typeface="맑은 고딕"/>
                <a:ea typeface="맑은 고딕"/>
              </a:rPr>
              <a:t> 8K + </a:t>
            </a:r>
            <a:r>
              <a:rPr sz="900" b="0" dirty="0" err="1">
                <a:solidFill>
                  <a:srgbClr val="000000"/>
                </a:solidFill>
                <a:latin typeface="맑은 고딕"/>
                <a:ea typeface="맑은 고딕"/>
              </a:rPr>
              <a:t>출력</a:t>
            </a:r>
            <a:r>
              <a:rPr sz="900" b="0" dirty="0">
                <a:solidFill>
                  <a:srgbClr val="000000"/>
                </a:solidFill>
                <a:latin typeface="맑은 고딕"/>
                <a:ea typeface="맑은 고딕"/>
              </a:rPr>
              <a:t> 256) = 2.77 GB</a:t>
            </a:r>
          </a:p>
          <a:p>
            <a:pPr algn="l">
              <a:spcAft>
                <a:spcPts val="200"/>
              </a:spcAft>
            </a:pPr>
            <a:r>
              <a:rPr sz="900" b="0" dirty="0">
                <a:solidFill>
                  <a:srgbClr val="000000"/>
                </a:solidFill>
                <a:latin typeface="맑은 고딕"/>
                <a:ea typeface="맑은 고딕"/>
              </a:rPr>
              <a:t>• HBM 90% </a:t>
            </a:r>
            <a:r>
              <a:rPr sz="900" b="0" dirty="0" err="1">
                <a:solidFill>
                  <a:srgbClr val="000000"/>
                </a:solidFill>
                <a:latin typeface="맑은 고딕"/>
                <a:ea typeface="맑은 고딕"/>
              </a:rPr>
              <a:t>사용</a:t>
            </a:r>
            <a:r>
              <a:rPr sz="900" b="0" dirty="0">
                <a:solidFill>
                  <a:srgbClr val="000000"/>
                </a:solidFill>
                <a:latin typeface="맑은 고딕"/>
                <a:ea typeface="맑은 고딕"/>
              </a:rPr>
              <a:t> </a:t>
            </a:r>
            <a:r>
              <a:rPr sz="900" b="0" dirty="0" err="1">
                <a:solidFill>
                  <a:srgbClr val="000000"/>
                </a:solidFill>
                <a:latin typeface="맑은 고딕"/>
                <a:ea typeface="맑은 고딕"/>
              </a:rPr>
              <a:t>가능</a:t>
            </a:r>
            <a:endParaRPr sz="900" b="0" dirty="0">
              <a:solidFill>
                <a:srgbClr val="000000"/>
              </a:solidFill>
              <a:latin typeface="맑은 고딕"/>
              <a:ea typeface="맑은 고딕"/>
            </a:endParaRPr>
          </a:p>
        </p:txBody>
      </p:sp>
      <p:sp>
        <p:nvSpPr>
          <p:cNvPr id="7" name="TextBox 6"/>
          <p:cNvSpPr txBox="1"/>
          <p:nvPr/>
        </p:nvSpPr>
        <p:spPr>
          <a:xfrm>
            <a:off x="365760" y="3611880"/>
            <a:ext cx="5623560" cy="1366528"/>
          </a:xfrm>
          <a:prstGeom prst="rect">
            <a:avLst/>
          </a:prstGeom>
          <a:noFill/>
          <a:ln w="12700">
            <a:solidFill>
              <a:srgbClr val="BFBFBF"/>
            </a:solidFill>
          </a:ln>
        </p:spPr>
        <p:txBody>
          <a:bodyPr wrap="square" lIns="73152" tIns="36576" rIns="73152" bIns="36576" anchor="t">
            <a:spAutoFit/>
          </a:bodyPr>
          <a:lstStyle/>
          <a:p>
            <a:pPr algn="l">
              <a:spcAft>
                <a:spcPts val="300"/>
              </a:spcAft>
            </a:pPr>
            <a:r>
              <a:rPr sz="1200" b="1" dirty="0">
                <a:solidFill>
                  <a:srgbClr val="2F5597"/>
                </a:solidFill>
                <a:latin typeface="맑은 고딕"/>
                <a:ea typeface="맑은 고딕"/>
              </a:rPr>
              <a:t>TTFT P99 ≤ 2 s</a:t>
            </a:r>
          </a:p>
          <a:p>
            <a:pPr algn="l">
              <a:spcAft>
                <a:spcPts val="300"/>
              </a:spcAft>
            </a:pPr>
            <a:r>
              <a:rPr sz="950" b="0" dirty="0">
                <a:solidFill>
                  <a:schemeClr val="accent1"/>
                </a:solidFill>
                <a:latin typeface="맑은 고딕"/>
                <a:ea typeface="맑은 고딕"/>
              </a:rPr>
              <a:t>• 8K prefill </a:t>
            </a:r>
            <a:r>
              <a:rPr sz="950" b="0" dirty="0" err="1">
                <a:solidFill>
                  <a:schemeClr val="accent1"/>
                </a:solidFill>
                <a:latin typeface="맑은 고딕"/>
                <a:ea typeface="맑은 고딕"/>
              </a:rPr>
              <a:t>이론</a:t>
            </a:r>
            <a:r>
              <a:rPr sz="950" b="0" dirty="0">
                <a:solidFill>
                  <a:schemeClr val="accent1"/>
                </a:solidFill>
                <a:latin typeface="맑은 고딕"/>
                <a:ea typeface="맑은 고딕"/>
              </a:rPr>
              <a:t> </a:t>
            </a:r>
            <a:r>
              <a:rPr sz="950" b="0" dirty="0" err="1">
                <a:solidFill>
                  <a:schemeClr val="accent1"/>
                </a:solidFill>
                <a:latin typeface="맑은 고딕"/>
                <a:ea typeface="맑은 고딕"/>
              </a:rPr>
              <a:t>시간</a:t>
            </a:r>
            <a:r>
              <a:rPr sz="950" b="0" dirty="0">
                <a:solidFill>
                  <a:schemeClr val="accent1"/>
                </a:solidFill>
                <a:latin typeface="맑은 고딕"/>
                <a:ea typeface="맑은 고딕"/>
              </a:rPr>
              <a:t> = 2 × 70.6B × 8,192 ÷ (8 × 989 TFLOPS × 0.45) = 0.32 s. </a:t>
            </a:r>
            <a:endParaRPr lang="en-US" sz="950" b="0" dirty="0">
              <a:solidFill>
                <a:schemeClr val="accent1"/>
              </a:solidFill>
              <a:latin typeface="맑은 고딕"/>
              <a:ea typeface="맑은 고딕"/>
            </a:endParaRPr>
          </a:p>
          <a:p>
            <a:pPr algn="l">
              <a:spcAft>
                <a:spcPts val="300"/>
              </a:spcAft>
            </a:pPr>
            <a:r>
              <a:rPr sz="950" b="0" dirty="0">
                <a:solidFill>
                  <a:srgbClr val="000000"/>
                </a:solidFill>
                <a:latin typeface="맑은 고딕"/>
                <a:ea typeface="맑은 고딕"/>
              </a:rPr>
              <a:t>2 </a:t>
            </a:r>
            <a:r>
              <a:rPr sz="950" b="0" dirty="0" err="1">
                <a:solidFill>
                  <a:srgbClr val="000000"/>
                </a:solidFill>
                <a:latin typeface="맑은 고딕"/>
                <a:ea typeface="맑은 고딕"/>
              </a:rPr>
              <a:t>s는</a:t>
            </a:r>
            <a:r>
              <a:rPr sz="950" b="0" dirty="0">
                <a:solidFill>
                  <a:srgbClr val="000000"/>
                </a:solidFill>
                <a:latin typeface="맑은 고딕"/>
                <a:ea typeface="맑은 고딕"/>
              </a:rPr>
              <a:t> </a:t>
            </a:r>
            <a:r>
              <a:rPr sz="950" b="0" dirty="0" err="1">
                <a:solidFill>
                  <a:srgbClr val="000000"/>
                </a:solidFill>
                <a:latin typeface="맑은 고딕"/>
                <a:ea typeface="맑은 고딕"/>
              </a:rPr>
              <a:t>이의</a:t>
            </a:r>
            <a:r>
              <a:rPr sz="950" b="0" dirty="0">
                <a:solidFill>
                  <a:srgbClr val="000000"/>
                </a:solidFill>
                <a:latin typeface="맑은 고딕"/>
                <a:ea typeface="맑은 고딕"/>
              </a:rPr>
              <a:t> 약 6배라 </a:t>
            </a:r>
            <a:r>
              <a:rPr sz="950" b="0" dirty="0" err="1">
                <a:solidFill>
                  <a:srgbClr val="000000"/>
                </a:solidFill>
                <a:latin typeface="맑은 고딕"/>
                <a:ea typeface="맑은 고딕"/>
              </a:rPr>
              <a:t>큐잉·스케줄링에</a:t>
            </a:r>
            <a:r>
              <a:rPr sz="950" b="0" dirty="0">
                <a:solidFill>
                  <a:srgbClr val="000000"/>
                </a:solidFill>
                <a:latin typeface="맑은 고딕"/>
                <a:ea typeface="맑은 고딕"/>
              </a:rPr>
              <a:t> 약 1.7 </a:t>
            </a:r>
            <a:r>
              <a:rPr sz="950" b="0" dirty="0" err="1">
                <a:solidFill>
                  <a:srgbClr val="000000"/>
                </a:solidFill>
                <a:latin typeface="맑은 고딕"/>
                <a:ea typeface="맑은 고딕"/>
              </a:rPr>
              <a:t>s를</a:t>
            </a:r>
            <a:r>
              <a:rPr sz="950" b="0" dirty="0">
                <a:solidFill>
                  <a:srgbClr val="000000"/>
                </a:solidFill>
                <a:latin typeface="맑은 고딕"/>
                <a:ea typeface="맑은 고딕"/>
              </a:rPr>
              <a:t> </a:t>
            </a:r>
            <a:r>
              <a:rPr sz="950" b="0" dirty="0" err="1">
                <a:solidFill>
                  <a:srgbClr val="000000"/>
                </a:solidFill>
                <a:latin typeface="맑은 고딕"/>
                <a:ea typeface="맑은 고딕"/>
              </a:rPr>
              <a:t>허용한다</a:t>
            </a:r>
            <a:r>
              <a:rPr sz="950" b="0" dirty="0">
                <a:solidFill>
                  <a:srgbClr val="000000"/>
                </a:solidFill>
                <a:latin typeface="맑은 고딕"/>
                <a:ea typeface="맑은 고딕"/>
              </a:rPr>
              <a:t>.</a:t>
            </a:r>
          </a:p>
          <a:p>
            <a:pPr algn="l">
              <a:spcAft>
                <a:spcPts val="3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공개</a:t>
            </a:r>
            <a:r>
              <a:rPr sz="950" b="0" dirty="0">
                <a:solidFill>
                  <a:srgbClr val="000000"/>
                </a:solidFill>
                <a:latin typeface="맑은 고딕"/>
                <a:ea typeface="맑은 고딕"/>
              </a:rPr>
              <a:t> </a:t>
            </a:r>
            <a:r>
              <a:rPr sz="950" b="0" dirty="0" err="1">
                <a:solidFill>
                  <a:srgbClr val="000000"/>
                </a:solidFill>
                <a:latin typeface="맑은 고딕"/>
                <a:ea typeface="맑은 고딕"/>
              </a:rPr>
              <a:t>기준</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marL="171450" indent="-171450" algn="l">
              <a:spcAft>
                <a:spcPts val="300"/>
              </a:spcAft>
              <a:buFontTx/>
              <a:buChar char="-"/>
            </a:pPr>
            <a:r>
              <a:rPr sz="950" b="0" dirty="0" err="1">
                <a:solidFill>
                  <a:srgbClr val="000000"/>
                </a:solidFill>
                <a:latin typeface="맑은 고딕"/>
                <a:ea typeface="맑은 고딕"/>
              </a:rPr>
              <a:t>MLPerf</a:t>
            </a:r>
            <a:r>
              <a:rPr sz="950" b="0" dirty="0">
                <a:solidFill>
                  <a:srgbClr val="000000"/>
                </a:solidFill>
                <a:latin typeface="맑은 고딕"/>
                <a:ea typeface="맑은 고딕"/>
              </a:rPr>
              <a:t> Inference Llama-2-70B의 </a:t>
            </a:r>
            <a:r>
              <a:rPr sz="950" b="0" dirty="0" err="1">
                <a:solidFill>
                  <a:srgbClr val="000000"/>
                </a:solidFill>
                <a:latin typeface="맑은 고딕"/>
                <a:ea typeface="맑은 고딕"/>
              </a:rPr>
              <a:t>표준</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시나리오는</a:t>
            </a:r>
            <a:r>
              <a:rPr sz="950" b="0" dirty="0">
                <a:solidFill>
                  <a:srgbClr val="000000"/>
                </a:solidFill>
                <a:latin typeface="맑은 고딕"/>
                <a:ea typeface="맑은 고딕"/>
              </a:rPr>
              <a:t> TTFT 2 s</a:t>
            </a:r>
            <a:endParaRPr lang="en-US" sz="950" b="0" dirty="0">
              <a:solidFill>
                <a:srgbClr val="000000"/>
              </a:solidFill>
              <a:latin typeface="맑은 고딕"/>
              <a:ea typeface="맑은 고딕"/>
            </a:endParaRPr>
          </a:p>
          <a:p>
            <a:pPr marL="171450" indent="-171450" algn="l">
              <a:spcAft>
                <a:spcPts val="300"/>
              </a:spcAft>
              <a:buFontTx/>
              <a:buChar char="-"/>
            </a:pPr>
            <a:r>
              <a:rPr sz="950" b="0" dirty="0" err="1">
                <a:solidFill>
                  <a:srgbClr val="000000"/>
                </a:solidFill>
                <a:latin typeface="맑은 고딕"/>
                <a:ea typeface="맑은 고딕"/>
              </a:rPr>
              <a:t>interactive는</a:t>
            </a:r>
            <a:r>
              <a:rPr sz="950" b="0" dirty="0">
                <a:solidFill>
                  <a:srgbClr val="000000"/>
                </a:solidFill>
                <a:latin typeface="맑은 고딕"/>
                <a:ea typeface="맑은 고딕"/>
              </a:rPr>
              <a:t> 450 </a:t>
            </a:r>
            <a:r>
              <a:rPr sz="950" b="0" dirty="0" err="1">
                <a:solidFill>
                  <a:srgbClr val="000000"/>
                </a:solidFill>
                <a:latin typeface="맑은 고딕"/>
                <a:ea typeface="맑은 고딕"/>
              </a:rPr>
              <a:t>ms로</a:t>
            </a:r>
            <a:r>
              <a:rPr sz="950" b="0" dirty="0">
                <a:solidFill>
                  <a:srgbClr val="000000"/>
                </a:solidFill>
                <a:latin typeface="맑은 고딕"/>
                <a:ea typeface="맑은 고딕"/>
              </a:rPr>
              <a:t> </a:t>
            </a:r>
            <a:r>
              <a:rPr sz="950" b="0" dirty="0" err="1">
                <a:solidFill>
                  <a:srgbClr val="000000"/>
                </a:solidFill>
                <a:latin typeface="맑은 고딕"/>
                <a:ea typeface="맑은 고딕"/>
              </a:rPr>
              <a:t>알려져</a:t>
            </a:r>
            <a:r>
              <a:rPr sz="950" b="0" dirty="0">
                <a:solidFill>
                  <a:srgbClr val="000000"/>
                </a:solidFill>
                <a:latin typeface="맑은 고딕"/>
                <a:ea typeface="맑은 고딕"/>
              </a:rPr>
              <a:t> </a:t>
            </a:r>
            <a:r>
              <a:rPr sz="950" b="0" dirty="0" err="1">
                <a:solidFill>
                  <a:srgbClr val="000000"/>
                </a:solidFill>
                <a:latin typeface="맑은 고딕"/>
                <a:ea typeface="맑은 고딕"/>
              </a:rPr>
              <a:t>있다</a:t>
            </a:r>
            <a:r>
              <a:rPr sz="950" b="0" dirty="0">
                <a:solidFill>
                  <a:srgbClr val="000000"/>
                </a:solidFill>
                <a:latin typeface="맑은 고딕"/>
                <a:ea typeface="맑은 고딕"/>
              </a:rPr>
              <a:t> (</a:t>
            </a:r>
            <a:r>
              <a:rPr sz="950" b="0" dirty="0" err="1">
                <a:solidFill>
                  <a:srgbClr val="000000"/>
                </a:solidFill>
                <a:latin typeface="맑은 고딕"/>
                <a:ea typeface="맑은 고딕"/>
              </a:rPr>
              <a:t>표준</a:t>
            </a:r>
            <a:r>
              <a:rPr sz="950" b="0" dirty="0">
                <a:solidFill>
                  <a:srgbClr val="000000"/>
                </a:solidFill>
                <a:latin typeface="맑은 고딕"/>
                <a:ea typeface="맑은 고딕"/>
              </a:rPr>
              <a:t> </a:t>
            </a:r>
            <a:r>
              <a:rPr sz="950" b="0" dirty="0" err="1">
                <a:solidFill>
                  <a:srgbClr val="000000"/>
                </a:solidFill>
                <a:latin typeface="맑은 고딕"/>
                <a:ea typeface="맑은 고딕"/>
              </a:rPr>
              <a:t>값은</a:t>
            </a:r>
            <a:r>
              <a:rPr sz="950" b="0" dirty="0">
                <a:solidFill>
                  <a:srgbClr val="000000"/>
                </a:solidFill>
                <a:latin typeface="맑은 고딕"/>
                <a:ea typeface="맑은 고딕"/>
              </a:rPr>
              <a:t> 2차 </a:t>
            </a:r>
            <a:r>
              <a:rPr sz="950" b="0" dirty="0" err="1">
                <a:solidFill>
                  <a:srgbClr val="000000"/>
                </a:solidFill>
                <a:latin typeface="맑은 고딕"/>
                <a:ea typeface="맑은 고딕"/>
              </a:rPr>
              <a:t>자료</a:t>
            </a:r>
            <a:r>
              <a:rPr sz="950" b="0" dirty="0">
                <a:solidFill>
                  <a:srgbClr val="000000"/>
                </a:solidFill>
                <a:latin typeface="맑은 고딕"/>
                <a:ea typeface="맑은 고딕"/>
              </a:rPr>
              <a:t> </a:t>
            </a:r>
            <a:r>
              <a:rPr sz="950" b="0" dirty="0" err="1">
                <a:solidFill>
                  <a:srgbClr val="000000"/>
                </a:solidFill>
                <a:latin typeface="맑은 고딕"/>
                <a:ea typeface="맑은 고딕"/>
              </a:rPr>
              <a:t>기준</a:t>
            </a:r>
            <a:r>
              <a:rPr sz="950" b="0" dirty="0">
                <a:solidFill>
                  <a:srgbClr val="000000"/>
                </a:solidFill>
                <a:latin typeface="맑은 고딕"/>
                <a:ea typeface="맑은 고딕"/>
              </a:rPr>
              <a:t> </a:t>
            </a:r>
            <a:r>
              <a:rPr sz="950" b="0" dirty="0" err="1">
                <a:solidFill>
                  <a:srgbClr val="000000"/>
                </a:solidFill>
                <a:latin typeface="맑은 고딕"/>
                <a:ea typeface="맑은 고딕"/>
              </a:rPr>
              <a:t>확인</a:t>
            </a:r>
            <a:r>
              <a:rPr sz="950" b="0" dirty="0">
                <a:solidFill>
                  <a:srgbClr val="000000"/>
                </a:solidFill>
                <a:latin typeface="맑은 고딕"/>
                <a:ea typeface="맑은 고딕"/>
              </a:rPr>
              <a:t> </a:t>
            </a:r>
            <a:r>
              <a:rPr sz="950" b="0" dirty="0" err="1">
                <a:solidFill>
                  <a:srgbClr val="000000"/>
                </a:solidFill>
                <a:latin typeface="맑은 고딕"/>
                <a:ea typeface="맑은 고딕"/>
              </a:rPr>
              <a:t>필요</a:t>
            </a:r>
            <a:r>
              <a:rPr sz="950" b="0" dirty="0">
                <a:solidFill>
                  <a:srgbClr val="000000"/>
                </a:solidFill>
                <a:latin typeface="맑은 고딕"/>
                <a:ea typeface="맑은 고딕"/>
              </a:rPr>
              <a:t>).</a:t>
            </a:r>
          </a:p>
          <a:p>
            <a:pPr algn="l">
              <a:spcAft>
                <a:spcPts val="300"/>
              </a:spcAft>
            </a:pPr>
            <a:r>
              <a:rPr sz="950" b="0" dirty="0">
                <a:solidFill>
                  <a:srgbClr val="000000"/>
                </a:solidFill>
                <a:latin typeface="맑은 고딕"/>
                <a:ea typeface="맑은 고딕"/>
              </a:rPr>
              <a:t>• 즉 </a:t>
            </a:r>
            <a:r>
              <a:rPr sz="950" b="0" dirty="0" err="1">
                <a:solidFill>
                  <a:srgbClr val="000000"/>
                </a:solidFill>
                <a:latin typeface="맑은 고딕"/>
                <a:ea typeface="맑은 고딕"/>
              </a:rPr>
              <a:t>우리</a:t>
            </a:r>
            <a:r>
              <a:rPr sz="950" b="0" dirty="0">
                <a:solidFill>
                  <a:srgbClr val="000000"/>
                </a:solidFill>
                <a:latin typeface="맑은 고딕"/>
                <a:ea typeface="맑은 고딕"/>
              </a:rPr>
              <a:t> </a:t>
            </a:r>
            <a:r>
              <a:rPr sz="950" b="0" dirty="0" err="1">
                <a:solidFill>
                  <a:srgbClr val="000000"/>
                </a:solidFill>
                <a:latin typeface="맑은 고딕"/>
                <a:ea typeface="맑은 고딕"/>
              </a:rPr>
              <a:t>SLO의</a:t>
            </a:r>
            <a:r>
              <a:rPr sz="950" b="0" dirty="0">
                <a:solidFill>
                  <a:srgbClr val="000000"/>
                </a:solidFill>
                <a:latin typeface="맑은 고딕"/>
                <a:ea typeface="맑은 고딕"/>
              </a:rPr>
              <a:t> </a:t>
            </a:r>
            <a:r>
              <a:rPr sz="950" b="0" dirty="0" err="1">
                <a:solidFill>
                  <a:srgbClr val="000000"/>
                </a:solidFill>
                <a:latin typeface="맑은 고딕"/>
                <a:ea typeface="맑은 고딕"/>
              </a:rPr>
              <a:t>TTFT는</a:t>
            </a:r>
            <a:r>
              <a:rPr sz="950" b="0" dirty="0">
                <a:solidFill>
                  <a:srgbClr val="000000"/>
                </a:solidFill>
                <a:latin typeface="맑은 고딕"/>
                <a:ea typeface="맑은 고딕"/>
              </a:rPr>
              <a:t> </a:t>
            </a:r>
            <a:r>
              <a:rPr sz="950" b="0" dirty="0" err="1">
                <a:solidFill>
                  <a:srgbClr val="000000"/>
                </a:solidFill>
                <a:latin typeface="맑은 고딕"/>
                <a:ea typeface="맑은 고딕"/>
              </a:rPr>
              <a:t>업계</a:t>
            </a:r>
            <a:r>
              <a:rPr sz="950" b="0" dirty="0">
                <a:solidFill>
                  <a:srgbClr val="000000"/>
                </a:solidFill>
                <a:latin typeface="맑은 고딕"/>
                <a:ea typeface="맑은 고딕"/>
              </a:rPr>
              <a:t> </a:t>
            </a:r>
            <a:r>
              <a:rPr sz="950" b="0" dirty="0" err="1">
                <a:solidFill>
                  <a:srgbClr val="000000"/>
                </a:solidFill>
                <a:latin typeface="맑은 고딕"/>
                <a:ea typeface="맑은 고딕"/>
              </a:rPr>
              <a:t>표준</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시나리오와</a:t>
            </a:r>
            <a:r>
              <a:rPr sz="950" b="0" dirty="0">
                <a:solidFill>
                  <a:srgbClr val="000000"/>
                </a:solidFill>
                <a:latin typeface="맑은 고딕"/>
                <a:ea typeface="맑은 고딕"/>
              </a:rPr>
              <a:t> </a:t>
            </a:r>
            <a:r>
              <a:rPr sz="950" b="0" dirty="0" err="1">
                <a:solidFill>
                  <a:srgbClr val="000000"/>
                </a:solidFill>
                <a:latin typeface="맑은 고딕"/>
                <a:ea typeface="맑은 고딕"/>
              </a:rPr>
              <a:t>같고</a:t>
            </a:r>
            <a:r>
              <a:rPr sz="950" b="0" dirty="0">
                <a:solidFill>
                  <a:srgbClr val="000000"/>
                </a:solidFill>
                <a:latin typeface="맑은 고딕"/>
                <a:ea typeface="맑은 고딕"/>
              </a:rPr>
              <a:t>, 더 </a:t>
            </a:r>
            <a:r>
              <a:rPr sz="950" b="0" dirty="0" err="1">
                <a:solidFill>
                  <a:srgbClr val="000000"/>
                </a:solidFill>
                <a:latin typeface="맑은 고딕"/>
                <a:ea typeface="맑은 고딕"/>
              </a:rPr>
              <a:t>엄격한</a:t>
            </a:r>
            <a:r>
              <a:rPr sz="950" b="0" dirty="0">
                <a:solidFill>
                  <a:srgbClr val="000000"/>
                </a:solidFill>
                <a:latin typeface="맑은 고딕"/>
                <a:ea typeface="맑은 고딕"/>
              </a:rPr>
              <a:t> </a:t>
            </a:r>
            <a:r>
              <a:rPr sz="950" b="0" dirty="0" err="1">
                <a:solidFill>
                  <a:srgbClr val="000000"/>
                </a:solidFill>
                <a:latin typeface="맑은 고딕"/>
                <a:ea typeface="맑은 고딕"/>
              </a:rPr>
              <a:t>interactive는</a:t>
            </a:r>
            <a:r>
              <a:rPr sz="950" b="0" dirty="0">
                <a:solidFill>
                  <a:srgbClr val="000000"/>
                </a:solidFill>
                <a:latin typeface="맑은 고딕"/>
                <a:ea typeface="맑은 고딕"/>
              </a:rPr>
              <a:t> </a:t>
            </a:r>
            <a:r>
              <a:rPr sz="950" b="0" dirty="0" err="1">
                <a:solidFill>
                  <a:srgbClr val="000000"/>
                </a:solidFill>
                <a:latin typeface="맑은 고딕"/>
                <a:ea typeface="맑은 고딕"/>
              </a:rPr>
              <a:t>별도</a:t>
            </a:r>
            <a:r>
              <a:rPr sz="950" b="0" dirty="0">
                <a:solidFill>
                  <a:srgbClr val="000000"/>
                </a:solidFill>
                <a:latin typeface="맑은 고딕"/>
                <a:ea typeface="맑은 고딕"/>
              </a:rPr>
              <a:t> </a:t>
            </a:r>
            <a:r>
              <a:rPr sz="950" b="0" dirty="0" err="1">
                <a:solidFill>
                  <a:srgbClr val="000000"/>
                </a:solidFill>
                <a:latin typeface="맑은 고딕"/>
                <a:ea typeface="맑은 고딕"/>
              </a:rPr>
              <a:t>과제로</a:t>
            </a:r>
            <a:r>
              <a:rPr sz="950" b="0" dirty="0">
                <a:solidFill>
                  <a:srgbClr val="000000"/>
                </a:solidFill>
                <a:latin typeface="맑은 고딕"/>
                <a:ea typeface="맑은 고딕"/>
              </a:rPr>
              <a:t> </a:t>
            </a:r>
            <a:r>
              <a:rPr sz="950" b="0" dirty="0" err="1">
                <a:solidFill>
                  <a:srgbClr val="000000"/>
                </a:solidFill>
                <a:latin typeface="맑은 고딕"/>
                <a:ea typeface="맑은 고딕"/>
              </a:rPr>
              <a:t>둔다</a:t>
            </a:r>
            <a:r>
              <a:rPr sz="950" b="0" dirty="0">
                <a:solidFill>
                  <a:srgbClr val="000000"/>
                </a:solidFill>
                <a:latin typeface="맑은 고딕"/>
                <a:ea typeface="맑은 고딕"/>
              </a:rPr>
              <a:t>.</a:t>
            </a:r>
          </a:p>
        </p:txBody>
      </p:sp>
      <p:sp>
        <p:nvSpPr>
          <p:cNvPr id="8" name="TextBox 7"/>
          <p:cNvSpPr txBox="1"/>
          <p:nvPr/>
        </p:nvSpPr>
        <p:spPr>
          <a:xfrm>
            <a:off x="6126480" y="3611880"/>
            <a:ext cx="5669280" cy="1620444"/>
          </a:xfrm>
          <a:prstGeom prst="rect">
            <a:avLst/>
          </a:prstGeom>
          <a:noFill/>
          <a:ln w="12700">
            <a:solidFill>
              <a:srgbClr val="BFBFBF"/>
            </a:solidFill>
          </a:ln>
        </p:spPr>
        <p:txBody>
          <a:bodyPr wrap="square" lIns="73152" tIns="36576" rIns="73152" bIns="36576" anchor="t">
            <a:spAutoFit/>
          </a:bodyPr>
          <a:lstStyle/>
          <a:p>
            <a:pPr algn="l">
              <a:spcAft>
                <a:spcPts val="300"/>
              </a:spcAft>
            </a:pPr>
            <a:r>
              <a:rPr sz="1200" b="1" dirty="0">
                <a:solidFill>
                  <a:srgbClr val="2F5597"/>
                </a:solidFill>
                <a:latin typeface="맑은 고딕"/>
                <a:ea typeface="맑은 고딕"/>
              </a:rPr>
              <a:t>TPOT P99 ≤ 50 </a:t>
            </a:r>
            <a:r>
              <a:rPr sz="1200" b="1" dirty="0" err="1">
                <a:solidFill>
                  <a:srgbClr val="2F5597"/>
                </a:solidFill>
                <a:latin typeface="맑은 고딕"/>
                <a:ea typeface="맑은 고딕"/>
              </a:rPr>
              <a:t>ms</a:t>
            </a:r>
            <a:endParaRPr sz="1200" b="1" dirty="0">
              <a:solidFill>
                <a:srgbClr val="2F5597"/>
              </a:solidFill>
              <a:latin typeface="맑은 고딕"/>
              <a:ea typeface="맑은 고딕"/>
            </a:endParaRPr>
          </a:p>
          <a:p>
            <a:pPr algn="l">
              <a:spcAft>
                <a:spcPts val="300"/>
              </a:spcAft>
            </a:pPr>
            <a:r>
              <a:rPr sz="950" b="0" dirty="0">
                <a:solidFill>
                  <a:schemeClr val="accent1"/>
                </a:solidFill>
                <a:latin typeface="맑은 고딕"/>
                <a:ea typeface="맑은 고딕"/>
              </a:rPr>
              <a:t>• </a:t>
            </a:r>
            <a:r>
              <a:rPr sz="950" b="0" dirty="0" err="1">
                <a:solidFill>
                  <a:schemeClr val="accent1"/>
                </a:solidFill>
                <a:latin typeface="맑은 고딕"/>
                <a:ea typeface="맑은 고딕"/>
              </a:rPr>
              <a:t>디코드</a:t>
            </a:r>
            <a:r>
              <a:rPr sz="950" b="0" dirty="0">
                <a:solidFill>
                  <a:schemeClr val="accent1"/>
                </a:solidFill>
                <a:latin typeface="맑은 고딕"/>
                <a:ea typeface="맑은 고딕"/>
              </a:rPr>
              <a:t> 1 step </a:t>
            </a:r>
            <a:r>
              <a:rPr sz="950" b="0" dirty="0" err="1">
                <a:solidFill>
                  <a:schemeClr val="accent1"/>
                </a:solidFill>
                <a:latin typeface="맑은 고딕"/>
                <a:ea typeface="맑은 고딕"/>
              </a:rPr>
              <a:t>이론</a:t>
            </a:r>
            <a:r>
              <a:rPr sz="950" b="0" dirty="0">
                <a:solidFill>
                  <a:schemeClr val="accent1"/>
                </a:solidFill>
                <a:latin typeface="맑은 고딕"/>
                <a:ea typeface="맑은 고딕"/>
              </a:rPr>
              <a:t> </a:t>
            </a:r>
            <a:r>
              <a:rPr sz="950" b="0" dirty="0" err="1">
                <a:solidFill>
                  <a:schemeClr val="accent1"/>
                </a:solidFill>
                <a:latin typeface="맑은 고딕"/>
                <a:ea typeface="맑은 고딕"/>
              </a:rPr>
              <a:t>하한</a:t>
            </a:r>
            <a:r>
              <a:rPr sz="950" b="0" dirty="0">
                <a:solidFill>
                  <a:schemeClr val="accent1"/>
                </a:solidFill>
                <a:latin typeface="맑은 고딕"/>
                <a:ea typeface="맑은 고딕"/>
              </a:rPr>
              <a:t> = (</a:t>
            </a:r>
            <a:r>
              <a:rPr sz="950" b="0" dirty="0" err="1">
                <a:solidFill>
                  <a:schemeClr val="accent1"/>
                </a:solidFill>
                <a:latin typeface="맑은 고딕"/>
                <a:ea typeface="맑은 고딕"/>
              </a:rPr>
              <a:t>가중치</a:t>
            </a:r>
            <a:r>
              <a:rPr sz="950" b="0" dirty="0">
                <a:solidFill>
                  <a:schemeClr val="accent1"/>
                </a:solidFill>
                <a:latin typeface="맑은 고딕"/>
                <a:ea typeface="맑은 고딕"/>
              </a:rPr>
              <a:t> 141 GB + </a:t>
            </a:r>
            <a:r>
              <a:rPr sz="950" b="0" dirty="0" err="1">
                <a:solidFill>
                  <a:schemeClr val="accent1"/>
                </a:solidFill>
                <a:latin typeface="맑은 고딕"/>
                <a:ea typeface="맑은 고딕"/>
              </a:rPr>
              <a:t>배치</a:t>
            </a:r>
            <a:r>
              <a:rPr sz="950" b="0" dirty="0">
                <a:solidFill>
                  <a:schemeClr val="accent1"/>
                </a:solidFill>
                <a:latin typeface="맑은 고딕"/>
                <a:ea typeface="맑은 고딕"/>
              </a:rPr>
              <a:t> × KV) ÷ </a:t>
            </a:r>
            <a:r>
              <a:rPr sz="950" b="0" dirty="0" err="1">
                <a:solidFill>
                  <a:schemeClr val="accent1"/>
                </a:solidFill>
                <a:latin typeface="맑은 고딕"/>
                <a:ea typeface="맑은 고딕"/>
              </a:rPr>
              <a:t>지속</a:t>
            </a:r>
            <a:r>
              <a:rPr sz="950" b="0" dirty="0">
                <a:solidFill>
                  <a:schemeClr val="accent1"/>
                </a:solidFill>
                <a:latin typeface="맑은 고딕"/>
                <a:ea typeface="맑은 고딕"/>
              </a:rPr>
              <a:t> </a:t>
            </a:r>
            <a:r>
              <a:rPr sz="950" b="0" dirty="0" err="1">
                <a:solidFill>
                  <a:schemeClr val="accent1"/>
                </a:solidFill>
                <a:latin typeface="맑은 고딕"/>
                <a:ea typeface="맑은 고딕"/>
              </a:rPr>
              <a:t>대역폭</a:t>
            </a:r>
            <a:r>
              <a:rPr sz="950" b="0" dirty="0">
                <a:solidFill>
                  <a:schemeClr val="accent1"/>
                </a:solidFill>
                <a:latin typeface="맑은 고딕"/>
                <a:ea typeface="맑은 고딕"/>
              </a:rPr>
              <a:t>. </a:t>
            </a:r>
            <a:r>
              <a:rPr sz="950" b="0" dirty="0" err="1">
                <a:solidFill>
                  <a:schemeClr val="accent1"/>
                </a:solidFill>
                <a:latin typeface="맑은 고딕"/>
                <a:ea typeface="맑은 고딕"/>
              </a:rPr>
              <a:t>배치</a:t>
            </a:r>
            <a:r>
              <a:rPr sz="950" b="0" dirty="0">
                <a:solidFill>
                  <a:schemeClr val="accent1"/>
                </a:solidFill>
                <a:latin typeface="맑은 고딕"/>
                <a:ea typeface="맑은 고딕"/>
              </a:rPr>
              <a:t> 1: 7.5 </a:t>
            </a:r>
            <a:r>
              <a:rPr sz="950" b="0" dirty="0" err="1">
                <a:solidFill>
                  <a:schemeClr val="accent1"/>
                </a:solidFill>
                <a:latin typeface="맑은 고딕"/>
                <a:ea typeface="맑은 고딕"/>
              </a:rPr>
              <a:t>ms</a:t>
            </a:r>
            <a:r>
              <a:rPr sz="950" b="0" dirty="0">
                <a:solidFill>
                  <a:schemeClr val="accent1"/>
                </a:solidFill>
                <a:latin typeface="맑은 고딕"/>
                <a:ea typeface="맑은 고딕"/>
              </a:rPr>
              <a:t>, </a:t>
            </a:r>
            <a:endParaRPr lang="en-US" sz="950" b="0" dirty="0">
              <a:solidFill>
                <a:schemeClr val="accent1"/>
              </a:solidFill>
              <a:latin typeface="맑은 고딕"/>
              <a:ea typeface="맑은 고딕"/>
            </a:endParaRPr>
          </a:p>
          <a:p>
            <a:pPr algn="l">
              <a:spcAft>
                <a:spcPts val="300"/>
              </a:spcAft>
            </a:pPr>
            <a:r>
              <a:rPr sz="950" b="0" dirty="0">
                <a:solidFill>
                  <a:schemeClr val="accent1"/>
                </a:solidFill>
                <a:latin typeface="맑은 고딕"/>
                <a:ea typeface="맑은 고딕"/>
              </a:rPr>
              <a:t>KV </a:t>
            </a:r>
            <a:r>
              <a:rPr sz="950" b="0" dirty="0" err="1">
                <a:solidFill>
                  <a:schemeClr val="accent1"/>
                </a:solidFill>
                <a:latin typeface="맑은 고딕"/>
                <a:ea typeface="맑은 고딕"/>
              </a:rPr>
              <a:t>용량</a:t>
            </a:r>
            <a:r>
              <a:rPr sz="950" b="0" dirty="0">
                <a:solidFill>
                  <a:schemeClr val="accent1"/>
                </a:solidFill>
                <a:latin typeface="맑은 고딕"/>
                <a:ea typeface="맑은 고딕"/>
              </a:rPr>
              <a:t> </a:t>
            </a:r>
            <a:r>
              <a:rPr sz="950" b="0" dirty="0" err="1">
                <a:solidFill>
                  <a:schemeClr val="accent1"/>
                </a:solidFill>
                <a:latin typeface="맑은 고딕"/>
                <a:ea typeface="맑은 고딕"/>
              </a:rPr>
              <a:t>한계</a:t>
            </a:r>
            <a:r>
              <a:rPr sz="950" b="0" dirty="0">
                <a:solidFill>
                  <a:schemeClr val="accent1"/>
                </a:solidFill>
                <a:latin typeface="맑은 고딕"/>
                <a:ea typeface="맑은 고딕"/>
              </a:rPr>
              <a:t> </a:t>
            </a:r>
            <a:r>
              <a:rPr sz="950" b="0" dirty="0" err="1">
                <a:solidFill>
                  <a:schemeClr val="accent1"/>
                </a:solidFill>
                <a:latin typeface="맑은 고딕"/>
                <a:ea typeface="맑은 고딕"/>
              </a:rPr>
              <a:t>배치</a:t>
            </a:r>
            <a:r>
              <a:rPr sz="950" b="0" dirty="0">
                <a:solidFill>
                  <a:schemeClr val="accent1"/>
                </a:solidFill>
                <a:latin typeface="맑은 고딕"/>
                <a:ea typeface="맑은 고딕"/>
              </a:rPr>
              <a:t> 약 157: 30.7 </a:t>
            </a:r>
            <a:r>
              <a:rPr sz="950" b="0" dirty="0" err="1">
                <a:solidFill>
                  <a:schemeClr val="accent1"/>
                </a:solidFill>
                <a:latin typeface="맑은 고딕"/>
                <a:ea typeface="맑은 고딕"/>
              </a:rPr>
              <a:t>ms.</a:t>
            </a:r>
            <a:endParaRPr sz="950" b="0" dirty="0">
              <a:solidFill>
                <a:schemeClr val="accent1"/>
              </a:solidFill>
              <a:latin typeface="맑은 고딕"/>
              <a:ea typeface="맑은 고딕"/>
            </a:endParaRPr>
          </a:p>
          <a:p>
            <a:pPr algn="l">
              <a:spcAft>
                <a:spcPts val="300"/>
              </a:spcAft>
            </a:pPr>
            <a:r>
              <a:rPr sz="950" b="0" dirty="0">
                <a:solidFill>
                  <a:srgbClr val="000000"/>
                </a:solidFill>
                <a:latin typeface="맑은 고딕"/>
                <a:ea typeface="맑은 고딕"/>
              </a:rPr>
              <a:t>• TP8 </a:t>
            </a:r>
            <a:r>
              <a:rPr sz="950" b="0" dirty="0" err="1">
                <a:solidFill>
                  <a:srgbClr val="000000"/>
                </a:solidFill>
                <a:latin typeface="맑은 고딕"/>
                <a:ea typeface="맑은 고딕"/>
              </a:rPr>
              <a:t>통신·스케줄링</a:t>
            </a:r>
            <a:r>
              <a:rPr sz="950" b="0" dirty="0">
                <a:solidFill>
                  <a:srgbClr val="000000"/>
                </a:solidFill>
                <a:latin typeface="맑은 고딕"/>
                <a:ea typeface="맑은 고딕"/>
              </a:rPr>
              <a:t> 약 5~8 </a:t>
            </a:r>
            <a:r>
              <a:rPr sz="950" b="0" dirty="0" err="1">
                <a:solidFill>
                  <a:srgbClr val="000000"/>
                </a:solidFill>
                <a:latin typeface="맑은 고딕"/>
                <a:ea typeface="맑은 고딕"/>
              </a:rPr>
              <a:t>ms를</a:t>
            </a:r>
            <a:r>
              <a:rPr sz="950" b="0" dirty="0">
                <a:solidFill>
                  <a:srgbClr val="000000"/>
                </a:solidFill>
                <a:latin typeface="맑은 고딕"/>
                <a:ea typeface="맑은 고딕"/>
              </a:rPr>
              <a:t> </a:t>
            </a:r>
            <a:r>
              <a:rPr sz="950" b="0" dirty="0" err="1">
                <a:solidFill>
                  <a:srgbClr val="000000"/>
                </a:solidFill>
                <a:latin typeface="맑은 고딕"/>
                <a:ea typeface="맑은 고딕"/>
              </a:rPr>
              <a:t>더하면</a:t>
            </a:r>
            <a:r>
              <a:rPr sz="950" b="0" dirty="0">
                <a:solidFill>
                  <a:srgbClr val="000000"/>
                </a:solidFill>
                <a:latin typeface="맑은 고딕"/>
                <a:ea typeface="맑은 고딕"/>
              </a:rPr>
              <a:t> </a:t>
            </a:r>
            <a:r>
              <a:rPr sz="950" b="0" dirty="0" err="1">
                <a:solidFill>
                  <a:srgbClr val="000000"/>
                </a:solidFill>
                <a:latin typeface="맑은 고딕"/>
                <a:ea typeface="맑은 고딕"/>
              </a:rPr>
              <a:t>포화</a:t>
            </a:r>
            <a:r>
              <a:rPr sz="950" b="0" dirty="0">
                <a:solidFill>
                  <a:srgbClr val="000000"/>
                </a:solidFill>
                <a:latin typeface="맑은 고딕"/>
                <a:ea typeface="맑은 고딕"/>
              </a:rPr>
              <a:t> 시 약 36~39 </a:t>
            </a:r>
            <a:r>
              <a:rPr sz="950" b="0" dirty="0" err="1">
                <a:solidFill>
                  <a:srgbClr val="000000"/>
                </a:solidFill>
                <a:latin typeface="맑은 고딕"/>
                <a:ea typeface="맑은 고딕"/>
              </a:rPr>
              <a:t>ms.</a:t>
            </a:r>
            <a:r>
              <a:rPr sz="950" b="0" dirty="0">
                <a:solidFill>
                  <a:srgbClr val="000000"/>
                </a:solidFill>
                <a:latin typeface="맑은 고딕"/>
                <a:ea typeface="맑은 고딕"/>
              </a:rPr>
              <a:t> 50 </a:t>
            </a:r>
            <a:r>
              <a:rPr sz="950" b="0" dirty="0" err="1">
                <a:solidFill>
                  <a:srgbClr val="000000"/>
                </a:solidFill>
                <a:latin typeface="맑은 고딕"/>
                <a:ea typeface="맑은 고딕"/>
              </a:rPr>
              <a:t>ms는</a:t>
            </a:r>
            <a:r>
              <a:rPr sz="950" b="0" dirty="0">
                <a:solidFill>
                  <a:srgbClr val="000000"/>
                </a:solidFill>
                <a:latin typeface="맑은 고딕"/>
                <a:ea typeface="맑은 고딕"/>
              </a:rPr>
              <a:t> </a:t>
            </a:r>
            <a:r>
              <a:rPr sz="950" b="0" dirty="0" err="1">
                <a:solidFill>
                  <a:srgbClr val="000000"/>
                </a:solidFill>
                <a:latin typeface="맑은 고딕"/>
                <a:ea typeface="맑은 고딕"/>
              </a:rPr>
              <a:t>여기에</a:t>
            </a:r>
            <a:r>
              <a:rPr sz="950" b="0" dirty="0">
                <a:solidFill>
                  <a:srgbClr val="000000"/>
                </a:solidFill>
                <a:latin typeface="맑은 고딕"/>
                <a:ea typeface="맑은 고딕"/>
              </a:rPr>
              <a:t> 약 25~40% </a:t>
            </a:r>
            <a:r>
              <a:rPr sz="950" b="0" dirty="0" err="1">
                <a:solidFill>
                  <a:srgbClr val="000000"/>
                </a:solidFill>
                <a:latin typeface="맑은 고딕"/>
                <a:ea typeface="맑은 고딕"/>
              </a:rPr>
              <a:t>여유</a:t>
            </a:r>
            <a:r>
              <a:rPr sz="950" b="0" dirty="0">
                <a:solidFill>
                  <a:srgbClr val="000000"/>
                </a:solidFill>
                <a:latin typeface="맑은 고딕"/>
                <a:ea typeface="맑은 고딕"/>
              </a:rPr>
              <a:t>(</a:t>
            </a:r>
            <a:r>
              <a:rPr sz="950" b="0" dirty="0" err="1">
                <a:solidFill>
                  <a:srgbClr val="000000"/>
                </a:solidFill>
                <a:latin typeface="맑은 고딕"/>
                <a:ea typeface="맑은 고딕"/>
              </a:rPr>
              <a:t>간섭·KV</a:t>
            </a:r>
            <a:r>
              <a:rPr sz="950" b="0" dirty="0">
                <a:solidFill>
                  <a:srgbClr val="000000"/>
                </a:solidFill>
                <a:latin typeface="맑은 고딕"/>
                <a:ea typeface="맑은 고딕"/>
              </a:rPr>
              <a:t> </a:t>
            </a:r>
            <a:r>
              <a:rPr sz="950" b="0" dirty="0" err="1">
                <a:solidFill>
                  <a:srgbClr val="000000"/>
                </a:solidFill>
                <a:latin typeface="맑은 고딕"/>
                <a:ea typeface="맑은 고딕"/>
              </a:rPr>
              <a:t>전송</a:t>
            </a:r>
            <a:r>
              <a:rPr sz="950" b="0" dirty="0">
                <a:solidFill>
                  <a:srgbClr val="000000"/>
                </a:solidFill>
                <a:latin typeface="맑은 고딕"/>
                <a:ea typeface="맑은 고딕"/>
              </a:rPr>
              <a:t> </a:t>
            </a:r>
            <a:r>
              <a:rPr sz="950" b="0" dirty="0" err="1">
                <a:solidFill>
                  <a:srgbClr val="000000"/>
                </a:solidFill>
                <a:latin typeface="맑은 고딕"/>
                <a:ea typeface="맑은 고딕"/>
              </a:rPr>
              <a:t>정체</a:t>
            </a:r>
            <a:r>
              <a:rPr sz="950" b="0" dirty="0">
                <a:solidFill>
                  <a:srgbClr val="000000"/>
                </a:solidFill>
                <a:latin typeface="맑은 고딕"/>
                <a:ea typeface="맑은 고딕"/>
              </a:rPr>
              <a:t> </a:t>
            </a:r>
            <a:r>
              <a:rPr sz="950" b="0" dirty="0" err="1">
                <a:solidFill>
                  <a:srgbClr val="000000"/>
                </a:solidFill>
                <a:latin typeface="맑은 고딕"/>
                <a:ea typeface="맑은 고딕"/>
              </a:rPr>
              <a:t>허용</a:t>
            </a:r>
            <a:r>
              <a:rPr sz="950" b="0" dirty="0">
                <a:solidFill>
                  <a:srgbClr val="000000"/>
                </a:solidFill>
                <a:latin typeface="맑은 고딕"/>
                <a:ea typeface="맑은 고딕"/>
              </a:rPr>
              <a:t>)를 둔 </a:t>
            </a:r>
            <a:r>
              <a:rPr sz="950" b="0" dirty="0" err="1">
                <a:solidFill>
                  <a:srgbClr val="000000"/>
                </a:solidFill>
                <a:latin typeface="맑은 고딕"/>
                <a:ea typeface="맑은 고딕"/>
              </a:rPr>
              <a:t>상한이다</a:t>
            </a:r>
            <a:r>
              <a:rPr sz="950" b="0" dirty="0">
                <a:solidFill>
                  <a:srgbClr val="000000"/>
                </a:solidFill>
                <a:latin typeface="맑은 고딕"/>
                <a:ea typeface="맑은 고딕"/>
              </a:rPr>
              <a:t>.</a:t>
            </a:r>
          </a:p>
          <a:p>
            <a:pPr algn="l">
              <a:spcAft>
                <a:spcPts val="3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사용자</a:t>
            </a:r>
            <a:r>
              <a:rPr sz="950" b="0" dirty="0">
                <a:solidFill>
                  <a:srgbClr val="000000"/>
                </a:solidFill>
                <a:latin typeface="맑은 고딕"/>
                <a:ea typeface="맑은 고딕"/>
              </a:rPr>
              <a:t> 측: </a:t>
            </a:r>
            <a:r>
              <a:rPr sz="950" b="0" dirty="0">
                <a:solidFill>
                  <a:schemeClr val="accent1"/>
                </a:solidFill>
                <a:latin typeface="맑은 고딕"/>
                <a:ea typeface="맑은 고딕"/>
              </a:rPr>
              <a:t>50 </a:t>
            </a:r>
            <a:r>
              <a:rPr sz="950" b="0" dirty="0" err="1">
                <a:solidFill>
                  <a:schemeClr val="accent1"/>
                </a:solidFill>
                <a:latin typeface="맑은 고딕"/>
                <a:ea typeface="맑은 고딕"/>
              </a:rPr>
              <a:t>ms</a:t>
            </a:r>
            <a:r>
              <a:rPr sz="950" b="0" dirty="0">
                <a:solidFill>
                  <a:schemeClr val="accent1"/>
                </a:solidFill>
                <a:latin typeface="맑은 고딕"/>
                <a:ea typeface="맑은 고딕"/>
              </a:rPr>
              <a:t> = 20 </a:t>
            </a:r>
            <a:r>
              <a:rPr sz="950" b="0" dirty="0" err="1">
                <a:solidFill>
                  <a:schemeClr val="accent1"/>
                </a:solidFill>
                <a:latin typeface="맑은 고딕"/>
                <a:ea typeface="맑은 고딕"/>
              </a:rPr>
              <a:t>tok</a:t>
            </a:r>
            <a:r>
              <a:rPr sz="950" b="0" dirty="0">
                <a:solidFill>
                  <a:schemeClr val="accent1"/>
                </a:solidFill>
                <a:latin typeface="맑은 고딕"/>
                <a:ea typeface="맑은 고딕"/>
              </a:rPr>
              <a:t>/s. </a:t>
            </a:r>
            <a:r>
              <a:rPr sz="950" b="0" dirty="0" err="1">
                <a:solidFill>
                  <a:srgbClr val="000000"/>
                </a:solidFill>
                <a:latin typeface="맑은 고딕"/>
                <a:ea typeface="맑은 고딕"/>
              </a:rPr>
              <a:t>성인</a:t>
            </a:r>
            <a:r>
              <a:rPr sz="950" b="0" dirty="0">
                <a:solidFill>
                  <a:srgbClr val="000000"/>
                </a:solidFill>
                <a:latin typeface="맑은 고딕"/>
                <a:ea typeface="맑은 고딕"/>
              </a:rPr>
              <a:t> </a:t>
            </a:r>
            <a:r>
              <a:rPr sz="950" b="0" dirty="0" err="1">
                <a:solidFill>
                  <a:srgbClr val="000000"/>
                </a:solidFill>
                <a:latin typeface="맑은 고딕"/>
                <a:ea typeface="맑은 고딕"/>
              </a:rPr>
              <a:t>묵독</a:t>
            </a:r>
            <a:r>
              <a:rPr sz="950" b="0" dirty="0">
                <a:solidFill>
                  <a:srgbClr val="000000"/>
                </a:solidFill>
                <a:latin typeface="맑은 고딕"/>
                <a:ea typeface="맑은 고딕"/>
              </a:rPr>
              <a:t> </a:t>
            </a:r>
            <a:r>
              <a:rPr sz="950" b="0" dirty="0" err="1">
                <a:solidFill>
                  <a:srgbClr val="000000"/>
                </a:solidFill>
                <a:latin typeface="맑은 고딕"/>
                <a:ea typeface="맑은 고딕"/>
              </a:rPr>
              <a:t>평균</a:t>
            </a:r>
            <a:r>
              <a:rPr sz="950" b="0" dirty="0">
                <a:solidFill>
                  <a:srgbClr val="000000"/>
                </a:solidFill>
                <a:latin typeface="맑은 고딕"/>
                <a:ea typeface="맑은 고딕"/>
              </a:rPr>
              <a:t> 238 wpm(</a:t>
            </a:r>
            <a:r>
              <a:rPr sz="950" b="0" dirty="0" err="1">
                <a:solidFill>
                  <a:srgbClr val="000000"/>
                </a:solidFill>
                <a:latin typeface="맑은 고딕"/>
                <a:ea typeface="맑은 고딕"/>
              </a:rPr>
              <a:t>Brysbaert</a:t>
            </a:r>
            <a:r>
              <a:rPr sz="950" b="0" dirty="0">
                <a:solidFill>
                  <a:srgbClr val="000000"/>
                </a:solidFill>
                <a:latin typeface="맑은 고딕"/>
                <a:ea typeface="맑은 고딕"/>
              </a:rPr>
              <a:t> 2019) ≈ 4 </a:t>
            </a:r>
            <a:r>
              <a:rPr sz="950" b="0" dirty="0" err="1">
                <a:solidFill>
                  <a:srgbClr val="000000"/>
                </a:solidFill>
                <a:latin typeface="맑은 고딕"/>
                <a:ea typeface="맑은 고딕"/>
              </a:rPr>
              <a:t>단어</a:t>
            </a:r>
            <a:r>
              <a:rPr sz="950" b="0" dirty="0">
                <a:solidFill>
                  <a:srgbClr val="000000"/>
                </a:solidFill>
                <a:latin typeface="맑은 고딕"/>
                <a:ea typeface="맑은 고딕"/>
              </a:rPr>
              <a:t>/s ≈ 5~6 </a:t>
            </a:r>
            <a:r>
              <a:rPr sz="950" b="0" dirty="0" err="1">
                <a:solidFill>
                  <a:srgbClr val="000000"/>
                </a:solidFill>
                <a:latin typeface="맑은 고딕"/>
                <a:ea typeface="맑은 고딕"/>
              </a:rPr>
              <a:t>tok</a:t>
            </a:r>
            <a:r>
              <a:rPr sz="950" b="0" dirty="0">
                <a:solidFill>
                  <a:srgbClr val="000000"/>
                </a:solidFill>
                <a:latin typeface="맑은 고딕"/>
                <a:ea typeface="맑은 고딕"/>
              </a:rPr>
              <a:t>/s(</a:t>
            </a:r>
            <a:r>
              <a:rPr sz="950" b="0" dirty="0" err="1">
                <a:solidFill>
                  <a:srgbClr val="000000"/>
                </a:solidFill>
                <a:latin typeface="맑은 고딕"/>
                <a:ea typeface="맑은 고딕"/>
              </a:rPr>
              <a:t>영어</a:t>
            </a:r>
            <a:r>
              <a:rPr sz="950" b="0" dirty="0">
                <a:solidFill>
                  <a:srgbClr val="000000"/>
                </a:solidFill>
                <a:latin typeface="맑은 고딕"/>
                <a:ea typeface="맑은 고딕"/>
              </a:rPr>
              <a:t> 1.3 </a:t>
            </a:r>
            <a:r>
              <a:rPr sz="950" b="0" dirty="0" err="1">
                <a:solidFill>
                  <a:srgbClr val="000000"/>
                </a:solidFill>
                <a:latin typeface="맑은 고딕"/>
                <a:ea typeface="맑은 고딕"/>
              </a:rPr>
              <a:t>tok</a:t>
            </a:r>
            <a:r>
              <a:rPr sz="950" b="0" dirty="0">
                <a:solidFill>
                  <a:srgbClr val="000000"/>
                </a:solidFill>
                <a:latin typeface="맑은 고딕"/>
                <a:ea typeface="맑은 고딕"/>
              </a:rPr>
              <a:t>/</a:t>
            </a:r>
            <a:r>
              <a:rPr sz="950" b="0" dirty="0" err="1">
                <a:solidFill>
                  <a:srgbClr val="000000"/>
                </a:solidFill>
                <a:latin typeface="맑은 고딕"/>
                <a:ea typeface="맑은 고딕"/>
              </a:rPr>
              <a:t>단어</a:t>
            </a:r>
            <a:r>
              <a:rPr sz="950" b="0" dirty="0">
                <a:solidFill>
                  <a:srgbClr val="000000"/>
                </a:solidFill>
                <a:latin typeface="맑은 고딕"/>
                <a:ea typeface="맑은 고딕"/>
              </a:rPr>
              <a:t> </a:t>
            </a:r>
            <a:r>
              <a:rPr sz="950" b="0" dirty="0" err="1">
                <a:solidFill>
                  <a:srgbClr val="000000"/>
                </a:solidFill>
                <a:latin typeface="맑은 고딕"/>
                <a:ea typeface="맑은 고딕"/>
              </a:rPr>
              <a:t>가정</a:t>
            </a:r>
            <a:r>
              <a:rPr sz="950" b="0" dirty="0">
                <a:solidFill>
                  <a:srgbClr val="000000"/>
                </a:solidFill>
                <a:latin typeface="맑은 고딕"/>
                <a:ea typeface="맑은 고딕"/>
              </a:rPr>
              <a:t>)의 약 3.5배.</a:t>
            </a:r>
          </a:p>
          <a:p>
            <a:pPr algn="l">
              <a:spcAft>
                <a:spcPts val="3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MLPerf</a:t>
            </a:r>
            <a:r>
              <a:rPr sz="950" b="0" dirty="0">
                <a:solidFill>
                  <a:srgbClr val="000000"/>
                </a:solidFill>
                <a:latin typeface="맑은 고딕"/>
                <a:ea typeface="맑은 고딕"/>
              </a:rPr>
              <a:t> </a:t>
            </a:r>
            <a:r>
              <a:rPr sz="950" b="0" dirty="0" err="1">
                <a:solidFill>
                  <a:srgbClr val="000000"/>
                </a:solidFill>
                <a:latin typeface="맑은 고딕"/>
                <a:ea typeface="맑은 고딕"/>
              </a:rPr>
              <a:t>interactive는</a:t>
            </a:r>
            <a:r>
              <a:rPr lang="en-US" sz="950" b="0" dirty="0">
                <a:solidFill>
                  <a:srgbClr val="000000"/>
                </a:solidFill>
                <a:latin typeface="맑은 고딕"/>
                <a:ea typeface="맑은 고딕"/>
              </a:rPr>
              <a:t> </a:t>
            </a:r>
            <a:r>
              <a:rPr lang="ko-KR" altLang="en-US" sz="950" b="0" dirty="0">
                <a:solidFill>
                  <a:srgbClr val="000000"/>
                </a:solidFill>
                <a:latin typeface="맑은 고딕"/>
                <a:ea typeface="맑은 고딕"/>
              </a:rPr>
              <a:t>동일 시스템 기준</a:t>
            </a:r>
            <a:r>
              <a:rPr sz="950" b="0" dirty="0">
                <a:solidFill>
                  <a:srgbClr val="000000"/>
                </a:solidFill>
                <a:latin typeface="맑은 고딕"/>
                <a:ea typeface="맑은 고딕"/>
              </a:rPr>
              <a:t> TPOT 40 </a:t>
            </a:r>
            <a:r>
              <a:rPr sz="950" b="0" dirty="0" err="1">
                <a:solidFill>
                  <a:srgbClr val="000000"/>
                </a:solidFill>
                <a:latin typeface="맑은 고딕"/>
                <a:ea typeface="맑은 고딕"/>
              </a:rPr>
              <a:t>ms</a:t>
            </a:r>
            <a:r>
              <a:rPr sz="950" b="0" dirty="0">
                <a:solidFill>
                  <a:srgbClr val="000000"/>
                </a:solidFill>
                <a:latin typeface="맑은 고딕"/>
                <a:ea typeface="맑은 고딕"/>
              </a:rPr>
              <a:t>, </a:t>
            </a:r>
            <a:r>
              <a:rPr sz="950" b="0" dirty="0" err="1">
                <a:solidFill>
                  <a:srgbClr val="000000"/>
                </a:solidFill>
                <a:latin typeface="맑은 고딕"/>
                <a:ea typeface="맑은 고딕"/>
              </a:rPr>
              <a:t>표준은</a:t>
            </a:r>
            <a:r>
              <a:rPr sz="950" b="0" dirty="0">
                <a:solidFill>
                  <a:srgbClr val="000000"/>
                </a:solidFill>
                <a:latin typeface="맑은 고딕"/>
                <a:ea typeface="맑은 고딕"/>
              </a:rPr>
              <a:t> 200 </a:t>
            </a:r>
            <a:r>
              <a:rPr sz="950" b="0" dirty="0" err="1">
                <a:solidFill>
                  <a:srgbClr val="000000"/>
                </a:solidFill>
                <a:latin typeface="맑은 고딕"/>
                <a:ea typeface="맑은 고딕"/>
              </a:rPr>
              <a:t>ms로</a:t>
            </a:r>
            <a:r>
              <a:rPr sz="950" b="0" dirty="0">
                <a:solidFill>
                  <a:srgbClr val="000000"/>
                </a:solidFill>
                <a:latin typeface="맑은 고딕"/>
                <a:ea typeface="맑은 고딕"/>
              </a:rPr>
              <a:t> </a:t>
            </a:r>
            <a:r>
              <a:rPr sz="950" b="0" dirty="0" err="1">
                <a:solidFill>
                  <a:srgbClr val="000000"/>
                </a:solidFill>
                <a:latin typeface="맑은 고딕"/>
                <a:ea typeface="맑은 고딕"/>
              </a:rPr>
              <a:t>알려져</a:t>
            </a:r>
            <a:r>
              <a:rPr sz="950" b="0" dirty="0">
                <a:solidFill>
                  <a:srgbClr val="000000"/>
                </a:solidFill>
                <a:latin typeface="맑은 고딕"/>
                <a:ea typeface="맑은 고딕"/>
              </a:rPr>
              <a:t> </a:t>
            </a:r>
            <a:r>
              <a:rPr sz="950" b="0" dirty="0" err="1">
                <a:solidFill>
                  <a:srgbClr val="000000"/>
                </a:solidFill>
                <a:latin typeface="맑은 고딕"/>
                <a:ea typeface="맑은 고딕"/>
              </a:rPr>
              <a:t>있어</a:t>
            </a:r>
            <a:r>
              <a:rPr sz="950" b="0" dirty="0">
                <a:solidFill>
                  <a:srgbClr val="000000"/>
                </a:solidFill>
                <a:latin typeface="맑은 고딕"/>
                <a:ea typeface="맑은 고딕"/>
              </a:rPr>
              <a:t> 50 </a:t>
            </a:r>
            <a:r>
              <a:rPr sz="950" b="0" dirty="0" err="1">
                <a:solidFill>
                  <a:srgbClr val="000000"/>
                </a:solidFill>
                <a:latin typeface="맑은 고딕"/>
                <a:ea typeface="맑은 고딕"/>
              </a:rPr>
              <a:t>ms는</a:t>
            </a:r>
            <a:r>
              <a:rPr sz="950" b="0" dirty="0">
                <a:solidFill>
                  <a:srgbClr val="000000"/>
                </a:solidFill>
                <a:latin typeface="맑은 고딕"/>
                <a:ea typeface="맑은 고딕"/>
              </a:rPr>
              <a:t> 둘 </a:t>
            </a:r>
            <a:r>
              <a:rPr sz="950" b="0" dirty="0" err="1">
                <a:solidFill>
                  <a:srgbClr val="000000"/>
                </a:solidFill>
                <a:latin typeface="맑은 고딕"/>
                <a:ea typeface="맑은 고딕"/>
              </a:rPr>
              <a:t>사이에서</a:t>
            </a:r>
            <a:r>
              <a:rPr sz="950" b="0" dirty="0">
                <a:solidFill>
                  <a:srgbClr val="000000"/>
                </a:solidFill>
                <a:latin typeface="맑은 고딕"/>
                <a:ea typeface="맑은 고딕"/>
              </a:rPr>
              <a:t> </a:t>
            </a:r>
            <a:r>
              <a:rPr sz="950" b="0" dirty="0" err="1">
                <a:solidFill>
                  <a:srgbClr val="000000"/>
                </a:solidFill>
                <a:latin typeface="맑은 고딕"/>
                <a:ea typeface="맑은 고딕"/>
              </a:rPr>
              <a:t>interactive에</a:t>
            </a:r>
            <a:r>
              <a:rPr sz="950" b="0" dirty="0">
                <a:solidFill>
                  <a:srgbClr val="000000"/>
                </a:solidFill>
                <a:latin typeface="맑은 고딕"/>
                <a:ea typeface="맑은 고딕"/>
              </a:rPr>
              <a:t> </a:t>
            </a:r>
            <a:r>
              <a:rPr sz="950" b="0" dirty="0" err="1">
                <a:solidFill>
                  <a:srgbClr val="000000"/>
                </a:solidFill>
                <a:latin typeface="맑은 고딕"/>
                <a:ea typeface="맑은 고딕"/>
              </a:rPr>
              <a:t>가깝다</a:t>
            </a:r>
            <a:r>
              <a:rPr sz="950" b="0" dirty="0">
                <a:solidFill>
                  <a:srgbClr val="000000"/>
                </a:solidFill>
                <a:latin typeface="맑은 고딕"/>
                <a:ea typeface="맑은 고딕"/>
              </a:rPr>
              <a:t>.</a:t>
            </a:r>
          </a:p>
        </p:txBody>
      </p:sp>
      <p:sp>
        <p:nvSpPr>
          <p:cNvPr id="9" name="TextBox 8"/>
          <p:cNvSpPr txBox="1"/>
          <p:nvPr/>
        </p:nvSpPr>
        <p:spPr>
          <a:xfrm>
            <a:off x="365760" y="6473952"/>
            <a:ext cx="11430000" cy="274320"/>
          </a:xfrm>
          <a:prstGeom prst="rect">
            <a:avLst/>
          </a:prstGeom>
          <a:noFill/>
        </p:spPr>
        <p:txBody>
          <a:bodyPr wrap="square" lIns="73152" tIns="36576" rIns="73152" bIns="36576" anchor="t">
            <a:spAutoFit/>
          </a:bodyPr>
          <a:lstStyle/>
          <a:p>
            <a:pPr algn="l">
              <a:spcAft>
                <a:spcPts val="200"/>
              </a:spcAft>
            </a:pPr>
            <a:r>
              <a:rPr sz="850" b="0" dirty="0" err="1">
                <a:solidFill>
                  <a:srgbClr val="404040"/>
                </a:solidFill>
                <a:latin typeface="맑은 고딕"/>
                <a:ea typeface="맑은 고딕"/>
              </a:rPr>
              <a:t>출처</a:t>
            </a:r>
            <a:r>
              <a:rPr sz="850" b="0" dirty="0">
                <a:solidFill>
                  <a:srgbClr val="404040"/>
                </a:solidFill>
                <a:latin typeface="맑은 고딕"/>
                <a:ea typeface="맑은 고딕"/>
              </a:rPr>
              <a:t>: </a:t>
            </a:r>
            <a:r>
              <a:rPr sz="850" b="0" dirty="0" err="1">
                <a:solidFill>
                  <a:srgbClr val="404040"/>
                </a:solidFill>
                <a:latin typeface="맑은 고딕"/>
                <a:ea typeface="맑은 고딕"/>
              </a:rPr>
              <a:t>MLPerf</a:t>
            </a:r>
            <a:r>
              <a:rPr sz="850" b="0" dirty="0">
                <a:solidFill>
                  <a:srgbClr val="404040"/>
                </a:solidFill>
                <a:latin typeface="맑은 고딕"/>
                <a:ea typeface="맑은 고딕"/>
              </a:rPr>
              <a:t> 값 — marktechpost.com/2025/10/01/mlperf-inference-v5-1-2025-results-explained-for-gpus-cpus-and-ai-accelerators/ · it-online.co.za/?p=294312 (2차 </a:t>
            </a:r>
            <a:r>
              <a:rPr sz="850" b="0" dirty="0" err="1">
                <a:solidFill>
                  <a:srgbClr val="404040"/>
                </a:solidFill>
                <a:latin typeface="맑은 고딕"/>
                <a:ea typeface="맑은 고딕"/>
              </a:rPr>
              <a:t>자료</a:t>
            </a:r>
            <a:r>
              <a:rPr sz="850" b="0" dirty="0">
                <a:solidFill>
                  <a:srgbClr val="404040"/>
                </a:solidFill>
                <a:latin typeface="맑은 고딕"/>
                <a:ea typeface="맑은 고딕"/>
              </a:rPr>
              <a:t>) · </a:t>
            </a:r>
            <a:r>
              <a:rPr sz="850" b="0" dirty="0" err="1">
                <a:solidFill>
                  <a:srgbClr val="404040"/>
                </a:solidFill>
                <a:latin typeface="맑은 고딕"/>
                <a:ea typeface="맑은 고딕"/>
              </a:rPr>
              <a:t>읽기</a:t>
            </a:r>
            <a:r>
              <a:rPr sz="850" b="0" dirty="0">
                <a:solidFill>
                  <a:srgbClr val="404040"/>
                </a:solidFill>
                <a:latin typeface="맑은 고딕"/>
                <a:ea typeface="맑은 고딕"/>
              </a:rPr>
              <a:t> </a:t>
            </a:r>
            <a:r>
              <a:rPr sz="850" b="0" dirty="0" err="1">
                <a:solidFill>
                  <a:srgbClr val="404040"/>
                </a:solidFill>
                <a:latin typeface="맑은 고딕"/>
                <a:ea typeface="맑은 고딕"/>
              </a:rPr>
              <a:t>속도</a:t>
            </a:r>
            <a:r>
              <a:rPr sz="850" b="0" dirty="0">
                <a:solidFill>
                  <a:srgbClr val="404040"/>
                </a:solidFill>
                <a:latin typeface="맑은 고딕"/>
                <a:ea typeface="맑은 고딕"/>
              </a:rPr>
              <a:t> — gwern.net/doc/psychology/linguistics/2019-brysbaert.pdf · H100 spec — glennklockwood.com/garden/processors/h100 (2차)</a:t>
            </a:r>
          </a:p>
        </p:txBody>
      </p:sp>
      <p:sp>
        <p:nvSpPr>
          <p:cNvPr id="10" name="실행 단추: 뒤로 또는 이전 9">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454885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대상</a:t>
            </a:r>
            <a:r>
              <a:rPr sz="2200" b="1" dirty="0">
                <a:solidFill>
                  <a:srgbClr val="2F5597"/>
                </a:solidFill>
                <a:latin typeface="맑은 고딕"/>
                <a:ea typeface="맑은 고딕"/>
              </a:rPr>
              <a:t> </a:t>
            </a:r>
            <a:r>
              <a:rPr sz="2200" b="1" dirty="0" err="1">
                <a:solidFill>
                  <a:srgbClr val="2F5597"/>
                </a:solidFill>
                <a:latin typeface="맑은 고딕"/>
                <a:ea typeface="맑은 고딕"/>
              </a:rPr>
              <a:t>정책</a:t>
            </a:r>
            <a:r>
              <a:rPr sz="2200" b="1" dirty="0">
                <a:solidFill>
                  <a:srgbClr val="2F5597"/>
                </a:solidFill>
                <a:latin typeface="맑은 고딕"/>
                <a:ea typeface="맑은 고딕"/>
              </a:rPr>
              <a:t> P1~P5</a:t>
            </a: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a:solidFill>
                  <a:srgbClr val="404040"/>
                </a:solidFill>
                <a:latin typeface="맑은 고딕"/>
                <a:ea typeface="맑은 고딕"/>
              </a:rPr>
              <a:t>조율 계층이 서버를 고를 때 쓰는 판단 로직 5개 · 결정은 오케스트레이션 소프트웨어, P5의 수신·실행은 vLLM(엔진)</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70432"/>
          <a:ext cx="11457432" cy="4059936"/>
        </p:xfrm>
        <a:graphic>
          <a:graphicData uri="http://schemas.openxmlformats.org/drawingml/2006/table">
            <a:tbl>
              <a:tblPr>
                <a:tableStyleId>{5940675A-B579-460E-94D1-54222C63F5DA}</a:tableStyleId>
              </a:tblPr>
              <a:tblGrid>
                <a:gridCol w="4114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gridCol w="1600200">
                  <a:extLst>
                    <a:ext uri="{9D8B030D-6E8A-4147-A177-3AD203B41FA5}">
                      <a16:colId xmlns:a16="http://schemas.microsoft.com/office/drawing/2014/main" val="20006"/>
                    </a:ext>
                  </a:extLst>
                </a:gridCol>
                <a:gridCol w="1078992">
                  <a:extLst>
                    <a:ext uri="{9D8B030D-6E8A-4147-A177-3AD203B41FA5}">
                      <a16:colId xmlns:a16="http://schemas.microsoft.com/office/drawing/2014/main" val="20007"/>
                    </a:ext>
                  </a:extLst>
                </a:gridCol>
              </a:tblGrid>
              <a:tr h="676656">
                <a:tc>
                  <a:txBody>
                    <a:bodyPr/>
                    <a:lstStyle/>
                    <a:p>
                      <a:pPr algn="ctr"/>
                      <a:r>
                        <a:rPr sz="90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이름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쉬운 설명</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입력 → 출력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블록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후보 1 구현 (llm-d)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후보 2 구현 (자체)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변경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676656">
                <a:tc>
                  <a:txBody>
                    <a:bodyPr/>
                    <a:lstStyle/>
                    <a:p>
                      <a:pPr algn="ctr"/>
                      <a:r>
                        <a:rPr sz="900" b="1">
                          <a:solidFill>
                            <a:srgbClr val="000000"/>
                          </a:solidFill>
                          <a:latin typeface="맑은 고딕"/>
                          <a:ea typeface="맑은 고딕"/>
                        </a:rPr>
                        <a:t>P1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메모리 종류별 가중치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캐시가 HBM/DRAM/CXL/SSD 중 어디에 있는지에 따라 적중 점수 가중치를 다르게 준다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이벤트의 블록 위치 → tier별 가중 적중 점수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설정만 (가중치 표) [A]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ScoreStrategy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S1 새 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676656">
                <a:tc>
                  <a:txBody>
                    <a:bodyPr/>
                    <a:lstStyle/>
                    <a:p>
                      <a:pPr algn="ctr"/>
                      <a:r>
                        <a:rPr sz="900" b="1">
                          <a:solidFill>
                            <a:srgbClr val="000000"/>
                          </a:solidFill>
                          <a:latin typeface="맑은 고딕"/>
                          <a:ea typeface="맑은 고딕"/>
                        </a:rPr>
                        <a:t>P2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실시간 메모리 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서버가 알려 주는 메모리 사용량·전송 대기 수치를 읽어 점수에 가감한다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/metrics 수치 → 점수 가감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설정만 (수치 이름 지정) [A]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ScoreStrategy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S1 · S5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676656">
                <a:tc>
                  <a:txBody>
                    <a:bodyPr/>
                    <a:lstStyle/>
                    <a:p>
                      <a:pPr algn="ctr"/>
                      <a:r>
                        <a:rPr sz="900" b="1">
                          <a:solidFill>
                            <a:srgbClr val="000000"/>
                          </a:solidFill>
                          <a:latin typeface="맑은 고딕"/>
                          <a:ea typeface="맑은 고딕"/>
                        </a:rPr>
                        <a:t>P3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비용 기반 적중 점수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재계산 비용과 해당 메모리에서 가져오는 비용을 비교해 점수를 매긴다 (점유율 높으면 감점)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재계산 비용 · tier 전송 비용 · 점유율 → 서버 점수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확장 모듈(plugin) [A]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ScoreStrategy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S2 비용 함수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676656">
                <a:tc>
                  <a:txBody>
                    <a:bodyPr/>
                    <a:lstStyle/>
                    <a:p>
                      <a:pPr algn="ctr"/>
                      <a:r>
                        <a:rPr sz="900" b="1">
                          <a:solidFill>
                            <a:srgbClr val="000000"/>
                          </a:solidFill>
                          <a:latin typeface="맑은 고딕"/>
                          <a:ea typeface="맑은 고딕"/>
                        </a:rPr>
                        <a:t>P4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비용 기반 P/D 분리 판단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요청마다 Prefill/Decode를 나눠 실행할지, Prefill을 어디서 할지를 비용 비교로 판단한다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요청 길이 · 캐시 적중 · 부하 → 실행 계획 (aggregated / P/D, Prefill 서버)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B·E 결정·조율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확장 모듈(wrapper) [A] — 기존 모듈 동작에 의존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PDPlanStrategy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S3 P/D 정책</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676656">
                <a:tc>
                  <a:txBody>
                    <a:bodyPr/>
                    <a:lstStyle/>
                    <a:p>
                      <a:pPr algn="ctr"/>
                      <a:r>
                        <a:rPr sz="900" b="1">
                          <a:solidFill>
                            <a:srgbClr val="000000"/>
                          </a:solidFill>
                          <a:latin typeface="맑은 고딕"/>
                          <a:ea typeface="맑은 고딕"/>
                        </a:rPr>
                        <a:t>P5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요청별 노드 지시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요청마다</a:t>
                      </a:r>
                      <a:r>
                        <a:rPr sz="900" b="0" dirty="0">
                          <a:solidFill>
                            <a:srgbClr val="000000"/>
                          </a:solidFill>
                          <a:latin typeface="맑은 고딕"/>
                          <a:ea typeface="맑은 고딕"/>
                        </a:rPr>
                        <a:t> </a:t>
                      </a:r>
                      <a:r>
                        <a:rPr sz="900" b="0" dirty="0" err="1">
                          <a:solidFill>
                            <a:srgbClr val="000000"/>
                          </a:solidFill>
                          <a:latin typeface="맑은 고딕"/>
                          <a:ea typeface="맑은 고딕"/>
                        </a:rPr>
                        <a:t>서버에</a:t>
                      </a:r>
                      <a:r>
                        <a:rPr sz="900" b="0" dirty="0">
                          <a:solidFill>
                            <a:srgbClr val="000000"/>
                          </a:solidFill>
                          <a:latin typeface="맑은 고딕"/>
                          <a:ea typeface="맑은 고딕"/>
                        </a:rPr>
                        <a:t> '</a:t>
                      </a:r>
                      <a:r>
                        <a:rPr sz="900" b="0" dirty="0" err="1">
                          <a:solidFill>
                            <a:srgbClr val="000000"/>
                          </a:solidFill>
                          <a:latin typeface="맑은 고딕"/>
                          <a:ea typeface="맑은 고딕"/>
                        </a:rPr>
                        <a:t>어느</a:t>
                      </a:r>
                      <a:r>
                        <a:rPr sz="900" b="0" dirty="0">
                          <a:solidFill>
                            <a:srgbClr val="000000"/>
                          </a:solidFill>
                          <a:latin typeface="맑은 고딕"/>
                          <a:ea typeface="맑은 고딕"/>
                        </a:rPr>
                        <a:t> </a:t>
                      </a:r>
                      <a:r>
                        <a:rPr sz="900" b="0" dirty="0" err="1">
                          <a:solidFill>
                            <a:srgbClr val="000000"/>
                          </a:solidFill>
                          <a:latin typeface="맑은 고딕"/>
                          <a:ea typeface="맑은 고딕"/>
                        </a:rPr>
                        <a:t>메모리에서</a:t>
                      </a:r>
                      <a:r>
                        <a:rPr sz="900" b="0" dirty="0">
                          <a:solidFill>
                            <a:srgbClr val="000000"/>
                          </a:solidFill>
                          <a:latin typeface="맑은 고딕"/>
                          <a:ea typeface="맑은 고딕"/>
                        </a:rPr>
                        <a:t> 몇 </a:t>
                      </a:r>
                      <a:r>
                        <a:rPr sz="900" b="0" dirty="0" err="1">
                          <a:solidFill>
                            <a:srgbClr val="000000"/>
                          </a:solidFill>
                          <a:latin typeface="맑은 고딕"/>
                          <a:ea typeface="맑은 고딕"/>
                        </a:rPr>
                        <a:t>토큰까지</a:t>
                      </a:r>
                      <a:r>
                        <a:rPr sz="900" b="0" dirty="0">
                          <a:solidFill>
                            <a:srgbClr val="000000"/>
                          </a:solidFill>
                          <a:latin typeface="맑은 고딕"/>
                          <a:ea typeface="맑은 고딕"/>
                        </a:rPr>
                        <a:t> </a:t>
                      </a:r>
                      <a:r>
                        <a:rPr sz="900" b="0" dirty="0" err="1">
                          <a:solidFill>
                            <a:srgbClr val="000000"/>
                          </a:solidFill>
                          <a:latin typeface="맑은 고딕"/>
                          <a:ea typeface="맑은 고딕"/>
                        </a:rPr>
                        <a:t>불러와라'를</a:t>
                      </a:r>
                      <a:r>
                        <a:rPr sz="900" b="0" dirty="0">
                          <a:solidFill>
                            <a:srgbClr val="000000"/>
                          </a:solidFill>
                          <a:latin typeface="맑은 고딕"/>
                          <a:ea typeface="맑은 고딕"/>
                        </a:rPr>
                        <a:t> </a:t>
                      </a:r>
                      <a:r>
                        <a:rPr sz="900" b="0" dirty="0" err="1">
                          <a:solidFill>
                            <a:srgbClr val="000000"/>
                          </a:solidFill>
                          <a:latin typeface="맑은 고딕"/>
                          <a:ea typeface="맑은 고딕"/>
                        </a:rPr>
                        <a:t>지시한다</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선택 결과 · tier 상태 → kv_transfer_params (kv_load_tiers, max_load_tokens)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E P/D 조율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일반 경로 plugin [A], P/D 경로는 보조 프로세스 수정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Decorator: 기본 → 계층 → 토큰 한도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S4 </a:t>
                      </a:r>
                      <a:r>
                        <a:rPr sz="900" b="0" dirty="0" err="1">
                          <a:solidFill>
                            <a:srgbClr val="000000"/>
                          </a:solidFill>
                          <a:latin typeface="맑은 고딕"/>
                          <a:ea typeface="맑은 고딕"/>
                        </a:rPr>
                        <a:t>노드</a:t>
                      </a:r>
                      <a:r>
                        <a:rPr sz="900" b="0" dirty="0">
                          <a:solidFill>
                            <a:srgbClr val="000000"/>
                          </a:solidFill>
                          <a:latin typeface="맑은 고딕"/>
                          <a:ea typeface="맑은 고딕"/>
                        </a:rPr>
                        <a:t> </a:t>
                      </a:r>
                      <a:r>
                        <a:rPr sz="900" b="0" dirty="0" err="1">
                          <a:solidFill>
                            <a:srgbClr val="000000"/>
                          </a:solidFill>
                          <a:latin typeface="맑은 고딕"/>
                          <a:ea typeface="맑은 고딕"/>
                        </a:rPr>
                        <a:t>지시</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365760" y="5349240"/>
            <a:ext cx="5623560" cy="1005840"/>
          </a:xfrm>
          <a:prstGeom prst="rect">
            <a:avLst/>
          </a:prstGeom>
          <a:solidFill>
            <a:srgbClr val="F2F2F2"/>
          </a:solidFill>
        </p:spPr>
        <p:txBody>
          <a:bodyPr wrap="square" lIns="73152" tIns="36576" rIns="73152" bIns="36576" anchor="t">
            <a:spAutoFit/>
          </a:bodyPr>
          <a:lstStyle/>
          <a:p>
            <a:pPr algn="l">
              <a:spcAft>
                <a:spcPts val="200"/>
              </a:spcAft>
            </a:pPr>
            <a:r>
              <a:rPr sz="900" b="1">
                <a:solidFill>
                  <a:srgbClr val="2F5597"/>
                </a:solidFill>
                <a:latin typeface="맑은 고딕"/>
                <a:ea typeface="맑은 고딕"/>
              </a:rPr>
              <a:t>읽는 법</a:t>
            </a:r>
          </a:p>
          <a:p>
            <a:pPr algn="l">
              <a:spcAft>
                <a:spcPts val="200"/>
              </a:spcAft>
            </a:pPr>
            <a:r>
              <a:rPr sz="900" b="0">
                <a:solidFill>
                  <a:srgbClr val="000000"/>
                </a:solidFill>
                <a:latin typeface="맑은 고딕"/>
                <a:ea typeface="맑은 고딕"/>
              </a:rPr>
              <a:t>• P1·P2는 설정 변경, P3·P4는 확장 모듈 추가, P5는 경로에 따라 기존 모듈 수정까지 필요하다(변경 부담: 설정 &lt; 확장 모듈 &lt; 기존 모듈 수정).</a:t>
            </a:r>
          </a:p>
          <a:p>
            <a:pPr algn="l">
              <a:spcAft>
                <a:spcPts val="200"/>
              </a:spcAft>
            </a:pPr>
            <a:r>
              <a:rPr sz="900" b="0">
                <a:solidFill>
                  <a:srgbClr val="000000"/>
                </a:solidFill>
                <a:latin typeface="맑은 고딕"/>
                <a:ea typeface="맑은 고딕"/>
              </a:rPr>
              <a:t>• 두 후보 모두 P1~P5를 표현할 수 있다. 차이는 어떻게 구현하고 얼마나 바뀌는지이며, 이것이 Q3(변경 시나리오 S1~S6)로 평가된다.</a:t>
            </a:r>
          </a:p>
        </p:txBody>
      </p:sp>
      <p:sp>
        <p:nvSpPr>
          <p:cNvPr id="7" name="TextBox 6"/>
          <p:cNvSpPr txBox="1"/>
          <p:nvPr/>
        </p:nvSpPr>
        <p:spPr>
          <a:xfrm>
            <a:off x="6126480" y="5349240"/>
            <a:ext cx="5669280" cy="1005840"/>
          </a:xfrm>
          <a:prstGeom prst="rect">
            <a:avLst/>
          </a:prstGeom>
          <a:solidFill>
            <a:srgbClr val="FFFBEA"/>
          </a:solidFill>
        </p:spPr>
        <p:txBody>
          <a:bodyPr wrap="square" lIns="73152" tIns="36576" rIns="73152" bIns="36576" anchor="t">
            <a:spAutoFit/>
          </a:bodyPr>
          <a:lstStyle/>
          <a:p>
            <a:pPr algn="l">
              <a:spcAft>
                <a:spcPts val="200"/>
              </a:spcAft>
            </a:pPr>
            <a:r>
              <a:rPr sz="900" b="1">
                <a:solidFill>
                  <a:srgbClr val="C00000"/>
                </a:solidFill>
                <a:latin typeface="맑은 고딕"/>
                <a:ea typeface="맑은 고딕"/>
              </a:rPr>
              <a:t>범위 주의</a:t>
            </a:r>
          </a:p>
          <a:p>
            <a:pPr algn="l">
              <a:spcAft>
                <a:spcPts val="200"/>
              </a:spcAft>
            </a:pPr>
            <a:r>
              <a:rPr sz="900" b="0">
                <a:solidFill>
                  <a:srgbClr val="000000"/>
                </a:solidFill>
                <a:latin typeface="맑은 고딕"/>
                <a:ea typeface="맑은 고딕"/>
              </a:rPr>
              <a:t>• P5의 송신(결정·첨부)은 DP0 범위이고, 수신·실행은 vLLM(엔진) 쪽이다. 사용자 fork에는 아직 없고 두 후보 공통 선결이다.</a:t>
            </a:r>
          </a:p>
          <a:p>
            <a:pPr algn="l">
              <a:spcAft>
                <a:spcPts val="200"/>
              </a:spcAft>
            </a:pPr>
            <a:r>
              <a:rPr sz="900" b="0">
                <a:solidFill>
                  <a:srgbClr val="000000"/>
                </a:solidFill>
                <a:latin typeface="맑은 고딕"/>
                <a:ea typeface="맑은 고딕"/>
              </a:rPr>
              <a:t>• P/D 경로의 P5는 1안에서 보조 프로세스가 kv_transfer_params를 덮어써 수정이 필요하다 [C]. 실제 vLLM에서의 효과는 미확인.</a:t>
            </a:r>
          </a:p>
        </p:txBody>
      </p:sp>
      <p:sp>
        <p:nvSpPr>
          <p:cNvPr id="8" name="TextBox 7"/>
          <p:cNvSpPr txBox="1"/>
          <p:nvPr/>
        </p:nvSpPr>
        <p:spPr>
          <a:xfrm>
            <a:off x="365760" y="6473952"/>
            <a:ext cx="11430000" cy="274320"/>
          </a:xfrm>
          <a:prstGeom prst="rect">
            <a:avLst/>
          </a:prstGeom>
          <a:noFill/>
        </p:spPr>
        <p:txBody>
          <a:bodyPr wrap="square" lIns="73152" tIns="36576" rIns="73152" bIns="36576" anchor="t">
            <a:spAutoFit/>
          </a:bodyPr>
          <a:lstStyle/>
          <a:p>
            <a:pPr algn="l">
              <a:spcAft>
                <a:spcPts val="200"/>
              </a:spcAft>
            </a:pPr>
            <a:r>
              <a:rPr sz="850" b="0">
                <a:solidFill>
                  <a:srgbClr val="404040"/>
                </a:solidFill>
                <a:latin typeface="맑은 고딕"/>
                <a:ea typeface="맑은 고딕"/>
              </a:rPr>
              <a:t>※ [A] llm-d에서 실행 확인(합성 백엔드 끝단), [C] 코드 분석·논증. 정의는 dp0-requirements.md §5, 설계 문서 §2.4.1과 같다.</a:t>
            </a:r>
          </a:p>
        </p:txBody>
      </p:sp>
      <p:sp>
        <p:nvSpPr>
          <p:cNvPr id="9" name="실행 단추: 뒤로 또는 이전 8">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037196026"/>
      </p:ext>
    </p:extLst>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공통 별 기준 v3 — 모든 DP에 같은 QA는 같은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QA마다 metric 계산식 → ★ 기준 → 근거 · QA2는 Baseline 대비 개선 + SLO 초과 시 ★ · QA3는 Baseline 대비 감소율 · QA4는 세 지표 AND 조건 · proposal (소유자 확정 전)</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근거 문서: doc-mk/Evaluation/qa-star-criteria-unified.md · 별 계산: tools/unified_stars.py (값과 출처는 tools/unified_inputs.json, HBM 점유 비율은 tools/hbm_share.json)</a:t>
            </a:r>
          </a:p>
        </p:txBody>
      </p:sp>
      <p:graphicFrame>
        <p:nvGraphicFramePr>
          <p:cNvPr id="6" name="tbl"/>
          <p:cNvGraphicFramePr>
            <a:graphicFrameLocks noGrp="1"/>
          </p:cNvGraphicFramePr>
          <p:nvPr/>
        </p:nvGraphicFramePr>
        <p:xfrm>
          <a:off x="365760" y="1188720"/>
          <a:ext cx="11457432" cy="3493008"/>
        </p:xfrm>
        <a:graphic>
          <a:graphicData uri="http://schemas.openxmlformats.org/drawingml/2006/table">
            <a:tbl>
              <a:tblPr firstRow="0" bandRow="0">
                <a:tableStyleId>{5C22544A-7EE6-4342-B048-85BDC9FD1C3A}</a:tableStyleId>
              </a:tblPr>
              <a:tblGrid>
                <a:gridCol w="1234440"/>
                <a:gridCol w="4297680"/>
                <a:gridCol w="1645920"/>
                <a:gridCol w="1645920"/>
                <a:gridCol w="1371600"/>
                <a:gridCol w="1261872"/>
              </a:tblGrid>
              <a:tr h="310896">
                <a:tc>
                  <a:txBody>
                    <a:bodyPr wrap="square"/>
                    <a:lstStyle/>
                    <a:p>
                      <a:pPr algn="ctr"/>
                      <a:r>
                        <a:rPr sz="90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metric (같은 DP의 Baseline 대비 또는 절대 SLO)</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적용 DP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420624">
                <a:tc>
                  <a:txBody>
                    <a:bodyPr wrap="square"/>
                    <a:lstStyle/>
                    <a:p>
                      <a:pPr algn="l"/>
                      <a:r>
                        <a:rPr sz="90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R = Max SLO goodput ÷ Baseline (쌍별 기하평균)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R ≥ 4/3 (≈1.33)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0.97 ≤ R &lt; 4/3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R &lt; 0.97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DP2 · DP3 ·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640080">
                <a:tc>
                  <a:txBody>
                    <a:bodyPr wrap="square"/>
                    <a:lstStyle/>
                    <a:p>
                      <a:pPr algn="l"/>
                      <a:r>
                        <a:rPr sz="900" b="1">
                          <a:solidFill>
                            <a:srgbClr val="000000"/>
                          </a:solidFill>
                          <a:latin typeface="맑은 고딕"/>
                          <a:ea typeface="맑은 고딕"/>
                        </a:rPr>
                        <a:t>QA2 지연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r = √(Baseline TTFT P99 ÷ 후보 TTFT P99 × Baseline TPOT P99 ÷ 후보 TPOT P99)</a:t>
                      </a:r>
                    </a:p>
                    <a:p>
                      <a:pPr algn="l"/>
                      <a:r>
                        <a:rPr sz="900" b="0">
                          <a:solidFill>
                            <a:srgbClr val="000000"/>
                          </a:solidFill>
                          <a:latin typeface="맑은 고딕"/>
                          <a:ea typeface="맑은 고딕"/>
                        </a:rPr>
                        <a:t>(r &gt; 1이면 좋아짐) · TTFT P99 &gt; 2 s 또는 TPOT P99 &gt; 50 ms이면 r과 상관없이 ★로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r ≥ 1.20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0.90 ≤ r &lt; 1.20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r &lt; 0.90 또는 SLO 초과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QA3 자원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HBM에 올라간 AI Data(KV·LoRA·MoE expert·RAG 인덱스·Agent memory 등)의 시간 평균 GiB → 감소율 = (Baseline − 후보) ÷ Baseline</a:t>
                      </a:r>
                    </a:p>
                    <a:p>
                      <a:pPr algn="l"/>
                      <a:r>
                        <a:rPr sz="900" b="0">
                          <a:solidFill>
                            <a:srgbClr val="000000"/>
                          </a:solidFill>
                          <a:latin typeface="맑은 고딕"/>
                          <a:ea typeface="맑은 고딕"/>
                        </a:rPr>
                        <a:t>(표기: HBM 용량 대비 점유 비율 %도 병기)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감소율 ≥ 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−5% ≤ 감소율 &lt; 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감소율 &lt; −5%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DP2 · DP3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713232">
                <a:tc>
                  <a:txBody>
                    <a:bodyPr wrap="square"/>
                    <a:lstStyle/>
                    <a:p>
                      <a:pPr algn="l"/>
                      <a:r>
                        <a:rPr sz="90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세 지표를 각각 판정하고 셋이 모두 만족해야 그 별 (AND)</a:t>
                      </a:r>
                    </a:p>
                    <a:p>
                      <a:pPr algn="l"/>
                      <a:r>
                        <a:rPr sz="900" b="0">
                          <a:solidFill>
                            <a:srgbClr val="000000"/>
                          </a:solidFill>
                          <a:latin typeface="맑은 고딕"/>
                          <a:ea typeface="맑은 고딕"/>
                        </a:rPr>
                        <a:t>① 토큰 비용(mid tier $/변경) ② 공수(MM/변경) ③ 변경 module 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① ≤ $0.5 그리고 ② ≤ 0.5 그리고 ③ ≤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① ≤ $2 그리고 ② ≤ 1.0 그리고 ③ &lt; 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그 밖 (하나라도 ★★ 기준을 넘음)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DP2 ·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420624">
                <a:tc>
                  <a:txBody>
                    <a:bodyPr wrap="square"/>
                    <a:lstStyle/>
                    <a:p>
                      <a:pPr algn="l"/>
                      <a:r>
                        <a:rPr sz="900" b="1">
                          <a:solidFill>
                            <a:srgbClr val="000000"/>
                          </a:solidFill>
                          <a:latin typeface="맑은 고딕"/>
                          <a:ea typeface="맑은 고딕"/>
                        </a:rPr>
                        <a:t>QA5 기능 정확성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F1 상대 하락 (압축 전 + full recompute 대비)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 3% (제안)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&gt;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420624">
                <a:tc>
                  <a:txBody>
                    <a:bodyPr wrap="square"/>
                    <a:lstStyle/>
                    <a:p>
                      <a:pPr algn="l"/>
                      <a:r>
                        <a:rPr sz="900" b="1">
                          <a:solidFill>
                            <a:srgbClr val="000000"/>
                          </a:solidFill>
                          <a:latin typeface="맑은 고딕"/>
                          <a:ea typeface="맑은 고딕"/>
                        </a:rPr>
                        <a:t>QA6 확장성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SE(N_max=16) = Goodput(N) ÷ ((N/N0) × Goodput(N0)), N0=2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70 ~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&lt; 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892040"/>
            <a:ext cx="5596128" cy="150876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원칙</a:t>
            </a:r>
          </a:p>
          <a:p>
            <a:pPr algn="l">
              <a:spcAft>
                <a:spcPts val="250"/>
              </a:spcAft>
            </a:pPr>
            <a:r>
              <a:rPr sz="900" b="0">
                <a:solidFill>
                  <a:srgbClr val="000000"/>
                </a:solidFill>
                <a:latin typeface="맑은 고딕"/>
                <a:ea typeface="맑은 고딕"/>
              </a:rPr>
              <a:t>• 같은 QA는 DP와 무관하게 같은 metric·집계·경계를 쓴다. DP마다 다른 것은 후보와 시나리오(공통 + DP 전용)뿐이다.</a:t>
            </a:r>
          </a:p>
          <a:p>
            <a:pPr algn="l">
              <a:spcAft>
                <a:spcPts val="250"/>
              </a:spcAft>
            </a:pPr>
            <a:r>
              <a:rPr sz="900" b="0">
                <a:solidFill>
                  <a:srgbClr val="000000"/>
                </a:solidFill>
                <a:latin typeface="맑은 고딕"/>
                <a:ea typeface="맑은 고딕"/>
              </a:rPr>
              <a:t>• 경계마다 근거를 달았다: 측정(잡음 폭), 환산(자원·시간), 표준·문헌, 정책 선택을 구분해 적었다.</a:t>
            </a:r>
          </a:p>
          <a:p>
            <a:pPr algn="l">
              <a:spcAft>
                <a:spcPts val="250"/>
              </a:spcAft>
            </a:pPr>
            <a:r>
              <a:rPr sz="900" b="0">
                <a:solidFill>
                  <a:srgbClr val="000000"/>
                </a:solidFill>
                <a:latin typeface="맑은 고딕"/>
                <a:ea typeface="맑은 고딕"/>
              </a:rPr>
              <a:t>• QA2: Baseline보다 나빠지면(r &lt; 0.90) 절대 SLO를 지켜도 ★, SLO를 넘으면 개선 폭과 무관하게 ★다.</a:t>
            </a:r>
          </a:p>
          <a:p>
            <a:pPr algn="l">
              <a:spcAft>
                <a:spcPts val="250"/>
              </a:spcAft>
            </a:pPr>
            <a:r>
              <a:rPr sz="900" b="0">
                <a:solidFill>
                  <a:srgbClr val="000000"/>
                </a:solidFill>
                <a:latin typeface="맑은 고딕"/>
                <a:ea typeface="맑은 고딕"/>
              </a:rPr>
              <a:t>• QA4: 세 지표 중 하나라도 한 단계 낮으면 전체가 그 단계다. 별 합계가 높은 후보를 선택하고 동점일 때만 QA 우선순위를 쓴다.</a:t>
            </a:r>
          </a:p>
        </p:txBody>
      </p:sp>
      <p:sp>
        <p:nvSpPr>
          <p:cNvPr id="8" name="r"/>
          <p:cNvSpPr txBox="1"/>
          <p:nvPr/>
        </p:nvSpPr>
        <p:spPr>
          <a:xfrm>
            <a:off x="6199632" y="4892040"/>
            <a:ext cx="5596128" cy="1508760"/>
          </a:xfrm>
          <a:prstGeom prst="rect">
            <a:avLst/>
          </a:prstGeom>
          <a:noFill/>
        </p:spPr>
        <p:txBody>
          <a:bodyPr wrap="square" lIns="73152" rIns="73152" tIns="36576" bIns="36576" anchor="t">
            <a:spAutoFit/>
          </a:bodyPr>
          <a:lstStyle/>
          <a:p>
            <a:pPr algn="l">
              <a:spcAft>
                <a:spcPts val="250"/>
              </a:spcAft>
            </a:pPr>
            <a:r>
              <a:rPr sz="1000" b="1">
                <a:solidFill>
                  <a:srgbClr val="C00000"/>
                </a:solidFill>
                <a:latin typeface="맑은 고딕"/>
                <a:ea typeface="맑은 고딕"/>
              </a:rPr>
              <a:t>주의</a:t>
            </a:r>
          </a:p>
          <a:p>
            <a:pPr algn="l">
              <a:spcAft>
                <a:spcPts val="250"/>
              </a:spcAft>
            </a:pPr>
            <a:r>
              <a:rPr sz="900" b="0">
                <a:solidFill>
                  <a:srgbClr val="000000"/>
                </a:solidFill>
                <a:latin typeface="맑은 고딕"/>
                <a:ea typeface="맑은 고딕"/>
              </a:rPr>
              <a:t>• QA3의 기준은 Baseline 대비 감소율((Baseline − 후보) ÷ Baseline, 음수면 HBM을 더 쓴 것)이고, 용량 대비 점유 비율(%)은 병기하는 참고 값이다(DP별 용량 구성이 달라 DP 간 비교용이 아님).</a:t>
            </a:r>
          </a:p>
          <a:p>
            <a:pPr algn="l">
              <a:spcAft>
                <a:spcPts val="250"/>
              </a:spcAft>
            </a:pPr>
            <a:r>
              <a:rPr sz="900" b="0">
                <a:solidFill>
                  <a:srgbClr val="000000"/>
                </a:solidFill>
                <a:latin typeface="맑은 고딕"/>
                <a:ea typeface="맑은 고딕"/>
              </a:rPr>
              <a:t>• QA5의 두 번째 경계(3%)는 데이터로 도출하지 못한 제안값이다.</a:t>
            </a:r>
          </a:p>
          <a:p>
            <a:pPr algn="l">
              <a:spcAft>
                <a:spcPts val="250"/>
              </a:spcAft>
            </a:pPr>
            <a:r>
              <a:rPr sz="900" b="0">
                <a:solidFill>
                  <a:srgbClr val="000000"/>
                </a:solidFill>
                <a:latin typeface="맑은 고딕"/>
                <a:ea typeface="맑은 고딕"/>
              </a:rPr>
              <a:t>• 시뮬레이션 [B+C]와 Baseline 실측 + 시뮬레이션 [A+C]를 같은 표에 쓴다. 근거 수준은 별과 분리해 표기한다.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QA1 처리량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R = Max SLO goodput(output tok/s) ÷ 같은 DP Baseline · 시나리오 쌍별 비율의 기하평균 · SLO = TTFT P99 ≤ 2 s, TPOT P99 ≤ 50 ms</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공통 별점(0.90/1.10)은 필요하면 병기한다. 다른 기준 계열의 영향은 qa-star-criteria-unified.md §7.</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DP1/qa-criteria-dp1.md §A·§J · DP1/sim/star_basis.py · tools/unified_stars.py</a:t>
            </a:r>
          </a:p>
        </p:txBody>
      </p:sp>
      <p:graphicFrame>
        <p:nvGraphicFramePr>
          <p:cNvPr id="7" name="tbl"/>
          <p:cNvGraphicFramePr>
            <a:graphicFrameLocks noGrp="1"/>
          </p:cNvGraphicFramePr>
          <p:nvPr/>
        </p:nvGraphicFramePr>
        <p:xfrm>
          <a:off x="365760" y="1280160"/>
          <a:ext cx="11457432" cy="2286000"/>
        </p:xfrm>
        <a:graphic>
          <a:graphicData uri="http://schemas.openxmlformats.org/drawingml/2006/table">
            <a:tbl>
              <a:tblPr firstRow="0" bandRow="0">
                <a:tableStyleId>{5C22544A-7EE6-4342-B048-85BDC9FD1C3A}</a:tableStyleId>
              </a:tblPr>
              <a:tblGrid>
                <a:gridCol w="914400"/>
                <a:gridCol w="2377440"/>
                <a:gridCol w="6035040"/>
                <a:gridCol w="2130552"/>
              </a:tblGrid>
              <a:tr h="310896">
                <a:tc>
                  <a:txBody>
                    <a:bodyPr wrap="square"/>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왜 이 값인가 (정량 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출처 · 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R ≥ 4/3 (≈ 1.33)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같은 수요를 75% 이하의 서버로 처리 = 서버 4대 중 1대가 필요 없다(자원 25% 절감). 새 메모리 HW와 스케줄링 복잡도를 정당화할 최소 규모로 둔 환산 값</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환산 [C], 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0.97 ≤ R &lt; 4/3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하한 0.97 = Baseline끼리 seed 묶음을 바꿔 비교한 20회 집계 범위 0.968~1.033의 아래 끝. 그 안은 잡음이라 열세로 보지 않는다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측정 [B+C], DP1 star_basis.py</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R &lt; 0.97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잡음 대역 밖의 열세: Baseline보다 느리다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측정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sp>
        <p:nvSpPr>
          <p:cNvPr id="8" name="l"/>
          <p:cNvSpPr txBox="1"/>
          <p:nvPr/>
        </p:nvSpPr>
        <p:spPr>
          <a:xfrm>
            <a:off x="365760"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2F5597"/>
                </a:solidFill>
                <a:latin typeface="맑은 고딕"/>
                <a:ea typeface="맑은 고딕"/>
              </a:rPr>
              <a:t>지표와 이전 기준</a:t>
            </a:r>
          </a:p>
          <a:p>
            <a:pPr algn="l">
              <a:spcAft>
                <a:spcPts val="250"/>
              </a:spcAft>
            </a:pPr>
            <a:r>
              <a:rPr sz="1050" b="0">
                <a:solidFill>
                  <a:srgbClr val="000000"/>
                </a:solidFill>
                <a:latin typeface="맑은 고딕"/>
                <a:ea typeface="맑은 고딕"/>
              </a:rPr>
              <a:t>• 이전: DP1·DP2 0.97/1.30, DP4 0.90/1.10(공통 룰 §4.3). 통합: 0.97/4/3.</a:t>
            </a:r>
          </a:p>
          <a:p>
            <a:pPr algn="l">
              <a:spcAft>
                <a:spcPts val="250"/>
              </a:spcAft>
            </a:pPr>
            <a:r>
              <a:rPr sz="1050" b="0">
                <a:solidFill>
                  <a:srgbClr val="000000"/>
                </a:solidFill>
                <a:latin typeface="맑은 고딕"/>
                <a:ea typeface="맑은 고딕"/>
              </a:rPr>
              <a:t>• 결과: DP1 C1 ×1.298(★★) · C2 ×1.423(★★★), DP2 ×1.66 · ×1.66(★★★), DP4 ×1.05 · ×1.04(★★).</a:t>
            </a:r>
          </a:p>
          <a:p>
            <a:pPr algn="l">
              <a:spcAft>
                <a:spcPts val="250"/>
              </a:spcAft>
            </a:pPr>
            <a:r>
              <a:rPr sz="1050" b="0">
                <a:solidFill>
                  <a:srgbClr val="000000"/>
                </a:solidFill>
                <a:latin typeface="맑은 고딕"/>
                <a:ea typeface="맑은 고딕"/>
              </a:rPr>
              <a:t>• DP1 보완 버전(C1 + Affinity)은 436 ÷ 336 = ×1.2976이다. '×1.3'으로 반올림해 적었지만 판정 값은 소수 값이라 ★★다. 문서와 PPT에는 ×1.298로 쓴다.</a:t>
            </a:r>
          </a:p>
        </p:txBody>
      </p:sp>
      <p:sp>
        <p:nvSpPr>
          <p:cNvPr id="9" name="r"/>
          <p:cNvSpPr txBox="1"/>
          <p:nvPr/>
        </p:nvSpPr>
        <p:spPr>
          <a:xfrm>
            <a:off x="6199632"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C00000"/>
                </a:solidFill>
                <a:latin typeface="맑은 고딕"/>
                <a:ea typeface="맑은 고딕"/>
              </a:rPr>
              <a:t>정직한 주의</a:t>
            </a:r>
          </a:p>
          <a:p>
            <a:pPr algn="l">
              <a:spcAft>
                <a:spcPts val="250"/>
              </a:spcAft>
            </a:pPr>
            <a:r>
              <a:rPr sz="1050" b="0">
                <a:solidFill>
                  <a:srgbClr val="000000"/>
                </a:solidFill>
                <a:latin typeface="맑은 고딕"/>
                <a:ea typeface="맑은 고딕"/>
              </a:rPr>
              <a:t>• 상위 구간의 차이가 별에 보이는 해상도는 4/3 근처에서 가장 크다. DP4는 ×1.04~1.05로 모두 ★★ 하위에 있다.</a:t>
            </a:r>
          </a:p>
          <a:p>
            <a:pPr algn="l">
              <a:spcAft>
                <a:spcPts val="250"/>
              </a:spcAft>
            </a:pPr>
            <a:r>
              <a:rPr sz="1050" b="0">
                <a:solidFill>
                  <a:srgbClr val="000000"/>
                </a:solidFill>
                <a:latin typeface="맑은 고딕"/>
                <a:ea typeface="맑은 고딕"/>
              </a:rPr>
              <a:t>• DP4는 Baseline이 실측이지만 재측정 잡음 폭을 아직 재지 않았다. 0.97은 시뮬레이터의 잡음 폭이다.</a:t>
            </a:r>
          </a:p>
          <a:p>
            <a:pPr algn="l">
              <a:spcAft>
                <a:spcPts val="250"/>
              </a:spcAft>
            </a:pPr>
            <a:r>
              <a:rPr sz="1050" b="0">
                <a:solidFill>
                  <a:srgbClr val="000000"/>
                </a:solidFill>
                <a:latin typeface="맑은 고딕"/>
                <a:ea typeface="맑은 고딕"/>
              </a:rPr>
              <a:t>• DP2의 ×1.66은 Baseline이 SLO를 거의 못 지키는 시나리오가 끌어올린다.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QA2 지연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Baseline 대비 개선(r)으로 별을 매기고, 절대 SLO(TTFT P99 2 s, TPOT P99 50 ms)를 넘으면 ★로 강등 · TTFT P99·TPOT P99의 시나리오 쌍별 기하평균</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MLPerf 표준 값은 2차 자료다. 출처 링크는 PPT DP4 28장·34장과 같다.</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공통 QA 문서 §5 · MLPerf Inference v5.1 요약(marktechpost, it-online) [2차] · Brysbaert 2019 · DP3 시뮬레이션 seed 분산 · tools/unified_stars.py</a:t>
            </a:r>
          </a:p>
        </p:txBody>
      </p:sp>
      <p:sp>
        <p:nvSpPr>
          <p:cNvPr id="7" name="r_formula"/>
          <p:cNvSpPr txBox="1"/>
          <p:nvPr/>
        </p:nvSpPr>
        <p:spPr>
          <a:xfrm>
            <a:off x="365760" y="1143000"/>
            <a:ext cx="7498079" cy="27432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r = √[ (Baseline TTFT P99 ÷ 후보 TTFT P99) × (Baseline TPOT P99 ÷ 후보 TPOT P99) ]  (&gt; 1이면 좋아짐)</a:t>
            </a:r>
          </a:p>
        </p:txBody>
      </p:sp>
      <p:graphicFrame>
        <p:nvGraphicFramePr>
          <p:cNvPr id="8" name="tbl"/>
          <p:cNvGraphicFramePr>
            <a:graphicFrameLocks noGrp="1"/>
          </p:cNvGraphicFramePr>
          <p:nvPr/>
        </p:nvGraphicFramePr>
        <p:xfrm>
          <a:off x="365760" y="1463040"/>
          <a:ext cx="7498080" cy="2011680"/>
        </p:xfrm>
        <a:graphic>
          <a:graphicData uri="http://schemas.openxmlformats.org/drawingml/2006/table">
            <a:tbl>
              <a:tblPr firstRow="0" bandRow="0">
                <a:tableStyleId>{5C22544A-7EE6-4342-B048-85BDC9FD1C3A}</a:tableStyleId>
              </a:tblPr>
              <a:tblGrid>
                <a:gridCol w="822960"/>
                <a:gridCol w="3108960"/>
                <a:gridCol w="3566160"/>
              </a:tblGrid>
              <a:tr h="310896">
                <a:tc>
                  <a:txBody>
                    <a:bodyPr wrap="square"/>
                    <a:lstStyle/>
                    <a:p>
                      <a:pPr algn="ctr"/>
                      <a:r>
                        <a:rPr sz="9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기준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r ≥ 1.20 그리고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잡음 폭(±10%)의 2배 = 확실한 개선 (정책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566928">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0.90 ≤ r &lt; 1.20 그리고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잡음 안 = Baseline과 동등. 단일 시나리오 P99 비율은 5 seed에서 ±15% 흔들리고 30여 쌍 평균은 약 ±3% (DP3 64개 비교의 CI 반폭 중앙값 14.7%)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566928">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r &lt; 0.90, 또는 SLO 초과(TTFT P99 &gt; 2 s 또는 TPOT P99 &gt; 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r &lt; 0.90은 잡음 밖의 열세. SLO 초과는 개선 폭과 무관하게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graphicFrame>
        <p:nvGraphicFramePr>
          <p:cNvPr id="9" name="tbl"/>
          <p:cNvGraphicFramePr>
            <a:graphicFrameLocks noGrp="1"/>
          </p:cNvGraphicFramePr>
          <p:nvPr/>
        </p:nvGraphicFramePr>
        <p:xfrm>
          <a:off x="365760" y="4069080"/>
          <a:ext cx="7498080" cy="1225296"/>
        </p:xfrm>
        <a:graphic>
          <a:graphicData uri="http://schemas.openxmlformats.org/drawingml/2006/table">
            <a:tbl>
              <a:tblPr firstRow="0" bandRow="0">
                <a:tableStyleId>{5C22544A-7EE6-4342-B048-85BDC9FD1C3A}</a:tableStyleId>
              </a:tblPr>
              <a:tblGrid>
                <a:gridCol w="1463040"/>
                <a:gridCol w="6035040"/>
              </a:tblGrid>
              <a:tr h="310896">
                <a:tc>
                  <a:txBody>
                    <a:bodyPr wrap="square"/>
                    <a:lstStyle/>
                    <a:p>
                      <a:pPr algn="ctr"/>
                      <a:r>
                        <a:rPr sz="900" b="1">
                          <a:solidFill>
                            <a:srgbClr val="FFFFFF"/>
                          </a:solidFill>
                          <a:latin typeface="맑은 고딕"/>
                          <a:ea typeface="맑은 고딕"/>
                        </a:rPr>
                        <a:t>절대 SLO</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457200">
                <a:tc>
                  <a:txBody>
                    <a:bodyPr wrap="square"/>
                    <a:lstStyle/>
                    <a:p>
                      <a:pPr algn="l"/>
                      <a:r>
                        <a:rPr sz="900" b="0">
                          <a:solidFill>
                            <a:srgbClr val="000000"/>
                          </a:solidFill>
                          <a:latin typeface="맑은 고딕"/>
                          <a:ea typeface="맑은 고딕"/>
                        </a:rPr>
                        <a:t>TTFT P99 ≤ 2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8K prefill 이론 0.32 s(H100×8, MFU 0.45)의 약 6배(큐잉 여유). MLPerf Llama-2-70B 표준 시나리오와 같은 자릿수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457200">
                <a:tc>
                  <a:txBody>
                    <a:bodyPr wrap="square"/>
                    <a:lstStyle/>
                    <a:p>
                      <a:pPr algn="l"/>
                      <a:r>
                        <a:rPr sz="900" b="0">
                          <a:solidFill>
                            <a:srgbClr val="000000"/>
                          </a:solidFill>
                          <a:latin typeface="맑은 고딕"/>
                          <a:ea typeface="맑은 고딕"/>
                        </a:rPr>
                        <a:t>TPOT P99 ≤ 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50 ms = 20 tok/s는 성인 묵독(약 5~6 tok/s)의 약 3.5배. MLPerf interactive 40 ms와 표준 200 ms 사이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graphicFrame>
        <p:nvGraphicFramePr>
          <p:cNvPr id="10" name="tbl"/>
          <p:cNvGraphicFramePr>
            <a:graphicFrameLocks noGrp="1"/>
          </p:cNvGraphicFramePr>
          <p:nvPr/>
        </p:nvGraphicFramePr>
        <p:xfrm>
          <a:off x="8046720" y="1143000"/>
          <a:ext cx="3794760" cy="2779776"/>
        </p:xfrm>
        <a:graphic>
          <a:graphicData uri="http://schemas.openxmlformats.org/drawingml/2006/table">
            <a:tbl>
              <a:tblPr firstRow="0" bandRow="0">
                <a:tableStyleId>{5C22544A-7EE6-4342-B048-85BDC9FD1C3A}</a:tableStyleId>
              </a:tblPr>
              <a:tblGrid>
                <a:gridCol w="914400"/>
                <a:gridCol w="1737360"/>
                <a:gridCol w="457200"/>
                <a:gridCol w="685800"/>
              </a:tblGrid>
              <a:tr h="310896">
                <a:tc>
                  <a:txBody>
                    <a:bodyPr wrap="square"/>
                    <a:lstStyle/>
                    <a:p>
                      <a:pPr algn="ctr"/>
                      <a:r>
                        <a:rPr sz="850" b="1">
                          <a:solidFill>
                            <a:srgbClr val="FFFFFF"/>
                          </a:solidFill>
                          <a:latin typeface="맑은 고딕"/>
                          <a:ea typeface="맑은 고딕"/>
                        </a:rPr>
                        <a:t>후보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TTFT P99 / TPOT P99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QA2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274320">
                <a:tc>
                  <a:txBody>
                    <a:bodyPr wrap="square"/>
                    <a:lstStyle/>
                    <a:p>
                      <a:pPr algn="l"/>
                      <a:r>
                        <a:rPr sz="850" b="0">
                          <a:solidFill>
                            <a:srgbClr val="000000"/>
                          </a:solidFill>
                          <a:latin typeface="맑은 고딕"/>
                          <a:ea typeface="맑은 고딕"/>
                        </a:rPr>
                        <a:t>DP1 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1,128 ms / 18.3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0.95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DP1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785 ms / 16.0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1.21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DP1 1안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1,372 ms / 18.2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0.86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DP2 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1,995 ms / 19.5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DP2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4,053 ms ⚠ / 15.1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0.91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DP4 후보1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2,060 ms ⚠ / 48.0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DP4 후보2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1,940 ms / 48.0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DP3 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268 ms / 8.4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1.44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DP3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693 ms / 8.7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0.88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11" name="legend"/>
          <p:cNvSpPr txBox="1"/>
          <p:nvPr/>
        </p:nvSpPr>
        <p:spPr>
          <a:xfrm>
            <a:off x="8046720" y="3977639"/>
            <a:ext cx="3749039" cy="228600"/>
          </a:xfrm>
          <a:prstGeom prst="rect">
            <a:avLst/>
          </a:prstGeom>
          <a:noFill/>
        </p:spPr>
        <p:txBody>
          <a:bodyPr wrap="square" lIns="73152" rIns="73152" tIns="36576" bIns="36576" anchor="t">
            <a:spAutoFit/>
          </a:bodyPr>
          <a:lstStyle/>
          <a:p>
            <a:pPr algn="l">
              <a:spcAft>
                <a:spcPts val="250"/>
              </a:spcAft>
            </a:pPr>
            <a:r>
              <a:rPr sz="850" b="0">
                <a:solidFill>
                  <a:srgbClr val="C00000"/>
                </a:solidFill>
                <a:latin typeface="맑은 고딕"/>
                <a:ea typeface="맑은 고딕"/>
              </a:rPr>
              <a:t>⚠ = 절대 SLO 초과(★로 강등)</a:t>
            </a:r>
          </a:p>
        </p:txBody>
      </p:sp>
      <p:sp>
        <p:nvSpPr>
          <p:cNvPr id="12" name="l"/>
          <p:cNvSpPr txBox="1"/>
          <p:nvPr/>
        </p:nvSpPr>
        <p:spPr>
          <a:xfrm>
            <a:off x="365760" y="5166360"/>
            <a:ext cx="5596128" cy="1234440"/>
          </a:xfrm>
          <a:prstGeom prst="rect">
            <a:avLst/>
          </a:prstGeom>
          <a:noFill/>
        </p:spPr>
        <p:txBody>
          <a:bodyPr wrap="square" lIns="73152" rIns="73152" tIns="36576" bIns="36576" anchor="t">
            <a:spAutoFit/>
          </a:bodyPr>
          <a:lstStyle/>
          <a:p>
            <a:pPr algn="l">
              <a:spcAft>
                <a:spcPts val="250"/>
              </a:spcAft>
            </a:pPr>
            <a:r>
              <a:rPr sz="950" b="1">
                <a:solidFill>
                  <a:srgbClr val="2F5597"/>
                </a:solidFill>
                <a:latin typeface="맑은 고딕"/>
                <a:ea typeface="맑은 고딕"/>
              </a:rPr>
              <a:t>규칙의 의미</a:t>
            </a:r>
          </a:p>
          <a:p>
            <a:pPr algn="l">
              <a:spcAft>
                <a:spcPts val="250"/>
              </a:spcAft>
            </a:pPr>
            <a:r>
              <a:rPr sz="850" b="0">
                <a:solidFill>
                  <a:srgbClr val="000000"/>
                </a:solidFill>
                <a:latin typeface="맑은 고딕"/>
                <a:ea typeface="맑은 고딕"/>
              </a:rPr>
              <a:t>• 이전(v1·v2)은 절대 SLO 등급을 별에 섞었다. v3는 Baseline 대비 개선으로 별을 정하고 절대 SLO는 넘으면 ★로 강등하는 조건으로만 쓴다.</a:t>
            </a:r>
          </a:p>
          <a:p>
            <a:pPr algn="l">
              <a:spcAft>
                <a:spcPts val="250"/>
              </a:spcAft>
            </a:pPr>
            <a:r>
              <a:rPr sz="850" b="0">
                <a:solidFill>
                  <a:srgbClr val="000000"/>
                </a:solidFill>
                <a:latin typeface="맑은 고딕"/>
                <a:ea typeface="맑은 고딕"/>
              </a:rPr>
              <a:t>• 이전: DP4 절대 SLO, DP1·DP2 6개 지표 개선 배수 geomean. r은 P99 두 지표만 쓴다(DP4가 P99만 보고).</a:t>
            </a:r>
          </a:p>
        </p:txBody>
      </p:sp>
      <p:sp>
        <p:nvSpPr>
          <p:cNvPr id="13" name="r"/>
          <p:cNvSpPr txBox="1"/>
          <p:nvPr/>
        </p:nvSpPr>
        <p:spPr>
          <a:xfrm>
            <a:off x="6199632" y="5166360"/>
            <a:ext cx="5596128" cy="1234440"/>
          </a:xfrm>
          <a:prstGeom prst="rect">
            <a:avLst/>
          </a:prstGeom>
          <a:noFill/>
        </p:spPr>
        <p:txBody>
          <a:bodyPr wrap="square" lIns="73152" rIns="73152" tIns="36576" bIns="36576" anchor="t">
            <a:spAutoFit/>
          </a:bodyPr>
          <a:lstStyle/>
          <a:p>
            <a:pPr algn="l">
              <a:spcAft>
                <a:spcPts val="250"/>
              </a:spcAft>
            </a:pPr>
            <a:r>
              <a:rPr sz="950" b="1">
                <a:solidFill>
                  <a:srgbClr val="C00000"/>
                </a:solidFill>
                <a:latin typeface="맑은 고딕"/>
                <a:ea typeface="맑은 고딕"/>
              </a:rPr>
              <a:t>주의</a:t>
            </a:r>
          </a:p>
          <a:p>
            <a:pPr algn="l">
              <a:spcAft>
                <a:spcPts val="250"/>
              </a:spcAft>
            </a:pPr>
            <a:r>
              <a:rPr sz="850" b="0">
                <a:solidFill>
                  <a:srgbClr val="000000"/>
                </a:solidFill>
                <a:latin typeface="맑은 고딕"/>
                <a:ea typeface="맑은 고딕"/>
              </a:rPr>
              <a:t>• DP4 후보1은 TTFT P99 2,060 ms가 2 s를 3% 넘어 개선 r = 1.11인데도 ★다. 경계 근처에서 별이 한 번에 두 단계 바뀌는 구조(절벽)다.</a:t>
            </a:r>
          </a:p>
          <a:p>
            <a:pPr algn="l">
              <a:spcAft>
                <a:spcPts val="250"/>
              </a:spcAft>
            </a:pPr>
            <a:r>
              <a:rPr sz="850" b="0">
                <a:solidFill>
                  <a:srgbClr val="000000"/>
                </a:solidFill>
                <a:latin typeface="맑은 고딕"/>
                <a:ea typeface="맑은 고딕"/>
              </a:rPr>
              <a:t>• DP1 C1은 r = 0.948로 하한 0.90까지 +5% 남았다. DP1에서 C2가 C1보다 모든 지연 지표(P50·P99)에서 낫다.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QA3 자원 (HBM 사용량)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기준 = Baseline 대비 감소율((Baseline − 후보) ÷ Baseline) · PPT에는 HBM 용량 대비 점유 비율(%)을 병기 · 성능은 섞지 않는다 · DP1·DP2·DP3 적용</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용량 대비 비율: DP1 = tier_util.hbm(시나리오 HBM 배율 반영 유효 용량), DP3 = HBM 가용(0.9)에서 가중치를 뺀 KV 몫, DP2 = 노드 HBM KV 풀(hbm_frac).</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DP1/qa-criteria-dp1.md §A·§I·§J · DP1/sim/simulator.py(occ_bytes_sum) · DP3/sim/dp3sim.py · tools/hbm_share.py</a:t>
            </a:r>
          </a:p>
        </p:txBody>
      </p:sp>
      <p:graphicFrame>
        <p:nvGraphicFramePr>
          <p:cNvPr id="7" name="tbl"/>
          <p:cNvGraphicFramePr>
            <a:graphicFrameLocks noGrp="1"/>
          </p:cNvGraphicFramePr>
          <p:nvPr/>
        </p:nvGraphicFramePr>
        <p:xfrm>
          <a:off x="365760" y="1280160"/>
          <a:ext cx="11457432" cy="2286000"/>
        </p:xfrm>
        <a:graphic>
          <a:graphicData uri="http://schemas.openxmlformats.org/drawingml/2006/table">
            <a:tbl>
              <a:tblPr firstRow="0" bandRow="0">
                <a:tableStyleId>{5C22544A-7EE6-4342-B048-85BDC9FD1C3A}</a:tableStyleId>
              </a:tblPr>
              <a:tblGrid>
                <a:gridCol w="914400"/>
                <a:gridCol w="2377440"/>
                <a:gridCol w="6035040"/>
                <a:gridCol w="2130552"/>
              </a:tblGrid>
              <a:tr h="310896">
                <a:tc>
                  <a:txBody>
                    <a:bodyPr wrap="square"/>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왜 이 값인가 (정량 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출처 · 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감소율 ≥ 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HBM 점유 20% 감소 = DP1 평균 146.6 GiB 중 약 29 GiB(8K KV object 약 1.6개분). QA2와 같은 '눈에 띄는 개선' 크기로 둔 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환산 [C]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−5% ≤ 감소율 &lt; 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하한 −5%: Baseline끼리 비교한 점유 잡음 범위(±1.6%)보다 느슨하게 둠(5% 이내 증가는 열세로 보지 않음)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측정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감소율 &lt; −5%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HBM을 5% 넘게 더 쓴다(잡음 밖)</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측정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sp>
        <p:nvSpPr>
          <p:cNvPr id="8" name="l"/>
          <p:cNvSpPr txBox="1"/>
          <p:nvPr/>
        </p:nvSpPr>
        <p:spPr>
          <a:xfrm>
            <a:off x="365760"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2F5597"/>
                </a:solidFill>
                <a:latin typeface="맑은 고딕"/>
                <a:ea typeface="맑은 고딕"/>
              </a:rPr>
              <a:t>무엇을 재는가 (이전 기준 포함)</a:t>
            </a:r>
          </a:p>
          <a:p>
            <a:pPr algn="l">
              <a:spcAft>
                <a:spcPts val="250"/>
              </a:spcAft>
            </a:pPr>
            <a:r>
              <a:rPr sz="1050" b="0">
                <a:solidFill>
                  <a:srgbClr val="000000"/>
                </a:solidFill>
                <a:latin typeface="맑은 고딕"/>
                <a:ea typeface="맑은 고딕"/>
              </a:rPr>
              <a:t>• 측정하는 것(쉬운 말): 모델이 돌아가는 동안 HBM에 올라와 있는 AI Data(KV, LoRA adapter, MoE expert, RAG 인덱스, Agent memory 등)의 평균 크기. 측정 구간 동안 HBM의 양을 계속 재서 시간으로 평균낸다(순간 최대 아님). 모델 가중치·활성값은 뺀다. DP1은 이 모든 종류를 잰다. DP2·DP3는 후보가 바꾸는 데이터가 KV뿐이라 KV만 잰다(다른 종류는 고정 배치).</a:t>
            </a:r>
          </a:p>
          <a:p>
            <a:pPr algn="l">
              <a:spcAft>
                <a:spcPts val="250"/>
              </a:spcAft>
            </a:pPr>
            <a:r>
              <a:rPr sz="1050" b="0">
                <a:solidFill>
                  <a:srgbClr val="000000"/>
                </a:solidFill>
                <a:latin typeface="맑은 고딕"/>
                <a:ea typeface="맑은 고딕"/>
              </a:rPr>
              <a:t>• 예: 100초 중 40초는 100 GiB, 60초는 50 GiB → (40×100 + 60×50) ÷ 100 = 70 GiB. 감소율 67%면 HBM을 1/3만 쓴다(Baseline 100 GiB → 33 GiB).</a:t>
            </a:r>
          </a:p>
          <a:p>
            <a:pPr algn="l">
              <a:spcAft>
                <a:spcPts val="250"/>
              </a:spcAft>
            </a:pPr>
            <a:r>
              <a:rPr sz="1050" b="0">
                <a:solidFill>
                  <a:srgbClr val="000000"/>
                </a:solidFill>
                <a:latin typeface="맑은 고딕"/>
                <a:ea typeface="맑은 고딕"/>
              </a:rPr>
              <a:t>• PPT 표기: GiB (HBM 용량 대비 점유 %, Baseline 대비 감소율). 용량 대비 비율은 시나리오·시스템별 비율의 기하평균이다.</a:t>
            </a:r>
          </a:p>
          <a:p>
            <a:pPr algn="l">
              <a:spcAft>
                <a:spcPts val="250"/>
              </a:spcAft>
            </a:pPr>
            <a:r>
              <a:rPr sz="1050" b="0">
                <a:solidFill>
                  <a:srgbClr val="000000"/>
                </a:solidFill>
                <a:latin typeface="맑은 고딕"/>
                <a:ea typeface="맑은 고딕"/>
              </a:rPr>
              <a:t>• DP1: C1 142.7 GiB(용량의 50%, 감소율 +2.7%) · C2 178.0 GiB(62%, 감소율 -21.4%) · Baseline 51%. DP3: C1 30.3 GiB(6%, 감소율 +71.7%) · C2 85.1 GiB(16%, 감소율 +20.6%) · Baseline 21%.</a:t>
            </a:r>
          </a:p>
        </p:txBody>
      </p:sp>
      <p:sp>
        <p:nvSpPr>
          <p:cNvPr id="9" name="r"/>
          <p:cNvSpPr txBox="1"/>
          <p:nvPr/>
        </p:nvSpPr>
        <p:spPr>
          <a:xfrm>
            <a:off x="6199632"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C00000"/>
                </a:solidFill>
                <a:latin typeface="맑은 고딕"/>
                <a:ea typeface="맑은 고딕"/>
              </a:rPr>
              <a:t>정직한 주의</a:t>
            </a:r>
          </a:p>
          <a:p>
            <a:pPr algn="l">
              <a:spcAft>
                <a:spcPts val="250"/>
              </a:spcAft>
            </a:pPr>
            <a:r>
              <a:rPr sz="1050" b="0">
                <a:solidFill>
                  <a:srgbClr val="000000"/>
                </a:solidFill>
                <a:latin typeface="맑은 고딕"/>
                <a:ea typeface="맑은 고딕"/>
              </a:rPr>
              <a:t>• DP3 C2의 감소율 20.5%는 경계 20%에서 0.5%p 위다. H100만 보면 25.5%, B200만 보면 16.7%라 시스템 선택에 따라 ★★/★★★이 갈린다. DP2 2안 −5.0%는 하한 −5%에 걸려 있다.</a:t>
            </a:r>
          </a:p>
          <a:p>
            <a:pPr algn="l">
              <a:spcAft>
                <a:spcPts val="250"/>
              </a:spcAft>
            </a:pPr>
            <a:r>
              <a:rPr sz="1050" b="0">
                <a:solidFill>
                  <a:srgbClr val="000000"/>
                </a:solidFill>
                <a:latin typeface="맑은 고딕"/>
                <a:ea typeface="맑은 고딕"/>
              </a:rPr>
              <a:t>• DP1은 QA3 정의를 결과를 본 뒤 여러 번 바꿨다(활용률 → 풀 U → 성능÷비용 → HBM 사용량).</a:t>
            </a:r>
          </a:p>
          <a:p>
            <a:pPr algn="l">
              <a:spcAft>
                <a:spcPts val="250"/>
              </a:spcAft>
            </a:pPr>
            <a:r>
              <a:rPr sz="1050" b="0">
                <a:solidFill>
                  <a:srgbClr val="000000"/>
                </a:solidFill>
                <a:latin typeface="맑은 고딕"/>
                <a:ea typeface="맑은 고딕"/>
              </a:rPr>
              <a:t>• '비우되 성능이 나빠지는 정책'이 유리하므로 QA1·QA2와 함께 읽어야 한다. 용량 대비 비율은 DP별 용량 정의가 달라 DP 간 비교용이 아니다.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QA4 변경 용이성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세 지표를 각각 판정하고 셋이 모두(AND) 그 별의 기준을 만족해야 그 별 · 한 지표라도 낮으면 전체가 낮은 쪽 · 변경 시나리오 단순 평균에 적용</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공수·비용은 구현 측정(module·LOC)에 가정 상수를 곱한 값이며 실제 에이전트 세션 측정이 아니다 [B+C]. 1 MM = 21 man-day, 비용은 mid tier($3/$15 per MTok).</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DP1/qa4-preregistration.md · DP4 평가 장(토큰 비용 경계) · 공통 QA 문서 §7 · tools/unified_stars.py</a:t>
            </a:r>
          </a:p>
        </p:txBody>
      </p:sp>
      <p:graphicFrame>
        <p:nvGraphicFramePr>
          <p:cNvPr id="7" name="tbl"/>
          <p:cNvGraphicFramePr>
            <a:graphicFrameLocks noGrp="1"/>
          </p:cNvGraphicFramePr>
          <p:nvPr/>
        </p:nvGraphicFramePr>
        <p:xfrm>
          <a:off x="365760" y="1188720"/>
          <a:ext cx="11457432" cy="1408176"/>
        </p:xfrm>
        <a:graphic>
          <a:graphicData uri="http://schemas.openxmlformats.org/drawingml/2006/table">
            <a:tbl>
              <a:tblPr firstRow="0" bandRow="0">
                <a:tableStyleId>{5C22544A-7EE6-4342-B048-85BDC9FD1C3A}</a:tableStyleId>
              </a:tblPr>
              <a:tblGrid>
                <a:gridCol w="731520"/>
                <a:gridCol w="2377440"/>
                <a:gridCol w="2011680"/>
                <a:gridCol w="2377440"/>
                <a:gridCol w="3959352"/>
              </a:tblGrid>
              <a:tr h="310896">
                <a:tc>
                  <a:txBody>
                    <a:bodyPr wrap="square"/>
                    <a:lstStyle/>
                    <a:p>
                      <a:pPr algn="ctr"/>
                      <a:r>
                        <a:rPr sz="95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① 토큰 비용 ($/변경, mid tier)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② 개발 공수 (MM/변경)</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③ 변경 module 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 $0.5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 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 2 (주요 interface 유지)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①②③ 모두 ★★★ 기준 이내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365760">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 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3 ~ 5 (2 초과 6 미만)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①②③ 모두 ★★ 기준 이내 (하나라도 ★★★ 밖)</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365760">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&gt;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&gt; 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 6 또는 major interface 변경</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①②③ 중 하나라도 ★★ 기준 밖</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graphicFrame>
        <p:nvGraphicFramePr>
          <p:cNvPr id="8" name="tbl"/>
          <p:cNvGraphicFramePr>
            <a:graphicFrameLocks noGrp="1"/>
          </p:cNvGraphicFramePr>
          <p:nvPr/>
        </p:nvGraphicFramePr>
        <p:xfrm>
          <a:off x="365760" y="2743200"/>
          <a:ext cx="7040880" cy="2011680"/>
        </p:xfrm>
        <a:graphic>
          <a:graphicData uri="http://schemas.openxmlformats.org/drawingml/2006/table">
            <a:tbl>
              <a:tblPr firstRow="0" bandRow="0">
                <a:tableStyleId>{5C22544A-7EE6-4342-B048-85BDC9FD1C3A}</a:tableStyleId>
              </a:tblPr>
              <a:tblGrid>
                <a:gridCol w="1371600"/>
                <a:gridCol w="4206240"/>
                <a:gridCol w="1463040"/>
              </a:tblGrid>
              <a:tr h="310896">
                <a:tc>
                  <a:txBody>
                    <a:bodyPr wrap="square"/>
                    <a:lstStyle/>
                    <a:p>
                      <a:pPr algn="ctr"/>
                      <a:r>
                        <a:rPr sz="850" b="1">
                          <a:solidFill>
                            <a:srgbClr val="FFFFFF"/>
                          </a:solidFill>
                          <a:latin typeface="맑은 고딕"/>
                          <a:ea typeface="맑은 고딕"/>
                        </a:rPr>
                        <a:t>경계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850" b="0">
                          <a:solidFill>
                            <a:srgbClr val="000000"/>
                          </a:solidFill>
                          <a:latin typeface="맑은 고딕"/>
                          <a:ea typeface="맑은 고딕"/>
                        </a:rPr>
                        <a:t>① 비용 $0.5 /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$0.5 = 원본 약 25k 토큰(module 약 3개 읽기 + 소규모 수정)을 한 세션에서 재작업 없이 끝내는 비용(유효 입력 재과금 6배, $3/$15 가정). $2는 그 4배 = 다중 세션·외부 코드 탐색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사전 등록 가정 (DP4 pre-reg). 단가는 2차 자료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850" b="0">
                          <a:solidFill>
                            <a:srgbClr val="000000"/>
                          </a:solidFill>
                          <a:latin typeface="맑은 고딕"/>
                          <a:ea typeface="맑은 고딕"/>
                        </a:rPr>
                        <a:t>② 공수 0.5 / 1.0 MM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0.5 MM = 엔지니어 1명이 2주 sprint 안에 흡수. 1 MM = 한 달 전담이면 로드맵 항목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사전 등록 가정 (DP1 qa4-preregistration)</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850" b="0">
                          <a:solidFill>
                            <a:srgbClr val="000000"/>
                          </a:solidFill>
                          <a:latin typeface="맑은 고딕"/>
                          <a:ea typeface="맑은 고딕"/>
                        </a:rPr>
                        <a:t>③ module 2 / 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공통 룰 §7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공통 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graphicFrame>
        <p:nvGraphicFramePr>
          <p:cNvPr id="9" name="tbl"/>
          <p:cNvGraphicFramePr>
            <a:graphicFrameLocks noGrp="1"/>
          </p:cNvGraphicFramePr>
          <p:nvPr/>
        </p:nvGraphicFramePr>
        <p:xfrm>
          <a:off x="7589520" y="2743200"/>
          <a:ext cx="4251960" cy="1554480"/>
        </p:xfrm>
        <a:graphic>
          <a:graphicData uri="http://schemas.openxmlformats.org/drawingml/2006/table">
            <a:tbl>
              <a:tblPr firstRow="0" bandRow="0">
                <a:tableStyleId>{5C22544A-7EE6-4342-B048-85BDC9FD1C3A}</a:tableStyleId>
              </a:tblPr>
              <a:tblGrid>
                <a:gridCol w="914400"/>
                <a:gridCol w="594360"/>
                <a:gridCol w="548640"/>
                <a:gridCol w="640080"/>
                <a:gridCol w="1051560"/>
                <a:gridCol w="502920"/>
              </a:tblGrid>
              <a:tr h="310896">
                <a:tc>
                  <a:txBody>
                    <a:bodyPr wrap="square"/>
                    <a:lstStyle/>
                    <a:p>
                      <a:pPr algn="ctr"/>
                      <a:r>
                        <a:rPr sz="850" b="1">
                          <a:solidFill>
                            <a:srgbClr val="FFFFFF"/>
                          </a:solidFill>
                          <a:latin typeface="맑은 고딕"/>
                          <a:ea typeface="맑은 고딕"/>
                        </a:rPr>
                        <a:t>후보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① 비용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② 공수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③ module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①/②/③ sub-star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QA4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10896">
                <a:tc>
                  <a:txBody>
                    <a:bodyPr wrap="square"/>
                    <a:lstStyle/>
                    <a:p>
                      <a:pPr algn="l"/>
                      <a:r>
                        <a:rPr sz="850" b="0">
                          <a:solidFill>
                            <a:srgbClr val="000000"/>
                          </a:solidFill>
                          <a:latin typeface="맑은 고딕"/>
                          <a:ea typeface="맑은 고딕"/>
                        </a:rPr>
                        <a:t>DP1 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$0.39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0.38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1.75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 / ★★★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10896">
                <a:tc>
                  <a:txBody>
                    <a:bodyPr wrap="square"/>
                    <a:lstStyle/>
                    <a:p>
                      <a:pPr algn="l"/>
                      <a:r>
                        <a:rPr sz="850" b="0">
                          <a:solidFill>
                            <a:srgbClr val="000000"/>
                          </a:solidFill>
                          <a:latin typeface="맑은 고딕"/>
                          <a:ea typeface="맑은 고딕"/>
                        </a:rPr>
                        <a:t>DP1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$0.49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2.50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 / ★★☆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10896">
                <a:tc>
                  <a:txBody>
                    <a:bodyPr wrap="square"/>
                    <a:lstStyle/>
                    <a:p>
                      <a:pPr algn="l"/>
                      <a:r>
                        <a:rPr sz="850" b="0">
                          <a:solidFill>
                            <a:srgbClr val="000000"/>
                          </a:solidFill>
                          <a:latin typeface="맑은 고딕"/>
                          <a:ea typeface="맑은 고딕"/>
                        </a:rPr>
                        <a:t>DP4 후보1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0.16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 / ★★★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10896">
                <a:tc>
                  <a:txBody>
                    <a:bodyPr wrap="square"/>
                    <a:lstStyle/>
                    <a:p>
                      <a:pPr algn="l"/>
                      <a:r>
                        <a:rPr sz="850" b="0">
                          <a:solidFill>
                            <a:srgbClr val="000000"/>
                          </a:solidFill>
                          <a:latin typeface="맑은 고딕"/>
                          <a:ea typeface="맑은 고딕"/>
                        </a:rPr>
                        <a:t>DP4 후보2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$0.48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2.30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 / ★★★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10" name="l"/>
          <p:cNvSpPr txBox="1"/>
          <p:nvPr/>
        </p:nvSpPr>
        <p:spPr>
          <a:xfrm>
            <a:off x="365760" y="4754880"/>
            <a:ext cx="5596128" cy="164592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규칙</a:t>
            </a:r>
          </a:p>
          <a:p>
            <a:pPr algn="l">
              <a:spcAft>
                <a:spcPts val="250"/>
              </a:spcAft>
            </a:pPr>
            <a:r>
              <a:rPr sz="950" b="0">
                <a:solidFill>
                  <a:srgbClr val="000000"/>
                </a:solidFill>
                <a:latin typeface="맑은 고딕"/>
                <a:ea typeface="맑은 고딕"/>
              </a:rPr>
              <a:t>• 예: 비용 $0.4, 공수 0.3 MM, module 4 → ③이 ★★이므로 전체 ★★. 비용 $0.4, 공수 0.3, module 2 → 전체 ★★★.</a:t>
            </a:r>
          </a:p>
          <a:p>
            <a:pPr algn="l">
              <a:spcAft>
                <a:spcPts val="250"/>
              </a:spcAft>
            </a:pPr>
            <a:r>
              <a:rPr sz="950" b="0">
                <a:solidFill>
                  <a:srgbClr val="000000"/>
                </a:solidFill>
                <a:latin typeface="맑은 고딕"/>
                <a:ea typeface="맑은 고딕"/>
              </a:rPr>
              <a:t>• 이전(v2)의 가중 점수는 지표 하나가 아주 나빠도 다른 지표가 0에 가까우면 ★★★이 가능했다. AND 조건은 그 경우를 막는다.</a:t>
            </a:r>
          </a:p>
        </p:txBody>
      </p:sp>
      <p:sp>
        <p:nvSpPr>
          <p:cNvPr id="11" name="r"/>
          <p:cNvSpPr txBox="1"/>
          <p:nvPr/>
        </p:nvSpPr>
        <p:spPr>
          <a:xfrm>
            <a:off x="6199632" y="4754880"/>
            <a:ext cx="5596128" cy="164592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주의</a:t>
            </a:r>
          </a:p>
          <a:p>
            <a:pPr algn="l">
              <a:spcAft>
                <a:spcPts val="250"/>
              </a:spcAft>
            </a:pPr>
            <a:r>
              <a:rPr sz="950" b="0">
                <a:solidFill>
                  <a:srgbClr val="000000"/>
                </a:solidFill>
                <a:latin typeface="맑은 고딕"/>
                <a:ea typeface="맑은 고딕"/>
              </a:rPr>
              <a:t>• DP4 후보2는 module 2.30이 ★★★ 경계 2를 넘어 ★★이다(비용 $0.48, 공수 0.15 MM은 ★★★). DP4의 시나리오 가중(S2~S4 ×2, module 1.9)을 쓰면 ★★★이다. 지금은 DP1·DP2와 같은 단순 평균을 쓴다.</a:t>
            </a:r>
          </a:p>
          <a:p>
            <a:pPr algn="l">
              <a:spcAft>
                <a:spcPts val="250"/>
              </a:spcAft>
            </a:pPr>
            <a:r>
              <a:rPr sz="950" b="0">
                <a:solidFill>
                  <a:srgbClr val="000000"/>
                </a:solidFill>
                <a:latin typeface="맑은 고딕"/>
                <a:ea typeface="맑은 고딕"/>
              </a:rPr>
              <a:t>• DP1 C2는 공수 0.51 MM이 경계 0.5를 근소하게(2%) 넘어 ★★다. 비용·공수·module을 하나의 비중으로 합치지 않으므로 우선순위(토큰 비용 &gt; 공수 &gt; module)는 별에 반영되지 않는다.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QA5 기능 정확성 — 공통 별 기준 (DP3)</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F1 상대 하락률 = (압축 전 + full recompute의 F1 − 후보 F1) ÷ 압축 전 + full recompute의 F1 · 같은 task·dataset·모델·precision</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한도 1%는 PPT DP3 설계 장의 Functional Correctness(F1 score) 지표와 같은 값이다.</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소유자 확정(2026-10-09) · KVzip, NeurIPS 2025 (neurips.cc/virtual/2025/oral/118742) [초록 확인] · DP3/accuracy</a:t>
            </a:r>
          </a:p>
        </p:txBody>
      </p:sp>
      <p:graphicFrame>
        <p:nvGraphicFramePr>
          <p:cNvPr id="7" name="tbl"/>
          <p:cNvGraphicFramePr>
            <a:graphicFrameLocks noGrp="1"/>
          </p:cNvGraphicFramePr>
          <p:nvPr/>
        </p:nvGraphicFramePr>
        <p:xfrm>
          <a:off x="365760" y="1280160"/>
          <a:ext cx="11457432" cy="2286000"/>
        </p:xfrm>
        <a:graphic>
          <a:graphicData uri="http://schemas.openxmlformats.org/drawingml/2006/table">
            <a:tbl>
              <a:tblPr firstRow="0" bandRow="0">
                <a:tableStyleId>{5C22544A-7EE6-4342-B048-85BDC9FD1C3A}</a:tableStyleId>
              </a:tblPr>
              <a:tblGrid>
                <a:gridCol w="914400"/>
                <a:gridCol w="2377440"/>
                <a:gridCol w="6035040"/>
                <a:gridCol w="2130552"/>
              </a:tblGrid>
              <a:tr h="310896">
                <a:tc>
                  <a:txBody>
                    <a:bodyPr wrap="square"/>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왜 이 값인가 (정량 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출처 · 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하락 ≤ 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소유자가 정한 허용 정확도 저하 한도(압축 전 + full recompute 대비 F1 1% 이내, 상대 비율, 2026-10-09 확정)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소유자 결정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1% &lt; 하락 ≤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제안값: 허용 한도의 3배. '눈에 띄는 열화'가 시작되는 구간으로 본다. task의 run-to-run F1 변동을 재서 하한을 확인해야 한다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정책 선택, 소유자 결정 필요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하락 &gt;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허용 한도를 크게 넘은 정확도 손실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sp>
        <p:nvSpPr>
          <p:cNvPr id="8" name="l"/>
          <p:cNvSpPr txBox="1"/>
          <p:nvPr/>
        </p:nvSpPr>
        <p:spPr>
          <a:xfrm>
            <a:off x="365760"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2F5597"/>
                </a:solidFill>
                <a:latin typeface="맑은 고딕"/>
                <a:ea typeface="맑은 고딕"/>
              </a:rPr>
              <a:t>지표와 이전 기준</a:t>
            </a:r>
          </a:p>
          <a:p>
            <a:pPr algn="l">
              <a:spcAft>
                <a:spcPts val="250"/>
              </a:spcAft>
            </a:pPr>
            <a:r>
              <a:rPr sz="1050" b="0">
                <a:solidFill>
                  <a:srgbClr val="000000"/>
                </a:solidFill>
                <a:latin typeface="맑은 고딕"/>
                <a:ea typeface="맑은 고딕"/>
              </a:rPr>
              <a:t>• DP3 전용 QA다. 다른 DP는 출력이 변하지 않는 것이 전제이므로 bit-exact 확인으로 다룬다.</a:t>
            </a:r>
          </a:p>
          <a:p>
            <a:pPr algn="l">
              <a:spcAft>
                <a:spcPts val="250"/>
              </a:spcAft>
            </a:pPr>
            <a:r>
              <a:rPr sz="1050" b="0">
                <a:solidFill>
                  <a:srgbClr val="000000"/>
                </a:solidFill>
                <a:latin typeface="맑은 고딕"/>
                <a:ea typeface="맑은 고딕"/>
              </a:rPr>
              <a:t>• Baseline은 '압축 전 + full recompute'다. 후보의 F1이 올라가는 경우는 하락 0%로 본다.</a:t>
            </a:r>
          </a:p>
          <a:p>
            <a:pPr algn="l">
              <a:spcAft>
                <a:spcPts val="250"/>
              </a:spcAft>
            </a:pPr>
            <a:r>
              <a:rPr sz="1050" b="0">
                <a:solidFill>
                  <a:srgbClr val="000000"/>
                </a:solidFill>
                <a:latin typeface="맑은 고딕"/>
                <a:ea typeface="맑은 고딕"/>
              </a:rPr>
              <a:t>• DP3 측정: 소형 모델(Qwen2.5-1.5B) eviction micro-benchmark + 매핑. 시뮬레이터로는 정확도를 알 수 없다.</a:t>
            </a:r>
          </a:p>
        </p:txBody>
      </p:sp>
      <p:sp>
        <p:nvSpPr>
          <p:cNvPr id="9" name="r"/>
          <p:cNvSpPr txBox="1"/>
          <p:nvPr/>
        </p:nvSpPr>
        <p:spPr>
          <a:xfrm>
            <a:off x="6199632"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C00000"/>
                </a:solidFill>
                <a:latin typeface="맑은 고딕"/>
                <a:ea typeface="맑은 고딕"/>
              </a:rPr>
              <a:t>정직한 주의</a:t>
            </a:r>
          </a:p>
          <a:p>
            <a:pPr algn="l">
              <a:spcAft>
                <a:spcPts val="250"/>
              </a:spcAft>
            </a:pPr>
            <a:r>
              <a:rPr sz="1050" b="0">
                <a:solidFill>
                  <a:srgbClr val="000000"/>
                </a:solidFill>
                <a:latin typeface="맑은 고딕"/>
                <a:ea typeface="맑은 고딕"/>
              </a:rPr>
              <a:t>• 두 번째 경계 3%는 데이터로 도출하지 못했다. 문헌은 KV 압축을 '무시할 만한 저하'로 보고하지만(KVzip: 3~4배 KV 축소, NeurIPS 2025) F1 하락의 일반적 임계는 없다.</a:t>
            </a:r>
          </a:p>
          <a:p>
            <a:pPr algn="l">
              <a:spcAft>
                <a:spcPts val="250"/>
              </a:spcAft>
            </a:pPr>
            <a:r>
              <a:rPr sz="1050" b="0">
                <a:solidFill>
                  <a:srgbClr val="000000"/>
                </a:solidFill>
                <a:latin typeface="맑은 고딕"/>
                <a:ea typeface="맑은 고딕"/>
              </a:rPr>
              <a:t>• 소형 모델·단락 1.5K token·재계산 없는 eviction이라 DP3의 32K~256K 문맥을 대표하지 않는다. 별은 가정 의존이다.</a:t>
            </a:r>
          </a:p>
          <a:p>
            <a:pPr algn="l">
              <a:spcAft>
                <a:spcPts val="250"/>
              </a:spcAft>
            </a:pPr>
            <a:r>
              <a:rPr sz="1050" b="0">
                <a:solidFill>
                  <a:srgbClr val="000000"/>
                </a:solidFill>
                <a:latin typeface="맑은 고딕"/>
                <a:ea typeface="맑은 고딕"/>
              </a:rPr>
              <a:t>• query-agnostic(C1)이 query-aware(C2)보다 정확도가 낮다는 가정은 이 측정으로 확인한다.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QA6 확장성 — 공통 별 기준 (DP4)</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SE(N) = Goodput(N) ÷ ((N / N0) × Goodput(N0)) · N0 = 2 노드 · 별은 SE(N_max=16) · N &gt; 2는 모델 외삽(시뮬레이션)</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DP4 PPT 31장의 SE 곡선과 같은 값이다.</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cvw.cac.cornell.edu/parallel/efficiency/scaling · arxiv.org/abs/1704.03329 · arxiv.org/abs/2409.16053</a:t>
            </a:r>
          </a:p>
        </p:txBody>
      </p:sp>
      <p:graphicFrame>
        <p:nvGraphicFramePr>
          <p:cNvPr id="7" name="tbl"/>
          <p:cNvGraphicFramePr>
            <a:graphicFrameLocks noGrp="1"/>
          </p:cNvGraphicFramePr>
          <p:nvPr/>
        </p:nvGraphicFramePr>
        <p:xfrm>
          <a:off x="365760" y="1280160"/>
          <a:ext cx="11457432" cy="2286000"/>
        </p:xfrm>
        <a:graphic>
          <a:graphicData uri="http://schemas.openxmlformats.org/drawingml/2006/table">
            <a:tbl>
              <a:tblPr firstRow="0" bandRow="0">
                <a:tableStyleId>{5C22544A-7EE6-4342-B048-85BDC9FD1C3A}</a:tableStyleId>
              </a:tblPr>
              <a:tblGrid>
                <a:gridCol w="914400"/>
                <a:gridCol w="2377440"/>
                <a:gridCol w="6035040"/>
                <a:gridCol w="2130552"/>
              </a:tblGrid>
              <a:tr h="310896">
                <a:tc>
                  <a:txBody>
                    <a:bodyPr wrap="square"/>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왜 이 값인가 (정량 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출처 · 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SE(N_max) ≥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서버를 N배로 늘릴 때 처리량 손실 10% 이내(16노드에서 14.4노드분 효과). 병렬 효율 논문에서 '효율적'이라 보고할 때 흔히 쓰는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Cornell CVW · arXiv 1704.03329 [검색 확인]. 90%는 보고 관행이지 공식 표준이 아님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SE(N_max) 70 ~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확장은 되지만 조율 계층이 병목 조짐. 70% 하한 = 10대 증설에 7대분 효과(3대분 낭비). 매우 큰 규모에서 70~80%도 '우수'로 보고한 사례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arXiv 2409.16053 AthenaK (65,536 GPU에서 80%) [검색 확인]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SE(N_max) &lt; 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손실 30% 초과 = 증설 비용의 1/3 이상 낭비. 조율 계층이 병목이다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공통 QA 문서 §13 임시 정의(DP4 초안 값) [내부]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sp>
        <p:nvSpPr>
          <p:cNvPr id="8" name="l"/>
          <p:cNvSpPr txBox="1"/>
          <p:nvPr/>
        </p:nvSpPr>
        <p:spPr>
          <a:xfrm>
            <a:off x="365760"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2F5597"/>
                </a:solidFill>
                <a:latin typeface="맑은 고딕"/>
                <a:ea typeface="맑은 고딕"/>
              </a:rPr>
              <a:t>지표와 이전 기준</a:t>
            </a:r>
          </a:p>
          <a:p>
            <a:pPr algn="l">
              <a:spcAft>
                <a:spcPts val="250"/>
              </a:spcAft>
            </a:pPr>
            <a:r>
              <a:rPr sz="1050" b="0">
                <a:solidFill>
                  <a:srgbClr val="000000"/>
                </a:solidFill>
                <a:latin typeface="맑은 고딕"/>
                <a:ea typeface="맑은 고딕"/>
              </a:rPr>
              <a:t>• 이전: DP4가 이 기준. DP2는 결과 문서에서 η(N=32) 0.90/0.70을 제안값으로 두었다(경계 같음, N_max만 다름. DP2는 PPT 선정 QA가 아님). N_max를 16으로 통일한다.</a:t>
            </a:r>
          </a:p>
          <a:p>
            <a:pPr algn="l">
              <a:spcAft>
                <a:spcPts val="250"/>
              </a:spcAft>
            </a:pPr>
            <a:r>
              <a:rPr sz="1050" b="0">
                <a:solidFill>
                  <a:srgbClr val="000000"/>
                </a:solidFill>
                <a:latin typeface="맑은 고딕"/>
                <a:ea typeface="맑은 고딕"/>
              </a:rPr>
              <a:t>• 결과: DP4 후보1 SE 93%(★★★), 후보2 64%(★). Baseline(무상태 LB)은 97%.</a:t>
            </a:r>
          </a:p>
          <a:p>
            <a:pPr algn="l">
              <a:spcAft>
                <a:spcPts val="250"/>
              </a:spcAft>
            </a:pPr>
            <a:r>
              <a:rPr sz="1050" b="0">
                <a:solidFill>
                  <a:srgbClr val="000000"/>
                </a:solidFill>
                <a:latin typeface="맑은 고딕"/>
                <a:ea typeface="맑은 고딕"/>
              </a:rPr>
              <a:t>• 레플리카가 상태를 공유하지 않는 후보2는 서버가 N배면 레플리카당 갱신 부하가 약 N배가 된다.</a:t>
            </a:r>
          </a:p>
        </p:txBody>
      </p:sp>
      <p:sp>
        <p:nvSpPr>
          <p:cNvPr id="9" name="r"/>
          <p:cNvSpPr txBox="1"/>
          <p:nvPr/>
        </p:nvSpPr>
        <p:spPr>
          <a:xfrm>
            <a:off x="6199632"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C00000"/>
                </a:solidFill>
                <a:latin typeface="맑은 고딕"/>
                <a:ea typeface="맑은 고딕"/>
              </a:rPr>
              <a:t>정직한 주의</a:t>
            </a:r>
          </a:p>
          <a:p>
            <a:pPr algn="l">
              <a:spcAft>
                <a:spcPts val="250"/>
              </a:spcAft>
            </a:pPr>
            <a:r>
              <a:rPr sz="1050" b="0">
                <a:solidFill>
                  <a:srgbClr val="000000"/>
                </a:solidFill>
                <a:latin typeface="맑은 고딕"/>
                <a:ea typeface="맑은 고딕"/>
              </a:rPr>
              <a:t>• 후보2의 ★은 보완(샤딩 구조) 전 설계 기준이다. 후보1의 Router도 전체 이벤트를 처리하는 구조라 비슷한 한계가 있을 수 있다.</a:t>
            </a:r>
          </a:p>
          <a:p>
            <a:pPr algn="l">
              <a:spcAft>
                <a:spcPts val="250"/>
              </a:spcAft>
            </a:pPr>
            <a:r>
              <a:rPr sz="1050" b="0">
                <a:solidFill>
                  <a:srgbClr val="000000"/>
                </a:solidFill>
                <a:latin typeface="맑은 고딕"/>
                <a:ea typeface="맑은 고딕"/>
              </a:rPr>
              <a:t>• N &gt; 2는 실측이 아니라 모델 외삽이다(C-04). 90%는 HPC 관행이며 공식 기준은 찾지 못했다.</a:t>
            </a:r>
          </a:p>
          <a:p>
            <a:pPr algn="l">
              <a:spcAft>
                <a:spcPts val="250"/>
              </a:spcAft>
            </a:pPr>
            <a:r>
              <a:rPr sz="1050" b="0">
                <a:solidFill>
                  <a:srgbClr val="000000"/>
                </a:solidFill>
                <a:latin typeface="맑은 고딕"/>
                <a:ea typeface="맑은 고딕"/>
              </a:rPr>
              <a:t>• 공통 룰 문서에는 §13이 없다(PPT가 인용한 DP4 초안의 절 번호).</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적용 결과 — 정합성 점검 (공통 기준 v3)</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기존 별과 비교 · QA1 4/3, QA2 개선 + SLO 강등, QA4 AND 조건 · DP2는 노드 내 결정 평가(QA1~QA4) · DP3는 QA1 추가</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DP2·DP3·DP4는 선정 QA만 합산했다(DP2 QA1~QA4, DP3 QA1·QA2·QA3·QA5). DP4는 현 DP4(요청 조율)이며 근거는 PPT 26~31장이다. DP3 QA5는 소형 모델 실측 매핑이다.</a:t>
            </a:r>
          </a:p>
        </p:txBody>
      </p:sp>
      <p:graphicFrame>
        <p:nvGraphicFramePr>
          <p:cNvPr id="6" name="tbl"/>
          <p:cNvGraphicFramePr>
            <a:graphicFrameLocks noGrp="1"/>
          </p:cNvGraphicFramePr>
          <p:nvPr/>
        </p:nvGraphicFramePr>
        <p:xfrm>
          <a:off x="365760" y="1188720"/>
          <a:ext cx="11457432" cy="2862072"/>
        </p:xfrm>
        <a:graphic>
          <a:graphicData uri="http://schemas.openxmlformats.org/drawingml/2006/table">
            <a:tbl>
              <a:tblPr firstRow="0" bandRow="0">
                <a:tableStyleId>{5C22544A-7EE6-4342-B048-85BDC9FD1C3A}</a:tableStyleId>
              </a:tblPr>
              <a:tblGrid>
                <a:gridCol w="2377440"/>
                <a:gridCol w="868680"/>
                <a:gridCol w="868680"/>
                <a:gridCol w="868680"/>
                <a:gridCol w="868680"/>
                <a:gridCol w="868680"/>
                <a:gridCol w="868680"/>
                <a:gridCol w="777240"/>
                <a:gridCol w="777240"/>
                <a:gridCol w="2313432"/>
              </a:tblGrid>
              <a:tr h="310896">
                <a:tc>
                  <a:txBody>
                    <a:bodyPr wrap="square"/>
                    <a:lstStyle/>
                    <a:p>
                      <a:pPr algn="ctr"/>
                      <a:r>
                        <a:rPr sz="900" b="1">
                          <a:solidFill>
                            <a:srgbClr val="FFFFFF"/>
                          </a:solidFill>
                          <a:latin typeface="맑은 고딕"/>
                          <a:ea typeface="맑은 고딕"/>
                        </a:rPr>
                        <a:t>DP · 후보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합계 v3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기존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283464">
                <a:tc>
                  <a:txBody>
                    <a:bodyPr wrap="square"/>
                    <a:lstStyle/>
                    <a:p>
                      <a:pPr algn="l"/>
                      <a:r>
                        <a:rPr sz="900" b="0">
                          <a:solidFill>
                            <a:srgbClr val="000000"/>
                          </a:solidFill>
                          <a:latin typeface="맑은 고딕"/>
                          <a:ea typeface="맑은 고딕"/>
                        </a:rPr>
                        <a:t>DP1 C1 자원 상태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DP1 C2 (동점 → QA1)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DP1 C2 AI Data 특성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DP2 C1 스케줄링 시점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DP2 C1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DP2 C2 사전 계획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DP4 후보1 OSS 확장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DP4 C1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DP4 후보2 자체 구현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DP3 C1 Offline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DP3 C1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DP3 C2 Online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(참고) DP1 1안 Affinity 없음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보완 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읽는 법</a:t>
            </a:r>
          </a:p>
          <a:p>
            <a:pPr algn="l">
              <a:spcAft>
                <a:spcPts val="250"/>
              </a:spcAft>
            </a:pPr>
            <a:r>
              <a:rPr sz="950" b="0">
                <a:solidFill>
                  <a:srgbClr val="000000"/>
                </a:solidFill>
                <a:latin typeface="맑은 고딕"/>
                <a:ea typeface="맑은 고딕"/>
              </a:rPr>
              <a:t>• DP1: C1 10 → 9, C2 9 → 9로 동점이 되어 QA 우선순위(QA1)에서 C2가 앞선다. 이전에는 C1(합계 10 대 9)이었다.</a:t>
            </a:r>
          </a:p>
          <a:p>
            <a:pPr algn="l">
              <a:spcAft>
                <a:spcPts val="250"/>
              </a:spcAft>
            </a:pPr>
            <a:r>
              <a:rPr sz="950" b="0">
                <a:solidFill>
                  <a:srgbClr val="000000"/>
                </a:solidFill>
                <a:latin typeface="맑은 고딕"/>
                <a:ea typeface="맑은 고딕"/>
              </a:rPr>
              <a:t>• DP4: 후보1 8, 후보2 7(QA2 후보1 ★, 후보2 ★★, QA4 후보2 ★★). 합계로 후보1이 앞선다. 이전에는 동점에서 후보2였다.</a:t>
            </a:r>
          </a:p>
          <a:p>
            <a:pPr algn="l">
              <a:spcAft>
                <a:spcPts val="250"/>
              </a:spcAft>
            </a:pPr>
            <a:r>
              <a:rPr sz="950" b="0">
                <a:solidFill>
                  <a:srgbClr val="000000"/>
                </a:solidFill>
                <a:latin typeface="맑은 고딕"/>
                <a:ea typeface="맑은 고딕"/>
              </a:rPr>
              <a:t>• DP2: 한 노드 안의 결정 평가로 바꾸고 QA1~QA4를 쓴다(합계 9 대 8, 1안). DP3: QA1(처리량)을 추가해 C1 10 대 C2 9.</a:t>
            </a:r>
          </a:p>
        </p:txBody>
      </p:sp>
      <p:sp>
        <p:nvSpPr>
          <p:cNvPr id="8" name="r"/>
          <p:cNvSpPr txBox="1"/>
          <p:nvPr/>
        </p:nvSpPr>
        <p:spPr>
          <a:xfrm>
            <a:off x="6199632"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주의</a:t>
            </a:r>
          </a:p>
          <a:p>
            <a:pPr algn="l">
              <a:spcAft>
                <a:spcPts val="250"/>
              </a:spcAft>
            </a:pPr>
            <a:r>
              <a:rPr sz="950" b="0">
                <a:solidFill>
                  <a:srgbClr val="000000"/>
                </a:solidFill>
                <a:latin typeface="맑은 고딕"/>
                <a:ea typeface="맑은 고딕"/>
              </a:rPr>
              <a:t>• 선택이 바뀌는 DP가 있다(DP1 C1→C2, DP4 후보2→후보1). 원인은 QA1 경계 4/3(C2가 ★★★), QA2의 SLO 강등(DP4 후보1 TTFT 2,060 ms), QA4 AND 조건(DP4 후보2 module 2.30)이다.</a:t>
            </a:r>
          </a:p>
          <a:p>
            <a:pPr algn="l">
              <a:spcAft>
                <a:spcPts val="250"/>
              </a:spcAft>
            </a:pPr>
            <a:r>
              <a:rPr sz="950" b="0">
                <a:solidFill>
                  <a:srgbClr val="000000"/>
                </a:solidFill>
                <a:latin typeface="맑은 고딕"/>
                <a:ea typeface="맑은 고딕"/>
              </a:rPr>
              <a:t>• DP4 QA2는 TTFT 2 s 경계를 3% 넘은 것이 별 두 단계 차이를 만든다. DP4 시나리오 가중(S2~S4 ×2)을 쓰면 후보2 QA4가 ★★★이 되어 8 대 8, QA2 우선순위에서 후보2가 앞선다.</a:t>
            </a:r>
          </a:p>
          <a:p>
            <a:pPr algn="l">
              <a:spcAft>
                <a:spcPts val="250"/>
              </a:spcAft>
            </a:pPr>
            <a:r>
              <a:rPr sz="950" b="0">
                <a:solidFill>
                  <a:srgbClr val="000000"/>
                </a:solidFill>
                <a:latin typeface="맑은 고딕"/>
                <a:ea typeface="맑은 고딕"/>
              </a:rPr>
              <a:t>• DP4 QA1·QA2·QA6의 Baseline은 실측이지만 후보는 시뮬레이터·추정이다 [A+C]. DP1·DP2·DP3은 시뮬레이션 [B+C]다.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DP1 평가 결과 — 공통 기준 v3 (H100 + B200 통합)</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C1 자원 상태 기반(+ Data-Memory Affinity) vs C2 AI Data 특성 기반 · 괄호 = 후보 ÷ Baseline(이동 없는 정적 배치) · 비교 가능 21쌍 기하평균 · 시뮬레이션 [B+C]</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DP1은 Baseline 실측이 없어 모든 값이 [B+C]다. 근거: DP1/results/2026-10-02_dp1-qa-evaluation.md, 별은 tools/unified_stars.py(v3).</a:t>
            </a:r>
          </a:p>
        </p:txBody>
      </p:sp>
      <p:graphicFrame>
        <p:nvGraphicFramePr>
          <p:cNvPr id="6" name="tbl"/>
          <p:cNvGraphicFramePr>
            <a:graphicFrameLocks noGrp="1"/>
          </p:cNvGraphicFramePr>
          <p:nvPr/>
        </p:nvGraphicFramePr>
        <p:xfrm>
          <a:off x="365760" y="1188720"/>
          <a:ext cx="11457432" cy="2999232"/>
        </p:xfrm>
        <a:graphic>
          <a:graphicData uri="http://schemas.openxmlformats.org/drawingml/2006/table">
            <a:tbl>
              <a:tblPr firstRow="0" bandRow="0">
                <a:tableStyleId>{5C22544A-7EE6-4342-B048-85BDC9FD1C3A}</a:tableStyleId>
              </a:tblPr>
              <a:tblGrid>
                <a:gridCol w="1554480"/>
                <a:gridCol w="2834640"/>
                <a:gridCol w="1645920"/>
                <a:gridCol w="2743200"/>
                <a:gridCol w="2679192"/>
              </a:tblGrid>
              <a:tr h="310896">
                <a:tc>
                  <a:txBody>
                    <a:bodyPr wrap="square"/>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 (정적 배치)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C1 자원 상태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C2 AI Data 특성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84048">
                <a:tc>
                  <a:txBody>
                    <a:bodyPr wrap="square"/>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336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436 (×1.298)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478 (×1.423)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1,128 (×1.04)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785 (×0.72)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18.3 (×1.07)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16.0 (×0.94)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(r=0.95,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(r=1.21,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QA3 자원 (HBM)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HBM AI Data 시간평균 GiB (용량 대비 %, 감소율)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146.6 GiB (용량의 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142.7 GiB (용량의 50%, 감소율 +2.7%)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178.0 GiB (용량의 62%, 감소율 -21.4%)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비용($) / 공수(MM) / module — AND 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$0.39 / 0.38 / 1.75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$0.49 / 0.51 / 2.50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QA2 + QA3 + QA4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160520"/>
            <a:ext cx="5596128" cy="224028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읽는 법</a:t>
            </a:r>
          </a:p>
          <a:p>
            <a:pPr algn="l">
              <a:spcAft>
                <a:spcPts val="250"/>
              </a:spcAft>
            </a:pPr>
            <a:r>
              <a:rPr sz="950" b="0">
                <a:solidFill>
                  <a:srgbClr val="000000"/>
                </a:solidFill>
                <a:latin typeface="맑은 고딕"/>
                <a:ea typeface="맑은 고딕"/>
              </a:rPr>
              <a:t>• 선택: 합계 9 대 9 동점 → QA 우선순위(QA1 &gt; QA2 &gt; QA3 &gt; QA4)에서 C2. C2는 처리량(×1.42)·지연(TTFT P99 ×0.72)이 좋고, C1은 HBM 점유와 변경 용이성이 낫다.</a:t>
            </a:r>
          </a:p>
          <a:p>
            <a:pPr algn="l">
              <a:spcAft>
                <a:spcPts val="250"/>
              </a:spcAft>
            </a:pPr>
            <a:r>
              <a:rPr sz="950" b="0">
                <a:solidFill>
                  <a:srgbClr val="000000"/>
                </a:solidFill>
                <a:latin typeface="맑은 고딕"/>
                <a:ea typeface="맑은 고딕"/>
              </a:rPr>
              <a:t>• C2는 데이터별 접근 패턴으로 hot 데이터를 미리 HBM에 올려 TTFT·처리량이 좋다. 대가로 HBM 점유가 62%(C1 50%)이고 이동량(1,339 대 138 GiB)·결정 연산이 크다(부록 해석 장).</a:t>
            </a:r>
          </a:p>
          <a:p>
            <a:pPr algn="l">
              <a:spcAft>
                <a:spcPts val="250"/>
              </a:spcAft>
            </a:pPr>
            <a:r>
              <a:rPr sz="950" b="0">
                <a:solidFill>
                  <a:srgbClr val="000000"/>
                </a:solidFill>
                <a:latin typeface="맑은 고딕"/>
                <a:ea typeface="맑은 고딕"/>
              </a:rPr>
              <a:t>• Affinity 없는 C1(1안)은 ×1.054, TTFT ×1.27, 합계 8로 보완 전 버전이다.</a:t>
            </a:r>
          </a:p>
        </p:txBody>
      </p:sp>
      <p:sp>
        <p:nvSpPr>
          <p:cNvPr id="8" name="r"/>
          <p:cNvSpPr txBox="1"/>
          <p:nvPr/>
        </p:nvSpPr>
        <p:spPr>
          <a:xfrm>
            <a:off x="6199632" y="4160520"/>
            <a:ext cx="5596128" cy="224028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QA1 C1 ×1.298은 ★★★ 경계 4/3(≈1.33) 아래 2.7%, C2 ×1.423은 위 6.7%다. 별 차이가 이 경계에 의존한다.</a:t>
            </a:r>
          </a:p>
          <a:p>
            <a:pPr algn="l">
              <a:spcAft>
                <a:spcPts val="250"/>
              </a:spcAft>
            </a:pPr>
            <a:r>
              <a:rPr sz="950" b="0">
                <a:solidFill>
                  <a:srgbClr val="000000"/>
                </a:solidFill>
                <a:latin typeface="맑은 고딕"/>
                <a:ea typeface="맑은 고딕"/>
              </a:rPr>
              <a:t>• QA2 C1은 TTFT P99가 Baseline보다 ×1.04 나쁘고(P50은 ×0.44로 좋음) r = 0.95라 ★★다.</a:t>
            </a:r>
          </a:p>
          <a:p>
            <a:pPr algn="l">
              <a:spcAft>
                <a:spcPts val="250"/>
              </a:spcAft>
            </a:pPr>
            <a:r>
              <a:rPr sz="950" b="0">
                <a:solidFill>
                  <a:srgbClr val="000000"/>
                </a:solidFill>
                <a:latin typeface="맑은 고딕"/>
                <a:ea typeface="맑은 고딕"/>
              </a:rPr>
              <a:t>• QA3는 HBM에 올라간 모든 AI Data(KV·LoRA·MoE·RAG 등)의 평균이다. 비교 가능 21쌍 중 Dynamic 시나리오가 이득을 끌어올리고, 공통 3개는 포화(×1.00)다.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DP2 평가 결과 — 공통 기준 v3 (노드 내 결정, H100 + B200 통합)</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1안 중앙 Dispatcher(스케줄링 시점) vs 2안 Blackboard · 한 노드 안의 결정 · 괄호 = 후보 ÷ Baseline · [B+C]</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선정 QA: QA1, QA2, QA3(HBM 점유), QA4(변경 용이성, 소유자 요청으로 추가). 근거: DP2/results/2026-10-10_dp2-arch-styles.md, 별은 tools/unified_stars.py(v3)</a:t>
            </a:r>
          </a:p>
        </p:txBody>
      </p:sp>
      <p:graphicFrame>
        <p:nvGraphicFramePr>
          <p:cNvPr id="6" name="tbl"/>
          <p:cNvGraphicFramePr>
            <a:graphicFrameLocks noGrp="1"/>
          </p:cNvGraphicFramePr>
          <p:nvPr/>
        </p:nvGraphicFramePr>
        <p:xfrm>
          <a:off x="365760" y="1188720"/>
          <a:ext cx="11457432" cy="2871216"/>
        </p:xfrm>
        <a:graphic>
          <a:graphicData uri="http://schemas.openxmlformats.org/drawingml/2006/table">
            <a:tbl>
              <a:tblPr firstRow="0" bandRow="0">
                <a:tableStyleId>{5C22544A-7EE6-4342-B048-85BDC9FD1C3A}</a:tableStyleId>
              </a:tblPr>
              <a:tblGrid>
                <a:gridCol w="1737360"/>
                <a:gridCol w="2926080"/>
                <a:gridCol w="1920240"/>
                <a:gridCol w="2560320"/>
                <a:gridCol w="2313432"/>
              </a:tblGrid>
              <a:tr h="310896">
                <a:tc>
                  <a:txBody>
                    <a:bodyPr wrap="square"/>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Baseline-GPU-local (vLLM As-Is)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1안 중앙 Dispatcher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2안 Blackboard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1,075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1,155 (×1.07)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1,081 (×1.00)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3,529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1,995 (×0.57)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4,053 (×1.15)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14.5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19.5 (×1.34)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15.1 (×1.05)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TTFT &gt; 2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(r=1.15, SLO 충족)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(r=0.91, TTFT &gt; 2 s → ★)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QA3 자원 (HBM)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HBM KV 시간평균 GiB (용량 대비 %, 감소율)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605 GiB (용량의 30%)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586 GiB (용량의 29%, 감소율 +6.0%, 20쌍)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692 GiB (용량의 36%, 감소율 -5.0%, 14쌍)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비용($) / 공수(MM) / module — AND 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$0.39 / 0.31 / 1.75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$0.32 / 0.22 / 1.25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QA2 + QA3 + QA4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297680"/>
            <a:ext cx="5596128" cy="210312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두 구조의 차이</a:t>
            </a:r>
          </a:p>
          <a:p>
            <a:pPr algn="l">
              <a:spcAft>
                <a:spcPts val="250"/>
              </a:spcAft>
            </a:pPr>
            <a:r>
              <a:rPr sz="900" b="0">
                <a:solidFill>
                  <a:srgbClr val="000000"/>
                </a:solidFill>
                <a:latin typeface="맑은 고딕"/>
                <a:ea typeface="맑은 고딕"/>
              </a:rPr>
              <a:t>• 1안(스케줄링 시점 결정): 노드 상태(telemetry)와 Cost 모델로 Turn 시작 때 실행 위치를 정한다. HBM 기회비용 항을 포함해 HBM을 덜 쓰고(감소율 6%) TTFT P99를 줄이며(×0.57) 처리량이 오른다(×1.07).</a:t>
            </a:r>
          </a:p>
          <a:p>
            <a:pPr algn="l">
              <a:spcAft>
                <a:spcPts val="250"/>
              </a:spcAft>
            </a:pPr>
            <a:r>
              <a:rPr sz="900" b="0">
                <a:solidFill>
                  <a:srgbClr val="000000"/>
                </a:solidFill>
                <a:latin typeface="맑은 고딕"/>
                <a:ea typeface="맑은 고딕"/>
              </a:rPr>
              <a:t>• 대가: TPOT P99가 ×1.34 나빠진다(snapshot 주기 50 ms 사이에 쌓인 부하를 Cost 모델이 못 봄). Cost 추정 오차 σ ≥ 0.4에서는 Baseline 아래로 내려간다.</a:t>
            </a:r>
          </a:p>
          <a:p>
            <a:pPr algn="l">
              <a:spcAft>
                <a:spcPts val="250"/>
              </a:spcAft>
            </a:pPr>
            <a:r>
              <a:rPr sz="900" b="0">
                <a:solidFill>
                  <a:srgbClr val="000000"/>
                </a:solidFill>
                <a:latin typeface="맑은 고딕"/>
                <a:ea typeface="맑은 고딕"/>
              </a:rPr>
              <a:t>• 2안(Blackboard): 공유 Task Board에 게시하고 Tier agent가 라이브 측정으로 claim. 신호가 없으면 Baseline과 같은 결정을 하고(×1.00), HBM 압박 시 admission이 요청을 큐에 잡아 TTFT 꼬리가 길어진다(×1.15).</a:t>
            </a:r>
          </a:p>
          <a:p>
            <a:pPr algn="l">
              <a:spcAft>
                <a:spcPts val="250"/>
              </a:spcAft>
            </a:pPr>
            <a:r>
              <a:rPr sz="900" b="0">
                <a:solidFill>
                  <a:srgbClr val="000000"/>
                </a:solidFill>
                <a:latin typeface="맑은 고딕"/>
                <a:ea typeface="맑은 고딕"/>
              </a:rPr>
              <a:t>• QA1·QA3·QA4는 두 후보가 같은 별이다(QA4 두 후보 ★★★: 2안이 module 1.25 대 1.75, 비용 $0.32 대 $0.39로 더 작다). 후보를 가르는 것은 QA2(1안 ★★, 2안 ★)로 합계 9 대 8이다.</a:t>
            </a:r>
          </a:p>
        </p:txBody>
      </p:sp>
      <p:sp>
        <p:nvSpPr>
          <p:cNvPr id="8" name="r"/>
          <p:cNvSpPr txBox="1"/>
          <p:nvPr/>
        </p:nvSpPr>
        <p:spPr>
          <a:xfrm>
            <a:off x="6199632" y="4297680"/>
            <a:ext cx="5596128" cy="2103120"/>
          </a:xfrm>
          <a:prstGeom prst="rect">
            <a:avLst/>
          </a:prstGeom>
          <a:noFill/>
        </p:spPr>
        <p:txBody>
          <a:bodyPr wrap="square" lIns="73152" rIns="73152" tIns="36576" bIns="36576" anchor="t">
            <a:spAutoFit/>
          </a:bodyPr>
          <a:lstStyle/>
          <a:p>
            <a:pPr algn="l">
              <a:spcAft>
                <a:spcPts val="250"/>
              </a:spcAft>
            </a:pPr>
            <a:r>
              <a:rPr sz="100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1안 TTFT P99 1,995 ms는 SLO 2 s를 5 ms 아래다. 경계 바로 아래라 별이 한 번에 두 단계 바뀌는 구간이다(2 s를 넘으면 ★).</a:t>
            </a:r>
          </a:p>
          <a:p>
            <a:pPr algn="l">
              <a:spcAft>
                <a:spcPts val="250"/>
              </a:spcAft>
            </a:pPr>
            <a:r>
              <a:rPr sz="900" b="0">
                <a:solidFill>
                  <a:srgbClr val="000000"/>
                </a:solidFill>
                <a:latin typeface="맑은 고딕"/>
                <a:ea typeface="맑은 고딕"/>
              </a:rPr>
              <a:t>• trade-off는 별에서는 QA2 하나로만 나뉜다: 1안은 TTFT·HBM·처리량을 얻고 TPOT 꼬리(×1.34 대 ×1.05)를 내며, 2안은 변경이 더 쉽다(별은 같음).</a:t>
            </a:r>
          </a:p>
          <a:p>
            <a:pPr algn="l">
              <a:spcAft>
                <a:spcPts val="250"/>
              </a:spcAft>
            </a:pPr>
            <a:r>
              <a:rPr sz="900" b="0">
                <a:solidFill>
                  <a:srgbClr val="000000"/>
                </a:solidFill>
                <a:latin typeface="맑은 고딕"/>
                <a:ea typeface="맑은 고딕"/>
              </a:rPr>
              <a:t>• QA3는 SLO 달성률이 Baseline − 1pp 이상인 쌍만 쓴다(1안 20쌍, 2안 14쌍). 별 집계 비교 가능 21쌍, saturated 11쌍.</a:t>
            </a:r>
          </a:p>
          <a:p>
            <a:pPr algn="l">
              <a:spcAft>
                <a:spcPts val="250"/>
              </a:spcAft>
            </a:pPr>
            <a:r>
              <a:rPr sz="900" b="0">
                <a:solidFill>
                  <a:srgbClr val="000000"/>
                </a:solidFill>
                <a:latin typeface="맑은 고딕"/>
                <a:ea typeface="맑은 고딕"/>
              </a:rPr>
              <a:t>• Cost 추정 오차 σ = 0, telemetry 50 ms, 결정 지연·게시 지연(0.5 ms)은 ASSUMED. KV 외 AI Data(LoRA·MoE)는 고정 배치다.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DP3 평가 결과 — 시뮬레이션 [B+C] (H100 + B200 통합)</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C1 Offline(Query-agnostic) vs C2 Online(Query-aware) · 괄호 = 후보 ÷ Baseline(As-Is, 전체 KV 재사용) · 비교 가능 32쌍 기하평균 · 사전 등록 후 실행</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정확도는 시뮬레이터 밖이다: 소형 모델 eviction 실측(93개) + 매핑 [A 소형 + C]. 근거: DP3/results/2026-10-11_dp3-qa-evaluation.md · DP3/simulation-plan.md(r=0.30, rho=0.15 사전 등록)</a:t>
            </a:r>
          </a:p>
        </p:txBody>
      </p:sp>
      <p:graphicFrame>
        <p:nvGraphicFramePr>
          <p:cNvPr id="6" name="tbl"/>
          <p:cNvGraphicFramePr>
            <a:graphicFrameLocks noGrp="1"/>
          </p:cNvGraphicFramePr>
          <p:nvPr/>
        </p:nvGraphicFramePr>
        <p:xfrm>
          <a:off x="365760" y="1188720"/>
          <a:ext cx="11457432" cy="2679192"/>
        </p:xfrm>
        <a:graphic>
          <a:graphicData uri="http://schemas.openxmlformats.org/drawingml/2006/table">
            <a:tbl>
              <a:tblPr firstRow="0" bandRow="0">
                <a:tableStyleId>{5C22544A-7EE6-4342-B048-85BDC9FD1C3A}</a:tableStyleId>
              </a:tblPr>
              <a:tblGrid>
                <a:gridCol w="1737360"/>
                <a:gridCol w="2926080"/>
                <a:gridCol w="1737360"/>
                <a:gridCol w="2560320"/>
                <a:gridCol w="2496312"/>
              </a:tblGrid>
              <a:tr h="310896">
                <a:tc>
                  <a:txBody>
                    <a:bodyPr wrap="square"/>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 (As-Is)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C1 Offline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C2 Online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38328">
                <a:tc>
                  <a:txBody>
                    <a:bodyPr wrap="square"/>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1,357 (×1.51)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885 (×0.99)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571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268 (×0.47)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693 (×1.21)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8.4 (×1.02)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8.7 (×1.06)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(r=1.44,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(r=0.88,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QA3 자원 (HBM)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HBM KV 시간평균 GiB (용량 대비 %, 감소율)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107.1 GiB (용량의 21%)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30.3 GiB (용량의 6%, 감소율 +71.7%)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85.1 GiB (용량의 16%, 감소율 +20.6%)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QA5 기능 정확성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F1 상대 하락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 (정의)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F1 하락 17.0%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F1 하락 -2.0%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QA2 + QA3 + QA5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114800"/>
            <a:ext cx="5596128" cy="228600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C1은 HBM을 C2보다 훨씬 적게 쓴다: 압축한 Comp.KV(유지 비율 r = 0.30)만 상주시켜 Baseline의 28%, C2는 80%다. TTFT도 줄인다(28/32쌍).</a:t>
            </a:r>
          </a:p>
          <a:p>
            <a:pPr algn="l">
              <a:spcAft>
                <a:spcPts val="250"/>
              </a:spcAft>
            </a:pPr>
            <a:r>
              <a:rPr sz="900" b="0">
                <a:solidFill>
                  <a:srgbClr val="000000"/>
                </a:solidFill>
                <a:latin typeface="맑은 고딕"/>
                <a:ea typeface="맑은 고딕"/>
              </a:rPr>
              <a:t>• C2는 전체 KV를 적재해 상주 객체가 줄지 않고, 점수 계산 뒤 요청의 작업 사본만 줄어든다(HBM 감소율 21%). TTFT는 Baseline보다 나쁘다(32쌍 중 2쌍만 이김).</a:t>
            </a:r>
          </a:p>
          <a:p>
            <a:pPr algn="l">
              <a:spcAft>
                <a:spcPts val="250"/>
              </a:spcAft>
            </a:pPr>
            <a:r>
              <a:rPr sz="900" b="0">
                <a:solidFill>
                  <a:srgbClr val="000000"/>
                </a:solidFill>
                <a:latin typeface="맑은 고딕"/>
                <a:ea typeface="맑은 고딕"/>
              </a:rPr>
              <a:t>• 처리량(QA1)도 C1이 낫다(×1.51 대 ×0.99): 압축으로 요청당 적재·attention이 줄어 SLO를 지키는 도착률이 올라간다. 일부 쌍(CB-3 등)은 도착률이 포화에 못 닿아 ×1.00이다.</a:t>
            </a:r>
          </a:p>
          <a:p>
            <a:pPr algn="l">
              <a:spcAft>
                <a:spcPts val="250"/>
              </a:spcAft>
            </a:pPr>
            <a:r>
              <a:rPr sz="900" b="0">
                <a:solidFill>
                  <a:srgbClr val="000000"/>
                </a:solidFill>
                <a:latin typeface="맑은 고딕"/>
                <a:ea typeface="맑은 고딕"/>
              </a:rPr>
              <a:t>• 정확도는 반대로 C2가 낫다: C2(실제 질의로 점수) F1이 full과 구분되지 않고, C1(대표 질의)은 질의가 멀수록 크게 떨어진다. 이것이 DP3의 trade-off다.</a:t>
            </a:r>
          </a:p>
          <a:p>
            <a:pPr algn="l">
              <a:spcAft>
                <a:spcPts val="250"/>
              </a:spcAft>
            </a:pPr>
            <a:r>
              <a:rPr sz="900" b="0">
                <a:solidFill>
                  <a:srgbClr val="000000"/>
                </a:solidFill>
                <a:latin typeface="맑은 고딕"/>
                <a:ea typeface="맑은 고딕"/>
              </a:rPr>
              <a:t>• Baseline이 못 끝내는 시나리오(ST-11, DY-03 H100)에서 C1은 끝낸다.</a:t>
            </a:r>
          </a:p>
        </p:txBody>
      </p:sp>
      <p:sp>
        <p:nvSpPr>
          <p:cNvPr id="8" name="r"/>
          <p:cNvSpPr txBox="1"/>
          <p:nvPr/>
        </p:nvSpPr>
        <p:spPr>
          <a:xfrm>
            <a:off x="6199632" y="4114800"/>
            <a:ext cx="5596128" cy="2286000"/>
          </a:xfrm>
          <a:prstGeom prst="rect">
            <a:avLst/>
          </a:prstGeom>
          <a:noFill/>
        </p:spPr>
        <p:txBody>
          <a:bodyPr wrap="square" lIns="73152" rIns="73152" tIns="36576" bIns="36576" anchor="t">
            <a:spAutoFit/>
          </a:bodyPr>
          <a:lstStyle/>
          <a:p>
            <a:pPr algn="l">
              <a:spcAft>
                <a:spcPts val="250"/>
              </a:spcAft>
            </a:pPr>
            <a:r>
              <a:rPr sz="100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HBF처럼 GPU가 직접 읽는 tier(ST-06)에서는 Baseline이 적재 비용 없이 서빙해 C1·C2 모두 TTFT가 ×0.09~0.14로 진다. 선택 재계산이 원인이다.</a:t>
            </a:r>
          </a:p>
          <a:p>
            <a:pPr algn="l">
              <a:spcAft>
                <a:spcPts val="250"/>
              </a:spcAft>
            </a:pPr>
            <a:r>
              <a:rPr sz="900" b="0">
                <a:solidFill>
                  <a:srgbClr val="000000"/>
                </a:solidFill>
                <a:latin typeface="맑은 고딕"/>
                <a:ea typeface="맑은 고딕"/>
              </a:rPr>
              <a:t>• 결과는 유지 비율 r = 0.30 가정에 의존한다. r = 0.5이면 H100에서 C1 TTFT 이득이 사라진다(×0.60).</a:t>
            </a:r>
          </a:p>
          <a:p>
            <a:pPr algn="l">
              <a:spcAft>
                <a:spcPts val="250"/>
              </a:spcAft>
            </a:pPr>
            <a:r>
              <a:rPr sz="900" b="0">
                <a:solidFill>
                  <a:srgbClr val="000000"/>
                </a:solidFill>
                <a:latin typeface="맑은 고딕"/>
                <a:ea typeface="맑은 고딕"/>
              </a:rPr>
              <a:t>• C1 사전 압축 비용·저장 공간은 모델링하지 않았다(C1에 유리). C2의 선택 복사 비용도 0으로 뒀다(C2에 유리).</a:t>
            </a:r>
          </a:p>
          <a:p>
            <a:pPr algn="l">
              <a:spcAft>
                <a:spcPts val="250"/>
              </a:spcAft>
            </a:pPr>
            <a:r>
              <a:rPr sz="900" b="0">
                <a:solidFill>
                  <a:srgbClr val="000000"/>
                </a:solidFill>
                <a:latin typeface="맑은 고딕"/>
                <a:ea typeface="맑은 고딕"/>
              </a:rPr>
              <a:t>• QA5는 소형 모델(1.5B)·1.4K token·재계산 없음이라 가정 의존이다. 신뢰구간이 넓다(C1 ±9.5%p).</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DP4 평가 결과 — 공통 기준 v3 (2노드 × 8 GPU 실측 Baseline + 시뮬레이터)</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후보 1 OSS 확장 vs 후보 2 자체 구현 · 괄호 = 후보 ÷ Baseline · QA1·QA2·QA6 [A+C], QA4 [C]</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근거: PPT DP4 26~31장. QA4 값은 변경 시나리오 6개의 단순 평균(DP4 가중 S2~S4 ×2를 쓰면 후보2 module 1.9, 후보2 QA4 ★★★).</a:t>
            </a:r>
          </a:p>
        </p:txBody>
      </p:sp>
      <p:graphicFrame>
        <p:nvGraphicFramePr>
          <p:cNvPr id="6" name="tbl"/>
          <p:cNvGraphicFramePr>
            <a:graphicFrameLocks noGrp="1"/>
          </p:cNvGraphicFramePr>
          <p:nvPr/>
        </p:nvGraphicFramePr>
        <p:xfrm>
          <a:off x="365760" y="1188720"/>
          <a:ext cx="11457432" cy="2871216"/>
        </p:xfrm>
        <a:graphic>
          <a:graphicData uri="http://schemas.openxmlformats.org/drawingml/2006/table">
            <a:tbl>
              <a:tblPr firstRow="0" bandRow="0">
                <a:tableStyleId>{5C22544A-7EE6-4342-B048-85BDC9FD1C3A}</a:tableStyleId>
              </a:tblPr>
              <a:tblGrid>
                <a:gridCol w="1554480"/>
                <a:gridCol w="2834640"/>
                <a:gridCol w="1463040"/>
                <a:gridCol w="2834640"/>
                <a:gridCol w="2770632"/>
              </a:tblGrid>
              <a:tr h="310896">
                <a:tc>
                  <a:txBody>
                    <a:bodyPr wrap="square"/>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 (실측)</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후보 1 OSS 확장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후보 2 자체 구현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3,200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3,360 (×1.05)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3,340 (×1.04)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2,300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2,060 (×0.90)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1,940 (×0.84)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53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48 (×0.91)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48 (×0.91)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TTFT &gt; 2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(r=1.11, TTFT &gt; 2 s → ★)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(r=1.14, SLO 충족)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비용($) / 공수(MM) / module — AND 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$1.02 / 0.16 / 2.7 (★★☆/★★★/★★☆) [C]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$0.48 / 0.15 / 2.3 (★★★/★★★/★★☆) [C]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QA6 확장성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SE(N=16) (%) ↑ (N0 =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93%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64%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QA2 + QA4 + QA6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160520"/>
            <a:ext cx="5596128" cy="224028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읽는 법</a:t>
            </a:r>
          </a:p>
          <a:p>
            <a:pPr algn="l">
              <a:spcAft>
                <a:spcPts val="250"/>
              </a:spcAft>
            </a:pPr>
            <a:r>
              <a:rPr sz="950" b="0">
                <a:solidFill>
                  <a:srgbClr val="000000"/>
                </a:solidFill>
                <a:latin typeface="맑은 고딕"/>
                <a:ea typeface="맑은 고딕"/>
              </a:rPr>
              <a:t>• 선택: 합계 8 대 7 → 후보 1. 후보 2는 결정 hop이 없어 TTFT가 낮고(1,940 ms) 변경 비용이 작지만, 레플리카가 상태를 공유하지 않아 서버 16대에서 SE가 64%로 떨어진다.</a:t>
            </a:r>
          </a:p>
          <a:p>
            <a:pPr algn="l">
              <a:spcAft>
                <a:spcPts val="250"/>
              </a:spcAft>
            </a:pPr>
            <a:r>
              <a:rPr sz="950" b="0">
                <a:solidFill>
                  <a:srgbClr val="000000"/>
                </a:solidFill>
                <a:latin typeface="맑은 고딕"/>
                <a:ea typeface="맑은 고딕"/>
              </a:rPr>
              <a:t>• 후보 1은 OSS 확장이라 확장성이 좋고(SE 93%) 설정·plugin으로 처리되는 변경(S1·S5·S6)이 싸다. 대가로 P/D 경로 hop 때문에 TTFT가 약 120 ms 높다(가설).</a:t>
            </a:r>
          </a:p>
          <a:p>
            <a:pPr algn="l">
              <a:spcAft>
                <a:spcPts val="250"/>
              </a:spcAft>
            </a:pPr>
            <a:r>
              <a:rPr sz="950" b="0">
                <a:solidFill>
                  <a:srgbClr val="000000"/>
                </a:solidFill>
                <a:latin typeface="맑은 고딕"/>
                <a:ea typeface="맑은 고딕"/>
              </a:rPr>
              <a:t>• QA1은 정책이 prefix 재사용을 통제한 공통 부하에서 이득이 작아(×1.04~1.05) 두 후보 모두 ★★다.</a:t>
            </a:r>
          </a:p>
        </p:txBody>
      </p:sp>
      <p:sp>
        <p:nvSpPr>
          <p:cNvPr id="8" name="r"/>
          <p:cNvSpPr txBox="1"/>
          <p:nvPr/>
        </p:nvSpPr>
        <p:spPr>
          <a:xfrm>
            <a:off x="6199632" y="4160520"/>
            <a:ext cx="5596128" cy="224028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후보 1 TTFT P99 2,060 ms는 2 s를 3% 넘어 개선 r = 1.11인데도 QA2 ★로 강등된다(별 두 단계 차이).</a:t>
            </a:r>
          </a:p>
          <a:p>
            <a:pPr algn="l">
              <a:spcAft>
                <a:spcPts val="250"/>
              </a:spcAft>
            </a:pPr>
            <a:r>
              <a:rPr sz="950" b="0">
                <a:solidFill>
                  <a:srgbClr val="000000"/>
                </a:solidFill>
                <a:latin typeface="맑은 고딕"/>
                <a:ea typeface="맑은 고딕"/>
              </a:rPr>
              <a:t>• 후보 2 QA4는 module 2.30이 ★★★ 경계 2를 넘어 ★★이다(비용·공수는 ★★★). DP4 시나리오 가중을 쓰면 ★★★이 되어 합계 8 대 8, QA2에서 후보 2가 앞선다.</a:t>
            </a:r>
          </a:p>
          <a:p>
            <a:pPr algn="l">
              <a:spcAft>
                <a:spcPts val="250"/>
              </a:spcAft>
            </a:pPr>
            <a:r>
              <a:rPr sz="950" b="0">
                <a:solidFill>
                  <a:srgbClr val="000000"/>
                </a:solidFill>
                <a:latin typeface="맑은 고딕"/>
                <a:ea typeface="맑은 고딕"/>
              </a:rPr>
              <a:t>• N &gt; 2 서버 확장과 후보 2는 실측이 아니라 모델이다. 후보 2의 ★(SE)은 샤딩 보완 전 기준이다.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공통 별 기준 v3 — 소유자 결정이 필요한 사항</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결정 전까지는 proposal이다 · 상세는 qa-star-criteria-unified.md §8</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평가 수치(측정·시뮬레이션 값)는 어떤 결정에서도 경계에 맞춰 바꾸지 않는다.</a:t>
            </a:r>
          </a:p>
        </p:txBody>
      </p:sp>
      <p:graphicFrame>
        <p:nvGraphicFramePr>
          <p:cNvPr id="6" name="tbl"/>
          <p:cNvGraphicFramePr>
            <a:graphicFrameLocks noGrp="1"/>
          </p:cNvGraphicFramePr>
          <p:nvPr/>
        </p:nvGraphicFramePr>
        <p:xfrm>
          <a:off x="365760" y="1234440"/>
          <a:ext cx="11457432" cy="4407408"/>
        </p:xfrm>
        <a:graphic>
          <a:graphicData uri="http://schemas.openxmlformats.org/drawingml/2006/table">
            <a:tbl>
              <a:tblPr firstRow="0" bandRow="0">
                <a:tableStyleId>{5C22544A-7EE6-4342-B048-85BDC9FD1C3A}</a:tableStyleId>
              </a:tblPr>
              <a:tblGrid>
                <a:gridCol w="548640"/>
                <a:gridCol w="3291840"/>
                <a:gridCol w="5120640"/>
                <a:gridCol w="2496312"/>
              </a:tblGrid>
              <a:tr h="310896">
                <a:tc>
                  <a:txBody>
                    <a:bodyPr wrap="square"/>
                    <a:lstStyle/>
                    <a:p>
                      <a:pPr algn="ctr"/>
                      <a:r>
                        <a:rPr sz="95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결정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제안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영향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12064">
                <a:tc>
                  <a:txBody>
                    <a:bodyPr wrap="square"/>
                    <a:lstStyle/>
                    <a:p>
                      <a:pPr algn="ctr"/>
                      <a:r>
                        <a:rPr sz="950" b="1">
                          <a:solidFill>
                            <a:srgbClr val="000000"/>
                          </a:solidFill>
                          <a:latin typeface="맑은 고딕"/>
                          <a:ea typeface="맑은 고딕"/>
                        </a:rPr>
                        <a:t>D1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 4/3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요청대로. 기준 근거는 '서버 25% 절감'이라는 환산이며 2.0보다 약하다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DP1 C2, DP2 두 후보 ★★★ (DP1 선택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QA2 TPOT 상한 50 ms(요청의 '2 ms'는 오타로 해석), R 경계 1.20 / 0.90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50 ms로 적용. 확인 필요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DP4 후보1 ★(TTFT 3% 초과), DP1 C1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QA4 AND 조건에서 DP4 시나리오 가중 사용 여부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지금은 DP1·DP2와 같은 단순 평균. 가중(S2~S4 ×2)을 쓰면 후보2 QA4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DP4 선택(후보1 대 후보2)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QA5 두 번째 경계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제안 3%, task의 F1 변동을 재서 확인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DP3 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DP2 정의: 한 노드 안의 결정(2026-10-10 재정의)으로 평가함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PPT 설계 장 6p의 후보 이름(스케줄링 시점 / 사전 계획)과 평가의 후보(중앙 Dispatcher / Blackboard)를 맞춘다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DP2 설계 장 문구</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DP3 r, rho 가정(0.30, 0.15)과 C2의 선택 재계산 필수 여부, HBF에서 압축 끄기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r, rho는 사전 등록값 + 민감도. 재계산·HBF 정책은 설계 결정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DP3 별과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 번호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요구사항 덱의 QA-05 확장성 / QA-06 정확성을 PPT(QA5 정확성, QA6 확장성)에 맞춰 교환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문서 일관성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Evaluation/DP4 폴더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옛 DP4(현 DP6) 자료다. 현 DP4 평가 문서 위치를 정한다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평가 문서 정리</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같은 QA의 절대값이 DP마다 다른 이유</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그래서 별은 절대값이 아니라 '같은 DP의 Baseline 대비'(+ 절대 SLO)로 매긴다 · DP 간 절대값 비교는 하지 않는다</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DP1~DP3 = 시뮬레이션 [B+C], DP4 Baseline = 실측 [A]. 값은 각 DP 결과 문서·PPT 기준.</a:t>
            </a:r>
          </a:p>
        </p:txBody>
      </p:sp>
      <p:graphicFrame>
        <p:nvGraphicFramePr>
          <p:cNvPr id="6" name="tbl"/>
          <p:cNvGraphicFramePr>
            <a:graphicFrameLocks noGrp="1"/>
          </p:cNvGraphicFramePr>
          <p:nvPr/>
        </p:nvGraphicFramePr>
        <p:xfrm>
          <a:off x="365760" y="1188720"/>
          <a:ext cx="11457432" cy="2871216"/>
        </p:xfrm>
        <a:graphic>
          <a:graphicData uri="http://schemas.openxmlformats.org/drawingml/2006/table">
            <a:tbl>
              <a:tblPr firstRow="0" bandRow="0">
                <a:tableStyleId>{5C22544A-7EE6-4342-B048-85BDC9FD1C3A}</a:tableStyleId>
              </a:tblPr>
              <a:tblGrid>
                <a:gridCol w="2011680"/>
                <a:gridCol w="2377440"/>
                <a:gridCol w="2377440"/>
                <a:gridCol w="2377440"/>
                <a:gridCol w="2313432"/>
              </a:tblGrid>
              <a:tr h="310896">
                <a:tc>
                  <a:txBody>
                    <a:bodyPr wrap="square"/>
                    <a:lstStyle/>
                    <a:p>
                      <a:pPr algn="ctr"/>
                      <a:r>
                        <a:rPr sz="900" b="1">
                          <a:solidFill>
                            <a:srgbClr val="FFFFFF"/>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DP1 이기종 메모리 데이터 배치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DP2 노드 내 attention 실행 위치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DP3 KV 압축·재사용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DP4 다중 서버 요청 조율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900" b="1">
                          <a:solidFill>
                            <a:srgbClr val="000000"/>
                          </a:solidFill>
                          <a:latin typeface="맑은 고딕"/>
                          <a:ea typeface="맑은 고딕"/>
                        </a:rPr>
                        <a:t>평가 단위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서버 1대(8-GPU, TP8)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노드 내 결정(통합 노드 1~4개, 노드 선택은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서버 1대(8-GPU, TP8)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2노드 × 8 GPU = 16 GPU (실측)</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대표 워크로드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KV 32K~512K, RAG 8 TiB, LoRA·MoE 혼합, HBM 압박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단일 턴 8K + 멀티턴 History 16K~256K(Tier별 위치)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재사용 문맥 8K~256K, 질의 64~2K</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입력 8K / 출력 256, prefix 재사용 통제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Baseline 정의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정적 배치(이동 없음)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GPU-local (vLLM As-Is, 모든 attention을 GPU에서)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전체 KV 그대로 재사용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상태·캐시 비인지 라우팅</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부하 방식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load sweep 최대(Max SLO goodput)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Baseline 최적 부하(iso-load) + sweep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Baseline 용량의 70%로 고정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load sweep, 서버 수 N 증설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QA1 Baseline (tok/s)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1,075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897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3,200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QA2 Baseline TTFT P99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3,529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571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2,300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QA3 Baseline HBM (GiB)</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146.6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605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107.1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왜 다른가</a:t>
            </a:r>
          </a:p>
          <a:p>
            <a:pPr algn="l">
              <a:spcAft>
                <a:spcPts val="250"/>
              </a:spcAft>
            </a:pPr>
            <a:r>
              <a:rPr sz="950" b="0">
                <a:solidFill>
                  <a:srgbClr val="000000"/>
                </a:solidFill>
                <a:latin typeface="맑은 고딕"/>
                <a:ea typeface="맑은 고딕"/>
              </a:rPr>
              <a:t>• 대상 단위가 다르다: DP4만 16 GPU 클러스터라 처리량이 한 자릿수 배 크다(3,200 vs 336). DP1~DP3는 8-GPU 1대.</a:t>
            </a:r>
          </a:p>
          <a:p>
            <a:pPr algn="l">
              <a:spcAft>
                <a:spcPts val="250"/>
              </a:spcAft>
            </a:pPr>
            <a:r>
              <a:rPr sz="950" b="0">
                <a:solidFill>
                  <a:srgbClr val="000000"/>
                </a:solidFill>
                <a:latin typeface="맑은 고딕"/>
                <a:ea typeface="맑은 고딕"/>
              </a:rPr>
              <a:t>• 워크로드가 다르다: DP1·DP3는 긴 문맥(수십~수백 K token)이라 KV 적재가 지배하고 처리량이 낮다. DP4는 8K라 높다.</a:t>
            </a:r>
          </a:p>
          <a:p>
            <a:pPr algn="l">
              <a:spcAft>
                <a:spcPts val="250"/>
              </a:spcAft>
            </a:pPr>
            <a:r>
              <a:rPr sz="950" b="0">
                <a:solidFill>
                  <a:srgbClr val="000000"/>
                </a:solidFill>
                <a:latin typeface="맑은 고딕"/>
                <a:ea typeface="맑은 고딕"/>
              </a:rPr>
              <a:t>• Baseline이 다르다: 각 DP의 As-Is가 다르므로 '1.0'의 의미가 다르다.</a:t>
            </a:r>
          </a:p>
          <a:p>
            <a:pPr algn="l">
              <a:spcAft>
                <a:spcPts val="250"/>
              </a:spcAft>
            </a:pPr>
            <a:r>
              <a:rPr sz="950" b="0">
                <a:solidFill>
                  <a:srgbClr val="000000"/>
                </a:solidFill>
                <a:latin typeface="맑은 고딕"/>
                <a:ea typeface="맑은 고딕"/>
              </a:rPr>
              <a:t>• 부하를 정하는 방식이 다르다: DP3 TTFT는 용량의 70% 부하의 값이라 낮고, DP1·DP2는 포화 근처의 값이다.</a:t>
            </a:r>
          </a:p>
        </p:txBody>
      </p:sp>
      <p:sp>
        <p:nvSpPr>
          <p:cNvPr id="8" name="r"/>
          <p:cNvSpPr txBox="1"/>
          <p:nvPr/>
        </p:nvSpPr>
        <p:spPr>
          <a:xfrm>
            <a:off x="6199632"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어떻게 읽어야 하나</a:t>
            </a:r>
          </a:p>
          <a:p>
            <a:pPr algn="l">
              <a:spcAft>
                <a:spcPts val="250"/>
              </a:spcAft>
            </a:pPr>
            <a:r>
              <a:rPr sz="950" b="0">
                <a:solidFill>
                  <a:srgbClr val="000000"/>
                </a:solidFill>
                <a:latin typeface="맑은 고딕"/>
                <a:ea typeface="맑은 고딕"/>
              </a:rPr>
              <a:t>• 집계 범위가 다르다: 각 DP의 시나리오 집합(공통 + 전용)에 대한 쌍별 기하평균이라 시나리오 구성에 값이 따라간다.</a:t>
            </a:r>
          </a:p>
          <a:p>
            <a:pPr algn="l">
              <a:spcAft>
                <a:spcPts val="250"/>
              </a:spcAft>
            </a:pPr>
            <a:r>
              <a:rPr sz="950" b="0">
                <a:solidFill>
                  <a:srgbClr val="000000"/>
                </a:solidFill>
                <a:latin typeface="맑은 고딕"/>
                <a:ea typeface="맑은 고딕"/>
              </a:rPr>
              <a:t>• 근거 수준이 다르다: DP4 Baseline은 실측이라 SLO 경계(2 s, 50 ms) 부근이고 DP1~DP3는 시뮬레이션이다.</a:t>
            </a:r>
          </a:p>
          <a:p>
            <a:pPr algn="l">
              <a:spcAft>
                <a:spcPts val="250"/>
              </a:spcAft>
            </a:pPr>
            <a:r>
              <a:rPr sz="950" b="0">
                <a:solidFill>
                  <a:srgbClr val="000000"/>
                </a:solidFill>
                <a:latin typeface="맑은 고딕"/>
                <a:ea typeface="맑은 고딕"/>
              </a:rPr>
              <a:t>• 따라서 같은 QA의 별은 같은 DP 안의 Baseline 대비로 읽어야 하며, DP 간에는 별(기준이 같음)만 비교한다.</a:t>
            </a:r>
          </a:p>
          <a:p>
            <a:pPr algn="l">
              <a:spcAft>
                <a:spcPts val="250"/>
              </a:spcAft>
            </a:pPr>
            <a:r>
              <a:rPr sz="950" b="0">
                <a:solidFill>
                  <a:srgbClr val="000000"/>
                </a:solidFill>
                <a:latin typeface="맑은 고딕"/>
                <a:ea typeface="맑은 고딕"/>
              </a:rPr>
              <a:t>• 공통 시나리오(다음 장)는 DP 간 같은 조건을 보기 위한 최소한의 연결고리다.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공통 시나리오 (CB-1 ~ CB-3)</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모든 DP가 같은 이름·같은 조건으로 도는 3개 시나리오 · 후보가 Baseline보다 나빠지지 않는지(no-harm)와 DP 간 연결을 본다</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정의: doc-mk/Evaluation/common-benchmark.md §2.1. 각 DP의 실현 방식은 DP별 benchmark 문서에 있다.</a:t>
            </a:r>
          </a:p>
        </p:txBody>
      </p:sp>
      <p:graphicFrame>
        <p:nvGraphicFramePr>
          <p:cNvPr id="6" name="tbl"/>
          <p:cNvGraphicFramePr>
            <a:graphicFrameLocks noGrp="1"/>
          </p:cNvGraphicFramePr>
          <p:nvPr/>
        </p:nvGraphicFramePr>
        <p:xfrm>
          <a:off x="365760" y="1188720"/>
          <a:ext cx="11457432" cy="1463040"/>
        </p:xfrm>
        <a:graphic>
          <a:graphicData uri="http://schemas.openxmlformats.org/drawingml/2006/table">
            <a:tbl>
              <a:tblPr firstRow="0" bandRow="0">
                <a:tableStyleId>{5C22544A-7EE6-4342-B048-85BDC9FD1C3A}</a:tableStyleId>
              </a:tblPr>
              <a:tblGrid>
                <a:gridCol w="2194560"/>
                <a:gridCol w="2651760"/>
                <a:gridCol w="3291840"/>
                <a:gridCol w="3319272"/>
              </a:tblGrid>
              <a:tr h="310896">
                <a:tc>
                  <a:txBody>
                    <a:bodyPr wrap="square"/>
                    <a:lstStyle/>
                    <a:p>
                      <a:pPr algn="ctr"/>
                      <a:r>
                        <a:rPr sz="950" b="1">
                          <a:solidFill>
                            <a:srgbClr val="FFFFFF"/>
                          </a:solidFill>
                          <a:latin typeface="맑은 고딕"/>
                          <a:ea typeface="맑은 고딕"/>
                        </a:rPr>
                        <a:t>ID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드러내는 것</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84048">
                <a:tc>
                  <a:txBody>
                    <a:bodyPr wrap="square"/>
                    <a:lstStyle/>
                    <a:p>
                      <a:pPr algn="l"/>
                      <a:r>
                        <a:rPr sz="950" b="1">
                          <a:solidFill>
                            <a:srgbClr val="000000"/>
                          </a:solidFill>
                          <a:latin typeface="맑은 고딕"/>
                          <a:ea typeface="맑은 고딕"/>
                        </a:rPr>
                        <a:t>CB-1 cb_kv_8k_b32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KV만, HBM 압박 고정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입력 8K / 출력 256, 동시 32, HBM 용량 ×0.12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HBM이 빠듯할 때 KV 배치·압축의 효과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CB-2 cb_kv_8k_b32_ramp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CB-1 + HBM 압박이 시간에 따라 증가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같은 KV, HBM 압박 점진 증가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압박 증가에 대한 반응</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CB-3 cb_mixed_8k_b32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 + LoRA + MoE + Agent/Tool 혼합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 외 데이터는 고정 배치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 외 data와 같이 있을 때의 경합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graphicFrame>
        <p:nvGraphicFramePr>
          <p:cNvPr id="7" name="tbl"/>
          <p:cNvGraphicFramePr>
            <a:graphicFrameLocks noGrp="1"/>
          </p:cNvGraphicFramePr>
          <p:nvPr/>
        </p:nvGraphicFramePr>
        <p:xfrm>
          <a:off x="365760" y="3017520"/>
          <a:ext cx="11457432" cy="2578608"/>
        </p:xfrm>
        <a:graphic>
          <a:graphicData uri="http://schemas.openxmlformats.org/drawingml/2006/table">
            <a:tbl>
              <a:tblPr firstRow="0" bandRow="0">
                <a:tableStyleId>{5C22544A-7EE6-4342-B048-85BDC9FD1C3A}</a:tableStyleId>
              </a:tblPr>
              <a:tblGrid>
                <a:gridCol w="914400"/>
                <a:gridCol w="5486400"/>
                <a:gridCol w="5056632"/>
              </a:tblGrid>
              <a:tr h="310896">
                <a:tc>
                  <a:txBody>
                    <a:bodyPr wrap="square"/>
                    <a:lstStyle/>
                    <a:p>
                      <a:pPr algn="ctr"/>
                      <a:r>
                        <a:rPr sz="950" b="1">
                          <a:solidFill>
                            <a:srgbClr val="FFFFFF"/>
                          </a:solidFill>
                          <a:latin typeface="맑은 고딕"/>
                          <a:ea typeface="맑은 고딕"/>
                        </a:rPr>
                        <a:t>DP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공통 시나리오에서의 QA (후보 ÷ Baseline 또는 배수)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왜 이렇게 되나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ctr"/>
                      <a:r>
                        <a:rPr sz="950" b="1">
                          <a:solidFill>
                            <a:srgbClr val="000000"/>
                          </a:solidFill>
                          <a:latin typeface="맑은 고딕"/>
                          <a:ea typeface="맑은 고딕"/>
                        </a:rPr>
                        <a:t>DP1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×1.00 (둘 다, Baseline이 이미 포화), C1 TTFT P99 ×2.95 나쁨 · C2 ×1.03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이동할 이득이 없는 정적 워크로드라 이동 비용만 남는다. 이득은 Dynamic 시나리오에서 나온다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ctr"/>
                      <a:r>
                        <a:rPr sz="950" b="1">
                          <a:solidFill>
                            <a:srgbClr val="000000"/>
                          </a:solidFill>
                          <a:latin typeface="맑은 고딕"/>
                          <a:ea typeface="맑은 고딕"/>
                        </a:rPr>
                        <a:t>DP2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1안: QA1 ×1.00~1.11, TPOT P99 ×1.19~2.32 나쁨 / 2안: Baseline과 같음(×1.00) (H100·B200 공통 3개 시나리오 중 비교 가능 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History 없는 단일 턴이라 attention 위치를 바꿀 이유가 적다. 1안만 Cost 모델이 일부 offload를 선택해 TPOT 꼬리가 길어진다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ctr"/>
                      <a:r>
                        <a:rPr sz="950" b="1">
                          <a:solidFill>
                            <a:srgbClr val="000000"/>
                          </a:solidFill>
                          <a:latin typeface="맑은 고딕"/>
                          <a:ea typeface="맑은 고딕"/>
                        </a:rPr>
                        <a:t>DP3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C1 TTFT 3.80배 개선, HBM 감소율 71% / C2 TTFT 1.61배, HBM 감소율 23%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8K 문맥도 DRAM에서 적재해야 하는 구성이라 압축이 적재 시간을 줄인다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ctr"/>
                      <a:r>
                        <a:rPr sz="950" b="1">
                          <a:solidFill>
                            <a:srgbClr val="000000"/>
                          </a:solidFill>
                          <a:latin typeface="맑은 고딕"/>
                          <a:ea typeface="맑은 고딕"/>
                        </a:rPr>
                        <a:t>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W1(공통 벤치마크): 처리량 ×1.05 · ×1.04, TTFT P99 ×0.90 · ×0.84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정책 효과가 크지 않게 prefix 재사용을 통제한 기준선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8" name="foot_msg"/>
          <p:cNvSpPr txBox="1"/>
          <p:nvPr/>
        </p:nvSpPr>
        <p:spPr>
          <a:xfrm>
            <a:off x="365760" y="5989320"/>
            <a:ext cx="11430000" cy="36576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공통 시나리오만 보면 DP마다 QA 방향이 다르다(DP1은 거의 중립, DP3는 크게 개선). 그래서 별은 공통 + DP 전용 시나리오를 함께 집계한 값이고, 공통만의 별은 참고값이다.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DP1 시나리오: 데이터 배치(이동)가 갈리는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Common 3 + Stress 23 + Dynamic 6 · 노드 1대 안에서 6종 메모리 사이 이동 · Baseline = 정적 배치(이동 없음)</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DP1/benchmark.md, DP1/results/2026-10-02_dp1-qa-evaluation.md (SYS-B200 Combined 표)</a:t>
            </a:r>
          </a:p>
        </p:txBody>
      </p:sp>
      <p:graphicFrame>
        <p:nvGraphicFramePr>
          <p:cNvPr id="6" name="tbl"/>
          <p:cNvGraphicFramePr>
            <a:graphicFrameLocks noGrp="1"/>
          </p:cNvGraphicFramePr>
          <p:nvPr/>
        </p:nvGraphicFramePr>
        <p:xfrm>
          <a:off x="365760" y="1188720"/>
          <a:ext cx="11457432" cy="2011680"/>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Common (CB-1~3)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8K KV, HBM 압박 고정·증가, 혼합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QA1 ×1.00, C1 TTFT P99 ×2.95 (이동 비용만 남음)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23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대형 batch, 512K 초장문, RAG 1~8 TiB, LoRA·MoE skew, HBM BW 저하 등 trade-off 관찰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일부 시나리오에서 Baseline보다 TTFT 나쁨(21쌍 중 6쌍, 최악 ×4.32)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Stress 9개 합산 QA1은 C1 ×1.00 · C2 ×1.04 (SYS-B200)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Dynamic 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처음엔 Baseline이 SLO를 지키다 hot set 이동·유휴 KV의 HBM 점유·host link 저하로 stale해짐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QA1 C1 ×1.64 · C2 ×2.20 (SYS-B200). 이득이 몰린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337560"/>
            <a:ext cx="5596128" cy="306324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이득은 '정적 배치가 낡아지는' 조건에 집중된다. Dynamic은 Baseline의 실패 양상을 알고 설계했으므로 이득을 일반화하지 않는다.</a:t>
            </a:r>
          </a:p>
          <a:p>
            <a:pPr algn="l">
              <a:spcAft>
                <a:spcPts val="250"/>
              </a:spcAft>
            </a:pPr>
            <a:r>
              <a:rPr sz="950" b="0">
                <a:solidFill>
                  <a:srgbClr val="000000"/>
                </a:solidFill>
                <a:latin typeface="맑은 고딕"/>
                <a:ea typeface="맑은 고딕"/>
              </a:rPr>
              <a:t>• QA1 ★★★(≥ 2.0)은 Dynamic C2 하나가 넘고, 18~21쌍 통합에서는 ×1.30 / ×1.42다.</a:t>
            </a:r>
          </a:p>
        </p:txBody>
      </p:sp>
      <p:sp>
        <p:nvSpPr>
          <p:cNvPr id="8" name="r"/>
          <p:cNvSpPr txBox="1"/>
          <p:nvPr/>
        </p:nvSpPr>
        <p:spPr>
          <a:xfrm>
            <a:off x="6199632" y="3337560"/>
            <a:ext cx="5596128" cy="306324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공통 시나리오에서 C1의 TTFT가 나쁜 것은 숨기지 않았다(진단 값).</a:t>
            </a:r>
          </a:p>
          <a:p>
            <a:pPr algn="l">
              <a:spcAft>
                <a:spcPts val="250"/>
              </a:spcAft>
            </a:pPr>
            <a:r>
              <a:rPr sz="950" b="0">
                <a:solidFill>
                  <a:srgbClr val="000000"/>
                </a:solidFill>
                <a:latin typeface="맑은 고딕"/>
                <a:ea typeface="맑은 고딕"/>
              </a:rPr>
              <a:t>• Dynamic은 benchmark-fit 시나리오(loop 2에서 추가)라 이득 크기에 selection이 개입했다.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DP1 결과 해석: 왜 C2가 지연도 처리량도 좋은가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C1 = 메모리 자원 상태에 반응해 이동, C2 = 데이터별 접근 패턴(hotness·재사용·유휴)으로 이동 · 지연은 C2가 P50과 P99 모두 낮다</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DP1/results/2026-10-02_dp1-qa-evaluation.md §0.2 (H100 + B200 통합, 21쌍). 아래 '원인'은 그 문서의 진단이며 요청 단위 분해로 확인한 것은 아니다.</a:t>
            </a:r>
          </a:p>
        </p:txBody>
      </p:sp>
      <p:graphicFrame>
        <p:nvGraphicFramePr>
          <p:cNvPr id="6" name="tbl"/>
          <p:cNvGraphicFramePr>
            <a:graphicFrameLocks noGrp="1"/>
          </p:cNvGraphicFramePr>
          <p:nvPr/>
        </p:nvGraphicFramePr>
        <p:xfrm>
          <a:off x="365760" y="1188720"/>
          <a:ext cx="11457432" cy="2615184"/>
        </p:xfrm>
        <a:graphic>
          <a:graphicData uri="http://schemas.openxmlformats.org/drawingml/2006/table">
            <a:tbl>
              <a:tblPr firstRow="0" bandRow="0">
                <a:tableStyleId>{5C22544A-7EE6-4342-B048-85BDC9FD1C3A}</a:tableStyleId>
              </a:tblPr>
              <a:tblGrid>
                <a:gridCol w="3291840"/>
                <a:gridCol w="2560320"/>
                <a:gridCol w="2743200"/>
                <a:gridCol w="2862072"/>
              </a:tblGrid>
              <a:tr h="310896">
                <a:tc>
                  <a:txBody>
                    <a:bodyPr wrap="square"/>
                    <a:lstStyle/>
                    <a:p>
                      <a:pPr algn="ctr"/>
                      <a:r>
                        <a:rPr sz="1000" b="1">
                          <a:solidFill>
                            <a:srgbClr val="FFFFFF"/>
                          </a:solidFill>
                          <a:latin typeface="맑은 고딕"/>
                          <a:ea typeface="맑은 고딕"/>
                        </a:rPr>
                        <a:t>지표 (21쌍 기하평균)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Baseline (이동 없음)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C1 자원 상태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C2 AI Data 특성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29184">
                <a:tc>
                  <a:txBody>
                    <a:bodyPr wrap="square"/>
                    <a:lstStyle/>
                    <a:p>
                      <a:pPr algn="l"/>
                      <a:r>
                        <a:rPr sz="1000" b="1">
                          <a:solidFill>
                            <a:srgbClr val="000000"/>
                          </a:solidFill>
                          <a:latin typeface="맑은 고딕"/>
                          <a:ea typeface="맑은 고딕"/>
                        </a:rPr>
                        <a:t>TTFT P50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407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181 (×0.44)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118 (×0.29)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TTFT P99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1,128 (×1.04)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785 (×0.72)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TPOT P50 / P99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14.0 / 17.1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12.7 / 18.3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12.0 / 16.0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Dynamic 6개 TTFT P99 중앙값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1,411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663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이동량 (GiB) / 링크 점유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138 / 1.6%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1,339 / 10.5%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결정 연산 (ms/run)</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HBM 점유 (용량 대비)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50%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62%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77639"/>
            <a:ext cx="5596128" cy="242316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해석</a:t>
            </a:r>
          </a:p>
          <a:p>
            <a:pPr algn="l">
              <a:spcAft>
                <a:spcPts val="250"/>
              </a:spcAft>
            </a:pPr>
            <a:r>
              <a:rPr sz="950" b="0">
                <a:solidFill>
                  <a:srgbClr val="000000"/>
                </a:solidFill>
                <a:latin typeface="맑은 고딕"/>
                <a:ea typeface="맑은 고딕"/>
              </a:rPr>
              <a:t>• C1은 용량 압박·대역폭 같은 자원 상태가 나빠진 뒤에 반응한다. 같은 종류(KV) 안에서 어느 세션이 hot인지 모르므로 hot 대상이 바뀌는 시나리오(hot 대화 이동, 사용자 그룹 교대)에서 Baseline과 같다. Dynamic에서 Baseline을 이긴 쌍은 C1 5개, C2 8개다.</a:t>
            </a:r>
          </a:p>
          <a:p>
            <a:pPr algn="l">
              <a:spcAft>
                <a:spcPts val="250"/>
              </a:spcAft>
            </a:pPr>
            <a:r>
              <a:rPr sz="950" b="0">
                <a:solidFill>
                  <a:srgbClr val="000000"/>
                </a:solidFill>
                <a:latin typeface="맑은 고딕"/>
                <a:ea typeface="맑은 고딕"/>
              </a:rPr>
              <a:t>• C2는 접근 빈도·재사용·유휴 시간으로 '곧 뜨거워질 것'을 예측해 hot 데이터를 미리 HBM 쪽으로 올리고 cold를 내린다. 그래서 요청이 오는 시점에 hot KV가 이미 빠른 tier에 있어 TTFT가 줄고(P50·P99 모두), decode 접근도 빨라 처리량이 오른다.</a:t>
            </a:r>
          </a:p>
          <a:p>
            <a:pPr algn="l">
              <a:spcAft>
                <a:spcPts val="250"/>
              </a:spcAft>
            </a:pPr>
            <a:r>
              <a:rPr sz="950" b="0">
                <a:solidFill>
                  <a:srgbClr val="000000"/>
                </a:solidFill>
                <a:latin typeface="맑은 고딕"/>
                <a:ea typeface="맑은 고딕"/>
              </a:rPr>
              <a:t>• C1의 P50이 Baseline보다 낮은데 P99가 높은 것은, 압박 뒤 반응형 이동이 늦게 도착하고 이동이 서빙 링크를 나눠 쓰는 간섭이 꼬리에 얹히기 때문으로 보인다(문서 진단: 간섭 반영 후 P99 격차가 벌어짐).</a:t>
            </a:r>
          </a:p>
        </p:txBody>
      </p:sp>
      <p:sp>
        <p:nvSpPr>
          <p:cNvPr id="8" name="r"/>
          <p:cNvSpPr txBox="1"/>
          <p:nvPr/>
        </p:nvSpPr>
        <p:spPr>
          <a:xfrm>
            <a:off x="6199632" y="3977639"/>
            <a:ext cx="5596128" cy="242316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대가와 한계</a:t>
            </a:r>
          </a:p>
          <a:p>
            <a:pPr algn="l">
              <a:spcAft>
                <a:spcPts val="250"/>
              </a:spcAft>
            </a:pPr>
            <a:r>
              <a:rPr sz="950" b="0">
                <a:solidFill>
                  <a:srgbClr val="000000"/>
                </a:solidFill>
                <a:latin typeface="맑은 고딕"/>
                <a:ea typeface="맑은 고딕"/>
              </a:rPr>
              <a:t>• 대가는 HBM이다: C2는 성능을 위해 hot 데이터를 HBM에 더 올려 점유가 62%(C1 50%)다. 이동량(1,339 대 138 GiB)·링크 점유·결정 연산도 크다. 이 비용은 지연 개선 배수를 깎았다(C2 ×1.66 → ×1.56).</a:t>
            </a:r>
          </a:p>
          <a:p>
            <a:pPr algn="l">
              <a:spcAft>
                <a:spcPts val="250"/>
              </a:spcAft>
            </a:pPr>
            <a:r>
              <a:rPr sz="950" b="0">
                <a:solidFill>
                  <a:srgbClr val="000000"/>
                </a:solidFill>
                <a:latin typeface="맑은 고딕"/>
                <a:ea typeface="맑은 고딕"/>
              </a:rPr>
              <a:t>• 그래서 'C1이 지연이 더 좋다'는 설명은 이 시뮬레이션에서 근거가 없다. 정적 워크로드(공통 3개)에서도 C1 TTFT P99는 ×2.95 나쁘고 C2는 ×1.03이다.</a:t>
            </a:r>
          </a:p>
          <a:p>
            <a:pPr algn="l">
              <a:spcAft>
                <a:spcPts val="250"/>
              </a:spcAft>
            </a:pPr>
            <a:r>
              <a:rPr sz="950" b="0">
                <a:solidFill>
                  <a:srgbClr val="000000"/>
                </a:solidFill>
                <a:latin typeface="맑은 고딕"/>
                <a:ea typeface="맑은 고딕"/>
              </a:rPr>
              <a:t>• 시뮬레이션 [B+C]이며 이동 비용 모델(링크 간섭)과 접근 패턴 생성이 ASSUMED다. Dynamic은 Baseline의 실패 양상을 알고 설계한 시나리오다.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DP2 시나리오: 한 노드 안에서 Prefill/Decode 실행 위치를 정하는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Common 3 + Stress 10 + Dynamic 3 = 16 시나리오 × 2시스템 = 32쌍(비교 가능 21, saturated 11) · 노드 선택은 DP4 · 평가에서 Prefill은 항상 GPU, 결정 대상은 Decode attention을 돌릴 tier(HBM·ScHBM·CXL-PNM·HBF) · Baseline = GPU-local</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DP2/benchmark.md §11, DP2/results/2026-10-10_dp2-arch-styles.md §4.2 (시나리오별 표)</a:t>
            </a:r>
          </a:p>
        </p:txBody>
      </p:sp>
      <p:graphicFrame>
        <p:nvGraphicFramePr>
          <p:cNvPr id="6" name="tbl"/>
          <p:cNvGraphicFramePr>
            <a:graphicFrameLocks noGrp="1"/>
          </p:cNvGraphicFramePr>
          <p:nvPr/>
        </p:nvGraphicFramePr>
        <p:xfrm>
          <a:off x="365760" y="1188720"/>
          <a:ext cx="11457432" cy="2578608"/>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Common (CB-1~3)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단일 턴 8K, 통합 노드 1개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TPOT P99 ×1.19~2.32(B200 CB-1 ×2.32)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H100 CB-3에서 1안 goodput ×1.11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History 재개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History 32K~256K가 HBM·DRAM·HBF·SSD에 있는 멀티턴, 긴 문맥 decode offload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long_ctx_decode_offload: TPOT P99 ×2.31~2.45 나쁨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long_ctx_decode_offload: goodput ×1.23(B200)·×1.23(H100), TTFT P99 ×0.39~0.46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포화·쏠림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decode 편중, 대형 세션 쏠림, stale telemetry, Tool 결과 큼(대조군)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2안 decode 편중: TTFT P99 ×1.87~4.02 나쁨. 2안 stale telemetry(B200): HBM ×1.98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decode 편중: TTFT P99 ×0.13~0.19. 2안 stale telemetry(B200): goodput ×1.36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Dynamic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decode phase 이동, load ramp·burst, demotion wave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load ramp(B200): TTFT P99 ×4.82 나쁨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load ramp: goodput ×1.25~1.28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이득은 'History가 HBM 밖에 있거나 decode가 한 노드에 몰려' attention 위치를 바꿀 가치가 있는 조건에 있다. 신호가 없으면 두 후보 모두 Baseline과 같다(saturated 11쌍).</a:t>
            </a:r>
          </a:p>
          <a:p>
            <a:pPr algn="l">
              <a:spcAft>
                <a:spcPts val="250"/>
              </a:spcAft>
            </a:pPr>
            <a:r>
              <a:rPr sz="950" b="0">
                <a:solidFill>
                  <a:srgbClr val="000000"/>
                </a:solidFill>
                <a:latin typeface="맑은 고딕"/>
                <a:ea typeface="맑은 고딕"/>
              </a:rPr>
              <a:t>• 1안은 TTFT·HBM·처리량을 얻고 TPOT 꼬리(P99 ×1.34)를 낸다.</a:t>
            </a:r>
          </a:p>
        </p:txBody>
      </p:sp>
      <p:sp>
        <p:nvSpPr>
          <p:cNvPr id="8" name="r"/>
          <p:cNvSpPr txBox="1"/>
          <p:nvPr/>
        </p:nvSpPr>
        <p:spPr>
          <a:xfrm>
            <a:off x="6199632"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비율은 후보 ÷ Baseline(시나리오·시스템 쌍별, iso-load). 일부 시나리오는 후보와 Baseline의 부하 지점이 달라 단순 비교가 아니다.</a:t>
            </a:r>
          </a:p>
          <a:p>
            <a:pPr algn="l">
              <a:spcAft>
                <a:spcPts val="250"/>
              </a:spcAft>
            </a:pPr>
            <a:r>
              <a:rPr sz="950" b="0">
                <a:solidFill>
                  <a:srgbClr val="000000"/>
                </a:solidFill>
                <a:latin typeface="맑은 고딕"/>
                <a:ea typeface="맑은 고딕"/>
              </a:rPr>
              <a:t>• Cost 추정 오차 σ = 0 가정이다(σ ≥ 0.4에서 1안은 Baseline 아래).</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DP2 결과 해석: 왜 Decode 편중에서 2안이 1안보다 더 떨어지는가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n_dp2_decode_heavy_p_idle(출력 2K 위주, decode가 한 노드에 몰림) · Baseline 최적 부하 · 1안 = 중앙 Dispatcher, 2안 = Blackboard</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DP2/results/data/arch/SYS-*/runs.jsonl (comp.schedule = admission 대기 평균, arch.tiers = tier별 decode 요청 수, seed 11의 1회 run·TTFT와 대기는 5 seed 평균). 원인 서술은 DP2 결과 문서의 진단(admission margin과 cost 신호 부재)과 위 수치로 확인한 것이다.</a:t>
            </a:r>
          </a:p>
        </p:txBody>
      </p:sp>
      <p:graphicFrame>
        <p:nvGraphicFramePr>
          <p:cNvPr id="6" name="tbl"/>
          <p:cNvGraphicFramePr>
            <a:graphicFrameLocks noGrp="1"/>
          </p:cNvGraphicFramePr>
          <p:nvPr/>
        </p:nvGraphicFramePr>
        <p:xfrm>
          <a:off x="365760" y="1188720"/>
          <a:ext cx="11457432" cy="2724912"/>
        </p:xfrm>
        <a:graphic>
          <a:graphicData uri="http://schemas.openxmlformats.org/drawingml/2006/table">
            <a:tbl>
              <a:tblPr firstRow="0" bandRow="0">
                <a:tableStyleId>{5C22544A-7EE6-4342-B048-85BDC9FD1C3A}</a:tableStyleId>
              </a:tblPr>
              <a:tblGrid>
                <a:gridCol w="2560320"/>
                <a:gridCol w="2377440"/>
                <a:gridCol w="3383280"/>
                <a:gridCol w="3136392"/>
              </a:tblGrid>
              <a:tr h="310896">
                <a:tc>
                  <a:txBody>
                    <a:bodyPr wrap="square"/>
                    <a:lstStyle/>
                    <a:p>
                      <a:pPr algn="ctr"/>
                      <a:r>
                        <a:rPr sz="950" b="1">
                          <a:solidFill>
                            <a:srgbClr val="FFFFFF"/>
                          </a:solidFill>
                          <a:latin typeface="맑은 고딕"/>
                          <a:ea typeface="맑은 고딕"/>
                        </a:rPr>
                        <a:t>SYS-B200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 GPU-local</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1안 중앙 Dispatcher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2안 Blackboard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01752">
                <a:tc>
                  <a:txBody>
                    <a:bodyPr wrap="square"/>
                    <a:lstStyle/>
                    <a:p>
                      <a:pPr algn="l"/>
                      <a:r>
                        <a:rPr sz="950" b="1">
                          <a:solidFill>
                            <a:srgbClr val="000000"/>
                          </a:solidFill>
                          <a:latin typeface="맑은 고딕"/>
                          <a:ea typeface="맑은 고딕"/>
                        </a:rPr>
                        <a:t>TTFT P99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5.73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0.73 (×0.13)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23.08 (×4.03)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admission 대기 평균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decode 실행 tier (요청 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3,134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2,870 · ScHBM 505 · 기타 17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3,102 · ScHBM 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HBM 점유 (용량 대비)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SYS-H100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ctr"/>
                      <a:r>
                        <a:rPr sz="950" b="0">
                          <a:solidFill>
                            <a:srgbClr val="000000"/>
                          </a:solidFill>
                          <a:latin typeface="맑은 고딕"/>
                          <a:ea typeface="맑은 고딕"/>
                        </a:rPr>
                        <a:t>Baseline GPU-local</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ctr"/>
                      <a:r>
                        <a:rPr sz="950" b="0">
                          <a:solidFill>
                            <a:srgbClr val="000000"/>
                          </a:solidFill>
                          <a:latin typeface="맑은 고딕"/>
                          <a:ea typeface="맑은 고딕"/>
                        </a:rPr>
                        <a:t>1안 중앙 Dispatcher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ctr"/>
                      <a:r>
                        <a:rPr sz="950" b="0">
                          <a:solidFill>
                            <a:srgbClr val="000000"/>
                          </a:solidFill>
                          <a:latin typeface="맑은 고딕"/>
                          <a:ea typeface="맑은 고딕"/>
                        </a:rPr>
                        <a:t>2안 Blackboard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r>
              <a:tr h="301752">
                <a:tc>
                  <a:txBody>
                    <a:bodyPr wrap="square"/>
                    <a:lstStyle/>
                    <a:p>
                      <a:pPr algn="l"/>
                      <a:r>
                        <a:rPr sz="950" b="1">
                          <a:solidFill>
                            <a:srgbClr val="000000"/>
                          </a:solidFill>
                          <a:latin typeface="맑은 고딕"/>
                          <a:ea typeface="맑은 고딕"/>
                        </a:rPr>
                        <a:t>TTFT P99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4.18 (×0.19)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40.24 (×1.87)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admission 대기 평균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0.69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decode 실행 tier (요청 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1,408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1,213 · ScHBM 232 · 기타 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1,376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114800"/>
            <a:ext cx="5596128" cy="228600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원인</a:t>
            </a:r>
          </a:p>
          <a:p>
            <a:pPr algn="l">
              <a:spcAft>
                <a:spcPts val="250"/>
              </a:spcAft>
            </a:pPr>
            <a:r>
              <a:rPr sz="950" b="0">
                <a:solidFill>
                  <a:srgbClr val="000000"/>
                </a:solidFill>
                <a:latin typeface="맑은 고딕"/>
                <a:ea typeface="맑은 고딕"/>
              </a:rPr>
              <a:t>• 2안의 규칙은 'HBM 먼저, HBM budget(사용률 ≤ 0.85)이 거절할 때만 offload'다. offload tier agent는 자기 tier의 측정된 attention 시간이 SLO_TPOT의 0.8배 이내일 때만 claim한다.</a:t>
            </a:r>
          </a:p>
          <a:p>
            <a:pPr algn="l">
              <a:spcAft>
                <a:spcPts val="250"/>
              </a:spcAft>
            </a:pPr>
            <a:r>
              <a:rPr sz="950" b="0">
                <a:solidFill>
                  <a:srgbClr val="000000"/>
                </a:solidFill>
                <a:latin typeface="맑은 고딕"/>
                <a:ea typeface="맑은 고딕"/>
              </a:rPr>
              <a:t>• Decode가 몰리면 HBM 사용률이 0.85를 넘어 HBM 경로가 거절되고, offload agent도 headroom이 없어 거절한다. 그래서 Task가 Board에서 기다린다(대기 0.36 s, H100 1.32 s). decode 요청 3,100여 개 중 ScHBM으로 간 것은 1개다.</a:t>
            </a:r>
          </a:p>
          <a:p>
            <a:pPr algn="l">
              <a:spcAft>
                <a:spcPts val="250"/>
              </a:spcAft>
            </a:pPr>
            <a:r>
              <a:rPr sz="950" b="0">
                <a:solidFill>
                  <a:srgbClr val="000000"/>
                </a:solidFill>
                <a:latin typeface="맑은 고딕"/>
                <a:ea typeface="맑은 고딕"/>
              </a:rPr>
              <a:t>• 1안은 Cost 모델(HBM 기회비용 포함)이 사용률이 오르기 전에 decode의 약 15%를 ScHBM으로 보낸다(B200 505개). 그래서 HBM에 여유가 생겨 admission 대기가 0이다. Baseline(모든 attention을 GPU/HBM)은 그 경로가 없어 대기가 생긴다.</a:t>
            </a:r>
          </a:p>
        </p:txBody>
      </p:sp>
      <p:sp>
        <p:nvSpPr>
          <p:cNvPr id="8" name="r"/>
          <p:cNvSpPr txBox="1"/>
          <p:nvPr/>
        </p:nvSpPr>
        <p:spPr>
          <a:xfrm>
            <a:off x="6199632" y="4114800"/>
            <a:ext cx="5596128" cy="228600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대가와 한계</a:t>
            </a:r>
          </a:p>
          <a:p>
            <a:pPr algn="l">
              <a:spcAft>
                <a:spcPts val="250"/>
              </a:spcAft>
            </a:pPr>
            <a:r>
              <a:rPr sz="950" b="0">
                <a:solidFill>
                  <a:srgbClr val="000000"/>
                </a:solidFill>
                <a:latin typeface="맑은 고딕"/>
                <a:ea typeface="맑은 고딕"/>
              </a:rPr>
              <a:t>• 그래서 2안이 Baseline보다도 나쁘다(×4.03, ×1.87): Baseline은 HBM에서 대기하고, 2안은 거기에 admission margin(0.85)이 더해져 더 일찍 막는다. 처리량은 비슷하다(×0.97, ×0.98).</a:t>
            </a:r>
          </a:p>
          <a:p>
            <a:pPr algn="l">
              <a:spcAft>
                <a:spcPts val="250"/>
              </a:spcAft>
            </a:pPr>
            <a:r>
              <a:rPr sz="950" b="0">
                <a:solidFill>
                  <a:srgbClr val="000000"/>
                </a:solidFill>
                <a:latin typeface="맑은 고딕"/>
                <a:ea typeface="맑은 고딕"/>
              </a:rPr>
              <a:t>• 대가는 1안의 TPOT 꼬리다: 이 시나리오에서 H100 TPOT P99 ×1.54. ScHBM attention이 GPU보다 느려 SLO 이내의 TPOT 여유를 TTFT·HBM과 교환한다.</a:t>
            </a:r>
          </a:p>
          <a:p>
            <a:pPr algn="l">
              <a:spcAft>
                <a:spcPts val="250"/>
              </a:spcAft>
            </a:pPr>
            <a:r>
              <a:rPr sz="950" b="0">
                <a:solidFill>
                  <a:srgbClr val="000000"/>
                </a:solidFill>
                <a:latin typeface="맑은 고딕"/>
                <a:ea typeface="맑은 고딕"/>
              </a:rPr>
              <a:t>• 한계: Baseline 최적 부하는 이미 과부하 구간이라 TTFT 절대값이 크다(5.7~40 s). 비율(×0.13, ×4.03)이 결정적이며, 결정 상수(θ = 0.8, ρ_hi = 0.85)는 사전 등록값이다. θ·ρ_hi 민감도 계획은 DP2/arch-styles-plan.md.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DP3 시나리오: KV 압축·재사용이 갈리는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Common 3 + Stress 12 + Dynamic 3 · 문맥 8K~256K 재사용 · Baseline = 전체 KV 재사용(As-Is) · 도착률 = Baseline 용량의 70%</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DP3/benchmark.md, DP3/results/2026-10-11_dp3-qa-evaluation.md</a:t>
            </a:r>
          </a:p>
        </p:txBody>
      </p:sp>
      <p:graphicFrame>
        <p:nvGraphicFramePr>
          <p:cNvPr id="6" name="tbl"/>
          <p:cNvGraphicFramePr>
            <a:graphicFrameLocks noGrp="1"/>
          </p:cNvGraphicFramePr>
          <p:nvPr/>
        </p:nvGraphicFramePr>
        <p:xfrm>
          <a:off x="365760" y="1188720"/>
          <a:ext cx="11457432" cy="2578608"/>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Common (CB-1~3) 8K</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DRAM에서 적재하는 8K 문맥, HBM 압박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C2 TTFT ×0.79~0.96 (온라인 점수 계산 + 재계산)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C1 TTFT ×3.8, HBM 감소율 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문맥 길이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32K / 64K / 128K / 256K (DRAM·CXL)</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256K에서 C1 TTFT ×0.73(H100): 재계산 prefill이 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32K~128K에서 C1 TTFT 개선, HBM 감소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tier·재사용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SSD 차가운 재사용, HBF 직접 읽기, skew/uniform, 긴·짧은 질의, 대표 Query 불일치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HBF(ST-06): C1·C2 TTFT ×0.09~0.14. SSD(ST-05)는 표본 부족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HBM 압박·분산 재사용(ST-08, 10)에서 C1 이득 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Dynamic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hot set 이동, burst, HBM 압박 증가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C2는 Baseline보다 TTFT 나쁨 (×0.76~0.88)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ST-11·DY-03 H100: Baseline이 못 끝내는 걸 C1이 끝냄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이득은 '외부 tier에서 문맥을 적재해야 하고 HBM이 빠듯한' 조건에서 나온다. GPU가 직접 읽는 tier에서는 압축이 순손실이다.</a:t>
            </a:r>
          </a:p>
          <a:p>
            <a:pPr algn="l">
              <a:spcAft>
                <a:spcPts val="250"/>
              </a:spcAft>
            </a:pPr>
            <a:r>
              <a:rPr sz="950" b="0">
                <a:solidFill>
                  <a:srgbClr val="000000"/>
                </a:solidFill>
                <a:latin typeface="맑은 고딕"/>
                <a:ea typeface="맑은 고딕"/>
              </a:rPr>
              <a:t>• C2는 어떤 조건에서도 TTFT 이득이 작다.</a:t>
            </a:r>
          </a:p>
        </p:txBody>
      </p:sp>
      <p:sp>
        <p:nvSpPr>
          <p:cNvPr id="8" name="r"/>
          <p:cNvSpPr txBox="1"/>
          <p:nvPr/>
        </p:nvSpPr>
        <p:spPr>
          <a:xfrm>
            <a:off x="6199632"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Offline 사전 압축 비용·공간을 모델링하지 않았다. r = 0.30 가정에 의존한다.</a:t>
            </a:r>
          </a:p>
          <a:p>
            <a:pPr algn="l">
              <a:spcAft>
                <a:spcPts val="250"/>
              </a:spcAft>
            </a:pPr>
            <a:r>
              <a:rPr sz="950" b="0">
                <a:solidFill>
                  <a:srgbClr val="000000"/>
                </a:solidFill>
                <a:latin typeface="맑은 고딕"/>
                <a:ea typeface="맑은 고딕"/>
              </a:rPr>
              <a:t>• 정확도(QA5)는 이 시나리오로 알 수 없다.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DP4 시나리오: 서버를 고르는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W1~W5 + 변경 시나리오 S1~S6 · 2노드 × 8 GPU 실측 Baseline + 시뮬레이터 · Baseline = 상태·캐시 비인지 라우팅</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PPT DP4 26~32장 (doc-mk/DP4/DP0-qa-result-slides.pptx)</a:t>
            </a:r>
          </a:p>
        </p:txBody>
      </p:sp>
      <p:graphicFrame>
        <p:nvGraphicFramePr>
          <p:cNvPr id="6" name="tbl"/>
          <p:cNvGraphicFramePr>
            <a:graphicFrameLocks noGrp="1"/>
          </p:cNvGraphicFramePr>
          <p:nvPr/>
        </p:nvGraphicFramePr>
        <p:xfrm>
          <a:off x="365760" y="1188720"/>
          <a:ext cx="11457432" cy="2578608"/>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W1 공통</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입력 8K / 출력 256, prefix 재사용 통제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정책 이득이 작음 (처리량 ×1.04~1.05)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TTFT P99 ×0.84~0.90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W2~W4 전용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재사용 대화(0/30/60%), 긴 입력 P/D 분리, 메모리 압박(HBM 70~95%)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후보1 TTFT가 후보2보다 약 120 ms 높음(P/D 경로 hop, 가설)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캐시·메모리 인지 라우팅(P1~P3)이 효과를 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W5 서버 증설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N = 2, 4, 8, 16 (N0 =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후보2 SE 64% (상태 비공유로 갱신 부하 ≈ N배)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후보1 SE 93%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S1~S6 변경</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새 tier, 비용 함수, P/D 정책, 노드 지시, vLLM 계약, 신규 기능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S2~S4는 후보1(OSS 탐색)이 비쌈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S1·S5·S6은 후보1(설정·plugin)이 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QA6은 서버 수 증가 시나리오(W5)에서만 갈린다. QA4는 변경이 어디까지 번지는지(S1~S6)가 결정한다.</a:t>
            </a:r>
          </a:p>
          <a:p>
            <a:pPr algn="l">
              <a:spcAft>
                <a:spcPts val="250"/>
              </a:spcAft>
            </a:pPr>
            <a:r>
              <a:rPr sz="950" b="0">
                <a:solidFill>
                  <a:srgbClr val="000000"/>
                </a:solidFill>
                <a:latin typeface="맑은 고딕"/>
                <a:ea typeface="맑은 고딕"/>
              </a:rPr>
              <a:t>• 후보 간 QA2 차이는 TTFT 2 s 경계를 사이에 둔 약 6%다.</a:t>
            </a:r>
          </a:p>
        </p:txBody>
      </p:sp>
      <p:sp>
        <p:nvSpPr>
          <p:cNvPr id="8" name="r"/>
          <p:cNvSpPr txBox="1"/>
          <p:nvPr/>
        </p:nvSpPr>
        <p:spPr>
          <a:xfrm>
            <a:off x="6199632"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N &gt; 2는 실측이 아니라 모델 외삽이다. 후보2는 미구현이라 모델이다.</a:t>
            </a:r>
          </a:p>
          <a:p>
            <a:pPr algn="l">
              <a:spcAft>
                <a:spcPts val="250"/>
              </a:spcAft>
            </a:pPr>
            <a:r>
              <a:rPr sz="950" b="0">
                <a:solidFill>
                  <a:srgbClr val="000000"/>
                </a:solidFill>
                <a:latin typeface="맑은 고딕"/>
                <a:ea typeface="맑은 고딕"/>
              </a:rPr>
              <a:t>• QA4 토큰 비용은 OSS 탐색 토큰 가정에 민감하다.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실측 기반 평가 시스템 (DP4 Baseline)</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DP4의 Baseline은 보유한 시스템에서 실측했다 · 그 외 값은 시뮬레이터로 대체 · 노드 간 링크·DRAM·SSD 사양은 아직 미확인</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PPT DP4 33~34장. DP1~DP3 Baseline은 실측이 아니다(시뮬레이션).</a:t>
            </a:r>
          </a:p>
        </p:txBody>
      </p:sp>
      <p:graphicFrame>
        <p:nvGraphicFramePr>
          <p:cNvPr id="6" name="tbl"/>
          <p:cNvGraphicFramePr>
            <a:graphicFrameLocks noGrp="1"/>
          </p:cNvGraphicFramePr>
          <p:nvPr/>
        </p:nvGraphicFramePr>
        <p:xfrm>
          <a:off x="365760" y="1188720"/>
          <a:ext cx="11457432" cy="2505456"/>
        </p:xfrm>
        <a:graphic>
          <a:graphicData uri="http://schemas.openxmlformats.org/drawingml/2006/table">
            <a:tbl>
              <a:tblPr firstRow="0" bandRow="0">
                <a:tableStyleId>{5C22544A-7EE6-4342-B048-85BDC9FD1C3A}</a:tableStyleId>
              </a:tblPr>
              <a:tblGrid>
                <a:gridCol w="2377440"/>
                <a:gridCol w="6400800"/>
                <a:gridCol w="2679192"/>
              </a:tblGrid>
              <a:tr h="310896">
                <a:tc>
                  <a:txBody>
                    <a:bodyPr wrap="square"/>
                    <a:lstStyle/>
                    <a:p>
                      <a:pPr algn="ctr"/>
                      <a:r>
                        <a:rPr sz="1000" b="1">
                          <a:solidFill>
                            <a:srgbClr val="FFFFFF"/>
                          </a:solidFill>
                          <a:latin typeface="맑은 고딕"/>
                          <a:ea typeface="맑은 고딕"/>
                        </a:rPr>
                        <a:t>항목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값</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상태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1000" b="1">
                          <a:solidFill>
                            <a:srgbClr val="000000"/>
                          </a:solidFill>
                          <a:latin typeface="맑은 고딕"/>
                          <a:ea typeface="맑은 고딕"/>
                        </a:rPr>
                        <a:t>노드 / GPU</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2 노드 × H100 SXM 80GB × 8 = 16 GPU</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보유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GPU 사양</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HBM3 3.35 TB/s, BF16 dense 989 TFLOPS, NVLink 900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공개 spec [B]</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모델 / 정밀도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Llama-3.1-70B, BF16, TP=8 (노드당 replica 1개)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공통 프로필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워크로드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입력 8K / 출력 256, prefix 재사용 통제, SLO TTFT P99 ≤ 2 s · TPOT P99 ≤ 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공통 프로필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Baseline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vLLM + 정책 없는 기본 라우팅 (상태·캐시 비인지)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실측 [A]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노드 간 링크 / 호스트 DRAM / SSD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확인 필요 (KV 전송 계산은 400 Gb/s ≈ 50 GB/s 가정)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미확인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graphicFrame>
        <p:nvGraphicFramePr>
          <p:cNvPr id="7" name="tbl"/>
          <p:cNvGraphicFramePr>
            <a:graphicFrameLocks noGrp="1"/>
          </p:cNvGraphicFramePr>
          <p:nvPr/>
        </p:nvGraphicFramePr>
        <p:xfrm>
          <a:off x="365760" y="3931920"/>
          <a:ext cx="11457432" cy="1956816"/>
        </p:xfrm>
        <a:graphic>
          <a:graphicData uri="http://schemas.openxmlformats.org/drawingml/2006/table">
            <a:tbl>
              <a:tblPr firstRow="0" bandRow="0">
                <a:tableStyleId>{5C22544A-7EE6-4342-B048-85BDC9FD1C3A}</a:tableStyleId>
              </a:tblPr>
              <a:tblGrid>
                <a:gridCol w="3840480"/>
                <a:gridCol w="5669280"/>
                <a:gridCol w="1947672"/>
              </a:tblGrid>
              <a:tr h="310896">
                <a:tc>
                  <a:txBody>
                    <a:bodyPr wrap="square"/>
                    <a:lstStyle/>
                    <a:p>
                      <a:pPr algn="ctr"/>
                      <a:r>
                        <a:rPr sz="950" b="1">
                          <a:solidFill>
                            <a:srgbClr val="FFFFFF"/>
                          </a:solidFill>
                          <a:latin typeface="맑은 고딕"/>
                          <a:ea typeface="맑은 고딕"/>
                        </a:rPr>
                        <a:t>값</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출처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Evidence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29184">
                <a:tc>
                  <a:txBody>
                    <a:bodyPr wrap="square"/>
                    <a:lstStyle/>
                    <a:p>
                      <a:pPr algn="l"/>
                      <a:r>
                        <a:rPr sz="950" b="0">
                          <a:solidFill>
                            <a:srgbClr val="000000"/>
                          </a:solidFill>
                          <a:latin typeface="맑은 고딕"/>
                          <a:ea typeface="맑은 고딕"/>
                        </a:rPr>
                        <a:t>Baseline 처리량·지연·SE(N0=2)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보유 시스템 실측 (seed ≥ 5, P99·Goodput 기록)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HBM·호스트 DRAM 대역폭·용량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실물 + 공개 spec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[A]/[B]</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CXL·HBF·SSD tier 성능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문헌·vendor spec을 입력으로 한 시뮬레이터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후보 2 결정 경로·상태 갱신 부하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모델 + E1 보정(미측정)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N &gt; 2 서버 확장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모델 외삽 (실측은 2노드까지)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8" name="foot_msg"/>
          <p:cNvSpPr txBox="1"/>
          <p:nvPr/>
        </p:nvSpPr>
        <p:spPr>
          <a:xfrm>
            <a:off x="365760" y="5989320"/>
            <a:ext cx="11430000" cy="36576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실측으로 확인한 것은 Baseline뿐이다. 후보 값(처리량·지연·SE)은 Baseline 실측 위에 시뮬레이터를 얹은 [A+C]다.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시뮬레이션 구성 가정 (DP1 · DP2 · DP3 공통 시스템)</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실물이 없어 모델로 평가 · 하드웨어는 공개 spec·vendor 자료를 입력으로 하고 모델은 이산 사건 시뮬레이터 · 증거 수준 [B+C] · ASSUMED 항목은 민감도 확인 필요</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doc-mk/Evaluation/system-specs.md (DP1/sim/configs, 값의 provenance는 거기). 평가는 SYS-H100과 SYS-B200 두 세대를 모두 보고한다.</a:t>
            </a:r>
          </a:p>
        </p:txBody>
      </p:sp>
      <p:graphicFrame>
        <p:nvGraphicFramePr>
          <p:cNvPr id="6" name="tbl"/>
          <p:cNvGraphicFramePr>
            <a:graphicFrameLocks noGrp="1"/>
          </p:cNvGraphicFramePr>
          <p:nvPr/>
        </p:nvGraphicFramePr>
        <p:xfrm>
          <a:off x="365760" y="1188720"/>
          <a:ext cx="11457432" cy="2999232"/>
        </p:xfrm>
        <a:graphic>
          <a:graphicData uri="http://schemas.openxmlformats.org/drawingml/2006/table">
            <a:tbl>
              <a:tblPr firstRow="0" bandRow="0">
                <a:tableStyleId>{5C22544A-7EE6-4342-B048-85BDC9FD1C3A}</a:tableStyleId>
              </a:tblPr>
              <a:tblGrid>
                <a:gridCol w="1737360"/>
                <a:gridCol w="3840480"/>
                <a:gridCol w="2926080"/>
                <a:gridCol w="2953512"/>
              </a:tblGrid>
              <a:tr h="310896">
                <a:tc>
                  <a:txBody>
                    <a:bodyPr wrap="square"/>
                    <a:lstStyle/>
                    <a:p>
                      <a:pPr algn="ctr"/>
                      <a:r>
                        <a:rPr sz="850" b="1">
                          <a:solidFill>
                            <a:srgbClr val="FFFFFF"/>
                          </a:solidFill>
                          <a:latin typeface="맑은 고딕"/>
                          <a:ea typeface="맑은 고딕"/>
                        </a:rPr>
                        <a:t>구분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SYS-H100 (Hopper급)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SYS-B200 (Blackwell급)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비고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84048">
                <a:tc>
                  <a:txBody>
                    <a:bodyPr wrap="square"/>
                    <a:lstStyle/>
                    <a:p>
                      <a:pPr algn="l"/>
                      <a:r>
                        <a:rPr sz="850" b="1">
                          <a:solidFill>
                            <a:srgbClr val="000000"/>
                          </a:solidFill>
                          <a:latin typeface="맑은 고딕"/>
                          <a:ea typeface="맑은 고딕"/>
                        </a:rPr>
                        <a:t>GPU / HBM (노드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H100 × 8, HBM3 80 GiB × 8 = 640 GiB, 26.8 TB/s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B200 × 8, HBM3e 192 GiB × 8, 64 TB/s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8-GPU 노드를 TP8 하나의 장치로 모델. HBM 90%만 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FP16 dense / GPU</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989 TFLOPS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2,250 TFLOPS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공개 값 (원문 검증 필요)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Custom HBM (ScHBM)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160 GiB, 내부 6.7 TB/s, 외부 63 GB/s, 지연 2 µs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384 GiB, 내부 16 TB/s, 외부 63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세대 없음, host link 속도만 다름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CXL-PNM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512 GiB, 내부 400 GB/s, 외부 63 GB/s, 지연 300 ns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같음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DRAM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DDR5-4800, 1 TiB, 내부 300 GB/s, 외부 64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DDR5-6400, 내부 400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호스트 메모리 [PUBLIC]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HBF</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2 TiB, 읽기 1 TB/s(GPU 직결), 쓰기 50 GB/s, 지연 5 µs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같음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link와 무관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SSD-PIM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16 TiB, 외부 16 GB/s, 내부 200 GB/s, 지연 60 µs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같음 (NVMe PCIe 5.0 x4)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343400"/>
            <a:ext cx="5596128" cy="205740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무엇을 어떻게 가정했나</a:t>
            </a:r>
          </a:p>
          <a:p>
            <a:pPr algn="l">
              <a:spcAft>
                <a:spcPts val="250"/>
              </a:spcAft>
            </a:pPr>
            <a:r>
              <a:rPr sz="900" b="0">
                <a:solidFill>
                  <a:srgbClr val="000000"/>
                </a:solidFill>
                <a:latin typeface="맑은 고딕"/>
                <a:ea typeface="맑은 고딕"/>
              </a:rPr>
              <a:t>• 시스템 구성: 노드 1대 = 8-GPU(NVLink 도메인 1개). 6종 메모리(HBM, ScHBM, CXL-PNM, DRAM, HBF, SSD-PIM)가 모든 profile에 있다. 모델 Llama-3.1-70B BF16, KV 320 KiB/token.</a:t>
            </a:r>
          </a:p>
          <a:p>
            <a:pPr algn="l">
              <a:spcAft>
                <a:spcPts val="250"/>
              </a:spcAft>
            </a:pPr>
            <a:r>
              <a:rPr sz="900" b="0">
                <a:solidFill>
                  <a:srgbClr val="000000"/>
                </a:solidFill>
                <a:latin typeface="맑은 고딕"/>
                <a:ea typeface="맑은 고딕"/>
              </a:rPr>
              <a:t>• 신규 메모리 스펙: 실물이 없어 vendor·문헌 값과 가정으로 정했다. 신규 메모리에는 과거 세대가 없어 같은 장치를 모든 플랫폼에 쓰고 host link 속도만 바꾼다(link-bound scaling).</a:t>
            </a:r>
          </a:p>
          <a:p>
            <a:pPr algn="l">
              <a:spcAft>
                <a:spcPts val="250"/>
              </a:spcAft>
            </a:pPr>
            <a:r>
              <a:rPr sz="900" b="0">
                <a:solidFill>
                  <a:srgbClr val="000000"/>
                </a:solidFill>
                <a:latin typeface="맑은 고딕"/>
                <a:ea typeface="맑은 고딕"/>
              </a:rPr>
              <a:t>• Interconnect: host PCIe 5.0 x16 63 GB/s(방향당), CXL 2.0. ScHBM의 외부 BW는 host link 1가닥을 도메인 전체가 공유한다. HBF는 GPU 직결(UCIe)이라 link와 무관. (DP2는 노드 내 결정이라 노드 간 링크를 쓰지 않는다.)</a:t>
            </a:r>
          </a:p>
        </p:txBody>
      </p:sp>
      <p:sp>
        <p:nvSpPr>
          <p:cNvPr id="8" name="r"/>
          <p:cNvSpPr txBox="1"/>
          <p:nvPr/>
        </p:nvSpPr>
        <p:spPr>
          <a:xfrm>
            <a:off x="6199632" y="4343400"/>
            <a:ext cx="5596128" cy="2057400"/>
          </a:xfrm>
          <a:prstGeom prst="rect">
            <a:avLst/>
          </a:prstGeom>
          <a:noFill/>
        </p:spPr>
        <p:txBody>
          <a:bodyPr wrap="square" lIns="73152" rIns="73152" tIns="36576" bIns="36576" anchor="t">
            <a:spAutoFit/>
          </a:bodyPr>
          <a:lstStyle/>
          <a:p>
            <a:pPr algn="l">
              <a:spcAft>
                <a:spcPts val="250"/>
              </a:spcAft>
            </a:pPr>
            <a:r>
              <a:rPr sz="1000" b="1">
                <a:solidFill>
                  <a:srgbClr val="C00000"/>
                </a:solidFill>
                <a:latin typeface="맑은 고딕"/>
                <a:ea typeface="맑은 고딕"/>
              </a:rPr>
              <a:t>시뮬레이션 방식과 한계</a:t>
            </a:r>
          </a:p>
          <a:p>
            <a:pPr algn="l">
              <a:spcAft>
                <a:spcPts val="250"/>
              </a:spcAft>
            </a:pPr>
            <a:r>
              <a:rPr sz="900" b="0">
                <a:solidFill>
                  <a:srgbClr val="000000"/>
                </a:solidFill>
                <a:latin typeface="맑은 고딕"/>
                <a:ea typeface="맑은 고딕"/>
              </a:rPr>
              <a:t>• 시뮬레이터: DP1 = 객체 이동 정책 시뮬레이터, DP2 = 노드 내 attention 실행 위치 결정(Dispatcher 대 Blackboard), DP3 = 요청 단위 GPU timeline(적재 → prefill → decode). 서비스 시간 = 바이트 ÷ 대역폭 + 지연, tier별 FIFO.</a:t>
            </a:r>
          </a:p>
          <a:p>
            <a:pPr algn="l">
              <a:spcAft>
                <a:spcPts val="250"/>
              </a:spcAft>
            </a:pPr>
            <a:r>
              <a:rPr sz="900" b="0">
                <a:solidFill>
                  <a:srgbClr val="000000"/>
                </a:solidFill>
                <a:latin typeface="맑은 고딕"/>
                <a:ea typeface="맑은 고딕"/>
              </a:rPr>
              <a:t>• 모든 평가는 seed ≥ 5, load sweep, Baseline-regression loop를 따른다. 시스템 profile 값은 결과를 보고 바꾸지 않았다.</a:t>
            </a:r>
          </a:p>
          <a:p>
            <a:pPr algn="l">
              <a:spcAft>
                <a:spcPts val="250"/>
              </a:spcAft>
            </a:pPr>
            <a:r>
              <a:rPr sz="900" b="0">
                <a:solidFill>
                  <a:srgbClr val="000000"/>
                </a:solidFill>
                <a:latin typeface="맑은 고딕"/>
                <a:ea typeface="맑은 고딕"/>
              </a:rPr>
              <a:t>• 한계: 신규 메모리 값은 가정이고, A100/H100/B200 수치도 원문 검증을 못 했다. PCIe 6.0 raw 값, cxl_pnm FP16 = FP32 × 2 가정이 결과를 바꿀 수 있다.</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TotalTime>
  <Words>12776</Words>
  <Application>Microsoft Office PowerPoint</Application>
  <PresentationFormat>와이드스크린</PresentationFormat>
  <Paragraphs>1628</Paragraphs>
  <Slides>35</Slides>
  <Notes>6</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35</vt:i4>
      </vt:variant>
    </vt:vector>
  </HeadingPairs>
  <TitlesOfParts>
    <vt:vector size="40" baseType="lpstr">
      <vt:lpstr>맑은 고딕</vt:lpstr>
      <vt:lpstr>맑은 고딕</vt:lpstr>
      <vt:lpstr>Arial</vt:lpstr>
      <vt:lpstr>Wingdings</vt:lpstr>
      <vt:lpstr>Office 테마</vt:lpstr>
      <vt:lpstr>전체 DP 별 QA</vt:lpstr>
      <vt:lpstr>PowerPoint 프레젠테이션</vt:lpstr>
      <vt:lpstr>DP1. 이기종 메모리 기반 Data Migration 결정 구조 - 설계</vt:lpstr>
      <vt:lpstr>DP1. 이기종 메모리 기반 Data Migration 결정 구조 - 설계</vt:lpstr>
      <vt:lpstr>PowerPoint 프레젠테이션</vt:lpstr>
      <vt:lpstr>DP2. 이기종 메모리 환경의 연산(Prefill/Decode) 실행 위치 결정 구조 - 설계</vt:lpstr>
      <vt:lpstr>PowerPoint 프레젠테이션</vt:lpstr>
      <vt:lpstr>DP3. Long Context를 위한 KV 캐시 압축 및 재사용 구조 – 설계 </vt:lpstr>
      <vt:lpstr>PowerPoint 프레젠테이션</vt:lpstr>
      <vt:lpstr>DP0. 요청 조율 계층 (Orchestration) 설계 - 구조</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전체 DP 별 QA</dc:title>
  <dc:creator>Myeong Woo Kim</dc:creator>
  <cp:lastModifiedBy>Myeong Woo Kim</cp:lastModifiedBy>
  <cp:revision>2</cp:revision>
  <dcterms:created xsi:type="dcterms:W3CDTF">2026-10-10T16:13:15Z</dcterms:created>
  <dcterms:modified xsi:type="dcterms:W3CDTF">2026-10-10T16:22:24Z</dcterms:modified>
</cp:coreProperties>
</file>
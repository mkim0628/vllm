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다이어그램은 트레이드오프 별점의 정량 근거를 생산하는 도구다. 오른쪽 열이 그 다이어그램이 뒷받침하는 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좌측 스택(Scheduler→Placer→BlockPool→HW)은 두 후보가 동일하다. 차이는 오른쪽에 무엇이 붙는가뿐이며, 그것이 곧 결정 변수의 차이다.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C1의 실패 모드(herding)와 C2의 이점(분산)이 같은 그림에서 대비된다.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시퀀스는 반드시 동일 시나리오여야 메시지 수 비교가 성립한다. 점선은 반환 메시지.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⚠ 표시한 ObjectFeature 세 필드가 C2 비용의 본질 — 관측 불가 지표 100%.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QA 별점 매트릭스의 정량 근거 원본이다.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74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8AA4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MEMORY PLACEMENT DECISION BASIS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30428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구조 상세 다이어그램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0896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 변수: 배치 정책의 인덱스 축을 자원(tier)에 둘 것인가, 객체 특성에 둘 것인가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39136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코드가 어디에 살고 의존이 어디로 향하는가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QA2 · QA4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480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컴포넌트 &amp; 커넥터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44805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런타임 인스턴스와 통신 경로, 표현 가능한 관계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4480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QA1 · QA3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047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50474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 1건이 배치에 도달하기까지의 단계 수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5047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QA1 · QA2 · QA3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614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561441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시 수정해야 하는 지점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5614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B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QA2 · QA4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백데이터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 뷰 — 코드가 어디에 살고 의존이 어디로 향하는가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 — Tier-Indexed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5331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모듈 2개 · 갱신 소스 1곳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63640" y="11155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060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2 — Object-Indexed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35331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모듈 4개 · 외부 특성 소스 추가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5440680" cy="3017520"/>
          </a:xfrm>
          <a:prstGeom prst="roundRect">
            <a:avLst>
              <a:gd name="adj" fmla="val 1515"/>
            </a:avLst>
          </a:prstGeom>
          <a:solidFill>
            <a:srgbClr val="F7F9FA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755648"/>
            <a:ext cx="5440680" cy="3017520"/>
          </a:xfrm>
          <a:prstGeom prst="roundRect">
            <a:avLst>
              <a:gd name="adj" fmla="val 1515"/>
            </a:avLst>
          </a:prstGeom>
          <a:solidFill>
            <a:srgbClr val="F7F9FA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956816"/>
            <a:ext cx="2331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1956816"/>
            <a:ext cx="23317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4228" y="2468880"/>
            <a:ext cx="0" cy="27432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8368" y="2743200"/>
            <a:ext cx="2331720" cy="512064"/>
          </a:xfrm>
          <a:prstGeom prst="roundRect">
            <a:avLst>
              <a:gd name="adj" fmla="val 8929"/>
            </a:avLst>
          </a:prstGeom>
          <a:solidFill>
            <a:srgbClr val="E8F2F1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2743200"/>
            <a:ext cx="23317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24228" y="3255264"/>
            <a:ext cx="0" cy="27432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8368" y="3529584"/>
            <a:ext cx="2331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529584"/>
            <a:ext cx="23317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BlockPool (tier별)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4228" y="4041648"/>
            <a:ext cx="0" cy="27432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8368" y="4315968"/>
            <a:ext cx="2331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4315968"/>
            <a:ext cx="23317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tiers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64808" y="1956816"/>
            <a:ext cx="2331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4808" y="1956816"/>
            <a:ext cx="23317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30668" y="2468880"/>
            <a:ext cx="0" cy="27432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64808" y="2743200"/>
            <a:ext cx="2331720" cy="512064"/>
          </a:xfrm>
          <a:prstGeom prst="roundRect">
            <a:avLst>
              <a:gd name="adj" fmla="val 8929"/>
            </a:avLst>
          </a:prstGeom>
          <a:solidFill>
            <a:srgbClr val="F8EBE7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64808" y="2743200"/>
            <a:ext cx="23317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630668" y="3255264"/>
            <a:ext cx="0" cy="27432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64808" y="3529584"/>
            <a:ext cx="2331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64808" y="3529584"/>
            <a:ext cx="23317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BlockPool (tier별)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630668" y="4041648"/>
            <a:ext cx="0" cy="27432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64808" y="4315968"/>
            <a:ext cx="23317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64808" y="4315968"/>
            <a:ext cx="23317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tiers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46120" y="2743200"/>
            <a:ext cx="2423160" cy="512064"/>
          </a:xfrm>
          <a:prstGeom prst="roundRect">
            <a:avLst>
              <a:gd name="adj" fmla="val 8929"/>
            </a:avLst>
          </a:prstGeom>
          <a:solidFill>
            <a:srgbClr val="E8F2F1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246120" y="2743200"/>
            <a:ext cx="242316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TierStateTable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용량·대역폭·지연·이동비용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46120" y="3529584"/>
            <a:ext cx="24231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246120" y="3529584"/>
            <a:ext cx="242316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/ Device probes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 flipV="1">
            <a:off x="4457700" y="3255264"/>
            <a:ext cx="0" cy="27432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990088" y="2999232"/>
            <a:ext cx="256032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052560" y="1920240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F8EBE7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52560" y="1920240"/>
            <a:ext cx="2423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ObjectClassifier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264140" y="2377440"/>
            <a:ext cx="0" cy="201168"/>
          </a:xfrm>
          <a:prstGeom prst="line">
            <a:avLst/>
          </a:prstGeom>
          <a:noFill/>
          <a:ln w="12700">
            <a:solidFill>
              <a:srgbClr val="B0503F"/>
            </a:solidFill>
            <a:prstDash val="dash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052560" y="2578608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052560" y="2578608"/>
            <a:ext cx="2423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source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힌트 API · 휴리스틱 · 통계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052560" y="3236976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F8EBE7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52560" y="3236976"/>
            <a:ext cx="2423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Class-Tier Contract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052560" y="3895344"/>
            <a:ext cx="2423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052560" y="3895344"/>
            <a:ext cx="2423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Evictor (자리 확보)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 flipV="1">
            <a:off x="8796528" y="2148840"/>
            <a:ext cx="256032" cy="850392"/>
          </a:xfrm>
          <a:prstGeom prst="line">
            <a:avLst/>
          </a:prstGeom>
          <a:noFill/>
          <a:ln w="12700">
            <a:solidFill>
              <a:srgbClr val="B0503F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796528" y="2999232"/>
            <a:ext cx="256032" cy="466344"/>
          </a:xfrm>
          <a:prstGeom prst="line">
            <a:avLst/>
          </a:prstGeom>
          <a:noFill/>
          <a:ln w="12700">
            <a:solidFill>
              <a:srgbClr val="B0503F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796528" y="2999232"/>
            <a:ext cx="256032" cy="1124712"/>
          </a:xfrm>
          <a:prstGeom prst="line">
            <a:avLst/>
          </a:prstGeom>
          <a:noFill/>
          <a:ln w="12700">
            <a:solidFill>
              <a:srgbClr val="B0503F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457200" y="4956048"/>
            <a:ext cx="5440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의존이 한 방향 — Scheduler → Placer → BlockPool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capability를 아는 모듈은 TierStateTable 하나, 갱신 소스도 디바이스 계측 하나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타입에 대한 의존이 없어 스케줄러와의 결합이 얇다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05332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QA2 근거: 갱신 소스가 자원 쪽 하나로 국한된다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263640" y="4956048"/>
            <a:ext cx="5440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Placer · Classifier · Contract · Evictor 연동으로 신규 모듈 4개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source는 시스템 밖에서 정보를 들여오는 새 파이프라인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 준수를 위해 Placer가 Evictor 호출 권한을 가짐 → eviction 정책과 결합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6263640" y="605332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QA2 · QA4 근거: 정보 소스가 늘고, 결정 근거는 객체에 남는다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백데이터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컴포넌트 &amp; 커넥터 — 런타임에 무엇이 몇 개 존재하고 어떻게 연결되는가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 — Tier-Indexed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5331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24개 1벌 · 요청 수와 무관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63640" y="11155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060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2 — Object-Indexed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35331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특성 벡터 요청당 1개 · 8개 클래스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5440680" cy="3017520"/>
          </a:xfrm>
          <a:prstGeom prst="roundRect">
            <a:avLst>
              <a:gd name="adj" fmla="val 1515"/>
            </a:avLst>
          </a:prstGeom>
          <a:solidFill>
            <a:srgbClr val="F7F9FA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755648"/>
            <a:ext cx="5440680" cy="3017520"/>
          </a:xfrm>
          <a:prstGeom prst="roundRect">
            <a:avLst>
              <a:gd name="adj" fmla="val 1515"/>
            </a:avLst>
          </a:prstGeom>
          <a:solidFill>
            <a:srgbClr val="F7F9FA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258568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258568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 요청 A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(익명)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" y="2990088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990088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할당 요청 B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(익명)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86584" y="2624328"/>
            <a:ext cx="1600200" cy="548640"/>
          </a:xfrm>
          <a:prstGeom prst="roundRect">
            <a:avLst>
              <a:gd name="adj" fmla="val 8333"/>
            </a:avLst>
          </a:prstGeom>
          <a:solidFill>
            <a:srgbClr val="E8F2F1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86584" y="2624328"/>
            <a:ext cx="16002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86584" y="3355848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86584" y="3355848"/>
            <a:ext cx="16002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State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24개 지표 1벌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 flipV="1">
            <a:off x="3186684" y="3172968"/>
            <a:ext cx="0" cy="182880"/>
          </a:xfrm>
          <a:prstGeom prst="line">
            <a:avLst/>
          </a:prstGeom>
          <a:noFill/>
          <a:ln w="12700">
            <a:solidFill>
              <a:srgbClr val="0B6E6E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947672" y="2496312"/>
            <a:ext cx="438912" cy="265176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1947672" y="3035808"/>
            <a:ext cx="438912" cy="192024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425696" y="2139696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25696" y="2139696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25696" y="2798064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25696" y="2798064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DRAM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25696" y="3456432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25696" y="3456432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flipV="1">
            <a:off x="3986784" y="2377440"/>
            <a:ext cx="438912" cy="429768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3986784" y="2377440"/>
            <a:ext cx="438912" cy="566928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4379976" y="415137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스텝 → 같은 tier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28232" y="2258568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F8EBE7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28232" y="2258568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 A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· short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28232" y="2990088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28232" y="2990088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 B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· long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193024" y="2624328"/>
            <a:ext cx="1600200" cy="548640"/>
          </a:xfrm>
          <a:prstGeom prst="roundRect">
            <a:avLst>
              <a:gd name="adj" fmla="val 8333"/>
            </a:avLst>
          </a:prstGeom>
          <a:solidFill>
            <a:srgbClr val="F8EBE7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93024" y="2624328"/>
            <a:ext cx="16002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93024" y="3355848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93024" y="3355848"/>
            <a:ext cx="16002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→ Tier 계약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클래스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 flipV="1">
            <a:off x="8993124" y="3172968"/>
            <a:ext cx="0" cy="182880"/>
          </a:xfrm>
          <a:prstGeom prst="line">
            <a:avLst/>
          </a:prstGeom>
          <a:noFill/>
          <a:ln w="12700">
            <a:solidFill>
              <a:srgbClr val="B0503F"/>
            </a:solidFill>
            <a:prstDash val="dash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754112" y="2496312"/>
            <a:ext cx="438912" cy="265176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7754112" y="3035808"/>
            <a:ext cx="438912" cy="192024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232136" y="2139696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232136" y="2139696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232136" y="2798064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32136" y="2798064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DRAM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232136" y="3456432"/>
            <a:ext cx="132588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232136" y="3456432"/>
            <a:ext cx="13258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 flipV="1">
            <a:off x="9793224" y="2377440"/>
            <a:ext cx="438912" cy="384048"/>
          </a:xfrm>
          <a:prstGeom prst="line">
            <a:avLst/>
          </a:prstGeom>
          <a:noFill/>
          <a:ln w="12700">
            <a:solidFill>
              <a:srgbClr val="B0503F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793224" y="3081528"/>
            <a:ext cx="438912" cy="612648"/>
          </a:xfrm>
          <a:prstGeom prst="line">
            <a:avLst/>
          </a:prstGeom>
          <a:noFill/>
          <a:ln w="12700">
            <a:solidFill>
              <a:srgbClr val="B0503F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10186416" y="415137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클래스별로 분산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4956048"/>
            <a:ext cx="5440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런타임 상태는 24개 지표 1벌 — 요청 수 N과 무관하다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A·B가 구분되지 않아 같은 스텝에서는 같은 점수를 보고 같은 tier를 고른다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max_num_seqs=128 기준 스텝당 수십~수백 건이 몰릴 수 있어 예약 카운터가 사실상 필수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05332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QA3 감점 근거이자 QA2 가점 근거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263640" y="4956048"/>
            <a:ext cx="5440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요청마다 특성 벡터가 붙어 이진 3특성 기준 8개 클래스를 구분한다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스텝의 서로 다른 객체가 다른 tier로 흩어져 herding이 발생하지 않는다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 상태가 객체 수에 비례하고, 계약 위반 시 eviction 커넥터가 발생한다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6263640" y="605332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QA1 근거 및 QA2 비용 근거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백데이터 ③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 — 동일 시나리오: 스케줄 스텝에서 한 요청에 블록 4개 신규 할당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 — Tier-Indexed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5331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5개 · 상태 조회 1회 · 추정 0회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63640" y="11155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060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2 — Object-Indexed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35331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7개(경합 시 9개) · 분류 1회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5440680" cy="3017520"/>
          </a:xfrm>
          <a:prstGeom prst="roundRect">
            <a:avLst>
              <a:gd name="adj" fmla="val 1515"/>
            </a:avLst>
          </a:prstGeom>
          <a:solidFill>
            <a:srgbClr val="F7F9FA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755648"/>
            <a:ext cx="5440680" cy="3017520"/>
          </a:xfrm>
          <a:prstGeom prst="roundRect">
            <a:avLst>
              <a:gd name="adj" fmla="val 1515"/>
            </a:avLst>
          </a:prstGeom>
          <a:solidFill>
            <a:srgbClr val="F7F9FA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8645" y="1901952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8645" y="1901952"/>
            <a:ext cx="10972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137285" y="2267712"/>
            <a:ext cx="0" cy="2084832"/>
          </a:xfrm>
          <a:prstGeom prst="line">
            <a:avLst/>
          </a:prstGeom>
          <a:noFill/>
          <a:ln w="9525">
            <a:solidFill>
              <a:srgbClr val="DCE1E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948815" y="1901952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48815" y="1901952"/>
            <a:ext cx="10972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97455" y="2267712"/>
            <a:ext cx="0" cy="2084832"/>
          </a:xfrm>
          <a:prstGeom prst="line">
            <a:avLst/>
          </a:prstGeom>
          <a:noFill/>
          <a:ln w="9525">
            <a:solidFill>
              <a:srgbClr val="DCE1E7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308985" y="1901952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08985" y="1901952"/>
            <a:ext cx="10972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TierState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57625" y="2267712"/>
            <a:ext cx="0" cy="2084832"/>
          </a:xfrm>
          <a:prstGeom prst="line">
            <a:avLst/>
          </a:prstGeom>
          <a:noFill/>
          <a:ln w="9525">
            <a:solidFill>
              <a:srgbClr val="DCE1E7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669155" y="1901952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9155" y="1901952"/>
            <a:ext cx="10972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BlockPool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217795" y="2267712"/>
            <a:ext cx="0" cy="2084832"/>
          </a:xfrm>
          <a:prstGeom prst="line">
            <a:avLst/>
          </a:prstGeom>
          <a:noFill/>
          <a:ln w="9525">
            <a:solidFill>
              <a:srgbClr val="DCE1E7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137285" y="2542032"/>
            <a:ext cx="1360170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1131570" y="23500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allocate(4)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97455" y="3010662"/>
            <a:ext cx="1360170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491740" y="281863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states(6)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 flipH="1">
            <a:off x="2497455" y="3479292"/>
            <a:ext cx="1360170" cy="0"/>
          </a:xfrm>
          <a:prstGeom prst="line">
            <a:avLst/>
          </a:prstGeom>
          <a:noFill/>
          <a:ln w="12700">
            <a:solidFill>
              <a:srgbClr val="7B8794"/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2491740" y="32872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497455" y="3947922"/>
            <a:ext cx="2720340" cy="0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497455" y="3755898"/>
            <a:ext cx="27203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get_blocks(4)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 flipH="1">
            <a:off x="1137285" y="4416552"/>
            <a:ext cx="4080510" cy="0"/>
          </a:xfrm>
          <a:prstGeom prst="line">
            <a:avLst/>
          </a:prstGeom>
          <a:noFill/>
          <a:ln w="12700">
            <a:solidFill>
              <a:srgbClr val="7B8794"/>
            </a:solidFill>
            <a:prstDash val="dash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1137285" y="4224528"/>
            <a:ext cx="40805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446227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식별자가 경로에 등장하지 않는다 — 익명 요청의 구조적 의미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09360" y="1901952"/>
            <a:ext cx="99669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09360" y="1901952"/>
            <a:ext cx="9966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07708" y="2267712"/>
            <a:ext cx="0" cy="2084832"/>
          </a:xfrm>
          <a:prstGeom prst="line">
            <a:avLst/>
          </a:prstGeom>
          <a:noFill/>
          <a:ln w="9525">
            <a:solidFill>
              <a:srgbClr val="DCE1E7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7397496" y="1901952"/>
            <a:ext cx="99669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97496" y="1901952"/>
            <a:ext cx="9966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895844" y="2267712"/>
            <a:ext cx="0" cy="2084832"/>
          </a:xfrm>
          <a:prstGeom prst="line">
            <a:avLst/>
          </a:prstGeom>
          <a:noFill/>
          <a:ln w="9525">
            <a:solidFill>
              <a:srgbClr val="DCE1E7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8485632" y="1901952"/>
            <a:ext cx="99669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85632" y="1901952"/>
            <a:ext cx="9966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983980" y="2267712"/>
            <a:ext cx="0" cy="2084832"/>
          </a:xfrm>
          <a:prstGeom prst="line">
            <a:avLst/>
          </a:prstGeom>
          <a:noFill/>
          <a:ln w="9525">
            <a:solidFill>
              <a:srgbClr val="DCE1E7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9573768" y="1901952"/>
            <a:ext cx="99669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573768" y="1901952"/>
            <a:ext cx="9966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072116" y="2267712"/>
            <a:ext cx="0" cy="2084832"/>
          </a:xfrm>
          <a:prstGeom prst="line">
            <a:avLst/>
          </a:prstGeom>
          <a:noFill/>
          <a:ln w="9525">
            <a:solidFill>
              <a:srgbClr val="DCE1E7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10661904" y="1901952"/>
            <a:ext cx="99669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7B879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661904" y="1901952"/>
            <a:ext cx="99669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BlockPool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1160252" y="2267712"/>
            <a:ext cx="0" cy="2084832"/>
          </a:xfrm>
          <a:prstGeom prst="line">
            <a:avLst/>
          </a:prstGeom>
          <a:noFill/>
          <a:ln w="9525">
            <a:solidFill>
              <a:srgbClr val="DCE1E7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807708" y="2542032"/>
            <a:ext cx="1088136" cy="0"/>
          </a:xfrm>
          <a:prstGeom prst="line">
            <a:avLst/>
          </a:prstGeom>
          <a:noFill/>
          <a:ln w="12700">
            <a:solidFill>
              <a:srgbClr val="B0503F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6665976" y="23500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allocate(4, request)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895844" y="2854452"/>
            <a:ext cx="1088136" cy="0"/>
          </a:xfrm>
          <a:prstGeom prst="line">
            <a:avLst/>
          </a:prstGeom>
          <a:noFill/>
          <a:ln w="12700">
            <a:solidFill>
              <a:srgbClr val="B0503F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7754112" y="26624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classify(req)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 flipH="1">
            <a:off x="7895844" y="3166872"/>
            <a:ext cx="1088136" cy="0"/>
          </a:xfrm>
          <a:prstGeom prst="line">
            <a:avLst/>
          </a:prstGeom>
          <a:noFill/>
          <a:ln w="12700">
            <a:solidFill>
              <a:srgbClr val="7B8794"/>
            </a:solidFill>
            <a:prstDash val="dash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7754112" y="2974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class(hot, short)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895844" y="3479292"/>
            <a:ext cx="2176272" cy="0"/>
          </a:xfrm>
          <a:prstGeom prst="line">
            <a:avLst/>
          </a:prstGeom>
          <a:noFill/>
          <a:ln w="12700">
            <a:solidFill>
              <a:srgbClr val="B0503F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7895844" y="328726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target_tier()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 flipH="1">
            <a:off x="7895844" y="3791712"/>
            <a:ext cx="2176272" cy="0"/>
          </a:xfrm>
          <a:prstGeom prst="line">
            <a:avLst/>
          </a:prstGeom>
          <a:noFill/>
          <a:ln w="12700">
            <a:solidFill>
              <a:srgbClr val="7B8794"/>
            </a:solidFill>
            <a:prstDash val="dash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7895844" y="359968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895844" y="4104132"/>
            <a:ext cx="3264408" cy="0"/>
          </a:xfrm>
          <a:prstGeom prst="line">
            <a:avLst/>
          </a:prstGeom>
          <a:noFill/>
          <a:ln w="12700">
            <a:solidFill>
              <a:srgbClr val="B0503F"/>
            </a:solidFill>
            <a:prstDash val="solid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7895844" y="3912108"/>
            <a:ext cx="3264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get_blocks(4)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 flipH="1">
            <a:off x="6807708" y="4416552"/>
            <a:ext cx="4352544" cy="0"/>
          </a:xfrm>
          <a:prstGeom prst="line">
            <a:avLst/>
          </a:prstGeom>
          <a:noFill/>
          <a:ln w="12700">
            <a:solidFill>
              <a:srgbClr val="7B8794"/>
            </a:solidFill>
            <a:prstDash val="dash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6807708" y="4224528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6400800" y="4462272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full이면 Evictor.make_room() 2단계가 임계 경로에 추가된다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" y="4956048"/>
            <a:ext cx="5440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5개, 전역 상태 조회 1회(6 tier 스캔), 객체 조회 0회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입력이 전부 현재 관측값이라 추정 단계가 없다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스텝의 다음 요청도 같은 점수를 보므로 예약 반영이 필요하다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57200" y="605332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QA2 · QA3 근거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6263640" y="4956048"/>
            <a:ext cx="5440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7개(경합 시 9개), 분류는 객체당 최초 1회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 결과가 수명 동안 재사용되어 반복 비용은 낮다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결정이 틀리면 그대로 고착되고, 경합 시 eviction이 결정 지연 분산을 키운다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6263640" y="605332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QA1 · QA3 · QA4 근거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백데이터 ④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 — 신규 tier / 신규 객체 유형을 추가할 때 어디를 수정하는가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060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 — Tier-Indexed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5331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 3개 · 신규 tier = 행 1개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63640" y="11155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060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2 — Object-Indexed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353312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 4개 · 신규 tier = 8개 계약 재정의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5440680" cy="3017520"/>
          </a:xfrm>
          <a:prstGeom prst="roundRect">
            <a:avLst>
              <a:gd name="adj" fmla="val 1515"/>
            </a:avLst>
          </a:prstGeom>
          <a:solidFill>
            <a:srgbClr val="F7F9FA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755648"/>
            <a:ext cx="5440680" cy="3017520"/>
          </a:xfrm>
          <a:prstGeom prst="roundRect">
            <a:avLst>
              <a:gd name="adj" fmla="val 1515"/>
            </a:avLst>
          </a:prstGeom>
          <a:solidFill>
            <a:srgbClr val="F7F9FA"/>
          </a:solidFill>
          <a:ln w="9525">
            <a:solidFill>
              <a:srgbClr val="DCE1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938528"/>
            <a:ext cx="269748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1938528"/>
            <a:ext cx="2697480" cy="27432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0" y="1938528"/>
            <a:ext cx="2697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TierIndexedPlacer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2258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place(num_blocks) → tier_id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" y="2807208"/>
            <a:ext cx="2606040" cy="113385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807208"/>
            <a:ext cx="2606040" cy="27432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807208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TierState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127248"/>
            <a:ext cx="2423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tier_id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avail_capacity / avail_bandwidth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latency / migration_cost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score()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29000" y="2807208"/>
            <a:ext cx="228600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2807208"/>
            <a:ext cx="2286000" cy="274320"/>
          </a:xfrm>
          <a:prstGeom prst="rect">
            <a:avLst/>
          </a:prstGeom>
          <a:solidFill>
            <a:srgbClr val="7B8794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9000" y="2807208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BlockPool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520440" y="31272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get_new_blocks(n)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 flipH="1">
            <a:off x="1920240" y="2523744"/>
            <a:ext cx="571500" cy="283464"/>
          </a:xfrm>
          <a:prstGeom prst="line">
            <a:avLst/>
          </a:prstGeom>
          <a:noFill/>
          <a:ln w="12700">
            <a:solidFill>
              <a:srgbClr val="0B6E6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863340" y="2523744"/>
            <a:ext cx="708660" cy="283464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40080" y="438912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tier 추가 = TierState 행 1개 (정책 함수는 그대로)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566660" y="1901952"/>
            <a:ext cx="283464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66660" y="1901952"/>
            <a:ext cx="2834640" cy="274320"/>
          </a:xfrm>
          <a:prstGeom prst="rect">
            <a:avLst/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66660" y="1901952"/>
            <a:ext cx="2834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ObjectIndexedPlacer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658100" y="22219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place(num_blocks, request) → tier_id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46520" y="2670048"/>
            <a:ext cx="2606040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2670048"/>
            <a:ext cx="2606040" cy="274320"/>
          </a:xfrm>
          <a:prstGeom prst="rect">
            <a:avLst/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2670048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ObjectClassifier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537960" y="299008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classify(request) → ObjectClass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46520" y="3328416"/>
            <a:ext cx="2606040" cy="95097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3328416"/>
            <a:ext cx="2606040" cy="274320"/>
          </a:xfrm>
          <a:prstGeom prst="rect">
            <a:avLst/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46520" y="3328416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ObjectFeature  ⚠ 관측 불가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3648456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hotness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locality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lifetime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235440" y="2670048"/>
            <a:ext cx="228600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35440" y="2670048"/>
            <a:ext cx="2286000" cy="274320"/>
          </a:xfrm>
          <a:prstGeom prst="rect">
            <a:avLst/>
          </a:prstGeom>
          <a:solidFill>
            <a:srgbClr val="B0503F"/>
          </a:solidFill>
          <a:ln w="12700">
            <a:solidFill>
              <a:srgbClr val="B0503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3544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ClassTierContract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326880" y="29900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target_tier(class)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fallback_order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 flipH="1">
            <a:off x="7726680" y="2487168"/>
            <a:ext cx="525780" cy="182880"/>
          </a:xfrm>
          <a:prstGeom prst="line">
            <a:avLst/>
          </a:prstGeom>
          <a:noFill/>
          <a:ln w="12700">
            <a:solidFill>
              <a:srgbClr val="B0503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715500" y="2487168"/>
            <a:ext cx="662940" cy="182880"/>
          </a:xfrm>
          <a:prstGeom prst="line">
            <a:avLst/>
          </a:prstGeom>
          <a:noFill/>
          <a:ln w="12700">
            <a:solidFill>
              <a:srgbClr val="B0503F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726680" y="3255264"/>
            <a:ext cx="0" cy="73152"/>
          </a:xfrm>
          <a:prstGeom prst="line">
            <a:avLst/>
          </a:prstGeom>
          <a:noFill/>
          <a:ln w="12700">
            <a:solidFill>
              <a:srgbClr val="B0503F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6446520" y="438912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tier 추가 = 8개 클래스 × 새 tier 계약 재정의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4956048"/>
            <a:ext cx="5440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정책이 TierState.score() 하나에 응축된다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tier 추가는 테이블 행 1개 — argmax의 정의역만 넓어진다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의존이 없어 스케줄러 쪽 타입 변경이 배치 모듈로 전파되지 않는다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05332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QA2 · QA3 근거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6263640" y="4956048"/>
            <a:ext cx="5440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클래스 4개. ObjectFeature의 세 필드는 모두 할당 시점에 관측 불가능하다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값을 채우려면 힌트 API · 휴리스틱 · 과거 통계 중 하나가 필요하다</a:t>
            </a:r>
            <a:endParaRPr lang="en-US" sz="9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E4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근거가 ObjectClass 값으로 남아 로깅과 재현이 자연스럽다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263640" y="605332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0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QA2 · QA4 근거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DP1 · 백데이터 종합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다이어그램에서 뽑은 정량 지표 — 별점의 근거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09728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출처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· Tier-Indexed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 · Object-Indexed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결정 입력 지표 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클래스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(6 tier × 4)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(객체 특성) + tier 제약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관측 불가(추정 필요) 지표 비율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클래스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 가능한 객체 등급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컴포넌트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(익명)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(2³)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 갱신 비용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컴포넌트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스텝당 O(T)=6, 요청 수 무관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스텝당 O(new_N·D)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dispatch 메시지 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시퀀스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(경합 시 9)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오배치 교정까지 결정 횟수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시퀀스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불가 (수명 내 고착)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스텝 내 herding 노출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컴포넌트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있음 (예약 카운터 필요)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동일 요청 재실행 시 동일 배치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시퀀스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보장 안 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신규 tier 1개 추가 비용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클래스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테이블 행 1개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8개 클래스 계약 재정의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신규 모듈 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B879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모듈 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870448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별점을 매길 때 근거가 다이어그램에서 나오지 않는다면, 별점이 아니라 다이어그램이 부족한 것이다.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 Candidate Structure — Detailed Diagrams</dc:title>
  <dc:subject>PptxGenJS Presentation</dc:subject>
  <dc:creator>PptxGenJS</dc:creator>
  <cp:lastModifiedBy>PptxGenJS</cp:lastModifiedBy>
  <cp:revision>1</cp:revision>
  <dcterms:created xsi:type="dcterms:W3CDTF">2026-09-03T11:25:55Z</dcterms:created>
  <dcterms:modified xsi:type="dcterms:W3CDTF">2026-09-03T11:25:55Z</dcterms:modified>
</cp:coreProperties>
</file>
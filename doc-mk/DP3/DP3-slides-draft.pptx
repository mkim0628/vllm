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620" r:id="rId2"/>
    <p:sldId id="556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EF9F1-C331-4F09-BB34-2C86D332CF9A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221FAD-12DB-4C6F-ACAE-E4B2AE40C6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561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[DP3 배경 - 왜 KV 캐시 압축과 선택 재계산이 필요한가]</a:t>
            </a:r>
          </a:p>
          <a:p>
            <a:r>
              <a:t>Agent나 RAG는 여러 번의 호출과 외부 문서로 재사용하는 context가 길어집니다. 이 context의 KV 캐시는 용량, 읽어 오는 I/O, attention 연산 비용이 모두 커져 첫 응답 시간(TTFT)이 늘어납니다.</a:t>
            </a:r>
          </a:p>
          <a:p>
            <a:r>
              <a:t>모든 토큰이 결과에 똑같이 기여하지는 않습니다. 중요도가 낮은 토큰을 빼면 비용이 줄지만, 잘못 빼면 정확도가 떨어집니다. 또 각각 독립적으로 계산한 context의 KV를 이어 붙여 쓰면 정확도를 지키기 위해 일부 토큰은 다시 계산해야 합니다.</a:t>
            </a:r>
          </a:p>
          <a:p>
            <a:r>
              <a:t>그래서 정확도를 유지하면서 KV 크기와 지연을 줄이는 구조가 필요하고, 핵심 쟁점은 중요도를 언제 평가하느냐입니다. 사전에 대표 질의로 평가하면(오프라인) 빠르지만 덜 정확하고, 요청이 온 뒤 실제 질의로 평가하면(온라인) 정확하지만 느립니다. 일반 SW의 사전 계산(캐시 워밍) 대 온디맨드 계산과 같은 선택입니다.</a:t>
            </a:r>
          </a:p>
          <a:p>
            <a:r>
              <a:t>하단 그림은 DP1, DP2와의 연결입니다. 압축된 KV는 새로운 데이터라서 어디에 둘지는 DP1이, 선택 재계산을 어느 자원에서 돌릴지는 DP2가 정합니다. DP3는 그 사이에서 KV를 얼마나 줄일지 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4419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[DP3 설계 - 1안 오프라인 vs 2안 온라인]</a:t>
            </a:r>
          </a:p>
          <a:p>
            <a:r>
              <a:t>두 안 모두 압축 및 재사용 구조가 같은 모듈(KV Sampler, KV Cache Compressor, Recompute Token Selector)로 이루어지고, 갈리는 것은 중요도를 언제 평가하느냐입니다. 이 그림은 모듈만이 아니라 주변 구조와의 연결을 함께 보여 줍니다. 오른쪽 KV 저장소는 DP1이 어느 메모리 계층에 둘지 결정하는 대상이고, Selective Recomputer가 실행되는 자원은 DP2가 결정합니다.</a:t>
            </a:r>
          </a:p>
          <a:p>
            <a:r>
              <a:t>1안(오프라인)은 서빙 전에 대표 Query로 attention을 돌려 중요한 토큰만 남긴 Comp.KV를 만들어 저장합니다(점선 ①~⑤). 이 Comp.KV는 요청 간에 공유되고, 서빙 시에는 저장된 Comp.KV를 읽어 와 선정된 재계산 토큰만 다시 계산합니다(실선 ⑥~⑧). 사전에 해 두므로 서빙 지연이 낮은 대신 대표 Query와 실제 Query가 다르면 정확도가 떨어집니다.</a:t>
            </a:r>
          </a:p>
          <a:p>
            <a:r>
              <a:t>2안(온라인)은 요청이 들어온 뒤 실제 Query로 먼저 attention(Stage 1)을 돌려 점수를 얻고(①~③), 점수가 낮은 토큰을 제거하고 재계산 토큰을 고릅니다(④~⑤). 정확도는 높지만 이 계산이 요청 경로에 들어가 TTFT 절감이 작습니다.</a:t>
            </a:r>
          </a:p>
          <a:p>
            <a:r>
              <a:t>일반 SW로 비유하면 1안은 배치로 미리 만들어 두는 사전 계산(캐시 워밍), 2안은 요청 시점에 계산하는 온디맨드 방식입니다.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1000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9243C-61B6-4945-8828-C015B5798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556773-AA89-4DEE-9BF1-8443E88AE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524D-94BF-4776-BBAA-574E1162B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513CB8-332E-4311-9BFC-90D8827CB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D70066-5B0A-49B7-ADA0-67AD2506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06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ADD9A-79E1-4473-B76D-009C664BB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341DF1-FC0A-4FA7-9930-403FB5183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170D3-3F13-4116-92C9-280AE99E6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F4B6ED-D7CD-48D1-AE7C-107BFBBD4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6F76BF-7896-4E47-9AF6-A038E2A6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72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2B439-33BB-4A23-903D-EE1BC2DF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FA104D-080C-4242-89E0-61285E04D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136F2-9DD9-4176-B803-FEF7FB79B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902510-8E6D-401D-8CA3-7B9C6F6E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F3A641-B176-4471-8FDB-BF7CB61A2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163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4F547-4B60-42A9-A776-E368A657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37DCCB-CCE2-4704-88B1-CC442379E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31350E-B7CE-4BD1-8F66-E81CBFBBE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DA48FE-E551-4530-8AB3-1DCDC7F2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60FDB0-DACA-457C-84CF-6D2F2684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AEB7E0-D269-459D-8ED7-0546D37C2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366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FD2A8-53A0-4313-B47D-980C2AA8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20B8F-FBCC-4BDD-B174-EA8E67A18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D00BB8-6E5C-4BE5-AACA-62F1621AB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E17B62-1BA6-4837-8011-7E81A8853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6C7373-3F14-4155-89AE-043B418D2C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FA379C7-7A8E-4A77-B7B3-50A8A102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A0C55E-524D-4082-92FC-1B874603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BF518D-D6E5-4F55-BB3B-DB3E2C222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0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51391-B4C6-4B12-ACC1-BA0601C40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4A5551-B998-41E9-A1EB-190CBAE6E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00B39C-E203-43F7-80BC-B6583B56F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D0A8D9-A811-4CDD-8046-14E985B8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387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DA4E12-F1D2-4D5B-8983-29701EEC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BF391E-F229-40E2-92E4-7594D8FB9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5D54EA-74CF-4D7C-94B7-A9CF43ED6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10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4AE4C-56FD-40E9-98F9-B8EFA0DB1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7356B9-07C8-4D0D-8E9C-AB1654615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3EECFB-4158-4F84-B33D-2DBD2AA2F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2C568A-3077-4449-A61E-FCC5A497C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91F119-A46E-4726-A157-9E009DD8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95FA8D-C289-42E9-8BEA-DD3CE9BF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262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41CBC-45FA-4258-97DC-288AC2CD9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1A0ACD-D37A-440F-A8E2-67B3EEE99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E0545C-CA74-486A-A1B0-46EDC8C90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F91288-4F89-4A8B-BBD6-1978DC4F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73CCE5-C445-4755-894D-6AA383F1D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987682-2FBC-4FF9-91FC-6E2CE8937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96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C5D4B0-6AE1-432A-8853-789F0E593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10CC20-D1A4-4022-9262-A281B7B42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8140C-3FFC-442F-809B-E546D1E41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BA37D8-4990-4F50-9AA6-0A2C7F89E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6DC77A-7493-4ABF-89B9-2636B35A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354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C7799F-1228-434D-9D68-C1EAA1882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B20BC1-7B0A-48B0-BE74-A505642C1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E2279C-2BA2-4E6A-B375-3D2D8F1B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F2E9A2-3F6D-4A86-8BBD-7BCF93302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66AF16-E8EA-4ED0-8DD4-577CF543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06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0492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4AF691-ED6E-483B-9D47-49CC2698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501C3E-0C29-4817-9C0D-6F91ECA6E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FBC4C-39DC-453F-A7AB-779DCDD28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CA96A7-3459-4EFF-A3E6-3ABAC2F62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32BB84-2972-4DF3-AEDE-96F4B5C3B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495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8128859" cy="365125"/>
          </a:xfrm>
        </p:spPr>
        <p:txBody>
          <a:bodyPr/>
          <a:lstStyle/>
          <a:p>
            <a:r>
              <a:rPr lang="en-US" altLang="ko-KR" dirty="0"/>
              <a:t>DP3. Long Context</a:t>
            </a:r>
            <a:r>
              <a:rPr lang="ko-KR" altLang="en-US" dirty="0"/>
              <a:t>를 위한 </a:t>
            </a:r>
            <a:r>
              <a:rPr lang="en-US" altLang="ko-KR" dirty="0"/>
              <a:t>KV </a:t>
            </a:r>
            <a:r>
              <a:rPr lang="ko-KR" altLang="en-US" dirty="0"/>
              <a:t>캐시 압축 및 재사용 구조 </a:t>
            </a:r>
            <a:r>
              <a:rPr lang="en-US" altLang="ko-KR" dirty="0"/>
              <a:t>– </a:t>
            </a:r>
            <a:r>
              <a:rPr lang="ko-KR" altLang="en-US" dirty="0"/>
              <a:t>배경 </a:t>
            </a:r>
            <a:endParaRPr lang="en-US" altLang="ko-KR" dirty="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1" name="DP2 9001"/>
          <p:cNvSpPr/>
          <p:nvPr/>
        </p:nvSpPr>
        <p:spPr>
          <a:xfrm>
            <a:off x="347472" y="629107"/>
            <a:ext cx="1179576" cy="301752"/>
          </a:xfrm>
          <a:prstGeom prst="roundRect">
            <a:avLst/>
          </a:prstGeom>
          <a:solidFill>
            <a:srgbClr val="A8C6E8"/>
          </a:solidFill>
          <a:ln w="9525">
            <a:solidFill>
              <a:srgbClr val="2E75B6"/>
            </a:solidFill>
            <a:prstDash val="solid"/>
          </a:ln>
        </p:spPr>
        <p:txBody>
          <a:bodyPr wrap="square" lIns="27432" tIns="7315" rIns="27432" bIns="7315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50" b="1" i="0" dirty="0">
                <a:solidFill>
                  <a:srgbClr val="1F386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 정의</a:t>
            </a:r>
          </a:p>
        </p:txBody>
      </p:sp>
      <p:sp>
        <p:nvSpPr>
          <p:cNvPr id="9013" name="DP2 9013"/>
          <p:cNvSpPr/>
          <p:nvPr/>
        </p:nvSpPr>
        <p:spPr>
          <a:xfrm>
            <a:off x="420624" y="1920240"/>
            <a:ext cx="1133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7315" rIns="9144" bIns="7315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ko-KR" sz="1200" b="1">
                <a:solidFill>
                  <a:srgbClr val="0066FF"/>
                </a:solidFill>
                <a:latin typeface="맑은 고딕"/>
              </a:rPr>
              <a:t>→ Accuracy를 유지하면서 KV 캐시 크기와 Latency를 줄이는 압축·선택 재계산 구조가 필요</a:t>
            </a:r>
            <a:endParaRPr lang="ko-KR" altLang="en-US" sz="1200" b="1" i="0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61" name="DP2 9061"/>
          <p:cNvSpPr/>
          <p:nvPr/>
        </p:nvSpPr>
        <p:spPr>
          <a:xfrm>
            <a:off x="347472" y="5667299"/>
            <a:ext cx="1179576" cy="301752"/>
          </a:xfrm>
          <a:prstGeom prst="roundRect">
            <a:avLst/>
          </a:prstGeom>
          <a:solidFill>
            <a:srgbClr val="FFD966"/>
          </a:solidFill>
          <a:ln w="9525">
            <a:solidFill>
              <a:srgbClr val="BF8F00"/>
            </a:solidFill>
            <a:prstDash val="solid"/>
          </a:ln>
        </p:spPr>
        <p:txBody>
          <a:bodyPr wrap="square" lIns="27432" tIns="7315" rIns="27432" bIns="7315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50" b="1" i="0" dirty="0">
                <a:solidFill>
                  <a:srgbClr val="1F386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 쟁점</a:t>
            </a:r>
          </a:p>
        </p:txBody>
      </p:sp>
      <p:sp>
        <p:nvSpPr>
          <p:cNvPr id="79" name="Text 22"/>
          <p:cNvSpPr/>
          <p:nvPr/>
        </p:nvSpPr>
        <p:spPr>
          <a:xfrm>
            <a:off x="359582" y="1016673"/>
            <a:ext cx="116876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Multi-turn Agent·RAG에서 재사용하는 Context(KV 캐시)가 길어지고 많아져, KV 캐시의 용량·I/O·Attention 비용이 TTFT를 키움</a:t>
            </a:r>
            <a:endParaRPr lang="en-US" altLang="ko-KR" sz="1200" dirty="0">
              <a:solidFill>
                <a:srgbClr val="404040"/>
              </a:solidFill>
              <a:latin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모든 KV가 결과에 동일하게 기여하지 않으므로 중요도가 낮은 토큰을 제거(압축)하면 비용을 줄일 수 있으나, 잘못 제거하면 Accuracy가 저하됨</a:t>
            </a:r>
            <a:endParaRPr lang="en-US" altLang="ko-KR" sz="1200" dirty="0">
              <a:solidFill>
                <a:srgbClr val="404040"/>
              </a:solidFill>
              <a:latin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독립적으로 Prefill된 Context KV를 압축해 이어 붙여 재사용할 때 Accuracy를 유지하려면, 일부 토큰을 선택적으로 다시 계산해야 함</a:t>
            </a:r>
            <a:endParaRPr lang="en-US" altLang="ko-KR" sz="1200" dirty="0">
              <a:solidFill>
                <a:srgbClr val="4040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6" name="Text 22"/>
          <p:cNvSpPr/>
          <p:nvPr/>
        </p:nvSpPr>
        <p:spPr>
          <a:xfrm>
            <a:off x="383682" y="5989320"/>
            <a:ext cx="113120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buAutoNum type="arabicPeriod"/>
            </a:pPr>
            <a:r>
              <a:rPr lang="ko-KR" sz="1200">
                <a:solidFill>
                  <a:srgbClr val="404040"/>
                </a:solidFill>
                <a:latin typeface="맑은 고딕"/>
              </a:rPr>
              <a:t>Attention 기반 중요도를 사용한다는 전제에서, 압축·재계산 토큰을 언제 결정할 것인가?  사전(대표 Query, 오프라인) vs 요청 시점(실제 Query, 온라인)</a:t>
            </a:r>
            <a:endParaRPr lang="en-US" altLang="ko-KR" sz="1200" dirty="0"/>
          </a:p>
          <a:p>
            <a:pPr marL="228600" indent="-228600">
              <a:lnSpc>
                <a:spcPct val="125000"/>
              </a:lnSpc>
              <a:buAutoNum type="arabicPeriod"/>
            </a:pPr>
            <a:r>
              <a:rPr lang="ko-KR" sz="1200">
                <a:solidFill>
                  <a:srgbClr val="404040"/>
                </a:solidFill>
                <a:latin typeface="맑은 고딕"/>
              </a:rPr>
              <a:t>결정 결과(Comp.KV)의 저장 위치는 DP1, 선택 재계산의 실행 자원은 DP2와 연결됨 (DP2의 '결정 시점' 쟁점과 같은 형태)</a:t>
            </a:r>
            <a:endParaRPr lang="en-US" altLang="ko-KR" sz="1200" dirty="0"/>
          </a:p>
        </p:txBody>
      </p:sp>
      <p:sp>
        <p:nvSpPr>
          <p:cNvPr id="9062" name="Rectangle 9061"/>
          <p:cNvSpPr/>
          <p:nvPr/>
        </p:nvSpPr>
        <p:spPr>
          <a:xfrm>
            <a:off x="411480" y="2331720"/>
            <a:ext cx="544068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40404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63" name="Rounded Rectangle 9062"/>
          <p:cNvSpPr/>
          <p:nvPr/>
        </p:nvSpPr>
        <p:spPr>
          <a:xfrm>
            <a:off x="521208" y="2404872"/>
            <a:ext cx="2651760" cy="237744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As-Is: 전체 Context KV 재사용</a:t>
            </a:r>
          </a:p>
        </p:txBody>
      </p:sp>
      <p:sp>
        <p:nvSpPr>
          <p:cNvPr id="9064" name="Rectangle 9063"/>
          <p:cNvSpPr/>
          <p:nvPr/>
        </p:nvSpPr>
        <p:spPr>
          <a:xfrm>
            <a:off x="6355080" y="2331720"/>
            <a:ext cx="5440680" cy="1920240"/>
          </a:xfrm>
          <a:prstGeom prst="rect">
            <a:avLst/>
          </a:prstGeom>
          <a:solidFill>
            <a:srgbClr val="FFF8F3"/>
          </a:solidFill>
          <a:ln w="12700">
            <a:solidFill>
              <a:srgbClr val="C55A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65" name="Rounded Rectangle 9064"/>
          <p:cNvSpPr/>
          <p:nvPr/>
        </p:nvSpPr>
        <p:spPr>
          <a:xfrm>
            <a:off x="6464808" y="2404872"/>
            <a:ext cx="2651760" cy="237744"/>
          </a:xfrm>
          <a:prstGeom prst="round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To-Be: 압축 + 선택 재계산</a:t>
            </a:r>
          </a:p>
        </p:txBody>
      </p:sp>
      <p:sp>
        <p:nvSpPr>
          <p:cNvPr id="9066" name="Right Arrow 9065"/>
          <p:cNvSpPr/>
          <p:nvPr/>
        </p:nvSpPr>
        <p:spPr>
          <a:xfrm>
            <a:off x="5943600" y="3063239"/>
            <a:ext cx="365760" cy="457200"/>
          </a:xfrm>
          <a:prstGeom prst="rightArrow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67" name="TextBox 9066"/>
          <p:cNvSpPr txBox="1"/>
          <p:nvPr/>
        </p:nvSpPr>
        <p:spPr>
          <a:xfrm>
            <a:off x="548640" y="2926079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404040"/>
                </a:solidFill>
                <a:latin typeface="맑은 고딕"/>
                <a:ea typeface="맑은 고딕"/>
              </a:rPr>
              <a:t>Prefix</a:t>
            </a:r>
          </a:p>
        </p:txBody>
      </p:sp>
      <p:sp>
        <p:nvSpPr>
          <p:cNvPr id="9068" name="TextBox 9067"/>
          <p:cNvSpPr txBox="1"/>
          <p:nvPr/>
        </p:nvSpPr>
        <p:spPr>
          <a:xfrm>
            <a:off x="1188719" y="292607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2F5597"/>
                </a:solidFill>
                <a:latin typeface="맑은 고딕"/>
                <a:ea typeface="맑은 고딕"/>
              </a:rPr>
              <a:t>Context1 KV</a:t>
            </a:r>
          </a:p>
        </p:txBody>
      </p:sp>
      <p:sp>
        <p:nvSpPr>
          <p:cNvPr id="9069" name="TextBox 9068"/>
          <p:cNvSpPr txBox="1"/>
          <p:nvPr/>
        </p:nvSpPr>
        <p:spPr>
          <a:xfrm>
            <a:off x="2788920" y="292607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2F5597"/>
                </a:solidFill>
                <a:latin typeface="맑은 고딕"/>
                <a:ea typeface="맑은 고딕"/>
              </a:rPr>
              <a:t>Context2 KV</a:t>
            </a:r>
          </a:p>
        </p:txBody>
      </p:sp>
      <p:sp>
        <p:nvSpPr>
          <p:cNvPr id="9070" name="TextBox 9069"/>
          <p:cNvSpPr txBox="1"/>
          <p:nvPr/>
        </p:nvSpPr>
        <p:spPr>
          <a:xfrm>
            <a:off x="4754879" y="2926079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548235"/>
                </a:solidFill>
                <a:latin typeface="맑은 고딕"/>
                <a:ea typeface="맑은 고딕"/>
              </a:rPr>
              <a:t>Query</a:t>
            </a:r>
          </a:p>
        </p:txBody>
      </p:sp>
      <p:sp>
        <p:nvSpPr>
          <p:cNvPr id="9071" name="Rectangle 9070"/>
          <p:cNvSpPr/>
          <p:nvPr/>
        </p:nvSpPr>
        <p:spPr>
          <a:xfrm>
            <a:off x="548640" y="3108960"/>
            <a:ext cx="11887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72" name="Rectangle 9071"/>
          <p:cNvSpPr/>
          <p:nvPr/>
        </p:nvSpPr>
        <p:spPr>
          <a:xfrm>
            <a:off x="679399" y="3108960"/>
            <a:ext cx="11887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73" name="Rectangle 9072"/>
          <p:cNvSpPr/>
          <p:nvPr/>
        </p:nvSpPr>
        <p:spPr>
          <a:xfrm>
            <a:off x="810158" y="3108960"/>
            <a:ext cx="11887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74" name="Rectangle 9073"/>
          <p:cNvSpPr/>
          <p:nvPr/>
        </p:nvSpPr>
        <p:spPr>
          <a:xfrm>
            <a:off x="940917" y="3108960"/>
            <a:ext cx="11887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75" name="Rectangle 9074"/>
          <p:cNvSpPr/>
          <p:nvPr/>
        </p:nvSpPr>
        <p:spPr>
          <a:xfrm>
            <a:off x="1181404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76" name="Rectangle 9075"/>
          <p:cNvSpPr/>
          <p:nvPr/>
        </p:nvSpPr>
        <p:spPr>
          <a:xfrm>
            <a:off x="1312163" y="3108960"/>
            <a:ext cx="118872" cy="256032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77" name="Rectangle 9076"/>
          <p:cNvSpPr/>
          <p:nvPr/>
        </p:nvSpPr>
        <p:spPr>
          <a:xfrm>
            <a:off x="1442923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78" name="Rectangle 9077"/>
          <p:cNvSpPr/>
          <p:nvPr/>
        </p:nvSpPr>
        <p:spPr>
          <a:xfrm>
            <a:off x="1573682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79" name="Rectangle 9078"/>
          <p:cNvSpPr/>
          <p:nvPr/>
        </p:nvSpPr>
        <p:spPr>
          <a:xfrm>
            <a:off x="1704441" y="3108960"/>
            <a:ext cx="118872" cy="256032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80" name="Rectangle 9079"/>
          <p:cNvSpPr/>
          <p:nvPr/>
        </p:nvSpPr>
        <p:spPr>
          <a:xfrm>
            <a:off x="1835200" y="3108960"/>
            <a:ext cx="118872" cy="256032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81" name="Rectangle 9080"/>
          <p:cNvSpPr/>
          <p:nvPr/>
        </p:nvSpPr>
        <p:spPr>
          <a:xfrm>
            <a:off x="1965959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82" name="Rectangle 9081"/>
          <p:cNvSpPr/>
          <p:nvPr/>
        </p:nvSpPr>
        <p:spPr>
          <a:xfrm>
            <a:off x="2096719" y="3108960"/>
            <a:ext cx="118872" cy="256032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83" name="Rectangle 9082"/>
          <p:cNvSpPr/>
          <p:nvPr/>
        </p:nvSpPr>
        <p:spPr>
          <a:xfrm>
            <a:off x="2227478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84" name="Rectangle 9083"/>
          <p:cNvSpPr/>
          <p:nvPr/>
        </p:nvSpPr>
        <p:spPr>
          <a:xfrm>
            <a:off x="2358237" y="3108960"/>
            <a:ext cx="118872" cy="256032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85" name="Rectangle 9084"/>
          <p:cNvSpPr/>
          <p:nvPr/>
        </p:nvSpPr>
        <p:spPr>
          <a:xfrm>
            <a:off x="2488996" y="3108960"/>
            <a:ext cx="118872" cy="256032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86" name="Rectangle 9085"/>
          <p:cNvSpPr/>
          <p:nvPr/>
        </p:nvSpPr>
        <p:spPr>
          <a:xfrm>
            <a:off x="2619755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87" name="Rectangle 9086"/>
          <p:cNvSpPr/>
          <p:nvPr/>
        </p:nvSpPr>
        <p:spPr>
          <a:xfrm>
            <a:off x="2750515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88" name="Rectangle 9087"/>
          <p:cNvSpPr/>
          <p:nvPr/>
        </p:nvSpPr>
        <p:spPr>
          <a:xfrm>
            <a:off x="2881274" y="3108960"/>
            <a:ext cx="118872" cy="256032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89" name="Rectangle 9088"/>
          <p:cNvSpPr/>
          <p:nvPr/>
        </p:nvSpPr>
        <p:spPr>
          <a:xfrm>
            <a:off x="3121761" y="3108960"/>
            <a:ext cx="118872" cy="256032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90" name="Rectangle 9089"/>
          <p:cNvSpPr/>
          <p:nvPr/>
        </p:nvSpPr>
        <p:spPr>
          <a:xfrm>
            <a:off x="3252520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91" name="Rectangle 9090"/>
          <p:cNvSpPr/>
          <p:nvPr/>
        </p:nvSpPr>
        <p:spPr>
          <a:xfrm>
            <a:off x="3383279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92" name="Rectangle 9091"/>
          <p:cNvSpPr/>
          <p:nvPr/>
        </p:nvSpPr>
        <p:spPr>
          <a:xfrm>
            <a:off x="3514039" y="3108960"/>
            <a:ext cx="118872" cy="256032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93" name="Rectangle 9092"/>
          <p:cNvSpPr/>
          <p:nvPr/>
        </p:nvSpPr>
        <p:spPr>
          <a:xfrm>
            <a:off x="3644798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94" name="Rectangle 9093"/>
          <p:cNvSpPr/>
          <p:nvPr/>
        </p:nvSpPr>
        <p:spPr>
          <a:xfrm>
            <a:off x="3775557" y="3108960"/>
            <a:ext cx="118872" cy="256032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95" name="Rectangle 9094"/>
          <p:cNvSpPr/>
          <p:nvPr/>
        </p:nvSpPr>
        <p:spPr>
          <a:xfrm>
            <a:off x="3906316" y="3108960"/>
            <a:ext cx="118872" cy="256032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96" name="Rectangle 9095"/>
          <p:cNvSpPr/>
          <p:nvPr/>
        </p:nvSpPr>
        <p:spPr>
          <a:xfrm>
            <a:off x="4037075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97" name="Rectangle 9096"/>
          <p:cNvSpPr/>
          <p:nvPr/>
        </p:nvSpPr>
        <p:spPr>
          <a:xfrm>
            <a:off x="4167835" y="3108960"/>
            <a:ext cx="118872" cy="256032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98" name="Rectangle 9097"/>
          <p:cNvSpPr/>
          <p:nvPr/>
        </p:nvSpPr>
        <p:spPr>
          <a:xfrm>
            <a:off x="4298594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99" name="Rectangle 9098"/>
          <p:cNvSpPr/>
          <p:nvPr/>
        </p:nvSpPr>
        <p:spPr>
          <a:xfrm>
            <a:off x="4429353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00" name="Rectangle 9099"/>
          <p:cNvSpPr/>
          <p:nvPr/>
        </p:nvSpPr>
        <p:spPr>
          <a:xfrm>
            <a:off x="4560112" y="3108960"/>
            <a:ext cx="118872" cy="256032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01" name="Rectangle 9100"/>
          <p:cNvSpPr/>
          <p:nvPr/>
        </p:nvSpPr>
        <p:spPr>
          <a:xfrm>
            <a:off x="4690871" y="3108960"/>
            <a:ext cx="118872" cy="256032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02" name="Rectangle 9101"/>
          <p:cNvSpPr/>
          <p:nvPr/>
        </p:nvSpPr>
        <p:spPr>
          <a:xfrm>
            <a:off x="4821631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03" name="Rectangle 9102"/>
          <p:cNvSpPr/>
          <p:nvPr/>
        </p:nvSpPr>
        <p:spPr>
          <a:xfrm>
            <a:off x="5062118" y="3108960"/>
            <a:ext cx="118872" cy="256032"/>
          </a:xfrm>
          <a:prstGeom prst="rect">
            <a:avLst/>
          </a:prstGeom>
          <a:solidFill>
            <a:srgbClr val="E2F0D9"/>
          </a:solidFill>
          <a:ln w="95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04" name="Rectangle 9103"/>
          <p:cNvSpPr/>
          <p:nvPr/>
        </p:nvSpPr>
        <p:spPr>
          <a:xfrm>
            <a:off x="5192877" y="3108960"/>
            <a:ext cx="118872" cy="256032"/>
          </a:xfrm>
          <a:prstGeom prst="rect">
            <a:avLst/>
          </a:prstGeom>
          <a:solidFill>
            <a:srgbClr val="E2F0D9"/>
          </a:solidFill>
          <a:ln w="95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05" name="Rectangle 9104"/>
          <p:cNvSpPr/>
          <p:nvPr/>
        </p:nvSpPr>
        <p:spPr>
          <a:xfrm>
            <a:off x="5323636" y="3108960"/>
            <a:ext cx="118872" cy="256032"/>
          </a:xfrm>
          <a:prstGeom prst="rect">
            <a:avLst/>
          </a:prstGeom>
          <a:solidFill>
            <a:srgbClr val="E2F0D9"/>
          </a:solidFill>
          <a:ln w="95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06" name="Rectangle 9105"/>
          <p:cNvSpPr/>
          <p:nvPr/>
        </p:nvSpPr>
        <p:spPr>
          <a:xfrm>
            <a:off x="5454395" y="3108960"/>
            <a:ext cx="118872" cy="256032"/>
          </a:xfrm>
          <a:prstGeom prst="rect">
            <a:avLst/>
          </a:prstGeom>
          <a:solidFill>
            <a:srgbClr val="E2F0D9"/>
          </a:solidFill>
          <a:ln w="95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07" name="TextBox 9106"/>
          <p:cNvSpPr txBox="1"/>
          <p:nvPr/>
        </p:nvSpPr>
        <p:spPr>
          <a:xfrm>
            <a:off x="548640" y="3456432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2F5597"/>
                </a:solidFill>
                <a:latin typeface="맑은 고딕"/>
                <a:ea typeface="맑은 고딕"/>
              </a:rPr>
              <a:t>■ </a:t>
            </a:r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중요도 높음   </a:t>
            </a:r>
            <a:r>
              <a:rPr sz="700" b="0" i="0">
                <a:solidFill>
                  <a:srgbClr val="A6A6A6"/>
                </a:solidFill>
                <a:latin typeface="맑은 고딕"/>
                <a:ea typeface="맑은 고딕"/>
              </a:rPr>
              <a:t>■ </a:t>
            </a:r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중요도 낮음   — 모든 토큰의 KV를 로드·Attention</a:t>
            </a:r>
          </a:p>
        </p:txBody>
      </p:sp>
      <p:sp>
        <p:nvSpPr>
          <p:cNvPr id="9108" name="TextBox 9107"/>
          <p:cNvSpPr txBox="1"/>
          <p:nvPr/>
        </p:nvSpPr>
        <p:spPr>
          <a:xfrm>
            <a:off x="548640" y="3675887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맑은 고딕"/>
                <a:ea typeface="맑은 고딕"/>
              </a:rPr>
              <a:t>KV 용량 · I/O · Attention 대상이 큼</a:t>
            </a:r>
          </a:p>
          <a:p>
            <a:pPr algn="l"/>
            <a:r>
              <a:rPr sz="850" b="0" i="0">
                <a:solidFill>
                  <a:srgbClr val="404040"/>
                </a:solidFill>
                <a:latin typeface="맑은 고딕"/>
                <a:ea typeface="맑은 고딕"/>
              </a:rPr>
              <a:t>→ HBM 용량 압박, 로드 지연, TTFT 증가</a:t>
            </a:r>
          </a:p>
        </p:txBody>
      </p:sp>
      <p:sp>
        <p:nvSpPr>
          <p:cNvPr id="9109" name="TextBox 9108"/>
          <p:cNvSpPr txBox="1"/>
          <p:nvPr/>
        </p:nvSpPr>
        <p:spPr>
          <a:xfrm>
            <a:off x="6492240" y="2926079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404040"/>
                </a:solidFill>
                <a:latin typeface="맑은 고딕"/>
                <a:ea typeface="맑은 고딕"/>
              </a:rPr>
              <a:t>Prefix</a:t>
            </a:r>
          </a:p>
        </p:txBody>
      </p:sp>
      <p:sp>
        <p:nvSpPr>
          <p:cNvPr id="9110" name="TextBox 9109"/>
          <p:cNvSpPr txBox="1"/>
          <p:nvPr/>
        </p:nvSpPr>
        <p:spPr>
          <a:xfrm>
            <a:off x="7132320" y="2926079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C55A11"/>
                </a:solidFill>
                <a:latin typeface="맑은 고딕"/>
                <a:ea typeface="맑은 고딕"/>
              </a:rPr>
              <a:t>Comp.KV 1</a:t>
            </a:r>
          </a:p>
        </p:txBody>
      </p:sp>
      <p:sp>
        <p:nvSpPr>
          <p:cNvPr id="9111" name="TextBox 9110"/>
          <p:cNvSpPr txBox="1"/>
          <p:nvPr/>
        </p:nvSpPr>
        <p:spPr>
          <a:xfrm>
            <a:off x="8229600" y="2926079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C55A11"/>
                </a:solidFill>
                <a:latin typeface="맑은 고딕"/>
                <a:ea typeface="맑은 고딕"/>
              </a:rPr>
              <a:t>Comp.KV 2</a:t>
            </a:r>
          </a:p>
        </p:txBody>
      </p:sp>
      <p:sp>
        <p:nvSpPr>
          <p:cNvPr id="9112" name="TextBox 9111"/>
          <p:cNvSpPr txBox="1"/>
          <p:nvPr/>
        </p:nvSpPr>
        <p:spPr>
          <a:xfrm>
            <a:off x="9372600" y="2926079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C00000"/>
                </a:solidFill>
                <a:latin typeface="맑은 고딕"/>
                <a:ea typeface="맑은 고딕"/>
              </a:rPr>
              <a:t>재계산 토큰</a:t>
            </a:r>
          </a:p>
        </p:txBody>
      </p:sp>
      <p:sp>
        <p:nvSpPr>
          <p:cNvPr id="9113" name="TextBox 9112"/>
          <p:cNvSpPr txBox="1"/>
          <p:nvPr/>
        </p:nvSpPr>
        <p:spPr>
          <a:xfrm>
            <a:off x="10607040" y="2926079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548235"/>
                </a:solidFill>
                <a:latin typeface="맑은 고딕"/>
                <a:ea typeface="맑은 고딕"/>
              </a:rPr>
              <a:t>Query</a:t>
            </a:r>
          </a:p>
        </p:txBody>
      </p:sp>
      <p:sp>
        <p:nvSpPr>
          <p:cNvPr id="9114" name="Rectangle 9113"/>
          <p:cNvSpPr/>
          <p:nvPr/>
        </p:nvSpPr>
        <p:spPr>
          <a:xfrm>
            <a:off x="6492240" y="3108960"/>
            <a:ext cx="11887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15" name="Rectangle 9114"/>
          <p:cNvSpPr/>
          <p:nvPr/>
        </p:nvSpPr>
        <p:spPr>
          <a:xfrm>
            <a:off x="6622999" y="3108960"/>
            <a:ext cx="11887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16" name="Rectangle 9115"/>
          <p:cNvSpPr/>
          <p:nvPr/>
        </p:nvSpPr>
        <p:spPr>
          <a:xfrm>
            <a:off x="6753758" y="3108960"/>
            <a:ext cx="11887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17" name="Rectangle 9116"/>
          <p:cNvSpPr/>
          <p:nvPr/>
        </p:nvSpPr>
        <p:spPr>
          <a:xfrm>
            <a:off x="6884517" y="3108960"/>
            <a:ext cx="11887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18" name="Rectangle 9117"/>
          <p:cNvSpPr/>
          <p:nvPr/>
        </p:nvSpPr>
        <p:spPr>
          <a:xfrm>
            <a:off x="7125004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19" name="Rectangle 9118"/>
          <p:cNvSpPr/>
          <p:nvPr/>
        </p:nvSpPr>
        <p:spPr>
          <a:xfrm>
            <a:off x="7255763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20" name="Rectangle 9119"/>
          <p:cNvSpPr/>
          <p:nvPr/>
        </p:nvSpPr>
        <p:spPr>
          <a:xfrm>
            <a:off x="7386523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21" name="Rectangle 9120"/>
          <p:cNvSpPr/>
          <p:nvPr/>
        </p:nvSpPr>
        <p:spPr>
          <a:xfrm>
            <a:off x="7517282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22" name="Rectangle 9121"/>
          <p:cNvSpPr/>
          <p:nvPr/>
        </p:nvSpPr>
        <p:spPr>
          <a:xfrm>
            <a:off x="7648041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23" name="Rectangle 9122"/>
          <p:cNvSpPr/>
          <p:nvPr/>
        </p:nvSpPr>
        <p:spPr>
          <a:xfrm>
            <a:off x="7778800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24" name="Rectangle 9123"/>
          <p:cNvSpPr/>
          <p:nvPr/>
        </p:nvSpPr>
        <p:spPr>
          <a:xfrm>
            <a:off x="7909560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25" name="Rectangle 9124"/>
          <p:cNvSpPr/>
          <p:nvPr/>
        </p:nvSpPr>
        <p:spPr>
          <a:xfrm>
            <a:off x="8150047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26" name="Rectangle 9125"/>
          <p:cNvSpPr/>
          <p:nvPr/>
        </p:nvSpPr>
        <p:spPr>
          <a:xfrm>
            <a:off x="8280806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27" name="Rectangle 9126"/>
          <p:cNvSpPr/>
          <p:nvPr/>
        </p:nvSpPr>
        <p:spPr>
          <a:xfrm>
            <a:off x="8411565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28" name="Rectangle 9127"/>
          <p:cNvSpPr/>
          <p:nvPr/>
        </p:nvSpPr>
        <p:spPr>
          <a:xfrm>
            <a:off x="8542324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29" name="Rectangle 9128"/>
          <p:cNvSpPr/>
          <p:nvPr/>
        </p:nvSpPr>
        <p:spPr>
          <a:xfrm>
            <a:off x="8673084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30" name="Rectangle 9129"/>
          <p:cNvSpPr/>
          <p:nvPr/>
        </p:nvSpPr>
        <p:spPr>
          <a:xfrm>
            <a:off x="8803843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31" name="Rectangle 9130"/>
          <p:cNvSpPr/>
          <p:nvPr/>
        </p:nvSpPr>
        <p:spPr>
          <a:xfrm>
            <a:off x="8934602" y="3108960"/>
            <a:ext cx="118872" cy="256032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32" name="Rectangle 9131"/>
          <p:cNvSpPr/>
          <p:nvPr/>
        </p:nvSpPr>
        <p:spPr>
          <a:xfrm>
            <a:off x="9175089" y="3108960"/>
            <a:ext cx="11887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33" name="Rectangle 9132"/>
          <p:cNvSpPr/>
          <p:nvPr/>
        </p:nvSpPr>
        <p:spPr>
          <a:xfrm>
            <a:off x="9305848" y="3108960"/>
            <a:ext cx="11887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34" name="Rectangle 9133"/>
          <p:cNvSpPr/>
          <p:nvPr/>
        </p:nvSpPr>
        <p:spPr>
          <a:xfrm>
            <a:off x="9436608" y="3108960"/>
            <a:ext cx="11887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35" name="Rectangle 9134"/>
          <p:cNvSpPr/>
          <p:nvPr/>
        </p:nvSpPr>
        <p:spPr>
          <a:xfrm>
            <a:off x="9677095" y="3108960"/>
            <a:ext cx="118872" cy="256032"/>
          </a:xfrm>
          <a:prstGeom prst="rect">
            <a:avLst/>
          </a:prstGeom>
          <a:solidFill>
            <a:srgbClr val="E2F0D9"/>
          </a:solidFill>
          <a:ln w="95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36" name="Rectangle 9135"/>
          <p:cNvSpPr/>
          <p:nvPr/>
        </p:nvSpPr>
        <p:spPr>
          <a:xfrm>
            <a:off x="9807854" y="3108960"/>
            <a:ext cx="118872" cy="256032"/>
          </a:xfrm>
          <a:prstGeom prst="rect">
            <a:avLst/>
          </a:prstGeom>
          <a:solidFill>
            <a:srgbClr val="E2F0D9"/>
          </a:solidFill>
          <a:ln w="95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37" name="Rectangle 9136"/>
          <p:cNvSpPr/>
          <p:nvPr/>
        </p:nvSpPr>
        <p:spPr>
          <a:xfrm>
            <a:off x="9938613" y="3108960"/>
            <a:ext cx="118872" cy="256032"/>
          </a:xfrm>
          <a:prstGeom prst="rect">
            <a:avLst/>
          </a:prstGeom>
          <a:solidFill>
            <a:srgbClr val="E2F0D9"/>
          </a:solidFill>
          <a:ln w="95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38" name="Rectangle 9137"/>
          <p:cNvSpPr/>
          <p:nvPr/>
        </p:nvSpPr>
        <p:spPr>
          <a:xfrm>
            <a:off x="10069372" y="3108960"/>
            <a:ext cx="118872" cy="256032"/>
          </a:xfrm>
          <a:prstGeom prst="rect">
            <a:avLst/>
          </a:prstGeom>
          <a:solidFill>
            <a:srgbClr val="E2F0D9"/>
          </a:solidFill>
          <a:ln w="95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139" name="TextBox 9138"/>
          <p:cNvSpPr txBox="1"/>
          <p:nvPr/>
        </p:nvSpPr>
        <p:spPr>
          <a:xfrm>
            <a:off x="6492240" y="3456432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중요도 높은 토큰만 유지 + 일부 토큰(빨간 테두리)만 다시 계산</a:t>
            </a:r>
          </a:p>
        </p:txBody>
      </p:sp>
      <p:sp>
        <p:nvSpPr>
          <p:cNvPr id="9140" name="TextBox 9139"/>
          <p:cNvSpPr txBox="1"/>
          <p:nvPr/>
        </p:nvSpPr>
        <p:spPr>
          <a:xfrm>
            <a:off x="6492240" y="3675887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75623"/>
                </a:solidFill>
                <a:latin typeface="맑은 고딕"/>
                <a:ea typeface="맑은 고딕"/>
              </a:rPr>
              <a:t>KV 용량 · I/O · Attention 대상 감소</a:t>
            </a:r>
          </a:p>
          <a:p>
            <a:pPr algn="l"/>
            <a:r>
              <a:rPr sz="850" b="0" i="0">
                <a:solidFill>
                  <a:srgbClr val="404040"/>
                </a:solidFill>
                <a:latin typeface="맑은 고딕"/>
                <a:ea typeface="맑은 고딕"/>
              </a:rPr>
              <a:t>→ TTFT 절감, 단 Accuracy 유지가 설계 쟁점</a:t>
            </a:r>
          </a:p>
        </p:txBody>
      </p:sp>
      <p:sp>
        <p:nvSpPr>
          <p:cNvPr id="9141" name="TextBox 9140"/>
          <p:cNvSpPr txBox="1"/>
          <p:nvPr/>
        </p:nvSpPr>
        <p:spPr>
          <a:xfrm>
            <a:off x="411480" y="437083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04040"/>
                </a:solidFill>
                <a:latin typeface="맑은 고딕"/>
                <a:ea typeface="맑은 고딕"/>
              </a:rPr>
              <a:t>KV 수명주기 위의 DP</a:t>
            </a:r>
          </a:p>
        </p:txBody>
      </p:sp>
      <p:sp>
        <p:nvSpPr>
          <p:cNvPr id="9142" name="Rounded Rectangle 9141"/>
          <p:cNvSpPr/>
          <p:nvPr/>
        </p:nvSpPr>
        <p:spPr>
          <a:xfrm>
            <a:off x="411480" y="4590288"/>
            <a:ext cx="2011680" cy="56692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000000"/>
                </a:solidFill>
                <a:latin typeface="맑은 고딕"/>
                <a:ea typeface="맑은 고딕"/>
              </a:rPr>
              <a:t>KV 생성</a:t>
            </a:r>
          </a:p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Prefill/Decode 실행 위치 = DP2</a:t>
            </a:r>
          </a:p>
        </p:txBody>
      </p:sp>
      <p:cxnSp>
        <p:nvCxnSpPr>
          <p:cNvPr id="9143" name="Connector 9142"/>
          <p:cNvCxnSpPr/>
          <p:nvPr/>
        </p:nvCxnSpPr>
        <p:spPr>
          <a:xfrm>
            <a:off x="2423160" y="4873752"/>
            <a:ext cx="27432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4" name="Rounded Rectangle 9143"/>
          <p:cNvSpPr/>
          <p:nvPr/>
        </p:nvSpPr>
        <p:spPr>
          <a:xfrm>
            <a:off x="2697480" y="4590288"/>
            <a:ext cx="2011680" cy="56692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000000"/>
                </a:solidFill>
                <a:latin typeface="맑은 고딕"/>
                <a:ea typeface="맑은 고딕"/>
              </a:rPr>
              <a:t>KV 배치·이동</a:t>
            </a:r>
          </a:p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어느 tier에 둘지 = DP1</a:t>
            </a:r>
          </a:p>
        </p:txBody>
      </p:sp>
      <p:cxnSp>
        <p:nvCxnSpPr>
          <p:cNvPr id="9145" name="Connector 9144"/>
          <p:cNvCxnSpPr/>
          <p:nvPr/>
        </p:nvCxnSpPr>
        <p:spPr>
          <a:xfrm>
            <a:off x="4709160" y="4873752"/>
            <a:ext cx="27432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6" name="Rounded Rectangle 9145"/>
          <p:cNvSpPr/>
          <p:nvPr/>
        </p:nvSpPr>
        <p:spPr>
          <a:xfrm>
            <a:off x="4983480" y="4590288"/>
            <a:ext cx="2011680" cy="566928"/>
          </a:xfrm>
          <a:prstGeom prst="roundRect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000000"/>
                </a:solidFill>
                <a:latin typeface="맑은 고딕"/>
                <a:ea typeface="맑은 고딕"/>
              </a:rPr>
              <a:t>KV 압축·재사용</a:t>
            </a:r>
          </a:p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본 DP (DP3)</a:t>
            </a:r>
          </a:p>
        </p:txBody>
      </p:sp>
      <p:cxnSp>
        <p:nvCxnSpPr>
          <p:cNvPr id="9147" name="Connector 9146"/>
          <p:cNvCxnSpPr/>
          <p:nvPr/>
        </p:nvCxnSpPr>
        <p:spPr>
          <a:xfrm>
            <a:off x="6995160" y="4873752"/>
            <a:ext cx="27432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8" name="Rounded Rectangle 9147"/>
          <p:cNvSpPr/>
          <p:nvPr/>
        </p:nvSpPr>
        <p:spPr>
          <a:xfrm>
            <a:off x="7269480" y="4590288"/>
            <a:ext cx="2011680" cy="56692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000000"/>
                </a:solidFill>
                <a:latin typeface="맑은 고딕"/>
                <a:ea typeface="맑은 고딕"/>
              </a:rPr>
              <a:t>선택 재계산</a:t>
            </a:r>
          </a:p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실행 자원 = DP2</a:t>
            </a:r>
          </a:p>
        </p:txBody>
      </p:sp>
      <p:cxnSp>
        <p:nvCxnSpPr>
          <p:cNvPr id="9149" name="Connector 9148"/>
          <p:cNvCxnSpPr/>
          <p:nvPr/>
        </p:nvCxnSpPr>
        <p:spPr>
          <a:xfrm>
            <a:off x="9281160" y="4873752"/>
            <a:ext cx="27432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50" name="Rounded Rectangle 9149"/>
          <p:cNvSpPr/>
          <p:nvPr/>
        </p:nvSpPr>
        <p:spPr>
          <a:xfrm>
            <a:off x="9555480" y="4590288"/>
            <a:ext cx="2011680" cy="56692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000000"/>
                </a:solidFill>
                <a:latin typeface="맑은 고딕"/>
                <a:ea typeface="맑은 고딕"/>
              </a:rPr>
              <a:t>Decode</a:t>
            </a:r>
          </a:p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응답 생성</a:t>
            </a:r>
          </a:p>
        </p:txBody>
      </p:sp>
      <p:sp>
        <p:nvSpPr>
          <p:cNvPr id="9151" name="TextBox 9150"/>
          <p:cNvSpPr txBox="1"/>
          <p:nvPr/>
        </p:nvSpPr>
        <p:spPr>
          <a:xfrm>
            <a:off x="411480" y="5230368"/>
            <a:ext cx="113385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(1안 오프라인은 서빙 전에 압축 KV를 만들어 두고, 2안 온라인은 요청 시점에 압축 → 두 안 모두 압축 결과의 배치(DP1)와 재계산 실행(DP2)에 영향을 줌)</a:t>
            </a:r>
          </a:p>
        </p:txBody>
      </p:sp>
    </p:spTree>
    <p:extLst>
      <p:ext uri="{BB962C8B-B14F-4D97-AF65-F5344CB8AC3E}">
        <p14:creationId xmlns:p14="http://schemas.microsoft.com/office/powerpoint/2010/main" val="114308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34949" y="1032440"/>
          <a:ext cx="11747501" cy="538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4382236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053818">
                  <a:extLst>
                    <a:ext uri="{9D8B030D-6E8A-4147-A177-3AD203B41FA5}">
                      <a16:colId xmlns:a16="http://schemas.microsoft.com/office/drawing/2014/main" val="4114062400"/>
                    </a:ext>
                  </a:extLst>
                </a:gridCol>
                <a:gridCol w="448818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947866">
                  <a:extLst>
                    <a:ext uri="{9D8B030D-6E8A-4147-A177-3AD203B41FA5}">
                      <a16:colId xmlns:a16="http://schemas.microsoft.com/office/drawing/2014/main" val="2026705357"/>
                    </a:ext>
                  </a:extLst>
                </a:gridCol>
              </a:tblGrid>
              <a:tr h="358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(1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</a:t>
                      </a:r>
                      <a:r>
                        <a:rPr lang="ko-KR" altLang="en-US" sz="1200" b="1" dirty="0"/>
                        <a:t>사용자 </a:t>
                      </a:r>
                      <a:r>
                        <a:rPr lang="en-US" altLang="ko-KR" sz="1200" b="1" dirty="0"/>
                        <a:t>Query </a:t>
                      </a:r>
                      <a:r>
                        <a:rPr lang="en-US" altLang="ko-KR" sz="1200" b="1" baseline="0" dirty="0"/>
                        <a:t>Agnostic </a:t>
                      </a:r>
                      <a:r>
                        <a:rPr lang="ko-KR" altLang="en-US" sz="1200" b="1" baseline="0" dirty="0"/>
                        <a:t>압축 및 재사용 구조 </a:t>
                      </a:r>
                      <a:r>
                        <a:rPr lang="en-US" altLang="ko-KR" sz="1200" b="1" baseline="0" dirty="0"/>
                        <a:t>(Offline)</a:t>
                      </a:r>
                      <a:r>
                        <a:rPr lang="ko-KR" altLang="en-US" sz="1200" b="1" baseline="0" dirty="0"/>
                        <a:t> 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(2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</a:t>
                      </a:r>
                      <a:r>
                        <a:rPr lang="ko-KR" altLang="en-US" sz="1200" b="1" dirty="0"/>
                        <a:t>사용자 </a:t>
                      </a:r>
                      <a:r>
                        <a:rPr lang="en-US" altLang="ko-KR" sz="1200" b="1" dirty="0"/>
                        <a:t>Query Aware</a:t>
                      </a:r>
                      <a:r>
                        <a:rPr lang="en-US" altLang="ko-KR" sz="1200" b="1" baseline="0" dirty="0"/>
                        <a:t> </a:t>
                      </a:r>
                      <a:r>
                        <a:rPr lang="ko-KR" altLang="en-US" sz="1200" b="1" baseline="0" dirty="0"/>
                        <a:t>압축 및 재사용 구조 </a:t>
                      </a:r>
                      <a:r>
                        <a:rPr lang="en-US" altLang="ko-KR" sz="1200" b="1" baseline="0" dirty="0"/>
                        <a:t>(Online)</a:t>
                      </a:r>
                      <a:endParaRPr lang="en-US" altLang="ko-KR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4605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474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사전에 압축을 진행하는 것으로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TTFT </a:t>
                      </a:r>
                      <a:r>
                        <a:rPr lang="ko-KR" altLang="en-US" sz="1200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절감률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높음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사전 압축된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KV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캐시를 읽어와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I/O latency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절감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사용자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 aware</a:t>
                      </a:r>
                      <a:r>
                        <a:rPr lang="ko-KR" altLang="en-US" sz="1200" strike="noStrike" baseline="0" dirty="0">
                          <a:effectLst/>
                        </a:rPr>
                        <a:t>한 압축으로 정확도 높음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사용자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</a:t>
                      </a:r>
                      <a:r>
                        <a:rPr lang="ko-KR" altLang="en-US" sz="1200" strike="noStrike" baseline="0" dirty="0">
                          <a:effectLst/>
                        </a:rPr>
                        <a:t>가 아닌 대표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</a:t>
                      </a:r>
                      <a:r>
                        <a:rPr lang="ko-KR" altLang="en-US" sz="1200" strike="noStrike" baseline="0" dirty="0">
                          <a:effectLst/>
                        </a:rPr>
                        <a:t>로 압축한 것이므로 정확도 낮음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effectLst/>
                        </a:rPr>
                        <a:t>온라인으로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와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Context</a:t>
                      </a:r>
                      <a:r>
                        <a:rPr lang="ko-KR" altLang="en-US" sz="1200" strike="noStrike" baseline="0" dirty="0">
                          <a:effectLst/>
                        </a:rPr>
                        <a:t>간의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Attention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연산에 기반한 압축으로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TTFT </a:t>
                      </a:r>
                      <a:r>
                        <a:rPr lang="ko-KR" altLang="en-US" sz="1200" strike="noStrike" baseline="0" dirty="0" err="1">
                          <a:effectLst/>
                        </a:rPr>
                        <a:t>절감률</a:t>
                      </a:r>
                      <a:r>
                        <a:rPr lang="ko-KR" altLang="en-US" sz="1200" strike="noStrike" baseline="0" dirty="0">
                          <a:effectLst/>
                        </a:rPr>
                        <a:t> 낮음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Performance Latency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Functional Correctness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R" altLang="en-US" sz="1200" strike="noStrike" dirty="0">
                        <a:solidFill>
                          <a:prstClr val="black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Performance Latency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Functional Correctness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R" altLang="en-US" sz="1200" strike="noStrike" dirty="0">
                        <a:solidFill>
                          <a:prstClr val="black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8" y="137379"/>
            <a:ext cx="7016242" cy="365125"/>
          </a:xfrm>
        </p:spPr>
        <p:txBody>
          <a:bodyPr/>
          <a:lstStyle/>
          <a:p>
            <a:r>
              <a:rPr lang="en-US" altLang="ko-KR" dirty="0"/>
              <a:t>DP3. Long Context</a:t>
            </a:r>
            <a:r>
              <a:rPr lang="ko-KR" altLang="en-US" dirty="0"/>
              <a:t>를 위한 </a:t>
            </a:r>
            <a:r>
              <a:rPr lang="en-US" altLang="ko-KR" dirty="0"/>
              <a:t>KV </a:t>
            </a:r>
            <a:r>
              <a:rPr lang="ko-KR" altLang="en-US" dirty="0"/>
              <a:t>캐시 압축 및 재사용 구조 </a:t>
            </a:r>
            <a:r>
              <a:rPr lang="en-US" altLang="ko-KR" dirty="0"/>
              <a:t>– </a:t>
            </a:r>
            <a:r>
              <a:rPr lang="ko-KR" altLang="en-US" dirty="0"/>
              <a:t>설계 </a:t>
            </a:r>
            <a:endParaRPr lang="ko-KR" altLang="en-US" strike="sngStrike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6540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Long Context</a:t>
            </a:r>
            <a:r>
              <a:rPr lang="ko-KR" altLang="en-US" sz="1400" b="1" dirty="0">
                <a:solidFill>
                  <a:schemeClr val="bg1"/>
                </a:solidFill>
              </a:rPr>
              <a:t>에서 </a:t>
            </a:r>
            <a:r>
              <a:rPr lang="en-US" altLang="ko-KR" sz="1400" b="1" dirty="0">
                <a:solidFill>
                  <a:schemeClr val="bg1"/>
                </a:solidFill>
              </a:rPr>
              <a:t>Accuracy</a:t>
            </a:r>
            <a:r>
              <a:rPr lang="ko-KR" altLang="en-US" sz="1400" b="1" dirty="0">
                <a:solidFill>
                  <a:schemeClr val="bg1"/>
                </a:solidFill>
              </a:rPr>
              <a:t>를 유지하며 </a:t>
            </a:r>
            <a:r>
              <a:rPr lang="en-US" altLang="ko-KR" sz="1400" b="1" dirty="0">
                <a:solidFill>
                  <a:schemeClr val="bg1"/>
                </a:solidFill>
              </a:rPr>
              <a:t>KV </a:t>
            </a:r>
            <a:r>
              <a:rPr lang="ko-KR" altLang="en-US" sz="1400" b="1" dirty="0">
                <a:solidFill>
                  <a:schemeClr val="bg1"/>
                </a:solidFill>
              </a:rPr>
              <a:t>캐시와 </a:t>
            </a:r>
            <a:r>
              <a:rPr lang="en-US" altLang="ko-KR" sz="1400" b="1" dirty="0">
                <a:solidFill>
                  <a:schemeClr val="bg1"/>
                </a:solidFill>
              </a:rPr>
              <a:t>Latency </a:t>
            </a:r>
            <a:r>
              <a:rPr lang="ko-KR" altLang="en-US" sz="1400" b="1" dirty="0">
                <a:solidFill>
                  <a:schemeClr val="bg1"/>
                </a:solidFill>
              </a:rPr>
              <a:t>를 줄이는 구조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8865760" y="629703"/>
            <a:ext cx="743834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Q1 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673910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 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11187937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C2 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7251190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F3 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062711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F4 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0453490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C1 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67003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111250" y="1430748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“W/L</a:t>
            </a:r>
            <a:r>
              <a:rPr lang="ko-KR" altLang="en-US" sz="1100" dirty="0"/>
              <a:t>별 대표 </a:t>
            </a:r>
            <a:r>
              <a:rPr lang="en-US" altLang="ko-KR" sz="1100" dirty="0"/>
              <a:t>Query</a:t>
            </a:r>
            <a:r>
              <a:rPr lang="ko-KR" altLang="en-US" sz="1100" dirty="0"/>
              <a:t>와 </a:t>
            </a:r>
            <a:r>
              <a:rPr lang="en-US" altLang="ko-KR" sz="1100" dirty="0"/>
              <a:t>KV </a:t>
            </a:r>
            <a:r>
              <a:rPr lang="ko-KR" altLang="en-US" sz="1100" dirty="0"/>
              <a:t>캐시 간 </a:t>
            </a:r>
            <a:r>
              <a:rPr lang="en-US" altLang="ko-KR" sz="1100" dirty="0"/>
              <a:t>Attention</a:t>
            </a:r>
            <a:r>
              <a:rPr lang="ko-KR" altLang="en-US" sz="1100" dirty="0"/>
              <a:t>을 활용하여 압축 및 재계산 토큰 선정</a:t>
            </a:r>
            <a:r>
              <a:rPr lang="en-US" altLang="ko-KR" sz="1100" dirty="0"/>
              <a:t>“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34149" y="1416420"/>
            <a:ext cx="5543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"</a:t>
            </a:r>
            <a:r>
              <a:rPr lang="ko-KR" altLang="en-US" sz="1100" dirty="0"/>
              <a:t>입력되는 </a:t>
            </a:r>
            <a:r>
              <a:rPr lang="en-US" altLang="ko-KR" sz="1100" dirty="0"/>
              <a:t>Query</a:t>
            </a:r>
            <a:r>
              <a:rPr lang="ko-KR" altLang="en-US" sz="1100" dirty="0"/>
              <a:t>와의 </a:t>
            </a:r>
            <a:r>
              <a:rPr lang="en-US" altLang="ko-KR" sz="1100" dirty="0"/>
              <a:t>KV </a:t>
            </a:r>
            <a:r>
              <a:rPr lang="ko-KR" altLang="en-US" sz="1100" dirty="0"/>
              <a:t>간 </a:t>
            </a:r>
            <a:r>
              <a:rPr lang="en-US" altLang="ko-KR" sz="1100" dirty="0"/>
              <a:t>Attention</a:t>
            </a:r>
            <a:r>
              <a:rPr lang="ko-KR" altLang="en-US" sz="1100" dirty="0"/>
              <a:t>을 활용하여 압축 및 재계산 토큰 선정</a:t>
            </a:r>
            <a:r>
              <a:rPr lang="en-US" altLang="ko-KR" sz="1100" dirty="0"/>
              <a:t>“</a:t>
            </a:r>
          </a:p>
        </p:txBody>
      </p:sp>
      <p:sp>
        <p:nvSpPr>
          <p:cNvPr id="102" name="실행 단추: 앞으로 또는 다음 101">
            <a:hlinkClick r:id="" action="ppaction://noaction" highlightClick="1"/>
          </p:cNvPr>
          <p:cNvSpPr/>
          <p:nvPr/>
        </p:nvSpPr>
        <p:spPr>
          <a:xfrm>
            <a:off x="537074" y="6217803"/>
            <a:ext cx="234199" cy="23477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39" name="Rectangle 138"/>
          <p:cNvSpPr/>
          <p:nvPr/>
        </p:nvSpPr>
        <p:spPr>
          <a:xfrm>
            <a:off x="1993392" y="1764792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Query Sampler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대표 Query 선정 (사전)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456432" y="1764792"/>
            <a:ext cx="13258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User Query Manager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실제 Query (서빙 시)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216152" y="2240280"/>
            <a:ext cx="3474720" cy="868680"/>
          </a:xfrm>
          <a:prstGeom prst="rect">
            <a:avLst/>
          </a:prstGeom>
          <a:solidFill>
            <a:srgbClr val="F4F8FD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2" name="Rectangle 141"/>
          <p:cNvSpPr/>
          <p:nvPr/>
        </p:nvSpPr>
        <p:spPr>
          <a:xfrm>
            <a:off x="1216152" y="2240280"/>
            <a:ext cx="1196035" cy="17373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8288" bIns="0"/>
          <a:lstStyle/>
          <a:p>
            <a:pPr algn="l"/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«layer» LLM 생성 구조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444752" y="2606040"/>
            <a:ext cx="1280160" cy="420624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Attention Manager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Query × KV Attention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399032" y="2660904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5" name="Rectangle 144"/>
          <p:cNvSpPr/>
          <p:nvPr/>
        </p:nvSpPr>
        <p:spPr>
          <a:xfrm>
            <a:off x="1399032" y="2752344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6" name="Rectangle 145"/>
          <p:cNvSpPr/>
          <p:nvPr/>
        </p:nvSpPr>
        <p:spPr>
          <a:xfrm>
            <a:off x="3182112" y="2606040"/>
            <a:ext cx="1371600" cy="420624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Selective Recomputer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선정 토큰만 재계산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136392" y="2660904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8" name="Rectangle 147"/>
          <p:cNvSpPr/>
          <p:nvPr/>
        </p:nvSpPr>
        <p:spPr>
          <a:xfrm>
            <a:off x="3136392" y="2752344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15384" y="2523744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770632" y="2258568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0" i="0">
                <a:solidFill>
                  <a:srgbClr val="7F7F7F"/>
                </a:solidFill>
                <a:latin typeface="맑은 고딕"/>
                <a:ea typeface="맑은 고딕"/>
              </a:rPr>
              <a:t>→ Prefill/Decode 생성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16152" y="3246120"/>
            <a:ext cx="3474720" cy="841248"/>
          </a:xfrm>
          <a:prstGeom prst="rect">
            <a:avLst/>
          </a:prstGeom>
          <a:solidFill>
            <a:srgbClr val="FFF8F3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52" name="Rectangle 151"/>
          <p:cNvSpPr/>
          <p:nvPr/>
        </p:nvSpPr>
        <p:spPr>
          <a:xfrm>
            <a:off x="1216152" y="3246120"/>
            <a:ext cx="1313078" cy="173736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8288" bIns="0"/>
          <a:lstStyle/>
          <a:p>
            <a:pPr algn="l"/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«layer» DP3 압축·재사용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444752" y="3566160"/>
            <a:ext cx="86868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KV Cache Compressor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낮은 토큰 evict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399032" y="3621024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55" name="Rectangle 154"/>
          <p:cNvSpPr/>
          <p:nvPr/>
        </p:nvSpPr>
        <p:spPr>
          <a:xfrm>
            <a:off x="1399032" y="3712463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56" name="Rectangle 155"/>
          <p:cNvSpPr/>
          <p:nvPr/>
        </p:nvSpPr>
        <p:spPr>
          <a:xfrm>
            <a:off x="2633472" y="3566160"/>
            <a:ext cx="7772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KV Sampler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점수로 토큰 선정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587752" y="3621024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58" name="Rectangle 157"/>
          <p:cNvSpPr/>
          <p:nvPr/>
        </p:nvSpPr>
        <p:spPr>
          <a:xfrm>
            <a:off x="2587752" y="3712463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59" name="Rectangle 158"/>
          <p:cNvSpPr/>
          <p:nvPr/>
        </p:nvSpPr>
        <p:spPr>
          <a:xfrm>
            <a:off x="3730752" y="3566160"/>
            <a:ext cx="86868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Recompute Token Selector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685032" y="3621024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61" name="Rectangle 160"/>
          <p:cNvSpPr/>
          <p:nvPr/>
        </p:nvSpPr>
        <p:spPr>
          <a:xfrm>
            <a:off x="3685032" y="3712463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62" name="Rectangle 161"/>
          <p:cNvSpPr/>
          <p:nvPr/>
        </p:nvSpPr>
        <p:spPr>
          <a:xfrm>
            <a:off x="5010912" y="2240280"/>
            <a:ext cx="1417320" cy="2560320"/>
          </a:xfrm>
          <a:prstGeom prst="rect">
            <a:avLst/>
          </a:prstGeom>
          <a:solidFill>
            <a:srgbClr val="F7F7F7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63" name="Rectangle 162"/>
          <p:cNvSpPr/>
          <p:nvPr/>
        </p:nvSpPr>
        <p:spPr>
          <a:xfrm>
            <a:off x="5010912" y="2240280"/>
            <a:ext cx="1009497" cy="173736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8288" bIns="0"/>
          <a:lstStyle/>
          <a:p>
            <a:pPr algn="l"/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«store» KV 저장소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062472" y="2258568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056632" y="2450592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7F7F7F"/>
                </a:solidFill>
                <a:latin typeface="맑은 고딕"/>
                <a:ea typeface="맑은 고딕"/>
              </a:rPr>
              <a:t>HBM · DRAM · CXL · SSD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102352" y="2633472"/>
            <a:ext cx="1234440" cy="24688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Context KV 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102352" y="2926080"/>
            <a:ext cx="1234440" cy="24688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Context KV 2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102352" y="3429000"/>
            <a:ext cx="1234440" cy="246888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Comp.KV 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102352" y="3721608"/>
            <a:ext cx="1234440" cy="246888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Comp.KV 2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102352" y="402336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C55A11"/>
                </a:solidFill>
                <a:latin typeface="맑은 고딕"/>
                <a:ea typeface="맑은 고딕"/>
              </a:rPr>
              <a:t>Comp.KV는 요청 간 공유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056632" y="443484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404040"/>
                </a:solidFill>
                <a:latin typeface="맑은 고딕"/>
                <a:ea typeface="맑은 고딕"/>
              </a:rPr>
              <a:t>tier 배치는 DP1이 결정 (저장 위치 무관)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2587752" y="2130552"/>
            <a:ext cx="0" cy="475488"/>
          </a:xfrm>
          <a:prstGeom prst="line">
            <a:avLst/>
          </a:prstGeom>
          <a:ln w="15875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Oval 172"/>
          <p:cNvSpPr/>
          <p:nvPr/>
        </p:nvSpPr>
        <p:spPr>
          <a:xfrm>
            <a:off x="2510028" y="2290572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cxnSp>
        <p:nvCxnSpPr>
          <p:cNvPr id="174" name="Connector 173"/>
          <p:cNvCxnSpPr/>
          <p:nvPr/>
        </p:nvCxnSpPr>
        <p:spPr>
          <a:xfrm flipH="1">
            <a:off x="4690872" y="2697480"/>
            <a:ext cx="320040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Oval 174"/>
          <p:cNvSpPr/>
          <p:nvPr/>
        </p:nvSpPr>
        <p:spPr>
          <a:xfrm>
            <a:off x="4773168" y="2619756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2496312" y="3026664"/>
            <a:ext cx="411479" cy="539496"/>
          </a:xfrm>
          <a:prstGeom prst="line">
            <a:avLst/>
          </a:prstGeom>
          <a:ln w="15875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Oval 176"/>
          <p:cNvSpPr/>
          <p:nvPr/>
        </p:nvSpPr>
        <p:spPr>
          <a:xfrm>
            <a:off x="2624328" y="3218688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cxnSp>
        <p:nvCxnSpPr>
          <p:cNvPr id="178" name="Connector 177"/>
          <p:cNvCxnSpPr/>
          <p:nvPr/>
        </p:nvCxnSpPr>
        <p:spPr>
          <a:xfrm flipH="1">
            <a:off x="2313432" y="3794760"/>
            <a:ext cx="320040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Oval 178"/>
          <p:cNvSpPr/>
          <p:nvPr/>
        </p:nvSpPr>
        <p:spPr>
          <a:xfrm>
            <a:off x="2395728" y="3717036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3410712" y="3794760"/>
            <a:ext cx="320040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4690872" y="3840480"/>
            <a:ext cx="320040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4773168" y="3762756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3913632" y="2130552"/>
            <a:ext cx="0" cy="475488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3835908" y="2290572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cxnSp>
        <p:nvCxnSpPr>
          <p:cNvPr id="185" name="Connector 184"/>
          <p:cNvCxnSpPr/>
          <p:nvPr/>
        </p:nvCxnSpPr>
        <p:spPr>
          <a:xfrm flipH="1">
            <a:off x="4690872" y="2926080"/>
            <a:ext cx="32004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4773168" y="284835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cxnSp>
        <p:nvCxnSpPr>
          <p:cNvPr id="187" name="Connector 186"/>
          <p:cNvCxnSpPr/>
          <p:nvPr/>
        </p:nvCxnSpPr>
        <p:spPr>
          <a:xfrm flipV="1">
            <a:off x="4187952" y="3026664"/>
            <a:ext cx="0" cy="539496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4110228" y="3218688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243584" y="4169663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DP1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627632" y="415137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Comp.KV(사전 산출물)는 요청 간 공유, 저장 tier는 DP1이 결정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243584" y="4443984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DP2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627632" y="442569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선택 재계산(Prefill 유사 연산)을 실행할 자원은 DP2가 결정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243584" y="4663440"/>
            <a:ext cx="3383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>
                <a:solidFill>
                  <a:srgbClr val="7F7F7F"/>
                </a:solidFill>
                <a:latin typeface="맑은 고딕"/>
                <a:ea typeface="맑은 고딕"/>
              </a:rPr>
              <a:t>점선 = 사전(오프라인) 단계 · 파란 실선 = 서빙 시(요청 경로)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406640" y="1764792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User Query Manager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실제 Query (요청 시점)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629400" y="2240280"/>
            <a:ext cx="3474720" cy="868680"/>
          </a:xfrm>
          <a:prstGeom prst="rect">
            <a:avLst/>
          </a:prstGeom>
          <a:solidFill>
            <a:srgbClr val="F4F8FD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96" name="Rectangle 195"/>
          <p:cNvSpPr/>
          <p:nvPr/>
        </p:nvSpPr>
        <p:spPr>
          <a:xfrm>
            <a:off x="6629400" y="2240280"/>
            <a:ext cx="1196035" cy="17373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8288" bIns="0"/>
          <a:lstStyle/>
          <a:p>
            <a:pPr algn="l"/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«layer» LLM 생성 구조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858000" y="2606040"/>
            <a:ext cx="1280160" cy="420624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Attention Manager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Query × KV Attention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812280" y="2660904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99" name="Rectangle 198"/>
          <p:cNvSpPr/>
          <p:nvPr/>
        </p:nvSpPr>
        <p:spPr>
          <a:xfrm>
            <a:off x="6812280" y="2752344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00" name="Rectangle 199"/>
          <p:cNvSpPr/>
          <p:nvPr/>
        </p:nvSpPr>
        <p:spPr>
          <a:xfrm>
            <a:off x="8595360" y="2606040"/>
            <a:ext cx="1371600" cy="420624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Selective Recomputer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선정 토큰만 재계산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549640" y="2660904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02" name="Rectangle 201"/>
          <p:cNvSpPr/>
          <p:nvPr/>
        </p:nvSpPr>
        <p:spPr>
          <a:xfrm>
            <a:off x="8549640" y="2752344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9628632" y="2523744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183879" y="2258568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0" i="0">
                <a:solidFill>
                  <a:srgbClr val="7F7F7F"/>
                </a:solidFill>
                <a:latin typeface="맑은 고딕"/>
                <a:ea typeface="맑은 고딕"/>
              </a:rPr>
              <a:t>→ Prefill/Decode 생성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629400" y="3246120"/>
            <a:ext cx="3474720" cy="841248"/>
          </a:xfrm>
          <a:prstGeom prst="rect">
            <a:avLst/>
          </a:prstGeom>
          <a:solidFill>
            <a:srgbClr val="FFF8F3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06" name="Rectangle 205"/>
          <p:cNvSpPr/>
          <p:nvPr/>
        </p:nvSpPr>
        <p:spPr>
          <a:xfrm>
            <a:off x="6629400" y="3246120"/>
            <a:ext cx="1313078" cy="173736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8288" bIns="0"/>
          <a:lstStyle/>
          <a:p>
            <a:pPr algn="l"/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«layer» DP3 압축·재사용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858000" y="3566160"/>
            <a:ext cx="86868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KV Cache Compressor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낮은 토큰 evict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6812280" y="3621024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09" name="Rectangle 208"/>
          <p:cNvSpPr/>
          <p:nvPr/>
        </p:nvSpPr>
        <p:spPr>
          <a:xfrm>
            <a:off x="6812280" y="3712463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10" name="Rectangle 209"/>
          <p:cNvSpPr/>
          <p:nvPr/>
        </p:nvSpPr>
        <p:spPr>
          <a:xfrm>
            <a:off x="8046720" y="3566160"/>
            <a:ext cx="7772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KV Sampler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점수로 토큰 선정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001000" y="3621024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12" name="Rectangle 211"/>
          <p:cNvSpPr/>
          <p:nvPr/>
        </p:nvSpPr>
        <p:spPr>
          <a:xfrm>
            <a:off x="8001000" y="3712463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13" name="Rectangle 212"/>
          <p:cNvSpPr/>
          <p:nvPr/>
        </p:nvSpPr>
        <p:spPr>
          <a:xfrm>
            <a:off x="9144000" y="3566160"/>
            <a:ext cx="86868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Recompute Token Selector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9098280" y="3621024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15" name="Rectangle 214"/>
          <p:cNvSpPr/>
          <p:nvPr/>
        </p:nvSpPr>
        <p:spPr>
          <a:xfrm>
            <a:off x="9098280" y="3712463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16" name="Rectangle 215"/>
          <p:cNvSpPr/>
          <p:nvPr/>
        </p:nvSpPr>
        <p:spPr>
          <a:xfrm>
            <a:off x="10424160" y="2240280"/>
            <a:ext cx="1417320" cy="2560320"/>
          </a:xfrm>
          <a:prstGeom prst="rect">
            <a:avLst/>
          </a:prstGeom>
          <a:solidFill>
            <a:srgbClr val="F7F7F7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17" name="Rectangle 216"/>
          <p:cNvSpPr/>
          <p:nvPr/>
        </p:nvSpPr>
        <p:spPr>
          <a:xfrm>
            <a:off x="10424160" y="2240280"/>
            <a:ext cx="1009497" cy="173736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8288" bIns="0"/>
          <a:lstStyle/>
          <a:p>
            <a:pPr algn="l"/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«store» KV 저장소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11475720" y="2258568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DP1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0469880" y="2450592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7F7F7F"/>
                </a:solidFill>
                <a:latin typeface="맑은 고딕"/>
                <a:ea typeface="맑은 고딕"/>
              </a:rPr>
              <a:t>HBM · DRAM · CXL · SSD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10515600" y="2633472"/>
            <a:ext cx="1234440" cy="24688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Context KV 1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515600" y="2926080"/>
            <a:ext cx="1234440" cy="24688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Context KV 2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0515600" y="3429000"/>
            <a:ext cx="1234440" cy="50292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요청별 Comp.KV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(Query 의존, 임시)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0469880" y="443484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404040"/>
                </a:solidFill>
                <a:latin typeface="맑은 고딕"/>
                <a:ea typeface="맑은 고딕"/>
              </a:rPr>
              <a:t>tier 배치는 DP1이 결정 (저장 위치 무관)</a:t>
            </a:r>
          </a:p>
        </p:txBody>
      </p:sp>
      <p:cxnSp>
        <p:nvCxnSpPr>
          <p:cNvPr id="224" name="Connector 223"/>
          <p:cNvCxnSpPr/>
          <p:nvPr/>
        </p:nvCxnSpPr>
        <p:spPr>
          <a:xfrm>
            <a:off x="7909560" y="2130552"/>
            <a:ext cx="0" cy="475488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Oval 224"/>
          <p:cNvSpPr/>
          <p:nvPr/>
        </p:nvSpPr>
        <p:spPr>
          <a:xfrm>
            <a:off x="7831836" y="2290572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cxnSp>
        <p:nvCxnSpPr>
          <p:cNvPr id="226" name="Connector 225"/>
          <p:cNvCxnSpPr/>
          <p:nvPr/>
        </p:nvCxnSpPr>
        <p:spPr>
          <a:xfrm flipH="1">
            <a:off x="10104120" y="2743200"/>
            <a:ext cx="32004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Oval 226"/>
          <p:cNvSpPr/>
          <p:nvPr/>
        </p:nvSpPr>
        <p:spPr>
          <a:xfrm>
            <a:off x="10186416" y="266547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cxnSp>
        <p:nvCxnSpPr>
          <p:cNvPr id="228" name="Connector 227"/>
          <p:cNvCxnSpPr/>
          <p:nvPr/>
        </p:nvCxnSpPr>
        <p:spPr>
          <a:xfrm>
            <a:off x="7909560" y="3026664"/>
            <a:ext cx="411480" cy="539496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Oval 228"/>
          <p:cNvSpPr/>
          <p:nvPr/>
        </p:nvSpPr>
        <p:spPr>
          <a:xfrm>
            <a:off x="8037575" y="3218688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cxnSp>
        <p:nvCxnSpPr>
          <p:cNvPr id="230" name="Connector 229"/>
          <p:cNvCxnSpPr/>
          <p:nvPr/>
        </p:nvCxnSpPr>
        <p:spPr>
          <a:xfrm flipH="1">
            <a:off x="7726679" y="3794760"/>
            <a:ext cx="320041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Oval 230"/>
          <p:cNvSpPr/>
          <p:nvPr/>
        </p:nvSpPr>
        <p:spPr>
          <a:xfrm>
            <a:off x="7808975" y="371703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8823960" y="3794760"/>
            <a:ext cx="32004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326880" y="3026664"/>
            <a:ext cx="0" cy="539496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Oval 233"/>
          <p:cNvSpPr/>
          <p:nvPr/>
        </p:nvSpPr>
        <p:spPr>
          <a:xfrm>
            <a:off x="9249155" y="3218688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656832" y="4169663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DP1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040880" y="415137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Context KV의 tier 배치는 DP1이 결정, 압축 결과는 요청 단위로 생성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6656832" y="4443984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DP2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040880" y="442569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선택 재계산(Prefill 유사 연산)을 실행할 자원은 DP2가 결정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656832" y="4663440"/>
            <a:ext cx="3383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>
                <a:solidFill>
                  <a:srgbClr val="7F7F7F"/>
                </a:solidFill>
                <a:latin typeface="맑은 고딕"/>
                <a:ea typeface="맑은 고딕"/>
              </a:rPr>
              <a:t>모두 서빙 시(요청 경로)에서 수행</a:t>
            </a:r>
          </a:p>
        </p:txBody>
      </p:sp>
    </p:spTree>
    <p:extLst>
      <p:ext uri="{BB962C8B-B14F-4D97-AF65-F5344CB8AC3E}">
        <p14:creationId xmlns:p14="http://schemas.microsoft.com/office/powerpoint/2010/main" val="2638816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</Words>
  <Application>Microsoft Office PowerPoint</Application>
  <PresentationFormat>와이드스크린</PresentationFormat>
  <Paragraphs>113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맑은 고딕</vt:lpstr>
      <vt:lpstr>Arial</vt:lpstr>
      <vt:lpstr>Wingdings</vt:lpstr>
      <vt:lpstr>Office 테마</vt:lpstr>
      <vt:lpstr>DP3. Long Context를 위한 KV 캐시 압축 및 재사용 구조 – 배경 </vt:lpstr>
      <vt:lpstr>DP3. Long Context를 위한 KV 캐시 압축 및 재사용 구조 – 설계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DP3. Long Context를 위한 KV 캐시 압축 및 재사용 구조 – 배경 </dc:title>
  <dc:creator>Myeong Woo Kim</dc:creator>
  <cp:lastModifiedBy>Myeong Woo Kim</cp:lastModifiedBy>
  <cp:revision>1</cp:revision>
  <dcterms:created xsi:type="dcterms:W3CDTF">2026-10-03T15:48:21Z</dcterms:created>
  <dcterms:modified xsi:type="dcterms:W3CDTF">2026-10-03T15:48:31Z</dcterms:modified>
</cp:coreProperties>
</file>
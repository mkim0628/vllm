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27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0.xml" ContentType="application/vnd.openxmlformats-officedocument.presentationml.slide+xml"/>
  <Override PartName="/ppt/slides/slide55.xml" ContentType="application/vnd.openxmlformats-officedocument.presentationml.slide+xml"/>
  <Override PartName="/ppt/slides/slide57.xml" ContentType="application/vnd.openxmlformats-officedocument.presentationml.slide+xml"/>
  <Override PartName="/ppt/slides/slide59.xml" ContentType="application/vnd.openxmlformats-officedocument.presentationml.slide+xml"/>
  <Override PartName="/ppt/slides/slide61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0" r:id="rId2"/>
    <p:sldMasterId id="2147483707" r:id="rId3"/>
    <p:sldMasterId id="2147483729" r:id="rId4"/>
    <p:sldMasterId id="2147483744" r:id="rId5"/>
  </p:sldMasterIdLst>
  <p:notesMasterIdLst>
    <p:notesMasterId r:id="rId171"/>
  </p:notesMasterIdLst>
  <p:sldIdLst>
    <p:sldId id="719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F0D8FA"/>
    <a:srgbClr val="FFFFFF"/>
    <a:srgbClr val="EAF2FA"/>
    <a:srgbClr val="C00000"/>
    <a:srgbClr val="FBE5D6"/>
    <a:srgbClr val="E6B99A"/>
    <a:srgbClr val="AFCEEB"/>
    <a:srgbClr val="667A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88771" autoAdjust="0"/>
  </p:normalViewPr>
  <p:slideViewPr>
    <p:cSldViewPr snapToGrid="0">
      <p:cViewPr varScale="1">
        <p:scale>
          <a:sx n="100" d="100"/>
          <a:sy n="100" d="100"/>
        </p:scale>
        <p:origin x="924" y="84"/>
      </p:cViewPr>
      <p:guideLst/>
    </p:cSldViewPr>
  </p:slideViewPr>
  <p:outlineViewPr>
    <p:cViewPr>
      <p:scale>
        <a:sx n="33" d="100"/>
        <a:sy n="33" d="100"/>
      </p:scale>
      <p:origin x="0" y="-15627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-20094"/>
    </p:cViewPr>
  </p:sorterViewPr>
  <p:notesViewPr>
    <p:cSldViewPr snapToGrid="0">
      <p:cViewPr varScale="1">
        <p:scale>
          <a:sx n="86" d="100"/>
          <a:sy n="86" d="100"/>
        </p:scale>
        <p:origin x="386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0" Type="http://schemas.openxmlformats.org/officeDocument/2006/relationships/slide" Target="slides/slide55.xml"/><Relationship Id="rId171" Type="http://schemas.openxmlformats.org/officeDocument/2006/relationships/notesMaster" Target="notesMasters/notesMaster1.xml"/><Relationship Id="rId172" Type="http://schemas.openxmlformats.org/officeDocument/2006/relationships/presProps" Target="presProps.xml"/><Relationship Id="rId173" Type="http://schemas.openxmlformats.org/officeDocument/2006/relationships/viewProps" Target="viewProps.xml"/><Relationship Id="rId174" Type="http://schemas.openxmlformats.org/officeDocument/2006/relationships/theme" Target="theme/theme1.xml"/><Relationship Id="rId17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6DFF4-997A-46AB-885E-08C25B81A166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17B06-B204-4E73-B04E-053CD704EF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7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/>
              <a:t>[발표 스크립트 | 슬라이드 10 | 약 1분30초 | 누적 약 11분]</a:t>
            </a:r>
          </a:p>
          <a:p>
            <a:r>
              <a:rPr lang="ko-KR" dirty="0"/>
              <a:t>품질 요구사항입니다. QAW에서 나온 후보를 Utility Tree로 평가해서 중요도 High이면서 난이도 Medium 이상인 다섯 개를 핵심으로 골랐습니다. 각각 정량 목표가 있습니다.</a:t>
            </a:r>
          </a:p>
          <a:p>
            <a:r>
              <a:rPr lang="ko-KR" dirty="0"/>
              <a:t>QA-01 처리량은 SLO를 만족하는 최대 요청량이 Baseline의 2배 이상이어야 합니다. 단순 offloading 기술의 하한과 이해관계자 요구를 근거로 한 값입니다. QA-02 HBM 사용량은 같은 성능에서 20% 이상 감소해야 합니다. QA-03 고부하 지연시간은 TTFT와 TPOT의 P99 감소율이 30% 이상이어야 하고, SLO를 만족해야 합니다. QA-04 확장성은 노드를 늘렸을 때 Scaling Efficiency가 80%를 넘어야 하며, QA-05 변경 용이성은 새 메모리 tier나 정책, vLLM 업스트림이 바뀌어도 변경 모듈이 5개 미만이어야 합니다.</a:t>
            </a:r>
          </a:p>
          <a:p>
            <a:r>
              <a:rPr lang="ko-KR" dirty="0"/>
              <a:t>QA-06 이하의 장애 대체, 워크로드 적응성은 중요도가 Medium이라 이번 라운드의 설계 동인에서는 제외했습니다. 별점으로 후보를 비교하는 상세 기준은 부록에 두었습니다.</a:t>
            </a:r>
          </a:p>
          <a:p/>
          <a:p>
            <a:r>
              <a:rPr lang="ko-KR" dirty="0"/>
              <a:t>───────── 기존 노트 (원문 유지) ─────────</a:t>
            </a:r>
          </a:p>
          <a:p>
            <a:r>
              <a:rPr lang="ko-KR" altLang="en-US" dirty="0"/>
              <a:t>기능 정확도가 </a:t>
            </a:r>
            <a:r>
              <a:rPr lang="en-US" altLang="ko-KR" dirty="0"/>
              <a:t>QA</a:t>
            </a:r>
            <a:r>
              <a:rPr lang="ko-KR" altLang="en-US" dirty="0"/>
              <a:t>로 들어가는 사람들이 많음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6179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[백업(Appendix) 스크립트 | 본 발표 40분에는 미포함, 질의응답 시 사용]</a:t>
            </a:r>
          </a:p>
          <a:p>
            <a:r>
              <a:t>기능 정확성 평가 기준입니다. 압축·재사용 전 full recompute 대비 F1 상대 하락률이 1% 이하면 ★1(최소), 0.1% 이하면 ★3(목표)입니다. 1%는 MLPerf Inference가 LLM 대부분 행에 쓰는 reference 99% tier, 0.1%는 같은 규칙의 99.9% tier입니다. ★2(0.3%)는 두 값의 기하 중점으로 문헌 근거가 없습니다. 잡음이 큰 과제(RAG, agent)의 97%와 KVServe·EVICPRESS의 3% 허용은 완화 기준으로 표시만 하고 채택하지 않았습니다.</a:t>
            </a:r>
          </a:p>
          <a:p>
            <a:r>
              <a:t>처리량은 정확도 기준을 통과한 구성에서만 인정합니다(MLPerf, KVServe, EVICPRESS가 같은 방식). 문헌에서 정확도 제약 하 처리량 이득은 하한 약 2×, 상한 3.6~5×입니다.</a:t>
            </a:r>
          </a:p>
          <a:p>
            <a:r>
              <a:t>한계: 0.1%는 현재 정확도 실측(n=93)으로 판정할 수 없고(task당 약 40만 개 필요), 문헌 수치는 대부분 7~8B 모델·단일 노드입니다. 1%와 0.1%는 업계 관행 값이며 통계적 근거는 문헌에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HBM 효율성 평가 기준입니다. 같은 부하·SLO에서 HBM에 올라와 있는 KV 크기의 시간 평균을 Baseline과 비교한 감소율이며, ShadowKV, DirectKV, HeadInfer 등 오프로딩·배치 계열 시스템이 보고한 40~80% 절감률을 ★★★ 근거로 삼았습니다.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고부하 지연시간 평가 기준입니다. 부하를 Baseline 포화 부하의 90%에 고정하고 TTFT와 TPOT의 P99 개선을 보며, 기하평균 r로 환산해 SLO를 넘으면 ★로 강등하는 규칙을 두었습니다. TTFT가 좋은 경우와 TPOT가 좋은 경우가 같지 않아 두 지표를 함께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SLO 기준입니다. TTFT P99 2초 이하, TPOT P99 50ms 이하로 정했고, 근거는 H100×8과 B200×8 기준 Llama-70B급의 이론 하한 계산(가중치 141GB, 메모리 대역폭, MFU 0.45)과 MLPerf Inference, 인간의 읽기 속도 연구입니다.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시스템 확장성 평가 기준입니다. 노드 수 N을 늘렸을 때 Goodput 증가 배율을 N의 증가 배율로 나눈 Scaling Efficiency이고, USL로 환산하면 조율 계층의 직렬 비중 σ로 표현됩니다. 16노드에서 SE 80%는 σ 약 1.67%에 해당합니다. 병렬 효율 문헌에서 '효율적'이라고 보고하는 90%를 ★★★로 두었습니다.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ko-KR" dirty="0"/>
              <a:t>[백업(Appendix) 스크립트 | 본 발표 40분에는 미포함, 질의응답 시 사용]</a:t>
            </a:r>
          </a:p>
          <a:p>
            <a:r>
              <a:rPr lang="ko-KR" dirty="0"/>
              <a:t>변경 용이성 평가 기준입니다. 새 메모리 tier 추가, 정책 교체, vLLM 업스트림 변경 같은 변경 시나리오에서 변경 모듈 수와 토큰 비용, 개발 공수(M/M)를 함께 봅니다. vLLM kv_connector 코드의 실제 규모를 근거로 공수를 환산했습니다.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jpe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jpe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C650-D728-4CCD-827E-82C3E43FAE72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27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40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78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381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426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현검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2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결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1272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872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7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75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개체 틀 1"/>
          <p:cNvSpPr>
            <a:spLocks noGrp="1"/>
          </p:cNvSpPr>
          <p:nvPr userDrawn="1"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갈매기형 수장 13"/>
          <p:cNvSpPr/>
          <p:nvPr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0" name="갈매기형 수장 19"/>
          <p:cNvSpPr/>
          <p:nvPr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1" name="갈매기형 수장 20"/>
          <p:cNvSpPr/>
          <p:nvPr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2" name="갈매기형 수장 21"/>
          <p:cNvSpPr/>
          <p:nvPr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3" name="갈매기형 수장 22"/>
          <p:cNvSpPr/>
          <p:nvPr/>
        </p:nvSpPr>
        <p:spPr>
          <a:xfrm>
            <a:off x="10086636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207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472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25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+mj-lt"/>
                <a:ea typeface="+mj-ea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latinLnBrk="0">
              <a:lnSpc>
                <a:spcPct val="99000"/>
              </a:lnSpc>
              <a:defRPr sz="2000" baseline="0">
                <a:latin typeface="+mn-lt"/>
                <a:ea typeface="+mn-ea"/>
              </a:defRPr>
            </a:lvl1pPr>
            <a:lvl2pPr marL="685800" indent="-228600" latinLnBrk="0">
              <a:lnSpc>
                <a:spcPct val="99000"/>
              </a:lnSpc>
              <a:buFont typeface="Arial" panose="020B0604020202020204" pitchFamily="34" charset="0"/>
              <a:buChar char="–"/>
              <a:defRPr sz="1800" baseline="0">
                <a:latin typeface="+mn-lt"/>
                <a:ea typeface="+mn-ea"/>
              </a:defRPr>
            </a:lvl2pPr>
            <a:lvl3pPr marL="1143000" indent="-228600" latinLnBrk="0">
              <a:lnSpc>
                <a:spcPct val="99000"/>
              </a:lnSpc>
              <a:buFont typeface="Arial" panose="020B0604020202020204" pitchFamily="34" charset="0"/>
              <a:buChar char="="/>
              <a:defRPr sz="1600" baseline="0">
                <a:latin typeface="+mn-lt"/>
                <a:ea typeface="+mn-ea"/>
              </a:defRPr>
            </a:lvl3pPr>
            <a:lvl4pPr marL="1600200" indent="-228600" latinLnBrk="0">
              <a:lnSpc>
                <a:spcPct val="99000"/>
              </a:lnSpc>
              <a:buFont typeface="Arial" panose="020B0604020202020204" pitchFamily="34" charset="0"/>
              <a:buChar char="+"/>
              <a:defRPr sz="1400" baseline="0">
                <a:latin typeface="+mn-lt"/>
                <a:ea typeface="+mn-ea"/>
              </a:defRPr>
            </a:lvl4pPr>
            <a:lvl5pPr latinLnBrk="0">
              <a:lnSpc>
                <a:spcPct val="99000"/>
              </a:lnSpc>
              <a:defRPr sz="1400" baseline="0">
                <a:latin typeface="+mn-lt"/>
                <a:ea typeface="+mn-ea"/>
              </a:defRPr>
            </a:lvl5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b="0" baseline="0">
                <a:effectLst/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093562" y="6309000"/>
            <a:ext cx="720000" cy="549000"/>
          </a:xfrm>
        </p:spPr>
        <p:txBody>
          <a:bodyPr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fld id="{006AB58B-850D-41AE-B362-DEB7C589915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601" y="54590"/>
            <a:ext cx="1554858" cy="2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244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Runtime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192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259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63A8D-519A-4754-BD8A-A6C3902E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D7ACB4-B44A-45D9-AA29-345D66F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EC944-DB75-4BBC-B971-7E74031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496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7CFFB-C76B-255C-F08B-AE4D272C1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42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1576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0854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526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A5056-25CA-7D11-6782-D571A0F88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4526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61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566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4318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green&#10;&#10;Description automatically generated">
            <a:extLst>
              <a:ext uri="{FF2B5EF4-FFF2-40B4-BE49-F238E27FC236}">
                <a16:creationId xmlns:a16="http://schemas.microsoft.com/office/drawing/2014/main" id="{9CDD1722-AC1D-A3E6-8241-89D910B640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6BE802-6EAA-9CAC-D92E-3323E0DB61F0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tx1">
              <a:alpha val="973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666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sp>
        <p:nvSpPr>
          <p:cNvPr id="14" name="Text Placeholder 61">
            <a:extLst>
              <a:ext uri="{FF2B5EF4-FFF2-40B4-BE49-F238E27FC236}">
                <a16:creationId xmlns:a16="http://schemas.microsoft.com/office/drawing/2014/main" id="{20BB6F58-1910-91C8-58C7-4EED278E8A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5010" y="2573607"/>
            <a:ext cx="866307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267"/>
              </a:spcBef>
              <a:buNone/>
              <a:defRPr kumimoji="1" lang="ja-JP" altLang="en-US" sz="1600" baseline="0" dirty="0">
                <a:solidFill>
                  <a:schemeClr val="bg1"/>
                </a:solidFill>
                <a:latin typeface="Samsung Sharp Sans Medium" pitchFamily="2" charset="0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Text here. </a:t>
            </a: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780E7B3E-1329-1322-4298-FEF2833BB33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5008" y="1929073"/>
            <a:ext cx="8668264" cy="5027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267"/>
              </a:spcBef>
              <a:buNone/>
              <a:defRPr kumimoji="1" lang="ja-JP" altLang="en-US" sz="2667" baseline="0" dirty="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Insert text here.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200668-03D7-44A1-8921-FDA2284D95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4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2D887E-1BE1-438E-A7D0-B415A62AEC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9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440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62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B1CE6-BE81-4923-8FB3-24AF0844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A8BD7E-0C67-4426-AB4F-E6A4BF088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3D5FA-9BDD-415C-80E9-BF2A84A2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FC0D-950D-4B77-A05A-940B8884255E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5717D-8F85-4A46-A80D-28F861FB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2799C-0BB5-495A-92EE-5BED2DD6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9A7A2-F324-4CFD-B13E-7D0812B8D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3004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EB4836A-ADBD-45EF-3E65-9170AB581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288" y="3128148"/>
            <a:ext cx="4083427" cy="6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58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552080-B4B6-4F33-9842-246C7211B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727" y="2804708"/>
            <a:ext cx="4700545" cy="124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375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9600000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 baseline="0">
                <a:solidFill>
                  <a:schemeClr val="bg1"/>
                </a:solidFill>
                <a:latin typeface="Samsung Sharp Sans Bold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1" y="151659"/>
            <a:ext cx="1237801" cy="328791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0"/>
          </p:nvPr>
        </p:nvSpPr>
        <p:spPr>
          <a:xfrm>
            <a:off x="475010" y="1079500"/>
            <a:ext cx="11259790" cy="5400500"/>
          </a:xfrm>
        </p:spPr>
        <p:txBody>
          <a:bodyPr>
            <a:normAutofit/>
          </a:bodyPr>
          <a:lstStyle>
            <a:lvl1pPr>
              <a:defRPr b="1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1pPr>
            <a:lvl2pPr marL="501909" indent="-342900">
              <a:buFont typeface="Arial" panose="020B0604020202020204" pitchFamily="34" charset="0"/>
              <a:buChar char="•"/>
              <a:defRPr sz="20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2pPr>
            <a:lvl3pPr marL="720000" indent="-342900">
              <a:buFont typeface="Arial" panose="020B0604020202020204" pitchFamily="34" charset="0"/>
              <a:buChar char="•"/>
              <a:defRPr sz="18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3pPr>
            <a:lvl4pPr marL="90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4pPr>
            <a:lvl5pPr marL="108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8C25FD-2FD7-4801-A6F1-7CDC27D1CDF1}"/>
              </a:ext>
            </a:extLst>
          </p:cNvPr>
          <p:cNvCxnSpPr/>
          <p:nvPr userDrawn="1"/>
        </p:nvCxnSpPr>
        <p:spPr>
          <a:xfrm flipH="1">
            <a:off x="296231" y="1018418"/>
            <a:ext cx="11552869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04AEE"/>
                </a:gs>
                <a:gs pos="89524">
                  <a:srgbClr val="0DD5FF"/>
                </a:gs>
                <a:gs pos="61000">
                  <a:srgbClr val="0DD5FF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8627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7CFFB-C76B-255C-F08B-AE4D272C1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42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6041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9193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2943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6A5056-25CA-7D11-6782-D571A0F885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4526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564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7331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6150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green&#10;&#10;Description automatically generated">
            <a:extLst>
              <a:ext uri="{FF2B5EF4-FFF2-40B4-BE49-F238E27FC236}">
                <a16:creationId xmlns:a16="http://schemas.microsoft.com/office/drawing/2014/main" id="{9CDD1722-AC1D-A3E6-8241-89D910B640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F6BE802-6EAA-9CAC-D92E-3323E0DB61F0}"/>
              </a:ext>
            </a:extLst>
          </p:cNvPr>
          <p:cNvSpPr/>
          <p:nvPr userDrawn="1"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chemeClr val="tx1">
              <a:alpha val="9734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679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sp>
        <p:nvSpPr>
          <p:cNvPr id="14" name="Text Placeholder 61">
            <a:extLst>
              <a:ext uri="{FF2B5EF4-FFF2-40B4-BE49-F238E27FC236}">
                <a16:creationId xmlns:a16="http://schemas.microsoft.com/office/drawing/2014/main" id="{20BB6F58-1910-91C8-58C7-4EED278E8A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75010" y="2573607"/>
            <a:ext cx="8663073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267"/>
              </a:spcBef>
              <a:buNone/>
              <a:defRPr kumimoji="1" lang="ja-JP" altLang="en-US" sz="1600" baseline="0" dirty="0">
                <a:solidFill>
                  <a:schemeClr val="bg1"/>
                </a:solidFill>
                <a:latin typeface="Samsung Sharp Sans Medium" pitchFamily="2" charset="0"/>
                <a:cs typeface="Samsung Sharp Sans Medium" pitchFamily="2" charset="0"/>
              </a:defRPr>
            </a:lvl1pPr>
          </a:lstStyle>
          <a:p>
            <a:pPr lvl="0"/>
            <a:r>
              <a:rPr kumimoji="1" lang="en-US" altLang="ja-JP" dirty="0"/>
              <a:t>Text here. </a:t>
            </a:r>
          </a:p>
        </p:txBody>
      </p:sp>
      <p:sp>
        <p:nvSpPr>
          <p:cNvPr id="15" name="Text Placeholder 61">
            <a:extLst>
              <a:ext uri="{FF2B5EF4-FFF2-40B4-BE49-F238E27FC236}">
                <a16:creationId xmlns:a16="http://schemas.microsoft.com/office/drawing/2014/main" id="{780E7B3E-1329-1322-4298-FEF2833BB33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5008" y="1929073"/>
            <a:ext cx="8668264" cy="5027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spcBef>
                <a:spcPts val="267"/>
              </a:spcBef>
              <a:buNone/>
              <a:defRPr kumimoji="1" lang="ja-JP" altLang="en-US" sz="2667" baseline="0" dirty="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defRPr>
            </a:lvl1pPr>
          </a:lstStyle>
          <a:p>
            <a:pPr lvl="0"/>
            <a:r>
              <a:rPr lang="en-US" altLang="ko-KR" dirty="0"/>
              <a:t>Insert text here. 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0200668-03D7-44A1-8921-FDA2284D95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05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09EC9C4-DF97-8740-95BD-2B75B465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010" y="925139"/>
            <a:ext cx="5905948" cy="36299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67" b="0" i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defRPr>
            </a:lvl1pPr>
            <a:lvl2pPr marL="609555" indent="0" algn="ctr">
              <a:buNone/>
              <a:defRPr sz="2667"/>
            </a:lvl2pPr>
            <a:lvl3pPr marL="1219110" indent="0" algn="ctr">
              <a:buNone/>
              <a:defRPr sz="2400"/>
            </a:lvl3pPr>
            <a:lvl4pPr marL="1828664" indent="0" algn="ctr">
              <a:buNone/>
              <a:defRPr sz="2133"/>
            </a:lvl4pPr>
            <a:lvl5pPr marL="2438218" indent="0" algn="ctr">
              <a:buNone/>
              <a:defRPr sz="2133"/>
            </a:lvl5pPr>
            <a:lvl6pPr marL="3047772" indent="0" algn="ctr">
              <a:buNone/>
              <a:defRPr sz="2133"/>
            </a:lvl6pPr>
            <a:lvl7pPr marL="3657327" indent="0" algn="ctr">
              <a:buNone/>
              <a:defRPr sz="2133"/>
            </a:lvl7pPr>
            <a:lvl8pPr marL="4266880" indent="0" algn="ctr">
              <a:buNone/>
              <a:defRPr sz="2133"/>
            </a:lvl8pPr>
            <a:lvl9pPr marL="4876435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2D887E-1BE1-438E-A7D0-B415A62AEC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629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7923508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>
                <a:solidFill>
                  <a:schemeClr val="bg1"/>
                </a:solidFill>
                <a:latin typeface="Samsung Sharp Sans Bold" pitchFamily="2" charset="77"/>
                <a:ea typeface="Samsung Sharp Sans Bold" pitchFamily="2" charset="77"/>
                <a:cs typeface="Samsung Sharp Sans Bold" pitchFamily="2" charset="7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805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957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6B1CE6-BE81-4923-8FB3-24AF0844B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A8BD7E-0C67-4426-AB4F-E6A4BF088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13D5FA-9BDD-415C-80E9-BF2A84A2C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6FC0D-950D-4B77-A05A-940B8884255E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5717D-8F85-4A46-A80D-28F861FB3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2799C-0BB5-495A-92EE-5BED2DD6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9A7A2-F324-4CFD-B13E-7D0812B8DA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97256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BEB4836A-ADBD-45EF-3E65-9170AB581F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288" y="3128148"/>
            <a:ext cx="4083427" cy="601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683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2552080-B4B6-4F33-9842-246C7211B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727" y="2804708"/>
            <a:ext cx="4700545" cy="124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3199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8">
            <a:extLst>
              <a:ext uri="{FF2B5EF4-FFF2-40B4-BE49-F238E27FC236}">
                <a16:creationId xmlns:a16="http://schemas.microsoft.com/office/drawing/2014/main" id="{1924F11C-976A-084C-9B69-A2A6AA2B23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10" y="367440"/>
            <a:ext cx="9600000" cy="532925"/>
          </a:xfrm>
          <a:prstGeom prst="rect">
            <a:avLst/>
          </a:prstGeom>
        </p:spPr>
        <p:txBody>
          <a:bodyPr lIns="0" rIns="0"/>
          <a:lstStyle>
            <a:lvl1pPr algn="l">
              <a:defRPr sz="3200" b="1" i="0" baseline="0">
                <a:solidFill>
                  <a:schemeClr val="bg1"/>
                </a:solidFill>
                <a:latin typeface="Samsung Sharp Sans Bold"/>
                <a:ea typeface="맑은 고딕" panose="020B0503020000020004" pitchFamily="50" charset="-127"/>
                <a:cs typeface="맑은 고딕" panose="020B0503020000020004" pitchFamily="50" charset="-127"/>
              </a:defRPr>
            </a:lvl1pPr>
          </a:lstStyle>
          <a:p>
            <a:r>
              <a:rPr lang="en-US" dirty="0"/>
              <a:t>Click to edit Master title</a:t>
            </a:r>
            <a:br>
              <a:rPr lang="en-US" dirty="0"/>
            </a:br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7240E10-7EA5-456D-BB5F-B1D424DF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1" y="151659"/>
            <a:ext cx="1237801" cy="328791"/>
          </a:xfrm>
          <a:prstGeom prst="rect">
            <a:avLst/>
          </a:prstGeom>
        </p:spPr>
      </p:pic>
      <p:sp>
        <p:nvSpPr>
          <p:cNvPr id="7" name="내용 개체 틀 2"/>
          <p:cNvSpPr>
            <a:spLocks noGrp="1"/>
          </p:cNvSpPr>
          <p:nvPr>
            <p:ph idx="10"/>
          </p:nvPr>
        </p:nvSpPr>
        <p:spPr>
          <a:xfrm>
            <a:off x="475010" y="1079500"/>
            <a:ext cx="11259790" cy="5400500"/>
          </a:xfrm>
        </p:spPr>
        <p:txBody>
          <a:bodyPr>
            <a:normAutofit/>
          </a:bodyPr>
          <a:lstStyle>
            <a:lvl1pPr>
              <a:defRPr b="1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1pPr>
            <a:lvl2pPr marL="501909" indent="-342900">
              <a:buFont typeface="Arial" panose="020B0604020202020204" pitchFamily="34" charset="0"/>
              <a:buChar char="•"/>
              <a:defRPr sz="20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2pPr>
            <a:lvl3pPr marL="720000" indent="-342900">
              <a:buFont typeface="Arial" panose="020B0604020202020204" pitchFamily="34" charset="0"/>
              <a:buChar char="•"/>
              <a:defRPr sz="18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3pPr>
            <a:lvl4pPr marL="90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4pPr>
            <a:lvl5pPr marL="1080000" indent="-285750">
              <a:buFont typeface="Arial" panose="020B0604020202020204" pitchFamily="34" charset="0"/>
              <a:buChar char="•"/>
              <a:defRPr sz="1400" baseline="0">
                <a:solidFill>
                  <a:srgbClr val="FFFFFF"/>
                </a:solidFill>
                <a:latin typeface="SamsungOneKorean 600C"/>
                <a:ea typeface="SamsungOneKorean 600C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78C25FD-2FD7-4801-A6F1-7CDC27D1CDF1}"/>
              </a:ext>
            </a:extLst>
          </p:cNvPr>
          <p:cNvCxnSpPr/>
          <p:nvPr userDrawn="1"/>
        </p:nvCxnSpPr>
        <p:spPr>
          <a:xfrm flipH="1">
            <a:off x="296231" y="1018418"/>
            <a:ext cx="11552869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04AEE"/>
                </a:gs>
                <a:gs pos="89524">
                  <a:srgbClr val="0DD5FF"/>
                </a:gs>
                <a:gs pos="61000">
                  <a:srgbClr val="0DD5FF"/>
                </a:gs>
              </a:gsLst>
              <a:lin ang="10800000" scaled="1"/>
              <a:tileRect/>
            </a:gra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1280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8079B-4642-46BC-B72C-11BF16CCA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EA7D0B-EC0A-49BA-AB07-1CBC613FCE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D24D7D-8DCB-439E-857B-05A27344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EBB92D-E9F0-4966-A300-3C927362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87CF1-5724-4291-B735-92A9AEE9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17265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600708-DB81-4FB2-AF8A-D88E41B7D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FD5BD-B3A1-456F-BA74-3EB64F307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48A1F-7374-48EC-B1F6-1D0A3B001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1BF90E-9C6D-4402-84B3-F5D4A73F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89BB6-BF2D-4F8F-B766-D8C56DE0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8963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73A737-FC3B-458D-9ABC-7FF185FB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094765-F5D7-4144-B465-6F91EA8A1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DE54A-6E4B-4E3F-8464-DF4487BA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421F74-F714-4710-BD86-CD249296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31704C-42BA-4AEE-ABED-D5E4C99AD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09911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48E83-2CA4-4287-9482-A2CA1F54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111BC3-C96D-44F8-A514-57A944FA8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F12E45-2FF3-4AAA-A1CB-B2DC1006F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8B631D2-1D66-4477-A5A2-1F3DE2B4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724A86-A205-4C78-A316-E0B08774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524191-9E61-44B8-9EB7-1EB2D736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3252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47FB6-B49F-426F-9058-EBD0402FC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9DB437-BC05-4F97-B084-639E8207B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6BE1D2-076B-4634-B928-28E1B6C25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C492708-8003-4F14-9506-FD5D7377B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B2CC45-8764-4574-972B-D5499F905D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63BF69B-8E58-43D8-BFFE-A26004F3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948475-DFBE-4EE1-8460-8320E4F8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483D86-865D-4017-A422-C96DECBDE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2960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91F04-4B24-4685-A29C-C9F6CB05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E32319-0AA4-4B46-839D-629B605F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8A4E217-BDD4-4297-8F84-D6D1FBBE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85B013-0E98-435D-8399-E12A25F4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347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6E98EB8-8A73-44DA-A10D-8594C1646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05CE694-5897-46D2-B67B-E2DC9478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92DE14-B012-4E15-B3C7-75772593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0141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1839A-306F-48B7-AC1D-C6832CCDF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9FE19-AF11-4B0E-A5FD-2D4853237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CF1AD6-B83A-4D13-AA0D-881190CD0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E1ECC3-DD39-4F77-9E9B-EEEA8BB4A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6AB3F6-FEBB-414F-8FF7-795B74849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071BE2-24B9-4960-8EBB-29C6024E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90746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7626C-362D-434C-B3F0-10510A8F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2BD025-8DFE-4789-A4E3-1396BF3F21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310F87-C0C1-49F6-8D06-F0A4ED31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BA5388-F341-4C43-8642-67492A11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5D1EC58-1FD9-4ABD-B6B9-BE2D5C18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9966F9-6759-41EF-AD63-ECD29F6E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94364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B191A-F2BE-46B6-824E-B40CF5265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DAC245-7678-4C3C-B914-54603DB0F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A281B0-B4A0-4AC6-988A-0542026BB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9F6FE2-85F3-46B7-B40A-CD812958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66D424-3935-4CF5-9CF9-329A12A8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2273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99AE12-849E-4997-980A-1267E6561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A240BF-46A0-4FEB-8F14-3EEEA7EC4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D7CFA0-60B5-4185-AAC0-CB607836F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A5C87-FBF6-46E5-BB07-33651BE1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8DC6C8-F495-4F73-9D34-2700EA9FE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5143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24184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40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6838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28580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C650-D728-4CCD-827E-82C3E43FAE72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9C64-266A-4D07-AD8F-5B592E61CC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1934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13722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과제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5756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63051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1966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현검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9099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결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15508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72122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94574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갈매기형 수장 16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18" name="갈매기형 수장 17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19" name="갈매기형 수장 18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4" name="직사각형 13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8876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제목 개체 틀 1"/>
          <p:cNvSpPr>
            <a:spLocks noGrp="1"/>
          </p:cNvSpPr>
          <p:nvPr userDrawn="1"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갈매기형 수장 13"/>
          <p:cNvSpPr/>
          <p:nvPr/>
        </p:nvSpPr>
        <p:spPr>
          <a:xfrm>
            <a:off x="65102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0" name="갈매기형 수장 19"/>
          <p:cNvSpPr/>
          <p:nvPr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1" name="갈매기형 수장 20"/>
          <p:cNvSpPr/>
          <p:nvPr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2" name="갈매기형 수장 21"/>
          <p:cNvSpPr/>
          <p:nvPr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3" name="갈매기형 수장 22"/>
          <p:cNvSpPr/>
          <p:nvPr/>
        </p:nvSpPr>
        <p:spPr>
          <a:xfrm>
            <a:off x="10086636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3" name="직사각형 2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9" name="TextBox 18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00540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05140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A8C20AAF-7C67-DC85-1530-88EA4083F4E5}"/>
              </a:ext>
            </a:extLst>
          </p:cNvPr>
          <p:cNvSpPr txBox="1">
            <a:spLocks/>
          </p:cNvSpPr>
          <p:nvPr userDrawn="1"/>
        </p:nvSpPr>
        <p:spPr>
          <a:xfrm>
            <a:off x="11467767" y="6495487"/>
            <a:ext cx="490636" cy="160852"/>
          </a:xfrm>
          <a:prstGeom prst="rect">
            <a:avLst/>
          </a:prstGeom>
        </p:spPr>
        <p:txBody>
          <a:bodyPr vert="horz" wrap="square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50" b="1" i="0" kern="1200" spc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BCC8D0D-EAEC-449D-9161-023DFF90F2E2}" type="slidenum">
              <a:rPr lang="en-US" sz="1067" b="0" i="0" smtClean="0">
                <a:solidFill>
                  <a:schemeClr val="bg1"/>
                </a:solidFill>
                <a:latin typeface="Samsung Sharp Sans Medium" pitchFamily="2" charset="77"/>
                <a:ea typeface="Samsung Sharp Sans Medium" pitchFamily="2" charset="77"/>
                <a:cs typeface="Samsung Sharp Sans Medium" pitchFamily="2" charset="77"/>
              </a:rPr>
              <a:pPr algn="r"/>
              <a:t>‹#›</a:t>
            </a:fld>
            <a:endParaRPr lang="en-US" sz="1067" b="0" i="0" dirty="0">
              <a:solidFill>
                <a:schemeClr val="bg1"/>
              </a:solidFill>
              <a:latin typeface="Samsung Sharp Sans Medium" pitchFamily="2" charset="77"/>
              <a:ea typeface="Samsung Sharp Sans Medium" pitchFamily="2" charset="77"/>
              <a:cs typeface="Samsung Sharp Sans Medium" pitchFamily="2" charset="7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44E2504-815A-4C6B-8A62-674F8922AA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200" y="151658"/>
            <a:ext cx="1237801" cy="3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121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>
                <a:latin typeface="+mj-lt"/>
                <a:ea typeface="+mj-ea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 latinLnBrk="0">
              <a:lnSpc>
                <a:spcPct val="99000"/>
              </a:lnSpc>
              <a:defRPr sz="2000" baseline="0">
                <a:latin typeface="+mn-lt"/>
                <a:ea typeface="+mn-ea"/>
              </a:defRPr>
            </a:lvl1pPr>
            <a:lvl2pPr marL="685800" indent="-228600" latinLnBrk="0">
              <a:lnSpc>
                <a:spcPct val="99000"/>
              </a:lnSpc>
              <a:buFont typeface="Arial" panose="020B0604020202020204" pitchFamily="34" charset="0"/>
              <a:buChar char="–"/>
              <a:defRPr sz="1800" baseline="0">
                <a:latin typeface="+mn-lt"/>
                <a:ea typeface="+mn-ea"/>
              </a:defRPr>
            </a:lvl2pPr>
            <a:lvl3pPr marL="1143000" indent="-228600" latinLnBrk="0">
              <a:lnSpc>
                <a:spcPct val="99000"/>
              </a:lnSpc>
              <a:buFont typeface="Arial" panose="020B0604020202020204" pitchFamily="34" charset="0"/>
              <a:buChar char="="/>
              <a:defRPr sz="1600" baseline="0">
                <a:latin typeface="+mn-lt"/>
                <a:ea typeface="+mn-ea"/>
              </a:defRPr>
            </a:lvl3pPr>
            <a:lvl4pPr marL="1600200" indent="-228600" latinLnBrk="0">
              <a:lnSpc>
                <a:spcPct val="99000"/>
              </a:lnSpc>
              <a:buFont typeface="Arial" panose="020B0604020202020204" pitchFamily="34" charset="0"/>
              <a:buChar char="+"/>
              <a:defRPr sz="1400" baseline="0">
                <a:latin typeface="+mn-lt"/>
                <a:ea typeface="+mn-ea"/>
              </a:defRPr>
            </a:lvl4pPr>
            <a:lvl5pPr latinLnBrk="0">
              <a:lnSpc>
                <a:spcPct val="99000"/>
              </a:lnSpc>
              <a:defRPr sz="1400" baseline="0">
                <a:latin typeface="+mn-lt"/>
                <a:ea typeface="+mn-ea"/>
              </a:defRPr>
            </a:lvl5pPr>
          </a:lstStyle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 b="0" baseline="0">
                <a:effectLst/>
                <a:latin typeface="+mn-lt"/>
                <a:ea typeface="+mn-ea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093562" y="6309000"/>
            <a:ext cx="720000" cy="549000"/>
          </a:xfrm>
        </p:spPr>
        <p:txBody>
          <a:bodyPr/>
          <a:lstStyle>
            <a:lvl1pPr>
              <a:defRPr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</a:defRPr>
            </a:lvl1pPr>
          </a:lstStyle>
          <a:p>
            <a:fld id="{006AB58B-850D-41AE-B362-DEB7C589915B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601" y="54590"/>
            <a:ext cx="1554858" cy="2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0733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vLLM Runtime Architecture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7880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00727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63A8D-519A-4754-BD8A-A6C3902E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97C4-C912-488D-90D2-A09CDF0E16F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D7ACB4-B44A-45D9-AA29-345D66F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1EC944-DB75-4BBC-B971-7E74031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16AF9-1BAB-4D78-B552-54F13912A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4454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47.xml"/><Relationship Id="rId1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5.xml"/><Relationship Id="rId15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78.xml"/><Relationship Id="rId1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83F9-11C6-43F9-9CCF-256006557EC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3046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723" r:id="rId4"/>
    <p:sldLayoutId id="2147483724" r:id="rId5"/>
    <p:sldLayoutId id="2147483725" r:id="rId6"/>
    <p:sldLayoutId id="2147483726" r:id="rId7"/>
    <p:sldLayoutId id="2147483678" r:id="rId8"/>
    <p:sldLayoutId id="2147483679" r:id="rId9"/>
    <p:sldLayoutId id="2147483680" r:id="rId10"/>
    <p:sldLayoutId id="2147483681" r:id="rId11"/>
    <p:sldLayoutId id="2147483684" r:id="rId12"/>
    <p:sldLayoutId id="2147483687" r:id="rId13"/>
    <p:sldLayoutId id="2147483688" r:id="rId14"/>
    <p:sldLayoutId id="2147483706" r:id="rId15"/>
    <p:sldLayoutId id="2147483727" r:id="rId16"/>
    <p:sldLayoutId id="2147483728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2474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</p:sldLayoutIdLst>
  <p:txStyles>
    <p:titleStyle>
      <a:lvl1pPr algn="l" defTabSz="609555" rtl="0" eaLnBrk="1" latinLnBrk="0" hangingPunct="1">
        <a:spcBef>
          <a:spcPct val="0"/>
        </a:spcBef>
        <a:buNone/>
        <a:defRPr sz="2400" b="1" i="0" kern="1200" spc="0" baseline="0">
          <a:solidFill>
            <a:schemeClr val="tx1"/>
          </a:solidFill>
          <a:latin typeface="Samsung Sharp Sans Regular" pitchFamily="2" charset="77"/>
          <a:ea typeface="Samsung Sharp Sans Regular" pitchFamily="2" charset="77"/>
          <a:cs typeface="Samsung Sharp Sans Regular" pitchFamily="2" charset="77"/>
        </a:defRPr>
      </a:lvl1pPr>
    </p:titleStyle>
    <p:bodyStyle>
      <a:lvl1pPr marL="457167" indent="-457167" algn="l" defTabSz="60955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"/>
          <a:ea typeface="+mn-ea"/>
          <a:cs typeface="Helvetica Neue"/>
        </a:defRPr>
      </a:lvl1pPr>
      <a:lvl2pPr marL="990526" indent="-380972" algn="l" defTabSz="60955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Helvetica Neue"/>
          <a:ea typeface="+mn-ea"/>
          <a:cs typeface="Helvetica Neue"/>
        </a:defRPr>
      </a:lvl2pPr>
      <a:lvl3pPr marL="1523887" indent="-304776" algn="l" defTabSz="60955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Helvetica Neue"/>
          <a:ea typeface="+mn-ea"/>
          <a:cs typeface="Helvetica Neue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076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</p:sldLayoutIdLst>
  <p:txStyles>
    <p:titleStyle>
      <a:lvl1pPr algn="l" defTabSz="609555" rtl="0" eaLnBrk="1" latinLnBrk="0" hangingPunct="1">
        <a:spcBef>
          <a:spcPct val="0"/>
        </a:spcBef>
        <a:buNone/>
        <a:defRPr sz="2400" b="1" i="0" kern="1200" spc="0" baseline="0">
          <a:solidFill>
            <a:schemeClr val="tx1"/>
          </a:solidFill>
          <a:latin typeface="Samsung Sharp Sans Regular" pitchFamily="2" charset="77"/>
          <a:ea typeface="Samsung Sharp Sans Regular" pitchFamily="2" charset="77"/>
          <a:cs typeface="Samsung Sharp Sans Regular" pitchFamily="2" charset="77"/>
        </a:defRPr>
      </a:lvl1pPr>
    </p:titleStyle>
    <p:bodyStyle>
      <a:lvl1pPr marL="457167" indent="-457167" algn="l" defTabSz="60955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"/>
          <a:ea typeface="+mn-ea"/>
          <a:cs typeface="Helvetica Neue"/>
        </a:defRPr>
      </a:lvl1pPr>
      <a:lvl2pPr marL="990526" indent="-380972" algn="l" defTabSz="609555" rtl="0" eaLnBrk="1" latinLnBrk="0" hangingPunct="1">
        <a:spcBef>
          <a:spcPct val="20000"/>
        </a:spcBef>
        <a:buFont typeface="Arial"/>
        <a:buChar char="–"/>
        <a:defRPr sz="2133" kern="1200">
          <a:solidFill>
            <a:schemeClr val="tx1"/>
          </a:solidFill>
          <a:latin typeface="Helvetica Neue"/>
          <a:ea typeface="+mn-ea"/>
          <a:cs typeface="Helvetica Neue"/>
        </a:defRPr>
      </a:lvl2pPr>
      <a:lvl3pPr marL="1523887" indent="-304776" algn="l" defTabSz="609555" rtl="0" eaLnBrk="1" latinLnBrk="0" hangingPunct="1">
        <a:spcBef>
          <a:spcPct val="20000"/>
        </a:spcBef>
        <a:buFont typeface="Arial"/>
        <a:buChar char="•"/>
        <a:defRPr sz="1867" kern="1200">
          <a:solidFill>
            <a:schemeClr val="tx1"/>
          </a:solidFill>
          <a:latin typeface="Helvetica Neue"/>
          <a:ea typeface="+mn-ea"/>
          <a:cs typeface="Helvetica Neue"/>
        </a:defRPr>
      </a:lvl3pPr>
      <a:lvl4pPr marL="2133440" indent="-304776" algn="l" defTabSz="609555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4pPr>
      <a:lvl5pPr marL="2742994" indent="-304776" algn="l" defTabSz="609555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Helvetica Neue"/>
          <a:ea typeface="+mn-ea"/>
          <a:cs typeface="Helvetica Neue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6513D93-D05B-40C0-91ED-48ADA3130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C5832F-5DB2-449F-A343-DC7CCCD66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772826-C6CA-4970-9498-4DE24B6D0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76439-30EE-4015-A549-6FC7C950C5E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97BC29-67CD-4FE2-833B-05F3420F4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13728B-CEC8-4A91-A4E1-AC592B8624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80769-8396-41BF-974D-C1E0B85523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39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883F9-11C6-43F9-9CCF-256006557EC2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4F6AC5-D4FC-4374-A58A-50B206F924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18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8.png"/><Relationship Id="rId4" Type="http://schemas.openxmlformats.org/officeDocument/2006/relationships/slide" Target="slide55.xml"/><Relationship Id="rId5" Type="http://schemas.openxmlformats.org/officeDocument/2006/relationships/slide" Target="slide57.xml"/><Relationship Id="rId6" Type="http://schemas.openxmlformats.org/officeDocument/2006/relationships/slide" Target="slide59.xml"/><Relationship Id="rId7" Type="http://schemas.openxmlformats.org/officeDocument/2006/relationships/slide" Target="slide63.xml"/><Relationship Id="rId8" Type="http://schemas.openxmlformats.org/officeDocument/2006/relationships/slide" Target="slide65.xml"/><Relationship Id="rId9" Type="http://schemas.openxmlformats.org/officeDocument/2006/relationships/slide" Target="slide6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2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2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image" Target="../media/image49.png"/><Relationship Id="rId4" Type="http://schemas.openxmlformats.org/officeDocument/2006/relationships/notesSlide" Target="../notesSlides/notesSlide1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3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3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" Target="slide10.xml"/><Relationship Id="rId3" Type="http://schemas.openxmlformats.org/officeDocument/2006/relationships/notesSlide" Target="../notesSlides/notesSlide137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요구사항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0781BA3-74B0-4E89-8351-A5B635C971DB}"/>
              </a:ext>
            </a:extLst>
          </p:cNvPr>
          <p:cNvSpPr/>
          <p:nvPr/>
        </p:nvSpPr>
        <p:spPr>
          <a:xfrm>
            <a:off x="169504" y="502504"/>
            <a:ext cx="11709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QAW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도출된 품질 요구사항을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Utility Tree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핵심 품질 속성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중요도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난이도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</a:t>
            </a:r>
            <a:endParaRPr lang="en-US" altLang="ko-KR" sz="1600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5E471B8-4DA3-43CA-8493-452011A4B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400898"/>
              </p:ext>
            </p:extLst>
          </p:nvPr>
        </p:nvGraphicFramePr>
        <p:xfrm>
          <a:off x="278859" y="996757"/>
          <a:ext cx="11709382" cy="393883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0593">
                  <a:extLst>
                    <a:ext uri="{9D8B030D-6E8A-4147-A177-3AD203B41FA5}">
                      <a16:colId xmlns:a16="http://schemas.microsoft.com/office/drawing/2014/main" val="138156465"/>
                    </a:ext>
                  </a:extLst>
                </a:gridCol>
                <a:gridCol w="1052270">
                  <a:extLst>
                    <a:ext uri="{9D8B030D-6E8A-4147-A177-3AD203B41FA5}">
                      <a16:colId xmlns:a16="http://schemas.microsoft.com/office/drawing/2014/main" val="4176869531"/>
                    </a:ext>
                  </a:extLst>
                </a:gridCol>
                <a:gridCol w="1529669">
                  <a:extLst>
                    <a:ext uri="{9D8B030D-6E8A-4147-A177-3AD203B41FA5}">
                      <a16:colId xmlns:a16="http://schemas.microsoft.com/office/drawing/2014/main" val="714743119"/>
                    </a:ext>
                  </a:extLst>
                </a:gridCol>
                <a:gridCol w="6942142">
                  <a:extLst>
                    <a:ext uri="{9D8B030D-6E8A-4147-A177-3AD203B41FA5}">
                      <a16:colId xmlns:a16="http://schemas.microsoft.com/office/drawing/2014/main" val="713779841"/>
                    </a:ext>
                  </a:extLst>
                </a:gridCol>
                <a:gridCol w="559320">
                  <a:extLst>
                    <a:ext uri="{9D8B030D-6E8A-4147-A177-3AD203B41FA5}">
                      <a16:colId xmlns:a16="http://schemas.microsoft.com/office/drawing/2014/main" val="4072428474"/>
                    </a:ext>
                  </a:extLst>
                </a:gridCol>
                <a:gridCol w="574713">
                  <a:extLst>
                    <a:ext uri="{9D8B030D-6E8A-4147-A177-3AD203B41FA5}">
                      <a16:colId xmlns:a16="http://schemas.microsoft.com/office/drawing/2014/main" val="2666804482"/>
                    </a:ext>
                  </a:extLst>
                </a:gridCol>
                <a:gridCol w="440675">
                  <a:extLst>
                    <a:ext uri="{9D8B030D-6E8A-4147-A177-3AD203B41FA5}">
                      <a16:colId xmlns:a16="http://schemas.microsoft.com/office/drawing/2014/main" val="2282568718"/>
                    </a:ext>
                  </a:extLst>
                </a:gridCol>
              </a:tblGrid>
              <a:tr h="4231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Refinement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중요도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난이도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510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(Throughput)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서비스 수준 목표</a:t>
                      </a:r>
                      <a:r>
                        <a:rPr lang="en-US" altLang="ko-KR" sz="900" dirty="0"/>
                        <a:t>(SLO)</a:t>
                      </a:r>
                      <a:r>
                        <a:rPr lang="ko-KR" altLang="en-US" sz="900" dirty="0"/>
                        <a:t>를 만족하는 토큰 처리량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다수의 </a:t>
                      </a:r>
                      <a:r>
                        <a:rPr lang="en-US" altLang="ko-KR" sz="900" dirty="0"/>
                        <a:t>agent </a:t>
                      </a:r>
                      <a:r>
                        <a:rPr lang="ko-KR" altLang="en-US" sz="900" dirty="0"/>
                        <a:t>세션이 동시에 요청하는 상황에서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지정한 </a:t>
                      </a:r>
                      <a:r>
                        <a:rPr lang="en-US" altLang="ko-KR" sz="900" dirty="0"/>
                        <a:t>SLO*</a:t>
                      </a:r>
                      <a:r>
                        <a:rPr lang="ko-KR" altLang="en-US" sz="900" dirty="0"/>
                        <a:t>를 만족하며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처리할 수 있는 최대 </a:t>
                      </a:r>
                      <a:r>
                        <a:rPr lang="ko-KR" altLang="en-US" sz="900" dirty="0" err="1"/>
                        <a:t>요청량이</a:t>
                      </a:r>
                      <a:r>
                        <a:rPr lang="ko-KR" altLang="en-US" sz="900" dirty="0"/>
                        <a:t> 기존 시스템</a:t>
                      </a:r>
                      <a:r>
                        <a:rPr lang="en-US" altLang="ko-KR" sz="900" dirty="0"/>
                        <a:t>(Baseline)</a:t>
                      </a:r>
                      <a:r>
                        <a:rPr lang="ko-KR" altLang="en-US" sz="900" dirty="0"/>
                        <a:t>보다 커야 한다</a:t>
                      </a:r>
                      <a:r>
                        <a:rPr lang="en-US" altLang="ko-KR" sz="900" dirty="0"/>
                        <a:t>. (*SLO: Service Level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Objective)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SLO </a:t>
                      </a:r>
                      <a:r>
                        <a:rPr lang="ko-KR" altLang="en-US" sz="900" b="1" dirty="0"/>
                        <a:t>만족 최대 처리량 </a:t>
                      </a:r>
                      <a:r>
                        <a:rPr lang="en-US" altLang="ko-KR" sz="900" b="1" dirty="0"/>
                        <a:t>≥ Baseline </a:t>
                      </a:r>
                      <a:r>
                        <a:rPr lang="ko-KR" altLang="en-US" sz="900" b="1" dirty="0"/>
                        <a:t>대비 증가율 </a:t>
                      </a:r>
                      <a:r>
                        <a:rPr lang="en-US" altLang="ko-KR" sz="900" b="1" dirty="0"/>
                        <a:t>2x(Stakeholder </a:t>
                      </a:r>
                      <a:r>
                        <a:rPr lang="ko-KR" altLang="en-US" sz="900" b="1" dirty="0"/>
                        <a:t>요구사항 및 단순 </a:t>
                      </a:r>
                      <a:r>
                        <a:rPr lang="en-US" altLang="ko-KR" sz="900" b="1" dirty="0"/>
                        <a:t>offloading </a:t>
                      </a:r>
                      <a:r>
                        <a:rPr lang="ko-KR" altLang="en-US" sz="900" b="1" dirty="0"/>
                        <a:t>기술의 하한</a:t>
                      </a:r>
                      <a:r>
                        <a:rPr lang="en-US" altLang="ko-KR" sz="900" b="1" dirty="0"/>
                        <a:t>) ]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H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91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Resource</a:t>
                      </a:r>
                      <a:r>
                        <a:rPr lang="en-US" sz="900" baseline="0" dirty="0"/>
                        <a:t> </a:t>
                      </a:r>
                    </a:p>
                    <a:p>
                      <a:r>
                        <a:rPr lang="en-US" sz="900" baseline="0" dirty="0"/>
                        <a:t>Efficiency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HBM </a:t>
                      </a:r>
                      <a:r>
                        <a:rPr lang="ko-KR" altLang="en-US" sz="900" dirty="0"/>
                        <a:t>사용량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ko-KR" altLang="en-US" sz="900" dirty="0"/>
                        <a:t>동일한 성능 조건에서 </a:t>
                      </a:r>
                      <a:r>
                        <a:rPr lang="en-US" altLang="ko-KR" sz="900" dirty="0"/>
                        <a:t>HBM </a:t>
                      </a:r>
                      <a:r>
                        <a:rPr lang="ko-KR" altLang="en-US" sz="900" dirty="0"/>
                        <a:t>점유율이 </a:t>
                      </a:r>
                      <a:r>
                        <a:rPr lang="en-US" altLang="ko-KR" sz="900" dirty="0"/>
                        <a:t>Baseline</a:t>
                      </a:r>
                      <a:r>
                        <a:rPr lang="ko-KR" altLang="en-US" sz="900" dirty="0"/>
                        <a:t>보다 낮아야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HBM </a:t>
                      </a:r>
                      <a:r>
                        <a:rPr lang="ko-KR" altLang="en-US" sz="900" b="1" dirty="0"/>
                        <a:t>사용량 </a:t>
                      </a:r>
                      <a:r>
                        <a:rPr lang="en-US" altLang="ko-KR" sz="900" b="1" dirty="0"/>
                        <a:t>&gt;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20% (Stakeholder</a:t>
                      </a:r>
                      <a:r>
                        <a:rPr lang="ko-KR" altLang="en-US" sz="900" b="1" dirty="0"/>
                        <a:t> 요구사항</a:t>
                      </a:r>
                      <a:r>
                        <a:rPr lang="en-US" altLang="ko-KR" sz="900" b="1" dirty="0"/>
                        <a:t>)]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55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r>
                        <a:rPr lang="en-US" sz="900" dirty="0"/>
                        <a:t>(Tail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/>
                        <a:t>Latency)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고부하 지연시간 </a:t>
                      </a:r>
                      <a:r>
                        <a:rPr lang="en-US" altLang="ko-KR" sz="900" dirty="0"/>
                        <a:t>(P99)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/>
                        <a:t>고부하 환경에서 최악 응답 지연</a:t>
                      </a:r>
                      <a:r>
                        <a:rPr lang="en-US" altLang="ko-KR" sz="900" b="0" baseline="0" dirty="0"/>
                        <a:t>(Tail Latency)</a:t>
                      </a:r>
                      <a:r>
                        <a:rPr lang="ko-KR" altLang="en-US" sz="900" b="0" baseline="0" dirty="0"/>
                        <a:t>을 </a:t>
                      </a:r>
                      <a:r>
                        <a:rPr lang="en-US" altLang="ko-KR" sz="900" b="0" baseline="0" dirty="0"/>
                        <a:t>baseline </a:t>
                      </a:r>
                      <a:r>
                        <a:rPr lang="ko-KR" altLang="en-US" sz="900" b="0" baseline="0" dirty="0"/>
                        <a:t>대비 개선해야 한다</a:t>
                      </a:r>
                      <a:r>
                        <a:rPr lang="en-US" altLang="ko-KR" sz="900" b="0" baseline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Max (TTFT, TPOT(P99) </a:t>
                      </a:r>
                      <a:r>
                        <a:rPr lang="ko-KR" altLang="en-US" sz="900" b="1" dirty="0"/>
                        <a:t>감소율</a:t>
                      </a:r>
                      <a:r>
                        <a:rPr lang="en-US" altLang="ko-KR" sz="900" b="1" dirty="0"/>
                        <a:t>) ≥ Baseline </a:t>
                      </a:r>
                      <a:r>
                        <a:rPr lang="ko-KR" altLang="en-US" sz="900" b="1" dirty="0"/>
                        <a:t>대비 </a:t>
                      </a:r>
                      <a:r>
                        <a:rPr lang="en-US" altLang="ko-KR" sz="900" b="1" dirty="0"/>
                        <a:t>30% (</a:t>
                      </a:r>
                      <a:r>
                        <a:rPr lang="ko-KR" altLang="en-US" sz="900" b="1" dirty="0"/>
                        <a:t>사용자 체감 성능 개선 기준</a:t>
                      </a:r>
                      <a:r>
                        <a:rPr lang="en-US" altLang="ko-KR" sz="900" b="1" dirty="0"/>
                        <a:t>) (</a:t>
                      </a:r>
                      <a:r>
                        <a:rPr lang="ko-KR" altLang="en-US" sz="900" b="1" dirty="0"/>
                        <a:t>단</a:t>
                      </a:r>
                      <a:r>
                        <a:rPr lang="en-US" altLang="ko-KR" sz="900" b="1" dirty="0"/>
                        <a:t>, SLO </a:t>
                      </a:r>
                      <a:r>
                        <a:rPr lang="ko-KR" altLang="en-US" sz="900" b="1" dirty="0"/>
                        <a:t>만족</a:t>
                      </a:r>
                      <a:r>
                        <a:rPr lang="en-US" altLang="ko-KR" sz="900" b="1" dirty="0"/>
                        <a:t>)]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(*TTFT: Time To First Token, **TPOT: Time Per Output Token)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802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Scalability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확장성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늘어난 자원에 비례해 성능이 증가해야 한다 </a:t>
                      </a:r>
                      <a:endParaRPr lang="en-US" altLang="ko-KR" sz="900" dirty="0"/>
                    </a:p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Scaling Efficiency &gt; 80% (</a:t>
                      </a:r>
                      <a:r>
                        <a:rPr lang="ko-KR" altLang="en-US" sz="900" b="1" dirty="0"/>
                        <a:t>문헌 보고 값</a:t>
                      </a:r>
                      <a:r>
                        <a:rPr lang="en-US" altLang="ko-KR" sz="900" b="1" dirty="0"/>
                        <a:t>)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00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Modifiability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변경 용이성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ko-KR" altLang="en-US" sz="900" dirty="0"/>
                        <a:t>새로운 메모리 </a:t>
                      </a:r>
                      <a:r>
                        <a:rPr lang="en-US" altLang="ko-KR" sz="900" dirty="0"/>
                        <a:t>tier, </a:t>
                      </a:r>
                      <a:r>
                        <a:rPr lang="ko-KR" altLang="en-US" sz="900" dirty="0"/>
                        <a:t>이동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배치 정책</a:t>
                      </a:r>
                      <a:r>
                        <a:rPr lang="en-US" altLang="ko-KR" sz="900" dirty="0"/>
                        <a:t>, Upstream(</a:t>
                      </a:r>
                      <a:r>
                        <a:rPr lang="en-US" altLang="ko-KR" sz="900" dirty="0" err="1"/>
                        <a:t>vLLM</a:t>
                      </a:r>
                      <a:r>
                        <a:rPr lang="en-US" altLang="ko-KR" sz="900" dirty="0"/>
                        <a:t>)</a:t>
                      </a:r>
                      <a:r>
                        <a:rPr lang="ko-KR" altLang="en-US" sz="900" dirty="0"/>
                        <a:t>이 변경될 </a:t>
                      </a:r>
                      <a:r>
                        <a:rPr lang="ko-KR" altLang="en-US" sz="900" dirty="0" err="1"/>
                        <a:t>떄</a:t>
                      </a:r>
                      <a:r>
                        <a:rPr lang="ko-KR" altLang="en-US" sz="900" dirty="0"/>
                        <a:t> 서빙 경로를 수정하지 않고 반영할 수 있어야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변경 모듈 </a:t>
                      </a:r>
                      <a:r>
                        <a:rPr lang="en-US" altLang="ko-KR" sz="900" b="1" dirty="0"/>
                        <a:t>&lt; 5 </a:t>
                      </a:r>
                      <a:r>
                        <a:rPr lang="ko-KR" altLang="en-US" sz="900" b="1" dirty="0"/>
                        <a:t>개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45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QA-06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Fault tolerance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전송</a:t>
                      </a:r>
                      <a:r>
                        <a:rPr lang="en-US" altLang="ko-KR" sz="900" dirty="0"/>
                        <a:t>·offload </a:t>
                      </a:r>
                      <a:r>
                        <a:rPr lang="ko-KR" altLang="en-US" sz="900" dirty="0"/>
                        <a:t>실패 대체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en-US" altLang="ko-KR" sz="900" b="0" dirty="0"/>
                        <a:t>KV </a:t>
                      </a:r>
                      <a:r>
                        <a:rPr lang="ko-KR" altLang="en-US" sz="900" b="0" dirty="0"/>
                        <a:t>전송이나 </a:t>
                      </a:r>
                      <a:r>
                        <a:rPr lang="en-US" altLang="ko-KR" sz="900" b="0" dirty="0"/>
                        <a:t>offload</a:t>
                      </a:r>
                      <a:r>
                        <a:rPr lang="ko-KR" altLang="en-US" sz="900" b="0" dirty="0"/>
                        <a:t>가 실패하거나 시간 초과해도 재계산 등 대체 경로로 요청 처리를 이어가야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측정</a:t>
                      </a:r>
                      <a:r>
                        <a:rPr lang="en-US" altLang="ko-KR" sz="900" b="0" dirty="0"/>
                        <a:t>: fallback </a:t>
                      </a:r>
                      <a:r>
                        <a:rPr lang="ko-KR" altLang="en-US" sz="900" b="0" dirty="0"/>
                        <a:t>성공률 </a:t>
                      </a:r>
                      <a:r>
                        <a:rPr lang="en-US" altLang="ko-KR" sz="900" b="0" dirty="0"/>
                        <a:t>&gt; 99.9 ]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100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Adaptability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워크로드 변화 적응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</a:pPr>
                      <a:r>
                        <a:rPr lang="ko-KR" altLang="en-US" sz="900" b="0" dirty="0"/>
                        <a:t>입력 분포나 접근 패턴이 바뀌어도 접근 통계를 반영해 배치를 다시 맞추고 성능을 회복해야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측정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원인 파악 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&lt; 1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개발자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결정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건 기준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)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1220"/>
                  </a:ext>
                </a:extLst>
              </a:tr>
            </a:tbl>
          </a:graphicData>
        </a:graphic>
      </p:graphicFrame>
      <p:sp>
        <p:nvSpPr>
          <p:cNvPr id="21" name="실행 단추: 앞으로 또는 다음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D1EB79-0F10-4C29-8756-3FFD242915BE}"/>
              </a:ext>
            </a:extLst>
          </p:cNvPr>
          <p:cNvSpPr/>
          <p:nvPr/>
        </p:nvSpPr>
        <p:spPr>
          <a:xfrm>
            <a:off x="1692613" y="1128409"/>
            <a:ext cx="155642" cy="18158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실행 단추: 앞으로 또는 다음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80906" y="1715781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실행 단추: 앞으로 또는 다음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16118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 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642517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 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198274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실행 단추: 앞으로 또는 다음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705182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실행 단추: 앞으로 또는 다음 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079501" y="1102330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49E20A-DDC8-4511-8B0B-3AB91A5F2863}"/>
              </a:ext>
            </a:extLst>
          </p:cNvPr>
          <p:cNvSpPr txBox="1"/>
          <p:nvPr/>
        </p:nvSpPr>
        <p:spPr>
          <a:xfrm>
            <a:off x="8503453" y="1090356"/>
            <a:ext cx="16663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</a:rPr>
              <a:t>SLO(Service</a:t>
            </a:r>
            <a:r>
              <a:rPr lang="ko-KR" altLang="en-US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>
                <a:solidFill>
                  <a:schemeClr val="bg1"/>
                </a:solidFill>
              </a:rPr>
              <a:t>Objective</a:t>
            </a:r>
            <a:r>
              <a:rPr lang="ko-KR" altLang="en-US" sz="800" b="1" dirty="0">
                <a:solidFill>
                  <a:schemeClr val="bg1"/>
                </a:solidFill>
              </a:rPr>
              <a:t> </a:t>
            </a:r>
            <a:r>
              <a:rPr lang="en-US" altLang="ko-KR" sz="800" b="1" dirty="0">
                <a:solidFill>
                  <a:schemeClr val="bg1"/>
                </a:solidFill>
              </a:rPr>
              <a:t>Object)</a:t>
            </a:r>
            <a:endParaRPr lang="ko-KR" alt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8413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기능 정확성(Accuracy) - 평가 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spcAft>
                <a:spcPts val="250"/>
              </a:spcAft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압축·재사용 전(full recompute) 대비 F1 상대 하락률 — 정확도 기준을 만족하는 조건에서만 처리량 이득을 인정</a:t>
            </a:r>
            <a:endParaRPr lang="en-US" altLang="ko-KR" sz="1100" b="0" dirty="0"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83FC6577-760C-41A6-A45B-D5727304942A}"/>
              </a:ext>
            </a:extLst>
          </p:cNvPr>
          <p:cNvSpPr txBox="1"/>
          <p:nvPr/>
        </p:nvSpPr>
        <p:spPr>
          <a:xfrm>
            <a:off x="365760" y="1100189"/>
            <a:ext cx="11430000" cy="8798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F1 하락률 = (F1_full − F1_후보) ÷ F1_full  </a:t>
            </a:r>
            <a:r>
              <a:rPr lang="en-US" sz="1100" b="0" dirty="0">
                <a:latin typeface="맑은 고딕"/>
                <a:ea typeface="맑은 고딕"/>
              </a:rPr>
              <a:t>(F1_full: 같은 모델·task·precision에서 압축 전 + full recompute 의 F1)</a:t>
            </a:r>
            <a:endParaRPr lang="en-US" altLang="ko-KR" sz="800" b="0" dirty="0"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ko-KR" altLang="en-US" sz="1100" b="0" dirty="0">
                <a:solidFill>
                  <a:srgbClr val="000000"/>
                </a:solidFill>
                <a:latin typeface="맑은 고딕"/>
                <a:ea typeface="맑은 고딕"/>
              </a:rPr>
              <a:t>task별로 판정(평균 통과 + task 위반 = 미충족), 95% CI 상한이 기준 이내일 때만 통과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b="0" dirty="0">
                <a:solidFill>
                  <a:srgbClr val="000000"/>
                </a:solidFill>
                <a:latin typeface="맑은 고딕"/>
                <a:ea typeface="맑은 고딕"/>
              </a:rPr>
              <a:t>처리량 연계: 정확도 기준을 통과한 구성에서만 Max SLO goodput 인정 (최소 R ≥ 2.0×, 목표 R ≥ 3.6×)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73" name="src">
            <a:extLst>
              <a:ext uri="{FF2B5EF4-FFF2-40B4-BE49-F238E27FC236}">
                <a16:creationId xmlns:a16="http://schemas.microsoft.com/office/drawing/2014/main" id="{CF8094EC-0377-4489-9D6C-BCCDBEE3074C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출처: MLPerf Inference Rules (MLCommons) · KVServe 2605.13734 · EVICPRESS 2512.14946 · FastKV 2502.01068 · CacheGen 2310.07240 · CacheBlend 2405.16444 · KVzip 2505.23416 · Give Me BF16 2411.02355 (ACL 2025)</a:t>
            </a:r>
          </a:p>
        </p:txBody>
      </p:sp>
      <p:graphicFrame>
        <p:nvGraphicFramePr>
          <p:cNvPr id="74" name="tbl">
            <a:extLst>
              <a:ext uri="{FF2B5EF4-FFF2-40B4-BE49-F238E27FC236}">
                <a16:creationId xmlns:a16="http://schemas.microsoft.com/office/drawing/2014/main" id="{7DAC45F9-9975-4210-AC0D-AE6040F54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007898"/>
              </p:ext>
            </p:extLst>
          </p:nvPr>
        </p:nvGraphicFramePr>
        <p:xfrm>
          <a:off x="365760" y="1993716"/>
          <a:ext cx="11457432" cy="2019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8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8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하락 ≤ 0.1%  (목표)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목표(최대): MLPerf Inference의 99.9% 정확도 tier와 같은 수준. 압축·재사용 연구 중에서는 CacheGen의 F1 하락 &lt; 0.1%가 이 수준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※ 0.1%는 현재 실측(n=93, CI 반폭 1.5~13%)으로 판정할 수 없음. task당 약 40만 개 예시가 필요(실측 SD 기준 계산)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Inference Rules, CacheGen (2310.07240)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rPr>
                        <a:t>0.1% &lt; 하락 ≤ 0.3%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★3의 기하 중점(√(1×0.1)=0.32%). 문헌 근거 없음(구간 분할용).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0.3% &lt; 하락 ≤ 1%  (최소)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최소(허용): MLPerf Inference의 99% 정확도 tier. LLM 대부분 행이 사용(Llama3.1-405B 장문맥 포함)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양자화 8-bit 평균 recovery 99.75%(하락 0.25%) · FastKV 평균 1% 이내에서 처리량 최대 4.82×(up to)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Inference Rules, Give Me BF16 (2411.02355), FastKV (2502.01068)</a:t>
                      </a:r>
                      <a:endParaRPr lang="en-US"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하락 &gt; 1%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99% 기준을 넘는 손실. 잡음이 큰 과제(RAG LLM judge ±3%, agent)와 KVServe·EVICPRESS는 97%(하락 3%)를 쓰나 본 기준은 채택하지 않음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관측값: KIVI task 최악 5.3%, DuoAttention Multi-News 13.9% (task 하나의 큰 손실이 평균에 가려짐)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MLPerf Inference Rules, KVServe (2605.13734), EVICPRESS (2512.14946)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5" name="TextBox 74">
            <a:extLst>
              <a:ext uri="{FF2B5EF4-FFF2-40B4-BE49-F238E27FC236}">
                <a16:creationId xmlns:a16="http://schemas.microsoft.com/office/drawing/2014/main" id="{6458D367-E7E3-4015-B7C9-744AAAFDB247}"/>
              </a:ext>
            </a:extLst>
          </p:cNvPr>
          <p:cNvSpPr txBox="1"/>
          <p:nvPr/>
        </p:nvSpPr>
        <p:spPr>
          <a:xfrm>
            <a:off x="365760" y="4139840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(F1 상대 하락 %, log 축, 압축·재사용 전 대비, 작을수록 좋음) — 표준 1 + 문헌 5편</a:t>
            </a:r>
            <a:endParaRPr sz="95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900" name="qa5-900"/>
          <p:cNvSpPr/>
          <p:nvPr/>
        </p:nvSpPr>
        <p:spPr>
          <a:xfrm>
            <a:off x="411480" y="4393368"/>
            <a:ext cx="1311747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1" name="qa5-901"/>
          <p:cNvSpPr txBox="1"/>
          <p:nvPr/>
        </p:nvSpPr>
        <p:spPr>
          <a:xfrm>
            <a:off x="411480" y="4393368"/>
            <a:ext cx="131174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902" name="qa5-902"/>
          <p:cNvSpPr/>
          <p:nvPr/>
        </p:nvSpPr>
        <p:spPr>
          <a:xfrm>
            <a:off x="1723227" y="4393368"/>
            <a:ext cx="2079071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3" name="qa5-903"/>
          <p:cNvSpPr txBox="1"/>
          <p:nvPr/>
        </p:nvSpPr>
        <p:spPr>
          <a:xfrm>
            <a:off x="1723227" y="4393368"/>
            <a:ext cx="207907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904" name="qa5-904"/>
          <p:cNvSpPr/>
          <p:nvPr/>
        </p:nvSpPr>
        <p:spPr>
          <a:xfrm>
            <a:off x="3802298" y="4393368"/>
            <a:ext cx="2278461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5" name="qa5-905"/>
          <p:cNvSpPr txBox="1"/>
          <p:nvPr/>
        </p:nvSpPr>
        <p:spPr>
          <a:xfrm>
            <a:off x="3802298" y="4393368"/>
            <a:ext cx="227846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906" name="qa5-906"/>
          <p:cNvSpPr/>
          <p:nvPr/>
        </p:nvSpPr>
        <p:spPr>
          <a:xfrm>
            <a:off x="6080759" y="4393368"/>
            <a:ext cx="5669280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7" name="qa5-907"/>
          <p:cNvSpPr txBox="1"/>
          <p:nvPr/>
        </p:nvSpPr>
        <p:spPr>
          <a:xfrm>
            <a:off x="6080759" y="4393368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908" name="qa5-908"/>
          <p:cNvSpPr txBox="1"/>
          <p:nvPr/>
        </p:nvSpPr>
        <p:spPr>
          <a:xfrm>
            <a:off x="91440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≤0.05%</a:t>
            </a:r>
          </a:p>
        </p:txBody>
      </p:sp>
      <p:sp>
        <p:nvSpPr>
          <p:cNvPr id="909" name="qa5-909"/>
          <p:cNvSpPr txBox="1"/>
          <p:nvPr/>
        </p:nvSpPr>
        <p:spPr>
          <a:xfrm>
            <a:off x="1403187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0.1%</a:t>
            </a:r>
          </a:p>
        </p:txBody>
      </p:sp>
      <p:sp>
        <p:nvSpPr>
          <p:cNvPr id="910" name="qa5-910"/>
          <p:cNvSpPr txBox="1"/>
          <p:nvPr/>
        </p:nvSpPr>
        <p:spPr>
          <a:xfrm>
            <a:off x="3482258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0.3%</a:t>
            </a:r>
          </a:p>
        </p:txBody>
      </p:sp>
      <p:sp>
        <p:nvSpPr>
          <p:cNvPr id="911" name="qa5-911"/>
          <p:cNvSpPr txBox="1"/>
          <p:nvPr/>
        </p:nvSpPr>
        <p:spPr>
          <a:xfrm>
            <a:off x="5760719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1%</a:t>
            </a:r>
          </a:p>
        </p:txBody>
      </p:sp>
      <p:sp>
        <p:nvSpPr>
          <p:cNvPr id="912" name="qa5-912"/>
          <p:cNvSpPr txBox="1"/>
          <p:nvPr/>
        </p:nvSpPr>
        <p:spPr>
          <a:xfrm>
            <a:off x="7839790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3%</a:t>
            </a:r>
          </a:p>
        </p:txBody>
      </p:sp>
      <p:sp>
        <p:nvSpPr>
          <p:cNvPr id="913" name="qa5-913"/>
          <p:cNvSpPr txBox="1"/>
          <p:nvPr/>
        </p:nvSpPr>
        <p:spPr>
          <a:xfrm>
            <a:off x="10118251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10%</a:t>
            </a:r>
          </a:p>
        </p:txBody>
      </p:sp>
      <p:sp>
        <p:nvSpPr>
          <p:cNvPr id="914" name="qa5-914"/>
          <p:cNvSpPr txBox="1"/>
          <p:nvPr/>
        </p:nvSpPr>
        <p:spPr>
          <a:xfrm>
            <a:off x="11429999" y="46676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20%</a:t>
            </a:r>
          </a:p>
        </p:txBody>
      </p:sp>
      <p:cxnSp>
        <p:nvCxnSpPr>
          <p:cNvPr id="915" name="qa5-915"/>
          <p:cNvCxnSpPr/>
          <p:nvPr/>
        </p:nvCxnSpPr>
        <p:spPr>
          <a:xfrm>
            <a:off x="1723227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6" name="qa5-916"/>
          <p:cNvCxnSpPr/>
          <p:nvPr/>
        </p:nvCxnSpPr>
        <p:spPr>
          <a:xfrm>
            <a:off x="3802298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7" name="qa5-917"/>
          <p:cNvCxnSpPr/>
          <p:nvPr/>
        </p:nvCxnSpPr>
        <p:spPr>
          <a:xfrm>
            <a:off x="6080759" y="4709160"/>
            <a:ext cx="0" cy="1625803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qa5-918"/>
          <p:cNvSpPr/>
          <p:nvPr/>
        </p:nvSpPr>
        <p:spPr>
          <a:xfrm>
            <a:off x="1663791" y="479056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9" name="qa5-919"/>
          <p:cNvSpPr txBox="1"/>
          <p:nvPr/>
        </p:nvSpPr>
        <p:spPr>
          <a:xfrm>
            <a:off x="1853227" y="4797678"/>
            <a:ext cx="5772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C00000"/>
                </a:solidFill>
                <a:latin typeface="맑은 고딕"/>
                <a:ea typeface="맑은 고딕"/>
              </a:rPr>
              <a:t>MLPerf Inference 99.9% tier(Llama2-70b 등): reference의 99.9% 이상 (하락 ≤ 0.1%)</a:t>
            </a:r>
          </a:p>
        </p:txBody>
      </p:sp>
      <p:sp>
        <p:nvSpPr>
          <p:cNvPr id="920" name="qa5-920"/>
          <p:cNvSpPr/>
          <p:nvPr/>
        </p:nvSpPr>
        <p:spPr>
          <a:xfrm>
            <a:off x="6021323" y="493856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1" name="qa5-921"/>
          <p:cNvSpPr txBox="1"/>
          <p:nvPr/>
        </p:nvSpPr>
        <p:spPr>
          <a:xfrm>
            <a:off x="6210759" y="4945678"/>
            <a:ext cx="4992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C00000"/>
                </a:solidFill>
                <a:latin typeface="맑은 고딕"/>
                <a:ea typeface="맑은 고딕"/>
              </a:rPr>
              <a:t>MLPerf Inference 99% tier: LLM 행 대부분 reference의 99% 이상 (하락 ≤ 1%)</a:t>
            </a:r>
          </a:p>
        </p:txBody>
      </p:sp>
      <p:sp>
        <p:nvSpPr>
          <p:cNvPr id="922" name="qa5-922"/>
          <p:cNvSpPr/>
          <p:nvPr/>
        </p:nvSpPr>
        <p:spPr>
          <a:xfrm>
            <a:off x="8100394" y="5086564"/>
            <a:ext cx="118872" cy="118872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3" name="qa5-923"/>
          <p:cNvSpPr txBox="1"/>
          <p:nvPr/>
        </p:nvSpPr>
        <p:spPr>
          <a:xfrm>
            <a:off x="8289830" y="5093678"/>
            <a:ext cx="366017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완화 기준(미채택): MLPerf RAG·agent 97% · KVServe 97% 제약 · EVICPRESS 3% 허용</a:t>
            </a:r>
          </a:p>
        </p:txBody>
      </p:sp>
      <p:sp>
        <p:nvSpPr>
          <p:cNvPr id="924" name="qa5-924"/>
          <p:cNvSpPr/>
          <p:nvPr/>
        </p:nvSpPr>
        <p:spPr>
          <a:xfrm>
            <a:off x="411480" y="5257424"/>
            <a:ext cx="5669279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5" name="qa5-925"/>
          <p:cNvCxnSpPr/>
          <p:nvPr/>
        </p:nvCxnSpPr>
        <p:spPr>
          <a:xfrm>
            <a:off x="411480" y="5229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6" name="qa5-926"/>
          <p:cNvCxnSpPr/>
          <p:nvPr/>
        </p:nvCxnSpPr>
        <p:spPr>
          <a:xfrm>
            <a:off x="6080759" y="5229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7" name="qa5-927"/>
          <p:cNvSpPr txBox="1"/>
          <p:nvPr/>
        </p:nvSpPr>
        <p:spPr>
          <a:xfrm>
            <a:off x="6150759" y="5241678"/>
            <a:ext cx="3276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F5597"/>
                </a:solidFill>
                <a:latin typeface="맑은 고딕"/>
                <a:ea typeface="맑은 고딕"/>
              </a:rPr>
              <a:t>FastKV: 평균 하락 &lt; 1% 에서 처리량 최대 4.82× (up to)</a:t>
            </a:r>
          </a:p>
        </p:txBody>
      </p:sp>
      <p:sp>
        <p:nvSpPr>
          <p:cNvPr id="928" name="qa5-928"/>
          <p:cNvSpPr/>
          <p:nvPr/>
        </p:nvSpPr>
        <p:spPr>
          <a:xfrm>
            <a:off x="411480" y="5405424"/>
            <a:ext cx="1311747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29" name="qa5-929"/>
          <p:cNvCxnSpPr/>
          <p:nvPr/>
        </p:nvCxnSpPr>
        <p:spPr>
          <a:xfrm>
            <a:off x="411480" y="5377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qa5-930"/>
          <p:cNvCxnSpPr/>
          <p:nvPr/>
        </p:nvCxnSpPr>
        <p:spPr>
          <a:xfrm>
            <a:off x="1723227" y="5377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1" name="qa5-931"/>
          <p:cNvSpPr txBox="1"/>
          <p:nvPr/>
        </p:nvSpPr>
        <p:spPr>
          <a:xfrm>
            <a:off x="1793227" y="5389678"/>
            <a:ext cx="4524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2F5597"/>
                </a:solidFill>
                <a:latin typeface="맑은 고딕"/>
                <a:ea typeface="맑은 고딕"/>
              </a:rPr>
              <a:t>CacheGen: F1 하락 &lt; 0.1% (accuracy 하락은 ≤ 2%), 지연 3.1~4.7× 감소</a:t>
            </a:r>
          </a:p>
        </p:txBody>
      </p:sp>
      <p:sp>
        <p:nvSpPr>
          <p:cNvPr id="932" name="qa5-932"/>
          <p:cNvSpPr/>
          <p:nvPr/>
        </p:nvSpPr>
        <p:spPr>
          <a:xfrm>
            <a:off x="3457263" y="5553424"/>
            <a:ext cx="477679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3" name="qa5-933"/>
          <p:cNvCxnSpPr/>
          <p:nvPr/>
        </p:nvCxnSpPr>
        <p:spPr>
          <a:xfrm>
            <a:off x="3457263" y="5525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4" name="qa5-934"/>
          <p:cNvCxnSpPr/>
          <p:nvPr/>
        </p:nvCxnSpPr>
        <p:spPr>
          <a:xfrm>
            <a:off x="8234053" y="5525992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5" name="qa5-935"/>
          <p:cNvSpPr txBox="1"/>
          <p:nvPr/>
        </p:nvSpPr>
        <p:spPr>
          <a:xfrm>
            <a:off x="-824737" y="5537678"/>
            <a:ext cx="4212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2F5597"/>
                </a:solidFill>
                <a:latin typeface="맑은 고딕"/>
                <a:ea typeface="맑은 고딕"/>
              </a:rPr>
              <a:t>양자화(Give Me BF16): 8-bit 평균 0.25% ~ W4A16 task 최악 3.1%</a:t>
            </a:r>
          </a:p>
        </p:txBody>
      </p:sp>
      <p:sp>
        <p:nvSpPr>
          <p:cNvPr id="936" name="qa5-936"/>
          <p:cNvSpPr/>
          <p:nvPr/>
        </p:nvSpPr>
        <p:spPr>
          <a:xfrm>
            <a:off x="7867056" y="5701424"/>
            <a:ext cx="136975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7" name="qa5-937"/>
          <p:cNvCxnSpPr/>
          <p:nvPr/>
        </p:nvCxnSpPr>
        <p:spPr>
          <a:xfrm>
            <a:off x="7867056" y="5673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8" name="qa5-938"/>
          <p:cNvCxnSpPr/>
          <p:nvPr/>
        </p:nvCxnSpPr>
        <p:spPr>
          <a:xfrm>
            <a:off x="9236814" y="5673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9" name="qa5-939"/>
          <p:cNvSpPr txBox="1"/>
          <p:nvPr/>
        </p:nvSpPr>
        <p:spPr>
          <a:xfrm>
            <a:off x="9306814" y="5685678"/>
            <a:ext cx="1716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KIVI(4.4×) 2.6% → 5.3%</a:t>
            </a:r>
          </a:p>
        </p:txBody>
      </p:sp>
      <p:sp>
        <p:nvSpPr>
          <p:cNvPr id="940" name="qa5-940"/>
          <p:cNvSpPr/>
          <p:nvPr/>
        </p:nvSpPr>
        <p:spPr>
          <a:xfrm>
            <a:off x="8935546" y="5849424"/>
            <a:ext cx="2125936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1" name="qa5-941"/>
          <p:cNvCxnSpPr/>
          <p:nvPr/>
        </p:nvCxnSpPr>
        <p:spPr>
          <a:xfrm>
            <a:off x="8935546" y="5821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2" name="qa5-942"/>
          <p:cNvCxnSpPr/>
          <p:nvPr/>
        </p:nvCxnSpPr>
        <p:spPr>
          <a:xfrm>
            <a:off x="11061482" y="5821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3" name="qa5-943"/>
          <p:cNvSpPr txBox="1"/>
          <p:nvPr/>
        </p:nvSpPr>
        <p:spPr>
          <a:xfrm>
            <a:off x="6447546" y="5833678"/>
            <a:ext cx="2418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DuoAttention(3.1×) 4.5% → 13.9%</a:t>
            </a:r>
          </a:p>
        </p:txBody>
      </p:sp>
      <p:sp>
        <p:nvSpPr>
          <p:cNvPr id="944" name="qa5-944"/>
          <p:cNvSpPr/>
          <p:nvPr/>
        </p:nvSpPr>
        <p:spPr>
          <a:xfrm>
            <a:off x="7193117" y="5997424"/>
            <a:ext cx="2181391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5" name="qa5-945"/>
          <p:cNvCxnSpPr/>
          <p:nvPr/>
        </p:nvCxnSpPr>
        <p:spPr>
          <a:xfrm>
            <a:off x="7193117" y="5969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6" name="qa5-946"/>
          <p:cNvCxnSpPr/>
          <p:nvPr/>
        </p:nvCxnSpPr>
        <p:spPr>
          <a:xfrm>
            <a:off x="9374508" y="5969992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7" name="qa5-947"/>
          <p:cNvSpPr txBox="1"/>
          <p:nvPr/>
        </p:nvSpPr>
        <p:spPr>
          <a:xfrm>
            <a:off x="4549117" y="5981678"/>
            <a:ext cx="2574000" cy="1046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80" b="0">
                <a:solidFill>
                  <a:srgbClr val="7F7F7F"/>
                </a:solidFill>
                <a:latin typeface="맑은 고딕"/>
                <a:ea typeface="맑은 고딕"/>
              </a:rPr>
              <a:t>KVServe-Unified(7.4×) 1.8% → 5.7%</a:t>
            </a:r>
          </a:p>
        </p:txBody>
      </p:sp>
      <p:sp>
        <p:nvSpPr>
          <p:cNvPr id="948" name="qa5-948"/>
          <p:cNvSpPr/>
          <p:nvPr/>
        </p:nvSpPr>
        <p:spPr>
          <a:xfrm>
            <a:off x="384048" y="6262000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9" name="qa5-949"/>
          <p:cNvSpPr txBox="1"/>
          <p:nvPr/>
        </p:nvSpPr>
        <p:spPr>
          <a:xfrm>
            <a:off x="502920" y="6220852"/>
            <a:ext cx="144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 범위(허용 기준 아님)</a:t>
            </a:r>
          </a:p>
        </p:txBody>
      </p:sp>
      <p:sp>
        <p:nvSpPr>
          <p:cNvPr id="950" name="qa5-950"/>
          <p:cNvSpPr/>
          <p:nvPr/>
        </p:nvSpPr>
        <p:spPr>
          <a:xfrm>
            <a:off x="2118348" y="6257428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1" name="qa5-951"/>
          <p:cNvSpPr txBox="1"/>
          <p:nvPr/>
        </p:nvSpPr>
        <p:spPr>
          <a:xfrm>
            <a:off x="2241792" y="6220852"/>
            <a:ext cx="120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본 기준에 채택된 값(표준)</a:t>
            </a:r>
          </a:p>
        </p:txBody>
      </p:sp>
      <p:sp>
        <p:nvSpPr>
          <p:cNvPr id="952" name="qa5-952"/>
          <p:cNvSpPr/>
          <p:nvPr/>
        </p:nvSpPr>
        <p:spPr>
          <a:xfrm>
            <a:off x="3617220" y="6257428"/>
            <a:ext cx="91440" cy="91440"/>
          </a:xfrm>
          <a:prstGeom prst="diamond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3" name="qa5-953"/>
          <p:cNvSpPr txBox="1"/>
          <p:nvPr/>
        </p:nvSpPr>
        <p:spPr>
          <a:xfrm>
            <a:off x="3740664" y="6220852"/>
            <a:ext cx="80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완화 기준(미채택)</a:t>
            </a:r>
          </a:p>
        </p:txBody>
      </p:sp>
      <p:sp>
        <p:nvSpPr>
          <p:cNvPr id="954" name="qa5-954"/>
          <p:cNvSpPr/>
          <p:nvPr/>
        </p:nvSpPr>
        <p:spPr>
          <a:xfrm>
            <a:off x="4720664" y="6262000"/>
            <a:ext cx="82296" cy="8229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5" name="qa5-955"/>
          <p:cNvSpPr txBox="1"/>
          <p:nvPr/>
        </p:nvSpPr>
        <p:spPr>
          <a:xfrm>
            <a:off x="4839536" y="6220852"/>
            <a:ext cx="2560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참고: KVServe Table 1 평균 → task 최악</a:t>
            </a:r>
          </a:p>
        </p:txBody>
      </p:sp>
    </p:spTree>
    <p:extLst>
      <p:ext uri="{BB962C8B-B14F-4D97-AF65-F5344CB8AC3E}">
        <p14:creationId xmlns:p14="http://schemas.microsoft.com/office/powerpoint/2010/main" val="3218258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자원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(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HBM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)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효율성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Baseline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GPU-only) </a:t>
            </a: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대비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사용량 감소율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48BBF660-AA47-4A57-BCE4-0896E47FBB12}"/>
              </a:ext>
            </a:extLst>
          </p:cNvPr>
          <p:cNvSpPr txBox="1"/>
          <p:nvPr/>
        </p:nvSpPr>
        <p:spPr>
          <a:xfrm>
            <a:off x="365760" y="1079932"/>
            <a:ext cx="11430000" cy="58746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감소율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= (Baseline 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사용량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–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후보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) ÷ Baseline HBM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endParaRPr lang="en-US" altLang="ko-KR" sz="110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HBM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사용량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= HBM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에 올라와 있는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KV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크기의 시간 평균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같은 부하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및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SLO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기준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4" name="실행 단추: 뒤로 또는 이전 13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src">
            <a:extLst>
              <a:ext uri="{FF2B5EF4-FFF2-40B4-BE49-F238E27FC236}">
                <a16:creationId xmlns:a16="http://schemas.microsoft.com/office/drawing/2014/main" id="{BE23EF30-C88E-4105-87F9-5E79506D3832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[1]: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DirectKV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OSDI'26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HeadInfer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2502.12574,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검색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요약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기준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ShadowKV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ICML'25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2410.21465)</a:t>
            </a:r>
          </a:p>
        </p:txBody>
      </p:sp>
      <p:graphicFrame>
        <p:nvGraphicFramePr>
          <p:cNvPr id="77" name="tbl">
            <a:extLst>
              <a:ext uri="{FF2B5EF4-FFF2-40B4-BE49-F238E27FC236}">
                <a16:creationId xmlns:a16="http://schemas.microsoft.com/office/drawing/2014/main" id="{D29CDC49-CA75-4AE9-B14F-1B301CF55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838472"/>
              </p:ext>
            </p:extLst>
          </p:nvPr>
        </p:nvGraphicFramePr>
        <p:xfrm>
          <a:off x="365760" y="1815707"/>
          <a:ext cx="11457432" cy="22802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886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정량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7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≥ 60%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문헌 성능의 상한</a:t>
                      </a: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: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이론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상한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(≈88%)과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HeadInfer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92%(1M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ctx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극단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보다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보수적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DirectKV, HeadInfer [1], 이론 계산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50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60%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74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50%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오프로딩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계열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수준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endParaRPr lang="en-US"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DirectKV는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CPU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직접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접근으로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GPU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메모리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43%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(GH200). '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배치·오프로딩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계열</a:t>
                      </a:r>
                      <a:r>
                        <a:rPr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40~80%'의 </a:t>
                      </a:r>
                      <a:r>
                        <a:rPr sz="8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DirectKV [1]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40%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20 ≤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30%</a:t>
                      </a:r>
                      <a:endParaRPr sz="700" b="0" dirty="0">
                        <a:solidFill>
                          <a:srgbClr val="595959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Stakeholder(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시스템 연구팀</a:t>
                      </a:r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ko-KR" altLang="en-US" sz="8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 요구사항</a:t>
                      </a:r>
                      <a:endParaRPr sz="8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69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8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감소율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&lt; 20%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(20%)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음수는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후보가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HBM을</a:t>
                      </a: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더 쓴 </a:t>
                      </a:r>
                      <a:r>
                        <a:rPr sz="8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경우</a:t>
                      </a:r>
                      <a:endParaRPr sz="8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8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" name="TextBox 77">
            <a:extLst>
              <a:ext uri="{FF2B5EF4-FFF2-40B4-BE49-F238E27FC236}">
                <a16:creationId xmlns:a16="http://schemas.microsoft.com/office/drawing/2014/main" id="{385DF078-5655-4B6F-A47F-5FCE9019AB8B}"/>
              </a:ext>
            </a:extLst>
          </p:cNvPr>
          <p:cNvSpPr txBox="1"/>
          <p:nvPr/>
        </p:nvSpPr>
        <p:spPr>
          <a:xfrm>
            <a:off x="4434840" y="4306824"/>
            <a:ext cx="740664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(HBM 감소율 %, GPU-only 대비)</a:t>
            </a:r>
          </a:p>
        </p:txBody>
      </p:sp>
      <p:sp>
        <p:nvSpPr>
          <p:cNvPr id="79" name="Rectangle 17">
            <a:extLst>
              <a:ext uri="{FF2B5EF4-FFF2-40B4-BE49-F238E27FC236}">
                <a16:creationId xmlns:a16="http://schemas.microsoft.com/office/drawing/2014/main" id="{D0A36010-F858-4669-B308-32A787664003}"/>
              </a:ext>
            </a:extLst>
          </p:cNvPr>
          <p:cNvSpPr/>
          <p:nvPr/>
        </p:nvSpPr>
        <p:spPr>
          <a:xfrm>
            <a:off x="4480559" y="4544568"/>
            <a:ext cx="1463040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54BE8C6-30FF-4702-928B-E5A00ADAC752}"/>
              </a:ext>
            </a:extLst>
          </p:cNvPr>
          <p:cNvSpPr txBox="1"/>
          <p:nvPr/>
        </p:nvSpPr>
        <p:spPr>
          <a:xfrm>
            <a:off x="4480559" y="45445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81" name="Rectangle 19">
            <a:extLst>
              <a:ext uri="{FF2B5EF4-FFF2-40B4-BE49-F238E27FC236}">
                <a16:creationId xmlns:a16="http://schemas.microsoft.com/office/drawing/2014/main" id="{A86E6FDE-6225-49A9-834D-383A90C55593}"/>
              </a:ext>
            </a:extLst>
          </p:cNvPr>
          <p:cNvSpPr/>
          <p:nvPr/>
        </p:nvSpPr>
        <p:spPr>
          <a:xfrm>
            <a:off x="5943600" y="4544568"/>
            <a:ext cx="731519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8050CDB-8DBA-451E-B39F-FCF7E2E31F8C}"/>
              </a:ext>
            </a:extLst>
          </p:cNvPr>
          <p:cNvSpPr txBox="1"/>
          <p:nvPr/>
        </p:nvSpPr>
        <p:spPr>
          <a:xfrm>
            <a:off x="5943600" y="4544568"/>
            <a:ext cx="7315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83" name="Rectangle 21">
            <a:extLst>
              <a:ext uri="{FF2B5EF4-FFF2-40B4-BE49-F238E27FC236}">
                <a16:creationId xmlns:a16="http://schemas.microsoft.com/office/drawing/2014/main" id="{9997917C-01CC-4222-BD1C-1E9CE5DDFDEE}"/>
              </a:ext>
            </a:extLst>
          </p:cNvPr>
          <p:cNvSpPr/>
          <p:nvPr/>
        </p:nvSpPr>
        <p:spPr>
          <a:xfrm>
            <a:off x="6675119" y="4544568"/>
            <a:ext cx="731520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B5C771C-7122-4B6D-9C99-CC87B13F0BF2}"/>
              </a:ext>
            </a:extLst>
          </p:cNvPr>
          <p:cNvSpPr txBox="1"/>
          <p:nvPr/>
        </p:nvSpPr>
        <p:spPr>
          <a:xfrm>
            <a:off x="6675119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85" name="Rectangle 23">
            <a:extLst>
              <a:ext uri="{FF2B5EF4-FFF2-40B4-BE49-F238E27FC236}">
                <a16:creationId xmlns:a16="http://schemas.microsoft.com/office/drawing/2014/main" id="{CFA3922A-75E6-445F-A969-263E41E24F55}"/>
              </a:ext>
            </a:extLst>
          </p:cNvPr>
          <p:cNvSpPr/>
          <p:nvPr/>
        </p:nvSpPr>
        <p:spPr>
          <a:xfrm>
            <a:off x="7406640" y="4544568"/>
            <a:ext cx="731519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B55470-2191-4B46-883E-3A330738A63B}"/>
              </a:ext>
            </a:extLst>
          </p:cNvPr>
          <p:cNvSpPr txBox="1"/>
          <p:nvPr/>
        </p:nvSpPr>
        <p:spPr>
          <a:xfrm>
            <a:off x="7406640" y="4544568"/>
            <a:ext cx="73151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87" name="Rectangle 25">
            <a:extLst>
              <a:ext uri="{FF2B5EF4-FFF2-40B4-BE49-F238E27FC236}">
                <a16:creationId xmlns:a16="http://schemas.microsoft.com/office/drawing/2014/main" id="{BCCEE5CA-390A-45EB-9558-870AA500C0D4}"/>
              </a:ext>
            </a:extLst>
          </p:cNvPr>
          <p:cNvSpPr/>
          <p:nvPr/>
        </p:nvSpPr>
        <p:spPr>
          <a:xfrm>
            <a:off x="8138159" y="4544568"/>
            <a:ext cx="731520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F3BE20-70B4-47BB-ACD3-8BF7B465FAD0}"/>
              </a:ext>
            </a:extLst>
          </p:cNvPr>
          <p:cNvSpPr txBox="1"/>
          <p:nvPr/>
        </p:nvSpPr>
        <p:spPr>
          <a:xfrm>
            <a:off x="8138159" y="454456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89" name="Rectangle 27">
            <a:extLst>
              <a:ext uri="{FF2B5EF4-FFF2-40B4-BE49-F238E27FC236}">
                <a16:creationId xmlns:a16="http://schemas.microsoft.com/office/drawing/2014/main" id="{482953B4-F84C-47DF-8CFE-4FCC19EDF25A}"/>
              </a:ext>
            </a:extLst>
          </p:cNvPr>
          <p:cNvSpPr/>
          <p:nvPr/>
        </p:nvSpPr>
        <p:spPr>
          <a:xfrm>
            <a:off x="8869680" y="4544568"/>
            <a:ext cx="2926079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1B15F6-957A-4040-9298-F6BEC81A1A34}"/>
              </a:ext>
            </a:extLst>
          </p:cNvPr>
          <p:cNvSpPr txBox="1"/>
          <p:nvPr/>
        </p:nvSpPr>
        <p:spPr>
          <a:xfrm>
            <a:off x="8869680" y="4544568"/>
            <a:ext cx="29260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70DF8BA-A113-4B12-917E-D3136051E8C8}"/>
              </a:ext>
            </a:extLst>
          </p:cNvPr>
          <p:cNvSpPr txBox="1"/>
          <p:nvPr/>
        </p:nvSpPr>
        <p:spPr>
          <a:xfrm>
            <a:off x="416052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0%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49D01CA-E6D9-47D6-B8B6-5F775019BFC1}"/>
              </a:ext>
            </a:extLst>
          </p:cNvPr>
          <p:cNvSpPr txBox="1"/>
          <p:nvPr/>
        </p:nvSpPr>
        <p:spPr>
          <a:xfrm>
            <a:off x="562356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20%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B1D4826-3B4E-4E0F-90A4-3DCBB61612A4}"/>
              </a:ext>
            </a:extLst>
          </p:cNvPr>
          <p:cNvSpPr txBox="1"/>
          <p:nvPr/>
        </p:nvSpPr>
        <p:spPr>
          <a:xfrm>
            <a:off x="708660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40%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795A263-8F46-4B72-A5ED-758C34326CD3}"/>
              </a:ext>
            </a:extLst>
          </p:cNvPr>
          <p:cNvSpPr txBox="1"/>
          <p:nvPr/>
        </p:nvSpPr>
        <p:spPr>
          <a:xfrm>
            <a:off x="854964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41EE4AB-DAB1-4FFD-B8DE-7F5A33CE1606}"/>
              </a:ext>
            </a:extLst>
          </p:cNvPr>
          <p:cNvSpPr txBox="1"/>
          <p:nvPr/>
        </p:nvSpPr>
        <p:spPr>
          <a:xfrm>
            <a:off x="10012680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80%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33CD44F-0B2B-4356-99E8-6645D1DF82E3}"/>
              </a:ext>
            </a:extLst>
          </p:cNvPr>
          <p:cNvSpPr txBox="1"/>
          <p:nvPr/>
        </p:nvSpPr>
        <p:spPr>
          <a:xfrm>
            <a:off x="11475719" y="4818888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100%</a:t>
            </a:r>
          </a:p>
        </p:txBody>
      </p:sp>
      <p:cxnSp>
        <p:nvCxnSpPr>
          <p:cNvPr id="97" name="Connector 35">
            <a:extLst>
              <a:ext uri="{FF2B5EF4-FFF2-40B4-BE49-F238E27FC236}">
                <a16:creationId xmlns:a16="http://schemas.microsoft.com/office/drawing/2014/main" id="{1CDF2BC4-DB9F-46B6-91D9-448C655FEE68}"/>
              </a:ext>
            </a:extLst>
          </p:cNvPr>
          <p:cNvCxnSpPr/>
          <p:nvPr/>
        </p:nvCxnSpPr>
        <p:spPr>
          <a:xfrm>
            <a:off x="594360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36">
            <a:extLst>
              <a:ext uri="{FF2B5EF4-FFF2-40B4-BE49-F238E27FC236}">
                <a16:creationId xmlns:a16="http://schemas.microsoft.com/office/drawing/2014/main" id="{B11BB1F2-7102-4165-9CB8-A2C8D07CC992}"/>
              </a:ext>
            </a:extLst>
          </p:cNvPr>
          <p:cNvCxnSpPr/>
          <p:nvPr/>
        </p:nvCxnSpPr>
        <p:spPr>
          <a:xfrm>
            <a:off x="6675119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37">
            <a:extLst>
              <a:ext uri="{FF2B5EF4-FFF2-40B4-BE49-F238E27FC236}">
                <a16:creationId xmlns:a16="http://schemas.microsoft.com/office/drawing/2014/main" id="{F6E21C1B-AF6E-4D19-994D-4245D516704F}"/>
              </a:ext>
            </a:extLst>
          </p:cNvPr>
          <p:cNvCxnSpPr/>
          <p:nvPr/>
        </p:nvCxnSpPr>
        <p:spPr>
          <a:xfrm>
            <a:off x="740664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38">
            <a:extLst>
              <a:ext uri="{FF2B5EF4-FFF2-40B4-BE49-F238E27FC236}">
                <a16:creationId xmlns:a16="http://schemas.microsoft.com/office/drawing/2014/main" id="{1F500E41-49EC-40CC-92E1-7C23DA8FA18F}"/>
              </a:ext>
            </a:extLst>
          </p:cNvPr>
          <p:cNvCxnSpPr/>
          <p:nvPr/>
        </p:nvCxnSpPr>
        <p:spPr>
          <a:xfrm>
            <a:off x="8138159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39">
            <a:extLst>
              <a:ext uri="{FF2B5EF4-FFF2-40B4-BE49-F238E27FC236}">
                <a16:creationId xmlns:a16="http://schemas.microsoft.com/office/drawing/2014/main" id="{CF328C3F-2D93-4448-8AF6-9751723938B8}"/>
              </a:ext>
            </a:extLst>
          </p:cNvPr>
          <p:cNvCxnSpPr/>
          <p:nvPr/>
        </p:nvCxnSpPr>
        <p:spPr>
          <a:xfrm>
            <a:off x="8869680" y="4956048"/>
            <a:ext cx="0" cy="1348739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Isosceles Triangle 40">
            <a:extLst>
              <a:ext uri="{FF2B5EF4-FFF2-40B4-BE49-F238E27FC236}">
                <a16:creationId xmlns:a16="http://schemas.microsoft.com/office/drawing/2014/main" id="{870CF855-9698-449A-BC6D-7547D9F0D2F3}"/>
              </a:ext>
            </a:extLst>
          </p:cNvPr>
          <p:cNvSpPr/>
          <p:nvPr/>
        </p:nvSpPr>
        <p:spPr>
          <a:xfrm>
            <a:off x="4421123" y="5013198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2EB6672-C78E-4F38-9172-96A95FEB91EF}"/>
              </a:ext>
            </a:extLst>
          </p:cNvPr>
          <p:cNvSpPr txBox="1"/>
          <p:nvPr/>
        </p:nvSpPr>
        <p:spPr>
          <a:xfrm>
            <a:off x="4553712" y="4974336"/>
            <a:ext cx="2514600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이론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B1(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정적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LRU offload) = 0% (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HBM을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캐시로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채움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04" name="Diamond 42">
            <a:extLst>
              <a:ext uri="{FF2B5EF4-FFF2-40B4-BE49-F238E27FC236}">
                <a16:creationId xmlns:a16="http://schemas.microsoft.com/office/drawing/2014/main" id="{0FB1C196-F413-4B48-B8FC-C11A7F481D24}"/>
              </a:ext>
            </a:extLst>
          </p:cNvPr>
          <p:cNvSpPr/>
          <p:nvPr/>
        </p:nvSpPr>
        <p:spPr>
          <a:xfrm>
            <a:off x="5884164" y="5196077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99C70F-9F82-449D-B3F2-B2B4F2B00F83}"/>
              </a:ext>
            </a:extLst>
          </p:cNvPr>
          <p:cNvSpPr txBox="1"/>
          <p:nvPr/>
        </p:nvSpPr>
        <p:spPr>
          <a:xfrm>
            <a:off x="6016752" y="5200114"/>
            <a:ext cx="976229" cy="1108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720" dirty="0">
                <a:solidFill>
                  <a:srgbClr val="262626"/>
                </a:solidFill>
                <a:latin typeface="맑은 고딕"/>
                <a:ea typeface="맑은 고딕"/>
              </a:rPr>
              <a:t>Stakeholder </a:t>
            </a:r>
            <a:r>
              <a:rPr sz="720" b="0" dirty="0" err="1">
                <a:solidFill>
                  <a:srgbClr val="262626"/>
                </a:solidFill>
                <a:latin typeface="맑은 고딕"/>
                <a:ea typeface="맑은 고딕"/>
              </a:rPr>
              <a:t>요구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 </a:t>
            </a:r>
            <a:r>
              <a:rPr lang="en-US" sz="720" b="0" dirty="0">
                <a:solidFill>
                  <a:srgbClr val="262626"/>
                </a:solidFill>
                <a:latin typeface="맑은 고딕"/>
                <a:ea typeface="맑은 고딕"/>
              </a:rPr>
              <a:t>0</a:t>
            </a:r>
            <a:r>
              <a:rPr sz="720" b="0" dirty="0">
                <a:solidFill>
                  <a:srgbClr val="262626"/>
                </a:solidFill>
                <a:latin typeface="맑은 고딕"/>
                <a:ea typeface="맑은 고딕"/>
              </a:rPr>
              <a:t>20</a:t>
            </a:r>
            <a:r>
              <a:rPr lang="en-US" sz="720" b="0" dirty="0">
                <a:solidFill>
                  <a:srgbClr val="262626"/>
                </a:solidFill>
                <a:latin typeface="맑은 고딕"/>
                <a:ea typeface="맑은 고딕"/>
              </a:rPr>
              <a:t>%</a:t>
            </a:r>
            <a:endParaRPr sz="720" b="0" dirty="0">
              <a:solidFill>
                <a:srgbClr val="262626"/>
              </a:solidFill>
              <a:latin typeface="맑은 고딕"/>
              <a:ea typeface="맑은 고딕"/>
            </a:endParaRPr>
          </a:p>
        </p:txBody>
      </p:sp>
      <p:sp>
        <p:nvSpPr>
          <p:cNvPr id="106" name="Oval 44">
            <a:extLst>
              <a:ext uri="{FF2B5EF4-FFF2-40B4-BE49-F238E27FC236}">
                <a16:creationId xmlns:a16="http://schemas.microsoft.com/office/drawing/2014/main" id="{E75F81A9-9B63-49FE-804B-B0E1701B8C08}"/>
              </a:ext>
            </a:extLst>
          </p:cNvPr>
          <p:cNvSpPr/>
          <p:nvPr/>
        </p:nvSpPr>
        <p:spPr>
          <a:xfrm>
            <a:off x="7575804" y="5392674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EE5652B-00E6-4C81-9BCA-25A68F6334CD}"/>
              </a:ext>
            </a:extLst>
          </p:cNvPr>
          <p:cNvSpPr txBox="1"/>
          <p:nvPr/>
        </p:nvSpPr>
        <p:spPr>
          <a:xfrm>
            <a:off x="7699248" y="5349240"/>
            <a:ext cx="3675888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DirectKV (OSDI'26): 기존 offload 대비 GPU 메모리 43% 감소 = 경쟁 기술 수준</a:t>
            </a:r>
          </a:p>
        </p:txBody>
      </p:sp>
      <p:sp>
        <p:nvSpPr>
          <p:cNvPr id="108" name="Rectangle 46">
            <a:extLst>
              <a:ext uri="{FF2B5EF4-FFF2-40B4-BE49-F238E27FC236}">
                <a16:creationId xmlns:a16="http://schemas.microsoft.com/office/drawing/2014/main" id="{04A6AEF3-AD11-406D-8896-B98302CDEA8C}"/>
              </a:ext>
            </a:extLst>
          </p:cNvPr>
          <p:cNvSpPr/>
          <p:nvPr/>
        </p:nvSpPr>
        <p:spPr>
          <a:xfrm>
            <a:off x="7406640" y="5593842"/>
            <a:ext cx="2926080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9" name="Connector 47">
            <a:extLst>
              <a:ext uri="{FF2B5EF4-FFF2-40B4-BE49-F238E27FC236}">
                <a16:creationId xmlns:a16="http://schemas.microsoft.com/office/drawing/2014/main" id="{FE696459-6F07-47E0-B719-72CD45FCC1AD}"/>
              </a:ext>
            </a:extLst>
          </p:cNvPr>
          <p:cNvCxnSpPr/>
          <p:nvPr/>
        </p:nvCxnSpPr>
        <p:spPr>
          <a:xfrm>
            <a:off x="7406640" y="5566409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48">
            <a:extLst>
              <a:ext uri="{FF2B5EF4-FFF2-40B4-BE49-F238E27FC236}">
                <a16:creationId xmlns:a16="http://schemas.microsoft.com/office/drawing/2014/main" id="{5D0FD1C1-33BA-4A3A-8F01-231A2284FFF9}"/>
              </a:ext>
            </a:extLst>
          </p:cNvPr>
          <p:cNvCxnSpPr/>
          <p:nvPr/>
        </p:nvCxnSpPr>
        <p:spPr>
          <a:xfrm>
            <a:off x="10332720" y="5566409"/>
            <a:ext cx="0" cy="128017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E7AF12A2-ABC9-45D2-8681-37B269CFB6F0}"/>
              </a:ext>
            </a:extLst>
          </p:cNvPr>
          <p:cNvSpPr txBox="1"/>
          <p:nvPr/>
        </p:nvSpPr>
        <p:spPr>
          <a:xfrm>
            <a:off x="5623560" y="5536692"/>
            <a:ext cx="1709927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오프로딩 계열 보고 범위 40~80% [1]</a:t>
            </a:r>
          </a:p>
        </p:txBody>
      </p:sp>
      <p:sp>
        <p:nvSpPr>
          <p:cNvPr id="112" name="Isosceles Triangle 50">
            <a:extLst>
              <a:ext uri="{FF2B5EF4-FFF2-40B4-BE49-F238E27FC236}">
                <a16:creationId xmlns:a16="http://schemas.microsoft.com/office/drawing/2014/main" id="{CC839DC0-DB8C-4A02-94FC-40C6B53F0430}"/>
              </a:ext>
            </a:extLst>
          </p:cNvPr>
          <p:cNvSpPr/>
          <p:nvPr/>
        </p:nvSpPr>
        <p:spPr>
          <a:xfrm>
            <a:off x="10824075" y="5763006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9F09242-FFE5-404F-8BFA-BDA6ACF52C2B}"/>
              </a:ext>
            </a:extLst>
          </p:cNvPr>
          <p:cNvSpPr txBox="1"/>
          <p:nvPr/>
        </p:nvSpPr>
        <p:spPr>
          <a:xfrm>
            <a:off x="8858115" y="5724144"/>
            <a:ext cx="1952244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상한 ≈ 88% (decode 상주분만 남김)</a:t>
            </a:r>
          </a:p>
        </p:txBody>
      </p:sp>
      <p:sp>
        <p:nvSpPr>
          <p:cNvPr id="114" name="Oval 52">
            <a:extLst>
              <a:ext uri="{FF2B5EF4-FFF2-40B4-BE49-F238E27FC236}">
                <a16:creationId xmlns:a16="http://schemas.microsoft.com/office/drawing/2014/main" id="{B831713E-D666-470C-B1A8-F43068F9D7F1}"/>
              </a:ext>
            </a:extLst>
          </p:cNvPr>
          <p:cNvSpPr/>
          <p:nvPr/>
        </p:nvSpPr>
        <p:spPr>
          <a:xfrm>
            <a:off x="10501884" y="595503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0E719A-77B3-4EDA-ABED-06897B1E5828}"/>
              </a:ext>
            </a:extLst>
          </p:cNvPr>
          <p:cNvSpPr txBox="1"/>
          <p:nvPr/>
        </p:nvSpPr>
        <p:spPr>
          <a:xfrm>
            <a:off x="7845551" y="5911596"/>
            <a:ext cx="263347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맑은 고딕"/>
                <a:ea typeface="맑은 고딕"/>
              </a:rPr>
              <a:t>ShadowKV: batch 6x ≈ 83%/seq (key 저랭크 압축 포함)</a:t>
            </a:r>
          </a:p>
        </p:txBody>
      </p:sp>
      <p:sp>
        <p:nvSpPr>
          <p:cNvPr id="116" name="Oval 54">
            <a:extLst>
              <a:ext uri="{FF2B5EF4-FFF2-40B4-BE49-F238E27FC236}">
                <a16:creationId xmlns:a16="http://schemas.microsoft.com/office/drawing/2014/main" id="{88C36186-28E7-4E7E-BBD5-CF8D516F88B7}"/>
              </a:ext>
            </a:extLst>
          </p:cNvPr>
          <p:cNvSpPr/>
          <p:nvPr/>
        </p:nvSpPr>
        <p:spPr>
          <a:xfrm>
            <a:off x="11160252" y="61424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EF87B08-BB3F-427F-8148-D1C8A5098726}"/>
              </a:ext>
            </a:extLst>
          </p:cNvPr>
          <p:cNvSpPr txBox="1"/>
          <p:nvPr/>
        </p:nvSpPr>
        <p:spPr>
          <a:xfrm>
            <a:off x="8471915" y="6099048"/>
            <a:ext cx="266547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7F7F7F"/>
                </a:solidFill>
                <a:latin typeface="맑은 고딕"/>
                <a:ea typeface="맑은 고딕"/>
              </a:rPr>
              <a:t>HeadInfer: 총 GPU 메모리 92% (1M ctx 단일 요청, 극단)</a:t>
            </a:r>
          </a:p>
        </p:txBody>
      </p:sp>
      <p:sp>
        <p:nvSpPr>
          <p:cNvPr id="118" name="Oval 56">
            <a:extLst>
              <a:ext uri="{FF2B5EF4-FFF2-40B4-BE49-F238E27FC236}">
                <a16:creationId xmlns:a16="http://schemas.microsoft.com/office/drawing/2014/main" id="{05578421-0AD6-4B9B-B88F-CEAC5C9D106B}"/>
              </a:ext>
            </a:extLst>
          </p:cNvPr>
          <p:cNvSpPr/>
          <p:nvPr/>
        </p:nvSpPr>
        <p:spPr>
          <a:xfrm>
            <a:off x="4453127" y="6373367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91B6D6F-5CA0-436D-B743-258BA570AD75}"/>
              </a:ext>
            </a:extLst>
          </p:cNvPr>
          <p:cNvSpPr txBox="1"/>
          <p:nvPr/>
        </p:nvSpPr>
        <p:spPr>
          <a:xfrm>
            <a:off x="4571999" y="6332219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120" name="Diamond 58">
            <a:extLst>
              <a:ext uri="{FF2B5EF4-FFF2-40B4-BE49-F238E27FC236}">
                <a16:creationId xmlns:a16="http://schemas.microsoft.com/office/drawing/2014/main" id="{7B31B28D-440B-420F-9DF6-26D6AFD5267D}"/>
              </a:ext>
            </a:extLst>
          </p:cNvPr>
          <p:cNvSpPr/>
          <p:nvPr/>
        </p:nvSpPr>
        <p:spPr>
          <a:xfrm>
            <a:off x="5608828" y="6373367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8A40FE7-BAAA-44A1-AD81-691C1927397B}"/>
              </a:ext>
            </a:extLst>
          </p:cNvPr>
          <p:cNvSpPr txBox="1"/>
          <p:nvPr/>
        </p:nvSpPr>
        <p:spPr>
          <a:xfrm>
            <a:off x="5727700" y="6332219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122" name="Isosceles Triangle 60">
            <a:extLst>
              <a:ext uri="{FF2B5EF4-FFF2-40B4-BE49-F238E27FC236}">
                <a16:creationId xmlns:a16="http://schemas.microsoft.com/office/drawing/2014/main" id="{4DBC79EE-C011-463F-9AA4-D40CD175377A}"/>
              </a:ext>
            </a:extLst>
          </p:cNvPr>
          <p:cNvSpPr/>
          <p:nvPr/>
        </p:nvSpPr>
        <p:spPr>
          <a:xfrm>
            <a:off x="7097903" y="6373367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B6C2C48-5B11-4594-A5A7-A6D52EDD8003}"/>
              </a:ext>
            </a:extLst>
          </p:cNvPr>
          <p:cNvSpPr txBox="1"/>
          <p:nvPr/>
        </p:nvSpPr>
        <p:spPr>
          <a:xfrm>
            <a:off x="7216775" y="6332219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124" name="Oval 62">
            <a:extLst>
              <a:ext uri="{FF2B5EF4-FFF2-40B4-BE49-F238E27FC236}">
                <a16:creationId xmlns:a16="http://schemas.microsoft.com/office/drawing/2014/main" id="{524E4287-D0BE-4290-AE69-2BBD33050FC1}"/>
              </a:ext>
            </a:extLst>
          </p:cNvPr>
          <p:cNvSpPr/>
          <p:nvPr/>
        </p:nvSpPr>
        <p:spPr>
          <a:xfrm>
            <a:off x="7822438" y="6373367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FF8B9D1-3D0C-415E-B74D-E842036124EC}"/>
              </a:ext>
            </a:extLst>
          </p:cNvPr>
          <p:cNvSpPr txBox="1"/>
          <p:nvPr/>
        </p:nvSpPr>
        <p:spPr>
          <a:xfrm>
            <a:off x="7941310" y="6332219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2653A4C-F3F2-4A7E-AC87-FF3DD295D045}"/>
              </a:ext>
            </a:extLst>
          </p:cNvPr>
          <p:cNvSpPr txBox="1"/>
          <p:nvPr/>
        </p:nvSpPr>
        <p:spPr>
          <a:xfrm>
            <a:off x="269748" y="4419868"/>
            <a:ext cx="3931920" cy="5102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HBM </a:t>
            </a: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사용량</a:t>
            </a:r>
            <a:r>
              <a:rPr lang="en-US" sz="9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ko-KR" altLang="en-US" sz="950" b="1" dirty="0">
                <a:solidFill>
                  <a:srgbClr val="2F5597"/>
                </a:solidFill>
                <a:latin typeface="맑은 고딕"/>
                <a:ea typeface="맑은 고딕"/>
              </a:rPr>
              <a:t>계산</a:t>
            </a:r>
            <a:endParaRPr sz="95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• HBM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사용량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HBM에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올라와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있는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KV의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시간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</a:t>
            </a:r>
            <a:r>
              <a:rPr sz="8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850" b="0" dirty="0" err="1">
                <a:solidFill>
                  <a:srgbClr val="000000"/>
                </a:solidFill>
                <a:latin typeface="맑은 고딕"/>
                <a:ea typeface="맑은 고딕"/>
              </a:rPr>
              <a:t>크기</a:t>
            </a:r>
            <a:endParaRPr sz="8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 dirty="0">
                <a:solidFill>
                  <a:srgbClr val="404040"/>
                </a:solidFill>
                <a:latin typeface="맑은 고딕"/>
                <a:ea typeface="맑은 고딕"/>
              </a:rPr>
              <a:t>  예) 100초 중 40초 100 GiB, 60초 50 GiB → 70 GiB</a:t>
            </a:r>
          </a:p>
        </p:txBody>
      </p:sp>
    </p:spTree>
    <p:extLst>
      <p:ext uri="{BB962C8B-B14F-4D97-AF65-F5344CB8AC3E}">
        <p14:creationId xmlns:p14="http://schemas.microsoft.com/office/powerpoint/2010/main" val="33323574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지연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시간 </a:t>
            </a:r>
            <a:r>
              <a:rPr lang="en-US" altLang="ko-KR" sz="2200" b="1" dirty="0">
                <a:solidFill>
                  <a:srgbClr val="2F5597"/>
                </a:solidFill>
                <a:latin typeface="맑은 고딕"/>
                <a:ea typeface="맑은 고딕"/>
              </a:rPr>
              <a:t>-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 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Baseline(GPU-only)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대비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TTFT, TPOT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의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Tail Latency (P99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감소율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둘 중에 감소율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max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값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5" name="실행 단추: 뒤로 또는 이전 14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rule">
            <a:extLst>
              <a:ext uri="{FF2B5EF4-FFF2-40B4-BE49-F238E27FC236}">
                <a16:creationId xmlns:a16="http://schemas.microsoft.com/office/drawing/2014/main" id="{BBC76857-BE8F-4F24-AC5F-EB9776070AA7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src">
            <a:extLst>
              <a:ext uri="{FF2B5EF4-FFF2-40B4-BE49-F238E27FC236}">
                <a16:creationId xmlns:a16="http://schemas.microsoft.com/office/drawing/2014/main" id="{7619CFC5-FC40-47AD-9BC1-081FC10B4390}"/>
              </a:ext>
            </a:extLst>
          </p:cNvPr>
          <p:cNvSpPr txBox="1"/>
          <p:nvPr/>
        </p:nvSpPr>
        <p:spPr>
          <a:xfrm>
            <a:off x="365759" y="6583680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LMCache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2510.09665)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KVFlow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2507.07400) ·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DirectKV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OSDI'26.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94DC35E3-1953-4364-9C7F-094A257114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11" r="635" b="11226"/>
          <a:stretch/>
        </p:blipFill>
        <p:spPr>
          <a:xfrm>
            <a:off x="411480" y="4800600"/>
            <a:ext cx="3526737" cy="1600200"/>
          </a:xfrm>
          <a:prstGeom prst="rect">
            <a:avLst/>
          </a:prstGeom>
        </p:spPr>
      </p:pic>
      <p:sp>
        <p:nvSpPr>
          <p:cNvPr id="69" name="metric">
            <a:extLst>
              <a:ext uri="{FF2B5EF4-FFF2-40B4-BE49-F238E27FC236}">
                <a16:creationId xmlns:a16="http://schemas.microsoft.com/office/drawing/2014/main" id="{5A64ACBD-C734-4515-9089-50C8D74678AC}"/>
              </a:ext>
            </a:extLst>
          </p:cNvPr>
          <p:cNvSpPr txBox="1"/>
          <p:nvPr/>
        </p:nvSpPr>
        <p:spPr>
          <a:xfrm>
            <a:off x="365760" y="1069848"/>
            <a:ext cx="11430000" cy="74815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ko-KR" altLang="en-US" sz="1050" b="1" dirty="0">
                <a:solidFill>
                  <a:srgbClr val="2F5597"/>
                </a:solidFill>
                <a:latin typeface="맑은 고딕"/>
                <a:ea typeface="맑은 고딕"/>
              </a:rPr>
              <a:t>감소율 </a:t>
            </a: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r = max[ (TTFT P99 ÷ Baseline) , (TPOT P99 ÷ Baseline) ]</a:t>
            </a:r>
            <a:r>
              <a:rPr lang="ko-KR" altLang="en-US" sz="10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,  </a:t>
            </a:r>
            <a:r>
              <a:rPr lang="ko-KR" altLang="en-US" sz="1050" b="1" dirty="0" err="1">
                <a:solidFill>
                  <a:srgbClr val="2F5597"/>
                </a:solidFill>
                <a:latin typeface="맑은 고딕"/>
                <a:ea typeface="맑은 고딕"/>
              </a:rPr>
              <a:t>개선율</a:t>
            </a:r>
            <a:r>
              <a:rPr lang="ko-KR" altLang="en-US" sz="105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altLang="ko-KR" sz="1050" b="1" dirty="0">
                <a:solidFill>
                  <a:srgbClr val="2F5597"/>
                </a:solidFill>
                <a:latin typeface="맑은 고딕"/>
                <a:ea typeface="맑은 고딕"/>
              </a:rPr>
              <a:t>=1/(1-r)</a:t>
            </a:r>
            <a:endParaRPr lang="en-US" sz="1050" b="1" dirty="0">
              <a:solidFill>
                <a:srgbClr val="2F5597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Tx/>
              <a:buChar char="-"/>
            </a:pPr>
            <a:r>
              <a:rPr lang="ko-KR" altLang="en-US" sz="1000" b="0" dirty="0">
                <a:solidFill>
                  <a:srgbClr val="000000"/>
                </a:solidFill>
                <a:latin typeface="맑은 고딕"/>
                <a:ea typeface="맑은 고딕"/>
              </a:rPr>
              <a:t>고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</a:t>
            </a:r>
            <a:r>
              <a:rPr 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상황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: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부하를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en-US" sz="1000" b="0" dirty="0">
                <a:solidFill>
                  <a:srgbClr val="000000"/>
                </a:solidFill>
                <a:latin typeface="맑은 고딕"/>
                <a:ea typeface="맑은 고딕"/>
              </a:rPr>
              <a:t>Baseline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포화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부하의</a:t>
            </a:r>
            <a:r>
              <a:rPr sz="1000" b="0" dirty="0">
                <a:solidFill>
                  <a:srgbClr val="000000"/>
                </a:solidFill>
                <a:latin typeface="맑은 고딕"/>
                <a:ea typeface="맑은 고딕"/>
              </a:rPr>
              <a:t> 90%에 </a:t>
            </a:r>
            <a:r>
              <a:rPr sz="1000" b="0" dirty="0" err="1">
                <a:solidFill>
                  <a:srgbClr val="000000"/>
                </a:solidFill>
                <a:latin typeface="맑은 고딕"/>
                <a:ea typeface="맑은 고딕"/>
              </a:rPr>
              <a:t>고정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Aft>
                <a:spcPts val="0"/>
              </a:spcAft>
              <a:buFontTx/>
              <a:buChar char="-"/>
            </a:pPr>
            <a:r>
              <a:rPr 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TTFT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를 절감하는 상황과 </a:t>
            </a:r>
            <a:r>
              <a:rPr lang="en-US" altLang="ko-KR" sz="1000" dirty="0">
                <a:solidFill>
                  <a:srgbClr val="000000"/>
                </a:solidFill>
                <a:latin typeface="맑은 고딕"/>
                <a:ea typeface="맑은 고딕"/>
              </a:rPr>
              <a:t>TPOT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</a:rPr>
              <a:t>를 절감하는 상황이 항상 같지 않으므로 둘 중 최대 효과인 경우를 고려</a:t>
            </a:r>
            <a:r>
              <a:rPr lang="en-US" altLang="ko-KR" sz="100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endParaRPr lang="en-US" sz="1000" b="0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graphicFrame>
        <p:nvGraphicFramePr>
          <p:cNvPr id="70" name="tbl">
            <a:extLst>
              <a:ext uri="{FF2B5EF4-FFF2-40B4-BE49-F238E27FC236}">
                <a16:creationId xmlns:a16="http://schemas.microsoft.com/office/drawing/2014/main" id="{D3EB879F-38E2-437E-A13A-0E64D4E28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9489178"/>
              </p:ext>
            </p:extLst>
          </p:nvPr>
        </p:nvGraphicFramePr>
        <p:xfrm>
          <a:off x="373380" y="1922527"/>
          <a:ext cx="11457432" cy="209886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68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22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≥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0.67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3x)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기술의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1.5x(offload baseline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대비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1.2~1.83x의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중간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). 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고 QPS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실트래픽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TTFT 4.4~6.6x·ITL 34~58%를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r로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환산하면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2.6~4.0이라 그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중간~상단에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해당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LMCache, KVFlow, DirectKV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0.59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0.67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2.45x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와 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기하 중점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(√(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2.0×3.0)=2.45)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0.59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수준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Context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벤치마크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E2E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지연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약 50~75%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감소의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하한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LMCache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41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1.7x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과 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기하 중점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(√(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1.43×2.0)=1.7)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≤ 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41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개선율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1.43x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사용자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체감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성능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개선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기준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30%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감소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요구사항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r &lt; 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0.3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또는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SLO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위반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0B83D172-15BF-4E49-ACD4-69A4C42EDF3C}"/>
              </a:ext>
            </a:extLst>
          </p:cNvPr>
          <p:cNvSpPr txBox="1"/>
          <p:nvPr/>
        </p:nvSpPr>
        <p:spPr>
          <a:xfrm>
            <a:off x="4434840" y="4261103"/>
            <a:ext cx="740664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(P99 개선 r, GPU-only 대비)</a:t>
            </a:r>
          </a:p>
        </p:txBody>
      </p:sp>
      <p:sp>
        <p:nvSpPr>
          <p:cNvPr id="72" name="Rectangle 18">
            <a:extLst>
              <a:ext uri="{FF2B5EF4-FFF2-40B4-BE49-F238E27FC236}">
                <a16:creationId xmlns:a16="http://schemas.microsoft.com/office/drawing/2014/main" id="{22FB4EFE-361A-4277-B627-E6E63A433D11}"/>
              </a:ext>
            </a:extLst>
          </p:cNvPr>
          <p:cNvSpPr/>
          <p:nvPr/>
        </p:nvSpPr>
        <p:spPr>
          <a:xfrm>
            <a:off x="4480559" y="4498847"/>
            <a:ext cx="898724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1C6D2F-0A66-49B0-A539-457DD84BA7D3}"/>
              </a:ext>
            </a:extLst>
          </p:cNvPr>
          <p:cNvSpPr txBox="1"/>
          <p:nvPr/>
        </p:nvSpPr>
        <p:spPr>
          <a:xfrm>
            <a:off x="4480559" y="4498847"/>
            <a:ext cx="89872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74" name="Rectangle 20">
            <a:extLst>
              <a:ext uri="{FF2B5EF4-FFF2-40B4-BE49-F238E27FC236}">
                <a16:creationId xmlns:a16="http://schemas.microsoft.com/office/drawing/2014/main" id="{9C74EAC3-9199-43A7-BE26-7845CCB207B1}"/>
              </a:ext>
            </a:extLst>
          </p:cNvPr>
          <p:cNvSpPr/>
          <p:nvPr/>
        </p:nvSpPr>
        <p:spPr>
          <a:xfrm>
            <a:off x="5379284" y="4498847"/>
            <a:ext cx="564315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E103D5-A074-45FF-99C6-664D9EA81360}"/>
              </a:ext>
            </a:extLst>
          </p:cNvPr>
          <p:cNvSpPr txBox="1"/>
          <p:nvPr/>
        </p:nvSpPr>
        <p:spPr>
          <a:xfrm>
            <a:off x="5379284" y="4498847"/>
            <a:ext cx="56431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76" name="Rectangle 22">
            <a:extLst>
              <a:ext uri="{FF2B5EF4-FFF2-40B4-BE49-F238E27FC236}">
                <a16:creationId xmlns:a16="http://schemas.microsoft.com/office/drawing/2014/main" id="{6DAF5ACE-9BC6-454A-856D-8C40084795FD}"/>
              </a:ext>
            </a:extLst>
          </p:cNvPr>
          <p:cNvSpPr/>
          <p:nvPr/>
        </p:nvSpPr>
        <p:spPr>
          <a:xfrm>
            <a:off x="5943599" y="4498847"/>
            <a:ext cx="627017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216E427-50F4-4CE3-97D0-F5C29BDB5AA6}"/>
              </a:ext>
            </a:extLst>
          </p:cNvPr>
          <p:cNvSpPr txBox="1"/>
          <p:nvPr/>
        </p:nvSpPr>
        <p:spPr>
          <a:xfrm>
            <a:off x="5943599" y="4498847"/>
            <a:ext cx="62701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78" name="Rectangle 24">
            <a:extLst>
              <a:ext uri="{FF2B5EF4-FFF2-40B4-BE49-F238E27FC236}">
                <a16:creationId xmlns:a16="http://schemas.microsoft.com/office/drawing/2014/main" id="{122A8E84-EDB2-4312-A030-F7751A26059A}"/>
              </a:ext>
            </a:extLst>
          </p:cNvPr>
          <p:cNvSpPr/>
          <p:nvPr/>
        </p:nvSpPr>
        <p:spPr>
          <a:xfrm>
            <a:off x="6570617" y="4498847"/>
            <a:ext cx="940525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D5A9E1-E656-4812-BD13-96035702C7AD}"/>
              </a:ext>
            </a:extLst>
          </p:cNvPr>
          <p:cNvSpPr txBox="1"/>
          <p:nvPr/>
        </p:nvSpPr>
        <p:spPr>
          <a:xfrm>
            <a:off x="6570617" y="4498847"/>
            <a:ext cx="94052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80" name="Rectangle 26">
            <a:extLst>
              <a:ext uri="{FF2B5EF4-FFF2-40B4-BE49-F238E27FC236}">
                <a16:creationId xmlns:a16="http://schemas.microsoft.com/office/drawing/2014/main" id="{61416EC3-8C89-4B11-98A6-65A6F822A217}"/>
              </a:ext>
            </a:extLst>
          </p:cNvPr>
          <p:cNvSpPr/>
          <p:nvPr/>
        </p:nvSpPr>
        <p:spPr>
          <a:xfrm>
            <a:off x="7511142" y="4498847"/>
            <a:ext cx="1149531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356E2B-CE2C-4BB8-8AAD-3800D74F360D}"/>
              </a:ext>
            </a:extLst>
          </p:cNvPr>
          <p:cNvSpPr txBox="1"/>
          <p:nvPr/>
        </p:nvSpPr>
        <p:spPr>
          <a:xfrm>
            <a:off x="7511142" y="4498847"/>
            <a:ext cx="114953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82" name="Rectangle 28">
            <a:extLst>
              <a:ext uri="{FF2B5EF4-FFF2-40B4-BE49-F238E27FC236}">
                <a16:creationId xmlns:a16="http://schemas.microsoft.com/office/drawing/2014/main" id="{C55CB344-EE9C-4DF2-BA81-9BC4F22C40EA}"/>
              </a:ext>
            </a:extLst>
          </p:cNvPr>
          <p:cNvSpPr/>
          <p:nvPr/>
        </p:nvSpPr>
        <p:spPr>
          <a:xfrm>
            <a:off x="8660674" y="4498847"/>
            <a:ext cx="3135085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75C3C8D-CB53-41B4-A026-6E64D6757D0E}"/>
              </a:ext>
            </a:extLst>
          </p:cNvPr>
          <p:cNvSpPr txBox="1"/>
          <p:nvPr/>
        </p:nvSpPr>
        <p:spPr>
          <a:xfrm>
            <a:off x="8660674" y="4498847"/>
            <a:ext cx="313508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A4A7DD6-2E23-4F14-85FB-1E093F424002}"/>
              </a:ext>
            </a:extLst>
          </p:cNvPr>
          <p:cNvSpPr txBox="1"/>
          <p:nvPr/>
        </p:nvSpPr>
        <p:spPr>
          <a:xfrm>
            <a:off x="4160520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1x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62DB6C-F52B-4E02-B319-D123CD1CB4E1}"/>
              </a:ext>
            </a:extLst>
          </p:cNvPr>
          <p:cNvSpPr txBox="1"/>
          <p:nvPr/>
        </p:nvSpPr>
        <p:spPr>
          <a:xfrm>
            <a:off x="5205548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1.5x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31445E8-667E-4527-9DF2-3E29C6A652F7}"/>
              </a:ext>
            </a:extLst>
          </p:cNvPr>
          <p:cNvSpPr txBox="1"/>
          <p:nvPr/>
        </p:nvSpPr>
        <p:spPr>
          <a:xfrm>
            <a:off x="6250577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29691BB-3609-47D2-ACBF-211BC930949A}"/>
              </a:ext>
            </a:extLst>
          </p:cNvPr>
          <p:cNvSpPr txBox="1"/>
          <p:nvPr/>
        </p:nvSpPr>
        <p:spPr>
          <a:xfrm>
            <a:off x="7295605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2.5x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731BAE4-020B-49BE-BBFD-2CA48D8DC0D8}"/>
              </a:ext>
            </a:extLst>
          </p:cNvPr>
          <p:cNvSpPr txBox="1"/>
          <p:nvPr/>
        </p:nvSpPr>
        <p:spPr>
          <a:xfrm>
            <a:off x="8340634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2CFF25B-38F2-4ADB-86F7-1A4EEBAEFDE3}"/>
              </a:ext>
            </a:extLst>
          </p:cNvPr>
          <p:cNvSpPr txBox="1"/>
          <p:nvPr/>
        </p:nvSpPr>
        <p:spPr>
          <a:xfrm>
            <a:off x="9385662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3.5x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761062F-C3D2-4821-A387-84A4227692C7}"/>
              </a:ext>
            </a:extLst>
          </p:cNvPr>
          <p:cNvSpPr txBox="1"/>
          <p:nvPr/>
        </p:nvSpPr>
        <p:spPr>
          <a:xfrm>
            <a:off x="10430691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4x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97E8F5-ADA4-4B2B-875C-2DC94B1D2872}"/>
              </a:ext>
            </a:extLst>
          </p:cNvPr>
          <p:cNvSpPr txBox="1"/>
          <p:nvPr/>
        </p:nvSpPr>
        <p:spPr>
          <a:xfrm>
            <a:off x="11475719" y="4773167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4.5x</a:t>
            </a:r>
          </a:p>
        </p:txBody>
      </p:sp>
      <p:cxnSp>
        <p:nvCxnSpPr>
          <p:cNvPr id="92" name="Connector 38">
            <a:extLst>
              <a:ext uri="{FF2B5EF4-FFF2-40B4-BE49-F238E27FC236}">
                <a16:creationId xmlns:a16="http://schemas.microsoft.com/office/drawing/2014/main" id="{811E7EBA-B3FC-48FD-9F0B-7931741200D5}"/>
              </a:ext>
            </a:extLst>
          </p:cNvPr>
          <p:cNvCxnSpPr/>
          <p:nvPr/>
        </p:nvCxnSpPr>
        <p:spPr>
          <a:xfrm>
            <a:off x="5379284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39">
            <a:extLst>
              <a:ext uri="{FF2B5EF4-FFF2-40B4-BE49-F238E27FC236}">
                <a16:creationId xmlns:a16="http://schemas.microsoft.com/office/drawing/2014/main" id="{92C2A4F3-ADED-4D84-8FD1-2CD651637FF6}"/>
              </a:ext>
            </a:extLst>
          </p:cNvPr>
          <p:cNvCxnSpPr/>
          <p:nvPr/>
        </p:nvCxnSpPr>
        <p:spPr>
          <a:xfrm>
            <a:off x="5943599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40">
            <a:extLst>
              <a:ext uri="{FF2B5EF4-FFF2-40B4-BE49-F238E27FC236}">
                <a16:creationId xmlns:a16="http://schemas.microsoft.com/office/drawing/2014/main" id="{71368D25-7128-4CA0-963C-6086B8C38165}"/>
              </a:ext>
            </a:extLst>
          </p:cNvPr>
          <p:cNvCxnSpPr/>
          <p:nvPr/>
        </p:nvCxnSpPr>
        <p:spPr>
          <a:xfrm>
            <a:off x="6570617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41">
            <a:extLst>
              <a:ext uri="{FF2B5EF4-FFF2-40B4-BE49-F238E27FC236}">
                <a16:creationId xmlns:a16="http://schemas.microsoft.com/office/drawing/2014/main" id="{B404E9BE-90C0-49D6-A640-2254789DDEF3}"/>
              </a:ext>
            </a:extLst>
          </p:cNvPr>
          <p:cNvCxnSpPr/>
          <p:nvPr/>
        </p:nvCxnSpPr>
        <p:spPr>
          <a:xfrm>
            <a:off x="7511142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42">
            <a:extLst>
              <a:ext uri="{FF2B5EF4-FFF2-40B4-BE49-F238E27FC236}">
                <a16:creationId xmlns:a16="http://schemas.microsoft.com/office/drawing/2014/main" id="{60E4943B-672D-4A12-A501-BB11EF4F9F76}"/>
              </a:ext>
            </a:extLst>
          </p:cNvPr>
          <p:cNvCxnSpPr/>
          <p:nvPr/>
        </p:nvCxnSpPr>
        <p:spPr>
          <a:xfrm>
            <a:off x="8660674" y="4910327"/>
            <a:ext cx="0" cy="97383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Diamond 43">
            <a:extLst>
              <a:ext uri="{FF2B5EF4-FFF2-40B4-BE49-F238E27FC236}">
                <a16:creationId xmlns:a16="http://schemas.microsoft.com/office/drawing/2014/main" id="{87CD50D4-CCBC-4887-85FC-9BDE5A0A4E37}"/>
              </a:ext>
            </a:extLst>
          </p:cNvPr>
          <p:cNvSpPr/>
          <p:nvPr/>
        </p:nvSpPr>
        <p:spPr>
          <a:xfrm>
            <a:off x="5319848" y="4962905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A8910B1-0248-4E5C-A704-5B55831DDEF5}"/>
              </a:ext>
            </a:extLst>
          </p:cNvPr>
          <p:cNvSpPr txBox="1"/>
          <p:nvPr/>
        </p:nvSpPr>
        <p:spPr>
          <a:xfrm>
            <a:off x="5452436" y="4928615"/>
            <a:ext cx="181508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Stakeholder: 체감 30% 감소 (r 1.43)</a:t>
            </a:r>
          </a:p>
        </p:txBody>
      </p:sp>
      <p:sp>
        <p:nvSpPr>
          <p:cNvPr id="99" name="Isosceles Triangle 45">
            <a:extLst>
              <a:ext uri="{FF2B5EF4-FFF2-40B4-BE49-F238E27FC236}">
                <a16:creationId xmlns:a16="http://schemas.microsoft.com/office/drawing/2014/main" id="{C67CD826-EEB3-47BB-94D7-80D7142EC559}"/>
              </a:ext>
            </a:extLst>
          </p:cNvPr>
          <p:cNvSpPr/>
          <p:nvPr/>
        </p:nvSpPr>
        <p:spPr>
          <a:xfrm>
            <a:off x="6714805" y="5154929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343C54F-6A94-448B-A787-7C35C3BD4F6A}"/>
              </a:ext>
            </a:extLst>
          </p:cNvPr>
          <p:cNvSpPr txBox="1"/>
          <p:nvPr/>
        </p:nvSpPr>
        <p:spPr>
          <a:xfrm>
            <a:off x="6847393" y="5116067"/>
            <a:ext cx="1463039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이론 B1(단순 offload) r 2.10</a:t>
            </a:r>
          </a:p>
        </p:txBody>
      </p:sp>
      <p:sp>
        <p:nvSpPr>
          <p:cNvPr id="101" name="Rectangle 47">
            <a:extLst>
              <a:ext uri="{FF2B5EF4-FFF2-40B4-BE49-F238E27FC236}">
                <a16:creationId xmlns:a16="http://schemas.microsoft.com/office/drawing/2014/main" id="{2EB3F49B-5B59-4998-8D07-E84FD008D538}"/>
              </a:ext>
            </a:extLst>
          </p:cNvPr>
          <p:cNvSpPr/>
          <p:nvPr/>
        </p:nvSpPr>
        <p:spPr>
          <a:xfrm>
            <a:off x="6570617" y="5360669"/>
            <a:ext cx="4180114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48">
            <a:extLst>
              <a:ext uri="{FF2B5EF4-FFF2-40B4-BE49-F238E27FC236}">
                <a16:creationId xmlns:a16="http://schemas.microsoft.com/office/drawing/2014/main" id="{0519B3B1-6B02-4B77-A979-92347A7BF827}"/>
              </a:ext>
            </a:extLst>
          </p:cNvPr>
          <p:cNvCxnSpPr/>
          <p:nvPr/>
        </p:nvCxnSpPr>
        <p:spPr>
          <a:xfrm>
            <a:off x="6570617" y="5333237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49">
            <a:extLst>
              <a:ext uri="{FF2B5EF4-FFF2-40B4-BE49-F238E27FC236}">
                <a16:creationId xmlns:a16="http://schemas.microsoft.com/office/drawing/2014/main" id="{8268C2A3-0D52-4E54-927B-5F9109FE39B3}"/>
              </a:ext>
            </a:extLst>
          </p:cNvPr>
          <p:cNvCxnSpPr/>
          <p:nvPr/>
        </p:nvCxnSpPr>
        <p:spPr>
          <a:xfrm>
            <a:off x="10750731" y="5333237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8A4A5BD5-3FD6-41EF-B015-684D6C202999}"/>
              </a:ext>
            </a:extLst>
          </p:cNvPr>
          <p:cNvSpPr txBox="1"/>
          <p:nvPr/>
        </p:nvSpPr>
        <p:spPr>
          <a:xfrm>
            <a:off x="4170444" y="5303519"/>
            <a:ext cx="2327021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579" b="0">
                <a:solidFill>
                  <a:srgbClr val="262626"/>
                </a:solidFill>
                <a:latin typeface="맑은 고딕"/>
                <a:ea typeface="맑은 고딕"/>
              </a:rPr>
              <a:t>LMCache E2E 지연 50~75% 감소 (r 2.0~4.0) = 경쟁 기술 수준</a:t>
            </a:r>
          </a:p>
        </p:txBody>
      </p:sp>
      <p:sp>
        <p:nvSpPr>
          <p:cNvPr id="105" name="Rectangle 51">
            <a:extLst>
              <a:ext uri="{FF2B5EF4-FFF2-40B4-BE49-F238E27FC236}">
                <a16:creationId xmlns:a16="http://schemas.microsoft.com/office/drawing/2014/main" id="{F4225683-24CC-4FA8-8104-D668E4C0C7C5}"/>
              </a:ext>
            </a:extLst>
          </p:cNvPr>
          <p:cNvSpPr/>
          <p:nvPr/>
        </p:nvSpPr>
        <p:spPr>
          <a:xfrm>
            <a:off x="7803750" y="5548121"/>
            <a:ext cx="2863378" cy="7315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6" name="Connector 52">
            <a:extLst>
              <a:ext uri="{FF2B5EF4-FFF2-40B4-BE49-F238E27FC236}">
                <a16:creationId xmlns:a16="http://schemas.microsoft.com/office/drawing/2014/main" id="{9B990F7C-1E7A-45C3-966D-F252CEEDAD4B}"/>
              </a:ext>
            </a:extLst>
          </p:cNvPr>
          <p:cNvCxnSpPr/>
          <p:nvPr/>
        </p:nvCxnSpPr>
        <p:spPr>
          <a:xfrm>
            <a:off x="7803750" y="5520689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>
            <a:extLst>
              <a:ext uri="{FF2B5EF4-FFF2-40B4-BE49-F238E27FC236}">
                <a16:creationId xmlns:a16="http://schemas.microsoft.com/office/drawing/2014/main" id="{322A5E77-EE86-4AF9-8510-01C1ECBAF621}"/>
              </a:ext>
            </a:extLst>
          </p:cNvPr>
          <p:cNvCxnSpPr/>
          <p:nvPr/>
        </p:nvCxnSpPr>
        <p:spPr>
          <a:xfrm>
            <a:off x="10667129" y="5520689"/>
            <a:ext cx="0" cy="128016"/>
          </a:xfrm>
          <a:prstGeom prst="line">
            <a:avLst/>
          </a:prstGeom>
          <a:ln w="1270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A9C9C6DC-4188-454E-A835-B1BDA0886BA9}"/>
              </a:ext>
            </a:extLst>
          </p:cNvPr>
          <p:cNvSpPr txBox="1"/>
          <p:nvPr/>
        </p:nvSpPr>
        <p:spPr>
          <a:xfrm>
            <a:off x="5042262" y="5490971"/>
            <a:ext cx="268833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LMCache 고 QPS TTFT 4.4~6.6x·ITL 34~58% → r 2.6~4.0</a:t>
            </a:r>
          </a:p>
        </p:txBody>
      </p:sp>
      <p:sp>
        <p:nvSpPr>
          <p:cNvPr id="109" name="Rectangle 55">
            <a:extLst>
              <a:ext uri="{FF2B5EF4-FFF2-40B4-BE49-F238E27FC236}">
                <a16:creationId xmlns:a16="http://schemas.microsoft.com/office/drawing/2014/main" id="{FEA096AB-D4B8-4114-BA42-77A6936288B3}"/>
              </a:ext>
            </a:extLst>
          </p:cNvPr>
          <p:cNvSpPr/>
          <p:nvPr/>
        </p:nvSpPr>
        <p:spPr>
          <a:xfrm>
            <a:off x="7406640" y="5735573"/>
            <a:ext cx="2633472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0" name="Connector 56">
            <a:extLst>
              <a:ext uri="{FF2B5EF4-FFF2-40B4-BE49-F238E27FC236}">
                <a16:creationId xmlns:a16="http://schemas.microsoft.com/office/drawing/2014/main" id="{9839BB68-3858-4F05-9F73-2C79DE92563D}"/>
              </a:ext>
            </a:extLst>
          </p:cNvPr>
          <p:cNvCxnSpPr/>
          <p:nvPr/>
        </p:nvCxnSpPr>
        <p:spPr>
          <a:xfrm>
            <a:off x="7406640" y="5708141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57">
            <a:extLst>
              <a:ext uri="{FF2B5EF4-FFF2-40B4-BE49-F238E27FC236}">
                <a16:creationId xmlns:a16="http://schemas.microsoft.com/office/drawing/2014/main" id="{45AD1691-7E20-4E39-8CED-E0AAA3F5F706}"/>
              </a:ext>
            </a:extLst>
          </p:cNvPr>
          <p:cNvCxnSpPr/>
          <p:nvPr/>
        </p:nvCxnSpPr>
        <p:spPr>
          <a:xfrm>
            <a:off x="10040112" y="5708141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31A276C-D459-400C-BE0E-A618559E6EE3}"/>
              </a:ext>
            </a:extLst>
          </p:cNvPr>
          <p:cNvSpPr txBox="1"/>
          <p:nvPr/>
        </p:nvSpPr>
        <p:spPr>
          <a:xfrm>
            <a:off x="4478274" y="5678423"/>
            <a:ext cx="285521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619" b="0">
                <a:solidFill>
                  <a:srgbClr val="262626"/>
                </a:solidFill>
                <a:latin typeface="맑은 고딕"/>
                <a:ea typeface="맑은 고딕"/>
              </a:rPr>
              <a:t>★3 근거: 경쟁 r 2.0 × offload 대비 문헌 개선 1.2~1.83x = 2.4~3.7</a:t>
            </a:r>
          </a:p>
        </p:txBody>
      </p:sp>
      <p:sp>
        <p:nvSpPr>
          <p:cNvPr id="113" name="Oval 59">
            <a:extLst>
              <a:ext uri="{FF2B5EF4-FFF2-40B4-BE49-F238E27FC236}">
                <a16:creationId xmlns:a16="http://schemas.microsoft.com/office/drawing/2014/main" id="{1629FE66-2E48-47C1-8A1F-24B6ED602E4C}"/>
              </a:ext>
            </a:extLst>
          </p:cNvPr>
          <p:cNvSpPr/>
          <p:nvPr/>
        </p:nvSpPr>
        <p:spPr>
          <a:xfrm>
            <a:off x="4453127" y="5952743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C0D62B7-DC64-4C27-B56A-079E86D65E6A}"/>
              </a:ext>
            </a:extLst>
          </p:cNvPr>
          <p:cNvSpPr txBox="1"/>
          <p:nvPr/>
        </p:nvSpPr>
        <p:spPr>
          <a:xfrm>
            <a:off x="4571999" y="5911595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115" name="Diamond 61">
            <a:extLst>
              <a:ext uri="{FF2B5EF4-FFF2-40B4-BE49-F238E27FC236}">
                <a16:creationId xmlns:a16="http://schemas.microsoft.com/office/drawing/2014/main" id="{BC5B2478-3521-4383-AC75-F55336C80652}"/>
              </a:ext>
            </a:extLst>
          </p:cNvPr>
          <p:cNvSpPr/>
          <p:nvPr/>
        </p:nvSpPr>
        <p:spPr>
          <a:xfrm>
            <a:off x="5608828" y="5952743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A1838CF-E704-455A-906E-C33DDE1D249D}"/>
              </a:ext>
            </a:extLst>
          </p:cNvPr>
          <p:cNvSpPr txBox="1"/>
          <p:nvPr/>
        </p:nvSpPr>
        <p:spPr>
          <a:xfrm>
            <a:off x="5727700" y="5911595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117" name="Isosceles Triangle 63">
            <a:extLst>
              <a:ext uri="{FF2B5EF4-FFF2-40B4-BE49-F238E27FC236}">
                <a16:creationId xmlns:a16="http://schemas.microsoft.com/office/drawing/2014/main" id="{CC2FD78B-50A2-4F0A-BB95-B0F4592C95C0}"/>
              </a:ext>
            </a:extLst>
          </p:cNvPr>
          <p:cNvSpPr/>
          <p:nvPr/>
        </p:nvSpPr>
        <p:spPr>
          <a:xfrm>
            <a:off x="7097903" y="5952743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00CE091B-10A4-4013-B604-572904CA1723}"/>
              </a:ext>
            </a:extLst>
          </p:cNvPr>
          <p:cNvSpPr txBox="1"/>
          <p:nvPr/>
        </p:nvSpPr>
        <p:spPr>
          <a:xfrm>
            <a:off x="7216775" y="5911595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119" name="Oval 65">
            <a:extLst>
              <a:ext uri="{FF2B5EF4-FFF2-40B4-BE49-F238E27FC236}">
                <a16:creationId xmlns:a16="http://schemas.microsoft.com/office/drawing/2014/main" id="{AF35A976-4C5D-490C-A610-A340B2D1C58F}"/>
              </a:ext>
            </a:extLst>
          </p:cNvPr>
          <p:cNvSpPr/>
          <p:nvPr/>
        </p:nvSpPr>
        <p:spPr>
          <a:xfrm>
            <a:off x="7822438" y="595274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EEC5ADE-BD7E-40CF-A66C-C19CCD2C775D}"/>
              </a:ext>
            </a:extLst>
          </p:cNvPr>
          <p:cNvSpPr txBox="1"/>
          <p:nvPr/>
        </p:nvSpPr>
        <p:spPr>
          <a:xfrm>
            <a:off x="7941310" y="5911595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7B0AB69-83BF-4333-807F-F3B2E428C7E7}"/>
              </a:ext>
            </a:extLst>
          </p:cNvPr>
          <p:cNvSpPr txBox="1"/>
          <p:nvPr/>
        </p:nvSpPr>
        <p:spPr>
          <a:xfrm>
            <a:off x="365760" y="4279392"/>
            <a:ext cx="3931920" cy="4572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P99의 의미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000000"/>
                </a:solidFill>
                <a:latin typeface="맑은 고딕"/>
                <a:ea typeface="맑은 고딕"/>
              </a:rPr>
              <a:t>상위 1%의 극단적 지연을 포착해 고부하 서비스 끊김을 검증</a:t>
            </a:r>
          </a:p>
        </p:txBody>
      </p:sp>
    </p:spTree>
    <p:extLst>
      <p:ext uri="{BB962C8B-B14F-4D97-AF65-F5344CB8AC3E}">
        <p14:creationId xmlns:p14="http://schemas.microsoft.com/office/powerpoint/2010/main" val="19415386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SLO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TTFT 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첫 토큰 생성 시간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), TPOT (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출력 토큰 당 생성 시간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endParaRPr lang="en-US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실행 단추: 뒤로 또는 이전 14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ule">
            <a:extLst>
              <a:ext uri="{FF2B5EF4-FFF2-40B4-BE49-F238E27FC236}">
                <a16:creationId xmlns:a16="http://schemas.microsoft.com/office/drawing/2014/main" id="{E59FBD5E-EE7A-4E5C-B30A-B3580FC7AC4A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rc">
            <a:extLst>
              <a:ext uri="{FF2B5EF4-FFF2-40B4-BE49-F238E27FC236}">
                <a16:creationId xmlns:a16="http://schemas.microsoft.com/office/drawing/2014/main" id="{FEA960A6-A515-43A7-BDBC-1B6B4BB6076E}"/>
              </a:ext>
            </a:extLst>
          </p:cNvPr>
          <p:cNvSpPr txBox="1"/>
          <p:nvPr/>
        </p:nvSpPr>
        <p:spPr>
          <a:xfrm>
            <a:off x="365760" y="6601968"/>
            <a:ext cx="11430000" cy="20116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>
                <a:solidFill>
                  <a:srgbClr val="404040"/>
                </a:solidFill>
                <a:latin typeface="맑은 고딕"/>
                <a:ea typeface="맑은 고딕"/>
              </a:rPr>
              <a:t>출처: 공통 SLO 기준 · MLPerf Inference(2차) · Brysbaert 2019. 계산: 가중치 141 GB, H100×8 3.35 TB/s·989 TFLOPS, B200×8 8 TB/s, MFU 0.45. 하한은 attention 2차 항·통신·커널 제외</a:t>
            </a:r>
          </a:p>
        </p:txBody>
      </p:sp>
      <p:graphicFrame>
        <p:nvGraphicFramePr>
          <p:cNvPr id="11" name="tbl">
            <a:extLst>
              <a:ext uri="{FF2B5EF4-FFF2-40B4-BE49-F238E27FC236}">
                <a16:creationId xmlns:a16="http://schemas.microsoft.com/office/drawing/2014/main" id="{61E826B9-5804-4A38-B35A-8FE9A0FE6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923469"/>
              </p:ext>
            </p:extLst>
          </p:nvPr>
        </p:nvGraphicFramePr>
        <p:xfrm>
          <a:off x="365760" y="1143000"/>
          <a:ext cx="11457432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6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Metric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정의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절대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SLO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</a:t>
                      </a:r>
                      <a:r>
                        <a:rPr sz="10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계산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(Time To First Token, 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첫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토큰까지의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도착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→ 첫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수신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큐잉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+ prefill +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시) KV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복원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포함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TTFT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 s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Llama-2-70B 8K prefill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이론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0.32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초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(H100×8, MFU 0.45)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6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큐잉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여유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). 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Llama-2-70B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표준 시나리오와 같은 자릿수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
(</a:t>
                      </a:r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Time Per Output Token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토큰당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요청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E2E − TTFT) ÷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토큰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수 − 1)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TPOT ≤ 50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ms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50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= 20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tok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/s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는 성인 묵독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5~6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tok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/s)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의 약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3.5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배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. </a:t>
                      </a:r>
                    </a:p>
                    <a:p>
                      <a:pPr marL="171450" indent="-1714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MLPerf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interactive 40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와 표준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200 </a:t>
                      </a:r>
                      <a:r>
                        <a:rPr lang="en-US" altLang="ko-KR" sz="900" b="0" dirty="0" err="1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ms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사이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D5FE9B3-BF2D-44CF-B718-9F3072B02E73}"/>
              </a:ext>
            </a:extLst>
          </p:cNvPr>
          <p:cNvSpPr txBox="1"/>
          <p:nvPr/>
        </p:nvSpPr>
        <p:spPr>
          <a:xfrm>
            <a:off x="365760" y="3429000"/>
            <a:ext cx="11430000" cy="153888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SLO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대비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이론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예산</a:t>
            </a:r>
            <a:endParaRPr sz="10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278E5-BB18-4974-B0BD-F991EAA876BF}"/>
              </a:ext>
            </a:extLst>
          </p:cNvPr>
          <p:cNvSpPr txBox="1"/>
          <p:nvPr/>
        </p:nvSpPr>
        <p:spPr>
          <a:xfrm>
            <a:off x="365760" y="3721608"/>
            <a:ext cx="5486400" cy="18288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TTFT 예산 (s)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C486218D-3A70-45F4-BAD1-BB3EBFC96FF7}"/>
              </a:ext>
            </a:extLst>
          </p:cNvPr>
          <p:cNvSpPr/>
          <p:nvPr/>
        </p:nvSpPr>
        <p:spPr>
          <a:xfrm>
            <a:off x="384048" y="3977640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9">
            <a:extLst>
              <a:ext uri="{FF2B5EF4-FFF2-40B4-BE49-F238E27FC236}">
                <a16:creationId xmlns:a16="http://schemas.microsoft.com/office/drawing/2014/main" id="{448E2D13-1A37-4762-A3A9-E36980174E64}"/>
              </a:ext>
            </a:extLst>
          </p:cNvPr>
          <p:cNvSpPr/>
          <p:nvPr/>
        </p:nvSpPr>
        <p:spPr>
          <a:xfrm>
            <a:off x="384048" y="4242816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20">
            <a:extLst>
              <a:ext uri="{FF2B5EF4-FFF2-40B4-BE49-F238E27FC236}">
                <a16:creationId xmlns:a16="http://schemas.microsoft.com/office/drawing/2014/main" id="{8E1C46ED-2EF8-4BFB-ABCC-6E701043BBEB}"/>
              </a:ext>
            </a:extLst>
          </p:cNvPr>
          <p:cNvSpPr/>
          <p:nvPr/>
        </p:nvSpPr>
        <p:spPr>
          <a:xfrm>
            <a:off x="384048" y="3977640"/>
            <a:ext cx="726643" cy="219456"/>
          </a:xfrm>
          <a:prstGeom prst="rect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CE4240-562F-486D-A625-8AC850E078A8}"/>
              </a:ext>
            </a:extLst>
          </p:cNvPr>
          <p:cNvSpPr txBox="1"/>
          <p:nvPr/>
        </p:nvSpPr>
        <p:spPr>
          <a:xfrm>
            <a:off x="384048" y="3977640"/>
            <a:ext cx="726643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8K 0.32 s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2DEAA1DF-2D76-4C5B-9516-4F15AFF7C78C}"/>
              </a:ext>
            </a:extLst>
          </p:cNvPr>
          <p:cNvSpPr/>
          <p:nvPr/>
        </p:nvSpPr>
        <p:spPr>
          <a:xfrm>
            <a:off x="384048" y="4242816"/>
            <a:ext cx="1475994" cy="219456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208C78-8E4E-4977-A4EE-E462B18B3DF0}"/>
              </a:ext>
            </a:extLst>
          </p:cNvPr>
          <p:cNvSpPr txBox="1"/>
          <p:nvPr/>
        </p:nvSpPr>
        <p:spPr>
          <a:xfrm>
            <a:off x="384048" y="4242816"/>
            <a:ext cx="1475994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16K 0.65 s</a:t>
            </a:r>
          </a:p>
        </p:txBody>
      </p:sp>
      <p:cxnSp>
        <p:nvCxnSpPr>
          <p:cNvPr id="21" name="Connector 24">
            <a:extLst>
              <a:ext uri="{FF2B5EF4-FFF2-40B4-BE49-F238E27FC236}">
                <a16:creationId xmlns:a16="http://schemas.microsoft.com/office/drawing/2014/main" id="{C2A9EF91-95AC-48FE-A3CF-D27A6F9930BC}"/>
              </a:ext>
            </a:extLst>
          </p:cNvPr>
          <p:cNvCxnSpPr/>
          <p:nvPr/>
        </p:nvCxnSpPr>
        <p:spPr>
          <a:xfrm>
            <a:off x="4925568" y="3941064"/>
            <a:ext cx="0" cy="566928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99006-59A5-45E0-8612-A37EABB261DA}"/>
              </a:ext>
            </a:extLst>
          </p:cNvPr>
          <p:cNvSpPr txBox="1"/>
          <p:nvPr/>
        </p:nvSpPr>
        <p:spPr>
          <a:xfrm>
            <a:off x="3645408" y="3721608"/>
            <a:ext cx="126187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맑은 고딕"/>
                <a:ea typeface="맑은 고딕"/>
              </a:rPr>
              <a:t>SLO 2 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1FB2D7-DEA5-4AC8-8441-4111C977C3DC}"/>
              </a:ext>
            </a:extLst>
          </p:cNvPr>
          <p:cNvSpPr txBox="1"/>
          <p:nvPr/>
        </p:nvSpPr>
        <p:spPr>
          <a:xfrm>
            <a:off x="384048" y="4526280"/>
            <a:ext cx="5449824" cy="345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8K·16K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입력의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재계산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prefill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시간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. </a:t>
            </a:r>
            <a:endParaRPr lang="en-US" sz="800" b="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남는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시간이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큐잉</a:t>
            </a:r>
            <a:r>
              <a:rPr lang="en-US" sz="800" b="0" dirty="0">
                <a:solidFill>
                  <a:srgbClr val="404040"/>
                </a:solidFill>
                <a:latin typeface="맑은 고딕"/>
                <a:ea typeface="맑은 고딕"/>
              </a:rPr>
              <a:t>. 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KV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복원</a:t>
            </a:r>
            <a:r>
              <a:rPr lang="en-US" sz="80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결정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지연의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b="0" dirty="0" err="1">
                <a:solidFill>
                  <a:srgbClr val="404040"/>
                </a:solidFill>
                <a:latin typeface="맑은 고딕"/>
                <a:ea typeface="맑은 고딕"/>
              </a:rPr>
              <a:t>예산이다</a:t>
            </a:r>
            <a:r>
              <a:rPr sz="800" b="0" dirty="0">
                <a:solidFill>
                  <a:srgbClr val="404040"/>
                </a:solidFill>
                <a:latin typeface="맑은 고딕"/>
                <a:ea typeface="맑은 고딕"/>
              </a:rPr>
              <a:t>(16K에서 1.35 s).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FF2907-E258-464E-8ADA-7F7E91B92780}"/>
              </a:ext>
            </a:extLst>
          </p:cNvPr>
          <p:cNvSpPr txBox="1"/>
          <p:nvPr/>
        </p:nvSpPr>
        <p:spPr>
          <a:xfrm>
            <a:off x="6309360" y="3721608"/>
            <a:ext cx="5486400" cy="182880"/>
          </a:xfrm>
          <a:prstGeom prst="rect">
            <a:avLst/>
          </a:prstGeom>
          <a:noFill/>
        </p:spPr>
        <p:txBody>
          <a:bodyPr wrap="square" lIns="18288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5597"/>
                </a:solidFill>
                <a:latin typeface="맑은 고딕"/>
                <a:ea typeface="맑은 고딕"/>
              </a:rPr>
              <a:t>TPOT 예산 (ms, H100×8)</a:t>
            </a: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88E0ABA9-B50E-455B-AEF5-5DDFD3E091F5}"/>
              </a:ext>
            </a:extLst>
          </p:cNvPr>
          <p:cNvSpPr/>
          <p:nvPr/>
        </p:nvSpPr>
        <p:spPr>
          <a:xfrm>
            <a:off x="6327648" y="3977640"/>
            <a:ext cx="5449824" cy="219456"/>
          </a:xfrm>
          <a:prstGeom prst="rect">
            <a:avLst/>
          </a:prstGeom>
          <a:solidFill>
            <a:srgbClr val="F2F2F2"/>
          </a:solidFill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379D6F04-DABE-48E0-9941-00D1EE8299AA}"/>
              </a:ext>
            </a:extLst>
          </p:cNvPr>
          <p:cNvSpPr/>
          <p:nvPr/>
        </p:nvSpPr>
        <p:spPr>
          <a:xfrm>
            <a:off x="6327648" y="3977640"/>
            <a:ext cx="481401" cy="219456"/>
          </a:xfrm>
          <a:prstGeom prst="rect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2B3F4F-2BFC-4D17-A136-A27B746B4B5F}"/>
              </a:ext>
            </a:extLst>
          </p:cNvPr>
          <p:cNvSpPr txBox="1"/>
          <p:nvPr/>
        </p:nvSpPr>
        <p:spPr>
          <a:xfrm>
            <a:off x="6327648" y="3977640"/>
            <a:ext cx="481401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가중치 5.3</a:t>
            </a:r>
          </a:p>
        </p:txBody>
      </p:sp>
      <p:sp>
        <p:nvSpPr>
          <p:cNvPr id="28" name="Rectangle 31">
            <a:extLst>
              <a:ext uri="{FF2B5EF4-FFF2-40B4-BE49-F238E27FC236}">
                <a16:creationId xmlns:a16="http://schemas.microsoft.com/office/drawing/2014/main" id="{2CB326B8-B33C-4C77-AF82-5217DF4EA611}"/>
              </a:ext>
            </a:extLst>
          </p:cNvPr>
          <p:cNvSpPr/>
          <p:nvPr/>
        </p:nvSpPr>
        <p:spPr>
          <a:xfrm>
            <a:off x="6809049" y="3977640"/>
            <a:ext cx="1162629" cy="219456"/>
          </a:xfrm>
          <a:prstGeom prst="rect">
            <a:avLst/>
          </a:prstGeom>
          <a:solidFill>
            <a:srgbClr val="7F7F7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583321-FD48-4339-816D-7A0ACB07D38A}"/>
              </a:ext>
            </a:extLst>
          </p:cNvPr>
          <p:cNvSpPr txBox="1"/>
          <p:nvPr/>
        </p:nvSpPr>
        <p:spPr>
          <a:xfrm>
            <a:off x="6809049" y="3977640"/>
            <a:ext cx="1162629" cy="21945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0">
                <a:solidFill>
                  <a:srgbClr val="FFFFFF"/>
                </a:solidFill>
                <a:latin typeface="맑은 고딕"/>
                <a:ea typeface="맑은 고딕"/>
              </a:rPr>
              <a:t>KV 12.8 (batch 64, 16K)</a:t>
            </a:r>
          </a:p>
        </p:txBody>
      </p:sp>
      <p:cxnSp>
        <p:nvCxnSpPr>
          <p:cNvPr id="30" name="Connector 33">
            <a:extLst>
              <a:ext uri="{FF2B5EF4-FFF2-40B4-BE49-F238E27FC236}">
                <a16:creationId xmlns:a16="http://schemas.microsoft.com/office/drawing/2014/main" id="{117EC746-61C3-4A96-A816-50CEBAC69E3F}"/>
              </a:ext>
            </a:extLst>
          </p:cNvPr>
          <p:cNvCxnSpPr/>
          <p:nvPr/>
        </p:nvCxnSpPr>
        <p:spPr>
          <a:xfrm>
            <a:off x="10869168" y="3941064"/>
            <a:ext cx="0" cy="301752"/>
          </a:xfrm>
          <a:prstGeom prst="line">
            <a:avLst/>
          </a:prstGeom>
          <a:ln w="222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0E05A3D-FC19-434D-80AD-B642EB0B281F}"/>
              </a:ext>
            </a:extLst>
          </p:cNvPr>
          <p:cNvSpPr txBox="1"/>
          <p:nvPr/>
        </p:nvSpPr>
        <p:spPr>
          <a:xfrm>
            <a:off x="9589008" y="3721608"/>
            <a:ext cx="1261872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C00000"/>
                </a:solidFill>
                <a:latin typeface="맑은 고딕"/>
                <a:ea typeface="맑은 고딕"/>
              </a:rPr>
              <a:t>SLO 50 ms</a:t>
            </a:r>
          </a:p>
        </p:txBody>
      </p:sp>
    </p:spTree>
    <p:extLst>
      <p:ext uri="{BB962C8B-B14F-4D97-AF65-F5344CB8AC3E}">
        <p14:creationId xmlns:p14="http://schemas.microsoft.com/office/powerpoint/2010/main" val="4450025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시스템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확장성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3" name="subtitle"/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시스템 및 자원의 증가분 대비 처리량의 증가분 비율 </a:t>
            </a:r>
            <a:endParaRPr lang="en-US" altLang="ko-KR"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4" name="rule"/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32653FD5-C1D3-455C-A719-4E31D24F5B29}"/>
              </a:ext>
            </a:extLst>
          </p:cNvPr>
          <p:cNvSpPr txBox="1"/>
          <p:nvPr/>
        </p:nvSpPr>
        <p:spPr>
          <a:xfrm>
            <a:off x="365760" y="1079932"/>
            <a:ext cx="11430000" cy="87985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>
              <a:lnSpc>
                <a:spcPct val="150000"/>
              </a:lnSpc>
              <a:spcAft>
                <a:spcPts val="250"/>
              </a:spcAft>
            </a:pP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[Metric] </a:t>
            </a:r>
            <a:r>
              <a:rPr lang="pt-BR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SE(N) = Goodput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증가 배율 </a:t>
            </a:r>
            <a:r>
              <a:rPr lang="pt-BR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÷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N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 증가 배율 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(N = </a:t>
            </a:r>
            <a:r>
              <a:rPr lang="ko-KR" altLang="en-US" sz="1100" b="1" dirty="0">
                <a:solidFill>
                  <a:srgbClr val="2F5597"/>
                </a:solidFill>
                <a:latin typeface="맑은 고딕"/>
                <a:ea typeface="맑은 고딕"/>
              </a:rPr>
              <a:t>노드 수</a:t>
            </a:r>
            <a:r>
              <a:rPr lang="en-US" altLang="ko-KR" sz="1100" b="1" dirty="0">
                <a:solidFill>
                  <a:srgbClr val="2F5597"/>
                </a:solidFill>
                <a:latin typeface="맑은 고딕"/>
                <a:ea typeface="맑은 고딕"/>
              </a:rPr>
              <a:t>) </a:t>
            </a: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USL (</a:t>
            </a:r>
            <a:r>
              <a:rPr lang="en-US" altLang="ko-KR" sz="1100" dirty="0"/>
              <a:t>Universal Scalability Law)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환산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: SE(N) = 1 ÷ (1 + σ(N−1)), σ = 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조율 계층의 직렬 비중으로 경합을 나타내는 상수 </a:t>
            </a:r>
            <a:endParaRPr lang="en-US" altLang="ko-KR" sz="110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marL="171450" indent="-171450">
              <a:lnSpc>
                <a:spcPct val="150000"/>
              </a:lnSpc>
              <a:spcAft>
                <a:spcPts val="250"/>
              </a:spcAft>
              <a:buFontTx/>
              <a:buChar char="-"/>
            </a:pP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N=16</a:t>
            </a:r>
            <a:r>
              <a:rPr lang="ko-KR" altLang="en-US" sz="1100" dirty="0">
                <a:solidFill>
                  <a:srgbClr val="404040"/>
                </a:solidFill>
                <a:latin typeface="맑은 고딕"/>
                <a:ea typeface="맑은 고딕"/>
              </a:rPr>
              <a:t>에서 </a:t>
            </a:r>
            <a:r>
              <a:rPr lang="en-US" altLang="ko-KR" sz="1100" dirty="0">
                <a:solidFill>
                  <a:srgbClr val="404040"/>
                </a:solidFill>
                <a:latin typeface="맑은 고딕"/>
                <a:ea typeface="맑은 고딕"/>
              </a:rPr>
              <a:t>SE 80%↔σ 1.67%, 85%↔1.18%, 90%↔0.74%, 92.5%↔0.54%, 95%↔0.35%</a:t>
            </a: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src">
            <a:extLst>
              <a:ext uri="{FF2B5EF4-FFF2-40B4-BE49-F238E27FC236}">
                <a16:creationId xmlns:a16="http://schemas.microsoft.com/office/drawing/2014/main" id="{279BDC2E-7BCC-469E-9B8A-5D559AB8CEDC}"/>
              </a:ext>
            </a:extLst>
          </p:cNvPr>
          <p:cNvSpPr txBox="1"/>
          <p:nvPr/>
        </p:nvSpPr>
        <p:spPr>
          <a:xfrm>
            <a:off x="365760" y="6601968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AthenaK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2409.16053,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학습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workload)</a:t>
            </a:r>
          </a:p>
        </p:txBody>
      </p:sp>
      <p:graphicFrame>
        <p:nvGraphicFramePr>
          <p:cNvPr id="12" name="tbl">
            <a:extLst>
              <a:ext uri="{FF2B5EF4-FFF2-40B4-BE49-F238E27FC236}">
                <a16:creationId xmlns:a16="http://schemas.microsoft.com/office/drawing/2014/main" id="{DBB9741B-8C8D-4124-9243-59E5F9156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298325"/>
              </p:ext>
            </p:extLst>
          </p:nvPr>
        </p:nvGraphicFramePr>
        <p:xfrm>
          <a:off x="365760" y="2063115"/>
          <a:ext cx="11457432" cy="21610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기준 (정량)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≥ 95%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위의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우리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간 KV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공유</a:t>
                      </a:r>
                      <a:r>
                        <a:rPr lang="en-US"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계층을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두고도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5%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(16노드에서 15.2노드분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). </a:t>
                      </a:r>
                      <a:endParaRPr lang="en-US"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직렬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비중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σ ≤ 0.35%(USL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선택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USL 환산 / 정책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92.5 ≤ SE &lt; 95%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7.5%)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90 ≤ SE &lt; 92.5%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경쟁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기술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수준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처리량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(16노드에서 14.4노드분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), '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효율적'이라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부르는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관례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endParaRPr lang="en-US"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독립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단순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offloading은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비용이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SE 98%지만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노드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간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공유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이득이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없다</a:t>
                      </a:r>
                      <a:endParaRPr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정책 선택, 이론 계산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85 ≤ SE &lt; 90%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손실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15%)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80 ≤ SE &lt; 85%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SE &gt; 80%. </a:t>
                      </a:r>
                      <a:endParaRPr lang="en-US" sz="83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문헌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65,536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GPU에서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병렬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효율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80%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보고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AthenaK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학습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workload라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서빙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의미가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  <a:r>
                        <a:rPr sz="83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Stakeholder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요구사항</a:t>
                      </a:r>
                      <a:r>
                        <a:rPr lang="en-US"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2409.16053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</a:pPr>
                      <a:r>
                        <a:rPr sz="83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SE &lt; 80%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확장은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되지만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조율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계층이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병목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.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시나리오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요구</a:t>
                      </a: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(80%) </a:t>
                      </a:r>
                      <a:r>
                        <a:rPr sz="83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  <a:endParaRPr sz="83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83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2E0AB72-070F-4E2F-B435-E2183B17CD99}"/>
              </a:ext>
            </a:extLst>
          </p:cNvPr>
          <p:cNvSpPr txBox="1"/>
          <p:nvPr/>
        </p:nvSpPr>
        <p:spPr>
          <a:xfrm>
            <a:off x="365760" y="4553712"/>
            <a:ext cx="11430000" cy="219456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2F5597"/>
                </a:solidFill>
                <a:latin typeface="맑은 고딕"/>
                <a:ea typeface="맑은 고딕"/>
              </a:rPr>
              <a:t>구간 대비 근거 위치 (SE %, N=16)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6E57F761-B97A-4210-BEB9-6F5F783A983C}"/>
              </a:ext>
            </a:extLst>
          </p:cNvPr>
          <p:cNvSpPr/>
          <p:nvPr/>
        </p:nvSpPr>
        <p:spPr>
          <a:xfrm>
            <a:off x="411480" y="4791456"/>
            <a:ext cx="6803136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E390A4-8382-4E46-9FE6-2A461A948C1C}"/>
              </a:ext>
            </a:extLst>
          </p:cNvPr>
          <p:cNvSpPr txBox="1"/>
          <p:nvPr/>
        </p:nvSpPr>
        <p:spPr>
          <a:xfrm>
            <a:off x="411480" y="4791456"/>
            <a:ext cx="680313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F053D9A3-46D7-4788-9C89-FF50130A7A8B}"/>
              </a:ext>
            </a:extLst>
          </p:cNvPr>
          <p:cNvSpPr/>
          <p:nvPr/>
        </p:nvSpPr>
        <p:spPr>
          <a:xfrm>
            <a:off x="7214616" y="4791456"/>
            <a:ext cx="1133855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0828D8-EEA8-4F0A-A64C-D6E0B94603FA}"/>
              </a:ext>
            </a:extLst>
          </p:cNvPr>
          <p:cNvSpPr txBox="1"/>
          <p:nvPr/>
        </p:nvSpPr>
        <p:spPr>
          <a:xfrm>
            <a:off x="7214616" y="4791456"/>
            <a:ext cx="1133855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C5ECBAB7-9B59-4AD0-A418-6C48A9902FDD}"/>
              </a:ext>
            </a:extLst>
          </p:cNvPr>
          <p:cNvSpPr/>
          <p:nvPr/>
        </p:nvSpPr>
        <p:spPr>
          <a:xfrm>
            <a:off x="8348471" y="4791456"/>
            <a:ext cx="1133856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A59F5-1BB2-409C-8443-86FB2C72A0F8}"/>
              </a:ext>
            </a:extLst>
          </p:cNvPr>
          <p:cNvSpPr txBox="1"/>
          <p:nvPr/>
        </p:nvSpPr>
        <p:spPr>
          <a:xfrm>
            <a:off x="8348471" y="4791456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63A5A81A-B1E1-474E-8CE0-DD8949C69A24}"/>
              </a:ext>
            </a:extLst>
          </p:cNvPr>
          <p:cNvSpPr/>
          <p:nvPr/>
        </p:nvSpPr>
        <p:spPr>
          <a:xfrm>
            <a:off x="9482328" y="4791456"/>
            <a:ext cx="566927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BB1A6F-F55A-4EF9-87C5-71C12CE1D443}"/>
              </a:ext>
            </a:extLst>
          </p:cNvPr>
          <p:cNvSpPr txBox="1"/>
          <p:nvPr/>
        </p:nvSpPr>
        <p:spPr>
          <a:xfrm>
            <a:off x="9482328" y="4791456"/>
            <a:ext cx="56692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673F0576-47ED-498B-AFA7-E97DF114DE14}"/>
              </a:ext>
            </a:extLst>
          </p:cNvPr>
          <p:cNvSpPr/>
          <p:nvPr/>
        </p:nvSpPr>
        <p:spPr>
          <a:xfrm>
            <a:off x="10049255" y="4791456"/>
            <a:ext cx="566928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1BAC79-80DF-4827-8894-FB0D09BAB026}"/>
              </a:ext>
            </a:extLst>
          </p:cNvPr>
          <p:cNvSpPr txBox="1"/>
          <p:nvPr/>
        </p:nvSpPr>
        <p:spPr>
          <a:xfrm>
            <a:off x="10049255" y="4791456"/>
            <a:ext cx="56692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612A4E54-6A39-4CFF-97D1-26EC447120FB}"/>
              </a:ext>
            </a:extLst>
          </p:cNvPr>
          <p:cNvSpPr/>
          <p:nvPr/>
        </p:nvSpPr>
        <p:spPr>
          <a:xfrm>
            <a:off x="10616184" y="4791456"/>
            <a:ext cx="1133856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51F052-3617-4A53-B79B-95A677D797EF}"/>
              </a:ext>
            </a:extLst>
          </p:cNvPr>
          <p:cNvSpPr txBox="1"/>
          <p:nvPr/>
        </p:nvSpPr>
        <p:spPr>
          <a:xfrm>
            <a:off x="10616184" y="4791456"/>
            <a:ext cx="1133856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070F94-65CA-4BFD-8DE9-661FA4537E35}"/>
              </a:ext>
            </a:extLst>
          </p:cNvPr>
          <p:cNvSpPr txBox="1"/>
          <p:nvPr/>
        </p:nvSpPr>
        <p:spPr>
          <a:xfrm>
            <a:off x="2359152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60%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28C2D3-72BA-4C10-8977-684D12972C45}"/>
              </a:ext>
            </a:extLst>
          </p:cNvPr>
          <p:cNvSpPr txBox="1"/>
          <p:nvPr/>
        </p:nvSpPr>
        <p:spPr>
          <a:xfrm>
            <a:off x="4626864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70%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3D44E9-8A4D-4B6B-85FE-6EE03045BD62}"/>
              </a:ext>
            </a:extLst>
          </p:cNvPr>
          <p:cNvSpPr txBox="1"/>
          <p:nvPr/>
        </p:nvSpPr>
        <p:spPr>
          <a:xfrm>
            <a:off x="6894576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80%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C96242-A528-4886-90FB-BD9D6EF77CC3}"/>
              </a:ext>
            </a:extLst>
          </p:cNvPr>
          <p:cNvSpPr txBox="1"/>
          <p:nvPr/>
        </p:nvSpPr>
        <p:spPr>
          <a:xfrm>
            <a:off x="9162288" y="5065776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90%</a:t>
            </a:r>
          </a:p>
        </p:txBody>
      </p:sp>
      <p:cxnSp>
        <p:nvCxnSpPr>
          <p:cNvPr id="30" name="Connector 32">
            <a:extLst>
              <a:ext uri="{FF2B5EF4-FFF2-40B4-BE49-F238E27FC236}">
                <a16:creationId xmlns:a16="http://schemas.microsoft.com/office/drawing/2014/main" id="{3FBA99BE-B9A7-4A26-88EC-342AD7E69552}"/>
              </a:ext>
            </a:extLst>
          </p:cNvPr>
          <p:cNvCxnSpPr/>
          <p:nvPr/>
        </p:nvCxnSpPr>
        <p:spPr>
          <a:xfrm>
            <a:off x="7214616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3">
            <a:extLst>
              <a:ext uri="{FF2B5EF4-FFF2-40B4-BE49-F238E27FC236}">
                <a16:creationId xmlns:a16="http://schemas.microsoft.com/office/drawing/2014/main" id="{8E253373-419D-4E3A-8F86-A7F9BC4C5230}"/>
              </a:ext>
            </a:extLst>
          </p:cNvPr>
          <p:cNvCxnSpPr/>
          <p:nvPr/>
        </p:nvCxnSpPr>
        <p:spPr>
          <a:xfrm>
            <a:off x="8348471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4">
            <a:extLst>
              <a:ext uri="{FF2B5EF4-FFF2-40B4-BE49-F238E27FC236}">
                <a16:creationId xmlns:a16="http://schemas.microsoft.com/office/drawing/2014/main" id="{07BE892F-F2A5-4876-8BC0-EAABF812BDB2}"/>
              </a:ext>
            </a:extLst>
          </p:cNvPr>
          <p:cNvCxnSpPr/>
          <p:nvPr/>
        </p:nvCxnSpPr>
        <p:spPr>
          <a:xfrm>
            <a:off x="9482328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5">
            <a:extLst>
              <a:ext uri="{FF2B5EF4-FFF2-40B4-BE49-F238E27FC236}">
                <a16:creationId xmlns:a16="http://schemas.microsoft.com/office/drawing/2014/main" id="{F0042039-AF76-475E-BBA0-95A15AC78D53}"/>
              </a:ext>
            </a:extLst>
          </p:cNvPr>
          <p:cNvCxnSpPr/>
          <p:nvPr/>
        </p:nvCxnSpPr>
        <p:spPr>
          <a:xfrm>
            <a:off x="10049255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6">
            <a:extLst>
              <a:ext uri="{FF2B5EF4-FFF2-40B4-BE49-F238E27FC236}">
                <a16:creationId xmlns:a16="http://schemas.microsoft.com/office/drawing/2014/main" id="{C4535AFA-BCA4-4EEE-BDAA-D0F8C36590ED}"/>
              </a:ext>
            </a:extLst>
          </p:cNvPr>
          <p:cNvCxnSpPr/>
          <p:nvPr/>
        </p:nvCxnSpPr>
        <p:spPr>
          <a:xfrm>
            <a:off x="10616184" y="5202936"/>
            <a:ext cx="0" cy="786384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iamond 37">
            <a:extLst>
              <a:ext uri="{FF2B5EF4-FFF2-40B4-BE49-F238E27FC236}">
                <a16:creationId xmlns:a16="http://schemas.microsoft.com/office/drawing/2014/main" id="{D77C59DC-007F-4409-8D75-04C26C5A2742}"/>
              </a:ext>
            </a:extLst>
          </p:cNvPr>
          <p:cNvSpPr/>
          <p:nvPr/>
        </p:nvSpPr>
        <p:spPr>
          <a:xfrm>
            <a:off x="7155179" y="5255514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9924D4-0F58-4D5A-89FB-AE7B18ECE336}"/>
              </a:ext>
            </a:extLst>
          </p:cNvPr>
          <p:cNvSpPr txBox="1"/>
          <p:nvPr/>
        </p:nvSpPr>
        <p:spPr>
          <a:xfrm>
            <a:off x="7287768" y="5221224"/>
            <a:ext cx="1380743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Stakeholder 요구: SE &gt; 80%</a:t>
            </a:r>
          </a:p>
        </p:txBody>
      </p:sp>
      <p:sp>
        <p:nvSpPr>
          <p:cNvPr id="37" name="Oval 39">
            <a:extLst>
              <a:ext uri="{FF2B5EF4-FFF2-40B4-BE49-F238E27FC236}">
                <a16:creationId xmlns:a16="http://schemas.microsoft.com/office/drawing/2014/main" id="{8C7042E7-418A-4159-A236-4400DBC838F3}"/>
              </a:ext>
            </a:extLst>
          </p:cNvPr>
          <p:cNvSpPr/>
          <p:nvPr/>
        </p:nvSpPr>
        <p:spPr>
          <a:xfrm>
            <a:off x="7164324" y="5452110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17F9CE-CD43-4131-97D9-D62DFC5232B2}"/>
              </a:ext>
            </a:extLst>
          </p:cNvPr>
          <p:cNvSpPr txBox="1"/>
          <p:nvPr/>
        </p:nvSpPr>
        <p:spPr>
          <a:xfrm>
            <a:off x="7287768" y="5408676"/>
            <a:ext cx="223113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AthenaK: 65,536 GPU에서 병렬 효율 80% (학습)</a:t>
            </a:r>
          </a:p>
        </p:txBody>
      </p:sp>
      <p:sp>
        <p:nvSpPr>
          <p:cNvPr id="39" name="Isosceles Triangle 41">
            <a:extLst>
              <a:ext uri="{FF2B5EF4-FFF2-40B4-BE49-F238E27FC236}">
                <a16:creationId xmlns:a16="http://schemas.microsoft.com/office/drawing/2014/main" id="{AFA987EC-17B2-4FAB-A3EA-967517F6747F}"/>
              </a:ext>
            </a:extLst>
          </p:cNvPr>
          <p:cNvSpPr/>
          <p:nvPr/>
        </p:nvSpPr>
        <p:spPr>
          <a:xfrm>
            <a:off x="9422892" y="5634990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58823F1-4D42-477C-A678-7A6EF6737E18}"/>
              </a:ext>
            </a:extLst>
          </p:cNvPr>
          <p:cNvSpPr txBox="1"/>
          <p:nvPr/>
        </p:nvSpPr>
        <p:spPr>
          <a:xfrm>
            <a:off x="9555480" y="5596128"/>
            <a:ext cx="2185416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'효율적' 보고 관례 90% (정책, 손실 10% 이내)</a:t>
            </a:r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EAD44836-AB5E-4354-A9BE-118098D44E18}"/>
              </a:ext>
            </a:extLst>
          </p:cNvPr>
          <p:cNvSpPr/>
          <p:nvPr/>
        </p:nvSpPr>
        <p:spPr>
          <a:xfrm>
            <a:off x="7214616" y="5840730"/>
            <a:ext cx="3401568" cy="7315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4">
            <a:extLst>
              <a:ext uri="{FF2B5EF4-FFF2-40B4-BE49-F238E27FC236}">
                <a16:creationId xmlns:a16="http://schemas.microsoft.com/office/drawing/2014/main" id="{F1D5DDD4-EA2E-455F-8A19-4D4F9E53B0B5}"/>
              </a:ext>
            </a:extLst>
          </p:cNvPr>
          <p:cNvCxnSpPr/>
          <p:nvPr/>
        </p:nvCxnSpPr>
        <p:spPr>
          <a:xfrm>
            <a:off x="7214616" y="5813298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5">
            <a:extLst>
              <a:ext uri="{FF2B5EF4-FFF2-40B4-BE49-F238E27FC236}">
                <a16:creationId xmlns:a16="http://schemas.microsoft.com/office/drawing/2014/main" id="{3EBC91DF-F1D6-4BCF-BD1D-F5E09195C7EE}"/>
              </a:ext>
            </a:extLst>
          </p:cNvPr>
          <p:cNvCxnSpPr/>
          <p:nvPr/>
        </p:nvCxnSpPr>
        <p:spPr>
          <a:xfrm>
            <a:off x="10616184" y="5813298"/>
            <a:ext cx="0" cy="128016"/>
          </a:xfrm>
          <a:prstGeom prst="line">
            <a:avLst/>
          </a:prstGeom>
          <a:ln w="12700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C300AC-CC2C-482B-BC3E-1DF97F96FC5F}"/>
              </a:ext>
            </a:extLst>
          </p:cNvPr>
          <p:cNvSpPr txBox="1"/>
          <p:nvPr/>
        </p:nvSpPr>
        <p:spPr>
          <a:xfrm>
            <a:off x="4805171" y="5783580"/>
            <a:ext cx="2336292" cy="18745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USL 환산 σ: 80%↔1.67% · 90%↔0.74% · 95%↔0.35%</a:t>
            </a:r>
          </a:p>
        </p:txBody>
      </p:sp>
      <p:sp>
        <p:nvSpPr>
          <p:cNvPr id="45" name="Oval 47">
            <a:extLst>
              <a:ext uri="{FF2B5EF4-FFF2-40B4-BE49-F238E27FC236}">
                <a16:creationId xmlns:a16="http://schemas.microsoft.com/office/drawing/2014/main" id="{FA4DBEF0-F404-4EB4-A485-23E656D657A6}"/>
              </a:ext>
            </a:extLst>
          </p:cNvPr>
          <p:cNvSpPr/>
          <p:nvPr/>
        </p:nvSpPr>
        <p:spPr>
          <a:xfrm>
            <a:off x="384048" y="6057900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996C45-40ED-4920-8EAC-B460CED67B23}"/>
              </a:ext>
            </a:extLst>
          </p:cNvPr>
          <p:cNvSpPr txBox="1"/>
          <p:nvPr/>
        </p:nvSpPr>
        <p:spPr>
          <a:xfrm>
            <a:off x="502920" y="6016752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47" name="Diamond 49">
            <a:extLst>
              <a:ext uri="{FF2B5EF4-FFF2-40B4-BE49-F238E27FC236}">
                <a16:creationId xmlns:a16="http://schemas.microsoft.com/office/drawing/2014/main" id="{7035C919-6C38-4986-9A53-830A8734E94C}"/>
              </a:ext>
            </a:extLst>
          </p:cNvPr>
          <p:cNvSpPr/>
          <p:nvPr/>
        </p:nvSpPr>
        <p:spPr>
          <a:xfrm>
            <a:off x="1539748" y="6057900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278875-5011-4F82-A754-9A9B565BA159}"/>
              </a:ext>
            </a:extLst>
          </p:cNvPr>
          <p:cNvSpPr txBox="1"/>
          <p:nvPr/>
        </p:nvSpPr>
        <p:spPr>
          <a:xfrm>
            <a:off x="1658620" y="6016752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49" name="Isosceles Triangle 51">
            <a:extLst>
              <a:ext uri="{FF2B5EF4-FFF2-40B4-BE49-F238E27FC236}">
                <a16:creationId xmlns:a16="http://schemas.microsoft.com/office/drawing/2014/main" id="{F26DD1C4-8A4C-4A4D-9F29-967200F4F7E9}"/>
              </a:ext>
            </a:extLst>
          </p:cNvPr>
          <p:cNvSpPr/>
          <p:nvPr/>
        </p:nvSpPr>
        <p:spPr>
          <a:xfrm>
            <a:off x="3028823" y="6057900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D4BD1DB-505D-44DF-AD2F-914B2D42BC83}"/>
              </a:ext>
            </a:extLst>
          </p:cNvPr>
          <p:cNvSpPr txBox="1"/>
          <p:nvPr/>
        </p:nvSpPr>
        <p:spPr>
          <a:xfrm>
            <a:off x="3147695" y="6016752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51" name="Oval 53">
            <a:extLst>
              <a:ext uri="{FF2B5EF4-FFF2-40B4-BE49-F238E27FC236}">
                <a16:creationId xmlns:a16="http://schemas.microsoft.com/office/drawing/2014/main" id="{ACC40130-C11B-4D04-9430-67E629FE131B}"/>
              </a:ext>
            </a:extLst>
          </p:cNvPr>
          <p:cNvSpPr/>
          <p:nvPr/>
        </p:nvSpPr>
        <p:spPr>
          <a:xfrm>
            <a:off x="3753358" y="605790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C92FB4-25F6-4CCB-8E96-39275F73B584}"/>
              </a:ext>
            </a:extLst>
          </p:cNvPr>
          <p:cNvSpPr txBox="1"/>
          <p:nvPr/>
        </p:nvSpPr>
        <p:spPr>
          <a:xfrm>
            <a:off x="3872230" y="6016752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14036458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23557"/>
            <a:ext cx="11430000" cy="412421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l">
              <a:spcAft>
                <a:spcPts val="250"/>
              </a:spcAft>
            </a:pP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용이성</a:t>
            </a:r>
            <a:r>
              <a:rPr sz="22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- </a:t>
            </a:r>
            <a:r>
              <a:rPr lang="ko-KR" altLang="en-US" sz="2200" b="1" dirty="0">
                <a:solidFill>
                  <a:srgbClr val="2F5597"/>
                </a:solidFill>
                <a:latin typeface="맑은 고딕"/>
                <a:ea typeface="맑은 고딕"/>
              </a:rPr>
              <a:t>평가 </a:t>
            </a:r>
            <a:r>
              <a:rPr sz="2200" b="1" dirty="0" err="1">
                <a:solidFill>
                  <a:srgbClr val="2F5597"/>
                </a:solidFill>
                <a:latin typeface="맑은 고딕"/>
                <a:ea typeface="맑은 고딕"/>
              </a:rPr>
              <a:t>기준</a:t>
            </a:r>
            <a:endParaRPr sz="2200" b="1" dirty="0">
              <a:solidFill>
                <a:srgbClr val="2F5597"/>
              </a:solidFill>
              <a:latin typeface="맑은 고딕"/>
              <a:ea typeface="맑은 고딕"/>
            </a:endParaRPr>
          </a:p>
        </p:txBody>
      </p:sp>
      <p:sp>
        <p:nvSpPr>
          <p:cNvPr id="11" name="실행 단추: 뒤로 또는 이전 10">
            <a:hlinkClick r:id="rId2" action="ppaction://hlinksldjump" highlightClick="1"/>
          </p:cNvPr>
          <p:cNvSpPr/>
          <p:nvPr/>
        </p:nvSpPr>
        <p:spPr>
          <a:xfrm>
            <a:off x="11365523" y="515815"/>
            <a:ext cx="298939" cy="316523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subtitle">
            <a:extLst>
              <a:ext uri="{FF2B5EF4-FFF2-40B4-BE49-F238E27FC236}">
                <a16:creationId xmlns:a16="http://schemas.microsoft.com/office/drawing/2014/main" id="{96FE6872-F9E7-4752-A040-5DCE3EE8BACF}"/>
              </a:ext>
            </a:extLst>
          </p:cNvPr>
          <p:cNvSpPr txBox="1"/>
          <p:nvPr/>
        </p:nvSpPr>
        <p:spPr>
          <a:xfrm>
            <a:off x="365760" y="676656"/>
            <a:ext cx="11430000" cy="24314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0" dirty="0" err="1">
                <a:solidFill>
                  <a:srgbClr val="404040"/>
                </a:solidFill>
                <a:latin typeface="맑은 고딕"/>
                <a:ea typeface="맑은 고딕"/>
              </a:rPr>
              <a:t>변경</a:t>
            </a:r>
            <a:r>
              <a:rPr sz="1100" b="0" dirty="0">
                <a:solidFill>
                  <a:srgbClr val="404040"/>
                </a:solidFill>
                <a:latin typeface="맑은 고딕"/>
                <a:ea typeface="맑은 고딕"/>
              </a:rPr>
              <a:t> module 수</a:t>
            </a:r>
            <a:r>
              <a:rPr 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 (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개발 공수 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M/M </a:t>
            </a:r>
            <a:r>
              <a:rPr lang="ko-KR" altLang="en-US" sz="1100" b="0" dirty="0">
                <a:solidFill>
                  <a:srgbClr val="404040"/>
                </a:solidFill>
                <a:latin typeface="맑은 고딕"/>
                <a:ea typeface="맑은 고딕"/>
              </a:rPr>
              <a:t>참고</a:t>
            </a:r>
            <a:r>
              <a:rPr lang="en-US" altLang="ko-KR" sz="1100" b="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endParaRPr sz="110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75" name="rule">
            <a:extLst>
              <a:ext uri="{FF2B5EF4-FFF2-40B4-BE49-F238E27FC236}">
                <a16:creationId xmlns:a16="http://schemas.microsoft.com/office/drawing/2014/main" id="{8B004F8A-F37F-442E-8003-EC3499BB95E3}"/>
              </a:ext>
            </a:extLst>
          </p:cNvPr>
          <p:cNvSpPr/>
          <p:nvPr/>
        </p:nvSpPr>
        <p:spPr>
          <a:xfrm>
            <a:off x="365760" y="1005840"/>
            <a:ext cx="11457432" cy="27432"/>
          </a:xfrm>
          <a:prstGeom prst="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src">
            <a:extLst>
              <a:ext uri="{FF2B5EF4-FFF2-40B4-BE49-F238E27FC236}">
                <a16:creationId xmlns:a16="http://schemas.microsoft.com/office/drawing/2014/main" id="{3981A347-39E6-4B8E-9D4A-0604100B9CAA}"/>
              </a:ext>
            </a:extLst>
          </p:cNvPr>
          <p:cNvSpPr txBox="1"/>
          <p:nvPr/>
        </p:nvSpPr>
        <p:spPr>
          <a:xfrm>
            <a:off x="365760" y="6478233"/>
            <a:ext cx="11430000" cy="18928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출처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[1] 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SWE-bench 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arXiv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2310.06770)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en-US" sz="750" dirty="0">
                <a:solidFill>
                  <a:srgbClr val="404040"/>
                </a:solidFill>
                <a:latin typeface="맑은 고딕"/>
                <a:ea typeface="맑은 고딕"/>
              </a:rPr>
              <a:t>[2]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vLLM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저장소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kv_connector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/v1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직접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계수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최상위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파일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192~1,190 LOC, </a:t>
            </a:r>
            <a:r>
              <a:rPr sz="750" b="0" dirty="0" err="1">
                <a:solidFill>
                  <a:srgbClr val="404040"/>
                </a:solidFill>
                <a:latin typeface="맑은 고딕"/>
                <a:ea typeface="맑은 고딕"/>
              </a:rPr>
              <a:t>중앙값</a:t>
            </a:r>
            <a:r>
              <a:rPr sz="750" b="0" dirty="0">
                <a:solidFill>
                  <a:srgbClr val="404040"/>
                </a:solidFill>
                <a:latin typeface="맑은 고딕"/>
                <a:ea typeface="맑은 고딕"/>
              </a:rPr>
              <a:t> 356)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en-US" sz="750" dirty="0">
                <a:solidFill>
                  <a:srgbClr val="404040"/>
                </a:solidFill>
                <a:latin typeface="맑은 고딕"/>
                <a:ea typeface="맑은 고딕"/>
              </a:rPr>
              <a:t>[3] 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Brooks, The Mythical Man-Month </a:t>
            </a:r>
            <a:r>
              <a:rPr lang="ko-KR" alt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계열의 </a:t>
            </a:r>
            <a:r>
              <a:rPr lang="en-US" altLang="ko-KR" sz="750" b="0" dirty="0">
                <a:solidFill>
                  <a:srgbClr val="404040"/>
                </a:solidFill>
                <a:latin typeface="맑은 고딕"/>
                <a:ea typeface="맑은 고딕"/>
              </a:rPr>
              <a:t>"</a:t>
            </a:r>
            <a:r>
              <a:rPr lang="ko-KR" alt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하루 약 </a:t>
            </a:r>
            <a:r>
              <a:rPr lang="en-US" altLang="ko-KR" sz="750" b="0" dirty="0">
                <a:solidFill>
                  <a:srgbClr val="404040"/>
                </a:solidFill>
                <a:latin typeface="맑은 고딕"/>
                <a:ea typeface="맑은 고딕"/>
              </a:rPr>
              <a:t>10 </a:t>
            </a:r>
            <a:r>
              <a:rPr lang="en-US" sz="750" b="0" dirty="0">
                <a:solidFill>
                  <a:srgbClr val="404040"/>
                </a:solidFill>
                <a:latin typeface="맑은 고딕"/>
                <a:ea typeface="맑은 고딕"/>
              </a:rPr>
              <a:t>LOC“, </a:t>
            </a:r>
            <a:r>
              <a:rPr lang="sv-SE" sz="750" b="0" dirty="0">
                <a:solidFill>
                  <a:srgbClr val="404040"/>
                </a:solidFill>
                <a:latin typeface="맑은 고딕"/>
                <a:ea typeface="맑은 고딕"/>
              </a:rPr>
              <a:t>Poul-Henning Kamp (Varnish), “Going fast slowly”</a:t>
            </a:r>
            <a:endParaRPr sz="750" b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177" name="metric">
            <a:extLst>
              <a:ext uri="{FF2B5EF4-FFF2-40B4-BE49-F238E27FC236}">
                <a16:creationId xmlns:a16="http://schemas.microsoft.com/office/drawing/2014/main" id="{9FF12BD0-B85D-4FB1-A847-42958CB3CAFD}"/>
              </a:ext>
            </a:extLst>
          </p:cNvPr>
          <p:cNvSpPr txBox="1"/>
          <p:nvPr/>
        </p:nvSpPr>
        <p:spPr>
          <a:xfrm>
            <a:off x="365760" y="1069848"/>
            <a:ext cx="11430000" cy="495713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[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시나리오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3종, KV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캐시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관리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 </a:t>
            </a:r>
            <a:r>
              <a:rPr sz="1000" b="1" dirty="0" err="1">
                <a:solidFill>
                  <a:srgbClr val="2F5597"/>
                </a:solidFill>
                <a:latin typeface="맑은 고딕"/>
                <a:ea typeface="맑은 고딕"/>
              </a:rPr>
              <a:t>범위</a:t>
            </a:r>
            <a:r>
              <a:rPr sz="1000" b="1" dirty="0">
                <a:solidFill>
                  <a:srgbClr val="2F5597"/>
                </a:solidFill>
                <a:latin typeface="맑은 고딕"/>
                <a:ea typeface="맑은 고딕"/>
              </a:rPr>
              <a:t>] </a:t>
            </a:r>
            <a:r>
              <a:rPr lang="en-US" sz="950" b="1" dirty="0">
                <a:solidFill>
                  <a:srgbClr val="000000"/>
                </a:solidFill>
                <a:latin typeface="맑은 고딕"/>
                <a:ea typeface="맑은 고딕"/>
              </a:rPr>
              <a:t>S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1 새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메모리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tier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추가</a:t>
            </a:r>
            <a:r>
              <a:rPr lang="en-US" sz="95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S2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이동·배치·재사용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정책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교체</a:t>
            </a:r>
            <a:r>
              <a:rPr lang="en-US" sz="950" dirty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lang="en-US" altLang="ko-KR" sz="950" dirty="0">
                <a:solidFill>
                  <a:srgbClr val="000000"/>
                </a:solidFill>
                <a:latin typeface="맑은 고딕"/>
                <a:ea typeface="맑은 고딕"/>
              </a:rPr>
              <a:t>S3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vLLM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upstream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갱신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대응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(block pool,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kv_offload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, CUDA graph, async scheduling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접점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수정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). </a:t>
            </a:r>
            <a:endParaRPr lang="en-US" sz="95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시나리오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단순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평균으로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판정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. module =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설계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문서의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component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단위</a:t>
            </a:r>
            <a:r>
              <a:rPr lang="en-US"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(한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줄이라도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950" b="0" dirty="0" err="1">
                <a:solidFill>
                  <a:srgbClr val="000000"/>
                </a:solidFill>
                <a:latin typeface="맑은 고딕"/>
                <a:ea typeface="맑은 고딕"/>
              </a:rPr>
              <a:t>바꾸면</a:t>
            </a:r>
            <a:r>
              <a:rPr sz="950" b="0" dirty="0">
                <a:solidFill>
                  <a:srgbClr val="000000"/>
                </a:solidFill>
                <a:latin typeface="맑은 고딕"/>
                <a:ea typeface="맑은 고딕"/>
              </a:rPr>
              <a:t> 1개).</a:t>
            </a:r>
          </a:p>
        </p:txBody>
      </p:sp>
      <p:graphicFrame>
        <p:nvGraphicFramePr>
          <p:cNvPr id="178" name="tbl">
            <a:extLst>
              <a:ext uri="{FF2B5EF4-FFF2-40B4-BE49-F238E27FC236}">
                <a16:creationId xmlns:a16="http://schemas.microsoft.com/office/drawing/2014/main" id="{9639DBEA-9428-4CB8-8D3E-47A1193E7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437933"/>
              </p:ext>
            </p:extLst>
          </p:nvPr>
        </p:nvGraphicFramePr>
        <p:xfrm>
          <a:off x="365760" y="1668780"/>
          <a:ext cx="11457432" cy="229152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별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module 수 (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환산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개발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공수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(M/M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sz="9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일상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endParaRPr lang="en-US"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참고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: 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SWE-bench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평균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패치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1.7 file(2개 </a:t>
                      </a:r>
                      <a:r>
                        <a:rPr sz="900" b="1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이하</a:t>
                      </a:r>
                      <a:r>
                        <a:rPr sz="900" b="1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SWE-bench (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arXiv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2310.06770),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등록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가정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2.5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★2와 ★3의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F3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2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3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0.6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설계 </a:t>
                      </a:r>
                      <a:r>
                        <a:rPr lang="en-US" altLang="ko-KR" sz="900" b="1" dirty="0"/>
                        <a:t>component 12~14</a:t>
                      </a:r>
                      <a:r>
                        <a:rPr lang="ko-KR" altLang="en-US" sz="900" b="1" dirty="0"/>
                        <a:t>개 중 약 </a:t>
                      </a:r>
                      <a:r>
                        <a:rPr lang="en-US" altLang="ko-KR" sz="900" b="1" dirty="0"/>
                        <a:t>1/4(3</a:t>
                      </a:r>
                      <a:r>
                        <a:rPr lang="ko-KR" altLang="en-US" sz="900" b="1" dirty="0"/>
                        <a:t>개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1" dirty="0"/>
                        <a:t>까지만 바뀌면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변경이 설계의 한 묶음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한 </a:t>
                      </a:r>
                      <a:r>
                        <a:rPr lang="en-US" altLang="ko-KR" sz="900" b="1" dirty="0"/>
                        <a:t>Plane </a:t>
                      </a:r>
                      <a:r>
                        <a:rPr lang="ko-KR" altLang="en-US" sz="900" b="1" dirty="0"/>
                        <a:t>또는 한 </a:t>
                      </a:r>
                      <a:r>
                        <a:rPr lang="en-US" altLang="ko-KR" sz="900" b="1" dirty="0"/>
                        <a:t>Layer </a:t>
                      </a:r>
                      <a:r>
                        <a:rPr lang="ko-KR" altLang="en-US" sz="900" b="1" dirty="0"/>
                        <a:t>예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정책 계층만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데이터 경로만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ko-KR" altLang="en-US" sz="900" b="1" dirty="0"/>
                        <a:t>안에서 끝난다고 본다</a:t>
                      </a:r>
                      <a:r>
                        <a:rPr lang="en-US" altLang="ko-KR" sz="900" b="1" dirty="0"/>
                        <a:t>. </a:t>
                      </a:r>
                      <a:endParaRPr sz="900" b="1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1.5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4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0.8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★1과 ★2의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중점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DE9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★ 1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5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≤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설계 변경이 </a:t>
                      </a:r>
                      <a:r>
                        <a:rPr lang="ko-KR" altLang="en-US" sz="900" b="1" dirty="0" err="1"/>
                        <a:t>필요없는</a:t>
                      </a:r>
                      <a:r>
                        <a:rPr lang="ko-KR" altLang="en-US" sz="900" b="1" dirty="0"/>
                        <a:t> 최소 </a:t>
                      </a:r>
                      <a:r>
                        <a:rPr lang="ko-KR" altLang="en-US" sz="900" b="1" dirty="0" err="1"/>
                        <a:t>충족선</a:t>
                      </a:r>
                      <a:r>
                        <a:rPr lang="en-US" altLang="ko-KR" sz="900" b="1" dirty="0"/>
                        <a:t>. </a:t>
                      </a: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900" b="1" dirty="0"/>
                        <a:t>설계 </a:t>
                      </a:r>
                      <a:r>
                        <a:rPr lang="en-US" altLang="ko-KR" sz="900" b="1" dirty="0"/>
                        <a:t>component 12~14</a:t>
                      </a:r>
                      <a:r>
                        <a:rPr lang="ko-KR" altLang="en-US" sz="900" b="1" dirty="0"/>
                        <a:t>개 중 약 </a:t>
                      </a:r>
                      <a:r>
                        <a:rPr lang="en-US" altLang="ko-KR" sz="900" b="1" dirty="0"/>
                        <a:t>1/3(5</a:t>
                      </a:r>
                      <a:r>
                        <a:rPr lang="ko-KR" altLang="en-US" sz="900" b="1" dirty="0"/>
                        <a:t>개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1" dirty="0"/>
                        <a:t>까지만 바뀌면 </a:t>
                      </a:r>
                      <a:r>
                        <a:rPr lang="en-US" altLang="ko-KR" sz="900" b="1" dirty="0"/>
                        <a:t>'</a:t>
                      </a:r>
                      <a:r>
                        <a:rPr lang="ko-KR" altLang="en-US" sz="900" b="1" dirty="0"/>
                        <a:t>변경이 설계 일부에 국한된다</a:t>
                      </a:r>
                      <a:r>
                        <a:rPr lang="en-US" altLang="ko-KR" sz="900" b="1" dirty="0"/>
                        <a:t>’</a:t>
                      </a:r>
                      <a:r>
                        <a:rPr lang="ko-KR" altLang="en-US" sz="900" b="1" dirty="0"/>
                        <a:t>고 간주</a:t>
                      </a:r>
                      <a:r>
                        <a:rPr lang="en-US" altLang="ko-KR" sz="900" b="1" dirty="0"/>
                        <a:t>.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DP1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사전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등록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component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목록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endParaRPr lang="en-US"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vLLM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저장소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 LOC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계수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B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미충족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≥ 6 또는 major interface 변경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&gt; 1.0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6</a:t>
                      </a:r>
                      <a:r>
                        <a:rPr lang="ko-KR" altLang="en-US" sz="900" dirty="0"/>
                        <a:t>개 이상이면 변경이 설계 전반으로 퍼져 확장 지점이 없는 구조로 판단</a:t>
                      </a:r>
                      <a:r>
                        <a:rPr lang="en-US" altLang="ko-KR" sz="900" dirty="0"/>
                        <a:t>. </a:t>
                      </a:r>
                      <a:endParaRPr sz="900" b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900" b="0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marL="54864" marR="54864" marT="22860" marB="22860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9" name="formula">
            <a:extLst>
              <a:ext uri="{FF2B5EF4-FFF2-40B4-BE49-F238E27FC236}">
                <a16:creationId xmlns:a16="http://schemas.microsoft.com/office/drawing/2014/main" id="{F29934DD-2034-4406-8F68-7F2300113BB2}"/>
              </a:ext>
            </a:extLst>
          </p:cNvPr>
          <p:cNvSpPr/>
          <p:nvPr/>
        </p:nvSpPr>
        <p:spPr>
          <a:xfrm>
            <a:off x="365760" y="4025263"/>
            <a:ext cx="11457432" cy="804673"/>
          </a:xfrm>
          <a:prstGeom prst="roundRect">
            <a:avLst/>
          </a:prstGeom>
          <a:solidFill>
            <a:srgbClr val="F2F6FC"/>
          </a:solidFill>
          <a:ln w="12700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module 1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개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=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고정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+ 24 LOC ÷ 40 LOC/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×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테스트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·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리뷰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overhead 2.0 = 4.2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= 0.2 MM  →  M/M = 0.2 × module 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수  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(21</a:t>
            </a:r>
            <a:r>
              <a:rPr kumimoji="0" lang="ko-KR" alt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일</a:t>
            </a:r>
            <a:r>
              <a:rPr kumimoji="0" lang="en-US" altLang="ko-KR" sz="950" b="1" i="0" u="none" strike="noStrike" kern="1200" cap="none" spc="0" normalizeH="0" baseline="0" noProof="0" dirty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/MM)</a:t>
            </a: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24 LOC/module: SWE-bench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평균 패치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32.8 line ÷ 1.7 file ≈ 19 LOC/file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을 올림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. *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SWE-bench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는 실제 문제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(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버그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구현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)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를 풀기 위해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patch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를 올리는 벤치마크로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SW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구현에 대한 참고 가능 </a:t>
            </a:r>
            <a:endParaRPr lang="en-US" altLang="ko-KR" sz="85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marL="171450" marR="0" lvl="0" indent="-1714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하루 생산성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40 LOC: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테스트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,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리뷰를 뺀 순 생산성 가정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참고 출처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[3])</a:t>
            </a:r>
          </a:p>
          <a:p>
            <a:pPr marL="171450" indent="-171450">
              <a:lnSpc>
                <a:spcPct val="110000"/>
              </a:lnSpc>
              <a:buFontTx/>
              <a:buChar char="-"/>
              <a:defRPr/>
            </a:pP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고정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3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일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/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모듈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: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모듈 하나를 바꿀 때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LOC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와 무관하게 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interface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파악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설계 리뷰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통합 테스트에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lang="ko-KR" altLang="en-US" sz="850" dirty="0">
                <a:solidFill>
                  <a:srgbClr val="404040"/>
                </a:solidFill>
                <a:latin typeface="맑은 고딕"/>
                <a:ea typeface="맑은 고딕"/>
              </a:rPr>
              <a:t>해당하는 공수 비용 가정</a:t>
            </a:r>
            <a:r>
              <a:rPr lang="en-US" altLang="ko-KR" sz="8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(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참고 출처 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[3])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262CE36-B349-4F18-AEC6-11E15248016A}"/>
              </a:ext>
            </a:extLst>
          </p:cNvPr>
          <p:cNvSpPr txBox="1"/>
          <p:nvPr/>
        </p:nvSpPr>
        <p:spPr>
          <a:xfrm>
            <a:off x="365760" y="4985385"/>
            <a:ext cx="11430000" cy="164660"/>
          </a:xfrm>
          <a:prstGeom prst="rect">
            <a:avLst/>
          </a:prstGeom>
          <a:noFill/>
        </p:spPr>
        <p:txBody>
          <a:bodyPr wrap="square" lIns="18288" tIns="18288" rIns="18288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dirty="0" err="1">
                <a:solidFill>
                  <a:srgbClr val="2F5597"/>
                </a:solidFill>
                <a:latin typeface="맑은 고딕"/>
                <a:ea typeface="맑은 고딕"/>
              </a:rPr>
              <a:t>변경</a:t>
            </a:r>
            <a:r>
              <a:rPr sz="950" b="1" dirty="0">
                <a:solidFill>
                  <a:srgbClr val="2F5597"/>
                </a:solidFill>
                <a:latin typeface="맑은 고딕"/>
                <a:ea typeface="맑은 고딕"/>
              </a:rPr>
              <a:t> module 수</a:t>
            </a:r>
          </a:p>
        </p:txBody>
      </p:sp>
      <p:sp>
        <p:nvSpPr>
          <p:cNvPr id="183" name="Rectangle 18">
            <a:extLst>
              <a:ext uri="{FF2B5EF4-FFF2-40B4-BE49-F238E27FC236}">
                <a16:creationId xmlns:a16="http://schemas.microsoft.com/office/drawing/2014/main" id="{32497ED0-F4F0-4BCB-80D5-7713187A6D52}"/>
              </a:ext>
            </a:extLst>
          </p:cNvPr>
          <p:cNvSpPr/>
          <p:nvPr/>
        </p:nvSpPr>
        <p:spPr>
          <a:xfrm>
            <a:off x="8510451" y="5223129"/>
            <a:ext cx="3239588" cy="274320"/>
          </a:xfrm>
          <a:prstGeom prst="rect">
            <a:avLst/>
          </a:prstGeom>
          <a:solidFill>
            <a:srgbClr val="E2EFD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7CED743-868C-46F4-892C-9CA6E1ECBF2C}"/>
              </a:ext>
            </a:extLst>
          </p:cNvPr>
          <p:cNvSpPr txBox="1"/>
          <p:nvPr/>
        </p:nvSpPr>
        <p:spPr>
          <a:xfrm>
            <a:off x="8510451" y="5223129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★3</a:t>
            </a:r>
          </a:p>
        </p:txBody>
      </p:sp>
      <p:sp>
        <p:nvSpPr>
          <p:cNvPr id="185" name="Rectangle 20">
            <a:extLst>
              <a:ext uri="{FF2B5EF4-FFF2-40B4-BE49-F238E27FC236}">
                <a16:creationId xmlns:a16="http://schemas.microsoft.com/office/drawing/2014/main" id="{587879DB-460E-4073-A655-70D20571643D}"/>
              </a:ext>
            </a:extLst>
          </p:cNvPr>
          <p:cNvSpPr/>
          <p:nvPr/>
        </p:nvSpPr>
        <p:spPr>
          <a:xfrm>
            <a:off x="7700554" y="5223129"/>
            <a:ext cx="809897" cy="274320"/>
          </a:xfrm>
          <a:prstGeom prst="rect">
            <a:avLst/>
          </a:prstGeom>
          <a:solidFill>
            <a:srgbClr val="EDF3D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2B52C54-65AA-4215-BFEF-2E93A72C9DF0}"/>
              </a:ext>
            </a:extLst>
          </p:cNvPr>
          <p:cNvSpPr txBox="1"/>
          <p:nvPr/>
        </p:nvSpPr>
        <p:spPr>
          <a:xfrm>
            <a:off x="7700554" y="5223129"/>
            <a:ext cx="8098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★2.5</a:t>
            </a:r>
          </a:p>
        </p:txBody>
      </p:sp>
      <p:sp>
        <p:nvSpPr>
          <p:cNvPr id="187" name="Rectangle 22">
            <a:extLst>
              <a:ext uri="{FF2B5EF4-FFF2-40B4-BE49-F238E27FC236}">
                <a16:creationId xmlns:a16="http://schemas.microsoft.com/office/drawing/2014/main" id="{704A3354-9CE1-4967-8783-7F5D883C880F}"/>
              </a:ext>
            </a:extLst>
          </p:cNvPr>
          <p:cNvSpPr/>
          <p:nvPr/>
        </p:nvSpPr>
        <p:spPr>
          <a:xfrm>
            <a:off x="6890657" y="5223129"/>
            <a:ext cx="809897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F172043A-3788-4D17-8F26-A1975C28494A}"/>
              </a:ext>
            </a:extLst>
          </p:cNvPr>
          <p:cNvSpPr txBox="1"/>
          <p:nvPr/>
        </p:nvSpPr>
        <p:spPr>
          <a:xfrm>
            <a:off x="6890657" y="5223129"/>
            <a:ext cx="809897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★2</a:t>
            </a:r>
          </a:p>
        </p:txBody>
      </p:sp>
      <p:sp>
        <p:nvSpPr>
          <p:cNvPr id="189" name="Rectangle 24">
            <a:extLst>
              <a:ext uri="{FF2B5EF4-FFF2-40B4-BE49-F238E27FC236}">
                <a16:creationId xmlns:a16="http://schemas.microsoft.com/office/drawing/2014/main" id="{9AB53739-9FE5-4E90-9D24-C873FC2AA1EE}"/>
              </a:ext>
            </a:extLst>
          </p:cNvPr>
          <p:cNvSpPr/>
          <p:nvPr/>
        </p:nvSpPr>
        <p:spPr>
          <a:xfrm>
            <a:off x="5270862" y="5223129"/>
            <a:ext cx="1619794" cy="274320"/>
          </a:xfrm>
          <a:prstGeom prst="rect">
            <a:avLst/>
          </a:prstGeom>
          <a:solidFill>
            <a:srgbClr val="FDE9D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BFA7BC4-04A3-48B4-A609-7890651E9C85}"/>
              </a:ext>
            </a:extLst>
          </p:cNvPr>
          <p:cNvSpPr txBox="1"/>
          <p:nvPr/>
        </p:nvSpPr>
        <p:spPr>
          <a:xfrm>
            <a:off x="5270862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★1.5</a:t>
            </a:r>
          </a:p>
        </p:txBody>
      </p:sp>
      <p:sp>
        <p:nvSpPr>
          <p:cNvPr id="191" name="Rectangle 26">
            <a:extLst>
              <a:ext uri="{FF2B5EF4-FFF2-40B4-BE49-F238E27FC236}">
                <a16:creationId xmlns:a16="http://schemas.microsoft.com/office/drawing/2014/main" id="{C42D9C0F-B6E4-423D-9B9D-91C630D169E2}"/>
              </a:ext>
            </a:extLst>
          </p:cNvPr>
          <p:cNvSpPr/>
          <p:nvPr/>
        </p:nvSpPr>
        <p:spPr>
          <a:xfrm>
            <a:off x="3651068" y="5223129"/>
            <a:ext cx="1619794" cy="274320"/>
          </a:xfrm>
          <a:prstGeom prst="rect">
            <a:avLst/>
          </a:prstGeom>
          <a:solidFill>
            <a:srgbClr val="FBE0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F5EB386-E19B-4202-B2E9-57CF33760348}"/>
              </a:ext>
            </a:extLst>
          </p:cNvPr>
          <p:cNvSpPr txBox="1"/>
          <p:nvPr/>
        </p:nvSpPr>
        <p:spPr>
          <a:xfrm>
            <a:off x="3651068" y="5223129"/>
            <a:ext cx="1619794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★1</a:t>
            </a:r>
          </a:p>
        </p:txBody>
      </p:sp>
      <p:sp>
        <p:nvSpPr>
          <p:cNvPr id="193" name="Rectangle 28">
            <a:extLst>
              <a:ext uri="{FF2B5EF4-FFF2-40B4-BE49-F238E27FC236}">
                <a16:creationId xmlns:a16="http://schemas.microsoft.com/office/drawing/2014/main" id="{A15FB515-E1B7-4D6B-AD06-745CCF903C63}"/>
              </a:ext>
            </a:extLst>
          </p:cNvPr>
          <p:cNvSpPr/>
          <p:nvPr/>
        </p:nvSpPr>
        <p:spPr>
          <a:xfrm>
            <a:off x="411480" y="5223129"/>
            <a:ext cx="3239588" cy="274320"/>
          </a:xfrm>
          <a:prstGeom prst="rect">
            <a:avLst/>
          </a:prstGeom>
          <a:solidFill>
            <a:srgbClr val="EDEDE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0717756F-8A95-4DFD-B0AE-1204EC0EF4AF}"/>
              </a:ext>
            </a:extLst>
          </p:cNvPr>
          <p:cNvSpPr txBox="1"/>
          <p:nvPr/>
        </p:nvSpPr>
        <p:spPr>
          <a:xfrm>
            <a:off x="411480" y="5223129"/>
            <a:ext cx="3239588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000000"/>
                </a:solidFill>
                <a:latin typeface="맑은 고딕"/>
                <a:ea typeface="맑은 고딕"/>
              </a:rPr>
              <a:t>☆ 미충족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9FE62CD-E4F0-4ECA-B36E-D7772FB46DD6}"/>
              </a:ext>
            </a:extLst>
          </p:cNvPr>
          <p:cNvSpPr txBox="1"/>
          <p:nvPr/>
        </p:nvSpPr>
        <p:spPr>
          <a:xfrm>
            <a:off x="11430000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0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DE852E4-7793-4D50-B212-1FF013856054}"/>
              </a:ext>
            </a:extLst>
          </p:cNvPr>
          <p:cNvSpPr txBox="1"/>
          <p:nvPr/>
        </p:nvSpPr>
        <p:spPr>
          <a:xfrm>
            <a:off x="9810205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D33C6A71-83EB-45B7-9331-C5528D998A9A}"/>
              </a:ext>
            </a:extLst>
          </p:cNvPr>
          <p:cNvSpPr txBox="1"/>
          <p:nvPr/>
        </p:nvSpPr>
        <p:spPr>
          <a:xfrm>
            <a:off x="8190411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A512C27A-5EC7-405B-A33E-580D537C8395}"/>
              </a:ext>
            </a:extLst>
          </p:cNvPr>
          <p:cNvSpPr txBox="1"/>
          <p:nvPr/>
        </p:nvSpPr>
        <p:spPr>
          <a:xfrm>
            <a:off x="6570617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A2859D76-37B4-4E4A-B508-22B1546E2A37}"/>
              </a:ext>
            </a:extLst>
          </p:cNvPr>
          <p:cNvSpPr txBox="1"/>
          <p:nvPr/>
        </p:nvSpPr>
        <p:spPr>
          <a:xfrm>
            <a:off x="4950822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183B600-5CA8-4E77-8645-FE22BBAFFAFB}"/>
              </a:ext>
            </a:extLst>
          </p:cNvPr>
          <p:cNvSpPr txBox="1"/>
          <p:nvPr/>
        </p:nvSpPr>
        <p:spPr>
          <a:xfrm>
            <a:off x="3331028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279F3326-23F0-4B98-B3DB-586918148F13}"/>
              </a:ext>
            </a:extLst>
          </p:cNvPr>
          <p:cNvSpPr txBox="1"/>
          <p:nvPr/>
        </p:nvSpPr>
        <p:spPr>
          <a:xfrm>
            <a:off x="1711234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CA126443-3C97-4E26-9660-5E0D5C1DF432}"/>
              </a:ext>
            </a:extLst>
          </p:cNvPr>
          <p:cNvSpPr txBox="1"/>
          <p:nvPr/>
        </p:nvSpPr>
        <p:spPr>
          <a:xfrm>
            <a:off x="91440" y="5497449"/>
            <a:ext cx="640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80" b="0">
                <a:solidFill>
                  <a:srgbClr val="595959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203" name="Connector 38">
            <a:extLst>
              <a:ext uri="{FF2B5EF4-FFF2-40B4-BE49-F238E27FC236}">
                <a16:creationId xmlns:a16="http://schemas.microsoft.com/office/drawing/2014/main" id="{BEA81FFB-C751-40A9-9E56-6B4208EDE892}"/>
              </a:ext>
            </a:extLst>
          </p:cNvPr>
          <p:cNvCxnSpPr/>
          <p:nvPr/>
        </p:nvCxnSpPr>
        <p:spPr>
          <a:xfrm>
            <a:off x="8510451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9">
            <a:extLst>
              <a:ext uri="{FF2B5EF4-FFF2-40B4-BE49-F238E27FC236}">
                <a16:creationId xmlns:a16="http://schemas.microsoft.com/office/drawing/2014/main" id="{FF385D5C-49BC-42A1-80F3-91EF3E3ECEB8}"/>
              </a:ext>
            </a:extLst>
          </p:cNvPr>
          <p:cNvCxnSpPr/>
          <p:nvPr/>
        </p:nvCxnSpPr>
        <p:spPr>
          <a:xfrm>
            <a:off x="7700554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40">
            <a:extLst>
              <a:ext uri="{FF2B5EF4-FFF2-40B4-BE49-F238E27FC236}">
                <a16:creationId xmlns:a16="http://schemas.microsoft.com/office/drawing/2014/main" id="{7019DA8E-10E6-43C8-9FC7-7C71414CE9AB}"/>
              </a:ext>
            </a:extLst>
          </p:cNvPr>
          <p:cNvCxnSpPr/>
          <p:nvPr/>
        </p:nvCxnSpPr>
        <p:spPr>
          <a:xfrm>
            <a:off x="6890657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1">
            <a:extLst>
              <a:ext uri="{FF2B5EF4-FFF2-40B4-BE49-F238E27FC236}">
                <a16:creationId xmlns:a16="http://schemas.microsoft.com/office/drawing/2014/main" id="{CE3E01AA-BCCE-47A6-B5BA-0A0A13FA6FE6}"/>
              </a:ext>
            </a:extLst>
          </p:cNvPr>
          <p:cNvCxnSpPr/>
          <p:nvPr/>
        </p:nvCxnSpPr>
        <p:spPr>
          <a:xfrm>
            <a:off x="5270862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2">
            <a:extLst>
              <a:ext uri="{FF2B5EF4-FFF2-40B4-BE49-F238E27FC236}">
                <a16:creationId xmlns:a16="http://schemas.microsoft.com/office/drawing/2014/main" id="{61138C0E-2DC6-4373-AD83-51961EB5AD0B}"/>
              </a:ext>
            </a:extLst>
          </p:cNvPr>
          <p:cNvCxnSpPr/>
          <p:nvPr/>
        </p:nvCxnSpPr>
        <p:spPr>
          <a:xfrm>
            <a:off x="3651068" y="5634609"/>
            <a:ext cx="0" cy="585216"/>
          </a:xfrm>
          <a:prstGeom prst="line">
            <a:avLst/>
          </a:prstGeom>
          <a:ln w="6350">
            <a:solidFill>
              <a:srgbClr val="D0D0D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43">
            <a:extLst>
              <a:ext uri="{FF2B5EF4-FFF2-40B4-BE49-F238E27FC236}">
                <a16:creationId xmlns:a16="http://schemas.microsoft.com/office/drawing/2014/main" id="{D9927751-CCF9-4469-AA54-79231E62C0F9}"/>
              </a:ext>
            </a:extLst>
          </p:cNvPr>
          <p:cNvSpPr/>
          <p:nvPr/>
        </p:nvSpPr>
        <p:spPr>
          <a:xfrm>
            <a:off x="8946097" y="5694045"/>
            <a:ext cx="100584" cy="100584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9402C03-2F59-4A86-9265-19A3A195FC89}"/>
              </a:ext>
            </a:extLst>
          </p:cNvPr>
          <p:cNvSpPr txBox="1"/>
          <p:nvPr/>
        </p:nvSpPr>
        <p:spPr>
          <a:xfrm>
            <a:off x="5988013" y="5652897"/>
            <a:ext cx="2935224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SWE-bench 평균 패치 1.7 file (★3 경계 2 module ≈ 0.4 MM)</a:t>
            </a:r>
          </a:p>
        </p:txBody>
      </p:sp>
      <p:sp>
        <p:nvSpPr>
          <p:cNvPr id="210" name="Isosceles Triangle 45">
            <a:extLst>
              <a:ext uri="{FF2B5EF4-FFF2-40B4-BE49-F238E27FC236}">
                <a16:creationId xmlns:a16="http://schemas.microsoft.com/office/drawing/2014/main" id="{E38519E5-B38D-4161-9565-459F3D3B8E3A}"/>
              </a:ext>
            </a:extLst>
          </p:cNvPr>
          <p:cNvSpPr/>
          <p:nvPr/>
        </p:nvSpPr>
        <p:spPr>
          <a:xfrm>
            <a:off x="6831221" y="5872353"/>
            <a:ext cx="118872" cy="109728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D0BC4D31-A518-425A-80C3-F5F8885DE7D3}"/>
              </a:ext>
            </a:extLst>
          </p:cNvPr>
          <p:cNvSpPr txBox="1"/>
          <p:nvPr/>
        </p:nvSpPr>
        <p:spPr>
          <a:xfrm>
            <a:off x="6963809" y="5835777"/>
            <a:ext cx="2702052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★2 경계 3 module ≈ 0.6 MM · component 12~14개의 1/4</a:t>
            </a:r>
          </a:p>
        </p:txBody>
      </p:sp>
      <p:sp>
        <p:nvSpPr>
          <p:cNvPr id="212" name="Diamond 47">
            <a:extLst>
              <a:ext uri="{FF2B5EF4-FFF2-40B4-BE49-F238E27FC236}">
                <a16:creationId xmlns:a16="http://schemas.microsoft.com/office/drawing/2014/main" id="{161FA3B8-5E6C-4D94-9086-2C71A5169386}"/>
              </a:ext>
            </a:extLst>
          </p:cNvPr>
          <p:cNvSpPr/>
          <p:nvPr/>
        </p:nvSpPr>
        <p:spPr>
          <a:xfrm>
            <a:off x="3591632" y="6050661"/>
            <a:ext cx="118872" cy="118872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E6DD7BAE-D2A8-4023-8A24-AFD27BCCD2BD}"/>
              </a:ext>
            </a:extLst>
          </p:cNvPr>
          <p:cNvSpPr txBox="1"/>
          <p:nvPr/>
        </p:nvSpPr>
        <p:spPr>
          <a:xfrm>
            <a:off x="3724220" y="6018657"/>
            <a:ext cx="34290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262626"/>
                </a:solidFill>
                <a:latin typeface="맑은 고딕"/>
                <a:ea typeface="맑은 고딕"/>
              </a:rPr>
              <a:t>★1 경계 5 module ≈ 1.0 MM(1인 1개월) · component 12~14개 중 36~42%</a:t>
            </a:r>
          </a:p>
        </p:txBody>
      </p:sp>
      <p:sp>
        <p:nvSpPr>
          <p:cNvPr id="214" name="Oval 49">
            <a:extLst>
              <a:ext uri="{FF2B5EF4-FFF2-40B4-BE49-F238E27FC236}">
                <a16:creationId xmlns:a16="http://schemas.microsoft.com/office/drawing/2014/main" id="{5EA7809C-DB2D-412C-8A34-5AC64E2CE768}"/>
              </a:ext>
            </a:extLst>
          </p:cNvPr>
          <p:cNvSpPr/>
          <p:nvPr/>
        </p:nvSpPr>
        <p:spPr>
          <a:xfrm>
            <a:off x="384048" y="6288405"/>
            <a:ext cx="82296" cy="82296"/>
          </a:xfrm>
          <a:prstGeom prst="ellipse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0CD48204-B247-420C-B505-B7BCD699432F}"/>
              </a:ext>
            </a:extLst>
          </p:cNvPr>
          <p:cNvSpPr txBox="1"/>
          <p:nvPr/>
        </p:nvSpPr>
        <p:spPr>
          <a:xfrm>
            <a:off x="502920" y="6247257"/>
            <a:ext cx="9271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문헌 보고값(up to)</a:t>
            </a:r>
          </a:p>
        </p:txBody>
      </p:sp>
      <p:sp>
        <p:nvSpPr>
          <p:cNvPr id="216" name="Diamond 51">
            <a:extLst>
              <a:ext uri="{FF2B5EF4-FFF2-40B4-BE49-F238E27FC236}">
                <a16:creationId xmlns:a16="http://schemas.microsoft.com/office/drawing/2014/main" id="{09417F8E-EA52-4BE8-9005-6EFD37EF0523}"/>
              </a:ext>
            </a:extLst>
          </p:cNvPr>
          <p:cNvSpPr/>
          <p:nvPr/>
        </p:nvSpPr>
        <p:spPr>
          <a:xfrm>
            <a:off x="1539748" y="6288405"/>
            <a:ext cx="91440" cy="91440"/>
          </a:xfrm>
          <a:prstGeom prst="diamond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91672559-0068-4769-8A2C-7C3F202C1120}"/>
              </a:ext>
            </a:extLst>
          </p:cNvPr>
          <p:cNvSpPr txBox="1"/>
          <p:nvPr/>
        </p:nvSpPr>
        <p:spPr>
          <a:xfrm>
            <a:off x="1658620" y="6247257"/>
            <a:ext cx="1260475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Stakeholder·시나리오 요구</a:t>
            </a:r>
          </a:p>
        </p:txBody>
      </p:sp>
      <p:sp>
        <p:nvSpPr>
          <p:cNvPr id="218" name="Isosceles Triangle 53">
            <a:extLst>
              <a:ext uri="{FF2B5EF4-FFF2-40B4-BE49-F238E27FC236}">
                <a16:creationId xmlns:a16="http://schemas.microsoft.com/office/drawing/2014/main" id="{E1D18DB0-7933-4CF8-A75A-53FCA2129A2A}"/>
              </a:ext>
            </a:extLst>
          </p:cNvPr>
          <p:cNvSpPr/>
          <p:nvPr/>
        </p:nvSpPr>
        <p:spPr>
          <a:xfrm>
            <a:off x="3028823" y="6288405"/>
            <a:ext cx="91440" cy="82296"/>
          </a:xfrm>
          <a:prstGeom prst="triangl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DA8CDC5B-01C0-43C1-9CB8-5274CE7EC970}"/>
              </a:ext>
            </a:extLst>
          </p:cNvPr>
          <p:cNvSpPr txBox="1"/>
          <p:nvPr/>
        </p:nvSpPr>
        <p:spPr>
          <a:xfrm>
            <a:off x="3147695" y="6247257"/>
            <a:ext cx="495934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계산·정책</a:t>
            </a:r>
          </a:p>
        </p:txBody>
      </p:sp>
      <p:sp>
        <p:nvSpPr>
          <p:cNvPr id="220" name="Oval 55">
            <a:extLst>
              <a:ext uri="{FF2B5EF4-FFF2-40B4-BE49-F238E27FC236}">
                <a16:creationId xmlns:a16="http://schemas.microsoft.com/office/drawing/2014/main" id="{0D68BF76-CB3C-462E-B2A6-7002B3FD43CC}"/>
              </a:ext>
            </a:extLst>
          </p:cNvPr>
          <p:cNvSpPr/>
          <p:nvPr/>
        </p:nvSpPr>
        <p:spPr>
          <a:xfrm>
            <a:off x="3753358" y="6288405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CC7BBA26-4092-453F-9A3A-5C8D222AC65F}"/>
              </a:ext>
            </a:extLst>
          </p:cNvPr>
          <p:cNvSpPr txBox="1"/>
          <p:nvPr/>
        </p:nvSpPr>
        <p:spPr>
          <a:xfrm>
            <a:off x="3872230" y="6247257"/>
            <a:ext cx="1727200" cy="16459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404040"/>
                </a:solidFill>
                <a:latin typeface="맑은 고딕"/>
                <a:ea typeface="맑은 고딕"/>
              </a:rPr>
              <a:t>참고(극단 조건·압축 혼합, 앵커 제외)</a:t>
            </a:r>
          </a:p>
        </p:txBody>
      </p:sp>
    </p:spTree>
    <p:extLst>
      <p:ext uri="{BB962C8B-B14F-4D97-AF65-F5344CB8AC3E}">
        <p14:creationId xmlns:p14="http://schemas.microsoft.com/office/powerpoint/2010/main" val="1122340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Default">
  <a:themeElements>
    <a:clrScheme name="Custom 1">
      <a:dk1>
        <a:srgbClr val="000000"/>
      </a:dk1>
      <a:lt1>
        <a:srgbClr val="FFFFFF"/>
      </a:lt1>
      <a:dk2>
        <a:srgbClr val="1C1C1C"/>
      </a:dk2>
      <a:lt2>
        <a:srgbClr val="0DD5FF"/>
      </a:lt2>
      <a:accent1>
        <a:srgbClr val="3C77FF"/>
      </a:accent1>
      <a:accent2>
        <a:srgbClr val="FF6616"/>
      </a:accent2>
      <a:accent3>
        <a:srgbClr val="EFB949"/>
      </a:accent3>
      <a:accent4>
        <a:srgbClr val="FF4150"/>
      </a:accent4>
      <a:accent5>
        <a:srgbClr val="FF8050"/>
      </a:accent5>
      <a:accent6>
        <a:srgbClr val="7049FF"/>
      </a:accent6>
      <a:hlink>
        <a:srgbClr val="8080FF"/>
      </a:hlink>
      <a:folHlink>
        <a:srgbClr val="40A780"/>
      </a:folHlink>
    </a:clrScheme>
    <a:fontScheme name="Custom 1">
      <a:majorFont>
        <a:latin typeface="Samsung Sharp Sans Bold"/>
        <a:ea typeface=""/>
        <a:cs typeface=""/>
      </a:majorFont>
      <a:minorFont>
        <a:latin typeface="Samsung Sharp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Default">
  <a:themeElements>
    <a:clrScheme name="Custom 1">
      <a:dk1>
        <a:srgbClr val="000000"/>
      </a:dk1>
      <a:lt1>
        <a:srgbClr val="FFFFFF"/>
      </a:lt1>
      <a:dk2>
        <a:srgbClr val="1C1C1C"/>
      </a:dk2>
      <a:lt2>
        <a:srgbClr val="0DD5FF"/>
      </a:lt2>
      <a:accent1>
        <a:srgbClr val="3C77FF"/>
      </a:accent1>
      <a:accent2>
        <a:srgbClr val="FF6616"/>
      </a:accent2>
      <a:accent3>
        <a:srgbClr val="EFB949"/>
      </a:accent3>
      <a:accent4>
        <a:srgbClr val="FF4150"/>
      </a:accent4>
      <a:accent5>
        <a:srgbClr val="FF8050"/>
      </a:accent5>
      <a:accent6>
        <a:srgbClr val="7049FF"/>
      </a:accent6>
      <a:hlink>
        <a:srgbClr val="8080FF"/>
      </a:hlink>
      <a:folHlink>
        <a:srgbClr val="40A780"/>
      </a:folHlink>
    </a:clrScheme>
    <a:fontScheme name="Custom 1">
      <a:majorFont>
        <a:latin typeface="Samsung Sharp Sans Bold"/>
        <a:ea typeface=""/>
        <a:cs typeface=""/>
      </a:majorFont>
      <a:minorFont>
        <a:latin typeface="Samsung Sharp Sans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81916</TotalTime>
  <Words>70173</Words>
  <Application>Microsoft Office PowerPoint</Application>
  <PresentationFormat>와이드스크린</PresentationFormat>
  <Paragraphs>11526</Paragraphs>
  <Slides>165</Slides>
  <Notes>105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5</vt:i4>
      </vt:variant>
      <vt:variant>
        <vt:lpstr>슬라이드 제목</vt:lpstr>
      </vt:variant>
      <vt:variant>
        <vt:i4>165</vt:i4>
      </vt:variant>
    </vt:vector>
  </HeadingPairs>
  <TitlesOfParts>
    <vt:vector size="192" baseType="lpstr">
      <vt:lpstr>-apple-system</vt:lpstr>
      <vt:lpstr>Aptos</vt:lpstr>
      <vt:lpstr>Helvetica Neue</vt:lpstr>
      <vt:lpstr>Mona Sans VF</vt:lpstr>
      <vt:lpstr>Noto Sans KR</vt:lpstr>
      <vt:lpstr>Samsung Sharp Sans Bold</vt:lpstr>
      <vt:lpstr>Samsung Sharp Sans Medium</vt:lpstr>
      <vt:lpstr>Samsung Sharp Sans Regular</vt:lpstr>
      <vt:lpstr>SAMSUNGONE-400C</vt:lpstr>
      <vt:lpstr>SAMSUNGONE-600C</vt:lpstr>
      <vt:lpstr>SamsungOneKorean 600C</vt:lpstr>
      <vt:lpstr>굴림</vt:lpstr>
      <vt:lpstr>Malgun Gothic</vt:lpstr>
      <vt:lpstr>Malgun Gothic</vt:lpstr>
      <vt:lpstr>삼성둥근고딕OTF Medium</vt:lpstr>
      <vt:lpstr>Arial</vt:lpstr>
      <vt:lpstr>Calibri</vt:lpstr>
      <vt:lpstr>Cambria Math</vt:lpstr>
      <vt:lpstr>Courier New</vt:lpstr>
      <vt:lpstr>Segoe UI</vt:lpstr>
      <vt:lpstr>Symbol</vt:lpstr>
      <vt:lpstr>Wingdings</vt:lpstr>
      <vt:lpstr>Office 테마</vt:lpstr>
      <vt:lpstr>2_Default</vt:lpstr>
      <vt:lpstr>3_Default</vt:lpstr>
      <vt:lpstr>1_Office 테마</vt:lpstr>
      <vt:lpstr>2_Office 테마</vt:lpstr>
      <vt:lpstr>PowerPoint 프레젠테이션</vt:lpstr>
      <vt:lpstr>PowerPoint 프레젠테이션</vt:lpstr>
      <vt:lpstr>과제 배경</vt:lpstr>
      <vt:lpstr>문제 설명 </vt:lpstr>
      <vt:lpstr>과제 필요성</vt:lpstr>
      <vt:lpstr>과제 범위</vt:lpstr>
      <vt:lpstr>과제 개요</vt:lpstr>
      <vt:lpstr>Architecture Design Process</vt:lpstr>
      <vt:lpstr>PowerPoint 프레젠테이션</vt:lpstr>
      <vt:lpstr>품질 요구사항</vt:lpstr>
      <vt:lpstr>아키텍처 드라이버 선정</vt:lpstr>
      <vt:lpstr>Architecture 분석 – Overall System (Context View)</vt:lpstr>
      <vt:lpstr>Architecture 분석 – DP 연결성 </vt:lpstr>
      <vt:lpstr>Architecture 분석 – Overall Architecture (Module View, 요약)</vt:lpstr>
      <vt:lpstr>배경 지식 (KV 캐시, Prefill/Decode)</vt:lpstr>
      <vt:lpstr>DP1. Data Migration 결정 구조 - 배경</vt:lpstr>
      <vt:lpstr>DP1. Data Migration 결정 구조 - 설계</vt:lpstr>
      <vt:lpstr>DP1. Data Migration 결정 구조 - 보완 설계</vt:lpstr>
      <vt:lpstr>DP2. 연산(Prefill/Decode) 실행 위치 결정 구조 - 배경</vt:lpstr>
      <vt:lpstr>DP2. 연산(Prefill/Decode) 실행 위치 결정 구조 - 설계</vt:lpstr>
      <vt:lpstr>DP2. 연산(Prefill/Decode) 실행 위치 결정 구조 - 보완 설계</vt:lpstr>
      <vt:lpstr>DP3. KV 캐시 재사용 구조 – 배경 </vt:lpstr>
      <vt:lpstr>DP3. KV 캐시 재사용 구조 – 설계 </vt:lpstr>
      <vt:lpstr>DP3. KV 캐시 재사용 구조 – 보완 설계 </vt:lpstr>
      <vt:lpstr>DP4. 서버 간 KV 캐시 공유 구조 – 배경</vt:lpstr>
      <vt:lpstr>DP4. 서버 간 KV 캐시 공유 구조 – 설계</vt:lpstr>
      <vt:lpstr>DP4. 서버 간 KV 캐시 공유 구조 – 보완 설계</vt:lpstr>
      <vt:lpstr>전체 설계 Coverage</vt:lpstr>
      <vt:lpstr>최종 구조 설계 – Module View</vt:lpstr>
      <vt:lpstr>최종 구조 설계 – C&amp;C View</vt:lpstr>
      <vt:lpstr>최종 구조 설계 – Deployment View</vt:lpstr>
      <vt:lpstr>PowerPoint 프레젠테이션</vt:lpstr>
      <vt:lpstr>과제 배경</vt:lpstr>
      <vt:lpstr>실제 Context 누적 길이</vt:lpstr>
      <vt:lpstr>System 연구를 왜 해야 하는가? </vt:lpstr>
      <vt:lpstr>PowerPoint 프레젠테이션</vt:lpstr>
      <vt:lpstr>Samsung Future Memory for AI</vt:lpstr>
      <vt:lpstr>ScHBM (Samsung Custom HBM)</vt:lpstr>
      <vt:lpstr>Companion Mode VS. Standalone Mode</vt:lpstr>
      <vt:lpstr>PowerPoint 프레젠테이션</vt:lpstr>
      <vt:lpstr>협업 논의 자료 – 메모리 DRAM 솔루션팀 (CXL-PNM)</vt:lpstr>
      <vt:lpstr>인터뷰 자료 – 메모리 상품기획팀, DRAM 설계팀 (PIM)</vt:lpstr>
      <vt:lpstr>인터뷰 자료 – 메모리 DRAM 설계팀 손교민 Master (PIM)</vt:lpstr>
      <vt:lpstr>협업 논의 자료 – Flash 설계팀 (UBF)</vt:lpstr>
      <vt:lpstr>요구사항 분석 – 요구사항 도출 과정 상세</vt:lpstr>
      <vt:lpstr>Use Case 도출 – Use-case Diagram</vt:lpstr>
      <vt:lpstr>Use Case 도출 – UC 목록</vt:lpstr>
      <vt:lpstr>요구사항 분석 – 기능 요구사항 분석</vt:lpstr>
      <vt:lpstr>기능 요구사항 – 전체</vt:lpstr>
      <vt:lpstr>PowerPoint 프레젠테이션</vt:lpstr>
      <vt:lpstr>PowerPoint 프레젠테이션</vt:lpstr>
      <vt:lpstr>PowerPoint 프레젠테이션</vt:lpstr>
      <vt:lpstr>PowerPoint 프레젠테이션</vt:lpstr>
      <vt:lpstr>품질 요구사항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품질 요구사항</vt:lpstr>
      <vt:lpstr>QA-01. Performance (Time behavior) - 별 기준과 근거</vt:lpstr>
      <vt:lpstr>QA-02. Resource Efficiency - 별 기준과 근거</vt:lpstr>
      <vt:lpstr>QA-03. Modifiability - 별 기준과 근거</vt:lpstr>
      <vt:lpstr>QA-04. Scalability - 별 기준과 근거</vt:lpstr>
      <vt:lpstr>QA-05. Functional Correctness - 별 기준과 근거</vt:lpstr>
      <vt:lpstr>PowerPoint 프레젠테이션</vt:lpstr>
      <vt:lpstr>요청 처리 기본 경로 – Class / Sequence (vLLM 기준선)</vt:lpstr>
      <vt:lpstr>DP1 Data Migration 결정 – Class / Sequence</vt:lpstr>
      <vt:lpstr>DP2 연산 실행 위치 결정 – Class / Sequence</vt:lpstr>
      <vt:lpstr>DP3 KV 캐시 재사용 – Class / Sequence</vt:lpstr>
      <vt:lpstr>DP4 서버 간 KV 캐시 공유 – Class / Sequence</vt:lpstr>
      <vt:lpstr>DP1. 이기종 메모리 기반 Data Migration 결정 구조 - 설계</vt:lpstr>
      <vt:lpstr>DP1. 이기종 메모리 기반 Data Migration 결정 구조 – 1안 상세</vt:lpstr>
      <vt:lpstr>DP1. 이기종 메모리 기반 Data Migration 결정 구조 – 2안 상세</vt:lpstr>
      <vt:lpstr>PowerPoint 프레젠테이션</vt:lpstr>
      <vt:lpstr>PowerPoint 프레젠테이션</vt:lpstr>
      <vt:lpstr>PowerPoint 프레젠테이션</vt:lpstr>
      <vt:lpstr>PowerPoint 프레젠테이션</vt:lpstr>
      <vt:lpstr> C1 — 스케줄링 시점 결정</vt:lpstr>
      <vt:lpstr>C2 — 사전 계획 결정</vt:lpstr>
      <vt:lpstr>QA List - ISO/IEC 25010:2023</vt:lpstr>
      <vt:lpstr>요구사항 분석 – 배경 지식 (vLLM Framework)</vt:lpstr>
      <vt:lpstr>vLLM – 모듈 별 역할</vt:lpstr>
      <vt:lpstr>KV 캐시를 활용한 Attention 연산 과정 상세</vt:lpstr>
      <vt:lpstr>전체 DP 별 QA</vt:lpstr>
      <vt:lpstr>PowerPoint 프레젠테이션</vt:lpstr>
      <vt:lpstr>DP3. KV 캐시 재사용 구조 – 보완 설계 </vt:lpstr>
      <vt:lpstr>DP3. Long Context를 위한 KV 캐시 재사용 구조 - 보완 설계</vt:lpstr>
      <vt:lpstr>DP3. Long Context를 위한 KV 캐시 재사용 구조 - 보완 설계</vt:lpstr>
      <vt:lpstr>DP3. Long Context를 위한 KV 캐시 재사용 구조 - 보완 설계</vt:lpstr>
      <vt:lpstr>DP3. Long Context를 위한 KV 캐시 재사용 구조 - 보완 설계</vt:lpstr>
      <vt:lpstr>DP3. Long Context를 위한 KV 캐시 재사용 구조 - 보완 설계</vt:lpstr>
      <vt:lpstr>DP4. 비일관 CXL 공유 메모리의 KV 일관성 구조 – 배경</vt:lpstr>
      <vt:lpstr>DP4. 비일관 CXL 공유 메모리의 KV 일관성 구조 – 설계</vt:lpstr>
      <vt:lpstr>DP4. 서버 간 KV 캐시 공유 구조 – 배경</vt:lpstr>
      <vt:lpstr>DP4. 서버 간 KV 캐시 공유 구조 – 설계</vt:lpstr>
      <vt:lpstr>DP5. 다중 서버 간 요청 조율 (Orchestration) 구조 - 배경</vt:lpstr>
      <vt:lpstr>DP5. 다중 서버 간 요청 조율 (Orchestration) 구조 - 배경</vt:lpstr>
      <vt:lpstr>DP5. 다중 서버 간 요청 조율 (Orchestration) 구조 - 배경</vt:lpstr>
      <vt:lpstr>DP5. 다중 서버 간 요청 조율 (Orchestration) 구조 - 설계</vt:lpstr>
      <vt:lpstr>과제 배경</vt:lpstr>
      <vt:lpstr>DP1. Data Migration 결정 구조 - 설계</vt:lpstr>
      <vt:lpstr>DP1. Data Migration 결정 구조 - 설계</vt:lpstr>
      <vt:lpstr>DP1. Data Migration 결정 구조 - 설계</vt:lpstr>
      <vt:lpstr>DP1. Data Migration 결정 구조 - 보완 설계</vt:lpstr>
      <vt:lpstr>DP1. Data Migration 결정 구조 - 배경</vt:lpstr>
      <vt:lpstr>DP3. KV 캐시 재사용 구조 – 설계 상세 </vt:lpstr>
      <vt:lpstr>DP4. 서버 간 데이터 공유 구조 – 배경</vt:lpstr>
      <vt:lpstr>DP4. 서버 간 데이터 공유 구조 – 배경</vt:lpstr>
      <vt:lpstr>DP3. KV 캐시 재사용 구조 – 배경 </vt:lpstr>
      <vt:lpstr>DP3. KV 캐시 재사용 구조 – 설계 </vt:lpstr>
      <vt:lpstr>DP4. 서버 간 데이터 공유 구조 – 설계</vt:lpstr>
      <vt:lpstr>PowerPoint 프레젠테이션</vt:lpstr>
      <vt:lpstr>DP1. Data Migration 결정 구조 - 설계</vt:lpstr>
      <vt:lpstr>DP1. Data Migration 결정 구조 - 설계</vt:lpstr>
      <vt:lpstr>DP1. Data Migration 결정 구조 - 설계</vt:lpstr>
      <vt:lpstr>DP1. Data Migration 결정 구조 - 설계</vt:lpstr>
      <vt:lpstr>DP1. Data Migration 결정 구조 - 설계</vt:lpstr>
      <vt:lpstr>DP1. Data Migration 결정 구조 - 배경</vt:lpstr>
      <vt:lpstr>DP1. Data Migration 결정 구조 - 배경</vt:lpstr>
      <vt:lpstr>DP1. Data Migration 결정 구조 - 배경</vt:lpstr>
      <vt:lpstr>DP1. Data Migration 결정 구조 - 설계</vt:lpstr>
      <vt:lpstr>DP1. Data Migration 결정 구조 - 보완 설계</vt:lpstr>
      <vt:lpstr>DP1. Data Migration 결정 구조 - 설계</vt:lpstr>
      <vt:lpstr>DP1. Data Migration 결정 구조 – 보완 설계</vt:lpstr>
      <vt:lpstr>PowerPoint 프레젠테이션</vt:lpstr>
      <vt:lpstr>PowerPoint 프레젠테이션</vt:lpstr>
      <vt:lpstr>배경 지식 (KV Cache)</vt:lpstr>
      <vt:lpstr>DP2. 배경 지식 – Prefill / Decode 연산</vt:lpstr>
      <vt:lpstr>DP1. Data Migration 결정 구조 - 설계</vt:lpstr>
      <vt:lpstr>DP2. 연산(Prefill/Decode) 실행 위치 결정 구조 - 설계</vt:lpstr>
      <vt:lpstr>DP2. 연산(Prefill/Decode) 실행 위치 결정 구조 – 보완 설계</vt:lpstr>
      <vt:lpstr>DP3. KV 캐시 재사용 구조 – 설계 </vt:lpstr>
      <vt:lpstr>DP3. KV 캐시 재사용 구조 – 보완 설계 </vt:lpstr>
      <vt:lpstr>DP4. 서버 간 KV 캐시 공유 구조 – 배경</vt:lpstr>
      <vt:lpstr>DP3. KV 캐시 재사용 구조 – 배경 </vt:lpstr>
      <vt:lpstr>DP3. KV 캐시 재사용 구조 – 보완 설계 </vt:lpstr>
      <vt:lpstr>DP2. Cost 계산 비용 검토 — 사전 계획(Plan) 분리의 근거</vt:lpstr>
      <vt:lpstr>품질 요구사항</vt:lpstr>
      <vt:lpstr>DP4. 서버 간 KV 캐시 공유 구조 – 설계</vt:lpstr>
      <vt:lpstr>DP4. 서버 간 KV 캐시 공유 구조 – 설계</vt:lpstr>
      <vt:lpstr>DP4. 서버 간 KV 캐시 공유 구조 – 보완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과제 배경</vt:lpstr>
      <vt:lpstr>과제 필요성</vt:lpstr>
      <vt:lpstr>과제 필요성</vt:lpstr>
      <vt:lpstr>PowerPoint 프레젠테이션</vt:lpstr>
      <vt:lpstr>Architecture 분석 – Overall Architecture (Module View)</vt:lpstr>
      <vt:lpstr>최종 구조 설계 – 전체 Class Diagram (1/3) 요청 조율·실행 위치 결정</vt:lpstr>
      <vt:lpstr>최종 구조 설계 – 전체 Class Diagram (2/3) 데이터 이동·자원 관리</vt:lpstr>
      <vt:lpstr>최종 구조 설계 – 전체 Class Diagram (3/3) KV 재사용·공유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김명우/MYEONG WOO KIM</dc:creator>
  <cp:lastModifiedBy>Myeong Woo Kim</cp:lastModifiedBy>
  <cp:revision>1534</cp:revision>
  <dcterms:created xsi:type="dcterms:W3CDTF">2026-06-30T10:16:17Z</dcterms:created>
  <dcterms:modified xsi:type="dcterms:W3CDTF">2026-10-25T16:33:26Z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
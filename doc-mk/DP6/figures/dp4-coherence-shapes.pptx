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P4 일관성 문제 그림"/>
          <p:cNvGrpSpPr/>
          <p:nvPr/>
        </p:nvGrpSpPr>
        <p:grpSpPr>
          <a:xfrm>
            <a:off x="6070862" y="1998482"/>
            <a:ext cx="6221690" cy="2136742"/>
            <a:chOff x="6070862" y="1998482"/>
            <a:chExt cx="6221690" cy="2136742"/>
          </a:xfrm>
        </p:grpSpPr>
        <p:sp>
          <p:nvSpPr>
            <p:cNvPr id="3" name="Rounded Rectangle 2"/>
            <p:cNvSpPr/>
            <p:nvPr/>
          </p:nvSpPr>
          <p:spPr>
            <a:xfrm>
              <a:off x="6385089" y="1998482"/>
              <a:ext cx="1809946" cy="188536"/>
            </a:xfrm>
            <a:prstGeom prst="roundRect">
              <a:avLst>
                <a:gd name="adj" fmla="val 20000"/>
              </a:avLst>
            </a:prstGeom>
            <a:solidFill>
              <a:srgbClr val="F2F2F2"/>
            </a:solidFill>
            <a:ln w="6350">
              <a:solidFill>
                <a:srgbClr val="9E9E9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567340" y="2029591"/>
              <a:ext cx="1445443" cy="14140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750" b="1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① 캐시 비일관 · Stale Read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47934" y="2262433"/>
              <a:ext cx="691299" cy="414779"/>
            </a:xfrm>
            <a:prstGeom prst="roundRect">
              <a:avLst>
                <a:gd name="adj" fmla="val 7575"/>
              </a:avLst>
            </a:prstGeom>
            <a:solidFill>
              <a:srgbClr val="DAE3F3"/>
            </a:solidFill>
            <a:ln w="12700">
              <a:solidFill>
                <a:srgbClr val="2F55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70862" y="2268843"/>
              <a:ext cx="1445443" cy="13197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700" b="1">
                  <a:solidFill>
                    <a:srgbClr val="2F5597"/>
                  </a:solidFill>
                  <a:latin typeface="맑은 고딕"/>
                  <a:ea typeface="맑은 고딕"/>
                  <a:cs typeface="맑은 고딕"/>
                </a:rPr>
                <a:t>노드 A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91926" y="2413262"/>
              <a:ext cx="603315" cy="213674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6350">
              <a:solidFill>
                <a:srgbClr val="2F55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070862" y="2420552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블록 퇴출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70862" y="2508535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(쓰기 주체)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440891" y="2262433"/>
              <a:ext cx="691299" cy="414779"/>
            </a:xfrm>
            <a:prstGeom prst="roundRect">
              <a:avLst>
                <a:gd name="adj" fmla="val 7575"/>
              </a:avLst>
            </a:prstGeom>
            <a:solidFill>
              <a:srgbClr val="DAE3F3"/>
            </a:solidFill>
            <a:ln w="12700">
              <a:solidFill>
                <a:srgbClr val="2F55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63819" y="2268843"/>
              <a:ext cx="1445443" cy="13197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700" b="1">
                  <a:solidFill>
                    <a:srgbClr val="2F5597"/>
                  </a:solidFill>
                  <a:latin typeface="맑은 고딕"/>
                  <a:ea typeface="맑은 고딕"/>
                  <a:cs typeface="맑은 고딕"/>
                </a:rPr>
                <a:t>노드 B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484882" y="2413262"/>
              <a:ext cx="603315" cy="213674"/>
            </a:xfrm>
            <a:prstGeom prst="roundRect">
              <a:avLst>
                <a:gd name="adj" fmla="val 11764"/>
              </a:avLst>
            </a:prstGeom>
            <a:solidFill>
              <a:srgbClr val="FFF4D6"/>
            </a:solidFill>
            <a:ln w="635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063819" y="2420552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1">
                  <a:solidFill>
                    <a:srgbClr val="C00000"/>
                  </a:solidFill>
                  <a:latin typeface="맑은 고딕"/>
                  <a:ea typeface="맑은 고딕"/>
                  <a:cs typeface="맑은 고딕"/>
                </a:rPr>
                <a:t>캐시: h→#7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63819" y="2508535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1">
                  <a:solidFill>
                    <a:srgbClr val="C00000"/>
                  </a:solidFill>
                  <a:latin typeface="맑은 고딕"/>
                  <a:ea typeface="맑은 고딕"/>
                  <a:cs typeface="맑은 고딕"/>
                </a:rPr>
                <a:t>(stale)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447934" y="2941163"/>
              <a:ext cx="1684256" cy="402210"/>
            </a:xfrm>
            <a:prstGeom prst="roundRect">
              <a:avLst>
                <a:gd name="adj" fmla="val 7812"/>
              </a:avLst>
            </a:prstGeom>
            <a:solidFill>
              <a:srgbClr val="FBE5D6"/>
            </a:solidFill>
            <a:ln w="1270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67340" y="2961022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1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공유 메모리 풀 (비일관)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498210" y="3085707"/>
              <a:ext cx="754144" cy="201105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152561" y="3127342"/>
              <a:ext cx="1445443" cy="11783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1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idx[h]: #7 → ∅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302631" y="3085707"/>
              <a:ext cx="779282" cy="201105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69551" y="3127342"/>
              <a:ext cx="1445443" cy="11783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1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blk#7: 재사용됨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V="1">
              <a:off x="7723695" y="2689781"/>
              <a:ext cx="0" cy="251382"/>
            </a:xfrm>
            <a:prstGeom prst="line">
              <a:avLst/>
            </a:prstGeom>
            <a:ln w="12700">
              <a:solidFill>
                <a:srgbClr val="2F5597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7579151" y="2758911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1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6793584" y="2689781"/>
              <a:ext cx="0" cy="251382"/>
            </a:xfrm>
            <a:prstGeom prst="line">
              <a:avLst/>
            </a:prstGeom>
            <a:ln w="12700">
              <a:solidFill>
                <a:srgbClr val="2F5597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/>
            <p:cNvSpPr/>
            <p:nvPr/>
          </p:nvSpPr>
          <p:spPr>
            <a:xfrm>
              <a:off x="6825006" y="2758911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2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7874524" y="2689781"/>
              <a:ext cx="0" cy="251382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7905946" y="2758911"/>
              <a:ext cx="113122" cy="11312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3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6441649" y="3399934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1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586194" y="3394215"/>
              <a:ext cx="1608841" cy="1225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65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B가 idx[h]를 읽어 CPU 캐시에 적재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6441649" y="3519340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2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586194" y="3513621"/>
              <a:ext cx="1608841" cy="1225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65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A가 블록 퇴출, idx[h]=∅ 갱신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6441649" y="3638746"/>
              <a:ext cx="113122" cy="11312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3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86194" y="3633027"/>
              <a:ext cx="1608841" cy="1225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65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B는 무효화 못 받고 캐시값(#7) 사용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447934" y="3883843"/>
              <a:ext cx="1684256" cy="251381"/>
            </a:xfrm>
            <a:prstGeom prst="roundRect">
              <a:avLst>
                <a:gd name="adj" fmla="val 15000"/>
              </a:avLst>
            </a:prstGeom>
            <a:solidFill>
              <a:srgbClr val="FDE8E6"/>
            </a:solidFill>
            <a:ln w="127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567340" y="3896538"/>
              <a:ext cx="1445443" cy="13197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700" b="1">
                  <a:solidFill>
                    <a:srgbClr val="C00000"/>
                  </a:solidFill>
                  <a:latin typeface="맑은 고딕"/>
                  <a:ea typeface="맑은 고딕"/>
                  <a:cs typeface="맑은 고딕"/>
                </a:rPr>
                <a:t>재사용된 blk#7 참조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567340" y="4010100"/>
              <a:ext cx="1445443" cy="1225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50" b="0">
                  <a:solidFill>
                    <a:srgbClr val="C00000"/>
                  </a:solidFill>
                  <a:latin typeface="맑은 고딕"/>
                  <a:ea typeface="맑은 고딕"/>
                  <a:cs typeface="맑은 고딕"/>
                </a:rPr>
                <a:t>→ 다른 요청의 KV 오염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8276734" y="1998482"/>
              <a:ext cx="1809946" cy="188536"/>
            </a:xfrm>
            <a:prstGeom prst="roundRect">
              <a:avLst>
                <a:gd name="adj" fmla="val 20000"/>
              </a:avLst>
            </a:prstGeom>
            <a:solidFill>
              <a:srgbClr val="F2F2F2"/>
            </a:solidFill>
            <a:ln w="6350">
              <a:solidFill>
                <a:srgbClr val="9E9E9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458986" y="2029591"/>
              <a:ext cx="1445443" cy="14140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750" b="1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② Atomic 부재 · Lost Update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8339579" y="2262433"/>
              <a:ext cx="691299" cy="414779"/>
            </a:xfrm>
            <a:prstGeom prst="roundRect">
              <a:avLst>
                <a:gd name="adj" fmla="val 7575"/>
              </a:avLst>
            </a:prstGeom>
            <a:solidFill>
              <a:srgbClr val="DAE3F3"/>
            </a:solidFill>
            <a:ln w="12700">
              <a:solidFill>
                <a:srgbClr val="2F55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962507" y="2268843"/>
              <a:ext cx="1445443" cy="13197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700" b="1">
                  <a:solidFill>
                    <a:srgbClr val="2F5597"/>
                  </a:solidFill>
                  <a:latin typeface="맑은 고딕"/>
                  <a:ea typeface="맑은 고딕"/>
                  <a:cs typeface="맑은 고딕"/>
                </a:rPr>
                <a:t>노드 A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8383571" y="2413262"/>
              <a:ext cx="603315" cy="213674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6350">
              <a:solidFill>
                <a:srgbClr val="2F55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962507" y="2420552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refcnt 읽음: 3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962507" y="2508535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→ 4 기록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9332536" y="2262433"/>
              <a:ext cx="691299" cy="414779"/>
            </a:xfrm>
            <a:prstGeom prst="roundRect">
              <a:avLst>
                <a:gd name="adj" fmla="val 7575"/>
              </a:avLst>
            </a:prstGeom>
            <a:solidFill>
              <a:srgbClr val="DAE3F3"/>
            </a:solidFill>
            <a:ln w="12700">
              <a:solidFill>
                <a:srgbClr val="2F55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955464" y="2268843"/>
              <a:ext cx="1445443" cy="13197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700" b="1">
                  <a:solidFill>
                    <a:srgbClr val="2F5597"/>
                  </a:solidFill>
                  <a:latin typeface="맑은 고딕"/>
                  <a:ea typeface="맑은 고딕"/>
                  <a:cs typeface="맑은 고딕"/>
                </a:rPr>
                <a:t>노드 B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376528" y="2413262"/>
              <a:ext cx="603315" cy="213674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6350">
              <a:solidFill>
                <a:srgbClr val="2F55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955464" y="2420552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refcnt 읽음: 3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955464" y="2508535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→ 4 기록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8339579" y="2941163"/>
              <a:ext cx="1684256" cy="402210"/>
            </a:xfrm>
            <a:prstGeom prst="roundRect">
              <a:avLst>
                <a:gd name="adj" fmla="val 7812"/>
              </a:avLst>
            </a:prstGeom>
            <a:solidFill>
              <a:srgbClr val="FBE5D6"/>
            </a:solidFill>
            <a:ln w="1270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458986" y="2961022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1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공유 메모리 풀 (비일관)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8389856" y="3085707"/>
              <a:ext cx="691299" cy="201105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012784" y="3127342"/>
              <a:ext cx="1445443" cy="11783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1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refcnt: 3 → 4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131431" y="3085707"/>
              <a:ext cx="842128" cy="201105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635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829773" y="3127342"/>
              <a:ext cx="1445443" cy="11783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1">
                  <a:solidFill>
                    <a:srgbClr val="C00000"/>
                  </a:solidFill>
                  <a:latin typeface="맑은 고딕"/>
                  <a:ea typeface="맑은 고딕"/>
                  <a:cs typeface="맑은 고딕"/>
                </a:rPr>
                <a:t>기대값 5 (A+B)</a:t>
              </a:r>
            </a:p>
          </p:txBody>
        </p:sp>
        <p:cxnSp>
          <p:nvCxnSpPr>
            <p:cNvPr id="54" name="Connector 53"/>
            <p:cNvCxnSpPr/>
            <p:nvPr/>
          </p:nvCxnSpPr>
          <p:spPr>
            <a:xfrm flipV="1">
              <a:off x="8609814" y="2689781"/>
              <a:ext cx="0" cy="251382"/>
            </a:xfrm>
            <a:prstGeom prst="line">
              <a:avLst/>
            </a:prstGeom>
            <a:ln w="12700">
              <a:solidFill>
                <a:srgbClr val="2F5597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8465270" y="2758911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1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>
              <a:off x="8760643" y="2689781"/>
              <a:ext cx="0" cy="251382"/>
            </a:xfrm>
            <a:prstGeom prst="line">
              <a:avLst/>
            </a:prstGeom>
            <a:ln w="12700">
              <a:solidFill>
                <a:srgbClr val="2F5597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/>
            <p:cNvSpPr/>
            <p:nvPr/>
          </p:nvSpPr>
          <p:spPr>
            <a:xfrm>
              <a:off x="8792066" y="2758911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2</a:t>
              </a:r>
            </a:p>
          </p:txBody>
        </p:sp>
        <p:cxnSp>
          <p:nvCxnSpPr>
            <p:cNvPr id="58" name="Connector 57"/>
            <p:cNvCxnSpPr/>
            <p:nvPr/>
          </p:nvCxnSpPr>
          <p:spPr>
            <a:xfrm flipV="1">
              <a:off x="9602771" y="2689781"/>
              <a:ext cx="0" cy="251382"/>
            </a:xfrm>
            <a:prstGeom prst="line">
              <a:avLst/>
            </a:prstGeom>
            <a:ln w="12700">
              <a:solidFill>
                <a:srgbClr val="2F5597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/>
            <p:cNvSpPr/>
            <p:nvPr/>
          </p:nvSpPr>
          <p:spPr>
            <a:xfrm>
              <a:off x="9458227" y="2758911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1</a:t>
              </a:r>
            </a:p>
          </p:txBody>
        </p:sp>
        <p:cxnSp>
          <p:nvCxnSpPr>
            <p:cNvPr id="60" name="Connector 59"/>
            <p:cNvCxnSpPr/>
            <p:nvPr/>
          </p:nvCxnSpPr>
          <p:spPr>
            <a:xfrm>
              <a:off x="9753600" y="2689781"/>
              <a:ext cx="0" cy="251382"/>
            </a:xfrm>
            <a:prstGeom prst="line">
              <a:avLst/>
            </a:prstGeom>
            <a:ln w="12700">
              <a:solidFill>
                <a:srgbClr val="2F5597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/>
            <p:nvPr/>
          </p:nvSpPr>
          <p:spPr>
            <a:xfrm>
              <a:off x="9785023" y="2758911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3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8333295" y="3399934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477839" y="3394215"/>
              <a:ext cx="1608841" cy="1225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65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A·B가 동시에 refcnt=3 읽기</a:t>
              </a:r>
            </a:p>
          </p:txBody>
        </p:sp>
        <p:sp>
          <p:nvSpPr>
            <p:cNvPr id="64" name="Oval 63"/>
            <p:cNvSpPr/>
            <p:nvPr/>
          </p:nvSpPr>
          <p:spPr>
            <a:xfrm>
              <a:off x="8333295" y="3519340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2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477839" y="3513621"/>
              <a:ext cx="1608841" cy="1225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65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A가 4 기록 (3+1)</a:t>
              </a:r>
            </a:p>
          </p:txBody>
        </p:sp>
        <p:sp>
          <p:nvSpPr>
            <p:cNvPr id="66" name="Oval 65"/>
            <p:cNvSpPr/>
            <p:nvPr/>
          </p:nvSpPr>
          <p:spPr>
            <a:xfrm>
              <a:off x="8333295" y="3638746"/>
              <a:ext cx="113122" cy="11312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3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477839" y="3633027"/>
              <a:ext cx="1608841" cy="1225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65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B도 4 기록 → A의 증가분 소실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8339579" y="3883843"/>
              <a:ext cx="1684256" cy="251381"/>
            </a:xfrm>
            <a:prstGeom prst="roundRect">
              <a:avLst>
                <a:gd name="adj" fmla="val 15000"/>
              </a:avLst>
            </a:prstGeom>
            <a:solidFill>
              <a:srgbClr val="FDE8E6"/>
            </a:solidFill>
            <a:ln w="127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8458986" y="3896538"/>
              <a:ext cx="1445443" cy="13197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700" b="1">
                  <a:solidFill>
                    <a:srgbClr val="C00000"/>
                  </a:solidFill>
                  <a:latin typeface="맑은 고딕"/>
                  <a:ea typeface="맑은 고딕"/>
                  <a:cs typeface="맑은 고딕"/>
                </a:rPr>
                <a:t>refcnt 과소 (기대 5, 실제 4)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458986" y="4010100"/>
              <a:ext cx="1445443" cy="1225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50" b="0">
                  <a:solidFill>
                    <a:srgbClr val="C00000"/>
                  </a:solidFill>
                  <a:latin typeface="맑은 고딕"/>
                  <a:ea typeface="맑은 고딕"/>
                  <a:cs typeface="맑은 고딕"/>
                </a:rPr>
                <a:t>→ 사용 중 블록 조기 퇴출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0168379" y="1998482"/>
              <a:ext cx="1809946" cy="188536"/>
            </a:xfrm>
            <a:prstGeom prst="roundRect">
              <a:avLst>
                <a:gd name="adj" fmla="val 20000"/>
              </a:avLst>
            </a:prstGeom>
            <a:solidFill>
              <a:srgbClr val="F2F2F2"/>
            </a:solidFill>
            <a:ln w="6350">
              <a:solidFill>
                <a:srgbClr val="9E9E9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350631" y="2029591"/>
              <a:ext cx="1445443" cy="14140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750" b="1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③ 가시성 순서 · 불완전 읽기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10231225" y="2262433"/>
              <a:ext cx="691299" cy="414779"/>
            </a:xfrm>
            <a:prstGeom prst="roundRect">
              <a:avLst>
                <a:gd name="adj" fmla="val 7575"/>
              </a:avLst>
            </a:prstGeom>
            <a:solidFill>
              <a:srgbClr val="DAE3F3"/>
            </a:solidFill>
            <a:ln w="12700">
              <a:solidFill>
                <a:srgbClr val="2F55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9854153" y="2268843"/>
              <a:ext cx="1445443" cy="13197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700" b="1">
                  <a:solidFill>
                    <a:srgbClr val="2F5597"/>
                  </a:solidFill>
                  <a:latin typeface="맑은 고딕"/>
                  <a:ea typeface="맑은 고딕"/>
                  <a:cs typeface="맑은 고딕"/>
                </a:rPr>
                <a:t>노드 A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10275216" y="2413262"/>
              <a:ext cx="603315" cy="213674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6350">
              <a:solidFill>
                <a:srgbClr val="2F55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854153" y="2420552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KV 블록 쓰기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854153" y="2508535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(DMA 진행 중)</a:t>
              </a:r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11224181" y="2262433"/>
              <a:ext cx="691299" cy="414779"/>
            </a:xfrm>
            <a:prstGeom prst="roundRect">
              <a:avLst>
                <a:gd name="adj" fmla="val 7575"/>
              </a:avLst>
            </a:prstGeom>
            <a:solidFill>
              <a:srgbClr val="DAE3F3"/>
            </a:solidFill>
            <a:ln w="12700">
              <a:solidFill>
                <a:srgbClr val="2F55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0847109" y="2268843"/>
              <a:ext cx="1445443" cy="13197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700" b="1">
                  <a:solidFill>
                    <a:srgbClr val="2F5597"/>
                  </a:solidFill>
                  <a:latin typeface="맑은 고딕"/>
                  <a:ea typeface="맑은 고딕"/>
                  <a:cs typeface="맑은 고딕"/>
                </a:rPr>
                <a:t>노드 B</a:t>
              </a:r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11268173" y="2413262"/>
              <a:ext cx="603315" cy="213674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6350">
              <a:solidFill>
                <a:srgbClr val="2F55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847109" y="2420552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READY 확인 후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0847109" y="2508535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KV 읽기</a:t>
              </a:r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10231225" y="2941163"/>
              <a:ext cx="1684256" cy="402210"/>
            </a:xfrm>
            <a:prstGeom prst="roundRect">
              <a:avLst>
                <a:gd name="adj" fmla="val 7812"/>
              </a:avLst>
            </a:prstGeom>
            <a:solidFill>
              <a:srgbClr val="FBE5D6"/>
            </a:solidFill>
            <a:ln w="1270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0350631" y="2961022"/>
              <a:ext cx="1445443" cy="1131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1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공유 메모리 풀 (비일관)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10281501" y="3085707"/>
              <a:ext cx="578177" cy="201105"/>
            </a:xfrm>
            <a:prstGeom prst="roundRect">
              <a:avLst>
                <a:gd name="adj" fmla="val 9375"/>
              </a:avLst>
            </a:prstGeom>
            <a:solidFill>
              <a:srgbClr val="E8F5E9"/>
            </a:solidFill>
            <a:ln w="6350">
              <a:solidFill>
                <a:srgbClr val="2E7D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9847868" y="3127342"/>
              <a:ext cx="1445443" cy="11783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1">
                  <a:solidFill>
                    <a:srgbClr val="2E7D32"/>
                  </a:solidFill>
                  <a:latin typeface="맑은 고딕"/>
                  <a:ea typeface="맑은 고딕"/>
                  <a:cs typeface="맑은 고딕"/>
                </a:rPr>
                <a:t>meta: READY</a:t>
              </a: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10922524" y="3085707"/>
              <a:ext cx="942680" cy="201105"/>
            </a:xfrm>
            <a:prstGeom prst="roundRect">
              <a:avLst>
                <a:gd name="adj" fmla="val 9375"/>
              </a:avLst>
            </a:prstGeom>
            <a:pattFill prst="wdUpDiag">
              <a:fgClr>
                <a:srgbClr val="BDBDBD"/>
              </a:fgClr>
              <a:bgClr>
                <a:srgbClr val="FFFFFF"/>
              </a:bgClr>
            </a:patt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10922524" y="3085707"/>
              <a:ext cx="351934" cy="201105"/>
            </a:xfrm>
            <a:prstGeom prst="roundRect">
              <a:avLst>
                <a:gd name="adj" fmla="val 9375"/>
              </a:avLst>
            </a:prstGeom>
            <a:solidFill>
              <a:srgbClr val="F8CBAD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1104775" y="3133627"/>
              <a:ext cx="578177" cy="117835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00" b="1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KV: 일부만 기록</a:t>
              </a:r>
            </a:p>
          </p:txBody>
        </p:sp>
        <p:cxnSp>
          <p:nvCxnSpPr>
            <p:cNvPr id="90" name="Connector 89"/>
            <p:cNvCxnSpPr/>
            <p:nvPr/>
          </p:nvCxnSpPr>
          <p:spPr>
            <a:xfrm>
              <a:off x="10501460" y="2689781"/>
              <a:ext cx="0" cy="251382"/>
            </a:xfrm>
            <a:prstGeom prst="line">
              <a:avLst/>
            </a:prstGeom>
            <a:ln w="12700">
              <a:solidFill>
                <a:srgbClr val="2F5597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/>
            <p:cNvSpPr/>
            <p:nvPr/>
          </p:nvSpPr>
          <p:spPr>
            <a:xfrm>
              <a:off x="10356915" y="2758911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1</a:t>
              </a:r>
            </a:p>
          </p:txBody>
        </p:sp>
        <p:cxnSp>
          <p:nvCxnSpPr>
            <p:cNvPr id="92" name="Connector 91"/>
            <p:cNvCxnSpPr/>
            <p:nvPr/>
          </p:nvCxnSpPr>
          <p:spPr>
            <a:xfrm>
              <a:off x="10652289" y="2689781"/>
              <a:ext cx="0" cy="251382"/>
            </a:xfrm>
            <a:prstGeom prst="line">
              <a:avLst/>
            </a:prstGeom>
            <a:ln w="12700">
              <a:solidFill>
                <a:srgbClr val="2F5597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Oval 92"/>
            <p:cNvSpPr/>
            <p:nvPr/>
          </p:nvSpPr>
          <p:spPr>
            <a:xfrm>
              <a:off x="10683711" y="2758911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2</a:t>
              </a:r>
            </a:p>
          </p:txBody>
        </p:sp>
        <p:cxnSp>
          <p:nvCxnSpPr>
            <p:cNvPr id="94" name="Connector 93"/>
            <p:cNvCxnSpPr/>
            <p:nvPr/>
          </p:nvCxnSpPr>
          <p:spPr>
            <a:xfrm flipV="1">
              <a:off x="11494416" y="2689781"/>
              <a:ext cx="0" cy="251382"/>
            </a:xfrm>
            <a:prstGeom prst="line">
              <a:avLst/>
            </a:prstGeom>
            <a:ln w="12700">
              <a:solidFill>
                <a:srgbClr val="2F5597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Oval 94"/>
            <p:cNvSpPr/>
            <p:nvPr/>
          </p:nvSpPr>
          <p:spPr>
            <a:xfrm>
              <a:off x="11349872" y="2758911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3</a:t>
              </a:r>
            </a:p>
          </p:txBody>
        </p:sp>
        <p:cxnSp>
          <p:nvCxnSpPr>
            <p:cNvPr id="96" name="Connector 95"/>
            <p:cNvCxnSpPr/>
            <p:nvPr/>
          </p:nvCxnSpPr>
          <p:spPr>
            <a:xfrm flipV="1">
              <a:off x="11645245" y="2689781"/>
              <a:ext cx="0" cy="251382"/>
            </a:xfrm>
            <a:prstGeom prst="line">
              <a:avLst/>
            </a:prstGeom>
            <a:ln w="12700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Oval 96"/>
            <p:cNvSpPr/>
            <p:nvPr/>
          </p:nvSpPr>
          <p:spPr>
            <a:xfrm>
              <a:off x="11676668" y="2758911"/>
              <a:ext cx="113122" cy="11312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3</a:t>
              </a:r>
            </a:p>
          </p:txBody>
        </p:sp>
        <p:sp>
          <p:nvSpPr>
            <p:cNvPr id="98" name="Oval 97"/>
            <p:cNvSpPr/>
            <p:nvPr/>
          </p:nvSpPr>
          <p:spPr>
            <a:xfrm>
              <a:off x="10224940" y="3399934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1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0369485" y="3394215"/>
              <a:ext cx="1608841" cy="1225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65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A가 KV 블록을 풀에 쓰는 중 (DMA)</a:t>
              </a:r>
            </a:p>
          </p:txBody>
        </p:sp>
        <p:sp>
          <p:nvSpPr>
            <p:cNvPr id="100" name="Oval 99"/>
            <p:cNvSpPr/>
            <p:nvPr/>
          </p:nvSpPr>
          <p:spPr>
            <a:xfrm>
              <a:off x="10224940" y="3519340"/>
              <a:ext cx="113122" cy="113122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0369485" y="3513621"/>
              <a:ext cx="1608841" cy="1225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65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meta READY가 payload보다 먼저 가시화</a:t>
              </a:r>
            </a:p>
          </p:txBody>
        </p:sp>
        <p:sp>
          <p:nvSpPr>
            <p:cNvPr id="102" name="Oval 101"/>
            <p:cNvSpPr/>
            <p:nvPr/>
          </p:nvSpPr>
          <p:spPr>
            <a:xfrm>
              <a:off x="10224940" y="3638746"/>
              <a:ext cx="113122" cy="11312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맑은 고딕"/>
                </a:rPr>
                <a:t>3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0369485" y="3633027"/>
              <a:ext cx="1608841" cy="1225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650" b="0">
                  <a:solidFill>
                    <a:srgbClr val="222222"/>
                  </a:solidFill>
                  <a:latin typeface="맑은 고딕"/>
                  <a:ea typeface="맑은 고딕"/>
                  <a:cs typeface="맑은 고딕"/>
                </a:rPr>
                <a:t>B가 READY 확인 후 KV 읽기</a:t>
              </a:r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10231225" y="3883843"/>
              <a:ext cx="1684256" cy="251381"/>
            </a:xfrm>
            <a:prstGeom prst="roundRect">
              <a:avLst>
                <a:gd name="adj" fmla="val 15000"/>
              </a:avLst>
            </a:prstGeom>
            <a:solidFill>
              <a:srgbClr val="FDE8E6"/>
            </a:solidFill>
            <a:ln w="127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0350631" y="3896538"/>
              <a:ext cx="1445443" cy="13197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700" b="1">
                  <a:solidFill>
                    <a:srgbClr val="C00000"/>
                  </a:solidFill>
                  <a:latin typeface="맑은 고딕"/>
                  <a:ea typeface="맑은 고딕"/>
                  <a:cs typeface="맑은 고딕"/>
                </a:rPr>
                <a:t>미완성 KV를 읽음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0350631" y="4010100"/>
              <a:ext cx="1445443" cy="1225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650" b="0">
                  <a:solidFill>
                    <a:srgbClr val="C00000"/>
                  </a:solidFill>
                  <a:latin typeface="맑은 고딕"/>
                  <a:ea typeface="맑은 고딕"/>
                  <a:cs typeface="맑은 고딕"/>
                </a:rPr>
                <a:t>→ 잘못된 토큰 출력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
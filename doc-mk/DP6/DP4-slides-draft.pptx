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620" r:id="rId2"/>
    <p:sldId id="556" r:id="rId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BEF9F1-C331-4F09-BB34-2C86D332CF9A}" type="datetimeFigureOut">
              <a:rPr lang="ko-KR" altLang="en-US" smtClean="0"/>
              <a:t>2026-10-04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21FAD-12DB-4C6F-ACAE-E4B2AE40C6D1}" type="slidenum">
              <a:rPr lang="ko-KR" altLang="en-US" smtClean="0"/>
              <a:t>‹#›</a:t>
            </a:fld>
            <a:endParaRPr lang="ko-KR" altLang="en-US"/>
          </a:p>
        </p:txBody>
      </p:sp>
    </p:spTree>
    <p:extLst>
      <p:ext uri="{BB962C8B-B14F-4D97-AF65-F5344CB8AC3E}">
        <p14:creationId xmlns:p14="http://schemas.microsoft.com/office/powerpoint/2010/main" val="43656155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[DP4 배경 - CXL 공유 풀의 비일관성]</a:t>
            </a:r>
          </a:p>
          <a:p>
            <a:r>
              <a:t>DP2는 P/D 노드 중 어디서 Prefill을 할지 비용으로 최적화하지만, 노드 간 KV 전송 비용 자체는 줄이지 못합니다. Turn이 이어질수록 KV가 P와 D 사이를 오가며 누적됩니다.</a:t>
            </a:r>
          </a:p>
          <a:p>
            <a:r>
              <a:t>전송 비용을 줄이는 방법으로는 노드 간 점대점 전송과 공유 풀이 있습니다. 두 방식의 성능 차이는 구조보다 전송 매체에서 크게 갈리므로, 매체를 CXL 공유 메모리 풀로 두는 것을 전제로 합니다. 복사 대신 load와 store로 읽고 쓰며, TraCT와 Beluga가 효과를 보고했습니다. 그런데 CXL 2.0 공유 풀은 호스트 간 캐시 일관성도, 노드 간 atomic 연산도 제공하지 않습니다. 한 노드가 쓴 값이 다른 노드에 보이지 않을 수 있고, 하드웨어 락도 쓸 수 없습니다.</a:t>
            </a:r>
          </a:p>
          <a:p>
            <a:r>
              <a:t>그래서 문제가 세 층으로 나뉩니다. 첫째 페이로드 가시성은 두 논문이 거의 같게, 즉 DMA가 캐시를 우회하고 메타데이터 publish를 경계로 삼는 방식으로 풀었습니다. 둘째 메타데이터 일관성, 셋째 상호 배제에서 갈립니다. TraCT는 분산 락, Beluga는 중앙 서버 직렬화입니다. 그래서 DP4의 설계 쟁점은 메타데이터 일관성 책임을 누가 지는가입니다.</a:t>
            </a:r>
          </a:p>
          <a:p>
            <a:r>
              <a:t>현재 환경에는 CXL 공유 풀이 없어서 시뮬레이션과 구조 논증, 프로토콜 모델 체크로 평가하며 실측이 아닙니다.</a:t>
            </a:r>
          </a:p>
          <a:p>
            <a:r>
              <a:t>일반 SW로 비유하면 캐시 일관성이 없는 공유 디스크에서 여러 서버가 같은 인덱스 파일을 안전하게 갱신하는 문제입니다.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4419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[DP4 설계 - 중앙 직렬화 vs 분산 락]</a:t>
            </a:r>
          </a:p>
          <a:p>
            <a:r>
              <a:t>두 안은 공통 전제를 공유합니다. KV 블록은 한 번 쓰면 바뀌지 않고 해시로 식별되며, 페이로드는 GPU DMA가 CPU 캐시를 우회하므로 메타데이터를 READY로 publish하는 시점을 가시성 경계로 삼습니다. 차이는 메타데이터, 즉 prefix 인덱스와 refcount, 할당기, LRU의 일관성 책임을 누가 지는가입니다.</a:t>
            </a:r>
          </a:p>
          <a:p>
            <a:r>
              <a:t>C1은 메타데이터 서버 한 곳이 모든 연산을 직렬화하고 노드는 CXL 슬롯 기반 RPC로 요청합니다. Beluga가 택한 방식으로 락이 필요 없지만 서버가 SPOF이자 처리량 상한입니다.</a:t>
            </a:r>
          </a:p>
          <a:p>
            <a:r>
              <a:t>C2는 메타데이터를 공유 메모리에 두고 모든 노드가 2단 락으로 직접 갱신합니다. TraCT가 택한 방식으로 중앙 서버가 없지만 락 매니저의 스캔 비용이 노드와 슬롯 수에 비례하고, 락을 쥔 노드가 죽으면 정체되며, clflush 누락 같은 가시성 버그 위험이 있습니다.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2</a:t>
            </a:fld>
            <a:endParaRPr lang="ko-KR" altLang="en-US"/>
          </a:p>
        </p:txBody>
      </p:sp>
    </p:spTree>
    <p:extLst>
      <p:ext uri="{BB962C8B-B14F-4D97-AF65-F5344CB8AC3E}">
        <p14:creationId xmlns:p14="http://schemas.microsoft.com/office/powerpoint/2010/main" val="1063100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29243C-61B6-4945-8828-C015B5798DC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F556773-AA89-4DEE-9BF1-8443E88AE1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E8C4524D-94BF-4776-BBAA-574E1162B873}"/>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5" name="바닥글 개체 틀 4">
            <a:extLst>
              <a:ext uri="{FF2B5EF4-FFF2-40B4-BE49-F238E27FC236}">
                <a16:creationId xmlns:a16="http://schemas.microsoft.com/office/drawing/2014/main" id="{9B513CB8-332E-4311-9BFC-90D8827CB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DD70066-5B0A-49B7-ADA0-67AD250663B6}"/>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287406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3ADD9A-79E1-4473-B76D-009C664BB95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9341DF1-FC0A-4FA7-9930-403FB5183E4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B3170D3-3F13-4116-92C9-280AE99E6743}"/>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5" name="바닥글 개체 틀 4">
            <a:extLst>
              <a:ext uri="{FF2B5EF4-FFF2-40B4-BE49-F238E27FC236}">
                <a16:creationId xmlns:a16="http://schemas.microsoft.com/office/drawing/2014/main" id="{06F4B6ED-D7CD-48D1-AE7C-107BFBBD4C1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B6F76BF-7896-4E47-9AF6-A038E2A6C5B4}"/>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2533720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62B439-33BB-4A23-903D-EE1BC2DF30E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8AFA104D-080C-4242-89E0-61285E04D2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290136F2-9DD9-4176-B803-FEF7FB79B73A}"/>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5" name="바닥글 개체 틀 4">
            <a:extLst>
              <a:ext uri="{FF2B5EF4-FFF2-40B4-BE49-F238E27FC236}">
                <a16:creationId xmlns:a16="http://schemas.microsoft.com/office/drawing/2014/main" id="{0A902510-8E6D-401D-8CA3-7B9C6F6E2BA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8F3A641-B176-4471-8FDB-BF7CB61A25D5}"/>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806163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754F547-4B60-42A9-A776-E368A657D8C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437DCCB-CCE2-4704-88B1-CC442379EFB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C31350E-B7CE-4BD1-8F66-E81CBFBBEC91}"/>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D4DA48FE-E551-4530-8AB3-1DCDC7F25168}"/>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6" name="바닥글 개체 틀 5">
            <a:extLst>
              <a:ext uri="{FF2B5EF4-FFF2-40B4-BE49-F238E27FC236}">
                <a16:creationId xmlns:a16="http://schemas.microsoft.com/office/drawing/2014/main" id="{0060FDB0-DACA-457C-84CF-6D2F268439E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AEB7E0-D269-459D-8ED7-0546D37C2CAD}"/>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1508366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A9FD2A8-53A0-4313-B47D-980C2AA8EE4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9E20B8F-FBCC-4BDD-B174-EA8E67A18D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3D00BB8-6E5C-4BE5-AACA-62F1621AB2D2}"/>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FE17B62-1BA6-4837-8011-7E81A88530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A6C7373-3F14-4155-89AE-043B418D2C7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FA379C7-7A8E-4A77-B7B3-50A8A102C820}"/>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8" name="바닥글 개체 틀 7">
            <a:extLst>
              <a:ext uri="{FF2B5EF4-FFF2-40B4-BE49-F238E27FC236}">
                <a16:creationId xmlns:a16="http://schemas.microsoft.com/office/drawing/2014/main" id="{EEA0C55E-524D-4082-92FC-1B874603BFE0}"/>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23BF518D-D6E5-4F55-BB3B-DB3E2C222077}"/>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257400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5251391-B4C6-4B12-ACC1-BA0601C40F57}"/>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F14A5551-B998-41E9-A1EB-190CBAE6E72F}"/>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4" name="바닥글 개체 틀 3">
            <a:extLst>
              <a:ext uri="{FF2B5EF4-FFF2-40B4-BE49-F238E27FC236}">
                <a16:creationId xmlns:a16="http://schemas.microsoft.com/office/drawing/2014/main" id="{1500B39C-E203-43F7-80BC-B6583B56FB1F}"/>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8D0A8D9-A811-4CDD-8046-14E985B85944}"/>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336838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EDA4E12-F1D2-4D5B-8983-29701EEC198D}"/>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3" name="바닥글 개체 틀 2">
            <a:extLst>
              <a:ext uri="{FF2B5EF4-FFF2-40B4-BE49-F238E27FC236}">
                <a16:creationId xmlns:a16="http://schemas.microsoft.com/office/drawing/2014/main" id="{C8BF391E-F229-40E2-92E4-7594D8FB93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45D54EA-74CF-4D7C-94B7-A9CF43ED635C}"/>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3850100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D4AE4C-56FD-40E9-98F9-B8EFA0DB1B1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B27356B9-07C8-4D0D-8E9C-AB16546150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7E3EECFB-4158-4F84-B33D-2DBD2AA2F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C2C568A-3077-4449-A61E-FCC5A497C3CA}"/>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6" name="바닥글 개체 틀 5">
            <a:extLst>
              <a:ext uri="{FF2B5EF4-FFF2-40B4-BE49-F238E27FC236}">
                <a16:creationId xmlns:a16="http://schemas.microsoft.com/office/drawing/2014/main" id="{C891F119-A46E-4726-A157-9E009DD8918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D95FA8D-C289-42E9-8BEA-DD3CE9BF0DCE}"/>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1270262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A41CBC-45FA-4258-97DC-288AC2CD995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21A0ACD-D37A-440F-A8E2-67B3EEE99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CFE0545C-CA74-486A-A1B0-46EDC8C90A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DF91288-4F89-4A8B-BBD6-1978DC4FD40B}"/>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6" name="바닥글 개체 틀 5">
            <a:extLst>
              <a:ext uri="{FF2B5EF4-FFF2-40B4-BE49-F238E27FC236}">
                <a16:creationId xmlns:a16="http://schemas.microsoft.com/office/drawing/2014/main" id="{2673CCE5-C445-4755-894D-6AA383F1D7C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987682-2FBC-4FF9-91FC-6E2CE89377D8}"/>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1827962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C5D4B0-6AE1-432A-8853-789F0E593DD2}"/>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B510CC20-D1A4-4022-9262-A281B7B4266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B68140C-3FFC-442F-809B-E546D1E41D41}"/>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5" name="바닥글 개체 틀 4">
            <a:extLst>
              <a:ext uri="{FF2B5EF4-FFF2-40B4-BE49-F238E27FC236}">
                <a16:creationId xmlns:a16="http://schemas.microsoft.com/office/drawing/2014/main" id="{29BA37D8-4990-4F50-9AA6-0A2C7F89E61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6DC77A-7493-4ABF-89B9-2636B35A5F0A}"/>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3624354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CC7799F-1228-434D-9D68-C1EAA188246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EDB20BC1-7B0A-48B0-BE74-A505642C145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5E2279C-2BA2-4E6A-B375-3D2D8F1B9101}"/>
              </a:ext>
            </a:extLst>
          </p:cNvPr>
          <p:cNvSpPr>
            <a:spLocks noGrp="1"/>
          </p:cNvSpPr>
          <p:nvPr>
            <p:ph type="dt" sz="half" idx="10"/>
          </p:nvPr>
        </p:nvSpPr>
        <p:spPr/>
        <p:txBody>
          <a:bodyPr/>
          <a:lstStyle/>
          <a:p>
            <a:fld id="{5516A539-A8C8-40A3-BDF9-F84A058B26C0}" type="datetimeFigureOut">
              <a:rPr lang="ko-KR" altLang="en-US" smtClean="0"/>
              <a:t>2026-10-04</a:t>
            </a:fld>
            <a:endParaRPr lang="ko-KR" altLang="en-US"/>
          </a:p>
        </p:txBody>
      </p:sp>
      <p:sp>
        <p:nvSpPr>
          <p:cNvPr id="5" name="바닥글 개체 틀 4">
            <a:extLst>
              <a:ext uri="{FF2B5EF4-FFF2-40B4-BE49-F238E27FC236}">
                <a16:creationId xmlns:a16="http://schemas.microsoft.com/office/drawing/2014/main" id="{D3F2E9A2-3F6D-4A86-8BBD-7BCF93302A0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166AF16-E8EA-4ED0-8DD4-577CF54378DE}"/>
              </a:ext>
            </a:extLst>
          </p:cNvPr>
          <p:cNvSpPr>
            <a:spLocks noGrp="1"/>
          </p:cNvSpPr>
          <p:nvPr>
            <p:ph type="sldNum" sz="quarter" idx="12"/>
          </p:nvPr>
        </p:nvSpPr>
        <p:spPr/>
        <p:txBody>
          <a:body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64106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23</a:t>
            </a:r>
            <a:endParaRPr lang="ko-KR" altLang="en-US" sz="1200" dirty="0">
              <a:solidFill>
                <a:schemeClr val="bg1">
                  <a:lumMod val="50000"/>
                </a:schemeClr>
              </a:solidFill>
            </a:endParaRPr>
          </a:p>
        </p:txBody>
      </p:sp>
    </p:spTree>
    <p:extLst>
      <p:ext uri="{BB962C8B-B14F-4D97-AF65-F5344CB8AC3E}">
        <p14:creationId xmlns:p14="http://schemas.microsoft.com/office/powerpoint/2010/main" val="39190492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14AF691-ED6E-483B-9D47-49CC26986B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E501C3E-0C29-4817-9C0D-6F91ECA6E0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2AFBC4C-39DC-453F-A7AB-779DCDD28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16A539-A8C8-40A3-BDF9-F84A058B26C0}" type="datetimeFigureOut">
              <a:rPr lang="ko-KR" altLang="en-US" smtClean="0"/>
              <a:t>2026-10-04</a:t>
            </a:fld>
            <a:endParaRPr lang="ko-KR" altLang="en-US"/>
          </a:p>
        </p:txBody>
      </p:sp>
      <p:sp>
        <p:nvSpPr>
          <p:cNvPr id="5" name="바닥글 개체 틀 4">
            <a:extLst>
              <a:ext uri="{FF2B5EF4-FFF2-40B4-BE49-F238E27FC236}">
                <a16:creationId xmlns:a16="http://schemas.microsoft.com/office/drawing/2014/main" id="{50CA96A7-3459-4EFF-A3E6-3ABAC2F622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332BB84-2972-4DF3-AEDE-96F4B5C3B2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634563-3D52-4ED5-979F-C22652CA5BD0}" type="slidenum">
              <a:rPr lang="ko-KR" altLang="en-US" smtClean="0"/>
              <a:t>‹#›</a:t>
            </a:fld>
            <a:endParaRPr lang="ko-KR" altLang="en-US"/>
          </a:p>
        </p:txBody>
      </p:sp>
    </p:spTree>
    <p:extLst>
      <p:ext uri="{BB962C8B-B14F-4D97-AF65-F5344CB8AC3E}">
        <p14:creationId xmlns:p14="http://schemas.microsoft.com/office/powerpoint/2010/main" val="557495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DP4. 비일관 CXL 공유 메모리의 KV 일관성 구조 – 배경</a:t>
            </a:r>
            <a:endParaRPr lang="en-US" altLang="ko-KR" dirty="0"/>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01" name="DP2 9001"/>
          <p:cNvSpPr/>
          <p:nvPr/>
        </p:nvSpPr>
        <p:spPr>
          <a:xfrm>
            <a:off x="347472" y="629107"/>
            <a:ext cx="1179576" cy="301752"/>
          </a:xfrm>
          <a:prstGeom prst="roundRect">
            <a:avLst/>
          </a:prstGeom>
          <a:solidFill>
            <a:srgbClr val="A8C6E8"/>
          </a:solidFill>
          <a:ln w="9525">
            <a:solidFill>
              <a:srgbClr val="2E75B6"/>
            </a:solidFill>
            <a:prstDash val="solid"/>
          </a:ln>
        </p:spPr>
        <p:txBody>
          <a:bodyPr wrap="square" lIns="27432" tIns="7315" rIns="27432" bIns="7315" anchor="ctr">
            <a:normAutofit/>
          </a:bodyPr>
          <a:lstStyle/>
          <a:p>
            <a:pPr algn="ctr">
              <a:lnSpc>
                <a:spcPct val="90000"/>
              </a:lnSpc>
            </a:pPr>
            <a:r>
              <a:rPr lang="ko-KR" altLang="en-US" sz="1150" b="1" i="0" dirty="0">
                <a:solidFill>
                  <a:srgbClr val="1F3864"/>
                </a:solidFill>
                <a:latin typeface="맑은 고딕" panose="020B0503020000020004" pitchFamily="50" charset="-127"/>
                <a:ea typeface="맑은 고딕" panose="020B0503020000020004" pitchFamily="50" charset="-127"/>
              </a:rPr>
              <a:t>문제 정의</a:t>
            </a:r>
          </a:p>
        </p:txBody>
      </p:sp>
      <p:sp>
        <p:nvSpPr>
          <p:cNvPr id="9013" name="DP2 9013"/>
          <p:cNvSpPr/>
          <p:nvPr/>
        </p:nvSpPr>
        <p:spPr>
          <a:xfrm>
            <a:off x="420624" y="1920240"/>
            <a:ext cx="11338560" cy="274320"/>
          </a:xfrm>
          <a:prstGeom prst="rect">
            <a:avLst/>
          </a:prstGeom>
          <a:noFill/>
          <a:ln>
            <a:noFill/>
          </a:ln>
        </p:spPr>
        <p:txBody>
          <a:bodyPr wrap="square" lIns="9144" tIns="7315" rIns="9144" bIns="7315" anchor="ctr">
            <a:normAutofit/>
          </a:bodyPr>
          <a:lstStyle/>
          <a:p>
            <a:pPr algn="l">
              <a:lnSpc>
                <a:spcPct val="90000"/>
              </a:lnSpc>
            </a:pPr>
            <a:r>
              <a:rPr lang="ko-KR" sz="1200" b="1">
                <a:solidFill>
                  <a:srgbClr val="0066FF"/>
                </a:solidFill>
                <a:latin typeface="맑은 고딕"/>
              </a:rPr>
              <a:t>→ 공유 풀을 전제로 하면 남는 문제는 KV 블록·메타데이터의 일관성이며, 그 책임을 누가 지는가가 설계 쟁점</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9061" name="DP2 9061"/>
          <p:cNvSpPr/>
          <p:nvPr/>
        </p:nvSpPr>
        <p:spPr>
          <a:xfrm>
            <a:off x="347472" y="5667299"/>
            <a:ext cx="1179576" cy="301752"/>
          </a:xfrm>
          <a:prstGeom prst="roundRect">
            <a:avLst/>
          </a:prstGeom>
          <a:solidFill>
            <a:srgbClr val="FFD966"/>
          </a:solidFill>
          <a:ln w="9525">
            <a:solidFill>
              <a:srgbClr val="BF8F00"/>
            </a:solidFill>
            <a:prstDash val="solid"/>
          </a:ln>
        </p:spPr>
        <p:txBody>
          <a:bodyPr wrap="square" lIns="27432" tIns="7315" rIns="27432" bIns="7315" anchor="ctr">
            <a:normAutofit/>
          </a:bodyPr>
          <a:lstStyle/>
          <a:p>
            <a:pPr algn="ctr">
              <a:lnSpc>
                <a:spcPct val="90000"/>
              </a:lnSpc>
            </a:pPr>
            <a:r>
              <a:rPr lang="ko-KR" altLang="en-US" sz="1150" b="1" i="0" dirty="0">
                <a:solidFill>
                  <a:srgbClr val="1F3864"/>
                </a:solidFill>
                <a:latin typeface="맑은 고딕" panose="020B0503020000020004" pitchFamily="50" charset="-127"/>
                <a:ea typeface="맑은 고딕" panose="020B0503020000020004" pitchFamily="50" charset="-127"/>
              </a:rPr>
              <a:t>설계 쟁점</a:t>
            </a:r>
          </a:p>
        </p:txBody>
      </p:sp>
      <p:sp>
        <p:nvSpPr>
          <p:cNvPr id="79" name="Text 22"/>
          <p:cNvSpPr/>
          <p:nvPr/>
        </p:nvSpPr>
        <p:spPr>
          <a:xfrm>
            <a:off x="359582" y="1016673"/>
            <a:ext cx="11687638" cy="868680"/>
          </a:xfrm>
          <a:prstGeom prst="rect">
            <a:avLst/>
          </a:prstGeom>
          <a:noFill/>
          <a:ln/>
        </p:spPr>
        <p:txBody>
          <a:bodyPr wrap="square" lIns="0" tIns="0" rIns="0" bIns="0" rtlCol="0" anchor="t"/>
          <a:lstStyle/>
          <a:p>
            <a:pPr marL="285750" indent="-285750">
              <a:lnSpc>
                <a:spcPct val="150000"/>
              </a:lnSpc>
              <a:buFontTx/>
              <a:buChar char="-"/>
            </a:pPr>
            <a:r>
              <a:rPr lang="en-US" altLang="ko-KR" sz="1200" dirty="0">
                <a:solidFill>
                  <a:srgbClr val="404040"/>
                </a:solidFill>
                <a:latin typeface="맑은 고딕" panose="020B0503020000020004" pitchFamily="50" charset="-127"/>
              </a:rPr>
              <a:t>DP2는 P/D 노드 선택을 비용으로 최적화하지만 노드 간 KV 전송 비용 자체는 줄이지 못함 (Turn마다 P↔D 왕복 누적)</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en-US" altLang="ko-KR" sz="1200" dirty="0">
                <a:solidFill>
                  <a:srgbClr val="404040"/>
                </a:solidFill>
                <a:latin typeface="맑은 고딕" panose="020B0503020000020004" pitchFamily="50" charset="-127"/>
              </a:rPr>
              <a:t>전송을 줄이는 방법은 점대점 전송과 공유 풀이 있고 성능은 구조보다 전송 매체가 좌우함: CXL 공유 풀(복사 대신 load/store)을 TraCT·Beluga가 보고 [B]</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en-US" altLang="ko-KR" sz="1200" dirty="0">
                <a:solidFill>
                  <a:srgbClr val="404040"/>
                </a:solidFill>
                <a:latin typeface="맑은 고딕" panose="020B0503020000020004" pitchFamily="50" charset="-127"/>
              </a:rPr>
              <a:t>그러나 CXL 2.0 공유 풀은 호스트 간 캐시 일관성도, cross-node atomic도 제공하지 않음: 한 노드의 쓰기가 다른 노드에 안 보이고 락도 못 잡음</a:t>
            </a:r>
            <a:endParaRPr lang="en-US" altLang="ko-KR" sz="1200" dirty="0">
              <a:solidFill>
                <a:srgbClr val="404040"/>
              </a:solidFill>
              <a:latin typeface="맑은 고딕" panose="020B0503020000020004" pitchFamily="50" charset="-127"/>
            </a:endParaRPr>
          </a:p>
        </p:txBody>
      </p:sp>
      <p:sp>
        <p:nvSpPr>
          <p:cNvPr id="166" name="Text 22"/>
          <p:cNvSpPr/>
          <p:nvPr/>
        </p:nvSpPr>
        <p:spPr>
          <a:xfrm>
            <a:off x="383682" y="5989320"/>
            <a:ext cx="11312059" cy="594360"/>
          </a:xfrm>
          <a:prstGeom prst="rect">
            <a:avLst/>
          </a:prstGeom>
          <a:noFill/>
          <a:ln/>
        </p:spPr>
        <p:txBody>
          <a:bodyPr wrap="square" lIns="0" tIns="0" rIns="0" bIns="0" rtlCol="0" anchor="t"/>
          <a:lstStyle/>
          <a:p>
            <a:pPr marL="228600" indent="-228600">
              <a:lnSpc>
                <a:spcPct val="125000"/>
              </a:lnSpc>
              <a:buAutoNum type="arabicPeriod"/>
            </a:pPr>
            <a:r>
              <a:rPr lang="ko-KR" sz="1200">
                <a:solidFill>
                  <a:srgbClr val="404040"/>
                </a:solidFill>
                <a:latin typeface="맑은 고딕"/>
              </a:rPr>
              <a:t>비일관 CXL 공유 풀에서 prefix index·refcount·allocator 같은 메타데이터의 일관성 책임을 중앙 서버가 질 것인가, 분산 락으로 노드가 나눠 질 것인가?</a:t>
            </a:r>
            <a:endParaRPr lang="en-US" altLang="ko-KR" sz="1200" dirty="0"/>
          </a:p>
          <a:p>
            <a:pPr marL="228600" indent="-228600">
              <a:lnSpc>
                <a:spcPct val="125000"/>
              </a:lnSpc>
              <a:buAutoNum type="arabicPeriod"/>
            </a:pPr>
            <a:r>
              <a:rPr lang="ko-KR" sz="1200">
                <a:solidFill>
                  <a:srgbClr val="404040"/>
                </a:solidFill>
                <a:latin typeface="맑은 고딕"/>
              </a:rPr>
              <a:t>페이로드 가시성(DMA·flush)과 메타데이터 일관성을 어떻게 분리해 최소 비용으로 보장할 것인가?</a:t>
            </a:r>
            <a:endParaRPr lang="en-US" altLang="ko-KR" sz="1200" dirty="0"/>
          </a:p>
        </p:txBody>
      </p:sp>
      <p:sp>
        <p:nvSpPr>
          <p:cNvPr id="9062" name="Rectangle 9061"/>
          <p:cNvSpPr/>
          <p:nvPr/>
        </p:nvSpPr>
        <p:spPr>
          <a:xfrm>
            <a:off x="411480" y="2331720"/>
            <a:ext cx="5440680" cy="1920240"/>
          </a:xfrm>
          <a:prstGeom prst="rect">
            <a:avLst/>
          </a:prstGeom>
          <a:solidFill>
            <a:srgbClr val="FAFAFA"/>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3" name="Rounded Rectangle 9062"/>
          <p:cNvSpPr/>
          <p:nvPr/>
        </p:nvSpPr>
        <p:spPr>
          <a:xfrm>
            <a:off x="521208" y="2404872"/>
            <a:ext cx="3566160" cy="237744"/>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900" b="1" i="0">
                <a:solidFill>
                  <a:srgbClr val="FFFFFF"/>
                </a:solidFill>
                <a:latin typeface="맑은 고딕"/>
                <a:ea typeface="맑은 고딕"/>
              </a:rPr>
              <a:t>As-Is: 노드 간 KV 복사 (DP2의 한계)</a:t>
            </a:r>
          </a:p>
        </p:txBody>
      </p:sp>
      <p:sp>
        <p:nvSpPr>
          <p:cNvPr id="9064" name="Rectangle 9063"/>
          <p:cNvSpPr/>
          <p:nvPr/>
        </p:nvSpPr>
        <p:spPr>
          <a:xfrm>
            <a:off x="6355080" y="2331720"/>
            <a:ext cx="5440680" cy="1920240"/>
          </a:xfrm>
          <a:prstGeom prst="rect">
            <a:avLst/>
          </a:prstGeom>
          <a:solidFill>
            <a:srgbClr val="FFF8F3"/>
          </a:solidFill>
          <a:ln w="12700">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5" name="Rounded Rectangle 9064"/>
          <p:cNvSpPr/>
          <p:nvPr/>
        </p:nvSpPr>
        <p:spPr>
          <a:xfrm>
            <a:off x="6464808" y="2404872"/>
            <a:ext cx="3566160" cy="237744"/>
          </a:xfrm>
          <a:prstGeom prst="round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900" b="1" i="0">
                <a:solidFill>
                  <a:srgbClr val="FFFFFF"/>
                </a:solidFill>
                <a:latin typeface="맑은 고딕"/>
                <a:ea typeface="맑은 고딕"/>
              </a:rPr>
              <a:t>공유 풀이 풀어도 남는 것: 비일관성</a:t>
            </a:r>
          </a:p>
        </p:txBody>
      </p:sp>
      <p:sp>
        <p:nvSpPr>
          <p:cNvPr id="9066" name="Right Arrow 9065"/>
          <p:cNvSpPr/>
          <p:nvPr/>
        </p:nvSpPr>
        <p:spPr>
          <a:xfrm>
            <a:off x="5943600" y="3063239"/>
            <a:ext cx="365760" cy="457200"/>
          </a:xfrm>
          <a:prstGeom prst="rightArrow">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7" name="Rectangle 9066"/>
          <p:cNvSpPr/>
          <p:nvPr/>
        </p:nvSpPr>
        <p:spPr>
          <a:xfrm>
            <a:off x="594360" y="2834639"/>
            <a:ext cx="1005840" cy="566928"/>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1" i="0">
                <a:solidFill>
                  <a:srgbClr val="000000"/>
                </a:solidFill>
                <a:latin typeface="맑은 고딕"/>
                <a:ea typeface="맑은 고딕"/>
              </a:rPr>
              <a:t>P 노드</a:t>
            </a:r>
          </a:p>
          <a:p>
            <a:pPr algn="ctr"/>
            <a:r>
              <a:rPr sz="800" b="0" i="0">
                <a:solidFill>
                  <a:srgbClr val="000000"/>
                </a:solidFill>
                <a:latin typeface="맑은 고딕"/>
                <a:ea typeface="맑은 고딕"/>
              </a:rPr>
              <a:t>Prefill</a:t>
            </a:r>
          </a:p>
        </p:txBody>
      </p:sp>
      <p:sp>
        <p:nvSpPr>
          <p:cNvPr id="9068" name="Rectangle 9067"/>
          <p:cNvSpPr/>
          <p:nvPr/>
        </p:nvSpPr>
        <p:spPr>
          <a:xfrm>
            <a:off x="4526280" y="2834639"/>
            <a:ext cx="1005840" cy="566928"/>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1" i="0">
                <a:solidFill>
                  <a:srgbClr val="000000"/>
                </a:solidFill>
                <a:latin typeface="맑은 고딕"/>
                <a:ea typeface="맑은 고딕"/>
              </a:rPr>
              <a:t>D 노드</a:t>
            </a:r>
          </a:p>
          <a:p>
            <a:pPr algn="ctr"/>
            <a:r>
              <a:rPr sz="800" b="0" i="0">
                <a:solidFill>
                  <a:srgbClr val="000000"/>
                </a:solidFill>
                <a:latin typeface="맑은 고딕"/>
                <a:ea typeface="맑은 고딕"/>
              </a:rPr>
              <a:t>Decode</a:t>
            </a:r>
          </a:p>
        </p:txBody>
      </p:sp>
      <p:cxnSp>
        <p:nvCxnSpPr>
          <p:cNvPr id="9069" name="Connector 9068"/>
          <p:cNvCxnSpPr/>
          <p:nvPr/>
        </p:nvCxnSpPr>
        <p:spPr>
          <a:xfrm>
            <a:off x="1600200" y="2990087"/>
            <a:ext cx="292608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9070" name="TextBox 9069"/>
          <p:cNvSpPr txBox="1"/>
          <p:nvPr/>
        </p:nvSpPr>
        <p:spPr>
          <a:xfrm>
            <a:off x="1645919" y="2880360"/>
            <a:ext cx="2743200" cy="128016"/>
          </a:xfrm>
          <a:prstGeom prst="rect">
            <a:avLst/>
          </a:prstGeom>
          <a:noFill/>
        </p:spPr>
        <p:txBody>
          <a:bodyPr wrap="square" lIns="0" tIns="0" rIns="0" bIns="0" anchor="t">
            <a:spAutoFit/>
          </a:bodyPr>
          <a:lstStyle/>
          <a:p>
            <a:pPr algn="ctr"/>
            <a:r>
              <a:rPr sz="650" b="1" i="0">
                <a:solidFill>
                  <a:srgbClr val="2F5597"/>
                </a:solidFill>
                <a:latin typeface="맑은 고딕"/>
                <a:ea typeface="맑은 고딕"/>
              </a:rPr>
              <a:t>Turn 1: KV 전송 (P→D)</a:t>
            </a:r>
          </a:p>
        </p:txBody>
      </p:sp>
      <p:cxnSp>
        <p:nvCxnSpPr>
          <p:cNvPr id="9071" name="Connector 9070"/>
          <p:cNvCxnSpPr/>
          <p:nvPr/>
        </p:nvCxnSpPr>
        <p:spPr>
          <a:xfrm flipH="1">
            <a:off x="1600200" y="3163823"/>
            <a:ext cx="2926080" cy="0"/>
          </a:xfrm>
          <a:prstGeom prst="line">
            <a:avLst/>
          </a:prstGeom>
          <a:ln w="158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072" name="TextBox 9071"/>
          <p:cNvSpPr txBox="1"/>
          <p:nvPr/>
        </p:nvSpPr>
        <p:spPr>
          <a:xfrm>
            <a:off x="1645919" y="3054096"/>
            <a:ext cx="2743200" cy="128016"/>
          </a:xfrm>
          <a:prstGeom prst="rect">
            <a:avLst/>
          </a:prstGeom>
          <a:noFill/>
        </p:spPr>
        <p:txBody>
          <a:bodyPr wrap="square" lIns="0" tIns="0" rIns="0" bIns="0" anchor="t">
            <a:spAutoFit/>
          </a:bodyPr>
          <a:lstStyle/>
          <a:p>
            <a:pPr algn="ctr"/>
            <a:r>
              <a:rPr sz="650" b="1" i="0">
                <a:solidFill>
                  <a:srgbClr val="C00000"/>
                </a:solidFill>
                <a:latin typeface="맑은 고딕"/>
                <a:ea typeface="맑은 고딕"/>
              </a:rPr>
              <a:t>Turn 2: History KV 전송 (D→P)</a:t>
            </a:r>
          </a:p>
        </p:txBody>
      </p:sp>
      <p:cxnSp>
        <p:nvCxnSpPr>
          <p:cNvPr id="9073" name="Connector 9072"/>
          <p:cNvCxnSpPr/>
          <p:nvPr/>
        </p:nvCxnSpPr>
        <p:spPr>
          <a:xfrm>
            <a:off x="1600200" y="3337559"/>
            <a:ext cx="292608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9074" name="TextBox 9073"/>
          <p:cNvSpPr txBox="1"/>
          <p:nvPr/>
        </p:nvSpPr>
        <p:spPr>
          <a:xfrm>
            <a:off x="1645919" y="3227832"/>
            <a:ext cx="2743200" cy="128016"/>
          </a:xfrm>
          <a:prstGeom prst="rect">
            <a:avLst/>
          </a:prstGeom>
          <a:noFill/>
        </p:spPr>
        <p:txBody>
          <a:bodyPr wrap="square" lIns="0" tIns="0" rIns="0" bIns="0" anchor="t">
            <a:spAutoFit/>
          </a:bodyPr>
          <a:lstStyle/>
          <a:p>
            <a:pPr algn="ctr"/>
            <a:r>
              <a:rPr sz="650" b="1" i="0">
                <a:solidFill>
                  <a:srgbClr val="2F5597"/>
                </a:solidFill>
                <a:latin typeface="맑은 고딕"/>
                <a:ea typeface="맑은 고딕"/>
              </a:rPr>
              <a:t>Turn 2: 결과 KV 전송 (P→D)</a:t>
            </a:r>
          </a:p>
        </p:txBody>
      </p:sp>
      <p:sp>
        <p:nvSpPr>
          <p:cNvPr id="9075" name="TextBox 9074"/>
          <p:cNvSpPr txBox="1"/>
          <p:nvPr/>
        </p:nvSpPr>
        <p:spPr>
          <a:xfrm>
            <a:off x="594360" y="3547872"/>
            <a:ext cx="5029200" cy="146304"/>
          </a:xfrm>
          <a:prstGeom prst="rect">
            <a:avLst/>
          </a:prstGeom>
          <a:noFill/>
        </p:spPr>
        <p:txBody>
          <a:bodyPr wrap="square" lIns="0" tIns="0" rIns="0" bIns="0" anchor="t">
            <a:spAutoFit/>
          </a:bodyPr>
          <a:lstStyle/>
          <a:p>
            <a:pPr algn="l"/>
            <a:r>
              <a:rPr sz="700" b="0" i="0">
                <a:solidFill>
                  <a:srgbClr val="7F7F7F"/>
                </a:solidFill>
                <a:latin typeface="맑은 고딕"/>
                <a:ea typeface="맑은 고딕"/>
              </a:rPr>
              <a:t>누적 전송: Turn 1 → 1회, Turn 2 → 3회, Turn 3 → 5회 (DP2 슬라이드의 Turn 예시)</a:t>
            </a:r>
          </a:p>
        </p:txBody>
      </p:sp>
      <p:sp>
        <p:nvSpPr>
          <p:cNvPr id="9076" name="TextBox 9075"/>
          <p:cNvSpPr txBox="1"/>
          <p:nvPr/>
        </p:nvSpPr>
        <p:spPr>
          <a:xfrm>
            <a:off x="594360" y="3749039"/>
            <a:ext cx="5120640" cy="457200"/>
          </a:xfrm>
          <a:prstGeom prst="rect">
            <a:avLst/>
          </a:prstGeom>
          <a:noFill/>
        </p:spPr>
        <p:txBody>
          <a:bodyPr wrap="square" lIns="0" tIns="0" rIns="0" bIns="0" anchor="t">
            <a:spAutoFit/>
          </a:bodyPr>
          <a:lstStyle/>
          <a:p>
            <a:pPr algn="l"/>
            <a:r>
              <a:rPr sz="850" b="1" i="0">
                <a:solidFill>
                  <a:srgbClr val="C00000"/>
                </a:solidFill>
                <a:latin typeface="맑은 고딕"/>
                <a:ea typeface="맑은 고딕"/>
              </a:rPr>
              <a:t>Tmove 자체는 그대로, Turn과 History KV가 커질수록 누적</a:t>
            </a:r>
          </a:p>
          <a:p>
            <a:pPr algn="l"/>
            <a:r>
              <a:rPr sz="850" b="0" i="0">
                <a:solidFill>
                  <a:srgbClr val="404040"/>
                </a:solidFill>
                <a:latin typeface="맑은 고딕"/>
                <a:ea typeface="맑은 고딕"/>
              </a:rPr>
              <a:t>→ CXL 공유 풀은 복사 대신 load/store로 이 전송을 없앰 (문헌 [B])</a:t>
            </a:r>
          </a:p>
        </p:txBody>
      </p:sp>
      <p:sp>
        <p:nvSpPr>
          <p:cNvPr id="9077" name="Rectangle 9076"/>
          <p:cNvSpPr/>
          <p:nvPr/>
        </p:nvSpPr>
        <p:spPr>
          <a:xfrm>
            <a:off x="6492240" y="2834639"/>
            <a:ext cx="822960" cy="566928"/>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1" i="0">
                <a:solidFill>
                  <a:srgbClr val="000000"/>
                </a:solidFill>
                <a:latin typeface="맑은 고딕"/>
                <a:ea typeface="맑은 고딕"/>
              </a:rPr>
              <a:t>노드 A</a:t>
            </a:r>
          </a:p>
          <a:p>
            <a:pPr algn="ctr"/>
            <a:r>
              <a:rPr sz="800" b="0" i="0">
                <a:solidFill>
                  <a:srgbClr val="000000"/>
                </a:solidFill>
                <a:latin typeface="맑은 고딕"/>
                <a:ea typeface="맑은 고딕"/>
              </a:rPr>
              <a:t>쓰기</a:t>
            </a:r>
          </a:p>
        </p:txBody>
      </p:sp>
      <p:sp>
        <p:nvSpPr>
          <p:cNvPr id="9078" name="Rectangle 9077"/>
          <p:cNvSpPr/>
          <p:nvPr/>
        </p:nvSpPr>
        <p:spPr>
          <a:xfrm>
            <a:off x="10515600" y="2834639"/>
            <a:ext cx="822960" cy="566928"/>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1" i="0">
                <a:solidFill>
                  <a:srgbClr val="000000"/>
                </a:solidFill>
                <a:latin typeface="맑은 고딕"/>
                <a:ea typeface="맑은 고딕"/>
              </a:rPr>
              <a:t>노드 B</a:t>
            </a:r>
          </a:p>
          <a:p>
            <a:pPr algn="ctr"/>
            <a:r>
              <a:rPr sz="800" b="0" i="0">
                <a:solidFill>
                  <a:srgbClr val="000000"/>
                </a:solidFill>
                <a:latin typeface="맑은 고딕"/>
                <a:ea typeface="맑은 고딕"/>
              </a:rPr>
              <a:t>읽기</a:t>
            </a:r>
          </a:p>
        </p:txBody>
      </p:sp>
      <p:sp>
        <p:nvSpPr>
          <p:cNvPr id="9079" name="Rectangle 9078"/>
          <p:cNvSpPr/>
          <p:nvPr/>
        </p:nvSpPr>
        <p:spPr>
          <a:xfrm>
            <a:off x="8001000" y="2743199"/>
            <a:ext cx="1828800" cy="749808"/>
          </a:xfrm>
          <a:prstGeom prst="rect">
            <a:avLst/>
          </a:prstGeom>
          <a:solidFill>
            <a:srgbClr val="FBE5D6"/>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900" b="1" i="0">
                <a:solidFill>
                  <a:srgbClr val="000000"/>
                </a:solidFill>
                <a:latin typeface="맑은 고딕"/>
                <a:ea typeface="맑은 고딕"/>
              </a:rPr>
              <a:t>CXL 공유 풀</a:t>
            </a:r>
          </a:p>
          <a:p>
            <a:pPr algn="ctr"/>
            <a:r>
              <a:rPr sz="650" b="0" i="0">
                <a:solidFill>
                  <a:srgbClr val="C00000"/>
                </a:solidFill>
                <a:latin typeface="맑은 고딕"/>
                <a:ea typeface="맑은 고딕"/>
              </a:rPr>
              <a:t>호스트 간 캐시 일관성 없음</a:t>
            </a:r>
          </a:p>
          <a:p>
            <a:pPr algn="ctr"/>
            <a:r>
              <a:rPr sz="650" b="0" i="0">
                <a:solidFill>
                  <a:srgbClr val="C00000"/>
                </a:solidFill>
                <a:latin typeface="맑은 고딕"/>
                <a:ea typeface="맑은 고딕"/>
              </a:rPr>
              <a:t>cross-node atomic 없음</a:t>
            </a:r>
          </a:p>
        </p:txBody>
      </p:sp>
      <p:cxnSp>
        <p:nvCxnSpPr>
          <p:cNvPr id="9080" name="Connector 9079"/>
          <p:cNvCxnSpPr/>
          <p:nvPr/>
        </p:nvCxnSpPr>
        <p:spPr>
          <a:xfrm>
            <a:off x="7315200" y="2971799"/>
            <a:ext cx="68580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cxnSp>
        <p:nvCxnSpPr>
          <p:cNvPr id="9081" name="Connector 9080"/>
          <p:cNvCxnSpPr/>
          <p:nvPr/>
        </p:nvCxnSpPr>
        <p:spPr>
          <a:xfrm>
            <a:off x="9829800" y="2971799"/>
            <a:ext cx="685800" cy="0"/>
          </a:xfrm>
          <a:prstGeom prst="line">
            <a:avLst/>
          </a:prstGeom>
          <a:ln w="158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082" name="TextBox 9081"/>
          <p:cNvSpPr txBox="1"/>
          <p:nvPr/>
        </p:nvSpPr>
        <p:spPr>
          <a:xfrm>
            <a:off x="7315200" y="2807208"/>
            <a:ext cx="777240" cy="128016"/>
          </a:xfrm>
          <a:prstGeom prst="rect">
            <a:avLst/>
          </a:prstGeom>
          <a:noFill/>
        </p:spPr>
        <p:txBody>
          <a:bodyPr wrap="square" lIns="0" tIns="0" rIns="0" bIns="0" anchor="t">
            <a:spAutoFit/>
          </a:bodyPr>
          <a:lstStyle/>
          <a:p>
            <a:pPr algn="ctr"/>
            <a:r>
              <a:rPr sz="650" b="1" i="0">
                <a:solidFill>
                  <a:srgbClr val="2F5597"/>
                </a:solidFill>
                <a:latin typeface="맑은 고딕"/>
                <a:ea typeface="맑은 고딕"/>
              </a:rPr>
              <a:t>write</a:t>
            </a:r>
          </a:p>
        </p:txBody>
      </p:sp>
      <p:sp>
        <p:nvSpPr>
          <p:cNvPr id="9083" name="TextBox 9082"/>
          <p:cNvSpPr txBox="1"/>
          <p:nvPr/>
        </p:nvSpPr>
        <p:spPr>
          <a:xfrm>
            <a:off x="9829800" y="2807208"/>
            <a:ext cx="685800" cy="128016"/>
          </a:xfrm>
          <a:prstGeom prst="rect">
            <a:avLst/>
          </a:prstGeom>
          <a:noFill/>
        </p:spPr>
        <p:txBody>
          <a:bodyPr wrap="square" lIns="0" tIns="0" rIns="0" bIns="0" anchor="t">
            <a:spAutoFit/>
          </a:bodyPr>
          <a:lstStyle/>
          <a:p>
            <a:pPr algn="ctr"/>
            <a:r>
              <a:rPr sz="650" b="1" i="0">
                <a:solidFill>
                  <a:srgbClr val="C00000"/>
                </a:solidFill>
                <a:latin typeface="맑은 고딕"/>
                <a:ea typeface="맑은 고딕"/>
              </a:rPr>
              <a:t>stale read?</a:t>
            </a:r>
          </a:p>
        </p:txBody>
      </p:sp>
      <p:sp>
        <p:nvSpPr>
          <p:cNvPr id="9084" name="TextBox 9083"/>
          <p:cNvSpPr txBox="1"/>
          <p:nvPr/>
        </p:nvSpPr>
        <p:spPr>
          <a:xfrm>
            <a:off x="6492240" y="3547872"/>
            <a:ext cx="5120640" cy="146304"/>
          </a:xfrm>
          <a:prstGeom prst="rect">
            <a:avLst/>
          </a:prstGeom>
          <a:noFill/>
        </p:spPr>
        <p:txBody>
          <a:bodyPr wrap="square" lIns="0" tIns="0" rIns="0" bIns="0" anchor="t">
            <a:spAutoFit/>
          </a:bodyPr>
          <a:lstStyle/>
          <a:p>
            <a:pPr algn="l"/>
            <a:r>
              <a:rPr sz="700" b="0" i="0">
                <a:solidFill>
                  <a:srgbClr val="7F7F7F"/>
                </a:solidFill>
                <a:latin typeface="맑은 고딕"/>
                <a:ea typeface="맑은 고딕"/>
              </a:rPr>
              <a:t>한 노드의 쓰기가 다른 노드 캐시에 자동으로 보이지 않고, 락도 하드웨어가 못 줌</a:t>
            </a:r>
          </a:p>
        </p:txBody>
      </p:sp>
      <p:sp>
        <p:nvSpPr>
          <p:cNvPr id="9085" name="TextBox 9084"/>
          <p:cNvSpPr txBox="1"/>
          <p:nvPr/>
        </p:nvSpPr>
        <p:spPr>
          <a:xfrm>
            <a:off x="6492240" y="3749039"/>
            <a:ext cx="5120640" cy="457200"/>
          </a:xfrm>
          <a:prstGeom prst="rect">
            <a:avLst/>
          </a:prstGeom>
          <a:noFill/>
        </p:spPr>
        <p:txBody>
          <a:bodyPr wrap="square" lIns="0" tIns="0" rIns="0" bIns="0" anchor="t">
            <a:spAutoFit/>
          </a:bodyPr>
          <a:lstStyle/>
          <a:p>
            <a:pPr algn="l"/>
            <a:r>
              <a:rPr sz="850" b="1" i="0">
                <a:solidFill>
                  <a:srgbClr val="375623"/>
                </a:solidFill>
                <a:latin typeface="맑은 고딕"/>
                <a:ea typeface="맑은 고딕"/>
              </a:rPr>
              <a:t>세 층: ① 페이로드 가시성  ② 메타데이터 일관성  ③ 상호 배제</a:t>
            </a:r>
          </a:p>
          <a:p>
            <a:pPr algn="l"/>
            <a:r>
              <a:rPr sz="850" b="0" i="0">
                <a:solidFill>
                  <a:srgbClr val="404040"/>
                </a:solidFill>
                <a:latin typeface="맑은 고딕"/>
                <a:ea typeface="맑은 고딕"/>
              </a:rPr>
              <a:t>→ ①은 두 논문이 거의 같게 풀었고, ②③ 책임 구조가 후보를 가름</a:t>
            </a:r>
          </a:p>
        </p:txBody>
      </p:sp>
      <p:sp>
        <p:nvSpPr>
          <p:cNvPr id="9086" name="TextBox 9085"/>
          <p:cNvSpPr txBox="1"/>
          <p:nvPr/>
        </p:nvSpPr>
        <p:spPr>
          <a:xfrm>
            <a:off x="411480" y="4370832"/>
            <a:ext cx="7315200" cy="164592"/>
          </a:xfrm>
          <a:prstGeom prst="rect">
            <a:avLst/>
          </a:prstGeom>
          <a:noFill/>
        </p:spPr>
        <p:txBody>
          <a:bodyPr wrap="square" lIns="0" tIns="0" rIns="0" bIns="0" anchor="t">
            <a:spAutoFit/>
          </a:bodyPr>
          <a:lstStyle/>
          <a:p>
            <a:pPr algn="l"/>
            <a:r>
              <a:rPr sz="850" b="1" i="0">
                <a:solidFill>
                  <a:srgbClr val="404040"/>
                </a:solidFill>
                <a:latin typeface="맑은 고딕"/>
                <a:ea typeface="맑은 고딕"/>
              </a:rPr>
              <a:t>KV 전송 한계를 푸는 세 가지 방법</a:t>
            </a:r>
          </a:p>
        </p:txBody>
      </p:sp>
      <p:sp>
        <p:nvSpPr>
          <p:cNvPr id="9087" name="Rounded Rectangle 9086"/>
          <p:cNvSpPr/>
          <p:nvPr/>
        </p:nvSpPr>
        <p:spPr>
          <a:xfrm>
            <a:off x="411480" y="4590288"/>
            <a:ext cx="3383280" cy="566928"/>
          </a:xfrm>
          <a:prstGeom prst="round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900" b="1" i="0">
                <a:solidFill>
                  <a:srgbClr val="000000"/>
                </a:solidFill>
                <a:latin typeface="맑은 고딕"/>
                <a:ea typeface="맑은 고딕"/>
              </a:rPr>
              <a:t>DP3  바이트를 줄인다</a:t>
            </a:r>
          </a:p>
          <a:p>
            <a:pPr algn="ctr"/>
            <a:r>
              <a:rPr sz="750" b="0" i="0">
                <a:solidFill>
                  <a:srgbClr val="000000"/>
                </a:solidFill>
                <a:latin typeface="맑은 고딕"/>
                <a:ea typeface="맑은 고딕"/>
              </a:rPr>
              <a:t>KV 압축·재사용 (Comp.KV, 선택 재계산)</a:t>
            </a:r>
          </a:p>
        </p:txBody>
      </p:sp>
      <p:sp>
        <p:nvSpPr>
          <p:cNvPr id="9088" name="TextBox 9087"/>
          <p:cNvSpPr txBox="1"/>
          <p:nvPr/>
        </p:nvSpPr>
        <p:spPr>
          <a:xfrm>
            <a:off x="3813048" y="4736592"/>
            <a:ext cx="420624" cy="274320"/>
          </a:xfrm>
          <a:prstGeom prst="rect">
            <a:avLst/>
          </a:prstGeom>
          <a:noFill/>
        </p:spPr>
        <p:txBody>
          <a:bodyPr wrap="square" lIns="0" tIns="0" rIns="0" bIns="0" anchor="t">
            <a:spAutoFit/>
          </a:bodyPr>
          <a:lstStyle/>
          <a:p>
            <a:pPr algn="ctr"/>
            <a:r>
              <a:rPr sz="1400" b="1" i="0">
                <a:solidFill>
                  <a:srgbClr val="404040"/>
                </a:solidFill>
                <a:latin typeface="맑은 고딕"/>
                <a:ea typeface="맑은 고딕"/>
              </a:rPr>
              <a:t>+</a:t>
            </a:r>
          </a:p>
        </p:txBody>
      </p:sp>
      <p:sp>
        <p:nvSpPr>
          <p:cNvPr id="9089" name="Rounded Rectangle 9088"/>
          <p:cNvSpPr/>
          <p:nvPr/>
        </p:nvSpPr>
        <p:spPr>
          <a:xfrm>
            <a:off x="4251960" y="4590288"/>
            <a:ext cx="3383280" cy="566928"/>
          </a:xfrm>
          <a:prstGeom prst="round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900" b="1" i="0">
                <a:solidFill>
                  <a:srgbClr val="000000"/>
                </a:solidFill>
                <a:latin typeface="맑은 고딕"/>
                <a:ea typeface="맑은 고딕"/>
              </a:rPr>
              <a:t>DP2  위치를 고른다</a:t>
            </a:r>
          </a:p>
          <a:p>
            <a:pPr algn="ctr"/>
            <a:r>
              <a:rPr sz="750" b="0" i="0">
                <a:solidFill>
                  <a:srgbClr val="000000"/>
                </a:solidFill>
                <a:latin typeface="맑은 고딕"/>
                <a:ea typeface="맑은 고딕"/>
              </a:rPr>
              <a:t>비용 기반 P/D 노드 선택</a:t>
            </a:r>
          </a:p>
        </p:txBody>
      </p:sp>
      <p:sp>
        <p:nvSpPr>
          <p:cNvPr id="9090" name="TextBox 9089"/>
          <p:cNvSpPr txBox="1"/>
          <p:nvPr/>
        </p:nvSpPr>
        <p:spPr>
          <a:xfrm>
            <a:off x="7653528" y="4736592"/>
            <a:ext cx="420624" cy="274320"/>
          </a:xfrm>
          <a:prstGeom prst="rect">
            <a:avLst/>
          </a:prstGeom>
          <a:noFill/>
        </p:spPr>
        <p:txBody>
          <a:bodyPr wrap="square" lIns="0" tIns="0" rIns="0" bIns="0" anchor="t">
            <a:spAutoFit/>
          </a:bodyPr>
          <a:lstStyle/>
          <a:p>
            <a:pPr algn="ctr"/>
            <a:r>
              <a:rPr sz="1400" b="1" i="0">
                <a:solidFill>
                  <a:srgbClr val="404040"/>
                </a:solidFill>
                <a:latin typeface="맑은 고딕"/>
                <a:ea typeface="맑은 고딕"/>
              </a:rPr>
              <a:t>+</a:t>
            </a:r>
          </a:p>
        </p:txBody>
      </p:sp>
      <p:sp>
        <p:nvSpPr>
          <p:cNvPr id="9091" name="Rounded Rectangle 9090"/>
          <p:cNvSpPr/>
          <p:nvPr/>
        </p:nvSpPr>
        <p:spPr>
          <a:xfrm>
            <a:off x="8092440" y="4590288"/>
            <a:ext cx="3383280" cy="566928"/>
          </a:xfrm>
          <a:prstGeom prst="roundRect">
            <a:avLst/>
          </a:prstGeom>
          <a:solidFill>
            <a:srgbClr val="FBE5D6"/>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900" b="1" i="0">
                <a:solidFill>
                  <a:srgbClr val="000000"/>
                </a:solidFill>
                <a:latin typeface="맑은 고딕"/>
                <a:ea typeface="맑은 고딕"/>
              </a:rPr>
              <a:t>DP4  공유를 안전하게 한다</a:t>
            </a:r>
          </a:p>
          <a:p>
            <a:pPr algn="ctr"/>
            <a:r>
              <a:rPr sz="750" b="0" i="0">
                <a:solidFill>
                  <a:srgbClr val="000000"/>
                </a:solidFill>
                <a:latin typeface="맑은 고딕"/>
                <a:ea typeface="맑은 고딕"/>
              </a:rPr>
              <a:t>비일관 CXL 풀의 KV·메타데이터 일관성 (본 DP)</a:t>
            </a:r>
          </a:p>
        </p:txBody>
      </p:sp>
      <p:sp>
        <p:nvSpPr>
          <p:cNvPr id="9092" name="TextBox 9091"/>
          <p:cNvSpPr txBox="1"/>
          <p:nvPr/>
        </p:nvSpPr>
        <p:spPr>
          <a:xfrm>
            <a:off x="411480" y="5394960"/>
            <a:ext cx="11338560" cy="164592"/>
          </a:xfrm>
          <a:prstGeom prst="rect">
            <a:avLst/>
          </a:prstGeom>
          <a:noFill/>
        </p:spPr>
        <p:txBody>
          <a:bodyPr wrap="square" lIns="0" tIns="0" rIns="0" bIns="0" anchor="t">
            <a:spAutoFit/>
          </a:bodyPr>
          <a:lstStyle/>
          <a:p>
            <a:pPr algn="l"/>
            <a:r>
              <a:rPr sz="700" b="0" i="0">
                <a:solidFill>
                  <a:srgbClr val="7F7F7F"/>
                </a:solidFill>
                <a:latin typeface="맑은 고딕"/>
                <a:ea typeface="맑은 고딕"/>
              </a:rPr>
              <a:t>※ 현재 환경에는 CXL 공유 풀이 없어 시뮬레이션 + 구조 논증 + 프로토콜 모델 체크로 평가 (실측 [A] 아님, [B+C]). 락 상수 등은 가정 값이며 공개</a:t>
            </a:r>
          </a:p>
        </p:txBody>
      </p:sp>
      <p:sp>
        <p:nvSpPr>
          <p:cNvPr id="9093" name="TextBox 9092"/>
          <p:cNvSpPr txBox="1"/>
          <p:nvPr/>
        </p:nvSpPr>
        <p:spPr>
          <a:xfrm>
            <a:off x="411480" y="5230368"/>
            <a:ext cx="11338560" cy="164592"/>
          </a:xfrm>
          <a:prstGeom prst="rect">
            <a:avLst/>
          </a:prstGeom>
          <a:noFill/>
        </p:spPr>
        <p:txBody>
          <a:bodyPr wrap="square" lIns="0" tIns="0" rIns="0" bIns="0" anchor="t">
            <a:spAutoFit/>
          </a:bodyPr>
          <a:lstStyle/>
          <a:p>
            <a:pPr algn="l"/>
            <a:r>
              <a:rPr sz="700" b="0" i="0">
                <a:solidFill>
                  <a:srgbClr val="7F7F7F"/>
                </a:solidFill>
                <a:latin typeface="맑은 고딕"/>
                <a:ea typeface="맑은 고딕"/>
              </a:rPr>
              <a:t>(세 방법은 보완 관계: DP3로 전송량을 줄이고, DP2로 위치를 고르고, DP4로 공유 풀을 정확하게 만듦)</a:t>
            </a:r>
          </a:p>
        </p:txBody>
      </p:sp>
    </p:spTree>
    <p:extLst>
      <p:ext uri="{BB962C8B-B14F-4D97-AF65-F5344CB8AC3E}">
        <p14:creationId xmlns:p14="http://schemas.microsoft.com/office/powerpoint/2010/main" val="1143087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34949" y="1032440"/>
          <a:ext cx="11747501" cy="5380480"/>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4382236">
                  <a:extLst>
                    <a:ext uri="{9D8B030D-6E8A-4147-A177-3AD203B41FA5}">
                      <a16:colId xmlns:a16="http://schemas.microsoft.com/office/drawing/2014/main" val="5654497"/>
                    </a:ext>
                  </a:extLst>
                </a:gridCol>
                <a:gridCol w="1053818">
                  <a:extLst>
                    <a:ext uri="{9D8B030D-6E8A-4147-A177-3AD203B41FA5}">
                      <a16:colId xmlns:a16="http://schemas.microsoft.com/office/drawing/2014/main" val="4114062400"/>
                    </a:ext>
                  </a:extLst>
                </a:gridCol>
                <a:gridCol w="4488188">
                  <a:extLst>
                    <a:ext uri="{9D8B030D-6E8A-4147-A177-3AD203B41FA5}">
                      <a16:colId xmlns:a16="http://schemas.microsoft.com/office/drawing/2014/main" val="3070054508"/>
                    </a:ext>
                  </a:extLst>
                </a:gridCol>
                <a:gridCol w="947866">
                  <a:extLst>
                    <a:ext uri="{9D8B030D-6E8A-4147-A177-3AD203B41FA5}">
                      <a16:colId xmlns:a16="http://schemas.microsoft.com/office/drawing/2014/main" val="2026705357"/>
                    </a:ext>
                  </a:extLst>
                </a:gridCol>
              </a:tblGrid>
              <a:tr h="358421">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t>(C1) 중앙 직렬화 구조 (Central Metadata Server)</a:t>
                      </a:r>
                      <a:endParaRPr lang="ko-KR" altLang="en-US" sz="1200" b="1"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t>(C2) 분산 락 구조 (Distributed Lock)</a:t>
                      </a:r>
                      <a:endParaRPr lang="en-US" altLang="ko-KR" sz="1200" b="1"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460539">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b="1"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en-US" altLang="ko-KR" sz="120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474014">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락·원자 연산이 필요 없어 정확성 논증이 단순</a:t>
                      </a:r>
                      <a:endParaRPr lang="en-US" altLang="ko-KR" sz="1200" strike="noStrike" kern="1200" baseline="0" dirty="0">
                        <a:solidFill>
                          <a:schemeClr val="tx1"/>
                        </a:solidFill>
                        <a:effectLst/>
                        <a:latin typeface="+mn-lt"/>
                        <a:ea typeface="+mn-ea"/>
                        <a:cs typeface="+mn-cs"/>
                      </a:endParaRP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메타데이터 연산이 한 곳에서 직렬화되어 인덱스·refcount 일관성이 자연스러움</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effectLst/>
                        </a:rPr>
                        <a:t>서버 한 곳을 거치지 않아 SPOF·병목이 없고 노드 수에 따른 확장 여지</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effectLst/>
                        </a:rPr>
                        <a:t>공유 메모리 직접 접근으로 control plane 지연이 작음</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effectLst/>
                        </a:rPr>
                        <a:t>서버가 SPOF이자 확장 한계 (서버 처리량 상한), 장애 시 복구 설계 필요, CXL RPC는 신뢰성 보장이 약함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ko-KR" altLang="en-US" sz="1200" strike="noStrike" baseline="0" dirty="0">
                          <a:effectLst/>
                        </a:rPr>
                        <a:t>락 매니저 스캔 비용이 노드·슬롯 수에 비례, 락 보유 노드 장애 시 정체, clflush 누락 같은 가시성 버그 위험</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630306">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t>Performance Latency</a:t>
                      </a:r>
                    </a:p>
                    <a:p>
                      <a:pPr marL="228600" indent="-228600" latinLnBrk="1">
                        <a:lnSpc>
                          <a:spcPct val="100000"/>
                        </a:lnSpc>
                        <a:buFont typeface="Wingdings" panose="05000000000000000000" pitchFamily="2" charset="2"/>
                        <a:buChar char="§"/>
                      </a:pPr>
                      <a:r>
                        <a:rPr lang="en-US" altLang="ko-KR" sz="1200" b="0" strike="noStrike" dirty="0"/>
                        <a:t>Scalability</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lvl="0"/>
                      <a:endParaRPr lang="ko-KR" altLang="en-US" sz="1200" strike="noStrike" dirty="0">
                        <a:solidFill>
                          <a:prstClr val="black"/>
                        </a:solidFill>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t>Performance Latency</a:t>
                      </a:r>
                    </a:p>
                    <a:p>
                      <a:pPr marL="228600" indent="-228600" latinLnBrk="1">
                        <a:lnSpc>
                          <a:spcPct val="100000"/>
                        </a:lnSpc>
                        <a:buFont typeface="Wingdings" panose="05000000000000000000" pitchFamily="2" charset="2"/>
                        <a:buChar char="§"/>
                      </a:pPr>
                      <a:r>
                        <a:rPr lang="en-US" altLang="ko-KR" sz="1200" b="0" strike="noStrike" dirty="0"/>
                        <a:t>Scalability</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lvl="0"/>
                      <a:endParaRPr lang="ko-KR" altLang="en-US" sz="1200" strike="noStrike" dirty="0">
                        <a:solidFill>
                          <a:prstClr val="black"/>
                        </a:solidFill>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8" y="137379"/>
            <a:ext cx="7016242" cy="365125"/>
          </a:xfrm>
        </p:spPr>
        <p:txBody>
          <a:bodyPr/>
          <a:lstStyle/>
          <a:p>
            <a:r>
              <a:rPr lang="en-US" altLang="ko-KR" dirty="0"/>
              <a:t>DP4. 비일관 CXL 공유 메모리의 KV 일관성 구조 – 설계</a:t>
            </a:r>
            <a:endParaRPr lang="ko-KR" altLang="en-US" strike="sngStrike" dirty="0"/>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6540639" cy="307777"/>
          </a:xfrm>
          <a:prstGeom prst="rect">
            <a:avLst/>
          </a:prstGeom>
          <a:noFill/>
        </p:spPr>
        <p:txBody>
          <a:bodyPr wrap="square" rtlCol="0">
            <a:spAutoFit/>
          </a:bodyPr>
          <a:lstStyle/>
          <a:p>
            <a:r>
              <a:rPr lang="en-US" altLang="ko-KR" sz="1400" b="1" dirty="0">
                <a:solidFill>
                  <a:schemeClr val="bg1"/>
                </a:solidFill>
              </a:rPr>
              <a:t>메타데이터 일관성 책임을 누가 지는가: 중앙 직렬화 vs 분산 락</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99669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 </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10771632"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 </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670030"/>
            <a:ext cx="456466" cy="209550"/>
          </a:xfrm>
        </p:spPr>
        <p:txBody>
          <a:bodyPr/>
          <a:lstStyle/>
          <a:p>
            <a:fld id="{7F889C64-266A-4D07-AD8F-5B592E61CCE1}" type="slidenum">
              <a:rPr lang="ko-KR" altLang="en-US" smtClean="0"/>
              <a:pPr/>
              <a:t>2</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1111250" y="1430748"/>
            <a:ext cx="5422899" cy="261610"/>
          </a:xfrm>
          <a:prstGeom prst="rect">
            <a:avLst/>
          </a:prstGeom>
          <a:noFill/>
        </p:spPr>
        <p:txBody>
          <a:bodyPr wrap="square" rtlCol="0">
            <a:spAutoFit/>
          </a:bodyPr>
          <a:lstStyle/>
          <a:p>
            <a:r>
              <a:rPr lang="en-US" altLang="ko-KR" sz="1100" dirty="0"/>
              <a:t>“메타데이터 서버가 모든 갱신을 직렬화하고, 노드는 CXL 슬롯 RPC로 요청 (Beluga 방식)”</a:t>
            </a:r>
          </a:p>
        </p:txBody>
      </p:sp>
      <p:sp>
        <p:nvSpPr>
          <p:cNvPr id="138" name="TextBox 137"/>
          <p:cNvSpPr txBox="1"/>
          <p:nvPr/>
        </p:nvSpPr>
        <p:spPr>
          <a:xfrm>
            <a:off x="6534149" y="1416420"/>
            <a:ext cx="5543551" cy="261610"/>
          </a:xfrm>
          <a:prstGeom prst="rect">
            <a:avLst/>
          </a:prstGeom>
          <a:noFill/>
        </p:spPr>
        <p:txBody>
          <a:bodyPr wrap="square" rtlCol="0">
            <a:spAutoFit/>
          </a:bodyPr>
          <a:lstStyle/>
          <a:p>
            <a:r>
              <a:rPr lang="en-US" altLang="ko-KR" sz="1100" dirty="0"/>
              <a:t>“메타데이터를 공유 메모리에 두고 모든 노드가 2단 락으로 직접 갱신 (TraCT 방식)”</a:t>
            </a:r>
          </a:p>
        </p:txBody>
      </p:sp>
      <p:sp>
        <p:nvSpPr>
          <p:cNvPr id="139" name="Rectangle 138"/>
          <p:cNvSpPr/>
          <p:nvPr/>
        </p:nvSpPr>
        <p:spPr>
          <a:xfrm>
            <a:off x="1993392" y="1764792"/>
            <a:ext cx="3566160" cy="31089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1" i="0">
                <a:solidFill>
                  <a:srgbClr val="000000"/>
                </a:solidFill>
                <a:latin typeface="맑은 고딕"/>
                <a:ea typeface="맑은 고딕"/>
              </a:rPr>
              <a:t>공통 전제</a:t>
            </a:r>
            <a:r>
              <a:rPr sz="700" b="0" i="0">
                <a:solidFill>
                  <a:srgbClr val="000000"/>
                </a:solidFill>
                <a:latin typeface="맑은 고딕"/>
                <a:ea typeface="맑은 고딕"/>
              </a:rPr>
              <a:t>: 페이로드는 DMA(캐시 우회) + publish를 가시성 경계로</a:t>
            </a:r>
          </a:p>
        </p:txBody>
      </p:sp>
      <p:sp>
        <p:nvSpPr>
          <p:cNvPr id="140" name="Rectangle 139"/>
          <p:cNvSpPr/>
          <p:nvPr/>
        </p:nvSpPr>
        <p:spPr>
          <a:xfrm>
            <a:off x="1261872" y="2240280"/>
            <a:ext cx="1417320" cy="1097280"/>
          </a:xfrm>
          <a:prstGeom prst="rect">
            <a:avLst/>
          </a:prstGeom>
          <a:solidFill>
            <a:srgbClr val="F4F8FD"/>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1" name="Rectangle 140"/>
          <p:cNvSpPr/>
          <p:nvPr/>
        </p:nvSpPr>
        <p:spPr>
          <a:xfrm>
            <a:off x="1261872" y="2240280"/>
            <a:ext cx="822960"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«node» P 노드</a:t>
            </a:r>
          </a:p>
        </p:txBody>
      </p:sp>
      <p:sp>
        <p:nvSpPr>
          <p:cNvPr id="142" name="Rectangle 141"/>
          <p:cNvSpPr/>
          <p:nvPr/>
        </p:nvSpPr>
        <p:spPr>
          <a:xfrm>
            <a:off x="1371600" y="2514600"/>
            <a:ext cx="1188720" cy="365760"/>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 KV 커넥터</a:t>
            </a:r>
          </a:p>
        </p:txBody>
      </p:sp>
      <p:sp>
        <p:nvSpPr>
          <p:cNvPr id="143" name="Rectangle 142"/>
          <p:cNvSpPr/>
          <p:nvPr/>
        </p:nvSpPr>
        <p:spPr>
          <a:xfrm>
            <a:off x="1325880" y="256946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4" name="Rectangle 143"/>
          <p:cNvSpPr/>
          <p:nvPr/>
        </p:nvSpPr>
        <p:spPr>
          <a:xfrm>
            <a:off x="1325880" y="266090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5" name="Rectangle 144"/>
          <p:cNvSpPr/>
          <p:nvPr/>
        </p:nvSpPr>
        <p:spPr>
          <a:xfrm>
            <a:off x="1371600" y="2953512"/>
            <a:ext cx="1188720" cy="27432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650" b="0" i="0">
                <a:solidFill>
                  <a:srgbClr val="000000"/>
                </a:solidFill>
                <a:latin typeface="맑은 고딕"/>
                <a:ea typeface="맑은 고딕"/>
              </a:rPr>
              <a:t>GPU DMA · CPU flush</a:t>
            </a:r>
          </a:p>
        </p:txBody>
      </p:sp>
      <p:sp>
        <p:nvSpPr>
          <p:cNvPr id="146" name="Rectangle 145"/>
          <p:cNvSpPr/>
          <p:nvPr/>
        </p:nvSpPr>
        <p:spPr>
          <a:xfrm>
            <a:off x="4919472" y="2240280"/>
            <a:ext cx="1417320" cy="1097280"/>
          </a:xfrm>
          <a:prstGeom prst="rect">
            <a:avLst/>
          </a:prstGeom>
          <a:solidFill>
            <a:srgbClr val="F4F8FD"/>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7" name="Rectangle 146"/>
          <p:cNvSpPr/>
          <p:nvPr/>
        </p:nvSpPr>
        <p:spPr>
          <a:xfrm>
            <a:off x="4919472" y="2240280"/>
            <a:ext cx="822960"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«node» D 노드</a:t>
            </a:r>
          </a:p>
        </p:txBody>
      </p:sp>
      <p:sp>
        <p:nvSpPr>
          <p:cNvPr id="148" name="Rectangle 147"/>
          <p:cNvSpPr/>
          <p:nvPr/>
        </p:nvSpPr>
        <p:spPr>
          <a:xfrm>
            <a:off x="5029200" y="2514600"/>
            <a:ext cx="1188720" cy="365760"/>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 KV 커넥터</a:t>
            </a:r>
          </a:p>
        </p:txBody>
      </p:sp>
      <p:sp>
        <p:nvSpPr>
          <p:cNvPr id="149" name="Rectangle 148"/>
          <p:cNvSpPr/>
          <p:nvPr/>
        </p:nvSpPr>
        <p:spPr>
          <a:xfrm>
            <a:off x="4983480" y="256946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0" name="Rectangle 149"/>
          <p:cNvSpPr/>
          <p:nvPr/>
        </p:nvSpPr>
        <p:spPr>
          <a:xfrm>
            <a:off x="4983480" y="266090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1" name="Rectangle 150"/>
          <p:cNvSpPr/>
          <p:nvPr/>
        </p:nvSpPr>
        <p:spPr>
          <a:xfrm>
            <a:off x="5029200" y="2953512"/>
            <a:ext cx="1188720" cy="27432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650" b="0" i="0">
                <a:solidFill>
                  <a:srgbClr val="000000"/>
                </a:solidFill>
                <a:latin typeface="맑은 고딕"/>
                <a:ea typeface="맑은 고딕"/>
              </a:rPr>
              <a:t>GPU DMA · CPU flush</a:t>
            </a:r>
          </a:p>
        </p:txBody>
      </p:sp>
      <p:sp>
        <p:nvSpPr>
          <p:cNvPr id="152" name="Rectangle 151"/>
          <p:cNvSpPr/>
          <p:nvPr/>
        </p:nvSpPr>
        <p:spPr>
          <a:xfrm>
            <a:off x="2953512" y="2148840"/>
            <a:ext cx="1874519" cy="1965960"/>
          </a:xfrm>
          <a:prstGeom prst="rect">
            <a:avLst/>
          </a:prstGeom>
          <a:solidFill>
            <a:srgbClr val="FFF8F3"/>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3" name="Rectangle 152"/>
          <p:cNvSpPr/>
          <p:nvPr/>
        </p:nvSpPr>
        <p:spPr>
          <a:xfrm>
            <a:off x="2953512" y="2148840"/>
            <a:ext cx="1415491"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«store» 비일관 CXL 공유 풀</a:t>
            </a:r>
          </a:p>
        </p:txBody>
      </p:sp>
      <p:sp>
        <p:nvSpPr>
          <p:cNvPr id="154" name="Rectangle 153"/>
          <p:cNvSpPr/>
          <p:nvPr/>
        </p:nvSpPr>
        <p:spPr>
          <a:xfrm>
            <a:off x="3044952" y="2468880"/>
            <a:ext cx="1691640" cy="292608"/>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0" i="0">
                <a:solidFill>
                  <a:srgbClr val="000000"/>
                </a:solidFill>
                <a:latin typeface="맑은 고딕"/>
                <a:ea typeface="맑은 고딕"/>
              </a:rPr>
              <a:t>KV 블록 (불변·해시 식별)</a:t>
            </a:r>
          </a:p>
        </p:txBody>
      </p:sp>
      <p:sp>
        <p:nvSpPr>
          <p:cNvPr id="155" name="Rectangle 154"/>
          <p:cNvSpPr/>
          <p:nvPr/>
        </p:nvSpPr>
        <p:spPr>
          <a:xfrm>
            <a:off x="3044952" y="2852928"/>
            <a:ext cx="1691640" cy="310896"/>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0" i="0">
                <a:solidFill>
                  <a:srgbClr val="000000"/>
                </a:solidFill>
                <a:latin typeface="맑은 고딕"/>
                <a:ea typeface="맑은 고딕"/>
              </a:rPr>
              <a:t>요청/응답 슬롯 (flag)</a:t>
            </a:r>
          </a:p>
        </p:txBody>
      </p:sp>
      <p:sp>
        <p:nvSpPr>
          <p:cNvPr id="156" name="Rectangle 155"/>
          <p:cNvSpPr/>
          <p:nvPr/>
        </p:nvSpPr>
        <p:spPr>
          <a:xfrm>
            <a:off x="3044952" y="3310128"/>
            <a:ext cx="1691640" cy="640080"/>
          </a:xfrm>
          <a:prstGeom prst="rect">
            <a:avLst/>
          </a:prstGeom>
          <a:solidFill>
            <a:srgbClr val="FDECEA"/>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메타데이터 서버 (단일)</a:t>
            </a:r>
          </a:p>
          <a:p>
            <a:pPr algn="ctr"/>
            <a:r>
              <a:rPr sz="700" b="0" i="0">
                <a:solidFill>
                  <a:srgbClr val="000000"/>
                </a:solidFill>
                <a:latin typeface="맑은 고딕"/>
                <a:ea typeface="맑은 고딕"/>
              </a:rPr>
              <a:t>prefix index · refcount</a:t>
            </a:r>
          </a:p>
          <a:p>
            <a:pPr algn="ctr"/>
            <a:r>
              <a:rPr sz="700" b="0" i="0">
                <a:solidFill>
                  <a:srgbClr val="000000"/>
                </a:solidFill>
                <a:latin typeface="맑은 고딕"/>
                <a:ea typeface="맑은 고딕"/>
              </a:rPr>
              <a:t>allocator · LRU 직렬화</a:t>
            </a:r>
          </a:p>
        </p:txBody>
      </p:sp>
      <p:sp>
        <p:nvSpPr>
          <p:cNvPr id="157" name="Rectangle 156"/>
          <p:cNvSpPr/>
          <p:nvPr/>
        </p:nvSpPr>
        <p:spPr>
          <a:xfrm>
            <a:off x="2999232" y="3364992"/>
            <a:ext cx="91440" cy="50292"/>
          </a:xfrm>
          <a:prstGeom prst="rect">
            <a:avLst/>
          </a:prstGeom>
          <a:solidFill>
            <a:srgbClr val="FDECEA"/>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8" name="Rectangle 157"/>
          <p:cNvSpPr/>
          <p:nvPr/>
        </p:nvSpPr>
        <p:spPr>
          <a:xfrm>
            <a:off x="2999232" y="3456432"/>
            <a:ext cx="91440" cy="50292"/>
          </a:xfrm>
          <a:prstGeom prst="rect">
            <a:avLst/>
          </a:prstGeom>
          <a:solidFill>
            <a:srgbClr val="FDECEA"/>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159" name="Connector 158"/>
          <p:cNvCxnSpPr/>
          <p:nvPr/>
        </p:nvCxnSpPr>
        <p:spPr>
          <a:xfrm>
            <a:off x="2679191" y="2926080"/>
            <a:ext cx="365761"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160" name="Oval 159"/>
          <p:cNvSpPr/>
          <p:nvPr/>
        </p:nvSpPr>
        <p:spPr>
          <a:xfrm>
            <a:off x="2784348" y="2848356"/>
            <a:ext cx="155448" cy="155448"/>
          </a:xfrm>
          <a:prstGeom prst="ellipse">
            <a:avLst/>
          </a:prstGeom>
          <a:solidFill>
            <a:srgbClr val="2F559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cxnSp>
        <p:nvCxnSpPr>
          <p:cNvPr id="161" name="Connector 160"/>
          <p:cNvCxnSpPr/>
          <p:nvPr/>
        </p:nvCxnSpPr>
        <p:spPr>
          <a:xfrm flipH="1">
            <a:off x="4736592" y="2926080"/>
            <a:ext cx="18288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4750307" y="2848356"/>
            <a:ext cx="155448" cy="155448"/>
          </a:xfrm>
          <a:prstGeom prst="ellipse">
            <a:avLst/>
          </a:prstGeom>
          <a:solidFill>
            <a:srgbClr val="2F559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163" name="Rounded Rectangle 162"/>
          <p:cNvSpPr/>
          <p:nvPr/>
        </p:nvSpPr>
        <p:spPr>
          <a:xfrm>
            <a:off x="1243584" y="4224528"/>
            <a:ext cx="329184" cy="155448"/>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DP2</a:t>
            </a:r>
          </a:p>
        </p:txBody>
      </p:sp>
      <p:sp>
        <p:nvSpPr>
          <p:cNvPr id="164" name="TextBox 163"/>
          <p:cNvSpPr txBox="1"/>
          <p:nvPr/>
        </p:nvSpPr>
        <p:spPr>
          <a:xfrm>
            <a:off x="1627632" y="4206240"/>
            <a:ext cx="4846320" cy="18288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KV 공유 풀이 있을 때 Tmove가 줄어드는 전제를 DP4가 안전하게 만듦</a:t>
            </a:r>
          </a:p>
        </p:txBody>
      </p:sp>
      <p:sp>
        <p:nvSpPr>
          <p:cNvPr id="165" name="Rounded Rectangle 164"/>
          <p:cNvSpPr/>
          <p:nvPr/>
        </p:nvSpPr>
        <p:spPr>
          <a:xfrm>
            <a:off x="1243584" y="4443984"/>
            <a:ext cx="329184" cy="155448"/>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DP3</a:t>
            </a:r>
          </a:p>
        </p:txBody>
      </p:sp>
      <p:sp>
        <p:nvSpPr>
          <p:cNvPr id="166" name="TextBox 165"/>
          <p:cNvSpPr txBox="1"/>
          <p:nvPr/>
        </p:nvSpPr>
        <p:spPr>
          <a:xfrm>
            <a:off x="1627632" y="4425696"/>
            <a:ext cx="4846320" cy="18288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Comp.KV도 같은 블록 의미(불변·해시)로 공유되어 같은 경로를 사용</a:t>
            </a:r>
          </a:p>
        </p:txBody>
      </p:sp>
      <p:sp>
        <p:nvSpPr>
          <p:cNvPr id="167" name="Rounded Rectangle 166"/>
          <p:cNvSpPr/>
          <p:nvPr/>
        </p:nvSpPr>
        <p:spPr>
          <a:xfrm>
            <a:off x="1243584" y="4663440"/>
            <a:ext cx="329184" cy="155448"/>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DP1</a:t>
            </a:r>
          </a:p>
        </p:txBody>
      </p:sp>
      <p:sp>
        <p:nvSpPr>
          <p:cNvPr id="168" name="TextBox 167"/>
          <p:cNvSpPr txBox="1"/>
          <p:nvPr/>
        </p:nvSpPr>
        <p:spPr>
          <a:xfrm>
            <a:off x="1627632" y="4645152"/>
            <a:ext cx="4846320" cy="18288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풀 tier는 DP1 백엔드 인터페이스의 한 backend로 접근</a:t>
            </a:r>
          </a:p>
        </p:txBody>
      </p:sp>
      <p:sp>
        <p:nvSpPr>
          <p:cNvPr id="169" name="Rectangle 168"/>
          <p:cNvSpPr/>
          <p:nvPr/>
        </p:nvSpPr>
        <p:spPr>
          <a:xfrm>
            <a:off x="7406640" y="1764792"/>
            <a:ext cx="3566160" cy="31089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1" i="0">
                <a:solidFill>
                  <a:srgbClr val="000000"/>
                </a:solidFill>
                <a:latin typeface="맑은 고딕"/>
                <a:ea typeface="맑은 고딕"/>
              </a:rPr>
              <a:t>공통 전제</a:t>
            </a:r>
            <a:r>
              <a:rPr sz="700" b="0" i="0">
                <a:solidFill>
                  <a:srgbClr val="000000"/>
                </a:solidFill>
                <a:latin typeface="맑은 고딕"/>
                <a:ea typeface="맑은 고딕"/>
              </a:rPr>
              <a:t>: 페이로드는 DMA(캐시 우회) + publish를 가시성 경계로</a:t>
            </a:r>
          </a:p>
        </p:txBody>
      </p:sp>
      <p:sp>
        <p:nvSpPr>
          <p:cNvPr id="170" name="Rectangle 169"/>
          <p:cNvSpPr/>
          <p:nvPr/>
        </p:nvSpPr>
        <p:spPr>
          <a:xfrm>
            <a:off x="6675120" y="2240280"/>
            <a:ext cx="1417320" cy="1097280"/>
          </a:xfrm>
          <a:prstGeom prst="rect">
            <a:avLst/>
          </a:prstGeom>
          <a:solidFill>
            <a:srgbClr val="F4F8FD"/>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1" name="Rectangle 170"/>
          <p:cNvSpPr/>
          <p:nvPr/>
        </p:nvSpPr>
        <p:spPr>
          <a:xfrm>
            <a:off x="6675120" y="2240280"/>
            <a:ext cx="822960"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«node» P 노드</a:t>
            </a:r>
          </a:p>
        </p:txBody>
      </p:sp>
      <p:sp>
        <p:nvSpPr>
          <p:cNvPr id="172" name="Rectangle 171"/>
          <p:cNvSpPr/>
          <p:nvPr/>
        </p:nvSpPr>
        <p:spPr>
          <a:xfrm>
            <a:off x="6784848" y="2514600"/>
            <a:ext cx="1188720" cy="365760"/>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 KV 커넥터</a:t>
            </a:r>
          </a:p>
        </p:txBody>
      </p:sp>
      <p:sp>
        <p:nvSpPr>
          <p:cNvPr id="173" name="Rectangle 172"/>
          <p:cNvSpPr/>
          <p:nvPr/>
        </p:nvSpPr>
        <p:spPr>
          <a:xfrm>
            <a:off x="6739128" y="256946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4" name="Rectangle 173"/>
          <p:cNvSpPr/>
          <p:nvPr/>
        </p:nvSpPr>
        <p:spPr>
          <a:xfrm>
            <a:off x="6739128" y="266090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5" name="Rectangle 174"/>
          <p:cNvSpPr/>
          <p:nvPr/>
        </p:nvSpPr>
        <p:spPr>
          <a:xfrm>
            <a:off x="6784848" y="2953512"/>
            <a:ext cx="1188720" cy="27432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650" b="0" i="0">
                <a:solidFill>
                  <a:srgbClr val="000000"/>
                </a:solidFill>
                <a:latin typeface="맑은 고딕"/>
                <a:ea typeface="맑은 고딕"/>
              </a:rPr>
              <a:t>GPU DMA · CPU flush</a:t>
            </a:r>
          </a:p>
        </p:txBody>
      </p:sp>
      <p:sp>
        <p:nvSpPr>
          <p:cNvPr id="176" name="Rectangle 175"/>
          <p:cNvSpPr/>
          <p:nvPr/>
        </p:nvSpPr>
        <p:spPr>
          <a:xfrm>
            <a:off x="10332720" y="2240280"/>
            <a:ext cx="1417320" cy="1097280"/>
          </a:xfrm>
          <a:prstGeom prst="rect">
            <a:avLst/>
          </a:prstGeom>
          <a:solidFill>
            <a:srgbClr val="F4F8FD"/>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7" name="Rectangle 176"/>
          <p:cNvSpPr/>
          <p:nvPr/>
        </p:nvSpPr>
        <p:spPr>
          <a:xfrm>
            <a:off x="10332720" y="2240280"/>
            <a:ext cx="822960"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«node» D 노드</a:t>
            </a:r>
          </a:p>
        </p:txBody>
      </p:sp>
      <p:sp>
        <p:nvSpPr>
          <p:cNvPr id="178" name="Rectangle 177"/>
          <p:cNvSpPr/>
          <p:nvPr/>
        </p:nvSpPr>
        <p:spPr>
          <a:xfrm>
            <a:off x="10442448" y="2514600"/>
            <a:ext cx="1188720" cy="365760"/>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 KV 커넥터</a:t>
            </a:r>
          </a:p>
        </p:txBody>
      </p:sp>
      <p:sp>
        <p:nvSpPr>
          <p:cNvPr id="179" name="Rectangle 178"/>
          <p:cNvSpPr/>
          <p:nvPr/>
        </p:nvSpPr>
        <p:spPr>
          <a:xfrm>
            <a:off x="10396728" y="256946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0" name="Rectangle 179"/>
          <p:cNvSpPr/>
          <p:nvPr/>
        </p:nvSpPr>
        <p:spPr>
          <a:xfrm>
            <a:off x="10396728" y="266090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1" name="Rectangle 180"/>
          <p:cNvSpPr/>
          <p:nvPr/>
        </p:nvSpPr>
        <p:spPr>
          <a:xfrm>
            <a:off x="10442448" y="2953512"/>
            <a:ext cx="1188720" cy="27432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650" b="0" i="0">
                <a:solidFill>
                  <a:srgbClr val="000000"/>
                </a:solidFill>
                <a:latin typeface="맑은 고딕"/>
                <a:ea typeface="맑은 고딕"/>
              </a:rPr>
              <a:t>GPU DMA · CPU flush</a:t>
            </a:r>
          </a:p>
        </p:txBody>
      </p:sp>
      <p:sp>
        <p:nvSpPr>
          <p:cNvPr id="182" name="Rectangle 181"/>
          <p:cNvSpPr/>
          <p:nvPr/>
        </p:nvSpPr>
        <p:spPr>
          <a:xfrm>
            <a:off x="8366760" y="2148840"/>
            <a:ext cx="1874519" cy="1965960"/>
          </a:xfrm>
          <a:prstGeom prst="rect">
            <a:avLst/>
          </a:prstGeom>
          <a:solidFill>
            <a:srgbClr val="FFF8F3"/>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3" name="Rectangle 182"/>
          <p:cNvSpPr/>
          <p:nvPr/>
        </p:nvSpPr>
        <p:spPr>
          <a:xfrm>
            <a:off x="8366760" y="2148840"/>
            <a:ext cx="1415491"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«store» 비일관 CXL 공유 풀</a:t>
            </a:r>
          </a:p>
        </p:txBody>
      </p:sp>
      <p:sp>
        <p:nvSpPr>
          <p:cNvPr id="184" name="Rectangle 183"/>
          <p:cNvSpPr/>
          <p:nvPr/>
        </p:nvSpPr>
        <p:spPr>
          <a:xfrm>
            <a:off x="8458200" y="2468880"/>
            <a:ext cx="1691640" cy="292608"/>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0" i="0">
                <a:solidFill>
                  <a:srgbClr val="000000"/>
                </a:solidFill>
                <a:latin typeface="맑은 고딕"/>
                <a:ea typeface="맑은 고딕"/>
              </a:rPr>
              <a:t>KV 블록 (불변·해시 식별)</a:t>
            </a:r>
          </a:p>
        </p:txBody>
      </p:sp>
      <p:sp>
        <p:nvSpPr>
          <p:cNvPr id="185" name="Rectangle 184"/>
          <p:cNvSpPr/>
          <p:nvPr/>
        </p:nvSpPr>
        <p:spPr>
          <a:xfrm>
            <a:off x="8458200" y="2852928"/>
            <a:ext cx="1691640" cy="310896"/>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0" i="0">
                <a:solidFill>
                  <a:srgbClr val="000000"/>
                </a:solidFill>
                <a:latin typeface="맑은 고딕"/>
                <a:ea typeface="맑은 고딕"/>
              </a:rPr>
              <a:t>메타데이터 (인덱스·refcount)</a:t>
            </a:r>
          </a:p>
        </p:txBody>
      </p:sp>
      <p:sp>
        <p:nvSpPr>
          <p:cNvPr id="186" name="Rectangle 185"/>
          <p:cNvSpPr/>
          <p:nvPr/>
        </p:nvSpPr>
        <p:spPr>
          <a:xfrm>
            <a:off x="8458200" y="3236976"/>
            <a:ext cx="1691640" cy="27432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0" i="0">
                <a:solidFill>
                  <a:srgbClr val="000000"/>
                </a:solidFill>
                <a:latin typeface="맑은 고딕"/>
                <a:ea typeface="맑은 고딕"/>
              </a:rPr>
              <a:t>전역 락 배열 (노드별 슬롯)</a:t>
            </a:r>
          </a:p>
        </p:txBody>
      </p:sp>
      <p:sp>
        <p:nvSpPr>
          <p:cNvPr id="187" name="Rectangle 186"/>
          <p:cNvSpPr/>
          <p:nvPr/>
        </p:nvSpPr>
        <p:spPr>
          <a:xfrm>
            <a:off x="8458200" y="3584448"/>
            <a:ext cx="1691640" cy="420624"/>
          </a:xfrm>
          <a:prstGeom prst="rect">
            <a:avLst/>
          </a:prstGeom>
          <a:solidFill>
            <a:srgbClr val="FDECEA"/>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락 매니저 스레드</a:t>
            </a:r>
          </a:p>
          <a:p>
            <a:pPr algn="ctr"/>
            <a:r>
              <a:rPr sz="700" b="0" i="0">
                <a:solidFill>
                  <a:srgbClr val="000000"/>
                </a:solidFill>
                <a:latin typeface="맑은 고딕"/>
                <a:ea typeface="맑은 고딕"/>
              </a:rPr>
              <a:t>슬롯 스캔, 1노드에 grant</a:t>
            </a:r>
          </a:p>
        </p:txBody>
      </p:sp>
      <p:sp>
        <p:nvSpPr>
          <p:cNvPr id="188" name="Rectangle 187"/>
          <p:cNvSpPr/>
          <p:nvPr/>
        </p:nvSpPr>
        <p:spPr>
          <a:xfrm>
            <a:off x="8412480" y="3639312"/>
            <a:ext cx="91440" cy="50292"/>
          </a:xfrm>
          <a:prstGeom prst="rect">
            <a:avLst/>
          </a:prstGeom>
          <a:solidFill>
            <a:srgbClr val="FDECEA"/>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9" name="Rectangle 188"/>
          <p:cNvSpPr/>
          <p:nvPr/>
        </p:nvSpPr>
        <p:spPr>
          <a:xfrm>
            <a:off x="8412480" y="3730752"/>
            <a:ext cx="91440" cy="50292"/>
          </a:xfrm>
          <a:prstGeom prst="rect">
            <a:avLst/>
          </a:prstGeom>
          <a:solidFill>
            <a:srgbClr val="FDECEA"/>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190" name="Connector 189"/>
          <p:cNvCxnSpPr/>
          <p:nvPr/>
        </p:nvCxnSpPr>
        <p:spPr>
          <a:xfrm>
            <a:off x="8092440" y="2926080"/>
            <a:ext cx="36576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191" name="Oval 190"/>
          <p:cNvSpPr/>
          <p:nvPr/>
        </p:nvSpPr>
        <p:spPr>
          <a:xfrm>
            <a:off x="8197596" y="2848356"/>
            <a:ext cx="155448" cy="155448"/>
          </a:xfrm>
          <a:prstGeom prst="ellipse">
            <a:avLst/>
          </a:prstGeom>
          <a:solidFill>
            <a:srgbClr val="2F559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cxnSp>
        <p:nvCxnSpPr>
          <p:cNvPr id="192" name="Connector 191"/>
          <p:cNvCxnSpPr/>
          <p:nvPr/>
        </p:nvCxnSpPr>
        <p:spPr>
          <a:xfrm flipH="1">
            <a:off x="10149840" y="2926080"/>
            <a:ext cx="18288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193" name="Oval 192"/>
          <p:cNvSpPr/>
          <p:nvPr/>
        </p:nvSpPr>
        <p:spPr>
          <a:xfrm>
            <a:off x="10163555" y="2848356"/>
            <a:ext cx="155448" cy="155448"/>
          </a:xfrm>
          <a:prstGeom prst="ellipse">
            <a:avLst/>
          </a:prstGeom>
          <a:solidFill>
            <a:srgbClr val="2F559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cxnSp>
        <p:nvCxnSpPr>
          <p:cNvPr id="194" name="Connector 193"/>
          <p:cNvCxnSpPr/>
          <p:nvPr/>
        </p:nvCxnSpPr>
        <p:spPr>
          <a:xfrm>
            <a:off x="8092440" y="3374136"/>
            <a:ext cx="36576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195" name="Oval 194"/>
          <p:cNvSpPr/>
          <p:nvPr/>
        </p:nvSpPr>
        <p:spPr>
          <a:xfrm>
            <a:off x="8197596" y="3296412"/>
            <a:ext cx="155448" cy="155448"/>
          </a:xfrm>
          <a:prstGeom prst="ellipse">
            <a:avLst/>
          </a:prstGeom>
          <a:solidFill>
            <a:srgbClr val="2F559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196" name="Connector 195"/>
          <p:cNvCxnSpPr/>
          <p:nvPr/>
        </p:nvCxnSpPr>
        <p:spPr>
          <a:xfrm flipH="1">
            <a:off x="10149840" y="3374136"/>
            <a:ext cx="182880" cy="0"/>
          </a:xfrm>
          <a:prstGeom prst="line">
            <a:avLst/>
          </a:prstGeom>
          <a:ln w="15875">
            <a:solidFill>
              <a:srgbClr val="2F5597"/>
            </a:solidFill>
            <a:tailEnd type="triangle"/>
          </a:ln>
        </p:spPr>
        <p:style>
          <a:lnRef idx="2">
            <a:schemeClr val="accent1"/>
          </a:lnRef>
          <a:fillRef idx="0">
            <a:schemeClr val="accent1"/>
          </a:fillRef>
          <a:effectRef idx="1">
            <a:schemeClr val="accent1"/>
          </a:effectRef>
          <a:fontRef idx="minor">
            <a:schemeClr val="tx1"/>
          </a:fontRef>
        </p:style>
      </p:cxnSp>
      <p:sp>
        <p:nvSpPr>
          <p:cNvPr id="197" name="Oval 196"/>
          <p:cNvSpPr/>
          <p:nvPr/>
        </p:nvSpPr>
        <p:spPr>
          <a:xfrm>
            <a:off x="10163555" y="3296412"/>
            <a:ext cx="155448" cy="155448"/>
          </a:xfrm>
          <a:prstGeom prst="ellipse">
            <a:avLst/>
          </a:prstGeom>
          <a:solidFill>
            <a:srgbClr val="2F559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sp>
        <p:nvSpPr>
          <p:cNvPr id="198" name="Rounded Rectangle 197"/>
          <p:cNvSpPr/>
          <p:nvPr/>
        </p:nvSpPr>
        <p:spPr>
          <a:xfrm>
            <a:off x="6656832" y="4224528"/>
            <a:ext cx="329184" cy="155448"/>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DP2</a:t>
            </a:r>
          </a:p>
        </p:txBody>
      </p:sp>
      <p:sp>
        <p:nvSpPr>
          <p:cNvPr id="199" name="TextBox 198"/>
          <p:cNvSpPr txBox="1"/>
          <p:nvPr/>
        </p:nvSpPr>
        <p:spPr>
          <a:xfrm>
            <a:off x="7040880" y="4206240"/>
            <a:ext cx="4846320" cy="18288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KV 공유 풀이 있을 때 Tmove가 줄어드는 전제를 DP4가 안전하게 만듦</a:t>
            </a:r>
          </a:p>
        </p:txBody>
      </p:sp>
      <p:sp>
        <p:nvSpPr>
          <p:cNvPr id="200" name="Rounded Rectangle 199"/>
          <p:cNvSpPr/>
          <p:nvPr/>
        </p:nvSpPr>
        <p:spPr>
          <a:xfrm>
            <a:off x="6656832" y="4443984"/>
            <a:ext cx="329184" cy="155448"/>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DP3</a:t>
            </a:r>
          </a:p>
        </p:txBody>
      </p:sp>
      <p:sp>
        <p:nvSpPr>
          <p:cNvPr id="201" name="TextBox 200"/>
          <p:cNvSpPr txBox="1"/>
          <p:nvPr/>
        </p:nvSpPr>
        <p:spPr>
          <a:xfrm>
            <a:off x="7040880" y="4425696"/>
            <a:ext cx="4846320" cy="18288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Comp.KV도 같은 블록 의미(불변·해시)로 공유되어 같은 경로를 사용</a:t>
            </a:r>
          </a:p>
        </p:txBody>
      </p:sp>
      <p:sp>
        <p:nvSpPr>
          <p:cNvPr id="202" name="Rounded Rectangle 201"/>
          <p:cNvSpPr/>
          <p:nvPr/>
        </p:nvSpPr>
        <p:spPr>
          <a:xfrm>
            <a:off x="6656832" y="4663440"/>
            <a:ext cx="329184" cy="155448"/>
          </a:xfrm>
          <a:prstGeom prst="round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DP1</a:t>
            </a:r>
          </a:p>
        </p:txBody>
      </p:sp>
      <p:sp>
        <p:nvSpPr>
          <p:cNvPr id="203" name="TextBox 202"/>
          <p:cNvSpPr txBox="1"/>
          <p:nvPr/>
        </p:nvSpPr>
        <p:spPr>
          <a:xfrm>
            <a:off x="7040880" y="4645152"/>
            <a:ext cx="4846320" cy="18288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풀 tier는 DP1 백엔드 인터페이스의 한 backend로 접근</a:t>
            </a:r>
          </a:p>
        </p:txBody>
      </p:sp>
    </p:spTree>
    <p:extLst>
      <p:ext uri="{BB962C8B-B14F-4D97-AF65-F5344CB8AC3E}">
        <p14:creationId xmlns:p14="http://schemas.microsoft.com/office/powerpoint/2010/main" val="263881619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591</Words>
  <Application>Microsoft Office PowerPoint</Application>
  <PresentationFormat>와이드스크린</PresentationFormat>
  <Paragraphs>113</Paragraphs>
  <Slides>2</Slides>
  <Notes>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맑은 고딕</vt:lpstr>
      <vt:lpstr>맑은 고딕</vt:lpstr>
      <vt:lpstr>Arial</vt:lpstr>
      <vt:lpstr>Wingdings</vt:lpstr>
      <vt:lpstr>Office 테마</vt:lpstr>
      <vt:lpstr>DP3. Long Context를 위한 KV 캐시 압축 및 재사용 구조 – 배경 </vt:lpstr>
      <vt:lpstr>DP3. Long Context를 위한 KV 캐시 압축 및 재사용 구조 – 설계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DP3. Long Context를 위한 KV 캐시 압축 및 재사용 구조 – 배경 </dc:title>
  <dc:creator>Myeong Woo Kim</dc:creator>
  <cp:lastModifiedBy>Myeong Woo Kim</cp:lastModifiedBy>
  <cp:revision>1</cp:revision>
  <dcterms:created xsi:type="dcterms:W3CDTF">2026-10-03T15:48:21Z</dcterms:created>
  <dcterms:modified xsi:type="dcterms:W3CDTF">2026-10-03T15:48:31Z</dcterms:modified>
</cp:coreProperties>
</file>
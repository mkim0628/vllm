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620" r:id="rId2"/>
    <p:sldId id="5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EF9F1-C331-4F09-BB34-2C86D332CF9A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21FAD-12DB-4C6F-ACAE-E4B2AE40C6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56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[DP4 배경 - DP2의 전송 비용 한계]</a:t>
            </a:r>
          </a:p>
          <a:p>
            <a:r>
              <a:t>P/D 분리 구조에서는 Prefill을 P 노드에서 할지 D 노드에서 할지를 매번 골라야 합니다. DP2가 이동 비용(Tmove), 연산 비용(Tprefill), 대기 비용(Tqueue)으로 이 선택을 최적화합니다.</a:t>
            </a:r>
          </a:p>
          <a:p>
            <a:r>
              <a:t>그런데 DP2는 어디서 실행할지를 고를 뿐, 노드 사이로 KV를 옮기는 비용 자체는 줄이지 못합니다. 왼쪽 그림처럼 Turn이 이어질 때마다 KV가 P와 D 사이를 오가며 전송이 누적되고, History KV가 커질수록 더 커집니다. 서버가 늘면 KV 위치와 부하 상태를 정확히 공유하는 것도 어려워져, 상태가 낡으면 잘못된 노드를 고르게 됩니다.</a:t>
            </a:r>
          </a:p>
          <a:p>
            <a:r>
              <a:t>그래서 DP4는 KV와 상태를 서버 간에 공유하는 구조 자체를 다룹니다. 오른쪽처럼 KV를 노드와 독립된 공유 풀에 두면 위치가 노드에 묶이지 않고 요청 간 공유가 쉬워져 전송 비용을 줄일 수 있다는 것이 가설입니다. 다만 풀 접근도 전송이라 전송 횟수가 반드시 줄지는 않고 병목이 될 수 있어 효과는 측정으로 확인합니다. 현재 환경에는 CXL 공유 풀이 없어 네트워크로 연결된 DRAM·SSD 풀을 기준으로 하고, 매체는 나중에 CXL로 교체할 수 있게 설계합니다.</a:t>
            </a:r>
          </a:p>
          <a:p>
            <a:r>
              <a:t>하단은 전송 한계를 푸는 세 방법입니다. DP3는 전송할 바이트를 줄이고, DP2는 위치를 고르고, DP4는 전송 구조를 바꿉니다. 세 방법은 보완 관계입니다.</a:t>
            </a:r>
          </a:p>
          <a:p>
            <a:r>
              <a:t>일반 SW로 비유하면 서버끼리 파일을 계속 주고받는 대신 공유 스토리지에 두고 필요한 서버가 읽는 구조로 바꾸는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419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[DP4 설계 - 1안 점대점 전송 vs 2안 공유 KV 풀]</a:t>
            </a:r>
          </a:p>
          <a:p>
            <a:r>
              <a:t>DP2는 P/D 노드 중 어디서 Prefill을 실행할지를 비용(Tmove, Tprefill, Tqueue)으로 고르지만 노드 간 KV 전송 비용 자체는 줄이지 못합니다. DP4는 이 전송 구조를 다룹니다. 위쪽 DP2의 Planner가 두 안에서 모두 비용 계산을 하고, 그 입력이 되는 위치와 이동 비용이 두 안에서 서로 다른 방식으로 제공됩니다.</a:t>
            </a:r>
          </a:p>
          <a:p>
            <a:r>
              <a:t>1안은 현재 P/D 구조처럼 필요할 때 노드 사이로 KV를 직접 보내고, 위치는 중앙 인덱스가 이벤트로 추적합니다. 단순하고 바로 적용할 수 있지만 Turn마다 P와 D 사이를 왕복하는 전송이 누적됩니다.</a:t>
            </a:r>
          </a:p>
          <a:p>
            <a:r>
              <a:t>2안은 KV를 노드와 독립된 공유 풀에 두고 모든 노드가 풀에서 읽습니다. 위치가 노드에 묶이지 않고 요청 간 공유가 쉬워 전송 비용이 줄 수 있다는 것이 가설입니다. 다만 풀 접근도 전송이므로 병목이 될 수 있고, 현재 환경에는 CXL 공유 풀이 없어 네트워크로 연결된 DRAM·SSD 풀을 기준으로 평가합니다. 풀 매체는 이후 CXL 풀로 교체할 수 있게 DP1의 백엔드 인터페이스를 쓰는 구조입니다.</a:t>
            </a:r>
          </a:p>
          <a:p>
            <a:r>
              <a:t>일반 SW로 비유하면 1안은 서버끼리 파일을 주고받는 점대점 복사, 2안은 공유 스토리지에 두고 필요한 서버가 읽는 구조입니다.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000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9243C-61B6-4945-8828-C015B5798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556773-AA89-4DEE-9BF1-8443E88A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524D-94BF-4776-BBAA-574E1162B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13CB8-332E-4311-9BFC-90D8827C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D70066-5B0A-49B7-ADA0-67AD2506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06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DD9A-79E1-4473-B76D-009C664B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41DF1-FC0A-4FA7-9930-403FB5183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170D3-3F13-4116-92C9-280AE99E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F4B6ED-D7CD-48D1-AE7C-107BFBBD4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F76BF-7896-4E47-9AF6-A038E2A6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72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B439-33BB-4A23-903D-EE1BC2DF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FA104D-080C-4242-89E0-61285E04D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136F2-9DD9-4176-B803-FEF7FB79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02510-8E6D-401D-8CA3-7B9C6F6E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3A641-B176-4471-8FDB-BF7CB61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16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4F547-4B60-42A9-A776-E368A657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7DCCB-CCE2-4704-88B1-CC442379E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31350E-B7CE-4BD1-8F66-E81CBFBB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DA48FE-E551-4530-8AB3-1DCDC7F2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0FDB0-DACA-457C-84CF-6D2F2684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AEB7E0-D269-459D-8ED7-0546D37C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6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FD2A8-53A0-4313-B47D-980C2AA8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20B8F-FBCC-4BDD-B174-EA8E67A18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00BB8-6E5C-4BE5-AACA-62F1621AB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E17B62-1BA6-4837-8011-7E81A8853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6C7373-3F14-4155-89AE-043B418D2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A379C7-7A8E-4A77-B7B3-50A8A102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A0C55E-524D-4082-92FC-1B87460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BF518D-D6E5-4F55-BB3B-DB3E2C22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1391-B4C6-4B12-ACC1-BA0601C4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A5551-B998-41E9-A1EB-190CBAE6E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00B39C-E203-43F7-80BC-B6583B56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D0A8D9-A811-4CDD-8046-14E985B8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8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DA4E12-F1D2-4D5B-8983-29701EEC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BF391E-F229-40E2-92E4-7594D8FB9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D54EA-74CF-4D7C-94B7-A9CF43ED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10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4AE4C-56FD-40E9-98F9-B8EFA0DB1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356B9-07C8-4D0D-8E9C-AB1654615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3EECFB-4158-4F84-B33D-2DBD2AA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2C568A-3077-4449-A61E-FCC5A497C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1F119-A46E-4726-A157-9E009DD8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95FA8D-C289-42E9-8BEA-DD3CE9BF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26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CBC-45FA-4258-97DC-288AC2CD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1A0ACD-D37A-440F-A8E2-67B3EEE9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E0545C-CA74-486A-A1B0-46EDC8C90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F91288-4F89-4A8B-BBD6-1978DC4F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73CCE5-C445-4755-894D-6AA383F1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987682-2FBC-4FF9-91FC-6E2CE8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96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5D4B0-6AE1-432A-8853-789F0E59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10CC20-D1A4-4022-9262-A281B7B42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8140C-3FFC-442F-809B-E546D1E41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A37D8-4990-4F50-9AA6-0A2C7F89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6DC77A-7493-4ABF-89B9-2636B35A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35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C7799F-1228-434D-9D68-C1EAA1882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B20BC1-7B0A-48B0-BE74-A505642C1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E2279C-2BA2-4E6A-B375-3D2D8F1B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2E9A2-3F6D-4A86-8BBD-7BCF9330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6AF16-E8EA-4ED0-8DD4-577CF543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06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0492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4AF691-ED6E-483B-9D47-49CC2698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501C3E-0C29-4817-9C0D-6F91ECA6E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FBC4C-39DC-453F-A7AB-779DCDD28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6A539-A8C8-40A3-BDF9-F84A058B26C0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A96A7-3459-4EFF-A3E6-3ABAC2F62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2BB84-2972-4DF3-AEDE-96F4B5C3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4563-3D52-4ED5-979F-C22652CA5B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9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DP4. 서버 간 KV 공유 구조 – 배경</a:t>
            </a:r>
            <a:endParaRPr lang="en-US" altLang="ko-KR" dirty="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DP2 9001"/>
          <p:cNvSpPr/>
          <p:nvPr/>
        </p:nvSpPr>
        <p:spPr>
          <a:xfrm>
            <a:off x="347472" y="629107"/>
            <a:ext cx="1179576" cy="301752"/>
          </a:xfrm>
          <a:prstGeom prst="roundRect">
            <a:avLst/>
          </a:prstGeom>
          <a:solidFill>
            <a:srgbClr val="A8C6E8"/>
          </a:solidFill>
          <a:ln w="9525">
            <a:solidFill>
              <a:srgbClr val="2E75B6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정의</a:t>
            </a:r>
          </a:p>
        </p:txBody>
      </p:sp>
      <p:sp>
        <p:nvSpPr>
          <p:cNvPr id="9013" name="DP2 9013"/>
          <p:cNvSpPr/>
          <p:nvPr/>
        </p:nvSpPr>
        <p:spPr>
          <a:xfrm>
            <a:off x="420624" y="1920240"/>
            <a:ext cx="113385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ko-KR" sz="1200" b="1">
                <a:solidFill>
                  <a:srgbClr val="0066FF"/>
                </a:solidFill>
                <a:latin typeface="맑은 고딕"/>
              </a:rPr>
              <a:t>→ 결정 최적화(DP2)만으로는 한계가 있어, KV 전송 비용과 서버 간 상태 공유를 구조적으로 푸는 설계가 필요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61" name="DP2 9061"/>
          <p:cNvSpPr/>
          <p:nvPr/>
        </p:nvSpPr>
        <p:spPr>
          <a:xfrm>
            <a:off x="347472" y="5667299"/>
            <a:ext cx="1179576" cy="301752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BF8F00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쟁점</a:t>
            </a:r>
          </a:p>
        </p:txBody>
      </p:sp>
      <p:sp>
        <p:nvSpPr>
          <p:cNvPr id="79" name="Text 22"/>
          <p:cNvSpPr/>
          <p:nvPr/>
        </p:nvSpPr>
        <p:spPr>
          <a:xfrm>
            <a:off x="359582" y="1016673"/>
            <a:ext cx="116876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P/D 분리 구조에서 Prefill 실행 노드는 KV 위치·노드 부하·이동 비용을 고려해 골라야 하며, DP2가 Tmove·Tprefill·Tqueue 비용으로 이를 최적화함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그러나 DP2는 노드 간 KV 전송 비용(Tmove) 자체는 줄이지 못함: Turn마다 KV가 P↔D를 왕복하며 누적되고, History KV가 커질수록 커짐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서버가 늘면 KV 위치·부하 상태를 서버 간에 정확히 공유하기도 어려워, 상태가 낡으면 잘못된 노드를 고르게 됨 (Stale Plan)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383682" y="5989320"/>
            <a:ext cx="113120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sz="1200">
                <a:solidFill>
                  <a:srgbClr val="404040"/>
                </a:solidFill>
                <a:latin typeface="맑은 고딕"/>
              </a:rPr>
              <a:t>서버 간 KV를 점대점 전송으로 공유할 것인가, 노드 독립 공유 KV 풀로 공유할 것인가?</a:t>
            </a:r>
            <a:endParaRPr lang="en-US" altLang="ko-KR" sz="1200" dirty="0"/>
          </a:p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sz="1200">
                <a:solidFill>
                  <a:srgbClr val="404040"/>
                </a:solidFill>
                <a:latin typeface="맑은 고딕"/>
              </a:rPr>
              <a:t>서버 간 KV 위치·부하 상태를 중앙 인덱스로 모을 것인가, 풀 안에 둘 것인가?</a:t>
            </a:r>
            <a:endParaRPr lang="en-US" altLang="ko-KR" sz="1200" dirty="0"/>
          </a:p>
        </p:txBody>
      </p:sp>
      <p:sp>
        <p:nvSpPr>
          <p:cNvPr id="9062" name="Rectangle 9061"/>
          <p:cNvSpPr/>
          <p:nvPr/>
        </p:nvSpPr>
        <p:spPr>
          <a:xfrm>
            <a:off x="411480" y="2331720"/>
            <a:ext cx="544068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3" name="Rounded Rectangle 9062"/>
          <p:cNvSpPr/>
          <p:nvPr/>
        </p:nvSpPr>
        <p:spPr>
          <a:xfrm>
            <a:off x="521208" y="2404872"/>
            <a:ext cx="3291840" cy="237744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As-Is: 결정은 최적화, 전송은 그대로 (DP2)</a:t>
            </a:r>
          </a:p>
        </p:txBody>
      </p:sp>
      <p:sp>
        <p:nvSpPr>
          <p:cNvPr id="9064" name="Rectangle 9063"/>
          <p:cNvSpPr/>
          <p:nvPr/>
        </p:nvSpPr>
        <p:spPr>
          <a:xfrm>
            <a:off x="6355080" y="2331720"/>
            <a:ext cx="5440680" cy="1920240"/>
          </a:xfrm>
          <a:prstGeom prst="rect">
            <a:avLst/>
          </a:prstGeom>
          <a:solidFill>
            <a:srgbClr val="FFF8F3"/>
          </a:solidFill>
          <a:ln w="12700">
            <a:solidFill>
              <a:srgbClr val="C55A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5" name="Rounded Rectangle 9064"/>
          <p:cNvSpPr/>
          <p:nvPr/>
        </p:nvSpPr>
        <p:spPr>
          <a:xfrm>
            <a:off x="6464808" y="2404872"/>
            <a:ext cx="3291840" cy="237744"/>
          </a:xfrm>
          <a:prstGeom prst="round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To-Be: 서버 간 KV 공유 구조 (DP4)</a:t>
            </a:r>
          </a:p>
        </p:txBody>
      </p:sp>
      <p:sp>
        <p:nvSpPr>
          <p:cNvPr id="9066" name="Right Arrow 9065"/>
          <p:cNvSpPr/>
          <p:nvPr/>
        </p:nvSpPr>
        <p:spPr>
          <a:xfrm>
            <a:off x="5943600" y="3063239"/>
            <a:ext cx="365760" cy="457200"/>
          </a:xfrm>
          <a:prstGeom prst="rightArrow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067" name="Rectangle 9066"/>
          <p:cNvSpPr/>
          <p:nvPr/>
        </p:nvSpPr>
        <p:spPr>
          <a:xfrm>
            <a:off x="594360" y="2834639"/>
            <a:ext cx="100584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P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Prefill</a:t>
            </a:r>
          </a:p>
        </p:txBody>
      </p:sp>
      <p:sp>
        <p:nvSpPr>
          <p:cNvPr id="9068" name="Rectangle 9067"/>
          <p:cNvSpPr/>
          <p:nvPr/>
        </p:nvSpPr>
        <p:spPr>
          <a:xfrm>
            <a:off x="4526280" y="2834639"/>
            <a:ext cx="100584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D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Decode</a:t>
            </a:r>
          </a:p>
        </p:txBody>
      </p:sp>
      <p:cxnSp>
        <p:nvCxnSpPr>
          <p:cNvPr id="9069" name="Connector 9068"/>
          <p:cNvCxnSpPr/>
          <p:nvPr/>
        </p:nvCxnSpPr>
        <p:spPr>
          <a:xfrm>
            <a:off x="1600200" y="2990087"/>
            <a:ext cx="292608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0" name="TextBox 9069"/>
          <p:cNvSpPr txBox="1"/>
          <p:nvPr/>
        </p:nvSpPr>
        <p:spPr>
          <a:xfrm>
            <a:off x="1645919" y="2880360"/>
            <a:ext cx="2743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Turn 1: KV 전송 (P→D)</a:t>
            </a:r>
          </a:p>
        </p:txBody>
      </p:sp>
      <p:cxnSp>
        <p:nvCxnSpPr>
          <p:cNvPr id="9071" name="Connector 9070"/>
          <p:cNvCxnSpPr/>
          <p:nvPr/>
        </p:nvCxnSpPr>
        <p:spPr>
          <a:xfrm flipH="1">
            <a:off x="1600200" y="3163823"/>
            <a:ext cx="2926080" cy="0"/>
          </a:xfrm>
          <a:prstGeom prst="line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2" name="TextBox 9071"/>
          <p:cNvSpPr txBox="1"/>
          <p:nvPr/>
        </p:nvSpPr>
        <p:spPr>
          <a:xfrm>
            <a:off x="1645919" y="3054096"/>
            <a:ext cx="2743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C00000"/>
                </a:solidFill>
                <a:latin typeface="맑은 고딕"/>
                <a:ea typeface="맑은 고딕"/>
              </a:rPr>
              <a:t>Turn 2: History KV 전송 (D→P)</a:t>
            </a:r>
          </a:p>
        </p:txBody>
      </p:sp>
      <p:cxnSp>
        <p:nvCxnSpPr>
          <p:cNvPr id="9073" name="Connector 9072"/>
          <p:cNvCxnSpPr/>
          <p:nvPr/>
        </p:nvCxnSpPr>
        <p:spPr>
          <a:xfrm>
            <a:off x="1600200" y="3337559"/>
            <a:ext cx="292608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4" name="TextBox 9073"/>
          <p:cNvSpPr txBox="1"/>
          <p:nvPr/>
        </p:nvSpPr>
        <p:spPr>
          <a:xfrm>
            <a:off x="1645919" y="3227832"/>
            <a:ext cx="2743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Turn 2: 결과 KV 전송 (P→D)</a:t>
            </a:r>
          </a:p>
        </p:txBody>
      </p:sp>
      <p:sp>
        <p:nvSpPr>
          <p:cNvPr id="9075" name="TextBox 9074"/>
          <p:cNvSpPr txBox="1"/>
          <p:nvPr/>
        </p:nvSpPr>
        <p:spPr>
          <a:xfrm>
            <a:off x="594360" y="3547872"/>
            <a:ext cx="5029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누적 전송: Turn 1 → 1회, Turn 2 → 3회, Turn 3 → 5회 (DP2 슬라이드의 Turn 예시)</a:t>
            </a:r>
          </a:p>
        </p:txBody>
      </p:sp>
      <p:sp>
        <p:nvSpPr>
          <p:cNvPr id="9076" name="TextBox 9075"/>
          <p:cNvSpPr txBox="1"/>
          <p:nvPr/>
        </p:nvSpPr>
        <p:spPr>
          <a:xfrm>
            <a:off x="594360" y="374903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  <a:ea typeface="맑은 고딕"/>
              </a:rPr>
              <a:t>Tmove 자체는 그대로, Turn과 History KV가 커질수록 누적</a:t>
            </a:r>
          </a:p>
          <a:p>
            <a:pPr algn="l"/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→ 어디서 실행할지(DP2)를 잘 골라도 전송 비용이 한계</a:t>
            </a:r>
          </a:p>
        </p:txBody>
      </p:sp>
      <p:sp>
        <p:nvSpPr>
          <p:cNvPr id="9077" name="Rectangle 9076"/>
          <p:cNvSpPr/>
          <p:nvPr/>
        </p:nvSpPr>
        <p:spPr>
          <a:xfrm>
            <a:off x="6492240" y="2834639"/>
            <a:ext cx="82296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P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Prefill</a:t>
            </a:r>
          </a:p>
        </p:txBody>
      </p:sp>
      <p:sp>
        <p:nvSpPr>
          <p:cNvPr id="9078" name="Rectangle 9077"/>
          <p:cNvSpPr/>
          <p:nvPr/>
        </p:nvSpPr>
        <p:spPr>
          <a:xfrm>
            <a:off x="10515600" y="2834639"/>
            <a:ext cx="822960" cy="566928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</a:rPr>
              <a:t>D 노드</a:t>
            </a:r>
          </a:p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>Decode</a:t>
            </a:r>
          </a:p>
        </p:txBody>
      </p:sp>
      <p:sp>
        <p:nvSpPr>
          <p:cNvPr id="9079" name="Rectangle 9078"/>
          <p:cNvSpPr/>
          <p:nvPr/>
        </p:nvSpPr>
        <p:spPr>
          <a:xfrm>
            <a:off x="8001000" y="2743199"/>
            <a:ext cx="1828800" cy="749808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공유 KV 풀</a:t>
            </a:r>
          </a:p>
          <a:p>
            <a:pPr algn="ctr"/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</a:rPr>
              <a:t>DRAM·SSD (CXL로 교체 가능)</a:t>
            </a:r>
          </a:p>
          <a:p>
            <a:pPr algn="ctr"/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</a:rPr>
              <a:t>위치·상태 메타데이터 포함</a:t>
            </a:r>
          </a:p>
        </p:txBody>
      </p:sp>
      <p:cxnSp>
        <p:nvCxnSpPr>
          <p:cNvPr id="9080" name="Connector 9079"/>
          <p:cNvCxnSpPr/>
          <p:nvPr/>
        </p:nvCxnSpPr>
        <p:spPr>
          <a:xfrm>
            <a:off x="7315200" y="2971799"/>
            <a:ext cx="68580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1" name="Connector 9080"/>
          <p:cNvCxnSpPr/>
          <p:nvPr/>
        </p:nvCxnSpPr>
        <p:spPr>
          <a:xfrm>
            <a:off x="9829800" y="2971799"/>
            <a:ext cx="68580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2" name="Connector 9081"/>
          <p:cNvCxnSpPr/>
          <p:nvPr/>
        </p:nvCxnSpPr>
        <p:spPr>
          <a:xfrm flipH="1">
            <a:off x="7315200" y="3291839"/>
            <a:ext cx="68580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3" name="TextBox 9082"/>
          <p:cNvSpPr txBox="1"/>
          <p:nvPr/>
        </p:nvSpPr>
        <p:spPr>
          <a:xfrm>
            <a:off x="7315200" y="280720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publish</a:t>
            </a:r>
          </a:p>
        </p:txBody>
      </p:sp>
      <p:sp>
        <p:nvSpPr>
          <p:cNvPr id="9084" name="TextBox 9083"/>
          <p:cNvSpPr txBox="1"/>
          <p:nvPr/>
        </p:nvSpPr>
        <p:spPr>
          <a:xfrm>
            <a:off x="9829800" y="2807208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read</a:t>
            </a:r>
          </a:p>
        </p:txBody>
      </p:sp>
      <p:sp>
        <p:nvSpPr>
          <p:cNvPr id="9085" name="TextBox 9084"/>
          <p:cNvSpPr txBox="1"/>
          <p:nvPr/>
        </p:nvSpPr>
        <p:spPr>
          <a:xfrm>
            <a:off x="7315200" y="3310127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read(다음)</a:t>
            </a:r>
          </a:p>
        </p:txBody>
      </p:sp>
      <p:sp>
        <p:nvSpPr>
          <p:cNvPr id="9086" name="TextBox 9085"/>
          <p:cNvSpPr txBox="1"/>
          <p:nvPr/>
        </p:nvSpPr>
        <p:spPr>
          <a:xfrm>
            <a:off x="6492240" y="3547872"/>
            <a:ext cx="5120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History KV가 풀에 유지되어 위치가 노드에 묶이지 않음</a:t>
            </a:r>
          </a:p>
        </p:txBody>
      </p:sp>
      <p:sp>
        <p:nvSpPr>
          <p:cNvPr id="9087" name="TextBox 9086"/>
          <p:cNvSpPr txBox="1"/>
          <p:nvPr/>
        </p:nvSpPr>
        <p:spPr>
          <a:xfrm>
            <a:off x="6492240" y="374903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375623"/>
                </a:solidFill>
                <a:latin typeface="맑은 고딕"/>
                <a:ea typeface="맑은 고딕"/>
              </a:rPr>
              <a:t>위치가 노드에 묶이지 않고 요청 간 공유 가능 → Tmove를 균일하게·줄일 수 있는지가 쟁점</a:t>
            </a:r>
          </a:p>
          <a:p>
            <a:pPr algn="l"/>
            <a:r>
              <a:rPr sz="850" b="0" i="0">
                <a:solidFill>
                  <a:srgbClr val="404040"/>
                </a:solidFill>
                <a:latin typeface="맑은 고딕"/>
                <a:ea typeface="맑은 고딕"/>
              </a:rPr>
              <a:t>→ 풀 접근도 전송이므로 감소 여부는 측정 대상 (가설)</a:t>
            </a:r>
          </a:p>
        </p:txBody>
      </p:sp>
      <p:sp>
        <p:nvSpPr>
          <p:cNvPr id="9088" name="TextBox 9087"/>
          <p:cNvSpPr txBox="1"/>
          <p:nvPr/>
        </p:nvSpPr>
        <p:spPr>
          <a:xfrm>
            <a:off x="411480" y="437083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404040"/>
                </a:solidFill>
                <a:latin typeface="맑은 고딕"/>
                <a:ea typeface="맑은 고딕"/>
              </a:rPr>
              <a:t>KV 전송 한계를 푸는 세 가지 방법</a:t>
            </a:r>
          </a:p>
        </p:txBody>
      </p:sp>
      <p:sp>
        <p:nvSpPr>
          <p:cNvPr id="9089" name="Rounded Rectangle 9088"/>
          <p:cNvSpPr/>
          <p:nvPr/>
        </p:nvSpPr>
        <p:spPr>
          <a:xfrm>
            <a:off x="411480" y="4590288"/>
            <a:ext cx="33832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DP3  바이트를 줄인다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KV 압축·재사용 (Comp.KV, 선택 재계산)</a:t>
            </a:r>
          </a:p>
        </p:txBody>
      </p:sp>
      <p:sp>
        <p:nvSpPr>
          <p:cNvPr id="9090" name="TextBox 9089"/>
          <p:cNvSpPr txBox="1"/>
          <p:nvPr/>
        </p:nvSpPr>
        <p:spPr>
          <a:xfrm>
            <a:off x="3813048" y="4736592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404040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9091" name="Rounded Rectangle 9090"/>
          <p:cNvSpPr/>
          <p:nvPr/>
        </p:nvSpPr>
        <p:spPr>
          <a:xfrm>
            <a:off x="4251960" y="4590288"/>
            <a:ext cx="3383280" cy="56692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DP2  위치를 고른다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비용 기반 P/D 노드 선택</a:t>
            </a:r>
          </a:p>
        </p:txBody>
      </p:sp>
      <p:sp>
        <p:nvSpPr>
          <p:cNvPr id="9092" name="TextBox 9091"/>
          <p:cNvSpPr txBox="1"/>
          <p:nvPr/>
        </p:nvSpPr>
        <p:spPr>
          <a:xfrm>
            <a:off x="7653528" y="4736592"/>
            <a:ext cx="4206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404040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9093" name="Rounded Rectangle 9092"/>
          <p:cNvSpPr/>
          <p:nvPr/>
        </p:nvSpPr>
        <p:spPr>
          <a:xfrm>
            <a:off x="8092440" y="4590288"/>
            <a:ext cx="3383280" cy="566928"/>
          </a:xfrm>
          <a:prstGeom prst="round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</a:rPr>
              <a:t>DP4  전송 구조를 바꾼다</a:t>
            </a:r>
          </a:p>
          <a:p>
            <a:pPr algn="ctr"/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</a:rPr>
              <a:t>서버 간 KV·상태 공유 (본 DP)</a:t>
            </a:r>
          </a:p>
        </p:txBody>
      </p:sp>
      <p:sp>
        <p:nvSpPr>
          <p:cNvPr id="9094" name="TextBox 9093"/>
          <p:cNvSpPr txBox="1"/>
          <p:nvPr/>
        </p:nvSpPr>
        <p:spPr>
          <a:xfrm>
            <a:off x="411480" y="5394960"/>
            <a:ext cx="11338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※ 평가는 CXL 공유 풀이 없는 환경(네트워크 연결 DRAM·SSD 풀) 기준이며, 풀 매체는 이후 CXL 풀로 교체 가능하도록 DP1의 백엔드 인터페이스로 설계</a:t>
            </a:r>
          </a:p>
        </p:txBody>
      </p:sp>
      <p:sp>
        <p:nvSpPr>
          <p:cNvPr id="9095" name="TextBox 9094"/>
          <p:cNvSpPr txBox="1"/>
          <p:nvPr/>
        </p:nvSpPr>
        <p:spPr>
          <a:xfrm>
            <a:off x="411480" y="5230368"/>
            <a:ext cx="11338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7F7F7F"/>
                </a:solidFill>
                <a:latin typeface="맑은 고딕"/>
                <a:ea typeface="맑은 고딕"/>
              </a:rPr>
              <a:t>(세 방법은 서로 보완: DP3로 전송량을 줄이고, DP2로 위치를 고르고, DP4로 전송 경로와 상태 공유 구조를 바꿈. DP2의 결과는 DP4 구성(전송 vs 공유)을 병기해 보고)</a:t>
            </a:r>
          </a:p>
        </p:txBody>
      </p:sp>
    </p:spTree>
    <p:extLst>
      <p:ext uri="{BB962C8B-B14F-4D97-AF65-F5344CB8AC3E}">
        <p14:creationId xmlns:p14="http://schemas.microsoft.com/office/powerpoint/2010/main" val="114308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38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(1안) 점대점 전송 구조 (Direct Transfer)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(2안) 공유 KV 풀 구조 (Shared KV Pool)</a:t>
                      </a:r>
                      <a:endParaRPr lang="en-US" altLang="ko-KR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60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P/D 전송 경로를 그대로 사용 (도입 단순)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매체가 필요 없어 2노드 환경에서 바로 적용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KV 위치가 노드에 독립적이라 Tmove가 균일하고 Comp.KV 등 요청 간 공유 용이 (가설)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Turn마다 P↔D 왕복 전송이 누적되어 DP2의 한계가 그대로 남음, 중앙 인덱스 병목·상태 지연 위험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풀 접근도 전송이라 병목 가능 (네트워크 풀 기준 평가), 풀 일관성·장애 처리·관리 오버헤드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Scalability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Scalability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DP4. 서버 간 KV 공유 구조 – 설계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서버 간 KV 전송 비용을 줄이고 KV 상태를 공유하는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99669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771632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“필요할 때 P↔D 노드 간에 KV를 직접 전송하고, 위치는 중앙 인덱스로 추적”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“공유 풀에 KV를 두고 모든 노드가 풀에서 읽으며, 위치는 풀 메타데이터로 관리”</a:t>
            </a:r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537074" y="6217803"/>
            <a:ext cx="234199" cy="23477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9" name="Rectangle 138"/>
          <p:cNvSpPr/>
          <p:nvPr/>
        </p:nvSpPr>
        <p:spPr>
          <a:xfrm>
            <a:off x="2359152" y="176479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Prefill Execution Planner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Tmove · Tprefill · Tqueue 비용으로 P/D 노드 선택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330952" y="1783080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216152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1216152" y="2286000"/>
            <a:ext cx="1335024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P 노드 (Prefill)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399032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353312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1353312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1399032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90872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2286000"/>
            <a:ext cx="1283817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D 노드 (Decode)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873752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828032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4828032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4873752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273552" y="2331720"/>
            <a:ext cx="1097280" cy="59436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KV 위치 인덱스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(중앙)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위치·부하 이벤트 수집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227832" y="238658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3227832" y="2478024"/>
            <a:ext cx="91440" cy="50292"/>
          </a:xfrm>
          <a:prstGeom prst="rect">
            <a:avLst/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3822191" y="2130552"/>
            <a:ext cx="0" cy="201168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3744468" y="215341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953512" y="3383280"/>
            <a:ext cx="173736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3744468" y="330555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99232" y="3163824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2F5597"/>
                </a:solidFill>
                <a:latin typeface="맑은 고딕"/>
                <a:ea typeface="맑은 고딕"/>
              </a:rPr>
              <a:t>KV 전송 (P→D)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2953512" y="3703320"/>
            <a:ext cx="1737360" cy="0"/>
          </a:xfrm>
          <a:prstGeom prst="line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3744468" y="3625596"/>
            <a:ext cx="155448" cy="155448"/>
          </a:xfrm>
          <a:prstGeom prst="ellipse">
            <a:avLst/>
          </a:prstGeom>
          <a:solidFill>
            <a:srgbClr val="C0000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999232" y="3831336"/>
            <a:ext cx="1645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1" i="0">
                <a:solidFill>
                  <a:srgbClr val="C00000"/>
                </a:solidFill>
                <a:latin typeface="맑은 고딕"/>
                <a:ea typeface="맑은 고딕"/>
              </a:rPr>
              <a:t>History KV 전송 (D→P, 다음 Turn)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243584" y="40873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627632" y="40690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노드 내 tier 배치(공유·전송 대상 KV 포함)는 DP1이 결정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243584" y="4325112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27632" y="4306824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Planner가 KV 위치·Tmove를 중앙 인덱스에서 조회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243584" y="4562856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27632" y="454456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압축된 Comp.KV를 전송 (전송량 감소)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772400" y="176479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Prefill Execution Planner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Tmove · Tprefill · Tqueue 비용으로 P/D 노드 선택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744200" y="1783080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629400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6629400" y="2286000"/>
            <a:ext cx="1335024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P 노드 (Prefill)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812280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766560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6766560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812280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104120" y="2286000"/>
            <a:ext cx="1737360" cy="1691640"/>
          </a:xfrm>
          <a:prstGeom prst="rect">
            <a:avLst/>
          </a:prstGeom>
          <a:solidFill>
            <a:srgbClr val="F4F8FD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10104120" y="2286000"/>
            <a:ext cx="1283817" cy="17373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«node» D 노드 (Decode)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0287000" y="2578608"/>
            <a:ext cx="1417320" cy="457200"/>
          </a:xfrm>
          <a:prstGeom prst="rect">
            <a:avLst/>
          </a:prstGeom>
          <a:solidFill>
            <a:srgbClr val="DAE3F3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tIns="18288" rIns="27432" bIns="18288"/>
          <a:lstStyle/>
          <a:p>
            <a:pPr algn="ctr"/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</a:rPr>
              <a:t>vLLM 인스턴스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DP1·DP2·DP3 노드 내 결정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241280" y="263347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10241280" y="2724912"/>
            <a:ext cx="91440" cy="50292"/>
          </a:xfrm>
          <a:prstGeom prst="rect">
            <a:avLst/>
          </a:prstGeom>
          <a:solidFill>
            <a:srgbClr val="DAE3F3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10287000" y="3200400"/>
            <a:ext cx="137160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로컬 KV 계층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HBM·DRAM·CXL·SSD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686800" y="2286000"/>
            <a:ext cx="1097280" cy="1691640"/>
          </a:xfrm>
          <a:prstGeom prst="rect">
            <a:avLst/>
          </a:prstGeom>
          <a:solidFill>
            <a:srgbClr val="FFF8F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8686800" y="2286000"/>
            <a:ext cx="841248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18288" bIns="0"/>
          <a:lstStyle/>
          <a:p>
            <a:pPr algn="l"/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</a:rPr>
              <a:t>«store» KV 풀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759952" y="2542032"/>
            <a:ext cx="950976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</a:rPr>
              <a:t>풀 메타데이터</a:t>
            </a:r>
          </a:p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(위치·상태)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759952" y="3108960"/>
            <a:ext cx="950976" cy="25603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KV 블록 (공유)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759952" y="3401568"/>
            <a:ext cx="950976" cy="256032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18288"/>
          <a:lstStyle/>
          <a:p>
            <a:pPr algn="ctr"/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</a:rPr>
              <a:t>Comp.KV (공유)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714232" y="3703320"/>
            <a:ext cx="10424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0" i="0">
                <a:solidFill>
                  <a:srgbClr val="C55A11"/>
                </a:solidFill>
                <a:latin typeface="맑은 고딕"/>
                <a:ea typeface="맑은 고딕"/>
              </a:rPr>
              <a:t>DRAM·SSD (CXL 교체 가능)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9235440" y="2130552"/>
            <a:ext cx="0" cy="155448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9157715" y="2130552"/>
            <a:ext cx="155448" cy="155448"/>
          </a:xfrm>
          <a:prstGeom prst="ellipse">
            <a:avLst/>
          </a:prstGeom>
          <a:solidFill>
            <a:srgbClr val="40404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8366760" y="324612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8449055" y="31683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9784080" y="324612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9866376" y="31683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8366760" y="3566160"/>
            <a:ext cx="32004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8449055" y="348843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656832" y="4087368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40880" y="40690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노드 내 tier 배치(공유·전송 대상 KV 포함)는 DP1이 결정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6656832" y="4325112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DP2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040880" y="4306824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Planner가 Tmove를 풀 메타데이터·접근 비용에서 조회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6656832" y="4562856"/>
            <a:ext cx="329184" cy="155448"/>
          </a:xfrm>
          <a:prstGeom prst="roundRect">
            <a:avLst/>
          </a:prstGeom>
          <a:solidFill>
            <a:srgbClr val="404040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DP3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040880" y="4544568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0">
                <a:solidFill>
                  <a:srgbClr val="404040"/>
                </a:solidFill>
                <a:latin typeface="맑은 고딕"/>
                <a:ea typeface="맑은 고딕"/>
              </a:rPr>
              <a:t>압축된 Comp.KV를 풀에 공유 (요청 간 재사용)</a:t>
            </a:r>
          </a:p>
        </p:txBody>
      </p:sp>
    </p:spTree>
    <p:extLst>
      <p:ext uri="{BB962C8B-B14F-4D97-AF65-F5344CB8AC3E}">
        <p14:creationId xmlns:p14="http://schemas.microsoft.com/office/powerpoint/2010/main" val="26388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와이드스크린</PresentationFormat>
  <Paragraphs>113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맑은 고딕</vt:lpstr>
      <vt:lpstr>Arial</vt:lpstr>
      <vt:lpstr>Wingdings</vt:lpstr>
      <vt:lpstr>Office 테마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DP3. Long Context를 위한 KV 캐시 압축 및 재사용 구조 – 배경 </dc:title>
  <dc:creator>Myeong Woo Kim</dc:creator>
  <cp:lastModifiedBy>Myeong Woo Kim</cp:lastModifiedBy>
  <cp:revision>1</cp:revision>
  <dcterms:created xsi:type="dcterms:W3CDTF">2026-10-03T15:48:21Z</dcterms:created>
  <dcterms:modified xsi:type="dcterms:W3CDTF">2026-10-03T15:48:31Z</dcterms:modified>
</cp:coreProperties>
</file>
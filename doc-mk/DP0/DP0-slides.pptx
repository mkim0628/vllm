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516" r:id="rId2"/>
    <p:sldId id="644" r:id="rId3"/>
    <p:sldId id="639" r:id="rId4"/>
    <p:sldId id="641" r:id="rId5"/>
    <p:sldId id="650" r:id="rId24"/>
    <p:sldId id="558" r:id="rId6"/>
    <p:sldId id="624" r:id="rId7"/>
    <p:sldId id="621" r:id="rId8"/>
    <p:sldId id="649" r:id="rId9"/>
    <p:sldId id="645" r:id="rId10"/>
    <p:sldId id="561" r:id="rId11"/>
    <p:sldId id="642" r:id="rId12"/>
    <p:sldId id="640" r:id="rId13"/>
    <p:sldId id="638" r:id="rId14"/>
    <p:sldId id="566" r:id="rId15"/>
    <p:sldId id="643" r:id="rId16"/>
    <p:sldId id="620" r:id="rId17"/>
    <p:sldId id="556" r:id="rId1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p:scale>
          <a:sx n="66" d="100"/>
          <a:sy n="66" d="100"/>
        </p:scale>
        <p:origin x="2256" y="1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F5D58-863F-4F8A-9CDC-0AFD97F68163}" type="datetimeFigureOut">
              <a:rPr lang="ko-KR" altLang="en-US" smtClean="0"/>
              <a:t>2026-10-01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56981-8A65-4F3E-9859-015D93710B04}" type="slidenum">
              <a:rPr lang="ko-KR" altLang="en-US" smtClean="0"/>
              <a:t>‹#›</a:t>
            </a:fld>
            <a:endParaRPr lang="ko-KR" altLang="en-US"/>
          </a:p>
        </p:txBody>
      </p:sp>
    </p:spTree>
    <p:extLst>
      <p:ext uri="{BB962C8B-B14F-4D97-AF65-F5344CB8AC3E}">
        <p14:creationId xmlns:p14="http://schemas.microsoft.com/office/powerpoint/2010/main" val="329739433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[DP0 배경 - 서버 1대 안에서 서버 여러 대로]</a:t>
            </a:r>
          </a:p>
          <a:p>
            <a:r>
              <a:t>먼저 왼쪽입니다. LLM을 돌리는 추론 서버(vLLM 인스턴스) 1대 안에는 GPU의 HBM, 호스트의 DRAM, 그리고 최근 등장한 CXL-PNM, HBF, SSD-PIM 같은 신규 메모리가 섞여 있습니다. 일반 SW로 비유하면 L1/L2 캐시, 메모리, SSD처럼 속도는 빠르고 용량은 작은 것부터 느리고 큰 것까지 계층이 있는 것과 같습니다. LLM이 이전 입력을 다시 계산하지 않으려고 저장해 두는 중간 결과를 KV 캐시라고 부르는데, 이것을 어느 메모리에 두느냐가 성능을 좌우합니다. 이 서버 1대 안의 결정이 지금까지 진행한 DP1~DP4의 범위입니다.</a:t>
            </a:r>
          </a:p>
          <a:p>
            <a:r>
              <a:t>오른쪽은 이 서버를 여러 대, 즉 Rack 규모로 늘렸을 때입니다. 서버마다 메모리 사용 상태와 KV 캐시를 가진 상태가 다르기 때문에, 같은 요청도 어느 서버로 보내느냐에 따라 성능이 크게 달라집니다. 입력 처리(Prefill)와 응답 생성(Decode)을 서로 다른 서버에서 나눠 실행하거나 서버끼리 KV 캐시를 주고받는 일도 생깁니다.</a:t>
            </a:r>
          </a:p>
          <a:p>
            <a:r>
              <a:t>이런 서버 간 결정, 즉 요청 라우팅, Prefill/Decode 분리, KV 공유, 서버 확장을 맡는 것이 요청 조율 계층(Orchestration)입니다. 웹 서비스의 로드밸런서와 스케줄러를 합친 역할입니다. vLLM은 서버 1대 안까지만 다루고, llm-d와 Dynamo 같은 오픈소스가 서버들을 묶는 계층을 제공하므로 두 쪽의 축이 다릅니다. 이 계층을 이기종 메모리 상태까지 반영하도록 어떻게 구성할지가 DP0이고, 다음 장에서 현재 구조와 목표 구조로 정리합니다.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3</a:t>
            </a:fld>
            <a:endParaRPr lang="ko-KR" altLang="en-US"/>
          </a:p>
        </p:txBody>
      </p:sp>
    </p:spTree>
    <p:extLst>
      <p:ext uri="{BB962C8B-B14F-4D97-AF65-F5344CB8AC3E}">
        <p14:creationId xmlns:p14="http://schemas.microsoft.com/office/powerpoint/2010/main" val="3516125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[DP0 배경 - As-Is와 To-Be]</a:t>
            </a:r>
          </a:p>
          <a:p>
            <a:r>
              <a:t>먼저 용어 하나만 짚겠습니다. 저희 시스템은 LLM을 실제로 돌리는 서버(vLLM 인스턴스)가 여러 대 있고, 그 앞에서 요청을 나눠 주는 '요청 조율 계층'이 있습니다. 웹 서비스의 로드밸런서와 스케줄러를 합친 역할입니다. 각 서버는 이전 대화의 중간 결과(KV 캐시)를 HBM, DRAM, CXL 같은 서로 다른 속도의 메모리에 나눠 보관합니다.</a:t>
            </a:r>
          </a:p>
          <a:p>
            <a:r>
              <a:t>왼쪽 As-Is가 지금의 오픈소스(llm-d, Dynamo) 방식입니다. 조율기가 후보 서버에 점수를 매겨 하나를 고르는데, 메모리 종류별 점수가 'GPU 1.0, CPU 0.8'처럼 고정 값입니다. Prefill/Decode(입력 처리와 응답 생성)를 다른 서버에서 나눠 실행할지도 고정 기준으로 정합니다. 정작 서버 안의 메모리 사용량이나 전송 대기 같은 실시간 상태는 판단에 들어가지 않고, 새 메모리(CXL, HBF)는 구분조차 못 합니다. 즉 서버 안에서 애써 얻은 성능 이득이 요청 배분 단계에서 사라질 수 있습니다.</a:t>
            </a:r>
          </a:p>
          <a:p>
            <a:r>
              <a:t>오른쪽 To-Be는 같은 여섯 가지 기능 블록(요청 수신·중계, 서버 선택 로직, 상태 수집, 흐름 제어, Prefill/Decode 조율, 서버 발견·확장)을 유지합니다. 다만 상태 수집에 메모리 종류별 캐시 보유 위치와 사용량·전송 대기 수치를 추가하고, 서버 선택 로직이 이를 비용으로 환산해 판단하게 합니다. 모니터링 메트릭을 읽어 라우팅에 반영하는 구조라고 보시면 됩니다. 이것이 설계 쟁점 1이고, 처리량과 첫 응답 시간(TTFT)을 높이기 위한 설계입니다.</a:t>
            </a:r>
          </a:p>
          <a:p>
            <a:r>
              <a:t>새 메모리나 정책이 생기거나 서버가 늘어도 기존 구조를 바꾸지 않아야 하므로 확장 지점이 필요합니다. 이것이 설계 쟁점 2이고, 변경 용이성과 서버를 늘릴 때의 확장성을 위한 것입니다. 이 확장 지점을 오픈소스를 확장해서 만들지 직접 구현할지가 다음 장들의 1안과 2안입니다.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769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[DP0 설계 - 1안 OSS 확장 vs 2안 자체 구현]</a:t>
            </a:r>
          </a:p>
          <a:p>
            <a:r>
              <a:t>한 문장 요약: 요청을 여러 추론 서버(vLLM 인스턴스)에 나눠 주는 조율 계층을 '기존 오픈소스를 확장해서' 만들지, '직접 만들지'를 비교한 슬라이드입니다. 일반 SW로 치면 기존 로드밸런서/API 게이트웨이를 확장해 쓰느냐, 직접 개발하느냐의 make vs buy 선택입니다.</a:t>
            </a:r>
          </a:p>
          <a:p>
            <a:r>
              <a:t>왼쪽 1안은 llm-d라는 오픈소스를 기반으로 합니다. 파란색은 그대로 쓰는 기존 모듈, 노란색은 우리가 끼워 넣는 확장 모듈(plugin), 연한 노랑 점선은 설정값만 바꾸는 곳, 연한 주황빨강은 기존 모듈을 직접 수정해야 하는 곳입니다. 도식에서 큰 박스가 작은 박스를 포함하는 것이 모듈 포함 관계이고, 번호 화살표가 호출 순서입니다.</a:t>
            </a:r>
          </a:p>
          <a:p>
            <a:r>
              <a:t>우리가 넣으려는 판단 로직은 P1~P4입니다. P1은 캐시가 어느 메모리 종류에 있는지에 따라 점수를 다르게 주는 것, P2는 서버가 알려 주는 실시간 메모리 상태를 점수에 반영하는 것으로 둘 다 설정만으로 됩니다. P3는 'KV 캐시(이전 입력의 중간 결과)를 다시 계산하는 비용'과 '메모리에서 가져오는 비용'을 비교해 점수를 매기는 확장 모듈, P4는 Prefill(입력 처리)과 Decode(응답 생성)를 다른 서버에서 나눠 실행할지 비용으로 판단하는 확장 모듈입니다. 이 네 가지를 llm-d에서 실제로 실행해 확인했습니다. 요청별 노드 지시(P5)는 일반 경로는 확장 모듈로 가능하지만 P/D 경로는 기존 보조 프로세스(sidecar) 수정 1건이 필요합니다. 이 1건이 1안에서 유일한 필수 기존 코드 수정입니다.</a:t>
            </a:r>
          </a:p>
          <a:p>
            <a:r>
              <a:t>1안의 대가는 별도 프로세스에 원격 호출이 1회 늘어 첫 응답 시간(TTFT)이 늘 수 있다는 점(가설), 그리고 확장 모듈이 오픈소스 내부 동작에 의존하고 자체 이미지를 운영해야 한다는 점입니다.</a:t>
            </a:r>
          </a:p>
          <a:p>
            <a:r>
              <a:t>2안은 주황색, 전부 우리가 직접 만드는 단일 Router입니다. 호출이 프로세스 내부라 원격 호출이 줄고 설계가 자유롭지만, 상태 저장·흐름 제어·서버 발견을 모두 직접 만들고 유지해야 해서 서버를 늘릴 때의 확장성이 약합니다.</a:t>
            </a:r>
          </a:p>
          <a:p>
            <a:r>
              <a:t>아래 표의 점(●)은 구조 논증에 근거한 가설이며 E1, E3, E4 실험으로 확정합니다. 현재 근거로는 1안이 우세하고, 2안은 sidecar 수정과 확장 모듈 의존이 관리 불가능해지거나 원격 호출 지연이 과도할 때를 위한 대안(헤지)입니다.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5</a:t>
            </a:fld>
            <a:endParaRPr lang="ko-KR" altLang="en-US"/>
          </a:p>
        </p:txBody>
      </p:sp>
    </p:spTree>
    <p:extLst>
      <p:ext uri="{BB962C8B-B14F-4D97-AF65-F5344CB8AC3E}">
        <p14:creationId xmlns:p14="http://schemas.microsoft.com/office/powerpoint/2010/main" val="2840117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a:t>DP1</a:t>
            </a:r>
            <a:r>
              <a:rPr lang="en-US" altLang="ko-KR" b="1" baseline="0" dirty="0"/>
              <a:t> </a:t>
            </a:r>
            <a:r>
              <a:rPr lang="ko-KR" altLang="en-US" b="1" baseline="0" dirty="0" err="1"/>
              <a:t>한줄</a:t>
            </a:r>
            <a:r>
              <a:rPr lang="ko-KR" altLang="en-US" b="1" baseline="0" dirty="0"/>
              <a:t> 정리</a:t>
            </a:r>
            <a:endParaRPr lang="en-US" altLang="ko-KR" b="1" baseline="0" dirty="0"/>
          </a:p>
          <a:p>
            <a:r>
              <a:rPr lang="ko-KR" altLang="en-US" b="1" dirty="0"/>
              <a:t>차세대 메모리의 용량</a:t>
            </a:r>
            <a:r>
              <a:rPr lang="en-US" altLang="ko-KR" b="1" dirty="0"/>
              <a:t>·</a:t>
            </a:r>
            <a:r>
              <a:rPr lang="ko-KR" altLang="en-US" b="1" dirty="0"/>
              <a:t>대역폭</a:t>
            </a:r>
            <a:r>
              <a:rPr lang="en-US" altLang="ko-KR" b="1" dirty="0"/>
              <a:t>·</a:t>
            </a:r>
            <a:r>
              <a:rPr lang="ko-KR" altLang="en-US" b="1" dirty="0"/>
              <a:t>접근 특성 및 연산 기능이 다변화되면서 기존의 고정적인 메모리 계층화만으로 최적 배치를 결정하기 </a:t>
            </a:r>
            <a:r>
              <a:rPr lang="ko-KR" altLang="en-US" b="1" dirty="0" err="1"/>
              <a:t>어려워짐</a:t>
            </a:r>
            <a:endParaRPr lang="ko-KR" altLang="en-US" dirty="0"/>
          </a:p>
          <a:p>
            <a:r>
              <a:rPr lang="ko-KR" altLang="en-US" b="1" dirty="0"/>
              <a:t>→ 데이터의 접근 특성과 스케줄링 정보를 메모리 자원 특성과 매칭하여 </a:t>
            </a:r>
            <a:r>
              <a:rPr lang="en-US" altLang="ko-KR" b="1" dirty="0"/>
              <a:t>Target Memory</a:t>
            </a:r>
            <a:r>
              <a:rPr lang="ko-KR" altLang="en-US" b="1" dirty="0"/>
              <a:t>를 동적으로 결정하는 </a:t>
            </a:r>
            <a:r>
              <a:rPr lang="en-US" altLang="ko-KR" b="1" dirty="0"/>
              <a:t>Placement </a:t>
            </a:r>
            <a:r>
              <a:rPr lang="ko-KR" altLang="en-US" b="1" dirty="0"/>
              <a:t>구조 필요</a:t>
            </a:r>
          </a:p>
          <a:p>
            <a:r>
              <a:rPr lang="en-US" altLang="ko-KR" dirty="0" err="1"/>
              <a:t>Asdf</a:t>
            </a:r>
            <a:r>
              <a:rPr lang="ko-KR" altLang="en-US" dirty="0" err="1"/>
              <a:t>ㄱㅏㄴㅏ</a:t>
            </a:r>
            <a:r>
              <a:rPr lang="ko-KR" altLang="en-US" dirty="0"/>
              <a:t> </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7</a:t>
            </a:fld>
            <a:endParaRPr lang="ko-KR" altLang="en-US"/>
          </a:p>
        </p:txBody>
      </p:sp>
    </p:spTree>
    <p:extLst>
      <p:ext uri="{BB962C8B-B14F-4D97-AF65-F5344CB8AC3E}">
        <p14:creationId xmlns:p14="http://schemas.microsoft.com/office/powerpoint/2010/main" val="2880586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a:t>DP1</a:t>
            </a:r>
            <a:r>
              <a:rPr lang="en-US" altLang="ko-KR" b="1" baseline="0" dirty="0"/>
              <a:t> </a:t>
            </a:r>
            <a:r>
              <a:rPr lang="ko-KR" altLang="en-US" b="1" baseline="0" dirty="0" err="1"/>
              <a:t>한줄</a:t>
            </a:r>
            <a:r>
              <a:rPr lang="ko-KR" altLang="en-US" b="1" baseline="0" dirty="0"/>
              <a:t> 정리</a:t>
            </a:r>
            <a:endParaRPr lang="en-US" altLang="ko-KR" b="1" baseline="0" dirty="0"/>
          </a:p>
          <a:p>
            <a:r>
              <a:rPr lang="ko-KR" altLang="en-US" b="1" dirty="0"/>
              <a:t>차세대 메모리의 용량</a:t>
            </a:r>
            <a:r>
              <a:rPr lang="en-US" altLang="ko-KR" b="1" dirty="0"/>
              <a:t>·</a:t>
            </a:r>
            <a:r>
              <a:rPr lang="ko-KR" altLang="en-US" b="1" dirty="0"/>
              <a:t>대역폭</a:t>
            </a:r>
            <a:r>
              <a:rPr lang="en-US" altLang="ko-KR" b="1" dirty="0"/>
              <a:t>·</a:t>
            </a:r>
            <a:r>
              <a:rPr lang="ko-KR" altLang="en-US" b="1" dirty="0"/>
              <a:t>접근 특성 및 연산 기능이 다변화되면서 기존의 고정적인 메모리 계층화만으로 최적 배치를 결정하기 </a:t>
            </a:r>
            <a:r>
              <a:rPr lang="ko-KR" altLang="en-US" b="1" dirty="0" err="1"/>
              <a:t>어려워짐</a:t>
            </a:r>
            <a:endParaRPr lang="ko-KR" altLang="en-US" dirty="0"/>
          </a:p>
          <a:p>
            <a:r>
              <a:rPr lang="ko-KR" altLang="en-US" b="1" dirty="0"/>
              <a:t>→ 데이터의 접근 특성과 스케줄링 정보를 메모리 자원 특성과 매칭하여 </a:t>
            </a:r>
            <a:r>
              <a:rPr lang="en-US" altLang="ko-KR" b="1" dirty="0"/>
              <a:t>Target Memory</a:t>
            </a:r>
            <a:r>
              <a:rPr lang="ko-KR" altLang="en-US" b="1" dirty="0"/>
              <a:t>를 동적으로 결정하는 </a:t>
            </a:r>
            <a:r>
              <a:rPr lang="en-US" altLang="ko-KR" b="1" dirty="0"/>
              <a:t>Placement </a:t>
            </a:r>
            <a:r>
              <a:rPr lang="ko-KR" altLang="en-US" b="1" dirty="0"/>
              <a:t>구조 필요</a:t>
            </a:r>
          </a:p>
          <a:p>
            <a:r>
              <a:rPr lang="en-US" altLang="ko-KR" dirty="0" err="1"/>
              <a:t>Asdf</a:t>
            </a:r>
            <a:r>
              <a:rPr lang="ko-KR" altLang="en-US" dirty="0" err="1"/>
              <a:t>ㄱㅏㄴㅏ</a:t>
            </a:r>
            <a:r>
              <a:rPr lang="ko-KR" altLang="en-US" dirty="0"/>
              <a:t> </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8</a:t>
            </a:fld>
            <a:endParaRPr lang="ko-KR" altLang="en-US"/>
          </a:p>
        </p:txBody>
      </p:sp>
    </p:spTree>
    <p:extLst>
      <p:ext uri="{BB962C8B-B14F-4D97-AF65-F5344CB8AC3E}">
        <p14:creationId xmlns:p14="http://schemas.microsoft.com/office/powerpoint/2010/main" val="1850531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C2</a:t>
            </a:r>
            <a:r>
              <a:rPr lang="ko-KR" altLang="en-US" dirty="0"/>
              <a:t>의 </a:t>
            </a:r>
            <a:r>
              <a:rPr lang="en-US" altLang="ko-KR" dirty="0"/>
              <a:t>runtime state monitor</a:t>
            </a:r>
            <a:r>
              <a:rPr lang="ko-KR" altLang="en-US" dirty="0"/>
              <a:t>에 대한 설명</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“Data type label</a:t>
            </a:r>
            <a:r>
              <a:rPr lang="ko-KR" altLang="en-US" dirty="0"/>
              <a:t>만 가지고 배치한 것이 아니라</a:t>
            </a:r>
            <a:r>
              <a:rPr lang="en-US" altLang="ko-KR" dirty="0"/>
              <a:t>, object</a:t>
            </a:r>
            <a:r>
              <a:rPr lang="ko-KR" altLang="en-US" dirty="0"/>
              <a:t>별 </a:t>
            </a:r>
            <a:r>
              <a:rPr lang="en-US" altLang="ko-KR" dirty="0"/>
              <a:t>access event</a:t>
            </a:r>
            <a:r>
              <a:rPr lang="ko-KR" altLang="en-US" dirty="0"/>
              <a:t>를 </a:t>
            </a:r>
            <a:r>
              <a:rPr lang="en-US" altLang="ko-KR" dirty="0"/>
              <a:t>online</a:t>
            </a:r>
            <a:r>
              <a:rPr lang="ko-KR" altLang="en-US" dirty="0"/>
              <a:t>으로 수집하고 </a:t>
            </a:r>
            <a:r>
              <a:rPr lang="en-US" altLang="ko-KR" dirty="0"/>
              <a:t>access-rate EWMA, inter-access interval, idle duration, object age</a:t>
            </a:r>
            <a:r>
              <a:rPr lang="ko-KR" altLang="en-US" dirty="0"/>
              <a:t>를 관리했습니다</a:t>
            </a:r>
            <a:r>
              <a:rPr lang="en-US" altLang="ko-KR" dirty="0"/>
              <a:t>. Cold start</a:t>
            </a:r>
            <a:r>
              <a:rPr lang="ko-KR" altLang="en-US" dirty="0"/>
              <a:t>에서는 </a:t>
            </a:r>
            <a:r>
              <a:rPr lang="en-US" altLang="ko-KR" dirty="0"/>
              <a:t>data-class prior</a:t>
            </a:r>
            <a:r>
              <a:rPr lang="ko-KR" altLang="en-US" dirty="0"/>
              <a:t>를 사용하고 </a:t>
            </a:r>
            <a:r>
              <a:rPr lang="en-US" altLang="ko-KR" dirty="0"/>
              <a:t>observation</a:t>
            </a:r>
            <a:r>
              <a:rPr lang="ko-KR" altLang="en-US" dirty="0"/>
              <a:t>이 축적되면 </a:t>
            </a:r>
            <a:r>
              <a:rPr lang="en-US" altLang="ko-KR" dirty="0"/>
              <a:t>prior weight</a:t>
            </a:r>
            <a:r>
              <a:rPr lang="ko-KR" altLang="en-US" dirty="0"/>
              <a:t>를 </a:t>
            </a:r>
            <a:r>
              <a:rPr lang="en-US" altLang="ko-KR" dirty="0"/>
              <a:t>exponential decay</a:t>
            </a:r>
            <a:r>
              <a:rPr lang="ko-KR" altLang="en-US" dirty="0"/>
              <a:t>시켜 실제 </a:t>
            </a:r>
            <a:r>
              <a:rPr lang="en-US" altLang="ko-KR" dirty="0"/>
              <a:t>runtime behavior</a:t>
            </a:r>
            <a:r>
              <a:rPr lang="ko-KR" altLang="en-US" dirty="0"/>
              <a:t>가 </a:t>
            </a:r>
            <a:r>
              <a:rPr lang="en-US" altLang="ko-KR" dirty="0"/>
              <a:t>prediction</a:t>
            </a:r>
            <a:r>
              <a:rPr lang="ko-KR" altLang="en-US" dirty="0"/>
              <a:t>을 지배하도록 했습니다</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9</a:t>
            </a:fld>
            <a:endParaRPr lang="ko-KR" altLang="en-US"/>
          </a:p>
        </p:txBody>
      </p:sp>
    </p:spTree>
    <p:extLst>
      <p:ext uri="{BB962C8B-B14F-4D97-AF65-F5344CB8AC3E}">
        <p14:creationId xmlns:p14="http://schemas.microsoft.com/office/powerpoint/2010/main" val="2840117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C2</a:t>
            </a:r>
            <a:r>
              <a:rPr lang="ko-KR" altLang="en-US" dirty="0"/>
              <a:t>의 </a:t>
            </a:r>
            <a:r>
              <a:rPr lang="en-US" altLang="ko-KR" dirty="0"/>
              <a:t>runtime state monitor</a:t>
            </a:r>
            <a:r>
              <a:rPr lang="ko-KR" altLang="en-US" dirty="0"/>
              <a:t>에 대한 설명</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“Data type label</a:t>
            </a:r>
            <a:r>
              <a:rPr lang="ko-KR" altLang="en-US" dirty="0"/>
              <a:t>만 가지고 배치한 것이 아니라</a:t>
            </a:r>
            <a:r>
              <a:rPr lang="en-US" altLang="ko-KR" dirty="0"/>
              <a:t>, object</a:t>
            </a:r>
            <a:r>
              <a:rPr lang="ko-KR" altLang="en-US" dirty="0"/>
              <a:t>별 </a:t>
            </a:r>
            <a:r>
              <a:rPr lang="en-US" altLang="ko-KR" dirty="0"/>
              <a:t>access event</a:t>
            </a:r>
            <a:r>
              <a:rPr lang="ko-KR" altLang="en-US" dirty="0"/>
              <a:t>를 </a:t>
            </a:r>
            <a:r>
              <a:rPr lang="en-US" altLang="ko-KR" dirty="0"/>
              <a:t>online</a:t>
            </a:r>
            <a:r>
              <a:rPr lang="ko-KR" altLang="en-US" dirty="0"/>
              <a:t>으로 수집하고 </a:t>
            </a:r>
            <a:r>
              <a:rPr lang="en-US" altLang="ko-KR" dirty="0"/>
              <a:t>access-rate EWMA, inter-access interval, idle duration, object age</a:t>
            </a:r>
            <a:r>
              <a:rPr lang="ko-KR" altLang="en-US" dirty="0"/>
              <a:t>를 관리했습니다</a:t>
            </a:r>
            <a:r>
              <a:rPr lang="en-US" altLang="ko-KR" dirty="0"/>
              <a:t>. Cold start</a:t>
            </a:r>
            <a:r>
              <a:rPr lang="ko-KR" altLang="en-US" dirty="0"/>
              <a:t>에서는 </a:t>
            </a:r>
            <a:r>
              <a:rPr lang="en-US" altLang="ko-KR" dirty="0"/>
              <a:t>data-class prior</a:t>
            </a:r>
            <a:r>
              <a:rPr lang="ko-KR" altLang="en-US" dirty="0"/>
              <a:t>를 사용하고 </a:t>
            </a:r>
            <a:r>
              <a:rPr lang="en-US" altLang="ko-KR" dirty="0"/>
              <a:t>observation</a:t>
            </a:r>
            <a:r>
              <a:rPr lang="ko-KR" altLang="en-US" dirty="0"/>
              <a:t>이 축적되면 </a:t>
            </a:r>
            <a:r>
              <a:rPr lang="en-US" altLang="ko-KR" dirty="0"/>
              <a:t>prior weight</a:t>
            </a:r>
            <a:r>
              <a:rPr lang="ko-KR" altLang="en-US" dirty="0"/>
              <a:t>를 </a:t>
            </a:r>
            <a:r>
              <a:rPr lang="en-US" altLang="ko-KR" dirty="0"/>
              <a:t>exponential decay</a:t>
            </a:r>
            <a:r>
              <a:rPr lang="ko-KR" altLang="en-US" dirty="0"/>
              <a:t>시켜 실제 </a:t>
            </a:r>
            <a:r>
              <a:rPr lang="en-US" altLang="ko-KR" dirty="0"/>
              <a:t>runtime behavior</a:t>
            </a:r>
            <a:r>
              <a:rPr lang="ko-KR" altLang="en-US" dirty="0"/>
              <a:t>가 </a:t>
            </a:r>
            <a:r>
              <a:rPr lang="en-US" altLang="ko-KR" dirty="0"/>
              <a:t>prediction</a:t>
            </a:r>
            <a:r>
              <a:rPr lang="ko-KR" altLang="en-US" dirty="0"/>
              <a:t>을 지배하도록 했습니다</a:t>
            </a:r>
            <a:r>
              <a:rPr lang="en-US" altLang="ko-KR" dirty="0"/>
              <a:t>.”</a:t>
            </a:r>
            <a:endParaRPr lang="ko-KR" altLang="en-US" dirty="0"/>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10</a:t>
            </a:fld>
            <a:endParaRPr lang="ko-KR" altLang="en-US"/>
          </a:p>
        </p:txBody>
      </p:sp>
    </p:spTree>
    <p:extLst>
      <p:ext uri="{BB962C8B-B14F-4D97-AF65-F5344CB8AC3E}">
        <p14:creationId xmlns:p14="http://schemas.microsoft.com/office/powerpoint/2010/main" val="3253150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[사전 지식 - Prefill / Decode와 P/D 분리]</a:t>
            </a:r>
          </a:p>
          <a:p>
            <a:r>
              <a:t>LLM 추론은 두 단계로 나뉩니다. Prefill은 프롬프트 n개 토큰을 한 번에 병렬로 처리해 각 토큰의 Key/Value, 즉 KV 캐시를 만들고 첫 출력 토큰을 냅니다. 여러 토큰을 행렬×행렬(GEMM)로 처리하므로 연산량이 병목인 Compute-bound 단계이고, 첫 응답 시간(TTFT)을 결정합니다.</a:t>
            </a:r>
          </a:p>
          <a:p>
            <a:r>
              <a:t>Decode는 KV 캐시를 참조하며 토큰을 하나씩 생성합니다. step마다 토큰 하나(GEMV)만 처리하지만 매번 가중치와 누적된 KV 캐시 전체를 메모리에서 읽어야 하므로 메모리 대역폭이 병목인 Memory-bound 단계이고, 토큰당 생성 시간(TPOT)을 결정합니다. 왼쪽 그림처럼 GPU 실행 시간의 대부분을 GEMV가 차지하고, 오른쪽 그림처럼 Prefill은 연산이, Decode는 메모리 load/store가 시간을 지배합니다.</a:t>
            </a:r>
          </a:p>
          <a:p>
            <a:r>
              <a:t>두 단계를 한 GPU에서 섞으면 긴 Prefill이 들어올 때 진행 중이던 Decode가 멈춰 TPOT이 튀고, 반대로 Decode batch 때문에 Prefill이 대기해 TTFT가 늘어납니다. 그래서 Prefill 인스턴스와 Decoding 인스턴스를 분리하고, Prefill이 만든 KV 캐시를 Decode 쪽으로 전송하는 것이 P/D 분리 구조입니다. 간섭이 사라지고 두 단계를 독립적으로 scaling·최적화할 수 있습니다.</a:t>
            </a:r>
          </a:p>
          <a:p>
            <a:r>
              <a:t>대신 KV 캐시 이동 비용이 새로 생깁니다. Multi-turn이나 Agent처럼 다음 Turn이 이어지면 History KV는 D 쪽에 쌓여 있으므로, 다음 Prefill을 P에서 할지(KV 전송) D에서 할지(Decode와 간섭) 매번 판단이 필요하고, KV가 여러 Memory Tier에 놓이면 이 판단은 더 복잡해집니다. 이것이 다음 장의 배경입니다.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88801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[Turn 예시 - 왜 Prefill 실행 위치가 매번 문제가 되는가]</a:t>
            </a:r>
          </a:p>
          <a:p>
            <a:r>
              <a:t>먼저 P 노드와 D 노드는 물리적으로 분리된 서버이고, 그 사이를 넘는 KV 캐시에는 전송 비용이 붙습니다. 그림의 점선이 그 경계입니다.</a:t>
            </a:r>
          </a:p>
          <a:p>
            <a:r>
              <a:t>Turn 1에서는 P 노드가 사용자 질문 2,000 토큰을 Prefill 하고, 만들어진 KV 캐시가 D 노드로 넘어가 Decode가 돕니다. 이 시점부터 History KV는 D 노드에 있습니다.</a:t>
            </a:r>
          </a:p>
          <a:p>
            <a:r>
              <a:t>Turn 2에서 Tool 결과가 도착하면 선택지가 두 개 생깁니다. ① D에서 그대로 Prefill 하면 KV를 옮길 필요가 없어 전송 비용이 0이지만, D가 돌리고 있던 Decode와 GPU 자원을 다투게 되어 진행 중인 응답이 느려집니다. ② History KV를 P로 보내 P에서 Prefill 하면 D의 Decode는 그대로 두고 P의 연산 자원을 쓸 수 있지만, History KV 크기만큼 전송 비용을 새로 냅니다.</a:t>
            </a:r>
          </a:p>
          <a:p>
            <a:r>
              <a:t>핵심은 어느 쪽이 싼지가 고정되어 있지 않다는 점입니다. Tool 결과가 작으면 옮겨봐야 전송비가 연산 이득보다 크므로 ①이 낫고, Tool 결과가 크거나 D가 혼잡하면 전송비를 내더라도 ②가 낫습니다. History KV가 커질수록 ②의 전송 비용도 함께 커지므로 Turn이 진행될수록 판단이 또 달라집니다.</a:t>
            </a:r>
          </a:p>
          <a:p>
            <a:r>
              <a:t>즉 Tool 결과 크기, History KV 크기, P/D 노드 부하가 매 Turn 바뀌기 때문에 고정된 규칙 하나로는 대응할 수 없고, 이것이 아래 설계 쟁점에서 말하는 동적 결정 구조가 필요한 이유입니다.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28124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C2</a:t>
            </a:r>
            <a:r>
              <a:rPr lang="ko-KR" altLang="en-US" dirty="0"/>
              <a:t>의 </a:t>
            </a:r>
            <a:r>
              <a:rPr lang="en-US" altLang="ko-KR" dirty="0"/>
              <a:t>runtime state monitor</a:t>
            </a:r>
            <a:r>
              <a:rPr lang="ko-KR" altLang="en-US" dirty="0"/>
              <a:t>에 대한 설명</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“Data type label</a:t>
            </a:r>
            <a:r>
              <a:rPr lang="ko-KR" altLang="en-US" dirty="0"/>
              <a:t>만 가지고 배치한 것이 아니라</a:t>
            </a:r>
            <a:r>
              <a:rPr lang="en-US" altLang="ko-KR" dirty="0"/>
              <a:t>, object</a:t>
            </a:r>
            <a:r>
              <a:rPr lang="ko-KR" altLang="en-US" dirty="0"/>
              <a:t>별 </a:t>
            </a:r>
            <a:r>
              <a:rPr lang="en-US" altLang="ko-KR" dirty="0"/>
              <a:t>access event</a:t>
            </a:r>
            <a:r>
              <a:rPr lang="ko-KR" altLang="en-US" dirty="0"/>
              <a:t>를 </a:t>
            </a:r>
            <a:r>
              <a:rPr lang="en-US" altLang="ko-KR" dirty="0"/>
              <a:t>online</a:t>
            </a:r>
            <a:r>
              <a:rPr lang="ko-KR" altLang="en-US" dirty="0"/>
              <a:t>으로 수집하고 </a:t>
            </a:r>
            <a:r>
              <a:rPr lang="en-US" altLang="ko-KR" dirty="0"/>
              <a:t>access-rate EWMA, inter-access interval, idle duration, object age</a:t>
            </a:r>
            <a:r>
              <a:rPr lang="ko-KR" altLang="en-US" dirty="0"/>
              <a:t>를 관리했습니다</a:t>
            </a:r>
            <a:r>
              <a:rPr lang="en-US" altLang="ko-KR" dirty="0"/>
              <a:t>. Cold start</a:t>
            </a:r>
            <a:r>
              <a:rPr lang="ko-KR" altLang="en-US" dirty="0"/>
              <a:t>에서는 </a:t>
            </a:r>
            <a:r>
              <a:rPr lang="en-US" altLang="ko-KR" dirty="0"/>
              <a:t>data-class prior</a:t>
            </a:r>
            <a:r>
              <a:rPr lang="ko-KR" altLang="en-US" dirty="0"/>
              <a:t>를 사용하고 </a:t>
            </a:r>
            <a:r>
              <a:rPr lang="en-US" altLang="ko-KR" dirty="0"/>
              <a:t>observation</a:t>
            </a:r>
            <a:r>
              <a:rPr lang="ko-KR" altLang="en-US" dirty="0"/>
              <a:t>이 축적되면 </a:t>
            </a:r>
            <a:r>
              <a:rPr lang="en-US" altLang="ko-KR" dirty="0"/>
              <a:t>prior weight</a:t>
            </a:r>
            <a:r>
              <a:rPr lang="ko-KR" altLang="en-US" dirty="0"/>
              <a:t>를 </a:t>
            </a:r>
            <a:r>
              <a:rPr lang="en-US" altLang="ko-KR" dirty="0"/>
              <a:t>exponential decay</a:t>
            </a:r>
            <a:r>
              <a:rPr lang="ko-KR" altLang="en-US" dirty="0"/>
              <a:t>시켜 실제 </a:t>
            </a:r>
            <a:r>
              <a:rPr lang="en-US" altLang="ko-KR" dirty="0"/>
              <a:t>runtime behavior</a:t>
            </a:r>
            <a:r>
              <a:rPr lang="ko-KR" altLang="en-US" dirty="0"/>
              <a:t>가 </a:t>
            </a:r>
            <a:r>
              <a:rPr lang="en-US" altLang="ko-KR" dirty="0"/>
              <a:t>prediction</a:t>
            </a:r>
            <a:r>
              <a:rPr lang="ko-KR" altLang="en-US" dirty="0"/>
              <a:t>을 지배하도록 했습니다</a:t>
            </a:r>
            <a:r>
              <a:rPr lang="en-US" altLang="ko-KR" dirty="0"/>
              <a:t>.”</a:t>
            </a:r>
            <a:endParaRPr lang="ko-KR" altLang="en-US" dirty="0"/>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14</a:t>
            </a:fld>
            <a:endParaRPr lang="ko-KR" altLang="en-US"/>
          </a:p>
        </p:txBody>
      </p:sp>
    </p:spTree>
    <p:extLst>
      <p:ext uri="{BB962C8B-B14F-4D97-AF65-F5344CB8AC3E}">
        <p14:creationId xmlns:p14="http://schemas.microsoft.com/office/powerpoint/2010/main" val="2831306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[Turn 예시 - 왜 Prefill 실행 위치가 매번 문제가 되는가]</a:t>
            </a:r>
          </a:p>
          <a:p>
            <a:r>
              <a:t>먼저 P 노드와 D 노드는 물리적으로 분리된 서버이고, 그 사이를 넘는 KV 캐시에는 전송 비용이 붙습니다. 그림의 점선이 그 경계입니다.</a:t>
            </a:r>
          </a:p>
          <a:p>
            <a:r>
              <a:t>Turn 1에서는 P 노드가 사용자 질문 2,000 토큰을 Prefill 하고, 만들어진 KV 캐시가 D 노드로 넘어가 Decode가 돕니다. 이 시점부터 History KV는 D 노드에 있습니다.</a:t>
            </a:r>
          </a:p>
          <a:p>
            <a:r>
              <a:t>Turn 2에서 Tool 결과가 도착하면 선택지가 두 개 생깁니다. ① D에서 그대로 Prefill 하면 KV를 옮길 필요가 없어 전송 비용이 0이지만, D가 돌리고 있던 Decode와 GPU 자원을 다투게 되어 진행 중인 응답이 느려집니다. ② History KV를 P로 보내 P에서 Prefill 하면 D의 Decode는 그대로 두고 P의 연산 자원을 쓸 수 있지만, History KV 크기만큼 전송 비용을 새로 냅니다.</a:t>
            </a:r>
          </a:p>
          <a:p>
            <a:r>
              <a:t>핵심은 어느 쪽이 싼지가 고정되어 있지 않다는 점입니다. Tool 결과가 작으면 옮겨봐야 전송비가 연산 이득보다 크므로 ①이 낫고, Tool 결과가 크거나 D가 혼잡하면 전송비를 내더라도 ②가 낫습니다. History KV가 커질수록 ②의 전송 비용도 함께 커지므로 Turn이 진행될수록 판단이 또 달라집니다.</a:t>
            </a:r>
          </a:p>
          <a:p>
            <a:r>
              <a:t>즉 Tool 결과 크기, History KV 크기, P/D 노드 부하가 매 Turn 바뀌기 때문에 고정된 규칙 하나로는 대응할 수 없고, 이것이 아래 설계 쟁점에서 말하는 동적 결정 구조가 필요한 이유입니다.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4419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1" i="0" kern="1200" dirty="0">
                <a:solidFill>
                  <a:schemeClr val="tx1"/>
                </a:solidFill>
                <a:effectLst/>
                <a:latin typeface="+mn-lt"/>
                <a:ea typeface="+mn-ea"/>
                <a:cs typeface="+mn-cs"/>
              </a:rPr>
              <a:t>•</a:t>
            </a:r>
            <a:r>
              <a:rPr lang="en-US" altLang="ko-KR" sz="1200" b="0" i="0" kern="1200" dirty="0">
                <a:solidFill>
                  <a:schemeClr val="tx1"/>
                </a:solidFill>
                <a:effectLst/>
                <a:latin typeface="+mn-lt"/>
                <a:ea typeface="+mn-ea"/>
                <a:cs typeface="+mn-cs"/>
              </a:rPr>
              <a:t> </a:t>
            </a:r>
            <a:r>
              <a:rPr lang="en-US" altLang="ko-KR" sz="1200" b="1" i="0" kern="1200" dirty="0">
                <a:solidFill>
                  <a:schemeClr val="tx1"/>
                </a:solidFill>
                <a:effectLst/>
                <a:latin typeface="+mn-lt"/>
                <a:ea typeface="+mn-ea"/>
                <a:cs typeface="+mn-cs"/>
              </a:rPr>
              <a:t>R1</a:t>
            </a:r>
            <a:r>
              <a:rPr lang="en-US" altLang="ko-KR" sz="1200" b="0" i="0" kern="1200" dirty="0">
                <a:solidFill>
                  <a:schemeClr val="tx1"/>
                </a:solidFill>
                <a:effectLst/>
                <a:latin typeface="+mn-lt"/>
                <a:ea typeface="+mn-ea"/>
                <a:cs typeface="+mn-cs"/>
              </a:rPr>
              <a:t>: Request Type</a:t>
            </a:r>
            <a:r>
              <a:rPr lang="ko-KR" altLang="en-US" sz="1200" b="0" i="0" kern="1200" dirty="0">
                <a:solidFill>
                  <a:schemeClr val="tx1"/>
                </a:solidFill>
                <a:effectLst/>
                <a:latin typeface="+mn-lt"/>
                <a:ea typeface="+mn-ea"/>
                <a:cs typeface="+mn-cs"/>
              </a:rPr>
              <a:t>이 </a:t>
            </a:r>
            <a:r>
              <a:rPr lang="en-US" altLang="ko-KR" sz="1200" b="0" i="0" kern="1200" dirty="0">
                <a:solidFill>
                  <a:schemeClr val="tx1"/>
                </a:solidFill>
                <a:effectLst/>
                <a:latin typeface="+mn-lt"/>
                <a:ea typeface="+mn-ea"/>
                <a:cs typeface="+mn-cs"/>
              </a:rPr>
              <a:t>Latency-Sensitive</a:t>
            </a:r>
            <a:r>
              <a:rPr lang="ko-KR" altLang="en-US" sz="1200" b="0" i="0" kern="1200" dirty="0">
                <a:solidFill>
                  <a:schemeClr val="tx1"/>
                </a:solidFill>
                <a:effectLst/>
                <a:latin typeface="+mn-lt"/>
                <a:ea typeface="+mn-ea"/>
                <a:cs typeface="+mn-cs"/>
              </a:rPr>
              <a:t>면 무조건 </a:t>
            </a:r>
            <a:r>
              <a:rPr lang="en-US" altLang="ko-KR" sz="1200" b="0" i="0" kern="1200" dirty="0">
                <a:solidFill>
                  <a:schemeClr val="tx1"/>
                </a:solidFill>
                <a:effectLst/>
                <a:latin typeface="+mn-lt"/>
                <a:ea typeface="+mn-ea"/>
                <a:cs typeface="+mn-cs"/>
              </a:rPr>
              <a:t>D Local </a:t>
            </a:r>
          </a:p>
          <a:p>
            <a:r>
              <a:rPr lang="en-US" altLang="ko-KR" sz="1200" b="1" i="0" kern="1200" dirty="0">
                <a:solidFill>
                  <a:schemeClr val="tx1"/>
                </a:solidFill>
                <a:effectLst/>
                <a:latin typeface="+mn-lt"/>
                <a:ea typeface="+mn-ea"/>
                <a:cs typeface="+mn-cs"/>
              </a:rPr>
              <a:t>•</a:t>
            </a:r>
            <a:r>
              <a:rPr lang="en-US" altLang="ko-KR" sz="1200" b="0" i="0" kern="1200" dirty="0">
                <a:solidFill>
                  <a:schemeClr val="tx1"/>
                </a:solidFill>
                <a:effectLst/>
                <a:latin typeface="+mn-lt"/>
                <a:ea typeface="+mn-ea"/>
                <a:cs typeface="+mn-cs"/>
              </a:rPr>
              <a:t> </a:t>
            </a:r>
            <a:r>
              <a:rPr lang="en-US" altLang="ko-KR" sz="1200" b="1" i="0" kern="1200" dirty="0">
                <a:solidFill>
                  <a:schemeClr val="tx1"/>
                </a:solidFill>
                <a:effectLst/>
                <a:latin typeface="+mn-lt"/>
                <a:ea typeface="+mn-ea"/>
                <a:cs typeface="+mn-cs"/>
              </a:rPr>
              <a:t>R2</a:t>
            </a:r>
            <a:r>
              <a:rPr lang="en-US" altLang="ko-KR" sz="1200" b="0" i="0" kern="1200" dirty="0">
                <a:solidFill>
                  <a:schemeClr val="tx1"/>
                </a:solidFill>
                <a:effectLst/>
                <a:latin typeface="+mn-lt"/>
                <a:ea typeface="+mn-ea"/>
                <a:cs typeface="+mn-cs"/>
              </a:rPr>
              <a:t>: History KV</a:t>
            </a:r>
            <a:r>
              <a:rPr lang="ko-KR" altLang="en-US" sz="1200" b="0" i="0" kern="1200" dirty="0">
                <a:solidFill>
                  <a:schemeClr val="tx1"/>
                </a:solidFill>
                <a:effectLst/>
                <a:latin typeface="+mn-lt"/>
                <a:ea typeface="+mn-ea"/>
                <a:cs typeface="+mn-cs"/>
              </a:rPr>
              <a:t>가 크고 </a:t>
            </a:r>
            <a:r>
              <a:rPr lang="en-US" altLang="ko-KR" sz="1200" b="0" i="0" kern="1200" dirty="0">
                <a:solidFill>
                  <a:schemeClr val="tx1"/>
                </a:solidFill>
                <a:effectLst/>
                <a:latin typeface="+mn-lt"/>
                <a:ea typeface="+mn-ea"/>
                <a:cs typeface="+mn-cs"/>
              </a:rPr>
              <a:t>Memory Class</a:t>
            </a:r>
            <a:r>
              <a:rPr lang="ko-KR" altLang="en-US" sz="1200" b="0" i="0" kern="1200" dirty="0">
                <a:solidFill>
                  <a:schemeClr val="tx1"/>
                </a:solidFill>
                <a:effectLst/>
                <a:latin typeface="+mn-lt"/>
                <a:ea typeface="+mn-ea"/>
                <a:cs typeface="+mn-cs"/>
              </a:rPr>
              <a:t>가 </a:t>
            </a:r>
            <a:r>
              <a:rPr lang="en-US" altLang="ko-KR" sz="1200" b="0" i="0" kern="1200" dirty="0">
                <a:solidFill>
                  <a:schemeClr val="tx1"/>
                </a:solidFill>
                <a:effectLst/>
                <a:latin typeface="+mn-lt"/>
                <a:ea typeface="+mn-ea"/>
                <a:cs typeface="+mn-cs"/>
              </a:rPr>
              <a:t>D-Local</a:t>
            </a:r>
            <a:r>
              <a:rPr lang="ko-KR" altLang="en-US" sz="1200" b="0" i="0" kern="1200" dirty="0">
                <a:solidFill>
                  <a:schemeClr val="tx1"/>
                </a:solidFill>
                <a:effectLst/>
                <a:latin typeface="+mn-lt"/>
                <a:ea typeface="+mn-ea"/>
                <a:cs typeface="+mn-cs"/>
              </a:rPr>
              <a:t>이면 이동 비용을 피해 </a:t>
            </a:r>
            <a:r>
              <a:rPr lang="en-US" altLang="ko-KR" sz="1200" b="0" i="0" kern="1200" dirty="0">
                <a:solidFill>
                  <a:schemeClr val="tx1"/>
                </a:solidFill>
                <a:effectLst/>
                <a:latin typeface="+mn-lt"/>
                <a:ea typeface="+mn-ea"/>
                <a:cs typeface="+mn-cs"/>
              </a:rPr>
              <a:t>D Local </a:t>
            </a:r>
          </a:p>
          <a:p>
            <a:r>
              <a:rPr lang="en-US" altLang="ko-KR" sz="1200" b="1" i="0" kern="1200" dirty="0">
                <a:solidFill>
                  <a:schemeClr val="tx1"/>
                </a:solidFill>
                <a:effectLst/>
                <a:latin typeface="+mn-lt"/>
                <a:ea typeface="+mn-ea"/>
                <a:cs typeface="+mn-cs"/>
              </a:rPr>
              <a:t>•</a:t>
            </a:r>
            <a:r>
              <a:rPr lang="en-US" altLang="ko-KR" sz="1200" b="0" i="0" kern="1200" dirty="0">
                <a:solidFill>
                  <a:schemeClr val="tx1"/>
                </a:solidFill>
                <a:effectLst/>
                <a:latin typeface="+mn-lt"/>
                <a:ea typeface="+mn-ea"/>
                <a:cs typeface="+mn-cs"/>
              </a:rPr>
              <a:t> </a:t>
            </a:r>
            <a:r>
              <a:rPr lang="en-US" altLang="ko-KR" sz="1200" b="1" i="0" kern="1200" dirty="0">
                <a:solidFill>
                  <a:schemeClr val="tx1"/>
                </a:solidFill>
                <a:effectLst/>
                <a:latin typeface="+mn-lt"/>
                <a:ea typeface="+mn-ea"/>
                <a:cs typeface="+mn-cs"/>
              </a:rPr>
              <a:t>R3</a:t>
            </a:r>
            <a:r>
              <a:rPr lang="en-US" altLang="ko-KR" sz="1200" b="0" i="0" kern="1200" dirty="0">
                <a:solidFill>
                  <a:schemeClr val="tx1"/>
                </a:solidFill>
                <a:effectLst/>
                <a:latin typeface="+mn-lt"/>
                <a:ea typeface="+mn-ea"/>
                <a:cs typeface="+mn-cs"/>
              </a:rPr>
              <a:t>: </a:t>
            </a:r>
            <a:r>
              <a:rPr lang="el-GR" altLang="ko-KR" sz="1200" b="0" i="0" kern="1200" dirty="0">
                <a:solidFill>
                  <a:schemeClr val="tx1"/>
                </a:solidFill>
                <a:effectLst/>
                <a:latin typeface="+mn-lt"/>
                <a:ea typeface="+mn-ea"/>
                <a:cs typeface="+mn-cs"/>
              </a:rPr>
              <a:t>Δ</a:t>
            </a:r>
            <a:r>
              <a:rPr lang="en-US" altLang="ko-KR" sz="1200" b="0" i="0" kern="1200" dirty="0">
                <a:solidFill>
                  <a:schemeClr val="tx1"/>
                </a:solidFill>
                <a:effectLst/>
                <a:latin typeface="+mn-lt"/>
                <a:ea typeface="+mn-ea"/>
                <a:cs typeface="+mn-cs"/>
              </a:rPr>
              <a:t>Input</a:t>
            </a:r>
            <a:r>
              <a:rPr lang="ko-KR" altLang="en-US" sz="1200" b="0" i="0" kern="1200" dirty="0">
                <a:solidFill>
                  <a:schemeClr val="tx1"/>
                </a:solidFill>
                <a:effectLst/>
                <a:latin typeface="+mn-lt"/>
                <a:ea typeface="+mn-ea"/>
                <a:cs typeface="+mn-cs"/>
              </a:rPr>
              <a:t>이 작고 </a:t>
            </a:r>
            <a:r>
              <a:rPr lang="en-US" altLang="ko-KR" sz="1200" b="0" i="0" kern="1200" dirty="0">
                <a:solidFill>
                  <a:schemeClr val="tx1"/>
                </a:solidFill>
                <a:effectLst/>
                <a:latin typeface="+mn-lt"/>
                <a:ea typeface="+mn-ea"/>
                <a:cs typeface="+mn-cs"/>
              </a:rPr>
              <a:t>Memory Class</a:t>
            </a:r>
            <a:r>
              <a:rPr lang="ko-KR" altLang="en-US" sz="1200" b="0" i="0" kern="1200" dirty="0">
                <a:solidFill>
                  <a:schemeClr val="tx1"/>
                </a:solidFill>
                <a:effectLst/>
                <a:latin typeface="+mn-lt"/>
                <a:ea typeface="+mn-ea"/>
                <a:cs typeface="+mn-cs"/>
              </a:rPr>
              <a:t>가 </a:t>
            </a:r>
            <a:r>
              <a:rPr lang="en-US" altLang="ko-KR" sz="1200" b="0" i="0" kern="1200" dirty="0">
                <a:solidFill>
                  <a:schemeClr val="tx1"/>
                </a:solidFill>
                <a:effectLst/>
                <a:latin typeface="+mn-lt"/>
                <a:ea typeface="+mn-ea"/>
                <a:cs typeface="+mn-cs"/>
              </a:rPr>
              <a:t>D-Local/Shared</a:t>
            </a:r>
            <a:r>
              <a:rPr lang="ko-KR" altLang="en-US" sz="1200" b="0" i="0" kern="1200" dirty="0">
                <a:solidFill>
                  <a:schemeClr val="tx1"/>
                </a:solidFill>
                <a:effectLst/>
                <a:latin typeface="+mn-lt"/>
                <a:ea typeface="+mn-ea"/>
                <a:cs typeface="+mn-cs"/>
              </a:rPr>
              <a:t>면 </a:t>
            </a:r>
            <a:r>
              <a:rPr lang="en-US" altLang="ko-KR" sz="1200" b="0" i="0" kern="1200" dirty="0">
                <a:solidFill>
                  <a:schemeClr val="tx1"/>
                </a:solidFill>
                <a:effectLst/>
                <a:latin typeface="+mn-lt"/>
                <a:ea typeface="+mn-ea"/>
                <a:cs typeface="+mn-cs"/>
              </a:rPr>
              <a:t>D Local </a:t>
            </a:r>
          </a:p>
          <a:p>
            <a:r>
              <a:rPr lang="en-US" altLang="ko-KR" sz="1200" b="1" i="0" kern="1200" dirty="0">
                <a:solidFill>
                  <a:schemeClr val="tx1"/>
                </a:solidFill>
                <a:effectLst/>
                <a:latin typeface="+mn-lt"/>
                <a:ea typeface="+mn-ea"/>
                <a:cs typeface="+mn-cs"/>
              </a:rPr>
              <a:t>•</a:t>
            </a:r>
            <a:r>
              <a:rPr lang="en-US" altLang="ko-KR" sz="1200" b="0" i="0" kern="1200" dirty="0">
                <a:solidFill>
                  <a:schemeClr val="tx1"/>
                </a:solidFill>
                <a:effectLst/>
                <a:latin typeface="+mn-lt"/>
                <a:ea typeface="+mn-ea"/>
                <a:cs typeface="+mn-cs"/>
              </a:rPr>
              <a:t> </a:t>
            </a:r>
            <a:r>
              <a:rPr lang="en-US" altLang="ko-KR" sz="1200" b="1" i="0" kern="1200" dirty="0">
                <a:solidFill>
                  <a:schemeClr val="tx1"/>
                </a:solidFill>
                <a:effectLst/>
                <a:latin typeface="+mn-lt"/>
                <a:ea typeface="+mn-ea"/>
                <a:cs typeface="+mn-cs"/>
              </a:rPr>
              <a:t>R4</a:t>
            </a:r>
            <a:r>
              <a:rPr lang="en-US" altLang="ko-KR" sz="1200" b="0" i="0" kern="1200" dirty="0">
                <a:solidFill>
                  <a:schemeClr val="tx1"/>
                </a:solidFill>
                <a:effectLst/>
                <a:latin typeface="+mn-lt"/>
                <a:ea typeface="+mn-ea"/>
                <a:cs typeface="+mn-cs"/>
              </a:rPr>
              <a:t>: Latency-Tolerant + Shared</a:t>
            </a:r>
            <a:r>
              <a:rPr lang="ko-KR" altLang="en-US" sz="1200" b="0" i="0" kern="1200" dirty="0">
                <a:solidFill>
                  <a:schemeClr val="tx1"/>
                </a:solidFill>
                <a:effectLst/>
                <a:latin typeface="+mn-lt"/>
                <a:ea typeface="+mn-ea"/>
                <a:cs typeface="+mn-cs"/>
              </a:rPr>
              <a:t>면 </a:t>
            </a:r>
            <a:r>
              <a:rPr lang="en-US" altLang="ko-KR" sz="1200" b="0" i="0" kern="1200" dirty="0">
                <a:solidFill>
                  <a:schemeClr val="tx1"/>
                </a:solidFill>
                <a:effectLst/>
                <a:latin typeface="+mn-lt"/>
                <a:ea typeface="+mn-ea"/>
                <a:cs typeface="+mn-cs"/>
              </a:rPr>
              <a:t>P Remote</a:t>
            </a:r>
            <a:r>
              <a:rPr lang="ko-KR" altLang="en-US" sz="1200" b="0" i="0" kern="1200" dirty="0">
                <a:solidFill>
                  <a:schemeClr val="tx1"/>
                </a:solidFill>
                <a:effectLst/>
                <a:latin typeface="+mn-lt"/>
                <a:ea typeface="+mn-ea"/>
                <a:cs typeface="+mn-cs"/>
              </a:rPr>
              <a:t>로 오프로드 </a:t>
            </a:r>
            <a:endParaRPr lang="en-US" altLang="ko-KR" sz="1200" b="0" i="0" kern="1200" dirty="0">
              <a:solidFill>
                <a:schemeClr val="tx1"/>
              </a:solidFill>
              <a:effectLst/>
              <a:latin typeface="+mn-lt"/>
              <a:ea typeface="+mn-ea"/>
              <a:cs typeface="+mn-cs"/>
            </a:endParaRPr>
          </a:p>
          <a:p>
            <a:r>
              <a:rPr lang="en-US" altLang="ko-KR" sz="1200" b="1"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 </a:t>
            </a:r>
            <a:r>
              <a:rPr lang="en-US" altLang="ko-KR" sz="1200" b="1" i="0" kern="1200" dirty="0">
                <a:solidFill>
                  <a:schemeClr val="tx1"/>
                </a:solidFill>
                <a:effectLst/>
                <a:latin typeface="+mn-lt"/>
                <a:ea typeface="+mn-ea"/>
                <a:cs typeface="+mn-cs"/>
              </a:rPr>
              <a:t>R5</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그 외 기본값 </a:t>
            </a:r>
            <a:r>
              <a:rPr lang="en-US" altLang="ko-KR" sz="1200" b="0" i="0" kern="1200" dirty="0">
                <a:solidFill>
                  <a:schemeClr val="tx1"/>
                </a:solidFill>
                <a:effectLst/>
                <a:latin typeface="+mn-lt"/>
                <a:ea typeface="+mn-ea"/>
                <a:cs typeface="+mn-cs"/>
              </a:rPr>
              <a:t>P Remote</a:t>
            </a:r>
            <a:endParaRPr lang="ko-KR" altLang="en-US" dirty="0"/>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17</a:t>
            </a:fld>
            <a:endParaRPr lang="ko-KR" altLang="en-US"/>
          </a:p>
        </p:txBody>
      </p:sp>
    </p:spTree>
    <p:extLst>
      <p:ext uri="{BB962C8B-B14F-4D97-AF65-F5344CB8AC3E}">
        <p14:creationId xmlns:p14="http://schemas.microsoft.com/office/powerpoint/2010/main" val="1063100023"/>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설계 결정이 풀어야 할 문제를 일반 소프트웨어의 요구사항 분류로 정리한 것입니다. 왼쪽은 기능 요구사항, 즉 '무엇을 해야 하나'입니다. 여러 추론 서버(vLLM 인스턴스) 앞단에서 로드밸런서처럼 요청을 어느 서버로 보낼지 고르고(F1), 서버가 알려 주는 메모리 상태를 모으고(F2), 입력 처리(Prefill)와 응답 생성(Decode)을 서버를 나눠 실행할지 정하고(F3), 서버에 메모리 사용 지시를 내리고(F4), 과부하를 조절하고(F5), 서버 증감을 자동 반영(F6)합니다. 이 중 F5, F6은 오픈소스가 이미 제공하고, 우리가 더해야 할 부분은 F1~F4에서 이기종 메모리 상태를 반영하는 부분입니다. 가운데는 비기능 요구사항(품질 속성)으로 '얼마나 잘 해야 하나'입니다. 처리량, 응답 지연(첫 응답까지 시간), 변경 용이성, 서버를 늘릴 때의 확장성 네 가지를 측정 지표와 함께 정했습니다. 목표 수치는 기준선(baseline)을 측정한 뒤 확정하며, 현재는 가설 단계입니다. 자원 활용률과 모델 정확도는 후보 간 차이를 가르지 못해 품질 속성에서 제외했고, 정확도는 제약 C3으로 처리합니다. 오른쪽은 제약사항으로 '못 건드리는 조건'입니다. vLLM 고정, GPU 서버 2대 환경, 정확도 불변, 오픈소스 업스트림 추적, 서버 내부 설계와의 인터페이스 고정, 5개 정책 표현 가능입니다. 한 줄로 말하면, 서버 내부의 메모리 상태를 반영해 요청을 배분하되 품질 목표를 만족하고 이 제약 안에서 해결하는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CF88C4-AEBB-48AA-B70A-6EC491E39283}"/>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63297DB7-7C40-42BC-80A5-FD747209EC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EA048312-3256-4A93-9D36-F08331526863}"/>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5" name="바닥글 개체 틀 4">
            <a:extLst>
              <a:ext uri="{FF2B5EF4-FFF2-40B4-BE49-F238E27FC236}">
                <a16:creationId xmlns:a16="http://schemas.microsoft.com/office/drawing/2014/main" id="{901D4BCC-BBCA-4118-AA23-404F01C6700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7404850-FD27-4423-8869-67E4CBE64512}"/>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3401472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9FEFC4-2952-42C6-BE71-DBD052AC5CD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F5EFE10-E3FB-47F4-8033-A860CB3DB36F}"/>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BB3FAB0-5711-4C00-B7AB-8100C870E244}"/>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5" name="바닥글 개체 틀 4">
            <a:extLst>
              <a:ext uri="{FF2B5EF4-FFF2-40B4-BE49-F238E27FC236}">
                <a16:creationId xmlns:a16="http://schemas.microsoft.com/office/drawing/2014/main" id="{8686A56D-3130-42FB-824E-0B3016658AE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9E7EEAE-7123-47AC-9A56-D0B2F66AFA04}"/>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104041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75B76C3-9A1E-497D-A2EB-ED6820D5210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0060CE8-6710-4FF3-934C-0ACEEC8CD0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FEBAE3C-55FA-4F75-B99C-BAB54592E851}"/>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5" name="바닥글 개체 틀 4">
            <a:extLst>
              <a:ext uri="{FF2B5EF4-FFF2-40B4-BE49-F238E27FC236}">
                <a16:creationId xmlns:a16="http://schemas.microsoft.com/office/drawing/2014/main" id="{124E5002-A22E-4FF6-9BFE-E0AA83558E1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1119500-EA4E-4B8A-B440-FABCFDB986FB}"/>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1108273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60F0C29-EA40-44DC-B84D-A6D4CD7C8DB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9ABF545-1B61-4740-899B-8C353F38AF1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42F40A9B-2F7D-47E8-B2EF-9B53B5A76CA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1DE563D1-151A-4BA0-A1D5-890E66FB3D11}"/>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6" name="바닥글 개체 틀 5">
            <a:extLst>
              <a:ext uri="{FF2B5EF4-FFF2-40B4-BE49-F238E27FC236}">
                <a16:creationId xmlns:a16="http://schemas.microsoft.com/office/drawing/2014/main" id="{C2FCA36F-249F-4A97-9C45-E6C5825E9FC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F8FC145-E980-44EC-B197-3710B32A8632}"/>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229131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434856-F92B-4894-AB6C-7ABF84D5CACB}"/>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A3618AD-0A52-4862-944F-F2327F7DAE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AD8ED2E3-4562-47AE-8AD8-2446BF02901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53EAED75-044E-40D8-B474-24A15D6E9C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EAAC5C1B-F86A-475B-9398-00FDD01C59D5}"/>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458F03C6-988B-4EEB-8ADB-6F8F290932FD}"/>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8" name="바닥글 개체 틀 7">
            <a:extLst>
              <a:ext uri="{FF2B5EF4-FFF2-40B4-BE49-F238E27FC236}">
                <a16:creationId xmlns:a16="http://schemas.microsoft.com/office/drawing/2014/main" id="{2369998B-E067-4834-94B4-BB8DFF7E4086}"/>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34CD66B5-71E0-4F15-8A13-CC9B61F232A9}"/>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1921416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7C094E7-7B2F-43E3-AE38-2F6858827C26}"/>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516DBD5-0087-4D39-B73F-381E96627DC4}"/>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4" name="바닥글 개체 틀 3">
            <a:extLst>
              <a:ext uri="{FF2B5EF4-FFF2-40B4-BE49-F238E27FC236}">
                <a16:creationId xmlns:a16="http://schemas.microsoft.com/office/drawing/2014/main" id="{032F6697-2541-4401-A80C-156513D2A4DE}"/>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B568EA56-5214-45F8-9874-35DA5B428151}"/>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348027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07B5D05-1EB0-4B84-A4EA-3D6DCA7244F1}"/>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3" name="바닥글 개체 틀 2">
            <a:extLst>
              <a:ext uri="{FF2B5EF4-FFF2-40B4-BE49-F238E27FC236}">
                <a16:creationId xmlns:a16="http://schemas.microsoft.com/office/drawing/2014/main" id="{02E19244-B07B-4893-9945-50E051075C9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6D95CF3-FA20-404B-A3F9-3C62331D32B1}"/>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415677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ACD6F9-3720-460B-9571-4A160B8FB93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4A60710D-C685-4F47-A667-97E1308CD3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5464C01F-08F5-4FFF-873C-7EF969446E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22B0C87D-E82D-4707-BC8F-982AA497E1E6}"/>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6" name="바닥글 개체 틀 5">
            <a:extLst>
              <a:ext uri="{FF2B5EF4-FFF2-40B4-BE49-F238E27FC236}">
                <a16:creationId xmlns:a16="http://schemas.microsoft.com/office/drawing/2014/main" id="{E6101179-413D-4B0D-91AE-0EAEFF447EC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9D5D949-E6E5-4EBD-882A-E572AF68839F}"/>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2520834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29C5D6-4E48-4907-9077-C21FC14586E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0F182103-419E-4630-A11D-276422A83A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CDB647B-BD9F-4F19-BA7B-5278BE6FFE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FB0F1D0-4D11-423F-BE06-ADC97BF9B74F}"/>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6" name="바닥글 개체 틀 5">
            <a:extLst>
              <a:ext uri="{FF2B5EF4-FFF2-40B4-BE49-F238E27FC236}">
                <a16:creationId xmlns:a16="http://schemas.microsoft.com/office/drawing/2014/main" id="{F06751E5-2CED-4DA3-86A7-13AB7485AD5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FA6F829-E3E6-4CAC-A997-F0BFA61917A4}"/>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3745571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A5E6D9-4DA1-4FF3-B9CD-6107ABDB017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86E7429-0C4A-45A9-8750-5FC7BBAF6003}"/>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57D54CF-A3A4-4A54-9CAF-737F6D2A9E14}"/>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5" name="바닥글 개체 틀 4">
            <a:extLst>
              <a:ext uri="{FF2B5EF4-FFF2-40B4-BE49-F238E27FC236}">
                <a16:creationId xmlns:a16="http://schemas.microsoft.com/office/drawing/2014/main" id="{255B9C34-27EB-4D1C-BA42-70A6C5E975F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6D49AF7-E8AA-433E-853F-AB9618B3E5A2}"/>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4101261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CC1CA7D7-EF8A-4259-B5D4-2ECA35B16A8C}"/>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4172DE0-808E-4E27-A7FC-6FCE852D296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B9FA54A-0512-4F37-8144-DC509519C25C}"/>
              </a:ext>
            </a:extLst>
          </p:cNvPr>
          <p:cNvSpPr>
            <a:spLocks noGrp="1"/>
          </p:cNvSpPr>
          <p:nvPr>
            <p:ph type="dt" sz="half" idx="10"/>
          </p:nvPr>
        </p:nvSpPr>
        <p:spPr/>
        <p:txBody>
          <a:bodyPr/>
          <a:lstStyle/>
          <a:p>
            <a:fld id="{C85A236D-9762-4032-9321-D32C6F6792AF}" type="datetimeFigureOut">
              <a:rPr lang="ko-KR" altLang="en-US" smtClean="0"/>
              <a:t>2026-10-01</a:t>
            </a:fld>
            <a:endParaRPr lang="ko-KR" altLang="en-US"/>
          </a:p>
        </p:txBody>
      </p:sp>
      <p:sp>
        <p:nvSpPr>
          <p:cNvPr id="5" name="바닥글 개체 틀 4">
            <a:extLst>
              <a:ext uri="{FF2B5EF4-FFF2-40B4-BE49-F238E27FC236}">
                <a16:creationId xmlns:a16="http://schemas.microsoft.com/office/drawing/2014/main" id="{7E5530AA-7D8D-40D1-8B5A-714DAEC05FF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DA65708-83E1-4B4A-8091-CBF555ABF22C}"/>
              </a:ext>
            </a:extLst>
          </p:cNvPr>
          <p:cNvSpPr>
            <a:spLocks noGrp="1"/>
          </p:cNvSpPr>
          <p:nvPr>
            <p:ph type="sldNum" sz="quarter" idx="12"/>
          </p:nvPr>
        </p:nvSpPr>
        <p:spPr/>
        <p:txBody>
          <a:body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256092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grpSp>
        <p:nvGrpSpPr>
          <p:cNvPr id="3" name="그룹 2">
            <a:extLst>
              <a:ext uri="{FF2B5EF4-FFF2-40B4-BE49-F238E27FC236}">
                <a16:creationId xmlns:a16="http://schemas.microsoft.com/office/drawing/2014/main" id="{BF6FB25F-7B1E-410A-903C-9DE680EED1C3}"/>
              </a:ext>
            </a:extLst>
          </p:cNvPr>
          <p:cNvGrpSpPr/>
          <p:nvPr userDrawn="1"/>
        </p:nvGrpSpPr>
        <p:grpSpPr>
          <a:xfrm>
            <a:off x="7995393" y="137379"/>
            <a:ext cx="4006094" cy="357521"/>
            <a:chOff x="7522576" y="137379"/>
            <a:chExt cx="4478924" cy="357521"/>
          </a:xfrm>
        </p:grpSpPr>
        <p:sp>
          <p:nvSpPr>
            <p:cNvPr id="22" name="갈매기형 수장 21"/>
            <p:cNvSpPr/>
            <p:nvPr userDrawn="1"/>
          </p:nvSpPr>
          <p:spPr>
            <a:xfrm>
              <a:off x="7522576"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4150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313975"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2064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1105815" y="137379"/>
              <a:ext cx="892483"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528835" y="137379"/>
              <a:ext cx="212127" cy="357521"/>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endParaRPr lang="ko-KR" altLang="en-US" sz="1000" b="1" dirty="0">
                <a:solidFill>
                  <a:schemeClr val="bg1"/>
                </a:solidFill>
              </a:endParaRPr>
            </a:p>
          </p:txBody>
        </p:sp>
      </p:gr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23</a:t>
            </a:r>
            <a:endParaRPr lang="ko-KR" altLang="en-US" sz="1200" dirty="0">
              <a:solidFill>
                <a:schemeClr val="bg1">
                  <a:lumMod val="50000"/>
                </a:schemeClr>
              </a:solidFill>
            </a:endParaRPr>
          </a:p>
        </p:txBody>
      </p:sp>
    </p:spTree>
    <p:extLst>
      <p:ext uri="{BB962C8B-B14F-4D97-AF65-F5344CB8AC3E}">
        <p14:creationId xmlns:p14="http://schemas.microsoft.com/office/powerpoint/2010/main" val="41523421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cxnSp>
        <p:nvCxnSpPr>
          <p:cNvPr id="6" name="직선 연결선 5"/>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184150" y="145018"/>
            <a:ext cx="6762750" cy="369332"/>
          </a:xfrm>
          <a:prstGeom prst="rect">
            <a:avLst/>
          </a:prstGeom>
          <a:noFill/>
        </p:spPr>
        <p:txBody>
          <a:bodyPr wrap="square" rtlCol="0">
            <a:spAutoFit/>
          </a:bodyPr>
          <a:lstStyle/>
          <a:p>
            <a:r>
              <a:rPr lang="en-US" altLang="ko-KR" b="1" dirty="0"/>
              <a:t>CONTENTS</a:t>
            </a:r>
            <a:endParaRPr lang="ko-KR" altLang="en-US" b="1" dirty="0"/>
          </a:p>
        </p:txBody>
      </p:sp>
      <p:cxnSp>
        <p:nvCxnSpPr>
          <p:cNvPr id="9" name="직선 연결선 8"/>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p:cNvSpPr/>
          <p:nvPr userDrawn="1"/>
        </p:nvSpPr>
        <p:spPr>
          <a:xfrm>
            <a:off x="11118522" y="118329"/>
            <a:ext cx="95381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bg1">
                    <a:lumMod val="85000"/>
                  </a:schemeClr>
                </a:solidFill>
              </a:rPr>
              <a:t>SAMSUNG</a:t>
            </a:r>
          </a:p>
          <a:p>
            <a:pPr algn="ctr"/>
            <a:r>
              <a:rPr lang="en-US" altLang="ko-KR" sz="1100" dirty="0">
                <a:solidFill>
                  <a:schemeClr val="bg1">
                    <a:lumMod val="85000"/>
                  </a:schemeClr>
                </a:solidFill>
              </a:rPr>
              <a:t>Confidential</a:t>
            </a:r>
            <a:endParaRPr lang="ko-KR" altLang="en-US" sz="1100" dirty="0">
              <a:solidFill>
                <a:schemeClr val="bg1">
                  <a:lumMod val="85000"/>
                </a:schemeClr>
              </a:solidFill>
            </a:endParaRPr>
          </a:p>
        </p:txBody>
      </p:sp>
    </p:spTree>
    <p:extLst>
      <p:ext uri="{BB962C8B-B14F-4D97-AF65-F5344CB8AC3E}">
        <p14:creationId xmlns:p14="http://schemas.microsoft.com/office/powerpoint/2010/main" val="383468446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1132D1B-70AA-4E48-9B44-5AE4F7E8A4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799A4856-08FE-4CE2-9ED9-6E66C5593A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D928EB7-8F03-43F3-80F0-A76E71294B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5A236D-9762-4032-9321-D32C6F6792AF}" type="datetimeFigureOut">
              <a:rPr lang="ko-KR" altLang="en-US" smtClean="0"/>
              <a:t>2026-10-01</a:t>
            </a:fld>
            <a:endParaRPr lang="ko-KR" altLang="en-US"/>
          </a:p>
        </p:txBody>
      </p:sp>
      <p:sp>
        <p:nvSpPr>
          <p:cNvPr id="5" name="바닥글 개체 틀 4">
            <a:extLst>
              <a:ext uri="{FF2B5EF4-FFF2-40B4-BE49-F238E27FC236}">
                <a16:creationId xmlns:a16="http://schemas.microsoft.com/office/drawing/2014/main" id="{D04DC83A-1332-4811-A9B3-C4957D3F81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BA4A231-6D85-4740-B10F-E9C466D274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76138B-95D0-41FF-9A1B-079D07CC85C2}" type="slidenum">
              <a:rPr lang="ko-KR" altLang="en-US" smtClean="0"/>
              <a:t>‹#›</a:t>
            </a:fld>
            <a:endParaRPr lang="ko-KR" altLang="en-US"/>
          </a:p>
        </p:txBody>
      </p:sp>
    </p:spTree>
    <p:extLst>
      <p:ext uri="{BB962C8B-B14F-4D97-AF65-F5344CB8AC3E}">
        <p14:creationId xmlns:p14="http://schemas.microsoft.com/office/powerpoint/2010/main" val="3608055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전체 </a:t>
            </a:r>
            <a:r>
              <a:rPr lang="en-US" altLang="ko-KR" dirty="0"/>
              <a:t>DP </a:t>
            </a:r>
            <a:r>
              <a:rPr lang="ko-KR" altLang="en-US" dirty="0"/>
              <a:t>연결</a:t>
            </a:r>
          </a:p>
        </p:txBody>
      </p:sp>
      <p:graphicFrame>
        <p:nvGraphicFramePr>
          <p:cNvPr id="3" name="표 2"/>
          <p:cNvGraphicFramePr>
            <a:graphicFrameLocks noGrp="1"/>
          </p:cNvGraphicFramePr>
          <p:nvPr>
            <p:extLst>
              <p:ext uri="{D42A27DB-BD31-4B8C-83A1-F6EECF244321}">
                <p14:modId xmlns:p14="http://schemas.microsoft.com/office/powerpoint/2010/main" val="2834028622"/>
              </p:ext>
            </p:extLst>
          </p:nvPr>
        </p:nvGraphicFramePr>
        <p:xfrm>
          <a:off x="381000" y="823762"/>
          <a:ext cx="11258550" cy="2656778"/>
        </p:xfrm>
        <a:graphic>
          <a:graphicData uri="http://schemas.openxmlformats.org/drawingml/2006/table">
            <a:tbl>
              <a:tblPr firstRow="1" bandRow="1">
                <a:tableStyleId>{5C22544A-7EE6-4342-B048-85BDC9FD1C3A}</a:tableStyleId>
              </a:tblPr>
              <a:tblGrid>
                <a:gridCol w="781050">
                  <a:extLst>
                    <a:ext uri="{9D8B030D-6E8A-4147-A177-3AD203B41FA5}">
                      <a16:colId xmlns:a16="http://schemas.microsoft.com/office/drawing/2014/main" val="608747143"/>
                    </a:ext>
                  </a:extLst>
                </a:gridCol>
                <a:gridCol w="2619375">
                  <a:extLst>
                    <a:ext uri="{9D8B030D-6E8A-4147-A177-3AD203B41FA5}">
                      <a16:colId xmlns:a16="http://schemas.microsoft.com/office/drawing/2014/main" val="3186346277"/>
                    </a:ext>
                  </a:extLst>
                </a:gridCol>
                <a:gridCol w="2619375">
                  <a:extLst>
                    <a:ext uri="{9D8B030D-6E8A-4147-A177-3AD203B41FA5}">
                      <a16:colId xmlns:a16="http://schemas.microsoft.com/office/drawing/2014/main" val="39305247"/>
                    </a:ext>
                  </a:extLst>
                </a:gridCol>
                <a:gridCol w="2619375">
                  <a:extLst>
                    <a:ext uri="{9D8B030D-6E8A-4147-A177-3AD203B41FA5}">
                      <a16:colId xmlns:a16="http://schemas.microsoft.com/office/drawing/2014/main" val="1206807920"/>
                    </a:ext>
                  </a:extLst>
                </a:gridCol>
                <a:gridCol w="2619375">
                  <a:extLst>
                    <a:ext uri="{9D8B030D-6E8A-4147-A177-3AD203B41FA5}">
                      <a16:colId xmlns:a16="http://schemas.microsoft.com/office/drawing/2014/main" val="3545811721"/>
                    </a:ext>
                  </a:extLst>
                </a:gridCol>
              </a:tblGrid>
              <a:tr h="567924">
                <a:tc>
                  <a:txBody>
                    <a:bodyPr/>
                    <a:lstStyle/>
                    <a:p>
                      <a:pPr marL="0" lvl="0" algn="l" defTabSz="914400" rtl="0" eaLnBrk="1" latinLnBrk="1" hangingPunct="1"/>
                      <a:endParaRPr lang="ko-KR" altLang="en-US" sz="1200" strike="noStrike" kern="1200" dirty="0">
                        <a:solidFill>
                          <a:srgbClr val="0066FF"/>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strike="noStrike" kern="1200" dirty="0">
                          <a:solidFill>
                            <a:prstClr val="black"/>
                          </a:solidFill>
                          <a:latin typeface="+mn-lt"/>
                          <a:ea typeface="+mn-ea"/>
                          <a:cs typeface="+mn-cs"/>
                        </a:rPr>
                        <a:t>DP1. </a:t>
                      </a:r>
                      <a:r>
                        <a:rPr lang="ko-KR" altLang="en-US" sz="1200" strike="noStrike" kern="1200" dirty="0">
                          <a:solidFill>
                            <a:prstClr val="black"/>
                          </a:solidFill>
                          <a:latin typeface="+mn-lt"/>
                          <a:ea typeface="+mn-ea"/>
                          <a:cs typeface="+mn-cs"/>
                        </a:rPr>
                        <a:t>이기종 메모리 기반 </a:t>
                      </a:r>
                      <a:r>
                        <a:rPr lang="en-US" altLang="ko-KR" sz="1200" strike="noStrike" kern="1200" dirty="0">
                          <a:solidFill>
                            <a:srgbClr val="0066FF"/>
                          </a:solidFill>
                          <a:latin typeface="+mn-lt"/>
                          <a:ea typeface="+mn-ea"/>
                          <a:cs typeface="+mn-cs"/>
                        </a:rPr>
                        <a:t>AI </a:t>
                      </a:r>
                      <a:r>
                        <a:rPr lang="ko-KR" altLang="en-US" sz="1200" strike="noStrike" kern="1200" dirty="0">
                          <a:solidFill>
                            <a:srgbClr val="0066FF"/>
                          </a:solidFill>
                          <a:latin typeface="+mn-lt"/>
                          <a:ea typeface="+mn-ea"/>
                          <a:cs typeface="+mn-cs"/>
                        </a:rPr>
                        <a:t>데이터 배치 구조</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strike="noStrike" kern="1200" dirty="0">
                          <a:solidFill>
                            <a:prstClr val="black"/>
                          </a:solidFill>
                          <a:latin typeface="+mn-lt"/>
                          <a:ea typeface="+mn-ea"/>
                          <a:cs typeface="+mn-cs"/>
                        </a:rPr>
                        <a:t>DP2. </a:t>
                      </a:r>
                      <a:r>
                        <a:rPr lang="ko-KR" altLang="en-US" sz="1200" strike="noStrike" kern="1200" dirty="0">
                          <a:solidFill>
                            <a:prstClr val="black"/>
                          </a:solidFill>
                          <a:latin typeface="+mn-lt"/>
                          <a:ea typeface="+mn-ea"/>
                          <a:cs typeface="+mn-cs"/>
                        </a:rPr>
                        <a:t>이기종 메모리 기반 </a:t>
                      </a:r>
                      <a:r>
                        <a:rPr lang="en-US" altLang="ko-KR" sz="1200" strike="noStrike" kern="1200" dirty="0">
                          <a:solidFill>
                            <a:srgbClr val="0066FF"/>
                          </a:solidFill>
                          <a:latin typeface="+mn-lt"/>
                          <a:ea typeface="+mn-ea"/>
                          <a:cs typeface="+mn-cs"/>
                        </a:rPr>
                        <a:t>Prefill </a:t>
                      </a:r>
                      <a:r>
                        <a:rPr lang="ko-KR" altLang="en-US" sz="1200" strike="noStrike" kern="1200" dirty="0">
                          <a:solidFill>
                            <a:srgbClr val="0066FF"/>
                          </a:solidFill>
                          <a:latin typeface="+mn-lt"/>
                          <a:ea typeface="+mn-ea"/>
                          <a:cs typeface="+mn-cs"/>
                        </a:rPr>
                        <a:t>실행 구조</a:t>
                      </a:r>
                      <a:r>
                        <a:rPr lang="ko-KR" altLang="en-US" sz="1200" strike="noStrike" kern="1200" dirty="0">
                          <a:solidFill>
                            <a:prstClr val="black"/>
                          </a:solidFill>
                          <a:latin typeface="+mn-lt"/>
                          <a:ea typeface="+mn-ea"/>
                          <a:cs typeface="+mn-cs"/>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strike="noStrike" kern="1200" dirty="0">
                          <a:solidFill>
                            <a:prstClr val="black"/>
                          </a:solidFill>
                          <a:latin typeface="+mn-lt"/>
                          <a:ea typeface="+mn-ea"/>
                          <a:cs typeface="+mn-cs"/>
                        </a:rPr>
                        <a:t>DP3. Long Context</a:t>
                      </a:r>
                      <a:r>
                        <a:rPr lang="ko-KR" altLang="en-US" sz="1200" strike="noStrike" kern="1200" dirty="0">
                          <a:solidFill>
                            <a:prstClr val="black"/>
                          </a:solidFill>
                          <a:latin typeface="+mn-lt"/>
                          <a:ea typeface="+mn-ea"/>
                          <a:cs typeface="+mn-cs"/>
                        </a:rPr>
                        <a:t>를 위한</a:t>
                      </a:r>
                      <a:r>
                        <a:rPr lang="en-US" altLang="ko-KR" sz="1200" strike="noStrike" kern="1200" dirty="0">
                          <a:solidFill>
                            <a:prstClr val="black"/>
                          </a:solidFill>
                          <a:latin typeface="+mn-lt"/>
                          <a:ea typeface="+mn-ea"/>
                          <a:cs typeface="+mn-cs"/>
                        </a:rPr>
                        <a:t> </a:t>
                      </a:r>
                      <a:r>
                        <a:rPr lang="en-US" altLang="ko-KR" sz="1200" strike="noStrike" kern="1200" dirty="0">
                          <a:solidFill>
                            <a:srgbClr val="0066FF"/>
                          </a:solidFill>
                          <a:latin typeface="+mn-lt"/>
                          <a:ea typeface="+mn-ea"/>
                          <a:cs typeface="+mn-cs"/>
                        </a:rPr>
                        <a:t>KV Eviction &amp; Reuse</a:t>
                      </a:r>
                      <a:endParaRPr lang="ko-KR" altLang="en-US" sz="1200" strike="noStrike" kern="1200" dirty="0">
                        <a:solidFill>
                          <a:srgbClr val="0066FF"/>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strike="noStrike" kern="1200" dirty="0">
                          <a:solidFill>
                            <a:prstClr val="black"/>
                          </a:solidFill>
                          <a:latin typeface="+mn-lt"/>
                          <a:ea typeface="+mn-ea"/>
                          <a:cs typeface="+mn-cs"/>
                        </a:rPr>
                        <a:t>DP4. Agent Tool-wait KV residency </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81477196"/>
                  </a:ext>
                </a:extLst>
              </a:tr>
              <a:tr h="405660">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QA1</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Performance throughput</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Performance throughput</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Performance latency</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78437173"/>
                  </a:ext>
                </a:extLst>
              </a:tr>
              <a:tr h="5679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strike="noStrike" kern="1200" dirty="0">
                          <a:solidFill>
                            <a:prstClr val="black"/>
                          </a:solidFill>
                          <a:latin typeface="+mn-lt"/>
                          <a:ea typeface="+mn-ea"/>
                          <a:cs typeface="+mn-cs"/>
                        </a:rPr>
                        <a:t>QA2</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Performance latency</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Performance latency </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Functional Correctness (Accuracy)</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043688"/>
                  </a:ext>
                </a:extLst>
              </a:tr>
              <a:tr h="329035">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QA3</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Resource Utilization</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strike="noStrike" kern="1200" dirty="0">
                          <a:solidFill>
                            <a:prstClr val="black"/>
                          </a:solidFill>
                          <a:latin typeface="+mn-lt"/>
                          <a:ea typeface="+mn-ea"/>
                          <a:cs typeface="+mn-cs"/>
                        </a:rPr>
                        <a:t>Resource Utilization</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strike="noStrike" kern="1200" dirty="0">
                          <a:solidFill>
                            <a:prstClr val="black"/>
                          </a:solidFill>
                          <a:latin typeface="+mn-lt"/>
                          <a:ea typeface="+mn-ea"/>
                          <a:cs typeface="+mn-cs"/>
                        </a:rPr>
                        <a:t>Resource Utilization?</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b="1"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29682426"/>
                  </a:ext>
                </a:extLst>
              </a:tr>
              <a:tr h="405660">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QA4</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strike="noStrike" kern="1200" dirty="0">
                          <a:solidFill>
                            <a:prstClr val="black"/>
                          </a:solidFill>
                          <a:latin typeface="+mn-lt"/>
                          <a:ea typeface="+mn-ea"/>
                          <a:cs typeface="+mn-cs"/>
                        </a:rPr>
                        <a:t>Modifiability</a:t>
                      </a:r>
                      <a:endParaRPr lang="ko-KR" altLang="en-US" sz="1200" b="0" strike="noStrike" kern="1200" dirty="0">
                        <a:solidFill>
                          <a:prstClr val="black"/>
                        </a:solidFill>
                        <a:latin typeface="+mn-lt"/>
                        <a:ea typeface="+mn-ea"/>
                        <a:cs typeface="+mn-cs"/>
                      </a:endParaRPr>
                    </a:p>
                    <a:p>
                      <a:pPr marL="0" lvl="0" algn="l" defTabSz="914400" rtl="0" eaLnBrk="1" latinLnBrk="1" hangingPunct="1"/>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Modifiability</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508445013"/>
                  </a:ext>
                </a:extLst>
              </a:tr>
              <a:tr h="329035">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QA5</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Scalability</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823768170"/>
                  </a:ext>
                </a:extLst>
              </a:tr>
            </a:tbl>
          </a:graphicData>
        </a:graphic>
      </p:graphicFrame>
      <p:graphicFrame>
        <p:nvGraphicFramePr>
          <p:cNvPr id="4" name="표 3"/>
          <p:cNvGraphicFramePr>
            <a:graphicFrameLocks noGrp="1"/>
          </p:cNvGraphicFramePr>
          <p:nvPr>
            <p:extLst>
              <p:ext uri="{D42A27DB-BD31-4B8C-83A1-F6EECF244321}">
                <p14:modId xmlns:p14="http://schemas.microsoft.com/office/powerpoint/2010/main" val="4204284771"/>
              </p:ext>
            </p:extLst>
          </p:nvPr>
        </p:nvGraphicFramePr>
        <p:xfrm>
          <a:off x="496950" y="3887523"/>
          <a:ext cx="7131981" cy="2286000"/>
        </p:xfrm>
        <a:graphic>
          <a:graphicData uri="http://schemas.openxmlformats.org/drawingml/2006/table">
            <a:tbl>
              <a:tblPr firstRow="1" bandRow="1">
                <a:tableStyleId>{5C22544A-7EE6-4342-B048-85BDC9FD1C3A}</a:tableStyleId>
              </a:tblPr>
              <a:tblGrid>
                <a:gridCol w="2369482">
                  <a:extLst>
                    <a:ext uri="{9D8B030D-6E8A-4147-A177-3AD203B41FA5}">
                      <a16:colId xmlns:a16="http://schemas.microsoft.com/office/drawing/2014/main" val="3186346277"/>
                    </a:ext>
                  </a:extLst>
                </a:gridCol>
                <a:gridCol w="4762499">
                  <a:extLst>
                    <a:ext uri="{9D8B030D-6E8A-4147-A177-3AD203B41FA5}">
                      <a16:colId xmlns:a16="http://schemas.microsoft.com/office/drawing/2014/main" val="39305247"/>
                    </a:ext>
                  </a:extLst>
                </a:gridCol>
              </a:tblGrid>
              <a:tr h="253556">
                <a:tc>
                  <a:txBody>
                    <a:bodyPr/>
                    <a:lstStyle/>
                    <a:p>
                      <a:pPr marL="0" lvl="0" algn="l" defTabSz="914400" rtl="0" eaLnBrk="1" latinLnBrk="1" hangingPunct="1"/>
                      <a:r>
                        <a:rPr lang="en-US" altLang="ko-KR" sz="1200" strike="noStrike" kern="1200" dirty="0">
                          <a:solidFill>
                            <a:prstClr val="black"/>
                          </a:solidFill>
                          <a:latin typeface="+mn-lt"/>
                          <a:ea typeface="+mn-ea"/>
                          <a:cs typeface="+mn-cs"/>
                        </a:rPr>
                        <a:t>QA</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strike="noStrike" kern="1200" dirty="0">
                          <a:solidFill>
                            <a:prstClr val="black"/>
                          </a:solidFill>
                          <a:latin typeface="+mn-lt"/>
                          <a:ea typeface="+mn-ea"/>
                          <a:cs typeface="+mn-cs"/>
                        </a:rPr>
                        <a:t>Metric</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81477196"/>
                  </a:ext>
                </a:extLst>
              </a:tr>
              <a:tr h="312604">
                <a:tc>
                  <a:txBody>
                    <a:bodyPr/>
                    <a:lstStyle/>
                    <a:p>
                      <a:pPr marL="0" lvl="0" algn="l" defTabSz="914400" rtl="0" eaLnBrk="1" latinLnBrk="1" hangingPunct="1"/>
                      <a:r>
                        <a:rPr lang="en-US" altLang="ko-KR" sz="1200" strike="noStrike" kern="1200" dirty="0">
                          <a:solidFill>
                            <a:prstClr val="black"/>
                          </a:solidFill>
                          <a:latin typeface="+mn-lt"/>
                          <a:ea typeface="+mn-ea"/>
                          <a:cs typeface="+mn-cs"/>
                        </a:rPr>
                        <a:t>Performance Throughput</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strike="noStrike" kern="1200" dirty="0">
                          <a:solidFill>
                            <a:prstClr val="black"/>
                          </a:solidFill>
                          <a:latin typeface="+mn-lt"/>
                          <a:ea typeface="+mn-ea"/>
                          <a:cs typeface="+mn-cs"/>
                        </a:rPr>
                        <a:t>TPS</a:t>
                      </a:r>
                      <a:endParaRPr lang="ko-KR" altLang="en-US" sz="1200" strike="noStrike" kern="1200" dirty="0">
                        <a:solidFill>
                          <a:prstClr val="black"/>
                        </a:solidFill>
                        <a:latin typeface="+mn-lt"/>
                        <a:ea typeface="+mn-ea"/>
                        <a:cs typeface="+mn-cs"/>
                      </a:endParaRPr>
                    </a:p>
                    <a:p>
                      <a:pPr marL="0" lvl="0" algn="l" defTabSz="914400" rtl="0" eaLnBrk="1" latinLnBrk="1" hangingPunct="1"/>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78437173"/>
                  </a:ext>
                </a:extLst>
              </a:tr>
              <a:tr h="253556">
                <a:tc>
                  <a:txBody>
                    <a:bodyPr/>
                    <a:lstStyle/>
                    <a:p>
                      <a:pPr marL="0" lvl="0" algn="l" defTabSz="914400" rtl="0" eaLnBrk="1" latinLnBrk="1" hangingPunct="1"/>
                      <a:r>
                        <a:rPr lang="en-US" altLang="ko-KR" sz="1200" strike="noStrike" kern="1200" dirty="0">
                          <a:solidFill>
                            <a:prstClr val="black"/>
                          </a:solidFill>
                          <a:latin typeface="+mn-lt"/>
                          <a:ea typeface="+mn-ea"/>
                          <a:cs typeface="+mn-cs"/>
                        </a:rPr>
                        <a:t>Performance latency</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strike="noStrike" kern="1200" dirty="0">
                          <a:solidFill>
                            <a:prstClr val="black"/>
                          </a:solidFill>
                          <a:latin typeface="+mn-lt"/>
                          <a:ea typeface="+mn-ea"/>
                          <a:cs typeface="+mn-cs"/>
                        </a:rPr>
                        <a:t>TTFT + TPOT</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67455501"/>
                  </a:ext>
                </a:extLst>
              </a:tr>
              <a:tr h="253556">
                <a:tc>
                  <a:txBody>
                    <a:bodyPr/>
                    <a:lstStyle/>
                    <a:p>
                      <a:pPr marL="0" lvl="0" algn="l" defTabSz="914400" rtl="0" eaLnBrk="1" latinLnBrk="1" hangingPunct="1"/>
                      <a:r>
                        <a:rPr lang="en-US" altLang="ko-KR" sz="1200" strike="noStrike" kern="1200" dirty="0">
                          <a:solidFill>
                            <a:prstClr val="black"/>
                          </a:solidFill>
                          <a:latin typeface="+mn-lt"/>
                          <a:ea typeface="+mn-ea"/>
                          <a:cs typeface="+mn-cs"/>
                        </a:rPr>
                        <a:t>Resource Utilization </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176"/>
                  </a:ext>
                </a:extLst>
              </a:tr>
              <a:tr h="253556">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Functional Correctness </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strike="noStrike" kern="1200" dirty="0">
                          <a:solidFill>
                            <a:prstClr val="black"/>
                          </a:solidFill>
                          <a:latin typeface="+mn-lt"/>
                          <a:ea typeface="+mn-ea"/>
                          <a:cs typeface="+mn-cs"/>
                        </a:rPr>
                        <a:t>Accuracy (F1 score)</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31367397"/>
                  </a:ext>
                </a:extLst>
              </a:tr>
              <a:tr h="253556">
                <a:tc>
                  <a:txBody>
                    <a:bodyPr/>
                    <a:lstStyle/>
                    <a:p>
                      <a:pPr marL="0" lvl="0" algn="l" defTabSz="914400" rtl="0" eaLnBrk="1" latinLnBrk="1" hangingPunct="1"/>
                      <a:r>
                        <a:rPr lang="en-US" altLang="ko-KR" sz="1200" b="0" strike="noStrike" kern="1200" dirty="0">
                          <a:solidFill>
                            <a:prstClr val="black"/>
                          </a:solidFill>
                          <a:latin typeface="+mn-lt"/>
                          <a:ea typeface="+mn-ea"/>
                          <a:cs typeface="+mn-cs"/>
                        </a:rPr>
                        <a:t>Modifiability</a:t>
                      </a:r>
                      <a:endParaRPr lang="ko-KR" altLang="en-US" sz="1200" b="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27142955"/>
                  </a:ext>
                </a:extLst>
              </a:tr>
              <a:tr h="437645">
                <a:tc>
                  <a:txBody>
                    <a:bodyPr/>
                    <a:lstStyle/>
                    <a:p>
                      <a:pPr marL="0" lvl="0" algn="l" defTabSz="914400" rtl="0" eaLnBrk="1" latinLnBrk="1" hangingPunct="1"/>
                      <a:r>
                        <a:rPr lang="en-US" altLang="ko-KR" sz="1200" strike="noStrike" kern="1200" dirty="0">
                          <a:solidFill>
                            <a:prstClr val="black"/>
                          </a:solidFill>
                          <a:latin typeface="+mn-lt"/>
                          <a:ea typeface="+mn-ea"/>
                          <a:cs typeface="+mn-cs"/>
                        </a:rPr>
                        <a:t>Scalability</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lvl="0" algn="l" defTabSz="914400" rtl="0" eaLnBrk="1" latinLnBrk="1" hangingPunct="1"/>
                      <a:r>
                        <a:rPr lang="en-US" altLang="ko-KR" sz="1200" strike="noStrike" kern="1200" dirty="0">
                          <a:solidFill>
                            <a:prstClr val="black"/>
                          </a:solidFill>
                          <a:latin typeface="+mn-lt"/>
                          <a:ea typeface="+mn-ea"/>
                          <a:cs typeface="+mn-cs"/>
                        </a:rPr>
                        <a:t>Scaling</a:t>
                      </a:r>
                      <a:r>
                        <a:rPr lang="en-US" altLang="ko-KR" sz="1200" strike="noStrike" kern="1200" baseline="0" dirty="0">
                          <a:solidFill>
                            <a:prstClr val="black"/>
                          </a:solidFill>
                          <a:latin typeface="+mn-lt"/>
                          <a:ea typeface="+mn-ea"/>
                          <a:cs typeface="+mn-cs"/>
                        </a:rPr>
                        <a:t> Efficiency (%)</a:t>
                      </a:r>
                    </a:p>
                    <a:p>
                      <a:pPr marL="0" lvl="0" algn="l" defTabSz="914400" rtl="0" eaLnBrk="1" latinLnBrk="1" hangingPunct="1"/>
                      <a:r>
                        <a:rPr lang="en-US" altLang="ko-KR" sz="1200" strike="noStrike" kern="1200" baseline="0" dirty="0">
                          <a:solidFill>
                            <a:prstClr val="black"/>
                          </a:solidFill>
                          <a:latin typeface="+mn-lt"/>
                          <a:ea typeface="+mn-ea"/>
                          <a:cs typeface="+mn-cs"/>
                        </a:rPr>
                        <a:t>: GPU/</a:t>
                      </a:r>
                      <a:r>
                        <a:rPr lang="ko-KR" altLang="en-US" sz="1200" strike="noStrike" kern="1200" baseline="0" dirty="0">
                          <a:solidFill>
                            <a:prstClr val="black"/>
                          </a:solidFill>
                          <a:latin typeface="+mn-lt"/>
                          <a:ea typeface="+mn-ea"/>
                          <a:cs typeface="+mn-cs"/>
                        </a:rPr>
                        <a:t>노드 </a:t>
                      </a:r>
                      <a:r>
                        <a:rPr lang="en-US" altLang="ko-KR" sz="1200" strike="noStrike" kern="1200" baseline="0" dirty="0">
                          <a:solidFill>
                            <a:prstClr val="black"/>
                          </a:solidFill>
                          <a:latin typeface="+mn-lt"/>
                          <a:ea typeface="+mn-ea"/>
                          <a:cs typeface="+mn-cs"/>
                        </a:rPr>
                        <a:t>N</a:t>
                      </a:r>
                      <a:r>
                        <a:rPr lang="ko-KR" altLang="en-US" sz="1200" strike="noStrike" kern="1200" baseline="0" dirty="0">
                          <a:solidFill>
                            <a:prstClr val="black"/>
                          </a:solidFill>
                          <a:latin typeface="+mn-lt"/>
                          <a:ea typeface="+mn-ea"/>
                          <a:cs typeface="+mn-cs"/>
                        </a:rPr>
                        <a:t>배 늘렸을 때 처리량이 </a:t>
                      </a:r>
                      <a:r>
                        <a:rPr lang="en-US" altLang="ko-KR" sz="1200" strike="noStrike" kern="1200" baseline="0" dirty="0">
                          <a:solidFill>
                            <a:prstClr val="black"/>
                          </a:solidFill>
                          <a:latin typeface="+mn-lt"/>
                          <a:ea typeface="+mn-ea"/>
                          <a:cs typeface="+mn-cs"/>
                        </a:rPr>
                        <a:t>N</a:t>
                      </a:r>
                      <a:r>
                        <a:rPr lang="ko-KR" altLang="en-US" sz="1200" strike="noStrike" kern="1200" baseline="0" dirty="0">
                          <a:solidFill>
                            <a:prstClr val="black"/>
                          </a:solidFill>
                          <a:latin typeface="+mn-lt"/>
                          <a:ea typeface="+mn-ea"/>
                          <a:cs typeface="+mn-cs"/>
                        </a:rPr>
                        <a:t>배의 몇</a:t>
                      </a:r>
                      <a:r>
                        <a:rPr lang="en-US" altLang="ko-KR" sz="1200" strike="noStrike" kern="1200" baseline="0" dirty="0">
                          <a:solidFill>
                            <a:prstClr val="black"/>
                          </a:solidFill>
                          <a:latin typeface="+mn-lt"/>
                          <a:ea typeface="+mn-ea"/>
                          <a:cs typeface="+mn-cs"/>
                        </a:rPr>
                        <a:t>%?</a:t>
                      </a:r>
                      <a:endParaRPr lang="ko-KR" altLang="en-US" sz="1200" strike="noStrike" kern="1200" dirty="0">
                        <a:solidFill>
                          <a:prstClr val="black"/>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41700944"/>
                  </a:ext>
                </a:extLst>
              </a:tr>
            </a:tbl>
          </a:graphicData>
        </a:graphic>
      </p:graphicFrame>
    </p:spTree>
    <p:extLst>
      <p:ext uri="{BB962C8B-B14F-4D97-AF65-F5344CB8AC3E}">
        <p14:creationId xmlns:p14="http://schemas.microsoft.com/office/powerpoint/2010/main" val="1576944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563880" y="1318260"/>
            <a:ext cx="11117580" cy="48387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ko-KR" sz="16600" b="1" dirty="0"/>
              <a:t>DP0</a:t>
            </a:r>
            <a:endParaRPr lang="ko-KR" altLang="en-US" sz="16600" b="1" dirty="0"/>
          </a:p>
        </p:txBody>
      </p:sp>
    </p:spTree>
    <p:extLst>
      <p:ext uri="{BB962C8B-B14F-4D97-AF65-F5344CB8AC3E}">
        <p14:creationId xmlns:p14="http://schemas.microsoft.com/office/powerpoint/2010/main" val="1271640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6775451" cy="365125"/>
          </a:xfrm>
        </p:spPr>
        <p:txBody>
          <a:bodyPr/>
          <a:lstStyle/>
          <a:p>
            <a:r>
              <a:rPr lang="en-US" altLang="ko-KR" dirty="0"/>
              <a:t>DP0. 요청 조율 구조 (Orchestration) - 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4" name="직사각형 93">
            <a:extLst>
              <a:ext uri="{FF2B5EF4-FFF2-40B4-BE49-F238E27FC236}">
                <a16:creationId xmlns:a16="http://schemas.microsoft.com/office/drawing/2014/main" id="{E3784E02-153A-49F1-A2CD-CE4252048DE7}"/>
              </a:ext>
            </a:extLst>
          </p:cNvPr>
          <p:cNvSpPr/>
          <p:nvPr/>
        </p:nvSpPr>
        <p:spPr>
          <a:xfrm>
            <a:off x="6160372" y="849834"/>
            <a:ext cx="5694021" cy="549961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모서리가 둥근 직사각형 217">
            <a:extLst>
              <a:ext uri="{FF2B5EF4-FFF2-40B4-BE49-F238E27FC236}">
                <a16:creationId xmlns:a16="http://schemas.microsoft.com/office/drawing/2014/main" id="{63A3E9B0-7066-45A1-BE5D-E8DD4EAEDB03}"/>
              </a:ext>
            </a:extLst>
          </p:cNvPr>
          <p:cNvSpPr/>
          <p:nvPr/>
        </p:nvSpPr>
        <p:spPr>
          <a:xfrm>
            <a:off x="7210115" y="740708"/>
            <a:ext cx="3749552" cy="285015"/>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200" b="1" dirty="0"/>
              <a:t>② 서버 여러 대로 확장 (Rack Scale)</a:t>
            </a:r>
          </a:p>
        </p:txBody>
      </p:sp>
      <p:grpSp>
        <p:nvGrpSpPr>
          <p:cNvPr id="91" name="그룹 90">
            <a:extLst>
              <a:ext uri="{FF2B5EF4-FFF2-40B4-BE49-F238E27FC236}">
                <a16:creationId xmlns:a16="http://schemas.microsoft.com/office/drawing/2014/main" id="{6A78737F-A253-4CE8-B9A2-72B91FF65732}"/>
              </a:ext>
            </a:extLst>
          </p:cNvPr>
          <p:cNvGrpSpPr/>
          <p:nvPr/>
        </p:nvGrpSpPr>
        <p:grpSpPr>
          <a:xfrm>
            <a:off x="295158" y="731684"/>
            <a:ext cx="5674740" cy="5650065"/>
            <a:chOff x="211958" y="3093998"/>
            <a:chExt cx="6173884" cy="5288499"/>
          </a:xfrm>
        </p:grpSpPr>
        <p:sp>
          <p:nvSpPr>
            <p:cNvPr id="92" name="직사각형 91">
              <a:extLst>
                <a:ext uri="{FF2B5EF4-FFF2-40B4-BE49-F238E27FC236}">
                  <a16:creationId xmlns:a16="http://schemas.microsoft.com/office/drawing/2014/main" id="{14E0C7FA-AF01-4522-B324-5D5122403813}"/>
                </a:ext>
              </a:extLst>
            </p:cNvPr>
            <p:cNvSpPr/>
            <p:nvPr/>
          </p:nvSpPr>
          <p:spPr>
            <a:xfrm>
              <a:off x="211958" y="3255024"/>
              <a:ext cx="6173884" cy="5127473"/>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모서리가 둥근 직사각형 212">
              <a:extLst>
                <a:ext uri="{FF2B5EF4-FFF2-40B4-BE49-F238E27FC236}">
                  <a16:creationId xmlns:a16="http://schemas.microsoft.com/office/drawing/2014/main" id="{1104C980-3417-4022-8A1E-A71193CA465E}"/>
                </a:ext>
              </a:extLst>
            </p:cNvPr>
            <p:cNvSpPr/>
            <p:nvPr/>
          </p:nvSpPr>
          <p:spPr>
            <a:xfrm>
              <a:off x="1275530" y="3093998"/>
              <a:ext cx="4046740" cy="276747"/>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ko-KR" altLang="en-US" sz="1200" b="1" dirty="0"/>
                <a:t>① 서버 1대 안: 이기종 메모리 환경</a:t>
              </a:r>
            </a:p>
          </p:txBody>
        </p:sp>
      </p:grpSp>
      <p:sp>
        <p:nvSpPr>
          <p:cNvPr id="102" name="TextBox 101"/>
          <p:cNvSpPr txBox="1"/>
          <p:nvPr/>
        </p:nvSpPr>
        <p:spPr>
          <a:xfrm>
            <a:off x="457200" y="1152144"/>
            <a:ext cx="5349240" cy="640080"/>
          </a:xfrm>
          <a:prstGeom prst="rect">
            <a:avLst/>
          </a:prstGeom>
          <a:noFill/>
        </p:spPr>
        <p:txBody>
          <a:bodyPr wrap="square" lIns="0" tIns="0" rIns="0" bIns="0" anchor="t">
            <a:spAutoFit/>
          </a:bodyPr>
          <a:lstStyle/>
          <a:p>
            <a:pPr algn="l">
              <a:lnSpc>
                <a:spcPct val="112000"/>
              </a:lnSpc>
            </a:pPr>
            <a:r>
              <a:rPr sz="1050" b="1" i="0">
                <a:solidFill>
                  <a:srgbClr val="2E75B6"/>
                </a:solidFill>
                <a:latin typeface="맑은 고딕"/>
                <a:ea typeface="맑은 고딕"/>
              </a:rPr>
              <a:t>✓ </a:t>
            </a:r>
            <a:r>
              <a:rPr sz="1050" b="0" i="0">
                <a:solidFill>
                  <a:srgbClr val="404040"/>
                </a:solidFill>
                <a:latin typeface="맑은 고딕"/>
                <a:ea typeface="맑은 고딕"/>
              </a:rPr>
              <a:t>신규 메모리(HBF, CXL-PNM, SSD-PIM 등)가 등장해 서버 1대 안에 </a:t>
            </a:r>
            <a:r>
              <a:rPr sz="1050" b="1" i="0">
                <a:solidFill>
                  <a:srgbClr val="2E75B6"/>
                </a:solidFill>
                <a:latin typeface="맑은 고딕"/>
                <a:ea typeface="맑은 고딕"/>
              </a:rPr>
              <a:t>속도·용량·기능이 다른 메모리가 혼재</a:t>
            </a:r>
          </a:p>
          <a:p>
            <a:pPr algn="l">
              <a:lnSpc>
                <a:spcPct val="112000"/>
              </a:lnSpc>
            </a:pPr>
            <a:r>
              <a:rPr sz="1050" b="1" i="0">
                <a:solidFill>
                  <a:srgbClr val="2E75B6"/>
                </a:solidFill>
                <a:latin typeface="맑은 고딕"/>
                <a:ea typeface="맑은 고딕"/>
              </a:rPr>
              <a:t>✓ </a:t>
            </a:r>
            <a:r>
              <a:rPr sz="1050" b="0" i="0">
                <a:solidFill>
                  <a:srgbClr val="404040"/>
                </a:solidFill>
                <a:latin typeface="맑은 고딕"/>
                <a:ea typeface="맑은 고딕"/>
              </a:rPr>
              <a:t>KV 캐시 등 AI 데이터를 </a:t>
            </a:r>
            <a:r>
              <a:rPr sz="1050" b="1" i="0">
                <a:solidFill>
                  <a:srgbClr val="2E75B6"/>
                </a:solidFill>
                <a:latin typeface="맑은 고딕"/>
                <a:ea typeface="맑은 고딕"/>
              </a:rPr>
              <a:t>어느 메모리에 두느냐</a:t>
            </a:r>
            <a:r>
              <a:rPr sz="1050" b="0" i="0">
                <a:solidFill>
                  <a:srgbClr val="404040"/>
                </a:solidFill>
                <a:latin typeface="맑은 고딕"/>
                <a:ea typeface="맑은 고딕"/>
              </a:rPr>
              <a:t>가 성능을 좌우</a:t>
            </a:r>
          </a:p>
        </p:txBody>
      </p:sp>
      <p:sp>
        <p:nvSpPr>
          <p:cNvPr id="103" name="Rectangle 102"/>
          <p:cNvSpPr/>
          <p:nvPr/>
        </p:nvSpPr>
        <p:spPr>
          <a:xfrm>
            <a:off x="502920" y="1847088"/>
            <a:ext cx="5257800" cy="2788920"/>
          </a:xfrm>
          <a:prstGeom prst="rect">
            <a:avLst/>
          </a:prstGeom>
          <a:solidFill>
            <a:srgbClr val="FFFFFF"/>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04" name="Rectangle 103"/>
          <p:cNvSpPr/>
          <p:nvPr/>
        </p:nvSpPr>
        <p:spPr>
          <a:xfrm>
            <a:off x="594360" y="1920240"/>
            <a:ext cx="5074920" cy="2377440"/>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05" name="Rectangle 104"/>
          <p:cNvSpPr/>
          <p:nvPr/>
        </p:nvSpPr>
        <p:spPr>
          <a:xfrm>
            <a:off x="594360" y="1920240"/>
            <a:ext cx="3017520"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50" b="1" i="0">
                <a:solidFill>
                  <a:srgbClr val="FFFFFF"/>
                </a:solidFill>
                <a:latin typeface="맑은 고딕"/>
                <a:ea typeface="맑은 고딕"/>
              </a:rPr>
              <a:t>«server» 추론 서버 1대 (vLLM 인스턴스)</a:t>
            </a:r>
          </a:p>
        </p:txBody>
      </p:sp>
      <p:sp>
        <p:nvSpPr>
          <p:cNvPr id="106" name="Rounded Rectangle 105"/>
          <p:cNvSpPr/>
          <p:nvPr/>
        </p:nvSpPr>
        <p:spPr>
          <a:xfrm>
            <a:off x="4343400" y="1938528"/>
            <a:ext cx="1261872" cy="164592"/>
          </a:xfrm>
          <a:prstGeom prst="roundRect">
            <a:avLst>
              <a:gd name="adj" fmla="val 30000"/>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tIns="0" rIns="9144" bIns="0"/>
          <a:lstStyle/>
          <a:p>
            <a:pPr algn="ctr"/>
            <a:r>
              <a:rPr sz="700" b="1" i="0">
                <a:solidFill>
                  <a:srgbClr val="C55A11"/>
                </a:solidFill>
                <a:latin typeface="맑은 고딕"/>
                <a:ea typeface="맑은 고딕"/>
              </a:rPr>
              <a:t>주황 = 신규 메모리</a:t>
            </a:r>
          </a:p>
        </p:txBody>
      </p:sp>
      <p:sp>
        <p:nvSpPr>
          <p:cNvPr id="107" name="Rectangle 106"/>
          <p:cNvSpPr/>
          <p:nvPr/>
        </p:nvSpPr>
        <p:spPr>
          <a:xfrm>
            <a:off x="822960" y="2194560"/>
            <a:ext cx="4572000" cy="38404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vLLM 실행 엔진</a:t>
            </a:r>
          </a:p>
          <a:p>
            <a:pPr algn="ctr"/>
            <a:r>
              <a:rPr sz="700" b="0" i="0">
                <a:solidFill>
                  <a:srgbClr val="000000"/>
                </a:solidFill>
                <a:latin typeface="맑은 고딕"/>
                <a:ea typeface="맑은 고딕"/>
              </a:rPr>
              <a:t>KV 캐시를 만들고 메모리 계층에 배치·이동</a:t>
            </a:r>
          </a:p>
        </p:txBody>
      </p:sp>
      <p:sp>
        <p:nvSpPr>
          <p:cNvPr id="108" name="Rectangle 107"/>
          <p:cNvSpPr/>
          <p:nvPr/>
        </p:nvSpPr>
        <p:spPr>
          <a:xfrm>
            <a:off x="777240"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09" name="Rectangle 108"/>
          <p:cNvSpPr/>
          <p:nvPr/>
        </p:nvSpPr>
        <p:spPr>
          <a:xfrm>
            <a:off x="777240"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0" name="Rectangle 109"/>
          <p:cNvSpPr/>
          <p:nvPr/>
        </p:nvSpPr>
        <p:spPr>
          <a:xfrm>
            <a:off x="731520" y="2834640"/>
            <a:ext cx="1417320" cy="138988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1" name="Rectangle 110"/>
          <p:cNvSpPr/>
          <p:nvPr/>
        </p:nvSpPr>
        <p:spPr>
          <a:xfrm>
            <a:off x="731520" y="2834640"/>
            <a:ext cx="281635"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GPU</a:t>
            </a:r>
          </a:p>
        </p:txBody>
      </p:sp>
      <p:sp>
        <p:nvSpPr>
          <p:cNvPr id="112" name="Rectangle 111"/>
          <p:cNvSpPr/>
          <p:nvPr/>
        </p:nvSpPr>
        <p:spPr>
          <a:xfrm>
            <a:off x="868680" y="3154680"/>
            <a:ext cx="1170432" cy="68580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HBM</a:t>
            </a:r>
          </a:p>
          <a:p>
            <a:pPr algn="ctr"/>
            <a:r>
              <a:rPr sz="700" b="0" i="0">
                <a:solidFill>
                  <a:srgbClr val="000000"/>
                </a:solidFill>
                <a:latin typeface="맑은 고딕"/>
                <a:ea typeface="맑은 고딕"/>
              </a:rPr>
              <a:t>BW 최고 · 용량 소</a:t>
            </a:r>
          </a:p>
          <a:p>
            <a:pPr algn="ctr"/>
            <a:r>
              <a:rPr sz="700" b="0" i="0">
                <a:solidFill>
                  <a:srgbClr val="000000"/>
                </a:solidFill>
                <a:latin typeface="맑은 고딕"/>
                <a:ea typeface="맑은 고딕"/>
              </a:rPr>
              <a:t>(KV 캐시 1순위)</a:t>
            </a:r>
          </a:p>
        </p:txBody>
      </p:sp>
      <p:sp>
        <p:nvSpPr>
          <p:cNvPr id="113" name="Rectangle 112"/>
          <p:cNvSpPr/>
          <p:nvPr/>
        </p:nvSpPr>
        <p:spPr>
          <a:xfrm>
            <a:off x="822959"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4" name="Rectangle 113"/>
          <p:cNvSpPr/>
          <p:nvPr/>
        </p:nvSpPr>
        <p:spPr>
          <a:xfrm>
            <a:off x="822959"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5" name="Rectangle 114"/>
          <p:cNvSpPr/>
          <p:nvPr/>
        </p:nvSpPr>
        <p:spPr>
          <a:xfrm>
            <a:off x="2487168" y="2834640"/>
            <a:ext cx="1325880" cy="138988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6" name="Rectangle 115"/>
          <p:cNvSpPr/>
          <p:nvPr/>
        </p:nvSpPr>
        <p:spPr>
          <a:xfrm>
            <a:off x="2487168" y="2834640"/>
            <a:ext cx="687628"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CPU / 호스트</a:t>
            </a:r>
          </a:p>
        </p:txBody>
      </p:sp>
      <p:sp>
        <p:nvSpPr>
          <p:cNvPr id="117" name="Rectangle 116"/>
          <p:cNvSpPr/>
          <p:nvPr/>
        </p:nvSpPr>
        <p:spPr>
          <a:xfrm>
            <a:off x="2624328" y="3154680"/>
            <a:ext cx="1097280" cy="68580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DRAM</a:t>
            </a:r>
          </a:p>
          <a:p>
            <a:pPr algn="ctr"/>
            <a:r>
              <a:rPr sz="700" b="0" i="0">
                <a:solidFill>
                  <a:srgbClr val="000000"/>
                </a:solidFill>
                <a:latin typeface="맑은 고딕"/>
                <a:ea typeface="맑은 고딕"/>
              </a:rPr>
              <a:t>범용 · 중간 BW</a:t>
            </a:r>
          </a:p>
          <a:p>
            <a:pPr algn="ctr"/>
            <a:r>
              <a:rPr sz="700" b="0" i="0">
                <a:solidFill>
                  <a:srgbClr val="000000"/>
                </a:solidFill>
                <a:latin typeface="맑은 고딕"/>
                <a:ea typeface="맑은 고딕"/>
              </a:rPr>
              <a:t>(KV 캐시 2순위)</a:t>
            </a:r>
          </a:p>
        </p:txBody>
      </p:sp>
      <p:sp>
        <p:nvSpPr>
          <p:cNvPr id="118" name="Rectangle 117"/>
          <p:cNvSpPr/>
          <p:nvPr/>
        </p:nvSpPr>
        <p:spPr>
          <a:xfrm>
            <a:off x="2578608"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9" name="Rectangle 118"/>
          <p:cNvSpPr/>
          <p:nvPr/>
        </p:nvSpPr>
        <p:spPr>
          <a:xfrm>
            <a:off x="2578608"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0" name="Rectangle 119"/>
          <p:cNvSpPr/>
          <p:nvPr/>
        </p:nvSpPr>
        <p:spPr>
          <a:xfrm>
            <a:off x="4114800" y="2834640"/>
            <a:ext cx="1417320" cy="1389888"/>
          </a:xfrm>
          <a:prstGeom prst="rect">
            <a:avLst/>
          </a:prstGeom>
          <a:solidFill>
            <a:srgbClr val="FFFFFF"/>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1" name="Rectangle 120"/>
          <p:cNvSpPr/>
          <p:nvPr/>
        </p:nvSpPr>
        <p:spPr>
          <a:xfrm>
            <a:off x="4114800" y="2834640"/>
            <a:ext cx="921715"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확장 메모리 (신규)</a:t>
            </a:r>
          </a:p>
        </p:txBody>
      </p:sp>
      <p:sp>
        <p:nvSpPr>
          <p:cNvPr id="122" name="Rectangle 121"/>
          <p:cNvSpPr/>
          <p:nvPr/>
        </p:nvSpPr>
        <p:spPr>
          <a:xfrm>
            <a:off x="4251960" y="3044952"/>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00" b="1" i="0">
                <a:solidFill>
                  <a:srgbClr val="000000"/>
                </a:solidFill>
                <a:latin typeface="맑은 고딕"/>
                <a:ea typeface="맑은 고딕"/>
              </a:rPr>
              <a:t>CXL-PNM</a:t>
            </a:r>
          </a:p>
          <a:p>
            <a:pPr algn="ctr"/>
            <a:r>
              <a:rPr sz="650" b="0" i="0">
                <a:solidFill>
                  <a:srgbClr val="000000"/>
                </a:solidFill>
                <a:latin typeface="맑은 고딕"/>
                <a:ea typeface="맑은 고딕"/>
              </a:rPr>
              <a:t>연산 가능 · 확장 용량</a:t>
            </a:r>
          </a:p>
        </p:txBody>
      </p:sp>
      <p:sp>
        <p:nvSpPr>
          <p:cNvPr id="123" name="Rectangle 122"/>
          <p:cNvSpPr/>
          <p:nvPr/>
        </p:nvSpPr>
        <p:spPr>
          <a:xfrm>
            <a:off x="4206240" y="3099816"/>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4" name="Rectangle 123"/>
          <p:cNvSpPr/>
          <p:nvPr/>
        </p:nvSpPr>
        <p:spPr>
          <a:xfrm>
            <a:off x="4206240" y="3191256"/>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5" name="Rectangle 124"/>
          <p:cNvSpPr/>
          <p:nvPr/>
        </p:nvSpPr>
        <p:spPr>
          <a:xfrm>
            <a:off x="4251960" y="3438144"/>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00" b="1" i="0">
                <a:solidFill>
                  <a:srgbClr val="000000"/>
                </a:solidFill>
                <a:latin typeface="맑은 고딕"/>
                <a:ea typeface="맑은 고딕"/>
              </a:rPr>
              <a:t>HBF</a:t>
            </a:r>
          </a:p>
          <a:p>
            <a:pPr algn="ctr"/>
            <a:r>
              <a:rPr sz="650" b="0" i="0">
                <a:solidFill>
                  <a:srgbClr val="000000"/>
                </a:solidFill>
                <a:latin typeface="맑은 고딕"/>
                <a:ea typeface="맑은 고딕"/>
              </a:rPr>
              <a:t>대용량 · Read 위주</a:t>
            </a:r>
          </a:p>
        </p:txBody>
      </p:sp>
      <p:sp>
        <p:nvSpPr>
          <p:cNvPr id="126" name="Rectangle 125"/>
          <p:cNvSpPr/>
          <p:nvPr/>
        </p:nvSpPr>
        <p:spPr>
          <a:xfrm>
            <a:off x="4206240" y="3493008"/>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7" name="Rectangle 126"/>
          <p:cNvSpPr/>
          <p:nvPr/>
        </p:nvSpPr>
        <p:spPr>
          <a:xfrm>
            <a:off x="4206240" y="3584448"/>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8" name="Rectangle 127"/>
          <p:cNvSpPr/>
          <p:nvPr/>
        </p:nvSpPr>
        <p:spPr>
          <a:xfrm>
            <a:off x="4251960" y="3831336"/>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00" b="1" i="0">
                <a:solidFill>
                  <a:srgbClr val="000000"/>
                </a:solidFill>
                <a:latin typeface="맑은 고딕"/>
                <a:ea typeface="맑은 고딕"/>
              </a:rPr>
              <a:t>SSD-PIM</a:t>
            </a:r>
          </a:p>
          <a:p>
            <a:pPr algn="ctr"/>
            <a:r>
              <a:rPr sz="650" b="0" i="0">
                <a:solidFill>
                  <a:srgbClr val="000000"/>
                </a:solidFill>
                <a:latin typeface="맑은 고딕"/>
                <a:ea typeface="맑은 고딕"/>
              </a:rPr>
              <a:t>초대용량 · 낮은 BW</a:t>
            </a:r>
          </a:p>
        </p:txBody>
      </p:sp>
      <p:sp>
        <p:nvSpPr>
          <p:cNvPr id="129" name="Rectangle 128"/>
          <p:cNvSpPr/>
          <p:nvPr/>
        </p:nvSpPr>
        <p:spPr>
          <a:xfrm>
            <a:off x="4206240" y="3886200"/>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30" name="Rectangle 129"/>
          <p:cNvSpPr/>
          <p:nvPr/>
        </p:nvSpPr>
        <p:spPr>
          <a:xfrm>
            <a:off x="4206240" y="3977639"/>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131" name="Connector 130"/>
          <p:cNvCxnSpPr/>
          <p:nvPr/>
        </p:nvCxnSpPr>
        <p:spPr>
          <a:xfrm>
            <a:off x="1737360" y="2578608"/>
            <a:ext cx="0" cy="5760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2" name="Oval 131"/>
          <p:cNvSpPr/>
          <p:nvPr/>
        </p:nvSpPr>
        <p:spPr>
          <a:xfrm>
            <a:off x="1659636" y="278892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sp>
        <p:nvSpPr>
          <p:cNvPr id="133" name="TextBox 132"/>
          <p:cNvSpPr txBox="1"/>
          <p:nvPr/>
        </p:nvSpPr>
        <p:spPr>
          <a:xfrm>
            <a:off x="1828800" y="2610611"/>
            <a:ext cx="82296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계산 중 접근</a:t>
            </a:r>
          </a:p>
        </p:txBody>
      </p:sp>
      <p:cxnSp>
        <p:nvCxnSpPr>
          <p:cNvPr id="134" name="Connector 133"/>
          <p:cNvCxnSpPr/>
          <p:nvPr/>
        </p:nvCxnSpPr>
        <p:spPr>
          <a:xfrm>
            <a:off x="3566160" y="2578608"/>
            <a:ext cx="0" cy="5760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3488436" y="278892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sp>
        <p:nvSpPr>
          <p:cNvPr id="136" name="TextBox 135"/>
          <p:cNvSpPr txBox="1"/>
          <p:nvPr/>
        </p:nvSpPr>
        <p:spPr>
          <a:xfrm>
            <a:off x="3657600" y="2610611"/>
            <a:ext cx="4572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접근</a:t>
            </a:r>
          </a:p>
        </p:txBody>
      </p:sp>
      <p:cxnSp>
        <p:nvCxnSpPr>
          <p:cNvPr id="137" name="Connector 136"/>
          <p:cNvCxnSpPr/>
          <p:nvPr/>
        </p:nvCxnSpPr>
        <p:spPr>
          <a:xfrm>
            <a:off x="4718304" y="2578608"/>
            <a:ext cx="0" cy="25603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8" name="Oval 137"/>
          <p:cNvSpPr/>
          <p:nvPr/>
        </p:nvSpPr>
        <p:spPr>
          <a:xfrm>
            <a:off x="4640580" y="262890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3</a:t>
            </a:r>
          </a:p>
        </p:txBody>
      </p:sp>
      <p:sp>
        <p:nvSpPr>
          <p:cNvPr id="139" name="TextBox 138"/>
          <p:cNvSpPr txBox="1"/>
          <p:nvPr/>
        </p:nvSpPr>
        <p:spPr>
          <a:xfrm>
            <a:off x="4809744" y="2615184"/>
            <a:ext cx="4572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접근</a:t>
            </a:r>
          </a:p>
        </p:txBody>
      </p:sp>
      <p:cxnSp>
        <p:nvCxnSpPr>
          <p:cNvPr id="140" name="Connector 139"/>
          <p:cNvCxnSpPr/>
          <p:nvPr/>
        </p:nvCxnSpPr>
        <p:spPr>
          <a:xfrm>
            <a:off x="2039112" y="3611880"/>
            <a:ext cx="585216" cy="0"/>
          </a:xfrm>
          <a:prstGeom prst="line">
            <a:avLst/>
          </a:prstGeom>
          <a:ln w="15875">
            <a:solidFill>
              <a:srgbClr val="2E75B6"/>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1" name="Oval 140"/>
          <p:cNvSpPr/>
          <p:nvPr/>
        </p:nvSpPr>
        <p:spPr>
          <a:xfrm>
            <a:off x="2253996" y="3534156"/>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4</a:t>
            </a:r>
          </a:p>
        </p:txBody>
      </p:sp>
      <p:sp>
        <p:nvSpPr>
          <p:cNvPr id="142" name="TextBox 141"/>
          <p:cNvSpPr txBox="1"/>
          <p:nvPr/>
        </p:nvSpPr>
        <p:spPr>
          <a:xfrm>
            <a:off x="2103120" y="3703320"/>
            <a:ext cx="548640" cy="164592"/>
          </a:xfrm>
          <a:prstGeom prst="rect">
            <a:avLst/>
          </a:prstGeom>
          <a:noFill/>
        </p:spPr>
        <p:txBody>
          <a:bodyPr wrap="square" lIns="0" tIns="0" rIns="0" bIns="0" anchor="t">
            <a:spAutoFit/>
          </a:bodyPr>
          <a:lstStyle/>
          <a:p>
            <a:pPr algn="ctr"/>
            <a:r>
              <a:rPr sz="700" b="1" i="0">
                <a:solidFill>
                  <a:srgbClr val="2E75B6"/>
                </a:solidFill>
                <a:latin typeface="맑은 고딕"/>
                <a:ea typeface="맑은 고딕"/>
              </a:rPr>
              <a:t>PCIe</a:t>
            </a:r>
          </a:p>
        </p:txBody>
      </p:sp>
      <p:cxnSp>
        <p:nvCxnSpPr>
          <p:cNvPr id="143" name="Connector 142"/>
          <p:cNvCxnSpPr/>
          <p:nvPr/>
        </p:nvCxnSpPr>
        <p:spPr>
          <a:xfrm>
            <a:off x="3721608" y="3611880"/>
            <a:ext cx="530352"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44" name="Oval 143"/>
          <p:cNvSpPr/>
          <p:nvPr/>
        </p:nvSpPr>
        <p:spPr>
          <a:xfrm>
            <a:off x="3909060" y="3534156"/>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5</a:t>
            </a:r>
          </a:p>
        </p:txBody>
      </p:sp>
      <p:sp>
        <p:nvSpPr>
          <p:cNvPr id="145" name="TextBox 144"/>
          <p:cNvSpPr txBox="1"/>
          <p:nvPr/>
        </p:nvSpPr>
        <p:spPr>
          <a:xfrm>
            <a:off x="3721608" y="3703320"/>
            <a:ext cx="548640" cy="164592"/>
          </a:xfrm>
          <a:prstGeom prst="rect">
            <a:avLst/>
          </a:prstGeom>
          <a:noFill/>
        </p:spPr>
        <p:txBody>
          <a:bodyPr wrap="square" lIns="0" tIns="0" rIns="0" bIns="0" anchor="t">
            <a:spAutoFit/>
          </a:bodyPr>
          <a:lstStyle/>
          <a:p>
            <a:pPr algn="ctr"/>
            <a:r>
              <a:rPr sz="700" b="1" i="0">
                <a:solidFill>
                  <a:srgbClr val="C55A11"/>
                </a:solidFill>
                <a:latin typeface="맑은 고딕"/>
                <a:ea typeface="맑은 고딕"/>
              </a:rPr>
              <a:t>확장</a:t>
            </a:r>
          </a:p>
        </p:txBody>
      </p:sp>
      <p:sp>
        <p:nvSpPr>
          <p:cNvPr id="146" name="TextBox 145"/>
          <p:cNvSpPr txBox="1"/>
          <p:nvPr/>
        </p:nvSpPr>
        <p:spPr>
          <a:xfrm>
            <a:off x="731520" y="4288536"/>
            <a:ext cx="4937760" cy="155448"/>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④⑤ KV 캐시가 메모리 계층 사이를 이동 (자주 쓰는 것은 위로, 오래된 것은 아래로)</a:t>
            </a:r>
          </a:p>
        </p:txBody>
      </p:sp>
      <p:sp>
        <p:nvSpPr>
          <p:cNvPr id="147" name="TextBox 146"/>
          <p:cNvSpPr txBox="1"/>
          <p:nvPr/>
        </p:nvSpPr>
        <p:spPr>
          <a:xfrm>
            <a:off x="566928" y="4453128"/>
            <a:ext cx="86868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빠름 · 작음</a:t>
            </a:r>
          </a:p>
        </p:txBody>
      </p:sp>
      <p:cxnSp>
        <p:nvCxnSpPr>
          <p:cNvPr id="148" name="Connector 147"/>
          <p:cNvCxnSpPr/>
          <p:nvPr/>
        </p:nvCxnSpPr>
        <p:spPr>
          <a:xfrm>
            <a:off x="1371600" y="4544568"/>
            <a:ext cx="3383280" cy="0"/>
          </a:xfrm>
          <a:prstGeom prst="line">
            <a:avLst/>
          </a:prstGeom>
          <a:ln w="15875">
            <a:solidFill>
              <a:srgbClr val="40404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4800600" y="4453128"/>
            <a:ext cx="9144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느림 · 큼</a:t>
            </a:r>
          </a:p>
        </p:txBody>
      </p:sp>
      <p:sp>
        <p:nvSpPr>
          <p:cNvPr id="150" name="Rectangle 149"/>
          <p:cNvSpPr/>
          <p:nvPr/>
        </p:nvSpPr>
        <p:spPr>
          <a:xfrm>
            <a:off x="502920" y="4754880"/>
            <a:ext cx="5257800" cy="1024128"/>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1" name="TextBox 150"/>
          <p:cNvSpPr txBox="1"/>
          <p:nvPr/>
        </p:nvSpPr>
        <p:spPr>
          <a:xfrm>
            <a:off x="621792" y="4782312"/>
            <a:ext cx="5074920" cy="987552"/>
          </a:xfrm>
          <a:prstGeom prst="rect">
            <a:avLst/>
          </a:prstGeom>
          <a:noFill/>
        </p:spPr>
        <p:txBody>
          <a:bodyPr wrap="square" lIns="0" tIns="0" rIns="0" bIns="0" anchor="t">
            <a:spAutoFit/>
          </a:bodyPr>
          <a:lstStyle/>
          <a:p>
            <a:pPr algn="l">
              <a:lnSpc>
                <a:spcPct val="110000"/>
              </a:lnSpc>
            </a:pPr>
            <a:r>
              <a:rPr sz="950" b="1" i="0">
                <a:solidFill>
                  <a:srgbClr val="2E75B6"/>
                </a:solidFill>
                <a:latin typeface="맑은 고딕"/>
                <a:ea typeface="맑은 고딕"/>
              </a:rPr>
              <a:t>DP1~DP4 = 서버 1대 안에서 내리는 결정 (서버 내부 결정)</a:t>
            </a:r>
          </a:p>
          <a:p>
            <a:pPr algn="l">
              <a:lnSpc>
                <a:spcPct val="110000"/>
              </a:lnSpc>
            </a:pPr>
            <a:r>
              <a:rPr sz="850" b="0" i="0">
                <a:solidFill>
                  <a:srgbClr val="404040"/>
                </a:solidFill>
                <a:latin typeface="맑은 고딕"/>
                <a:ea typeface="맑은 고딕"/>
              </a:rPr>
              <a:t>· DP1  이기종 메모리 기반 AI 데이터 배치: 어떤 데이터를 어느 메모리에?</a:t>
            </a:r>
          </a:p>
          <a:p>
            <a:pPr algn="l">
              <a:lnSpc>
                <a:spcPct val="110000"/>
              </a:lnSpc>
            </a:pPr>
            <a:r>
              <a:rPr sz="850" b="0" i="0">
                <a:solidFill>
                  <a:srgbClr val="404040"/>
                </a:solidFill>
                <a:latin typeface="맑은 고딕"/>
                <a:ea typeface="맑은 고딕"/>
              </a:rPr>
              <a:t>· DP2  Prefill(입력 처리) 실행: 어느 연산 자원에서?</a:t>
            </a:r>
          </a:p>
          <a:p>
            <a:pPr algn="l">
              <a:lnSpc>
                <a:spcPct val="110000"/>
              </a:lnSpc>
            </a:pPr>
            <a:r>
              <a:rPr sz="850" b="0" i="0">
                <a:solidFill>
                  <a:srgbClr val="404040"/>
                </a:solidFill>
                <a:latin typeface="맑은 고딕"/>
                <a:ea typeface="맑은 고딕"/>
              </a:rPr>
              <a:t>· DP3  Long Context KV Eviction &amp; Reuse  · DP4  Agent Tool-wait KV residency</a:t>
            </a:r>
          </a:p>
          <a:p>
            <a:pPr algn="l">
              <a:lnSpc>
                <a:spcPct val="110000"/>
              </a:lnSpc>
            </a:pPr>
            <a:r>
              <a:rPr sz="750" b="0" i="0">
                <a:solidFill>
                  <a:srgbClr val="404040"/>
                </a:solidFill>
                <a:latin typeface="맑은 고딕"/>
                <a:ea typeface="맑은 고딕"/>
              </a:rPr>
              <a:t>vLLM은 GPU 여러 장을 써도 '서버 내부 병렬화'까지만 담당</a:t>
            </a:r>
          </a:p>
        </p:txBody>
      </p:sp>
      <p:sp>
        <p:nvSpPr>
          <p:cNvPr id="152" name="TextBox 151"/>
          <p:cNvSpPr txBox="1"/>
          <p:nvPr/>
        </p:nvSpPr>
        <p:spPr>
          <a:xfrm>
            <a:off x="6327648" y="1152144"/>
            <a:ext cx="5394960" cy="640080"/>
          </a:xfrm>
          <a:prstGeom prst="rect">
            <a:avLst/>
          </a:prstGeom>
          <a:noFill/>
        </p:spPr>
        <p:txBody>
          <a:bodyPr wrap="square" lIns="0" tIns="0" rIns="0" bIns="0" anchor="t">
            <a:spAutoFit/>
          </a:bodyPr>
          <a:lstStyle/>
          <a:p>
            <a:pPr algn="l">
              <a:lnSpc>
                <a:spcPct val="112000"/>
              </a:lnSpc>
            </a:pPr>
            <a:r>
              <a:rPr sz="1050" b="1" i="0">
                <a:solidFill>
                  <a:srgbClr val="C55A11"/>
                </a:solidFill>
                <a:latin typeface="맑은 고딕"/>
                <a:ea typeface="맑은 고딕"/>
              </a:rPr>
              <a:t>✓ </a:t>
            </a:r>
            <a:r>
              <a:rPr sz="1050" b="0" i="0">
                <a:solidFill>
                  <a:srgbClr val="404040"/>
                </a:solidFill>
                <a:latin typeface="맑은 고딕"/>
                <a:ea typeface="맑은 고딕"/>
              </a:rPr>
              <a:t>서버·GPU가 여러 대 → </a:t>
            </a:r>
            <a:r>
              <a:rPr sz="1050" b="1" i="0">
                <a:solidFill>
                  <a:srgbClr val="C55A11"/>
                </a:solidFill>
                <a:latin typeface="맑은 고딕"/>
                <a:ea typeface="맑은 고딕"/>
              </a:rPr>
              <a:t>서버마다 메모리 사용 상태·KV 캐시 보유 상태가 다름</a:t>
            </a:r>
          </a:p>
          <a:p>
            <a:pPr algn="l">
              <a:lnSpc>
                <a:spcPct val="112000"/>
              </a:lnSpc>
            </a:pPr>
            <a:r>
              <a:rPr sz="1050" b="1" i="0">
                <a:solidFill>
                  <a:srgbClr val="C55A11"/>
                </a:solidFill>
                <a:latin typeface="맑은 고딕"/>
                <a:ea typeface="맑은 고딕"/>
              </a:rPr>
              <a:t>✓ </a:t>
            </a:r>
            <a:r>
              <a:rPr sz="1050" b="0" i="0">
                <a:solidFill>
                  <a:srgbClr val="404040"/>
                </a:solidFill>
                <a:latin typeface="맑은 고딕"/>
                <a:ea typeface="맑은 고딕"/>
              </a:rPr>
              <a:t>같은 요청도 </a:t>
            </a:r>
            <a:r>
              <a:rPr sz="1050" b="1" i="0">
                <a:solidFill>
                  <a:srgbClr val="C55A11"/>
                </a:solidFill>
                <a:latin typeface="맑은 고딕"/>
                <a:ea typeface="맑은 고딕"/>
              </a:rPr>
              <a:t>어느 서버로 보내느냐</a:t>
            </a:r>
            <a:r>
              <a:rPr sz="1050" b="0" i="0">
                <a:solidFill>
                  <a:srgbClr val="404040"/>
                </a:solidFill>
                <a:latin typeface="맑은 고딕"/>
                <a:ea typeface="맑은 고딕"/>
              </a:rPr>
              <a:t>에 따라 성능이 달라짐</a:t>
            </a:r>
          </a:p>
        </p:txBody>
      </p:sp>
      <p:sp>
        <p:nvSpPr>
          <p:cNvPr id="153" name="Rectangle 152"/>
          <p:cNvSpPr/>
          <p:nvPr/>
        </p:nvSpPr>
        <p:spPr>
          <a:xfrm>
            <a:off x="6355080" y="1847088"/>
            <a:ext cx="5394960" cy="2788920"/>
          </a:xfrm>
          <a:prstGeom prst="rect">
            <a:avLst/>
          </a:prstGeom>
          <a:solidFill>
            <a:srgbClr val="FFFFFF"/>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4" name="Rounded Rectangle 153"/>
          <p:cNvSpPr/>
          <p:nvPr/>
        </p:nvSpPr>
        <p:spPr>
          <a:xfrm>
            <a:off x="6446520" y="2240280"/>
            <a:ext cx="713232" cy="310896"/>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tIns="9144" rIns="9144" bIns="9144"/>
          <a:lstStyle/>
          <a:p>
            <a:pPr algn="ctr"/>
            <a:r>
              <a:rPr sz="800" b="1" i="0">
                <a:solidFill>
                  <a:srgbClr val="000000"/>
                </a:solidFill>
                <a:latin typeface="맑은 고딕"/>
                <a:ea typeface="맑은 고딕"/>
              </a:rPr>
              <a:t>Request</a:t>
            </a:r>
          </a:p>
        </p:txBody>
      </p:sp>
      <p:cxnSp>
        <p:nvCxnSpPr>
          <p:cNvPr id="155" name="Connector 154"/>
          <p:cNvCxnSpPr/>
          <p:nvPr/>
        </p:nvCxnSpPr>
        <p:spPr>
          <a:xfrm>
            <a:off x="7159752" y="2395728"/>
            <a:ext cx="24688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56" name="Oval 155"/>
          <p:cNvSpPr/>
          <p:nvPr/>
        </p:nvSpPr>
        <p:spPr>
          <a:xfrm>
            <a:off x="7205472" y="23180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sp>
        <p:nvSpPr>
          <p:cNvPr id="157" name="Rectangle 156"/>
          <p:cNvSpPr/>
          <p:nvPr/>
        </p:nvSpPr>
        <p:spPr>
          <a:xfrm>
            <a:off x="7406640" y="1920240"/>
            <a:ext cx="4251960" cy="914400"/>
          </a:xfrm>
          <a:prstGeom prst="rect">
            <a:avLst/>
          </a:prstGeom>
          <a:solidFill>
            <a:srgbClr val="FFFFFF"/>
          </a:solidFill>
          <a:ln w="15875">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8" name="Rectangle 157"/>
          <p:cNvSpPr/>
          <p:nvPr/>
        </p:nvSpPr>
        <p:spPr>
          <a:xfrm>
            <a:off x="7406640" y="1920240"/>
            <a:ext cx="3657600"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50" b="1" i="0">
                <a:solidFill>
                  <a:srgbClr val="FFFFFF"/>
                </a:solidFill>
                <a:latin typeface="맑은 고딕"/>
                <a:ea typeface="맑은 고딕"/>
              </a:rPr>
              <a:t>«layer» 요청 조율 계층 (Orchestration) - 현재 공백</a:t>
            </a:r>
          </a:p>
        </p:txBody>
      </p:sp>
      <p:sp>
        <p:nvSpPr>
          <p:cNvPr id="159" name="Rectangle 158"/>
          <p:cNvSpPr/>
          <p:nvPr/>
        </p:nvSpPr>
        <p:spPr>
          <a:xfrm>
            <a:off x="7543800"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00" b="1" i="0">
                <a:solidFill>
                  <a:srgbClr val="000000"/>
                </a:solidFill>
                <a:latin typeface="맑은 고딕"/>
                <a:ea typeface="맑은 고딕"/>
              </a:rPr>
              <a:t>요청 라우팅</a:t>
            </a:r>
          </a:p>
        </p:txBody>
      </p:sp>
      <p:sp>
        <p:nvSpPr>
          <p:cNvPr id="160" name="Rectangle 159"/>
          <p:cNvSpPr/>
          <p:nvPr/>
        </p:nvSpPr>
        <p:spPr>
          <a:xfrm>
            <a:off x="7498079"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61" name="Rectangle 160"/>
          <p:cNvSpPr/>
          <p:nvPr/>
        </p:nvSpPr>
        <p:spPr>
          <a:xfrm>
            <a:off x="7498079"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62" name="Rectangle 161"/>
          <p:cNvSpPr/>
          <p:nvPr/>
        </p:nvSpPr>
        <p:spPr>
          <a:xfrm>
            <a:off x="8567928"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00" b="1" i="0">
                <a:solidFill>
                  <a:srgbClr val="000000"/>
                </a:solidFill>
                <a:latin typeface="맑은 고딕"/>
                <a:ea typeface="맑은 고딕"/>
              </a:rPr>
              <a:t>P/D 분리 배치</a:t>
            </a:r>
          </a:p>
        </p:txBody>
      </p:sp>
      <p:sp>
        <p:nvSpPr>
          <p:cNvPr id="163" name="Rectangle 162"/>
          <p:cNvSpPr/>
          <p:nvPr/>
        </p:nvSpPr>
        <p:spPr>
          <a:xfrm>
            <a:off x="8522208"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64" name="Rectangle 163"/>
          <p:cNvSpPr/>
          <p:nvPr/>
        </p:nvSpPr>
        <p:spPr>
          <a:xfrm>
            <a:off x="8522208"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65" name="Rectangle 164"/>
          <p:cNvSpPr/>
          <p:nvPr/>
        </p:nvSpPr>
        <p:spPr>
          <a:xfrm>
            <a:off x="9592056"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00" b="1" i="0">
                <a:solidFill>
                  <a:srgbClr val="000000"/>
                </a:solidFill>
                <a:latin typeface="맑은 고딕"/>
                <a:ea typeface="맑은 고딕"/>
              </a:rPr>
              <a:t>KV 공유</a:t>
            </a:r>
          </a:p>
        </p:txBody>
      </p:sp>
      <p:sp>
        <p:nvSpPr>
          <p:cNvPr id="166" name="Rectangle 165"/>
          <p:cNvSpPr/>
          <p:nvPr/>
        </p:nvSpPr>
        <p:spPr>
          <a:xfrm>
            <a:off x="9546336"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67" name="Rectangle 166"/>
          <p:cNvSpPr/>
          <p:nvPr/>
        </p:nvSpPr>
        <p:spPr>
          <a:xfrm>
            <a:off x="9546336"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68" name="Rectangle 167"/>
          <p:cNvSpPr/>
          <p:nvPr/>
        </p:nvSpPr>
        <p:spPr>
          <a:xfrm>
            <a:off x="10616184"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00" b="1" i="0">
                <a:solidFill>
                  <a:srgbClr val="000000"/>
                </a:solidFill>
                <a:latin typeface="맑은 고딕"/>
                <a:ea typeface="맑은 고딕"/>
              </a:rPr>
              <a:t>서버 발견·확장</a:t>
            </a:r>
          </a:p>
        </p:txBody>
      </p:sp>
      <p:sp>
        <p:nvSpPr>
          <p:cNvPr id="169" name="Rectangle 168"/>
          <p:cNvSpPr/>
          <p:nvPr/>
        </p:nvSpPr>
        <p:spPr>
          <a:xfrm>
            <a:off x="10570463"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0" name="Rectangle 169"/>
          <p:cNvSpPr/>
          <p:nvPr/>
        </p:nvSpPr>
        <p:spPr>
          <a:xfrm>
            <a:off x="10570463"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1" name="Rectangle 170"/>
          <p:cNvSpPr/>
          <p:nvPr/>
        </p:nvSpPr>
        <p:spPr>
          <a:xfrm>
            <a:off x="6446520" y="3090672"/>
            <a:ext cx="5212080" cy="1499616"/>
          </a:xfrm>
          <a:prstGeom prst="rect">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2" name="Rectangle 171"/>
          <p:cNvSpPr/>
          <p:nvPr/>
        </p:nvSpPr>
        <p:spPr>
          <a:xfrm>
            <a:off x="6446520" y="3090672"/>
            <a:ext cx="75712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50" b="1" i="0">
                <a:solidFill>
                  <a:srgbClr val="FFFFFF"/>
                </a:solidFill>
                <a:latin typeface="맑은 고딕"/>
                <a:ea typeface="맑은 고딕"/>
              </a:rPr>
              <a:t>«rack» Rack</a:t>
            </a:r>
          </a:p>
        </p:txBody>
      </p:sp>
      <p:sp>
        <p:nvSpPr>
          <p:cNvPr id="173" name="Rectangle 172"/>
          <p:cNvSpPr/>
          <p:nvPr/>
        </p:nvSpPr>
        <p:spPr>
          <a:xfrm>
            <a:off x="6528816"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4" name="Rectangle 173"/>
          <p:cNvSpPr/>
          <p:nvPr/>
        </p:nvSpPr>
        <p:spPr>
          <a:xfrm>
            <a:off x="6528816"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«server» 서버 1 (vLLM)</a:t>
            </a:r>
          </a:p>
        </p:txBody>
      </p:sp>
      <p:sp>
        <p:nvSpPr>
          <p:cNvPr id="175" name="Rectangle 174"/>
          <p:cNvSpPr/>
          <p:nvPr/>
        </p:nvSpPr>
        <p:spPr>
          <a:xfrm>
            <a:off x="7498079"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00" b="1" i="0">
                <a:solidFill>
                  <a:srgbClr val="C55A11"/>
                </a:solidFill>
                <a:latin typeface="맑은 고딕"/>
                <a:ea typeface="맑은 고딕"/>
              </a:rPr>
              <a:t>KV-A</a:t>
            </a:r>
          </a:p>
        </p:txBody>
      </p:sp>
      <p:sp>
        <p:nvSpPr>
          <p:cNvPr id="176" name="TextBox 175"/>
          <p:cNvSpPr txBox="1"/>
          <p:nvPr/>
        </p:nvSpPr>
        <p:spPr>
          <a:xfrm>
            <a:off x="6565392"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177" name="Rectangle 176"/>
          <p:cNvSpPr/>
          <p:nvPr/>
        </p:nvSpPr>
        <p:spPr>
          <a:xfrm>
            <a:off x="6976872"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8" name="Rectangle 177"/>
          <p:cNvSpPr/>
          <p:nvPr/>
        </p:nvSpPr>
        <p:spPr>
          <a:xfrm>
            <a:off x="6976872" y="3721608"/>
            <a:ext cx="94640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9" name="TextBox 178"/>
          <p:cNvSpPr txBox="1"/>
          <p:nvPr/>
        </p:nvSpPr>
        <p:spPr>
          <a:xfrm>
            <a:off x="6565392"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180" name="Rectangle 179"/>
          <p:cNvSpPr/>
          <p:nvPr/>
        </p:nvSpPr>
        <p:spPr>
          <a:xfrm>
            <a:off x="6976872"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1" name="Rectangle 180"/>
          <p:cNvSpPr/>
          <p:nvPr/>
        </p:nvSpPr>
        <p:spPr>
          <a:xfrm>
            <a:off x="6976872" y="3904488"/>
            <a:ext cx="42062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2" name="TextBox 181"/>
          <p:cNvSpPr txBox="1"/>
          <p:nvPr/>
        </p:nvSpPr>
        <p:spPr>
          <a:xfrm>
            <a:off x="6565392"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183" name="Rectangle 182"/>
          <p:cNvSpPr/>
          <p:nvPr/>
        </p:nvSpPr>
        <p:spPr>
          <a:xfrm>
            <a:off x="6976872"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4" name="Rectangle 183"/>
          <p:cNvSpPr/>
          <p:nvPr/>
        </p:nvSpPr>
        <p:spPr>
          <a:xfrm>
            <a:off x="6976872" y="4087368"/>
            <a:ext cx="105156"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5" name="TextBox 184"/>
          <p:cNvSpPr txBox="1"/>
          <p:nvPr/>
        </p:nvSpPr>
        <p:spPr>
          <a:xfrm>
            <a:off x="6601968"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186" name="Connector 185"/>
          <p:cNvCxnSpPr/>
          <p:nvPr/>
        </p:nvCxnSpPr>
        <p:spPr>
          <a:xfrm>
            <a:off x="7351775"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187" name="Oval 186"/>
          <p:cNvSpPr/>
          <p:nvPr/>
        </p:nvSpPr>
        <p:spPr>
          <a:xfrm>
            <a:off x="7274051"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cxnSp>
        <p:nvCxnSpPr>
          <p:cNvPr id="188" name="Connector 187"/>
          <p:cNvCxnSpPr/>
          <p:nvPr/>
        </p:nvCxnSpPr>
        <p:spPr>
          <a:xfrm flipV="1">
            <a:off x="7808975"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9" name="Oval 188"/>
          <p:cNvSpPr/>
          <p:nvPr/>
        </p:nvSpPr>
        <p:spPr>
          <a:xfrm>
            <a:off x="7731251"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3</a:t>
            </a:r>
          </a:p>
        </p:txBody>
      </p:sp>
      <p:sp>
        <p:nvSpPr>
          <p:cNvPr id="190" name="Rectangle 189"/>
          <p:cNvSpPr/>
          <p:nvPr/>
        </p:nvSpPr>
        <p:spPr>
          <a:xfrm>
            <a:off x="8284463"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1" name="Rectangle 190"/>
          <p:cNvSpPr/>
          <p:nvPr/>
        </p:nvSpPr>
        <p:spPr>
          <a:xfrm>
            <a:off x="8284463"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«server» 서버 2 (vLLM)</a:t>
            </a:r>
          </a:p>
        </p:txBody>
      </p:sp>
      <p:sp>
        <p:nvSpPr>
          <p:cNvPr id="192" name="Rectangle 191"/>
          <p:cNvSpPr/>
          <p:nvPr/>
        </p:nvSpPr>
        <p:spPr>
          <a:xfrm>
            <a:off x="9253728"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00" b="1" i="0">
                <a:solidFill>
                  <a:srgbClr val="C55A11"/>
                </a:solidFill>
                <a:latin typeface="맑은 고딕"/>
                <a:ea typeface="맑은 고딕"/>
              </a:rPr>
              <a:t>KV-B</a:t>
            </a:r>
          </a:p>
        </p:txBody>
      </p:sp>
      <p:sp>
        <p:nvSpPr>
          <p:cNvPr id="193" name="TextBox 192"/>
          <p:cNvSpPr txBox="1"/>
          <p:nvPr/>
        </p:nvSpPr>
        <p:spPr>
          <a:xfrm>
            <a:off x="8321039"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194" name="Rectangle 193"/>
          <p:cNvSpPr/>
          <p:nvPr/>
        </p:nvSpPr>
        <p:spPr>
          <a:xfrm>
            <a:off x="8732519"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5" name="Rectangle 194"/>
          <p:cNvSpPr/>
          <p:nvPr/>
        </p:nvSpPr>
        <p:spPr>
          <a:xfrm>
            <a:off x="8732519" y="3721608"/>
            <a:ext cx="42062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6" name="TextBox 195"/>
          <p:cNvSpPr txBox="1"/>
          <p:nvPr/>
        </p:nvSpPr>
        <p:spPr>
          <a:xfrm>
            <a:off x="8321039"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197" name="Rectangle 196"/>
          <p:cNvSpPr/>
          <p:nvPr/>
        </p:nvSpPr>
        <p:spPr>
          <a:xfrm>
            <a:off x="8732519"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8" name="Rectangle 197"/>
          <p:cNvSpPr/>
          <p:nvPr/>
        </p:nvSpPr>
        <p:spPr>
          <a:xfrm>
            <a:off x="8732519" y="3904488"/>
            <a:ext cx="893826"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9" name="TextBox 198"/>
          <p:cNvSpPr txBox="1"/>
          <p:nvPr/>
        </p:nvSpPr>
        <p:spPr>
          <a:xfrm>
            <a:off x="8321039"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200" name="Rectangle 199"/>
          <p:cNvSpPr/>
          <p:nvPr/>
        </p:nvSpPr>
        <p:spPr>
          <a:xfrm>
            <a:off x="8732519"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01" name="Rectangle 200"/>
          <p:cNvSpPr/>
          <p:nvPr/>
        </p:nvSpPr>
        <p:spPr>
          <a:xfrm>
            <a:off x="8732519" y="4087368"/>
            <a:ext cx="525780"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02" name="TextBox 201"/>
          <p:cNvSpPr txBox="1"/>
          <p:nvPr/>
        </p:nvSpPr>
        <p:spPr>
          <a:xfrm>
            <a:off x="8357615"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203" name="Connector 202"/>
          <p:cNvCxnSpPr/>
          <p:nvPr/>
        </p:nvCxnSpPr>
        <p:spPr>
          <a:xfrm>
            <a:off x="9107424"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04" name="Oval 203"/>
          <p:cNvSpPr/>
          <p:nvPr/>
        </p:nvSpPr>
        <p:spPr>
          <a:xfrm>
            <a:off x="9029699"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cxnSp>
        <p:nvCxnSpPr>
          <p:cNvPr id="205" name="Connector 204"/>
          <p:cNvCxnSpPr/>
          <p:nvPr/>
        </p:nvCxnSpPr>
        <p:spPr>
          <a:xfrm flipV="1">
            <a:off x="9564624"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6" name="Oval 205"/>
          <p:cNvSpPr/>
          <p:nvPr/>
        </p:nvSpPr>
        <p:spPr>
          <a:xfrm>
            <a:off x="9486899"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3</a:t>
            </a:r>
          </a:p>
        </p:txBody>
      </p:sp>
      <p:sp>
        <p:nvSpPr>
          <p:cNvPr id="207" name="Rectangle 206"/>
          <p:cNvSpPr/>
          <p:nvPr/>
        </p:nvSpPr>
        <p:spPr>
          <a:xfrm>
            <a:off x="10040112"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08" name="Rectangle 207"/>
          <p:cNvSpPr/>
          <p:nvPr/>
        </p:nvSpPr>
        <p:spPr>
          <a:xfrm>
            <a:off x="10040112"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«server» 서버 3 (vLLM)</a:t>
            </a:r>
          </a:p>
        </p:txBody>
      </p:sp>
      <p:sp>
        <p:nvSpPr>
          <p:cNvPr id="209" name="Rectangle 208"/>
          <p:cNvSpPr/>
          <p:nvPr/>
        </p:nvSpPr>
        <p:spPr>
          <a:xfrm>
            <a:off x="11009376"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00" b="1" i="0">
                <a:solidFill>
                  <a:srgbClr val="C55A11"/>
                </a:solidFill>
                <a:latin typeface="맑은 고딕"/>
                <a:ea typeface="맑은 고딕"/>
              </a:rPr>
              <a:t>KV-A</a:t>
            </a:r>
          </a:p>
        </p:txBody>
      </p:sp>
      <p:sp>
        <p:nvSpPr>
          <p:cNvPr id="210" name="TextBox 209"/>
          <p:cNvSpPr txBox="1"/>
          <p:nvPr/>
        </p:nvSpPr>
        <p:spPr>
          <a:xfrm>
            <a:off x="10076688"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211" name="Rectangle 210"/>
          <p:cNvSpPr/>
          <p:nvPr/>
        </p:nvSpPr>
        <p:spPr>
          <a:xfrm>
            <a:off x="10488168"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12" name="Rectangle 211"/>
          <p:cNvSpPr/>
          <p:nvPr/>
        </p:nvSpPr>
        <p:spPr>
          <a:xfrm>
            <a:off x="10488168" y="3721608"/>
            <a:ext cx="210312"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13" name="TextBox 212"/>
          <p:cNvSpPr txBox="1"/>
          <p:nvPr/>
        </p:nvSpPr>
        <p:spPr>
          <a:xfrm>
            <a:off x="10076688"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214" name="Rectangle 213"/>
          <p:cNvSpPr/>
          <p:nvPr/>
        </p:nvSpPr>
        <p:spPr>
          <a:xfrm>
            <a:off x="10488168"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15" name="Rectangle 214"/>
          <p:cNvSpPr/>
          <p:nvPr/>
        </p:nvSpPr>
        <p:spPr>
          <a:xfrm>
            <a:off x="10488168" y="3904488"/>
            <a:ext cx="262890"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16" name="TextBox 215"/>
          <p:cNvSpPr txBox="1"/>
          <p:nvPr/>
        </p:nvSpPr>
        <p:spPr>
          <a:xfrm>
            <a:off x="10076688"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217" name="Rectangle 216"/>
          <p:cNvSpPr/>
          <p:nvPr/>
        </p:nvSpPr>
        <p:spPr>
          <a:xfrm>
            <a:off x="10488168"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18" name="Rectangle 217"/>
          <p:cNvSpPr/>
          <p:nvPr/>
        </p:nvSpPr>
        <p:spPr>
          <a:xfrm>
            <a:off x="10488168" y="4087368"/>
            <a:ext cx="946404"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19" name="TextBox 218"/>
          <p:cNvSpPr txBox="1"/>
          <p:nvPr/>
        </p:nvSpPr>
        <p:spPr>
          <a:xfrm>
            <a:off x="10113264"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220" name="Connector 219"/>
          <p:cNvCxnSpPr/>
          <p:nvPr/>
        </p:nvCxnSpPr>
        <p:spPr>
          <a:xfrm>
            <a:off x="10863072"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21" name="Oval 220"/>
          <p:cNvSpPr/>
          <p:nvPr/>
        </p:nvSpPr>
        <p:spPr>
          <a:xfrm>
            <a:off x="10785348"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cxnSp>
        <p:nvCxnSpPr>
          <p:cNvPr id="222" name="Connector 221"/>
          <p:cNvCxnSpPr/>
          <p:nvPr/>
        </p:nvCxnSpPr>
        <p:spPr>
          <a:xfrm flipV="1">
            <a:off x="11320272"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23" name="Oval 222"/>
          <p:cNvSpPr/>
          <p:nvPr/>
        </p:nvSpPr>
        <p:spPr>
          <a:xfrm>
            <a:off x="11242548"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3</a:t>
            </a:r>
          </a:p>
        </p:txBody>
      </p:sp>
      <p:cxnSp>
        <p:nvCxnSpPr>
          <p:cNvPr id="224" name="Connector 223"/>
          <p:cNvCxnSpPr/>
          <p:nvPr/>
        </p:nvCxnSpPr>
        <p:spPr>
          <a:xfrm>
            <a:off x="8074152" y="4023360"/>
            <a:ext cx="219456"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9829799" y="4023360"/>
            <a:ext cx="219456"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226" name="TextBox 225"/>
          <p:cNvSpPr txBox="1"/>
          <p:nvPr/>
        </p:nvSpPr>
        <p:spPr>
          <a:xfrm>
            <a:off x="6492240" y="4370832"/>
            <a:ext cx="5120640" cy="18288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서버 간 KV 캐시 전송 (NIXL, 점선)  ·  서버마다 메모리 점유율·보유 KV가 다름</a:t>
            </a:r>
          </a:p>
        </p:txBody>
      </p:sp>
      <p:sp>
        <p:nvSpPr>
          <p:cNvPr id="227" name="Rectangle 226"/>
          <p:cNvSpPr/>
          <p:nvPr/>
        </p:nvSpPr>
        <p:spPr>
          <a:xfrm>
            <a:off x="6355080" y="4754880"/>
            <a:ext cx="5394960" cy="1024128"/>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28" name="TextBox 227"/>
          <p:cNvSpPr txBox="1"/>
          <p:nvPr/>
        </p:nvSpPr>
        <p:spPr>
          <a:xfrm>
            <a:off x="6473952" y="4782312"/>
            <a:ext cx="5212080" cy="987552"/>
          </a:xfrm>
          <a:prstGeom prst="rect">
            <a:avLst/>
          </a:prstGeom>
          <a:noFill/>
        </p:spPr>
        <p:txBody>
          <a:bodyPr wrap="square" lIns="0" tIns="0" rIns="0" bIns="0" anchor="t">
            <a:spAutoFit/>
          </a:bodyPr>
          <a:lstStyle/>
          <a:p>
            <a:pPr algn="l">
              <a:lnSpc>
                <a:spcPct val="110000"/>
              </a:lnSpc>
            </a:pPr>
            <a:r>
              <a:rPr sz="950" b="1" i="0">
                <a:solidFill>
                  <a:srgbClr val="C55A11"/>
                </a:solidFill>
                <a:latin typeface="맑은 고딕"/>
                <a:ea typeface="맑은 고딕"/>
              </a:rPr>
              <a:t>서버 간에 새로 필요한 결정 (서버 간 결정)</a:t>
            </a:r>
          </a:p>
          <a:p>
            <a:pPr algn="l">
              <a:lnSpc>
                <a:spcPct val="110000"/>
              </a:lnSpc>
            </a:pPr>
            <a:r>
              <a:rPr sz="850" b="0" i="0">
                <a:solidFill>
                  <a:srgbClr val="404040"/>
                </a:solidFill>
                <a:latin typeface="맑은 고딕"/>
                <a:ea typeface="맑은 고딕"/>
              </a:rPr>
              <a:t>① 이 요청을 어느 서버로?  (서버별 KV 캐시 위치·메모리 점유가 상이)</a:t>
            </a:r>
          </a:p>
          <a:p>
            <a:pPr algn="l">
              <a:lnSpc>
                <a:spcPct val="110000"/>
              </a:lnSpc>
            </a:pPr>
            <a:r>
              <a:rPr sz="850" b="0" i="0">
                <a:solidFill>
                  <a:srgbClr val="404040"/>
                </a:solidFill>
                <a:latin typeface="맑은 고딕"/>
                <a:ea typeface="맑은 고딕"/>
              </a:rPr>
              <a:t>② Prefill/Decode를 서버 나눠 실행할지, Prefill은 어디서?  (KV 전송 비용)</a:t>
            </a:r>
          </a:p>
          <a:p>
            <a:pPr algn="l">
              <a:lnSpc>
                <a:spcPct val="110000"/>
              </a:lnSpc>
            </a:pPr>
            <a:r>
              <a:rPr sz="850" b="0" i="0">
                <a:solidFill>
                  <a:srgbClr val="404040"/>
                </a:solidFill>
                <a:latin typeface="맑은 고딕"/>
                <a:ea typeface="맑은 고딕"/>
              </a:rPr>
              <a:t>③ 서버 간 KV 공유·서버 확장은?</a:t>
            </a:r>
          </a:p>
          <a:p>
            <a:pPr algn="l">
              <a:lnSpc>
                <a:spcPct val="110000"/>
              </a:lnSpc>
            </a:pPr>
            <a:r>
              <a:rPr sz="750" b="0" i="0">
                <a:solidFill>
                  <a:srgbClr val="404040"/>
                </a:solidFill>
                <a:latin typeface="맑은 고딕"/>
                <a:ea typeface="맑은 고딕"/>
              </a:rPr>
              <a:t>vLLM = 서버 내부 병렬화 / llm-d·Dynamo = 서버들을 묶는 계층 → 다루는 축이 다름</a:t>
            </a:r>
          </a:p>
        </p:txBody>
      </p:sp>
      <p:sp>
        <p:nvSpPr>
          <p:cNvPr id="229" name="Rectangle 228"/>
          <p:cNvSpPr/>
          <p:nvPr/>
        </p:nvSpPr>
        <p:spPr>
          <a:xfrm>
            <a:off x="502920" y="5852160"/>
            <a:ext cx="5257800" cy="4572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30" name="TextBox 229"/>
          <p:cNvSpPr txBox="1"/>
          <p:nvPr/>
        </p:nvSpPr>
        <p:spPr>
          <a:xfrm>
            <a:off x="566928" y="5861304"/>
            <a:ext cx="5138928" cy="457200"/>
          </a:xfrm>
          <a:prstGeom prst="rect">
            <a:avLst/>
          </a:prstGeom>
          <a:noFill/>
        </p:spPr>
        <p:txBody>
          <a:bodyPr wrap="square" lIns="0" tIns="0" rIns="0" bIns="0" anchor="t">
            <a:spAutoFit/>
          </a:bodyPr>
          <a:lstStyle/>
          <a:p>
            <a:pPr algn="l">
              <a:lnSpc>
                <a:spcPct val="100000"/>
              </a:lnSpc>
            </a:pPr>
            <a:r>
              <a:rPr sz="700" b="1" i="0">
                <a:solidFill>
                  <a:srgbClr val="2E75B6"/>
                </a:solidFill>
                <a:latin typeface="맑은 고딕"/>
                <a:ea typeface="맑은 고딕"/>
              </a:rPr>
              <a:t>용어 </a:t>
            </a:r>
            <a:r>
              <a:rPr sz="700" b="1" i="0">
                <a:solidFill>
                  <a:srgbClr val="404040"/>
                </a:solidFill>
                <a:latin typeface="맑은 고딕"/>
                <a:ea typeface="맑은 고딕"/>
              </a:rPr>
              <a:t>KV 캐시</a:t>
            </a:r>
            <a:r>
              <a:rPr sz="700" b="0" i="0">
                <a:solidFill>
                  <a:srgbClr val="404040"/>
                </a:solidFill>
                <a:latin typeface="맑은 고딕"/>
                <a:ea typeface="맑은 고딕"/>
              </a:rPr>
              <a:t> = LLM이 이전 입력을 다시 계산하지 않도록 저장한 중간 결과</a:t>
            </a:r>
          </a:p>
          <a:p>
            <a:pPr algn="l">
              <a:lnSpc>
                <a:spcPct val="100000"/>
              </a:lnSpc>
            </a:pPr>
            <a:r>
              <a:rPr sz="700" b="1" i="0">
                <a:solidFill>
                  <a:srgbClr val="404040"/>
                </a:solidFill>
                <a:latin typeface="맑은 고딕"/>
                <a:ea typeface="맑은 고딕"/>
              </a:rPr>
              <a:t>HBM·DRAM·CXL·HBF·SSD</a:t>
            </a:r>
            <a:r>
              <a:rPr sz="700" b="0" i="0">
                <a:solidFill>
                  <a:srgbClr val="404040"/>
                </a:solidFill>
                <a:latin typeface="맑은 고딕"/>
                <a:ea typeface="맑은 고딕"/>
              </a:rPr>
              <a:t> = 빠르고 작은 메모리 → 느리고 큰 메모리</a:t>
            </a:r>
          </a:p>
          <a:p>
            <a:pPr algn="l">
              <a:lnSpc>
                <a:spcPct val="100000"/>
              </a:lnSpc>
            </a:pPr>
            <a:r>
              <a:rPr sz="700" b="1" i="0">
                <a:solidFill>
                  <a:srgbClr val="404040"/>
                </a:solidFill>
                <a:latin typeface="맑은 고딕"/>
                <a:ea typeface="맑은 고딕"/>
              </a:rPr>
              <a:t>vLLM</a:t>
            </a:r>
            <a:r>
              <a:rPr sz="700" b="0" i="0">
                <a:solidFill>
                  <a:srgbClr val="404040"/>
                </a:solidFill>
                <a:latin typeface="맑은 고딕"/>
                <a:ea typeface="맑은 고딕"/>
              </a:rPr>
              <a:t> = LLM 추론 서버 소프트웨어  ·  </a:t>
            </a:r>
            <a:r>
              <a:rPr sz="700" b="1" i="0">
                <a:solidFill>
                  <a:srgbClr val="404040"/>
                </a:solidFill>
                <a:latin typeface="맑은 고딕"/>
                <a:ea typeface="맑은 고딕"/>
              </a:rPr>
              <a:t>Prefill</a:t>
            </a:r>
            <a:r>
              <a:rPr sz="700" b="0" i="0">
                <a:solidFill>
                  <a:srgbClr val="404040"/>
                </a:solidFill>
                <a:latin typeface="맑은 고딕"/>
                <a:ea typeface="맑은 고딕"/>
              </a:rPr>
              <a:t> = 입력 처리(계산 집약)</a:t>
            </a:r>
          </a:p>
        </p:txBody>
      </p:sp>
      <p:sp>
        <p:nvSpPr>
          <p:cNvPr id="231" name="Rectangle 230"/>
          <p:cNvSpPr/>
          <p:nvPr/>
        </p:nvSpPr>
        <p:spPr>
          <a:xfrm>
            <a:off x="6355080" y="5852160"/>
            <a:ext cx="5394960" cy="4572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32" name="TextBox 231"/>
          <p:cNvSpPr txBox="1"/>
          <p:nvPr/>
        </p:nvSpPr>
        <p:spPr>
          <a:xfrm>
            <a:off x="6419088" y="5861304"/>
            <a:ext cx="5266944" cy="457200"/>
          </a:xfrm>
          <a:prstGeom prst="rect">
            <a:avLst/>
          </a:prstGeom>
          <a:noFill/>
        </p:spPr>
        <p:txBody>
          <a:bodyPr wrap="square" lIns="0" tIns="0" rIns="0" bIns="0" anchor="t">
            <a:spAutoFit/>
          </a:bodyPr>
          <a:lstStyle/>
          <a:p>
            <a:pPr algn="l">
              <a:lnSpc>
                <a:spcPct val="100000"/>
              </a:lnSpc>
            </a:pPr>
            <a:r>
              <a:rPr sz="700" b="1" i="0">
                <a:solidFill>
                  <a:srgbClr val="C55A11"/>
                </a:solidFill>
                <a:latin typeface="맑은 고딕"/>
                <a:ea typeface="맑은 고딕"/>
              </a:rPr>
              <a:t>용어 </a:t>
            </a:r>
            <a:r>
              <a:rPr sz="700" b="1" i="0">
                <a:solidFill>
                  <a:srgbClr val="404040"/>
                </a:solidFill>
                <a:latin typeface="맑은 고딕"/>
                <a:ea typeface="맑은 고딕"/>
              </a:rPr>
              <a:t>Decode</a:t>
            </a:r>
            <a:r>
              <a:rPr sz="700" b="0" i="0">
                <a:solidFill>
                  <a:srgbClr val="404040"/>
                </a:solidFill>
                <a:latin typeface="맑은 고딕"/>
                <a:ea typeface="맑은 고딕"/>
              </a:rPr>
              <a:t> = 응답 생성(메모리 집약)  ·  </a:t>
            </a:r>
            <a:r>
              <a:rPr sz="700" b="1" i="0">
                <a:solidFill>
                  <a:srgbClr val="404040"/>
                </a:solidFill>
                <a:latin typeface="맑은 고딕"/>
                <a:ea typeface="맑은 고딕"/>
              </a:rPr>
              <a:t>P/D 분리</a:t>
            </a:r>
            <a:r>
              <a:rPr sz="700" b="0" i="0">
                <a:solidFill>
                  <a:srgbClr val="404040"/>
                </a:solidFill>
                <a:latin typeface="맑은 고딕"/>
                <a:ea typeface="맑은 고딕"/>
              </a:rPr>
              <a:t> = Prefill/Decode를 서로 다른 서버에서 실행</a:t>
            </a:r>
          </a:p>
          <a:p>
            <a:pPr algn="l">
              <a:lnSpc>
                <a:spcPct val="100000"/>
              </a:lnSpc>
            </a:pPr>
            <a:r>
              <a:rPr sz="700" b="1" i="0">
                <a:solidFill>
                  <a:srgbClr val="404040"/>
                </a:solidFill>
                <a:latin typeface="맑은 고딕"/>
                <a:ea typeface="맑은 고딕"/>
              </a:rPr>
              <a:t>NIXL</a:t>
            </a:r>
            <a:r>
              <a:rPr sz="700" b="0" i="0">
                <a:solidFill>
                  <a:srgbClr val="404040"/>
                </a:solidFill>
                <a:latin typeface="맑은 고딕"/>
                <a:ea typeface="맑은 고딕"/>
              </a:rPr>
              <a:t> = 서버 간 KV 캐시 전송  ·  </a:t>
            </a:r>
            <a:r>
              <a:rPr sz="700" b="1" i="0">
                <a:solidFill>
                  <a:srgbClr val="404040"/>
                </a:solidFill>
                <a:latin typeface="맑은 고딕"/>
                <a:ea typeface="맑은 고딕"/>
              </a:rPr>
              <a:t>Rack</a:t>
            </a:r>
            <a:r>
              <a:rPr sz="700" b="0" i="0">
                <a:solidFill>
                  <a:srgbClr val="404040"/>
                </a:solidFill>
                <a:latin typeface="맑은 고딕"/>
                <a:ea typeface="맑은 고딕"/>
              </a:rPr>
              <a:t> = 서버를 모아 둔 랙 단위</a:t>
            </a:r>
          </a:p>
          <a:p>
            <a:pPr algn="l">
              <a:lnSpc>
                <a:spcPct val="100000"/>
              </a:lnSpc>
            </a:pPr>
            <a:r>
              <a:rPr sz="700" b="1" i="0">
                <a:solidFill>
                  <a:srgbClr val="C55A11"/>
                </a:solidFill>
                <a:latin typeface="맑은 고딕"/>
                <a:ea typeface="맑은 고딕"/>
              </a:rPr>
              <a:t>번호 </a:t>
            </a:r>
            <a:r>
              <a:rPr sz="700" b="0" i="0">
                <a:solidFill>
                  <a:srgbClr val="404040"/>
                </a:solidFill>
                <a:latin typeface="맑은 고딕"/>
                <a:ea typeface="맑은 고딕"/>
              </a:rPr>
              <a:t>① 요청 수신  ② 요청 전달  ③ 상태 보고(KV 보유 이벤트·사용량 수치)</a:t>
            </a:r>
          </a:p>
        </p:txBody>
      </p:sp>
    </p:spTree>
    <p:extLst>
      <p:ext uri="{BB962C8B-B14F-4D97-AF65-F5344CB8AC3E}">
        <p14:creationId xmlns:p14="http://schemas.microsoft.com/office/powerpoint/2010/main" val="1255647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DP0. 여러 서버를 묶는 요청 조율 구조 - 배경</a:t>
            </a:r>
            <a:endParaRPr lang="en-US" altLang="ko-KR" dirty="0"/>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13" name="DP2 9013"/>
          <p:cNvSpPr/>
          <p:nvPr/>
        </p:nvSpPr>
        <p:spPr>
          <a:xfrm>
            <a:off x="421320" y="1901952"/>
            <a:ext cx="256032" cy="256032"/>
          </a:xfrm>
          <a:prstGeom prst="rect">
            <a:avLst/>
          </a:prstGeom>
          <a:noFill/>
          <a:ln>
            <a:noFill/>
          </a:ln>
        </p:spPr>
        <p:txBody>
          <a:bodyPr wrap="square" lIns="9144" tIns="7315" rIns="9144" bIns="7315" anchor="ctr">
            <a:normAutofit/>
          </a:bodyPr>
          <a:lstStyle/>
          <a:p>
            <a:pPr algn="l">
              <a:lnSpc>
                <a:spcPct val="90000"/>
              </a:lnSpc>
            </a:pP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79" name="Text 22"/>
          <p:cNvSpPr/>
          <p:nvPr/>
        </p:nvSpPr>
        <p:spPr>
          <a:xfrm>
            <a:off x="359582" y="670519"/>
            <a:ext cx="11687638" cy="868680"/>
          </a:xfrm>
          <a:prstGeom prst="rect">
            <a:avLst/>
          </a:prstGeom>
          <a:noFill/>
          <a:ln/>
        </p:spPr>
        <p:txBody>
          <a:bodyPr wrap="square" lIns="0" tIns="0" rIns="0" bIns="0" rtlCol="0" anchor="t"/>
          <a:lstStyle/>
          <a:p>
            <a:pPr marL="285750" indent="-285750">
              <a:lnSpc>
                <a:spcPct val="150000"/>
              </a:lnSpc>
              <a:buFontTx/>
              <a:buChar char="-"/>
            </a:pPr>
            <a:r>
              <a:rPr lang="ko-KR" altLang="en-US" sz="1200" dirty="0">
                <a:solidFill>
                  <a:srgbClr val="404040"/>
                </a:solidFill>
                <a:latin typeface="맑은 고딕" panose="020B0503020000020004" pitchFamily="50" charset="-127"/>
              </a:rPr>
              <a:t>추론 서버 안의 이기종 메모리(HBM·DRAM·CXL 등) 이득이, 서버 간 요청 배분 단계에서 사라질 수 있음</a:t>
            </a:r>
            <a:endParaRPr lang="en-US" altLang="ko-KR" sz="1200" dirty="0"/>
          </a:p>
          <a:p>
            <a:pPr marL="285750" indent="-285750">
              <a:lnSpc>
                <a:spcPct val="150000"/>
              </a:lnSpc>
              <a:buFontTx/>
              <a:buChar char="-"/>
            </a:pPr>
            <a:r>
              <a:rPr lang="ko-KR" altLang="en-US" sz="1200" dirty="0">
                <a:solidFill>
                  <a:srgbClr val="404040"/>
                </a:solidFill>
                <a:latin typeface="맑은 고딕" panose="020B0503020000020004" pitchFamily="50" charset="-127"/>
              </a:rPr>
              <a:t>기존 OSS 요청 조율 계층(llm-d, Dynamo)은 메모리 종류별 점수와 P/D 분리 기준을 고정 값으로만 판단함</a:t>
            </a:r>
            <a:endParaRPr lang="en-US" altLang="ko-KR" sz="1200" dirty="0"/>
          </a:p>
          <a:p>
            <a:pPr marL="285750" indent="-285750">
              <a:lnSpc>
                <a:spcPct val="150000"/>
              </a:lnSpc>
              <a:buFontTx/>
              <a:buChar char="-"/>
            </a:pPr>
            <a:r>
              <a:rPr lang="ko-KR" altLang="en-US" sz="1200" dirty="0">
                <a:solidFill>
                  <a:srgbClr val="404040"/>
                </a:solidFill>
                <a:latin typeface="맑은 고딕" panose="020B0503020000020004" pitchFamily="50" charset="-127"/>
              </a:rPr>
              <a:t>서버 내부 상태(메모리 사용·전송 대기)를 반영해 요청을 배분하는 서버 간(클러스터) 조율 구조가 필요함</a:t>
            </a:r>
            <a:endParaRPr lang="en-US" altLang="ko-KR" sz="1200" dirty="0"/>
          </a:p>
        </p:txBody>
      </p:sp>
      <p:sp>
        <p:nvSpPr>
          <p:cNvPr id="166" name="Text 22"/>
          <p:cNvSpPr/>
          <p:nvPr/>
        </p:nvSpPr>
        <p:spPr>
          <a:xfrm>
            <a:off x="383682" y="6029277"/>
            <a:ext cx="11312059" cy="548567"/>
          </a:xfrm>
          <a:prstGeom prst="rect">
            <a:avLst/>
          </a:prstGeom>
          <a:noFill/>
          <a:ln/>
        </p:spPr>
        <p:txBody>
          <a:bodyPr wrap="square" lIns="0" tIns="0" rIns="0" bIns="0" rtlCol="0" anchor="t"/>
          <a:lstStyle/>
          <a:p>
            <a:pPr>
              <a:lnSpc>
                <a:spcPct val="125000"/>
              </a:lnSpc>
            </a:pPr>
            <a:r>
              <a:rPr sz="1200" b="1" i="0">
                <a:solidFill>
                  <a:srgbClr val="000000"/>
                </a:solidFill>
                <a:latin typeface="맑은 고딕"/>
                <a:ea typeface="맑은 고딕"/>
              </a:rPr>
              <a:t>설계 쟁점 1. </a:t>
            </a:r>
            <a:r>
              <a:rPr sz="1200" b="0" i="0">
                <a:solidFill>
                  <a:srgbClr val="000000"/>
                </a:solidFill>
                <a:latin typeface="맑은 고딕"/>
                <a:ea typeface="맑은 고딕"/>
              </a:rPr>
              <a:t>서버 내부 메모리 상태·비용을 반영한 요청 배분으로 </a:t>
            </a:r>
            <a:r>
              <a:rPr sz="1200" b="1" i="0">
                <a:solidFill>
                  <a:srgbClr val="0066FF"/>
                </a:solidFill>
                <a:latin typeface="맑은 고딕"/>
                <a:ea typeface="맑은 고딕"/>
              </a:rPr>
              <a:t>처리량(Throughput)·첫 응답 시간(TTFT) 최적화</a:t>
            </a:r>
          </a:p>
          <a:p>
            <a:pPr>
              <a:lnSpc>
                <a:spcPct val="125000"/>
              </a:lnSpc>
            </a:pPr>
            <a:r>
              <a:rPr sz="1200" b="1" i="0">
                <a:solidFill>
                  <a:srgbClr val="000000"/>
                </a:solidFill>
                <a:latin typeface="맑은 고딕"/>
                <a:ea typeface="맑은 고딕"/>
              </a:rPr>
              <a:t>설계 쟁점 2. </a:t>
            </a:r>
            <a:r>
              <a:rPr sz="1200" b="0" i="0">
                <a:solidFill>
                  <a:srgbClr val="000000"/>
                </a:solidFill>
                <a:latin typeface="맑은 고딕"/>
                <a:ea typeface="맑은 고딕"/>
              </a:rPr>
              <a:t>신규 메모리·정책 추가, 서버 증가 시 </a:t>
            </a:r>
            <a:r>
              <a:rPr sz="1200" b="1" i="0">
                <a:solidFill>
                  <a:srgbClr val="0066FF"/>
                </a:solidFill>
                <a:latin typeface="맑은 고딕"/>
                <a:ea typeface="맑은 고딕"/>
              </a:rPr>
              <a:t>기존 구조 변경 최소화(Modifiability)·확장성(Scalability)</a:t>
            </a:r>
          </a:p>
        </p:txBody>
      </p:sp>
      <p:grpSp>
        <p:nvGrpSpPr>
          <p:cNvPr id="2" name="그룹 1">
            <a:extLst>
              <a:ext uri="{FF2B5EF4-FFF2-40B4-BE49-F238E27FC236}">
                <a16:creationId xmlns:a16="http://schemas.microsoft.com/office/drawing/2014/main" id="{D8454C29-B532-49FE-99CE-60D79E51A037}"/>
              </a:ext>
            </a:extLst>
          </p:cNvPr>
          <p:cNvGrpSpPr/>
          <p:nvPr/>
        </p:nvGrpSpPr>
        <p:grpSpPr>
          <a:xfrm>
            <a:off x="6167674" y="1608313"/>
            <a:ext cx="5533854" cy="3803530"/>
            <a:chOff x="6167674" y="2324995"/>
            <a:chExt cx="5533854" cy="3086847"/>
          </a:xfrm>
        </p:grpSpPr>
        <p:sp>
          <p:nvSpPr>
            <p:cNvPr id="242" name="직사각형 241">
              <a:extLst>
                <a:ext uri="{FF2B5EF4-FFF2-40B4-BE49-F238E27FC236}">
                  <a16:creationId xmlns:a16="http://schemas.microsoft.com/office/drawing/2014/main" id="{E3784E02-153A-49F1-A2CD-CE4252048DE7}"/>
                </a:ext>
              </a:extLst>
            </p:cNvPr>
            <p:cNvSpPr/>
            <p:nvPr/>
          </p:nvSpPr>
          <p:spPr>
            <a:xfrm>
              <a:off x="6167674" y="2460335"/>
              <a:ext cx="5533854" cy="295150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3" name="모서리가 둥근 직사각형 217">
              <a:extLst>
                <a:ext uri="{FF2B5EF4-FFF2-40B4-BE49-F238E27FC236}">
                  <a16:creationId xmlns:a16="http://schemas.microsoft.com/office/drawing/2014/main" id="{63A3E9B0-7066-45A1-BE5D-E8DD4EAEDB03}"/>
                </a:ext>
              </a:extLst>
            </p:cNvPr>
            <p:cNvSpPr/>
            <p:nvPr/>
          </p:nvSpPr>
          <p:spPr>
            <a:xfrm>
              <a:off x="6463335" y="2324995"/>
              <a:ext cx="4990654" cy="285015"/>
            </a:xfrm>
            <a:prstGeom prst="round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To-Be: 서버 내부 메모리 상태를 반영하는 조율</a:t>
              </a:r>
              <a:endParaRPr lang="ko-KR" altLang="en-US" sz="1100" b="1" dirty="0"/>
            </a:p>
          </p:txBody>
        </p:sp>
      </p:grpSp>
      <p:sp>
        <p:nvSpPr>
          <p:cNvPr id="244" name="DP2 9060">
            <a:extLst>
              <a:ext uri="{FF2B5EF4-FFF2-40B4-BE49-F238E27FC236}">
                <a16:creationId xmlns:a16="http://schemas.microsoft.com/office/drawing/2014/main" id="{EECDFEB7-7302-4965-B64A-4FA0853A126C}"/>
              </a:ext>
            </a:extLst>
          </p:cNvPr>
          <p:cNvSpPr/>
          <p:nvPr/>
        </p:nvSpPr>
        <p:spPr>
          <a:xfrm>
            <a:off x="5632858" y="3663076"/>
            <a:ext cx="438912" cy="457200"/>
          </a:xfrm>
          <a:prstGeom prst="rightArrow">
            <a:avLst/>
          </a:prstGeom>
          <a:solidFill>
            <a:srgbClr val="FFD966"/>
          </a:solidFill>
          <a:ln>
            <a:noFill/>
          </a:ln>
        </p:spPr>
        <p:txBody>
          <a:bodyPr wrap="square" lIns="27432" tIns="7315" rIns="27432" bIns="7315" anchor="ctr">
            <a:normAutofit fontScale="92500" lnSpcReduction="20000"/>
          </a:bodyPr>
          <a:lstStyle/>
          <a:p>
            <a:endParaRPr lang="ko-KR" altLang="en-US"/>
          </a:p>
        </p:txBody>
      </p:sp>
      <p:grpSp>
        <p:nvGrpSpPr>
          <p:cNvPr id="291" name="그룹 290">
            <a:extLst>
              <a:ext uri="{FF2B5EF4-FFF2-40B4-BE49-F238E27FC236}">
                <a16:creationId xmlns:a16="http://schemas.microsoft.com/office/drawing/2014/main" id="{6A78737F-A253-4CE8-B9A2-72B91FF65732}"/>
              </a:ext>
            </a:extLst>
          </p:cNvPr>
          <p:cNvGrpSpPr/>
          <p:nvPr/>
        </p:nvGrpSpPr>
        <p:grpSpPr>
          <a:xfrm>
            <a:off x="347472" y="1624275"/>
            <a:ext cx="5119877" cy="3787568"/>
            <a:chOff x="99695" y="3138920"/>
            <a:chExt cx="5315187" cy="3447912"/>
          </a:xfrm>
        </p:grpSpPr>
        <p:sp>
          <p:nvSpPr>
            <p:cNvPr id="350" name="직사각형 349">
              <a:extLst>
                <a:ext uri="{FF2B5EF4-FFF2-40B4-BE49-F238E27FC236}">
                  <a16:creationId xmlns:a16="http://schemas.microsoft.com/office/drawing/2014/main" id="{14E0C7FA-AF01-4522-B324-5D5122403813}"/>
                </a:ext>
              </a:extLst>
            </p:cNvPr>
            <p:cNvSpPr/>
            <p:nvPr/>
          </p:nvSpPr>
          <p:spPr>
            <a:xfrm>
              <a:off x="99695" y="3276197"/>
              <a:ext cx="5315187" cy="3310635"/>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1" name="모서리가 둥근 직사각형 212">
              <a:extLst>
                <a:ext uri="{FF2B5EF4-FFF2-40B4-BE49-F238E27FC236}">
                  <a16:creationId xmlns:a16="http://schemas.microsoft.com/office/drawing/2014/main" id="{1104C980-3417-4022-8A1E-A71193CA465E}"/>
                </a:ext>
              </a:extLst>
            </p:cNvPr>
            <p:cNvSpPr/>
            <p:nvPr/>
          </p:nvSpPr>
          <p:spPr>
            <a:xfrm>
              <a:off x="760121" y="3138920"/>
              <a:ext cx="4046740" cy="290631"/>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As-Is: 기존 OSS 요청 조율 구조 (고정 값 판단)</a:t>
              </a:r>
              <a:endParaRPr lang="ko-KR" altLang="en-US" sz="1100" b="1" dirty="0"/>
            </a:p>
          </p:txBody>
        </p:sp>
      </p:grpSp>
      <p:sp>
        <p:nvSpPr>
          <p:cNvPr id="87" name="DP2 9014">
            <a:extLst>
              <a:ext uri="{FF2B5EF4-FFF2-40B4-BE49-F238E27FC236}">
                <a16:creationId xmlns:a16="http://schemas.microsoft.com/office/drawing/2014/main" id="{BAB6A9C5-DE6C-4B40-9E12-B57562177C2D}"/>
              </a:ext>
            </a:extLst>
          </p:cNvPr>
          <p:cNvSpPr/>
          <p:nvPr/>
        </p:nvSpPr>
        <p:spPr>
          <a:xfrm>
            <a:off x="697262" y="5665175"/>
            <a:ext cx="10972800" cy="256032"/>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이기종 메모리 환경에서 서버 내부 메모리 상태·비용을 반영한 서버 간 요청 조율 구조 필요</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88" name="오른쪽 화살표 39">
            <a:extLst>
              <a:ext uri="{FF2B5EF4-FFF2-40B4-BE49-F238E27FC236}">
                <a16:creationId xmlns:a16="http://schemas.microsoft.com/office/drawing/2014/main" id="{0C02C4F3-EB01-4664-B739-CF69604C5390}"/>
              </a:ext>
            </a:extLst>
          </p:cNvPr>
          <p:cNvSpPr/>
          <p:nvPr/>
        </p:nvSpPr>
        <p:spPr>
          <a:xfrm>
            <a:off x="284845" y="5625163"/>
            <a:ext cx="412417" cy="2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14" name="Rounded Rectangle 9013"/>
          <p:cNvSpPr/>
          <p:nvPr/>
        </p:nvSpPr>
        <p:spPr>
          <a:xfrm>
            <a:off x="475488" y="2286000"/>
            <a:ext cx="676656" cy="310896"/>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tIns="9144" rIns="9144" bIns="9144"/>
          <a:lstStyle/>
          <a:p>
            <a:pPr algn="ctr"/>
            <a:r>
              <a:rPr sz="750" b="1" i="0">
                <a:solidFill>
                  <a:srgbClr val="000000"/>
                </a:solidFill>
                <a:latin typeface="맑은 고딕"/>
                <a:ea typeface="맑은 고딕"/>
              </a:rPr>
              <a:t>Request</a:t>
            </a:r>
          </a:p>
        </p:txBody>
      </p:sp>
      <p:cxnSp>
        <p:nvCxnSpPr>
          <p:cNvPr id="9015" name="Connector 9014"/>
          <p:cNvCxnSpPr/>
          <p:nvPr/>
        </p:nvCxnSpPr>
        <p:spPr>
          <a:xfrm>
            <a:off x="1152144" y="2441448"/>
            <a:ext cx="173736"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16" name="Oval 9015"/>
          <p:cNvSpPr/>
          <p:nvPr/>
        </p:nvSpPr>
        <p:spPr>
          <a:xfrm>
            <a:off x="1161288" y="236372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sp>
        <p:nvSpPr>
          <p:cNvPr id="9017" name="Rectangle 9016"/>
          <p:cNvSpPr/>
          <p:nvPr/>
        </p:nvSpPr>
        <p:spPr>
          <a:xfrm>
            <a:off x="1325880" y="1956816"/>
            <a:ext cx="3977639" cy="166420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18" name="Rectangle 9017"/>
          <p:cNvSpPr/>
          <p:nvPr/>
        </p:nvSpPr>
        <p:spPr>
          <a:xfrm>
            <a:off x="1325880" y="1956816"/>
            <a:ext cx="3361334"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«process» 요청 조율기 (Router)  llm-d Router · Dynamo KV Router</a:t>
            </a:r>
          </a:p>
        </p:txBody>
      </p:sp>
      <p:sp>
        <p:nvSpPr>
          <p:cNvPr id="9019" name="Rectangle 9018"/>
          <p:cNvSpPr/>
          <p:nvPr/>
        </p:nvSpPr>
        <p:spPr>
          <a:xfrm>
            <a:off x="1435608" y="2286000"/>
            <a:ext cx="914400" cy="56692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요청 수신</a:t>
            </a:r>
          </a:p>
          <a:p>
            <a:pPr algn="ctr"/>
            <a:r>
              <a:rPr sz="700" b="0" i="0">
                <a:solidFill>
                  <a:srgbClr val="000000"/>
                </a:solidFill>
                <a:latin typeface="맑은 고딕"/>
                <a:ea typeface="맑은 고딕"/>
              </a:rPr>
              <a:t>(Handler)</a:t>
            </a:r>
          </a:p>
        </p:txBody>
      </p:sp>
      <p:sp>
        <p:nvSpPr>
          <p:cNvPr id="9020" name="Rectangle 9019"/>
          <p:cNvSpPr/>
          <p:nvPr/>
        </p:nvSpPr>
        <p:spPr>
          <a:xfrm>
            <a:off x="138988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21" name="Rectangle 9020"/>
          <p:cNvSpPr/>
          <p:nvPr/>
        </p:nvSpPr>
        <p:spPr>
          <a:xfrm>
            <a:off x="1389888" y="243230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22" name="Rectangle 9021"/>
          <p:cNvSpPr/>
          <p:nvPr/>
        </p:nvSpPr>
        <p:spPr>
          <a:xfrm>
            <a:off x="2578608" y="2194560"/>
            <a:ext cx="1371600" cy="13258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30" b="1" i="0">
                <a:solidFill>
                  <a:srgbClr val="000000"/>
                </a:solidFill>
                <a:latin typeface="맑은 고딕"/>
                <a:ea typeface="맑은 고딕"/>
              </a:rPr>
              <a:t>서버 선택 (Scheduler)</a:t>
            </a:r>
          </a:p>
          <a:p>
            <a:pPr algn="ctr"/>
            <a:r>
              <a:rPr sz="680" b="0" i="0">
                <a:solidFill>
                  <a:srgbClr val="000000"/>
                </a:solidFill>
                <a:latin typeface="맑은 고딕"/>
                <a:ea typeface="맑은 고딕"/>
              </a:rPr>
              <a:t>후보 서버에 점수를</a:t>
            </a:r>
          </a:p>
          <a:p>
            <a:pPr algn="ctr"/>
            <a:r>
              <a:rPr sz="680" b="0" i="0">
                <a:solidFill>
                  <a:srgbClr val="000000"/>
                </a:solidFill>
                <a:latin typeface="맑은 고딕"/>
                <a:ea typeface="맑은 고딕"/>
              </a:rPr>
              <a:t>매겨 선택</a:t>
            </a:r>
          </a:p>
          <a:p>
            <a:pPr algn="ctr"/>
            <a:r>
              <a:rPr sz="680" b="0" i="0">
                <a:solidFill>
                  <a:srgbClr val="000000"/>
                </a:solidFill>
                <a:latin typeface="맑은 고딕"/>
                <a:ea typeface="맑은 고딕"/>
              </a:rPr>
              <a:t>· 메모리 종류별 점수:</a:t>
            </a:r>
          </a:p>
          <a:p>
            <a:pPr algn="ctr"/>
            <a:r>
              <a:rPr sz="680" b="0" i="0">
                <a:solidFill>
                  <a:srgbClr val="000000"/>
                </a:solidFill>
                <a:latin typeface="맑은 고딕"/>
                <a:ea typeface="맑은 고딕"/>
              </a:rPr>
              <a:t>  고정 값 (GPU 1.0 /</a:t>
            </a:r>
          </a:p>
          <a:p>
            <a:pPr algn="ctr"/>
            <a:r>
              <a:rPr sz="680" b="0" i="0">
                <a:solidFill>
                  <a:srgbClr val="000000"/>
                </a:solidFill>
                <a:latin typeface="맑은 고딕"/>
                <a:ea typeface="맑은 고딕"/>
              </a:rPr>
              <a:t>  CPU 0.8 …)</a:t>
            </a:r>
          </a:p>
          <a:p>
            <a:pPr algn="ctr"/>
            <a:r>
              <a:rPr sz="680" b="0" i="0">
                <a:solidFill>
                  <a:srgbClr val="000000"/>
                </a:solidFill>
                <a:latin typeface="맑은 고딕"/>
                <a:ea typeface="맑은 고딕"/>
              </a:rPr>
              <a:t>· Prefill/Decode 분리:</a:t>
            </a:r>
          </a:p>
          <a:p>
            <a:pPr algn="ctr"/>
            <a:r>
              <a:rPr sz="680" b="0" i="0">
                <a:solidFill>
                  <a:srgbClr val="000000"/>
                </a:solidFill>
                <a:latin typeface="맑은 고딕"/>
                <a:ea typeface="맑은 고딕"/>
              </a:rPr>
              <a:t>  고정 기준</a:t>
            </a:r>
          </a:p>
        </p:txBody>
      </p:sp>
      <p:sp>
        <p:nvSpPr>
          <p:cNvPr id="9023" name="Rectangle 9022"/>
          <p:cNvSpPr/>
          <p:nvPr/>
        </p:nvSpPr>
        <p:spPr>
          <a:xfrm>
            <a:off x="2532888"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24" name="Rectangle 9023"/>
          <p:cNvSpPr/>
          <p:nvPr/>
        </p:nvSpPr>
        <p:spPr>
          <a:xfrm>
            <a:off x="253288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25" name="Rectangle 9024"/>
          <p:cNvSpPr/>
          <p:nvPr/>
        </p:nvSpPr>
        <p:spPr>
          <a:xfrm>
            <a:off x="4133087" y="2194560"/>
            <a:ext cx="1097280" cy="13258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30" b="1" i="0">
                <a:solidFill>
                  <a:srgbClr val="000000"/>
                </a:solidFill>
                <a:latin typeface="맑은 고딕"/>
                <a:ea typeface="맑은 고딕"/>
              </a:rPr>
              <a:t>상태 저장소</a:t>
            </a:r>
          </a:p>
          <a:p>
            <a:pPr algn="ctr"/>
            <a:r>
              <a:rPr sz="680" b="0" i="0">
                <a:solidFill>
                  <a:srgbClr val="000000"/>
                </a:solidFill>
                <a:latin typeface="맑은 고딕"/>
                <a:ea typeface="맑은 고딕"/>
              </a:rPr>
              <a:t>(Data Layer)</a:t>
            </a:r>
          </a:p>
          <a:p>
            <a:pPr algn="ctr"/>
            <a:r>
              <a:rPr sz="680" b="0" i="0">
                <a:solidFill>
                  <a:srgbClr val="000000"/>
                </a:solidFill>
                <a:latin typeface="맑은 고딕"/>
                <a:ea typeface="맑은 고딕"/>
              </a:rPr>
              <a:t>· KV 캐시 보유</a:t>
            </a:r>
          </a:p>
          <a:p>
            <a:pPr algn="ctr"/>
            <a:r>
              <a:rPr sz="680" b="0" i="0">
                <a:solidFill>
                  <a:srgbClr val="000000"/>
                </a:solidFill>
                <a:latin typeface="맑은 고딕"/>
                <a:ea typeface="맑은 고딕"/>
              </a:rPr>
              <a:t>  위치</a:t>
            </a:r>
          </a:p>
          <a:p>
            <a:pPr algn="ctr"/>
            <a:r>
              <a:rPr sz="680" b="0" i="0">
                <a:solidFill>
                  <a:srgbClr val="000000"/>
                </a:solidFill>
                <a:latin typeface="맑은 고딕"/>
                <a:ea typeface="맑은 고딕"/>
              </a:rPr>
              <a:t>· 부하 수치</a:t>
            </a:r>
          </a:p>
          <a:p>
            <a:pPr algn="ctr"/>
            <a:r>
              <a:rPr sz="680" b="0" i="0">
                <a:solidFill>
                  <a:srgbClr val="000000"/>
                </a:solidFill>
                <a:latin typeface="맑은 고딕"/>
                <a:ea typeface="맑은 고딕"/>
              </a:rPr>
              <a:t>  (대기열·사용률)</a:t>
            </a:r>
          </a:p>
        </p:txBody>
      </p:sp>
      <p:sp>
        <p:nvSpPr>
          <p:cNvPr id="9026" name="Rectangle 9025"/>
          <p:cNvSpPr/>
          <p:nvPr/>
        </p:nvSpPr>
        <p:spPr>
          <a:xfrm>
            <a:off x="4087368"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27" name="Rectangle 9026"/>
          <p:cNvSpPr/>
          <p:nvPr/>
        </p:nvSpPr>
        <p:spPr>
          <a:xfrm>
            <a:off x="408736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9028" name="Connector 9027"/>
          <p:cNvCxnSpPr/>
          <p:nvPr/>
        </p:nvCxnSpPr>
        <p:spPr>
          <a:xfrm>
            <a:off x="2350008" y="2569464"/>
            <a:ext cx="228600"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29" name="Oval 9028"/>
          <p:cNvSpPr/>
          <p:nvPr/>
        </p:nvSpPr>
        <p:spPr>
          <a:xfrm>
            <a:off x="2386584" y="249174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cxnSp>
        <p:nvCxnSpPr>
          <p:cNvPr id="9030" name="Connector 9029"/>
          <p:cNvCxnSpPr/>
          <p:nvPr/>
        </p:nvCxnSpPr>
        <p:spPr>
          <a:xfrm flipH="1">
            <a:off x="3950208" y="2834640"/>
            <a:ext cx="182879"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31" name="Oval 9030"/>
          <p:cNvSpPr/>
          <p:nvPr/>
        </p:nvSpPr>
        <p:spPr>
          <a:xfrm>
            <a:off x="3963924" y="275691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8</a:t>
            </a:r>
          </a:p>
        </p:txBody>
      </p:sp>
      <p:sp>
        <p:nvSpPr>
          <p:cNvPr id="9032" name="Rectangle 9031"/>
          <p:cNvSpPr/>
          <p:nvPr/>
        </p:nvSpPr>
        <p:spPr>
          <a:xfrm>
            <a:off x="1325880" y="3840480"/>
            <a:ext cx="3977639" cy="603504"/>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33" name="Rectangle 9032"/>
          <p:cNvSpPr/>
          <p:nvPr/>
        </p:nvSpPr>
        <p:spPr>
          <a:xfrm>
            <a:off x="1325880" y="3840480"/>
            <a:ext cx="231160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«pod» 추론 서버 ×N (vLLM 인스턴스, 서버 내부)</a:t>
            </a:r>
          </a:p>
        </p:txBody>
      </p:sp>
      <p:sp>
        <p:nvSpPr>
          <p:cNvPr id="9034" name="Rectangle 9033"/>
          <p:cNvSpPr/>
          <p:nvPr/>
        </p:nvSpPr>
        <p:spPr>
          <a:xfrm>
            <a:off x="1435608" y="4087368"/>
            <a:ext cx="2057400" cy="29260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KV 캐시 관리 · 메모리 계층</a:t>
            </a:r>
          </a:p>
        </p:txBody>
      </p:sp>
      <p:sp>
        <p:nvSpPr>
          <p:cNvPr id="9035" name="Rectangle 9034"/>
          <p:cNvSpPr/>
          <p:nvPr/>
        </p:nvSpPr>
        <p:spPr>
          <a:xfrm>
            <a:off x="1389888" y="4142231"/>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36" name="Rectangle 9035"/>
          <p:cNvSpPr/>
          <p:nvPr/>
        </p:nvSpPr>
        <p:spPr>
          <a:xfrm>
            <a:off x="1389888" y="4233671"/>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37" name="Rectangle 9036"/>
          <p:cNvSpPr/>
          <p:nvPr/>
        </p:nvSpPr>
        <p:spPr>
          <a:xfrm>
            <a:off x="3675887" y="4087368"/>
            <a:ext cx="1554480" cy="292608"/>
          </a:xfrm>
          <a:prstGeom prst="rect">
            <a:avLst/>
          </a:prstGeom>
          <a:solidFill>
            <a:srgbClr val="FFFFFF"/>
          </a:solidFill>
          <a:ln w="1587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00" b="1" i="0">
                <a:solidFill>
                  <a:srgbClr val="C00000"/>
                </a:solidFill>
                <a:latin typeface="맑은 고딕"/>
                <a:ea typeface="맑은 고딕"/>
              </a:rPr>
              <a:t>메모리 사용·전송 대기 (미노출)</a:t>
            </a:r>
          </a:p>
        </p:txBody>
      </p:sp>
      <p:cxnSp>
        <p:nvCxnSpPr>
          <p:cNvPr id="9038" name="Connector 9037"/>
          <p:cNvCxnSpPr/>
          <p:nvPr/>
        </p:nvCxnSpPr>
        <p:spPr>
          <a:xfrm>
            <a:off x="3264408" y="3621024"/>
            <a:ext cx="0" cy="219456"/>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39" name="Oval 9038"/>
          <p:cNvSpPr/>
          <p:nvPr/>
        </p:nvSpPr>
        <p:spPr>
          <a:xfrm>
            <a:off x="3186684" y="365302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3</a:t>
            </a:r>
          </a:p>
        </p:txBody>
      </p:sp>
      <p:sp>
        <p:nvSpPr>
          <p:cNvPr id="9040" name="TextBox 9039"/>
          <p:cNvSpPr txBox="1"/>
          <p:nvPr/>
        </p:nvSpPr>
        <p:spPr>
          <a:xfrm>
            <a:off x="3392424" y="3639312"/>
            <a:ext cx="731520" cy="182880"/>
          </a:xfrm>
          <a:prstGeom prst="rect">
            <a:avLst/>
          </a:prstGeom>
          <a:noFill/>
        </p:spPr>
        <p:txBody>
          <a:bodyPr wrap="square" lIns="0" tIns="0" rIns="0" bIns="0" anchor="t">
            <a:spAutoFit/>
          </a:bodyPr>
          <a:lstStyle/>
          <a:p>
            <a:pPr algn="l"/>
            <a:r>
              <a:rPr sz="650" b="1" i="0">
                <a:solidFill>
                  <a:srgbClr val="404040"/>
                </a:solidFill>
                <a:latin typeface="맑은 고딕"/>
                <a:ea typeface="맑은 고딕"/>
              </a:rPr>
              <a:t>요청 전달</a:t>
            </a:r>
          </a:p>
        </p:txBody>
      </p:sp>
      <p:cxnSp>
        <p:nvCxnSpPr>
          <p:cNvPr id="9041" name="Connector 9040"/>
          <p:cNvCxnSpPr/>
          <p:nvPr/>
        </p:nvCxnSpPr>
        <p:spPr>
          <a:xfrm flipV="1">
            <a:off x="4773168" y="3621024"/>
            <a:ext cx="0" cy="219456"/>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42" name="Oval 9041"/>
          <p:cNvSpPr/>
          <p:nvPr/>
        </p:nvSpPr>
        <p:spPr>
          <a:xfrm>
            <a:off x="4695444" y="365302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6</a:t>
            </a:r>
          </a:p>
        </p:txBody>
      </p:sp>
      <p:sp>
        <p:nvSpPr>
          <p:cNvPr id="9043" name="TextBox 9042"/>
          <p:cNvSpPr txBox="1"/>
          <p:nvPr/>
        </p:nvSpPr>
        <p:spPr>
          <a:xfrm>
            <a:off x="3767328" y="3639312"/>
            <a:ext cx="914400" cy="182880"/>
          </a:xfrm>
          <a:prstGeom prst="rect">
            <a:avLst/>
          </a:prstGeom>
          <a:noFill/>
        </p:spPr>
        <p:txBody>
          <a:bodyPr wrap="square" lIns="0" tIns="0" rIns="0" bIns="0" anchor="t">
            <a:spAutoFit/>
          </a:bodyPr>
          <a:lstStyle/>
          <a:p>
            <a:pPr algn="r"/>
            <a:r>
              <a:rPr sz="650" b="1" i="0">
                <a:solidFill>
                  <a:srgbClr val="404040"/>
                </a:solidFill>
                <a:latin typeface="맑은 고딕"/>
                <a:ea typeface="맑은 고딕"/>
              </a:rPr>
              <a:t>상태 이벤트</a:t>
            </a:r>
          </a:p>
        </p:txBody>
      </p:sp>
      <p:sp>
        <p:nvSpPr>
          <p:cNvPr id="9044" name="Rectangle 9043"/>
          <p:cNvSpPr/>
          <p:nvPr/>
        </p:nvSpPr>
        <p:spPr>
          <a:xfrm>
            <a:off x="475488" y="4572000"/>
            <a:ext cx="4846320" cy="530352"/>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45" name="TextBox 9044"/>
          <p:cNvSpPr txBox="1"/>
          <p:nvPr/>
        </p:nvSpPr>
        <p:spPr>
          <a:xfrm>
            <a:off x="566928" y="4599432"/>
            <a:ext cx="4663440" cy="493776"/>
          </a:xfrm>
          <a:prstGeom prst="rect">
            <a:avLst/>
          </a:prstGeom>
          <a:noFill/>
        </p:spPr>
        <p:txBody>
          <a:bodyPr wrap="square" lIns="0" tIns="0" rIns="0" bIns="0" anchor="t">
            <a:spAutoFit/>
          </a:bodyPr>
          <a:lstStyle/>
          <a:p>
            <a:pPr algn="l">
              <a:lnSpc>
                <a:spcPct val="100000"/>
              </a:lnSpc>
            </a:pPr>
            <a:r>
              <a:rPr sz="750" b="1" i="0">
                <a:solidFill>
                  <a:srgbClr val="C00000"/>
                </a:solidFill>
                <a:latin typeface="맑은 고딕"/>
                <a:ea typeface="맑은 고딕"/>
              </a:rPr>
              <a:t>① </a:t>
            </a:r>
            <a:r>
              <a:rPr sz="750" b="0" i="0">
                <a:solidFill>
                  <a:srgbClr val="404040"/>
                </a:solidFill>
                <a:latin typeface="맑은 고딕"/>
                <a:ea typeface="맑은 고딕"/>
              </a:rPr>
              <a:t>메모리 점수가 고정 값 → 사용량·전송 대기·신규 메모리(CXL/HBF) 미반영</a:t>
            </a:r>
          </a:p>
          <a:p>
            <a:pPr algn="l">
              <a:lnSpc>
                <a:spcPct val="100000"/>
              </a:lnSpc>
            </a:pPr>
            <a:r>
              <a:rPr sz="750" b="1" i="0">
                <a:solidFill>
                  <a:srgbClr val="C00000"/>
                </a:solidFill>
                <a:latin typeface="맑은 고딕"/>
                <a:ea typeface="맑은 고딕"/>
              </a:rPr>
              <a:t>② </a:t>
            </a:r>
            <a:r>
              <a:rPr sz="750" b="0" i="0">
                <a:solidFill>
                  <a:srgbClr val="404040"/>
                </a:solidFill>
                <a:latin typeface="맑은 고딕"/>
                <a:ea typeface="맑은 고딕"/>
              </a:rPr>
              <a:t>Prefill/Decode 분리가 고정 기준 → KV 캐시 이동 비용 미고려</a:t>
            </a:r>
          </a:p>
          <a:p>
            <a:pPr algn="l">
              <a:lnSpc>
                <a:spcPct val="100000"/>
              </a:lnSpc>
            </a:pPr>
            <a:r>
              <a:rPr sz="750" b="1" i="0">
                <a:solidFill>
                  <a:srgbClr val="C00000"/>
                </a:solidFill>
                <a:latin typeface="맑은 고딕"/>
                <a:ea typeface="맑은 고딕"/>
              </a:rPr>
              <a:t>③ </a:t>
            </a:r>
            <a:r>
              <a:rPr sz="750" b="0" i="0">
                <a:solidFill>
                  <a:srgbClr val="404040"/>
                </a:solidFill>
                <a:latin typeface="맑은 고딕"/>
                <a:ea typeface="맑은 고딕"/>
              </a:rPr>
              <a:t>서버별 지시(kv_load_tiers 등)가 P/D 경로에서 덮어써지거나 전달 경로 없음</a:t>
            </a:r>
          </a:p>
        </p:txBody>
      </p:sp>
      <p:sp>
        <p:nvSpPr>
          <p:cNvPr id="9046" name="TextBox 9045"/>
          <p:cNvSpPr txBox="1"/>
          <p:nvPr/>
        </p:nvSpPr>
        <p:spPr>
          <a:xfrm>
            <a:off x="475488" y="5138928"/>
            <a:ext cx="4846320" cy="246888"/>
          </a:xfrm>
          <a:prstGeom prst="rect">
            <a:avLst/>
          </a:prstGeom>
          <a:noFill/>
        </p:spPr>
        <p:txBody>
          <a:bodyPr wrap="square" lIns="0" tIns="0" rIns="0" bIns="0" anchor="t">
            <a:spAutoFit/>
          </a:bodyPr>
          <a:lstStyle/>
          <a:p>
            <a:pPr algn="l"/>
            <a:r>
              <a:rPr sz="700" b="1" i="0">
                <a:solidFill>
                  <a:srgbClr val="2E75B6"/>
                </a:solidFill>
                <a:latin typeface="맑은 고딕"/>
                <a:ea typeface="맑은 고딕"/>
              </a:rPr>
              <a:t>용어  </a:t>
            </a:r>
            <a:r>
              <a:rPr sz="700" b="0" i="0">
                <a:solidFill>
                  <a:srgbClr val="404040"/>
                </a:solidFill>
                <a:latin typeface="맑은 고딕"/>
                <a:ea typeface="맑은 고딕"/>
              </a:rPr>
              <a:t>KV 캐시: LLM이 이전 입력을 다시 계산하지 않도록 저장한 중간 결과 · Prefill: 입력 처리(계산 집약) / Decode: 응답 생성(메모리 집약) · TTFT: 첫 응답까지 걸리는 시간</a:t>
            </a:r>
          </a:p>
        </p:txBody>
      </p:sp>
      <p:sp>
        <p:nvSpPr>
          <p:cNvPr id="9047" name="Rounded Rectangle 9046"/>
          <p:cNvSpPr/>
          <p:nvPr/>
        </p:nvSpPr>
        <p:spPr>
          <a:xfrm>
            <a:off x="6309360" y="1883664"/>
            <a:ext cx="676656" cy="256032"/>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tIns="9144" rIns="9144" bIns="9144"/>
          <a:lstStyle/>
          <a:p>
            <a:pPr algn="ctr"/>
            <a:r>
              <a:rPr sz="750" b="1" i="0">
                <a:solidFill>
                  <a:srgbClr val="000000"/>
                </a:solidFill>
                <a:latin typeface="맑은 고딕"/>
                <a:ea typeface="맑은 고딕"/>
              </a:rPr>
              <a:t>Request</a:t>
            </a:r>
          </a:p>
        </p:txBody>
      </p:sp>
      <p:sp>
        <p:nvSpPr>
          <p:cNvPr id="9048" name="Rectangle 9047"/>
          <p:cNvSpPr/>
          <p:nvPr/>
        </p:nvSpPr>
        <p:spPr>
          <a:xfrm>
            <a:off x="6309360" y="2304288"/>
            <a:ext cx="5285232" cy="2011680"/>
          </a:xfrm>
          <a:prstGeom prst="rect">
            <a:avLst/>
          </a:prstGeom>
          <a:solidFill>
            <a:srgbClr val="DAE3F3"/>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49" name="Rectangle 9048"/>
          <p:cNvSpPr/>
          <p:nvPr/>
        </p:nvSpPr>
        <p:spPr>
          <a:xfrm>
            <a:off x="6309360" y="2304288"/>
            <a:ext cx="3010204" cy="173736"/>
          </a:xfrm>
          <a:prstGeom prst="rect">
            <a:avLst/>
          </a:prstGeom>
          <a:solidFill>
            <a:srgbClr val="2E75B6"/>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«system» 요청 조율 계층 (Orchestration) - 이기종 메모리 반영</a:t>
            </a:r>
          </a:p>
        </p:txBody>
      </p:sp>
      <p:cxnSp>
        <p:nvCxnSpPr>
          <p:cNvPr id="9050" name="Connector 9049"/>
          <p:cNvCxnSpPr/>
          <p:nvPr/>
        </p:nvCxnSpPr>
        <p:spPr>
          <a:xfrm>
            <a:off x="6647688" y="2139696"/>
            <a:ext cx="0" cy="16459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51" name="Oval 9050"/>
          <p:cNvSpPr/>
          <p:nvPr/>
        </p:nvSpPr>
        <p:spPr>
          <a:xfrm>
            <a:off x="6569964" y="214426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sp>
        <p:nvSpPr>
          <p:cNvPr id="9052" name="Rectangle 9051"/>
          <p:cNvSpPr/>
          <p:nvPr/>
        </p:nvSpPr>
        <p:spPr>
          <a:xfrm>
            <a:off x="6382512" y="2542032"/>
            <a:ext cx="1572768"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53" name="Rectangle 9052"/>
          <p:cNvSpPr/>
          <p:nvPr/>
        </p:nvSpPr>
        <p:spPr>
          <a:xfrm>
            <a:off x="6382512" y="2542032"/>
            <a:ext cx="1572768"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«plane» 실행 기반 (Substrate)</a:t>
            </a:r>
          </a:p>
        </p:txBody>
      </p:sp>
      <p:sp>
        <p:nvSpPr>
          <p:cNvPr id="9054" name="Rectangle 9053"/>
          <p:cNvSpPr/>
          <p:nvPr/>
        </p:nvSpPr>
        <p:spPr>
          <a:xfrm>
            <a:off x="8138160" y="2542032"/>
            <a:ext cx="1572768"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55" name="Rectangle 9054"/>
          <p:cNvSpPr/>
          <p:nvPr/>
        </p:nvSpPr>
        <p:spPr>
          <a:xfrm>
            <a:off x="8138160" y="2542032"/>
            <a:ext cx="1335024"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«plane» 판단 (Decision)</a:t>
            </a:r>
          </a:p>
        </p:txBody>
      </p:sp>
      <p:sp>
        <p:nvSpPr>
          <p:cNvPr id="9056" name="Rectangle 9055"/>
          <p:cNvSpPr/>
          <p:nvPr/>
        </p:nvSpPr>
        <p:spPr>
          <a:xfrm>
            <a:off x="9893808" y="2542032"/>
            <a:ext cx="1627632"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57" name="Rectangle 9056"/>
          <p:cNvSpPr/>
          <p:nvPr/>
        </p:nvSpPr>
        <p:spPr>
          <a:xfrm>
            <a:off x="9893808" y="2542032"/>
            <a:ext cx="1181404"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«plane» 상태 (State)</a:t>
            </a:r>
          </a:p>
        </p:txBody>
      </p:sp>
      <p:sp>
        <p:nvSpPr>
          <p:cNvPr id="9058" name="Rectangle 9057"/>
          <p:cNvSpPr/>
          <p:nvPr/>
        </p:nvSpPr>
        <p:spPr>
          <a:xfrm>
            <a:off x="6492240" y="2779776"/>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A 요청 수신·중계</a:t>
            </a:r>
          </a:p>
        </p:txBody>
      </p:sp>
      <p:sp>
        <p:nvSpPr>
          <p:cNvPr id="9059" name="Rectangle 9058"/>
          <p:cNvSpPr/>
          <p:nvPr/>
        </p:nvSpPr>
        <p:spPr>
          <a:xfrm>
            <a:off x="6446520"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0" name="Rectangle 9059"/>
          <p:cNvSpPr/>
          <p:nvPr/>
        </p:nvSpPr>
        <p:spPr>
          <a:xfrm>
            <a:off x="6446520"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1" name="Rectangle 9060"/>
          <p:cNvSpPr/>
          <p:nvPr/>
        </p:nvSpPr>
        <p:spPr>
          <a:xfrm>
            <a:off x="6492240" y="3310128"/>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E Prefill/Decode 조율</a:t>
            </a:r>
          </a:p>
          <a:p>
            <a:pPr algn="ctr"/>
            <a:r>
              <a:rPr sz="700" b="0" i="0">
                <a:solidFill>
                  <a:srgbClr val="000000"/>
                </a:solidFill>
                <a:latin typeface="맑은 고딕"/>
                <a:ea typeface="맑은 고딕"/>
              </a:rPr>
              <a:t>서버별 지시 전달</a:t>
            </a:r>
          </a:p>
        </p:txBody>
      </p:sp>
      <p:sp>
        <p:nvSpPr>
          <p:cNvPr id="9062" name="Rectangle 9061"/>
          <p:cNvSpPr/>
          <p:nvPr/>
        </p:nvSpPr>
        <p:spPr>
          <a:xfrm>
            <a:off x="6446520" y="336499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3" name="Rectangle 9062"/>
          <p:cNvSpPr/>
          <p:nvPr/>
        </p:nvSpPr>
        <p:spPr>
          <a:xfrm>
            <a:off x="6446520" y="345643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4" name="Rectangle 9063"/>
          <p:cNvSpPr/>
          <p:nvPr/>
        </p:nvSpPr>
        <p:spPr>
          <a:xfrm>
            <a:off x="6492240" y="3840480"/>
            <a:ext cx="1325880" cy="310896"/>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F 서버 발견·확장</a:t>
            </a:r>
          </a:p>
        </p:txBody>
      </p:sp>
      <p:sp>
        <p:nvSpPr>
          <p:cNvPr id="9065" name="Rectangle 9064"/>
          <p:cNvSpPr/>
          <p:nvPr/>
        </p:nvSpPr>
        <p:spPr>
          <a:xfrm>
            <a:off x="6446520" y="389534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6" name="Rectangle 9065"/>
          <p:cNvSpPr/>
          <p:nvPr/>
        </p:nvSpPr>
        <p:spPr>
          <a:xfrm>
            <a:off x="6446520" y="3986783"/>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7" name="Rectangle 9066"/>
          <p:cNvSpPr/>
          <p:nvPr/>
        </p:nvSpPr>
        <p:spPr>
          <a:xfrm>
            <a:off x="8247888" y="2779776"/>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D 흐름 제어</a:t>
            </a:r>
          </a:p>
        </p:txBody>
      </p:sp>
      <p:sp>
        <p:nvSpPr>
          <p:cNvPr id="9068" name="Rectangle 9067"/>
          <p:cNvSpPr/>
          <p:nvPr/>
        </p:nvSpPr>
        <p:spPr>
          <a:xfrm>
            <a:off x="8202167"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69" name="Rectangle 9068"/>
          <p:cNvSpPr/>
          <p:nvPr/>
        </p:nvSpPr>
        <p:spPr>
          <a:xfrm>
            <a:off x="8202167"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70" name="Rectangle 9069"/>
          <p:cNvSpPr/>
          <p:nvPr/>
        </p:nvSpPr>
        <p:spPr>
          <a:xfrm>
            <a:off x="8247888" y="3310128"/>
            <a:ext cx="1325880" cy="841248"/>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B 서버 선택 로직</a:t>
            </a:r>
          </a:p>
          <a:p>
            <a:pPr algn="ctr"/>
            <a:r>
              <a:rPr sz="700" b="0" i="0">
                <a:solidFill>
                  <a:srgbClr val="000000"/>
                </a:solidFill>
                <a:latin typeface="맑은 고딕"/>
                <a:ea typeface="맑은 고딕"/>
              </a:rPr>
              <a:t>메모리 비용 기반 점수</a:t>
            </a:r>
          </a:p>
          <a:p>
            <a:pPr algn="ctr"/>
            <a:r>
              <a:rPr sz="700" b="0" i="0">
                <a:solidFill>
                  <a:srgbClr val="000000"/>
                </a:solidFill>
                <a:latin typeface="맑은 고딕"/>
                <a:ea typeface="맑은 고딕"/>
              </a:rPr>
              <a:t>비용 기반 P/D 분리 판단</a:t>
            </a:r>
          </a:p>
        </p:txBody>
      </p:sp>
      <p:sp>
        <p:nvSpPr>
          <p:cNvPr id="9071" name="Rectangle 9070"/>
          <p:cNvSpPr/>
          <p:nvPr/>
        </p:nvSpPr>
        <p:spPr>
          <a:xfrm>
            <a:off x="8202167" y="336499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72" name="Rectangle 9071"/>
          <p:cNvSpPr/>
          <p:nvPr/>
        </p:nvSpPr>
        <p:spPr>
          <a:xfrm>
            <a:off x="8202167" y="345643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73" name="Rectangle 9072"/>
          <p:cNvSpPr/>
          <p:nvPr/>
        </p:nvSpPr>
        <p:spPr>
          <a:xfrm>
            <a:off x="10003536" y="2779776"/>
            <a:ext cx="1417320" cy="640080"/>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C 상태 수집</a:t>
            </a:r>
          </a:p>
          <a:p>
            <a:pPr algn="ctr"/>
            <a:r>
              <a:rPr sz="700" b="0" i="0">
                <a:solidFill>
                  <a:srgbClr val="000000"/>
                </a:solidFill>
                <a:latin typeface="맑은 고딕"/>
                <a:ea typeface="맑은 고딕"/>
              </a:rPr>
              <a:t>KV 캐시 보유 위치</a:t>
            </a:r>
          </a:p>
          <a:p>
            <a:pPr algn="ctr"/>
            <a:r>
              <a:rPr sz="700" b="0" i="0">
                <a:solidFill>
                  <a:srgbClr val="000000"/>
                </a:solidFill>
                <a:latin typeface="맑은 고딕"/>
                <a:ea typeface="맑은 고딕"/>
              </a:rPr>
              <a:t>(메모리 종류별)</a:t>
            </a:r>
          </a:p>
        </p:txBody>
      </p:sp>
      <p:sp>
        <p:nvSpPr>
          <p:cNvPr id="9074" name="Rectangle 9073"/>
          <p:cNvSpPr/>
          <p:nvPr/>
        </p:nvSpPr>
        <p:spPr>
          <a:xfrm>
            <a:off x="9957816"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75" name="Rectangle 9074"/>
          <p:cNvSpPr/>
          <p:nvPr/>
        </p:nvSpPr>
        <p:spPr>
          <a:xfrm>
            <a:off x="9957816"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76" name="Rectangle 9075"/>
          <p:cNvSpPr/>
          <p:nvPr/>
        </p:nvSpPr>
        <p:spPr>
          <a:xfrm>
            <a:off x="10003536" y="3529584"/>
            <a:ext cx="1417320" cy="621792"/>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메모리 상태 수치</a:t>
            </a:r>
          </a:p>
          <a:p>
            <a:pPr algn="ctr"/>
            <a:r>
              <a:rPr sz="700" b="0" i="0">
                <a:solidFill>
                  <a:srgbClr val="000000"/>
                </a:solidFill>
                <a:latin typeface="맑은 고딕"/>
                <a:ea typeface="맑은 고딕"/>
              </a:rPr>
              <a:t>사용량·전송 대기</a:t>
            </a:r>
          </a:p>
        </p:txBody>
      </p:sp>
      <p:sp>
        <p:nvSpPr>
          <p:cNvPr id="9077" name="Rectangle 9076"/>
          <p:cNvSpPr/>
          <p:nvPr/>
        </p:nvSpPr>
        <p:spPr>
          <a:xfrm>
            <a:off x="9957816" y="3584448"/>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78" name="Rectangle 9077"/>
          <p:cNvSpPr/>
          <p:nvPr/>
        </p:nvSpPr>
        <p:spPr>
          <a:xfrm>
            <a:off x="9957816" y="3675887"/>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9079" name="Connector 9078"/>
          <p:cNvCxnSpPr/>
          <p:nvPr/>
        </p:nvCxnSpPr>
        <p:spPr>
          <a:xfrm>
            <a:off x="7818120" y="2990088"/>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0" name="Oval 9079"/>
          <p:cNvSpPr/>
          <p:nvPr/>
        </p:nvSpPr>
        <p:spPr>
          <a:xfrm>
            <a:off x="7955279" y="291236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cxnSp>
        <p:nvCxnSpPr>
          <p:cNvPr id="9081" name="Connector 9080"/>
          <p:cNvCxnSpPr/>
          <p:nvPr/>
        </p:nvCxnSpPr>
        <p:spPr>
          <a:xfrm>
            <a:off x="8906256" y="3200400"/>
            <a:ext cx="0" cy="109728"/>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cxnSp>
        <p:nvCxnSpPr>
          <p:cNvPr id="9082" name="Connector 9081"/>
          <p:cNvCxnSpPr/>
          <p:nvPr/>
        </p:nvCxnSpPr>
        <p:spPr>
          <a:xfrm flipH="1">
            <a:off x="9573768" y="3749039"/>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3" name="Oval 9082"/>
          <p:cNvSpPr/>
          <p:nvPr/>
        </p:nvSpPr>
        <p:spPr>
          <a:xfrm>
            <a:off x="9710928" y="3671315"/>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8</a:t>
            </a:r>
          </a:p>
        </p:txBody>
      </p:sp>
      <p:cxnSp>
        <p:nvCxnSpPr>
          <p:cNvPr id="9084" name="Connector 9083"/>
          <p:cNvCxnSpPr/>
          <p:nvPr/>
        </p:nvCxnSpPr>
        <p:spPr>
          <a:xfrm flipH="1">
            <a:off x="7818120" y="3611880"/>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5" name="Oval 9084"/>
          <p:cNvSpPr/>
          <p:nvPr/>
        </p:nvSpPr>
        <p:spPr>
          <a:xfrm>
            <a:off x="7955279" y="353415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3</a:t>
            </a:r>
          </a:p>
        </p:txBody>
      </p:sp>
      <p:sp>
        <p:nvSpPr>
          <p:cNvPr id="9086" name="Rounded Rectangle 9085"/>
          <p:cNvSpPr/>
          <p:nvPr/>
        </p:nvSpPr>
        <p:spPr>
          <a:xfrm>
            <a:off x="10991088" y="2340864"/>
            <a:ext cx="566928" cy="173736"/>
          </a:xfrm>
          <a:prstGeom prst="roundRect">
            <a:avLst>
              <a:gd name="adj" fmla="val 300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tIns="0" rIns="9144" bIns="0"/>
          <a:lstStyle/>
          <a:p>
            <a:pPr algn="ctr"/>
            <a:r>
              <a:rPr sz="700" b="1" i="0">
                <a:solidFill>
                  <a:srgbClr val="2E75B6"/>
                </a:solidFill>
                <a:latin typeface="맑은 고딕"/>
                <a:ea typeface="맑은 고딕"/>
              </a:rPr>
              <a:t>쟁점 1</a:t>
            </a:r>
          </a:p>
        </p:txBody>
      </p:sp>
      <p:sp>
        <p:nvSpPr>
          <p:cNvPr id="9087" name="Rectangle 9086"/>
          <p:cNvSpPr/>
          <p:nvPr/>
        </p:nvSpPr>
        <p:spPr>
          <a:xfrm>
            <a:off x="6309360" y="4526280"/>
            <a:ext cx="5285232" cy="457200"/>
          </a:xfrm>
          <a:prstGeom prst="rect">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88" name="Rectangle 9087"/>
          <p:cNvSpPr/>
          <p:nvPr/>
        </p:nvSpPr>
        <p:spPr>
          <a:xfrm>
            <a:off x="6309360" y="4526280"/>
            <a:ext cx="231160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«pod» 추론 서버 ×N (vLLM 인스턴스, 서버 내부)</a:t>
            </a:r>
          </a:p>
        </p:txBody>
      </p:sp>
      <p:sp>
        <p:nvSpPr>
          <p:cNvPr id="9089" name="Rectangle 9088"/>
          <p:cNvSpPr/>
          <p:nvPr/>
        </p:nvSpPr>
        <p:spPr>
          <a:xfrm>
            <a:off x="6419088" y="4736592"/>
            <a:ext cx="2286000" cy="21945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KV 캐시·메모리 계층 (HBM·DRAM·CXL)</a:t>
            </a:r>
          </a:p>
        </p:txBody>
      </p:sp>
      <p:sp>
        <p:nvSpPr>
          <p:cNvPr id="9090" name="Rectangle 9089"/>
          <p:cNvSpPr/>
          <p:nvPr/>
        </p:nvSpPr>
        <p:spPr>
          <a:xfrm>
            <a:off x="6373368" y="479145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91" name="Rectangle 9090"/>
          <p:cNvSpPr/>
          <p:nvPr/>
        </p:nvSpPr>
        <p:spPr>
          <a:xfrm>
            <a:off x="6373368" y="488289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92" name="Rectangle 9091"/>
          <p:cNvSpPr/>
          <p:nvPr/>
        </p:nvSpPr>
        <p:spPr>
          <a:xfrm>
            <a:off x="8915400" y="4736592"/>
            <a:ext cx="2560320" cy="21945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KV 이벤트 · 메트릭 · 전송 정보 · NIXL</a:t>
            </a:r>
          </a:p>
        </p:txBody>
      </p:sp>
      <p:sp>
        <p:nvSpPr>
          <p:cNvPr id="9093" name="Rectangle 9092"/>
          <p:cNvSpPr/>
          <p:nvPr/>
        </p:nvSpPr>
        <p:spPr>
          <a:xfrm>
            <a:off x="8869680" y="479145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9094" name="Rectangle 9093"/>
          <p:cNvSpPr/>
          <p:nvPr/>
        </p:nvSpPr>
        <p:spPr>
          <a:xfrm>
            <a:off x="8869680" y="488289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9095" name="Connector 9094"/>
          <p:cNvCxnSpPr/>
          <p:nvPr/>
        </p:nvCxnSpPr>
        <p:spPr>
          <a:xfrm>
            <a:off x="7150608" y="4151376"/>
            <a:ext cx="0" cy="374904"/>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96" name="Oval 9095"/>
          <p:cNvSpPr/>
          <p:nvPr/>
        </p:nvSpPr>
        <p:spPr>
          <a:xfrm>
            <a:off x="7072884" y="42611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4</a:t>
            </a:r>
          </a:p>
        </p:txBody>
      </p:sp>
      <p:cxnSp>
        <p:nvCxnSpPr>
          <p:cNvPr id="9097" name="Connector 9096"/>
          <p:cNvCxnSpPr/>
          <p:nvPr/>
        </p:nvCxnSpPr>
        <p:spPr>
          <a:xfrm flipV="1">
            <a:off x="10698480" y="4151376"/>
            <a:ext cx="0" cy="374904"/>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98" name="Oval 9097"/>
          <p:cNvSpPr/>
          <p:nvPr/>
        </p:nvSpPr>
        <p:spPr>
          <a:xfrm>
            <a:off x="10620755" y="42611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6</a:t>
            </a:r>
          </a:p>
        </p:txBody>
      </p:sp>
      <p:cxnSp>
        <p:nvCxnSpPr>
          <p:cNvPr id="9099" name="Connector 9098"/>
          <p:cNvCxnSpPr/>
          <p:nvPr/>
        </p:nvCxnSpPr>
        <p:spPr>
          <a:xfrm>
            <a:off x="7772400" y="4023360"/>
            <a:ext cx="0" cy="502920"/>
          </a:xfrm>
          <a:prstGeom prst="line">
            <a:avLst/>
          </a:prstGeom>
          <a:ln w="15875">
            <a:solidFill>
              <a:srgbClr val="40404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100" name="Oval 9099"/>
          <p:cNvSpPr/>
          <p:nvPr/>
        </p:nvSpPr>
        <p:spPr>
          <a:xfrm>
            <a:off x="7694675" y="419709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7</a:t>
            </a:r>
          </a:p>
        </p:txBody>
      </p:sp>
      <p:sp>
        <p:nvSpPr>
          <p:cNvPr id="9101" name="TextBox 9100"/>
          <p:cNvSpPr txBox="1"/>
          <p:nvPr/>
        </p:nvSpPr>
        <p:spPr>
          <a:xfrm>
            <a:off x="6309360" y="5029200"/>
            <a:ext cx="5303520" cy="128016"/>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① 요청  ② 결정 요청  ③ 선택 결과  ④ 요청+서버별 지시  ⑥ 상태 이벤트·수치  ⑦ 서버 발견  ⑧ 상태 조회</a:t>
            </a:r>
          </a:p>
        </p:txBody>
      </p:sp>
      <p:sp>
        <p:nvSpPr>
          <p:cNvPr id="9102" name="Rounded Rectangle 9101"/>
          <p:cNvSpPr/>
          <p:nvPr/>
        </p:nvSpPr>
        <p:spPr>
          <a:xfrm>
            <a:off x="6309360" y="5175504"/>
            <a:ext cx="5285232" cy="219456"/>
          </a:xfrm>
          <a:prstGeom prst="roundRect">
            <a:avLst>
              <a:gd name="adj" fmla="val 20000"/>
            </a:avLst>
          </a:prstGeom>
          <a:solidFill>
            <a:srgbClr val="FFFFFF"/>
          </a:solidFill>
          <a:ln w="15875">
            <a:solidFill>
              <a:srgbClr val="2E75B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lstStyle/>
          <a:p>
            <a:pPr algn="ctr"/>
            <a:r>
              <a:rPr sz="700" b="1" i="0">
                <a:solidFill>
                  <a:srgbClr val="2E75B6"/>
                </a:solidFill>
                <a:latin typeface="맑은 고딕"/>
                <a:ea typeface="맑은 고딕"/>
              </a:rPr>
              <a:t>쟁점 2  </a:t>
            </a:r>
            <a:r>
              <a:rPr sz="700" b="0" i="0">
                <a:solidFill>
                  <a:srgbClr val="000000"/>
                </a:solidFill>
                <a:latin typeface="맑은 고딕"/>
                <a:ea typeface="맑은 고딕"/>
              </a:rPr>
              <a:t>확장 지점: 신규 메모리·정책을 확장 모듈(plug-in)로 추가 (OSS 확장 vs 자체 구현)</a:t>
            </a:r>
          </a:p>
        </p:txBody>
      </p:sp>
    </p:spTree>
    <p:extLst>
      <p:ext uri="{BB962C8B-B14F-4D97-AF65-F5344CB8AC3E}">
        <p14:creationId xmlns:p14="http://schemas.microsoft.com/office/powerpoint/2010/main" val="2702638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extLst>
              <p:ext uri="{D42A27DB-BD31-4B8C-83A1-F6EECF244321}">
                <p14:modId xmlns:p14="http://schemas.microsoft.com/office/powerpoint/2010/main" val="4201621936"/>
              </p:ext>
            </p:extLst>
          </p:nvPr>
        </p:nvGraphicFramePr>
        <p:xfrm>
          <a:off x="249035" y="1044054"/>
          <a:ext cx="11747501" cy="5221224"/>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3866672">
                  <a:extLst>
                    <a:ext uri="{9D8B030D-6E8A-4147-A177-3AD203B41FA5}">
                      <a16:colId xmlns:a16="http://schemas.microsoft.com/office/drawing/2014/main" val="5654497"/>
                    </a:ext>
                  </a:extLst>
                </a:gridCol>
                <a:gridCol w="1569382">
                  <a:extLst>
                    <a:ext uri="{9D8B030D-6E8A-4147-A177-3AD203B41FA5}">
                      <a16:colId xmlns:a16="http://schemas.microsoft.com/office/drawing/2014/main" val="2953438935"/>
                    </a:ext>
                  </a:extLst>
                </a:gridCol>
                <a:gridCol w="3833198">
                  <a:extLst>
                    <a:ext uri="{9D8B030D-6E8A-4147-A177-3AD203B41FA5}">
                      <a16:colId xmlns:a16="http://schemas.microsoft.com/office/drawing/2014/main" val="3070054508"/>
                    </a:ext>
                  </a:extLst>
                </a:gridCol>
                <a:gridCol w="1602856">
                  <a:extLst>
                    <a:ext uri="{9D8B030D-6E8A-4147-A177-3AD203B41FA5}">
                      <a16:colId xmlns:a16="http://schemas.microsoft.com/office/drawing/2014/main" val="3101495520"/>
                    </a:ext>
                  </a:extLst>
                </a:gridCol>
              </a:tblGrid>
              <a:tr h="301752">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200" b="1" i="0">
                          <a:solidFill>
                            <a:srgbClr val="000000"/>
                          </a:solidFill>
                          <a:latin typeface="맑은 고딕"/>
                          <a:ea typeface="맑은 고딕"/>
                        </a:rPr>
                        <a:t>(1안) </a:t>
                      </a:r>
                      <a:r>
                        <a:rPr sz="1200" b="1" i="0">
                          <a:solidFill>
                            <a:srgbClr val="000000"/>
                          </a:solidFill>
                          <a:latin typeface="맑은 고딕"/>
                          <a:ea typeface="맑은 고딕"/>
                        </a:rPr>
                        <a:t>OSS 확장 구조</a:t>
                      </a:r>
                      <a:r>
                        <a:rPr sz="900" b="0" i="0">
                          <a:solidFill>
                            <a:srgbClr val="404040"/>
                          </a:solidFill>
                          <a:latin typeface="맑은 고딕"/>
                          <a:ea typeface="맑은 고딕"/>
                        </a:rPr>
                        <a:t> (llm-d 기준: 기존 모듈 + 우리 확장)</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algn="l" latinLnBrk="1"/>
                      <a:r>
                        <a:rPr sz="1200" b="1" i="0">
                          <a:solidFill>
                            <a:srgbClr val="000000"/>
                          </a:solidFill>
                          <a:latin typeface="맑은 고딕"/>
                          <a:ea typeface="맑은 고딕"/>
                        </a:rPr>
                        <a:t>(2안) </a:t>
                      </a:r>
                      <a:r>
                        <a:rPr sz="1200" b="1" i="0">
                          <a:solidFill>
                            <a:srgbClr val="000000"/>
                          </a:solidFill>
                          <a:latin typeface="맑은 고딕"/>
                          <a:ea typeface="맑은 고딕"/>
                        </a:rPr>
                        <a:t>자체 구현 구조</a:t>
                      </a:r>
                      <a:r>
                        <a:rPr sz="900" b="0" i="0">
                          <a:solidFill>
                            <a:srgbClr val="404040"/>
                          </a:solidFill>
                          <a:latin typeface="맑은 고딕"/>
                          <a:ea typeface="맑은 고딕"/>
                        </a:rPr>
                        <a:t> (Own Router: 전부 직접 개발)</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108960">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ko-KR" altLang="en-US" sz="105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ko-KR" altLang="en-US" sz="1200" b="1" dirty="0">
                        <a:solidFill>
                          <a:srgbClr val="0033CC"/>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548640">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sz="900" b="0" i="0">
                          <a:solidFill>
                            <a:srgbClr val="000000"/>
                          </a:solidFill>
                          <a:latin typeface="맑은 고딕"/>
                          <a:ea typeface="맑은 고딕"/>
                        </a:rPr>
                        <a:t>검증된 OSS 재사용 (요청 경로·KV 인덱스·흐름 제어)</a:t>
                      </a:r>
                    </a:p>
                    <a:p>
                      <a:pPr marL="228600" indent="-228600" algn="l" defTabSz="914400" rtl="0" eaLnBrk="1" latinLnBrk="1" hangingPunct="1">
                        <a:lnSpc>
                          <a:spcPct val="100000"/>
                        </a:lnSpc>
                        <a:spcAft>
                          <a:spcPts val="0"/>
                        </a:spcAft>
                        <a:buFont typeface="Wingdings" panose="05000000000000000000" pitchFamily="2" charset="2"/>
                        <a:buChar char="§"/>
                      </a:pPr>
                      <a:r>
                        <a:rPr sz="900" b="0" i="0">
                          <a:solidFill>
                            <a:srgbClr val="000000"/>
                          </a:solidFill>
                          <a:latin typeface="맑은 고딕"/>
                          <a:ea typeface="맑은 고딕"/>
                        </a:rPr>
                        <a:t>새 판단 로직 P1~P4를 설정·확장 모듈만으로 추가 (실행 확인)</a:t>
                      </a:r>
                    </a:p>
                    <a:p>
                      <a:pPr marL="228600" indent="-228600" algn="l" defTabSz="914400" rtl="0" eaLnBrk="1" latinLnBrk="1" hangingPunct="1">
                        <a:lnSpc>
                          <a:spcPct val="100000"/>
                        </a:lnSpc>
                        <a:spcAft>
                          <a:spcPts val="0"/>
                        </a:spcAft>
                        <a:buFont typeface="Wingdings" panose="05000000000000000000" pitchFamily="2" charset="2"/>
                        <a:buChar char="§"/>
                      </a:pPr>
                      <a:r>
                        <a:rPr sz="900" b="0" i="0">
                          <a:solidFill>
                            <a:srgbClr val="000000"/>
                          </a:solidFill>
                          <a:latin typeface="맑은 고딕"/>
                          <a:ea typeface="맑은 고딕"/>
                        </a:rPr>
                        <a:t>서버가 늘어도 조율 계층을 복제해 자동 확장</a:t>
                      </a: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sz="900" b="0" i="0">
                          <a:solidFill>
                            <a:srgbClr val="000000"/>
                          </a:solidFill>
                          <a:latin typeface="맑은 고딕"/>
                          <a:ea typeface="맑은 고딕"/>
                        </a:rPr>
                        <a:t>결정이 프로세스 내부 호출 → 원격 호출 감소</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sz="900" b="0" i="0">
                          <a:solidFill>
                            <a:srgbClr val="000000"/>
                          </a:solidFill>
                          <a:latin typeface="맑은 고딕"/>
                          <a:ea typeface="맑은 고딕"/>
                        </a:rPr>
                        <a:t>결정·상태·P/D 조율을 한 곳에서 자유 설계</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sz="900" b="0" i="0">
                          <a:solidFill>
                            <a:srgbClr val="000000"/>
                          </a:solidFill>
                          <a:latin typeface="맑은 고딕"/>
                          <a:ea typeface="맑은 고딕"/>
                        </a:rPr>
                        <a:t>K8s·Envoy 불필요 (소규모에서 단순)</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548640">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sz="900" b="0" i="0">
                          <a:solidFill>
                            <a:srgbClr val="000000"/>
                          </a:solidFill>
                          <a:latin typeface="맑은 고딕"/>
                          <a:ea typeface="맑은 고딕"/>
                        </a:rPr>
                        <a:t>별도 프로세스에 원격 호출 1회 추가 → TTFT 증가 (가설)</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sz="900" b="0" i="0">
                          <a:solidFill>
                            <a:srgbClr val="000000"/>
                          </a:solidFill>
                          <a:latin typeface="맑은 고딕"/>
                          <a:ea typeface="맑은 고딕"/>
                        </a:rPr>
                        <a:t>P/D 경로의 노드 지시는 기존 보조 프로세스(sidecar) 수정</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sz="900" b="0" i="0">
                          <a:solidFill>
                            <a:srgbClr val="000000"/>
                          </a:solidFill>
                          <a:latin typeface="맑은 고딕"/>
                          <a:ea typeface="맑은 고딕"/>
                        </a:rPr>
                        <a:t>확장 모듈이 OSS 내부 동작에 의존 · 자체 EPP 이미지 운영</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sz="900" b="0" i="0">
                          <a:solidFill>
                            <a:srgbClr val="000000"/>
                          </a:solidFill>
                          <a:latin typeface="맑은 고딕"/>
                          <a:ea typeface="맑은 고딕"/>
                        </a:rPr>
                        <a:t>상태 저장·흐름 제어·서버 발견을 직접 구현·유지</a:t>
                      </a:r>
                    </a:p>
                    <a:p>
                      <a:pPr marL="228600" indent="-228600" latinLnBrk="1">
                        <a:lnSpc>
                          <a:spcPct val="100000"/>
                        </a:lnSpc>
                        <a:buFont typeface="Wingdings" panose="05000000000000000000" pitchFamily="2" charset="2"/>
                        <a:buChar char="§"/>
                      </a:pPr>
                      <a:r>
                        <a:rPr sz="900" b="0" i="0">
                          <a:solidFill>
                            <a:srgbClr val="000000"/>
                          </a:solidFill>
                          <a:latin typeface="맑은 고딕"/>
                          <a:ea typeface="맑은 고딕"/>
                        </a:rPr>
                        <a:t>OSS 개선·vLLM/NIXL 인터페이스 변경을 직접 추적</a:t>
                      </a:r>
                    </a:p>
                    <a:p>
                      <a:pPr marL="228600" indent="-228600" latinLnBrk="1">
                        <a:lnSpc>
                          <a:spcPct val="100000"/>
                        </a:lnSpc>
                        <a:buFont typeface="Wingdings" panose="05000000000000000000" pitchFamily="2" charset="2"/>
                        <a:buChar char="§"/>
                      </a:pPr>
                      <a:r>
                        <a:rPr sz="900" b="0" i="0">
                          <a:solidFill>
                            <a:srgbClr val="000000"/>
                          </a:solidFill>
                          <a:latin typeface="맑은 고딕"/>
                          <a:ea typeface="맑은 고딕"/>
                        </a:rPr>
                        <a:t>P/D 조율이 한 곳에 집중 → 병목 가능</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713232">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sz="850" b="0" i="0">
                          <a:solidFill>
                            <a:srgbClr val="000000"/>
                          </a:solidFill>
                          <a:latin typeface="맑은 고딕"/>
                          <a:ea typeface="맑은 고딕"/>
                        </a:rPr>
                        <a:t>Throughput (SLO 내 최대 처리량) – 동등</a:t>
                      </a:r>
                    </a:p>
                    <a:p>
                      <a:pPr marL="228600" indent="-228600" latinLnBrk="1">
                        <a:lnSpc>
                          <a:spcPct val="100000"/>
                        </a:lnSpc>
                        <a:buFont typeface="Wingdings" panose="05000000000000000000" pitchFamily="2" charset="2"/>
                        <a:buChar char="§"/>
                      </a:pPr>
                      <a:r>
                        <a:rPr sz="850" b="0" i="0">
                          <a:solidFill>
                            <a:srgbClr val="000000"/>
                          </a:solidFill>
                          <a:latin typeface="맑은 고딕"/>
                          <a:ea typeface="맑은 고딕"/>
                        </a:rPr>
                        <a:t>Latency (TTFT, 첫 응답 시간) – 원격 호출 1회 가산</a:t>
                      </a:r>
                    </a:p>
                    <a:p>
                      <a:pPr marL="228600" indent="-228600" latinLnBrk="1">
                        <a:lnSpc>
                          <a:spcPct val="100000"/>
                        </a:lnSpc>
                        <a:buFont typeface="Wingdings" panose="05000000000000000000" pitchFamily="2" charset="2"/>
                        <a:buChar char="§"/>
                      </a:pPr>
                      <a:r>
                        <a:rPr sz="850" b="0" i="0">
                          <a:solidFill>
                            <a:srgbClr val="000000"/>
                          </a:solidFill>
                          <a:latin typeface="맑은 고딕"/>
                          <a:ea typeface="맑은 고딕"/>
                        </a:rPr>
                        <a:t>Modifiability (변경 용이성) – 설정·확장, S4만 수정</a:t>
                      </a:r>
                    </a:p>
                    <a:p>
                      <a:pPr marL="228600" indent="-228600" latinLnBrk="1">
                        <a:lnSpc>
                          <a:spcPct val="100000"/>
                        </a:lnSpc>
                        <a:buFont typeface="Wingdings" panose="05000000000000000000" pitchFamily="2" charset="2"/>
                        <a:buChar char="§"/>
                      </a:pPr>
                      <a:r>
                        <a:rPr sz="850" b="0" i="0">
                          <a:solidFill>
                            <a:srgbClr val="000000"/>
                          </a:solidFill>
                          <a:latin typeface="맑은 고딕"/>
                          <a:ea typeface="맑은 고딕"/>
                        </a:rPr>
                        <a:t>Scalability (서버 증설 확장성) – 복제·자동 확장</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100" b="0" i="0">
                          <a:solidFill>
                            <a:srgbClr val="000000"/>
                          </a:solidFill>
                          <a:latin typeface="맑은 고딕"/>
                          <a:ea typeface="맑은 고딕"/>
                        </a:rPr>
                        <a:t>●●○</a:t>
                      </a:r>
                    </a:p>
                    <a:p>
                      <a:pPr marL="0" marR="0" lvl="0" indent="0" algn="l" defTabSz="914400" rtl="0" eaLnBrk="1" fontAlgn="auto" latinLnBrk="1" hangingPunct="1">
                        <a:lnSpc>
                          <a:spcPct val="100000"/>
                        </a:lnSpc>
                        <a:spcBef>
                          <a:spcPts val="0"/>
                        </a:spcBef>
                        <a:spcAft>
                          <a:spcPts val="0"/>
                        </a:spcAft>
                        <a:buClrTx/>
                        <a:buSzTx/>
                        <a:buFontTx/>
                        <a:buNone/>
                        <a:tabLst/>
                        <a:defRPr/>
                      </a:pPr>
                      <a:r>
                        <a:rPr sz="1100" b="0" i="0">
                          <a:solidFill>
                            <a:srgbClr val="000000"/>
                          </a:solidFill>
                          <a:latin typeface="맑은 고딕"/>
                          <a:ea typeface="맑은 고딕"/>
                        </a:rPr>
                        <a:t>●●○</a:t>
                      </a:r>
                    </a:p>
                    <a:p>
                      <a:pPr marL="0" marR="0" lvl="0" indent="0" algn="l" defTabSz="914400" rtl="0" eaLnBrk="1" fontAlgn="auto" latinLnBrk="1" hangingPunct="1">
                        <a:lnSpc>
                          <a:spcPct val="100000"/>
                        </a:lnSpc>
                        <a:spcBef>
                          <a:spcPts val="0"/>
                        </a:spcBef>
                        <a:spcAft>
                          <a:spcPts val="0"/>
                        </a:spcAft>
                        <a:buClrTx/>
                        <a:buSzTx/>
                        <a:buFontTx/>
                        <a:buNone/>
                        <a:tabLst/>
                        <a:defRPr/>
                      </a:pPr>
                      <a:r>
                        <a:rPr sz="1100" b="0" i="0">
                          <a:solidFill>
                            <a:srgbClr val="000000"/>
                          </a:solidFill>
                          <a:latin typeface="맑은 고딕"/>
                          <a:ea typeface="맑은 고딕"/>
                        </a:rPr>
                        <a:t>●●●</a:t>
                      </a:r>
                    </a:p>
                    <a:p>
                      <a:pPr marL="0" marR="0" lvl="0" indent="0" algn="l" defTabSz="914400" rtl="0" eaLnBrk="1" fontAlgn="auto" latinLnBrk="1" hangingPunct="1">
                        <a:lnSpc>
                          <a:spcPct val="100000"/>
                        </a:lnSpc>
                        <a:spcBef>
                          <a:spcPts val="0"/>
                        </a:spcBef>
                        <a:spcAft>
                          <a:spcPts val="0"/>
                        </a:spcAft>
                        <a:buClrTx/>
                        <a:buSzTx/>
                        <a:buFontTx/>
                        <a:buNone/>
                        <a:tabLst/>
                        <a:defRPr/>
                      </a:pPr>
                      <a:r>
                        <a:rPr sz="1100" b="0" i="0">
                          <a:solidFill>
                            <a:srgbClr val="000000"/>
                          </a:solidFill>
                          <a:latin typeface="맑은 고딕"/>
                          <a:ea typeface="맑은 고딕"/>
                        </a:rPr>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sz="850" b="0" i="0">
                          <a:solidFill>
                            <a:srgbClr val="000000"/>
                          </a:solidFill>
                          <a:latin typeface="맑은 고딕"/>
                          <a:ea typeface="맑은 고딕"/>
                        </a:rPr>
                        <a:t>Throughput (SLO 내 최대 처리량) – 동등</a:t>
                      </a:r>
                    </a:p>
                    <a:p>
                      <a:pPr marL="228600" indent="-228600" latinLnBrk="1">
                        <a:lnSpc>
                          <a:spcPct val="100000"/>
                        </a:lnSpc>
                        <a:buFont typeface="Wingdings" panose="05000000000000000000" pitchFamily="2" charset="2"/>
                        <a:buChar char="§"/>
                      </a:pPr>
                      <a:r>
                        <a:rPr sz="850" b="0" i="0">
                          <a:solidFill>
                            <a:srgbClr val="000000"/>
                          </a:solidFill>
                          <a:latin typeface="맑은 고딕"/>
                          <a:ea typeface="맑은 고딕"/>
                        </a:rPr>
                        <a:t>Latency (TTFT, 첫 응답 시간) – 호출 감소로 유리</a:t>
                      </a:r>
                    </a:p>
                    <a:p>
                      <a:pPr marL="228600" indent="-228600" latinLnBrk="1">
                        <a:lnSpc>
                          <a:spcPct val="100000"/>
                        </a:lnSpc>
                        <a:buFont typeface="Wingdings" panose="05000000000000000000" pitchFamily="2" charset="2"/>
                        <a:buChar char="§"/>
                      </a:pPr>
                      <a:r>
                        <a:rPr sz="850" b="0" i="0">
                          <a:solidFill>
                            <a:srgbClr val="000000"/>
                          </a:solidFill>
                          <a:latin typeface="맑은 고딕"/>
                          <a:ea typeface="맑은 고딕"/>
                        </a:rPr>
                        <a:t>Modifiability (변경 용이성) – 로직 자유, 유지 부담</a:t>
                      </a:r>
                    </a:p>
                    <a:p>
                      <a:pPr marL="228600" indent="-228600" latinLnBrk="1">
                        <a:lnSpc>
                          <a:spcPct val="100000"/>
                        </a:lnSpc>
                        <a:buFont typeface="Wingdings" panose="05000000000000000000" pitchFamily="2" charset="2"/>
                        <a:buChar char="§"/>
                      </a:pPr>
                      <a:r>
                        <a:rPr sz="850" b="0" i="0">
                          <a:solidFill>
                            <a:srgbClr val="000000"/>
                          </a:solidFill>
                          <a:latin typeface="맑은 고딕"/>
                          <a:ea typeface="맑은 고딕"/>
                        </a:rPr>
                        <a:t>Scalability (서버 증설 확장성) – 직접 구축·단일 Router</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100" b="0" i="0">
                          <a:solidFill>
                            <a:srgbClr val="000000"/>
                          </a:solidFill>
                          <a:latin typeface="맑은 고딕"/>
                          <a:ea typeface="맑은 고딕"/>
                        </a:rPr>
                        <a:t>●●○</a:t>
                      </a:r>
                    </a:p>
                    <a:p>
                      <a:pPr marL="0" marR="0" lvl="0" indent="0" algn="l" defTabSz="914400" rtl="0" eaLnBrk="1" fontAlgn="auto" latinLnBrk="1" hangingPunct="1">
                        <a:lnSpc>
                          <a:spcPct val="100000"/>
                        </a:lnSpc>
                        <a:spcBef>
                          <a:spcPts val="0"/>
                        </a:spcBef>
                        <a:spcAft>
                          <a:spcPts val="0"/>
                        </a:spcAft>
                        <a:buClrTx/>
                        <a:buSzTx/>
                        <a:buFontTx/>
                        <a:buNone/>
                        <a:tabLst/>
                        <a:defRPr/>
                      </a:pPr>
                      <a:r>
                        <a:rPr sz="1100" b="0" i="0">
                          <a:solidFill>
                            <a:srgbClr val="000000"/>
                          </a:solidFill>
                          <a:latin typeface="맑은 고딕"/>
                          <a:ea typeface="맑은 고딕"/>
                        </a:rPr>
                        <a:t>●●●</a:t>
                      </a:r>
                    </a:p>
                    <a:p>
                      <a:pPr marL="0" marR="0" lvl="0" indent="0" algn="l" defTabSz="914400" rtl="0" eaLnBrk="1" fontAlgn="auto" latinLnBrk="1" hangingPunct="1">
                        <a:lnSpc>
                          <a:spcPct val="100000"/>
                        </a:lnSpc>
                        <a:spcBef>
                          <a:spcPts val="0"/>
                        </a:spcBef>
                        <a:spcAft>
                          <a:spcPts val="0"/>
                        </a:spcAft>
                        <a:buClrTx/>
                        <a:buSzTx/>
                        <a:buFontTx/>
                        <a:buNone/>
                        <a:tabLst/>
                        <a:defRPr/>
                      </a:pPr>
                      <a:r>
                        <a:rPr sz="1100" b="0" i="0">
                          <a:solidFill>
                            <a:srgbClr val="000000"/>
                          </a:solidFill>
                          <a:latin typeface="맑은 고딕"/>
                          <a:ea typeface="맑은 고딕"/>
                        </a:rPr>
                        <a:t>●●○</a:t>
                      </a:r>
                    </a:p>
                    <a:p>
                      <a:pPr marL="0" marR="0" lvl="0" indent="0" algn="l" defTabSz="914400" rtl="0" eaLnBrk="1" fontAlgn="auto" latinLnBrk="1" hangingPunct="1">
                        <a:lnSpc>
                          <a:spcPct val="100000"/>
                        </a:lnSpc>
                        <a:spcBef>
                          <a:spcPts val="0"/>
                        </a:spcBef>
                        <a:spcAft>
                          <a:spcPts val="0"/>
                        </a:spcAft>
                        <a:buClrTx/>
                        <a:buSzTx/>
                        <a:buFontTx/>
                        <a:buNone/>
                        <a:tabLst/>
                        <a:defRPr/>
                      </a:pPr>
                      <a:r>
                        <a:rPr sz="1100" b="0" i="0">
                          <a:solidFill>
                            <a:srgbClr val="000000"/>
                          </a:solidFill>
                          <a:latin typeface="맑은 고딕"/>
                          <a:ea typeface="맑은 고딕"/>
                        </a:rPr>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3" name="제목 2"/>
          <p:cNvSpPr>
            <a:spLocks noGrp="1"/>
          </p:cNvSpPr>
          <p:nvPr>
            <p:ph type="title"/>
          </p:nvPr>
        </p:nvSpPr>
        <p:spPr>
          <a:xfrm>
            <a:off x="234949" y="137379"/>
            <a:ext cx="7631530" cy="365125"/>
          </a:xfrm>
        </p:spPr>
        <p:txBody>
          <a:bodyPr/>
          <a:lstStyle/>
          <a:p>
            <a:r>
              <a:rPr lang="en-US" altLang="ko-KR" dirty="0"/>
              <a:t>DP0. 요청 조율 계층 (Orchestration) 설계</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err="1">
                <a:solidFill>
                  <a:schemeClr val="bg1"/>
                </a:solidFill>
              </a:rPr>
              <a:t>서버 간(클러스터) 요청을 조율하는 계층 구조</a:t>
            </a:r>
            <a:endParaRPr lang="ko-KR" altLang="en-US" sz="1400" b="1" dirty="0">
              <a:solidFill>
                <a:schemeClr val="bg1"/>
              </a:solidFill>
            </a:endParaRP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10177272" y="629703"/>
            <a:ext cx="868680"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Q1~Q4</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9235440" y="627572"/>
            <a:ext cx="86868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F1~F4</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1119104" y="627572"/>
            <a:ext cx="868680"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C1~C6</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5</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88720" y="1397380"/>
            <a:ext cx="5349240" cy="261610"/>
          </a:xfrm>
          <a:prstGeom prst="rect">
            <a:avLst/>
          </a:prstGeom>
          <a:noFill/>
        </p:spPr>
        <p:txBody>
          <a:bodyPr wrap="square" rtlCol="0">
            <a:spAutoFit/>
          </a:bodyPr>
          <a:lstStyle/>
          <a:p>
            <a:r>
              <a:rPr lang="en-US" altLang="ko-KR" sz="1000" dirty="0"/>
              <a:t>“검증된 OSS 위에 설정·확장 모듈(plugin)로 이기종 메모리 인지 정책을 얹는 구조”</a:t>
            </a:r>
          </a:p>
        </p:txBody>
      </p:sp>
      <p:sp>
        <p:nvSpPr>
          <p:cNvPr id="106" name="TextBox 105"/>
          <p:cNvSpPr txBox="1"/>
          <p:nvPr/>
        </p:nvSpPr>
        <p:spPr>
          <a:xfrm>
            <a:off x="6629400" y="1383052"/>
            <a:ext cx="5349240" cy="261610"/>
          </a:xfrm>
          <a:prstGeom prst="rect">
            <a:avLst/>
          </a:prstGeom>
          <a:noFill/>
        </p:spPr>
        <p:txBody>
          <a:bodyPr wrap="square" rtlCol="0">
            <a:spAutoFit/>
          </a:bodyPr>
          <a:lstStyle/>
          <a:p>
            <a:r>
              <a:rPr lang="en-US" altLang="ko-KR" sz="1000" dirty="0"/>
              <a:t>“요청 조율 기능을 하나의 Router에 직접 구현해 호출 경로를 줄이고 자유도를 높인 구조”</a:t>
            </a:r>
            <a:endParaRPr lang="ko-KR" altLang="en-US" sz="1100" dirty="0"/>
          </a:p>
        </p:txBody>
      </p: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07" name="Rectangle 106"/>
          <p:cNvSpPr/>
          <p:nvPr/>
        </p:nvSpPr>
        <p:spPr>
          <a:xfrm>
            <a:off x="1188720" y="1682496"/>
            <a:ext cx="914400" cy="60350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08" name="Rectangle 107"/>
          <p:cNvSpPr/>
          <p:nvPr/>
        </p:nvSpPr>
        <p:spPr>
          <a:xfrm>
            <a:off x="1188720" y="1682496"/>
            <a:ext cx="859536"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«proxy» Envoy</a:t>
            </a:r>
          </a:p>
        </p:txBody>
      </p:sp>
      <p:sp>
        <p:nvSpPr>
          <p:cNvPr id="109" name="Rectangle 108"/>
          <p:cNvSpPr/>
          <p:nvPr/>
        </p:nvSpPr>
        <p:spPr>
          <a:xfrm>
            <a:off x="1280160" y="1901952"/>
            <a:ext cx="768096" cy="347472"/>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A 요청 경로</a:t>
            </a:r>
          </a:p>
          <a:p>
            <a:pPr algn="ctr"/>
            <a:r>
              <a:rPr sz="700" b="0" i="0">
                <a:solidFill>
                  <a:srgbClr val="000000"/>
                </a:solidFill>
                <a:latin typeface="맑은 고딕"/>
                <a:ea typeface="맑은 고딕"/>
              </a:rPr>
              <a:t>ext-proc 호출</a:t>
            </a:r>
          </a:p>
        </p:txBody>
      </p:sp>
      <p:sp>
        <p:nvSpPr>
          <p:cNvPr id="110" name="Rectangle 109"/>
          <p:cNvSpPr/>
          <p:nvPr/>
        </p:nvSpPr>
        <p:spPr>
          <a:xfrm>
            <a:off x="1234439" y="1956816"/>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1" name="Rectangle 110"/>
          <p:cNvSpPr/>
          <p:nvPr/>
        </p:nvSpPr>
        <p:spPr>
          <a:xfrm>
            <a:off x="1234439" y="2048256"/>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2" name="Rectangle 111"/>
          <p:cNvSpPr/>
          <p:nvPr/>
        </p:nvSpPr>
        <p:spPr>
          <a:xfrm>
            <a:off x="1188720" y="2542032"/>
            <a:ext cx="566928" cy="237744"/>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50" b="1" i="0">
                <a:solidFill>
                  <a:srgbClr val="000000"/>
                </a:solidFill>
                <a:latin typeface="맑은 고딕"/>
                <a:ea typeface="맑은 고딕"/>
              </a:rPr>
              <a:t>Client</a:t>
            </a:r>
          </a:p>
        </p:txBody>
      </p:sp>
      <p:cxnSp>
        <p:nvCxnSpPr>
          <p:cNvPr id="113" name="Connector 112"/>
          <p:cNvCxnSpPr/>
          <p:nvPr/>
        </p:nvCxnSpPr>
        <p:spPr>
          <a:xfrm flipV="1">
            <a:off x="1472184" y="2286000"/>
            <a:ext cx="0" cy="25603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1394460" y="2336291"/>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sp>
        <p:nvSpPr>
          <p:cNvPr id="115" name="Rectangle 114"/>
          <p:cNvSpPr/>
          <p:nvPr/>
        </p:nvSpPr>
        <p:spPr>
          <a:xfrm>
            <a:off x="1188720" y="2926080"/>
            <a:ext cx="914400" cy="630936"/>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6" name="Rectangle 115"/>
          <p:cNvSpPr/>
          <p:nvPr/>
        </p:nvSpPr>
        <p:spPr>
          <a:xfrm>
            <a:off x="1188720" y="2926080"/>
            <a:ext cx="859536"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«control» K8s</a:t>
            </a:r>
          </a:p>
        </p:txBody>
      </p:sp>
      <p:sp>
        <p:nvSpPr>
          <p:cNvPr id="117" name="Rectangle 116"/>
          <p:cNvSpPr/>
          <p:nvPr/>
        </p:nvSpPr>
        <p:spPr>
          <a:xfrm>
            <a:off x="1280160" y="3154680"/>
            <a:ext cx="768096" cy="32918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F 서버 발견</a:t>
            </a:r>
          </a:p>
          <a:p>
            <a:pPr algn="ctr"/>
            <a:r>
              <a:rPr sz="700" b="0" i="0">
                <a:solidFill>
                  <a:srgbClr val="000000"/>
                </a:solidFill>
                <a:latin typeface="맑은 고딕"/>
                <a:ea typeface="맑은 고딕"/>
              </a:rPr>
              <a:t>InferencePool</a:t>
            </a:r>
          </a:p>
        </p:txBody>
      </p:sp>
      <p:sp>
        <p:nvSpPr>
          <p:cNvPr id="118" name="Rectangle 117"/>
          <p:cNvSpPr/>
          <p:nvPr/>
        </p:nvSpPr>
        <p:spPr>
          <a:xfrm>
            <a:off x="1234439" y="320954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9" name="Rectangle 118"/>
          <p:cNvSpPr/>
          <p:nvPr/>
        </p:nvSpPr>
        <p:spPr>
          <a:xfrm>
            <a:off x="1234439" y="330098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0" name="Rectangle 119"/>
          <p:cNvSpPr/>
          <p:nvPr/>
        </p:nvSpPr>
        <p:spPr>
          <a:xfrm>
            <a:off x="2286000" y="1682496"/>
            <a:ext cx="2697480" cy="1874519"/>
          </a:xfrm>
          <a:prstGeom prst="rect">
            <a:avLst/>
          </a:prstGeom>
          <a:solidFill>
            <a:srgbClr val="FFFFFF"/>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1" name="Rectangle 120"/>
          <p:cNvSpPr/>
          <p:nvPr/>
        </p:nvSpPr>
        <p:spPr>
          <a:xfrm>
            <a:off x="2286000" y="1682496"/>
            <a:ext cx="1678838" cy="173736"/>
          </a:xfrm>
          <a:prstGeom prst="rect">
            <a:avLst/>
          </a:prstGeom>
          <a:solidFill>
            <a:srgbClr val="2E75B6"/>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«pod» EPP  (llm-d Router, Go)</a:t>
            </a:r>
          </a:p>
        </p:txBody>
      </p:sp>
      <p:sp>
        <p:nvSpPr>
          <p:cNvPr id="122" name="Rectangle 121"/>
          <p:cNvSpPr/>
          <p:nvPr/>
        </p:nvSpPr>
        <p:spPr>
          <a:xfrm>
            <a:off x="2404872" y="1920240"/>
            <a:ext cx="640080" cy="32918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Request</a:t>
            </a:r>
          </a:p>
          <a:p>
            <a:pPr algn="ctr"/>
            <a:r>
              <a:rPr sz="700" b="0" i="0">
                <a:solidFill>
                  <a:srgbClr val="000000"/>
                </a:solidFill>
                <a:latin typeface="맑은 고딕"/>
                <a:ea typeface="맑은 고딕"/>
              </a:rPr>
              <a:t>Handler</a:t>
            </a:r>
          </a:p>
        </p:txBody>
      </p:sp>
      <p:sp>
        <p:nvSpPr>
          <p:cNvPr id="123" name="Rectangle 122"/>
          <p:cNvSpPr/>
          <p:nvPr/>
        </p:nvSpPr>
        <p:spPr>
          <a:xfrm>
            <a:off x="2359152" y="197510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4" name="Rectangle 123"/>
          <p:cNvSpPr/>
          <p:nvPr/>
        </p:nvSpPr>
        <p:spPr>
          <a:xfrm>
            <a:off x="2359152" y="206654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5" name="Rectangle 124"/>
          <p:cNvSpPr/>
          <p:nvPr/>
        </p:nvSpPr>
        <p:spPr>
          <a:xfrm>
            <a:off x="3182112" y="1920240"/>
            <a:ext cx="640080" cy="32918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D Flow</a:t>
            </a:r>
          </a:p>
          <a:p>
            <a:pPr algn="ctr"/>
            <a:r>
              <a:rPr sz="700" b="0" i="0">
                <a:solidFill>
                  <a:srgbClr val="000000"/>
                </a:solidFill>
                <a:latin typeface="맑은 고딕"/>
                <a:ea typeface="맑은 고딕"/>
              </a:rPr>
              <a:t>Control</a:t>
            </a:r>
          </a:p>
        </p:txBody>
      </p:sp>
      <p:sp>
        <p:nvSpPr>
          <p:cNvPr id="126" name="Rectangle 125"/>
          <p:cNvSpPr/>
          <p:nvPr/>
        </p:nvSpPr>
        <p:spPr>
          <a:xfrm>
            <a:off x="3136392" y="197510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7" name="Rectangle 126"/>
          <p:cNvSpPr/>
          <p:nvPr/>
        </p:nvSpPr>
        <p:spPr>
          <a:xfrm>
            <a:off x="3136392" y="206654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8" name="Rectangle 127"/>
          <p:cNvSpPr/>
          <p:nvPr/>
        </p:nvSpPr>
        <p:spPr>
          <a:xfrm>
            <a:off x="2359152" y="2359152"/>
            <a:ext cx="1481328" cy="896112"/>
          </a:xfrm>
          <a:prstGeom prst="rect">
            <a:avLst/>
          </a:prstGeom>
          <a:solidFill>
            <a:srgbClr val="DAE3F3"/>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9" name="Rectangle 128"/>
          <p:cNvSpPr/>
          <p:nvPr/>
        </p:nvSpPr>
        <p:spPr>
          <a:xfrm>
            <a:off x="2359152" y="2359152"/>
            <a:ext cx="691286"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B Scheduler</a:t>
            </a:r>
          </a:p>
        </p:txBody>
      </p:sp>
      <p:sp>
        <p:nvSpPr>
          <p:cNvPr id="130" name="TextBox 129"/>
          <p:cNvSpPr txBox="1"/>
          <p:nvPr/>
        </p:nvSpPr>
        <p:spPr>
          <a:xfrm>
            <a:off x="2414016" y="2542032"/>
            <a:ext cx="1371600" cy="11887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Filter → Score → Pick</a:t>
            </a:r>
          </a:p>
        </p:txBody>
      </p:sp>
      <p:sp>
        <p:nvSpPr>
          <p:cNvPr id="131" name="Rectangle 130"/>
          <p:cNvSpPr/>
          <p:nvPr/>
        </p:nvSpPr>
        <p:spPr>
          <a:xfrm>
            <a:off x="2432304" y="2679192"/>
            <a:ext cx="1335024" cy="246888"/>
          </a:xfrm>
          <a:prstGeom prst="rect">
            <a:avLst/>
          </a:prstGeom>
          <a:solidFill>
            <a:srgbClr val="FFD966"/>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r>
              <a:rPr sz="700" b="1" i="0">
                <a:solidFill>
                  <a:srgbClr val="000000"/>
                </a:solidFill>
                <a:latin typeface="맑은 고딕"/>
                <a:ea typeface="맑은 고딕"/>
              </a:rPr>
              <a:t>비용 기반 점수 (P3)</a:t>
            </a:r>
          </a:p>
        </p:txBody>
      </p:sp>
      <p:sp>
        <p:nvSpPr>
          <p:cNvPr id="132" name="Rectangle 131"/>
          <p:cNvSpPr/>
          <p:nvPr/>
        </p:nvSpPr>
        <p:spPr>
          <a:xfrm>
            <a:off x="2432304" y="2962656"/>
            <a:ext cx="1335024" cy="246888"/>
          </a:xfrm>
          <a:prstGeom prst="rect">
            <a:avLst/>
          </a:prstGeom>
          <a:solidFill>
            <a:srgbClr val="FFD966"/>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r>
              <a:rPr sz="700" b="1" i="0">
                <a:solidFill>
                  <a:srgbClr val="000000"/>
                </a:solidFill>
                <a:latin typeface="맑은 고딕"/>
                <a:ea typeface="맑은 고딕"/>
              </a:rPr>
              <a:t>P/D 판단 래퍼 (P4)</a:t>
            </a:r>
          </a:p>
        </p:txBody>
      </p:sp>
      <p:sp>
        <p:nvSpPr>
          <p:cNvPr id="133" name="Rectangle 132"/>
          <p:cNvSpPr/>
          <p:nvPr/>
        </p:nvSpPr>
        <p:spPr>
          <a:xfrm>
            <a:off x="2359152" y="3310128"/>
            <a:ext cx="1481328" cy="201168"/>
          </a:xfrm>
          <a:prstGeom prst="rect">
            <a:avLst/>
          </a:prstGeom>
          <a:solidFill>
            <a:srgbClr val="FFD966"/>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r>
              <a:rPr sz="700" b="1" i="0">
                <a:solidFill>
                  <a:srgbClr val="000000"/>
                </a:solidFill>
                <a:latin typeface="맑은 고딕"/>
                <a:ea typeface="맑은 고딕"/>
              </a:rPr>
              <a:t>P5 노드 지시 (일반 경로)</a:t>
            </a:r>
          </a:p>
        </p:txBody>
      </p:sp>
      <p:sp>
        <p:nvSpPr>
          <p:cNvPr id="134" name="Rectangle 133"/>
          <p:cNvSpPr/>
          <p:nvPr/>
        </p:nvSpPr>
        <p:spPr>
          <a:xfrm>
            <a:off x="3986784" y="1920240"/>
            <a:ext cx="932688" cy="1591056"/>
          </a:xfrm>
          <a:prstGeom prst="rect">
            <a:avLst/>
          </a:prstGeom>
          <a:solidFill>
            <a:srgbClr val="DAE3F3"/>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35" name="Rectangle 134"/>
          <p:cNvSpPr/>
          <p:nvPr/>
        </p:nvSpPr>
        <p:spPr>
          <a:xfrm>
            <a:off x="3986784" y="1920240"/>
            <a:ext cx="742492"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C Data Layer</a:t>
            </a:r>
          </a:p>
        </p:txBody>
      </p:sp>
      <p:sp>
        <p:nvSpPr>
          <p:cNvPr id="136" name="Rectangle 135"/>
          <p:cNvSpPr/>
          <p:nvPr/>
        </p:nvSpPr>
        <p:spPr>
          <a:xfrm>
            <a:off x="4041648" y="2139696"/>
            <a:ext cx="822960" cy="292608"/>
          </a:xfrm>
          <a:prstGeom prst="rect">
            <a:avLst/>
          </a:prstGeom>
          <a:solidFill>
            <a:srgbClr val="FFFFFF"/>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0" rIns="18288" bIns="0"/>
          <a:lstStyle/>
          <a:p>
            <a:pPr algn="ctr"/>
            <a:r>
              <a:rPr sz="700" b="1" i="0">
                <a:solidFill>
                  <a:srgbClr val="000000"/>
                </a:solidFill>
                <a:latin typeface="맑은 고딕"/>
                <a:ea typeface="맑은 고딕"/>
              </a:rPr>
              <a:t>KV Indexer</a:t>
            </a:r>
          </a:p>
          <a:p>
            <a:pPr algn="ctr"/>
            <a:r>
              <a:rPr sz="700" b="0" i="0">
                <a:solidFill>
                  <a:srgbClr val="000000"/>
                </a:solidFill>
                <a:latin typeface="맑은 고딕"/>
                <a:ea typeface="맑은 고딕"/>
              </a:rPr>
              <a:t>(KV 위치 목록)</a:t>
            </a:r>
          </a:p>
        </p:txBody>
      </p:sp>
      <p:sp>
        <p:nvSpPr>
          <p:cNvPr id="137" name="Rectangle 136"/>
          <p:cNvSpPr/>
          <p:nvPr/>
        </p:nvSpPr>
        <p:spPr>
          <a:xfrm>
            <a:off x="4041648" y="2542032"/>
            <a:ext cx="822960" cy="420624"/>
          </a:xfrm>
          <a:prstGeom prst="rect">
            <a:avLst/>
          </a:prstGeom>
          <a:solidFill>
            <a:srgbClr val="FFF2CC"/>
          </a:solidFill>
          <a:ln w="15875">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r>
              <a:rPr sz="700" b="1" i="0">
                <a:solidFill>
                  <a:srgbClr val="000000"/>
                </a:solidFill>
                <a:latin typeface="맑은 고딕"/>
                <a:ea typeface="맑은 고딕"/>
              </a:rPr>
              <a:t>메모리 종류 가중치 (P1)</a:t>
            </a:r>
          </a:p>
        </p:txBody>
      </p:sp>
      <p:sp>
        <p:nvSpPr>
          <p:cNvPr id="138" name="Rectangle 137"/>
          <p:cNvSpPr/>
          <p:nvPr/>
        </p:nvSpPr>
        <p:spPr>
          <a:xfrm>
            <a:off x="4041648" y="3035808"/>
            <a:ext cx="822960" cy="420624"/>
          </a:xfrm>
          <a:prstGeom prst="rect">
            <a:avLst/>
          </a:prstGeom>
          <a:solidFill>
            <a:srgbClr val="FFF2CC"/>
          </a:solidFill>
          <a:ln w="15875">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r>
              <a:rPr sz="700" b="1" i="0">
                <a:solidFill>
                  <a:srgbClr val="000000"/>
                </a:solidFill>
                <a:latin typeface="맑은 고딕"/>
                <a:ea typeface="맑은 고딕"/>
              </a:rPr>
              <a:t>실시간 상태 수치 (P2)</a:t>
            </a:r>
          </a:p>
        </p:txBody>
      </p:sp>
      <p:cxnSp>
        <p:nvCxnSpPr>
          <p:cNvPr id="139" name="Connector 138"/>
          <p:cNvCxnSpPr/>
          <p:nvPr/>
        </p:nvCxnSpPr>
        <p:spPr>
          <a:xfrm>
            <a:off x="2103120" y="2084831"/>
            <a:ext cx="301752"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40" name="Oval 139"/>
          <p:cNvSpPr/>
          <p:nvPr/>
        </p:nvSpPr>
        <p:spPr>
          <a:xfrm>
            <a:off x="2176272" y="2007107"/>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cxnSp>
        <p:nvCxnSpPr>
          <p:cNvPr id="141" name="Connector 140"/>
          <p:cNvCxnSpPr/>
          <p:nvPr/>
        </p:nvCxnSpPr>
        <p:spPr>
          <a:xfrm>
            <a:off x="3044952" y="2084831"/>
            <a:ext cx="137160"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3502152" y="2249424"/>
            <a:ext cx="0" cy="109728"/>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3840480" y="2788920"/>
            <a:ext cx="146304"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44" name="Oval 143"/>
          <p:cNvSpPr/>
          <p:nvPr/>
        </p:nvSpPr>
        <p:spPr>
          <a:xfrm>
            <a:off x="3835908" y="271119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8</a:t>
            </a:r>
          </a:p>
        </p:txBody>
      </p:sp>
      <p:cxnSp>
        <p:nvCxnSpPr>
          <p:cNvPr id="145" name="Connector 144"/>
          <p:cNvCxnSpPr/>
          <p:nvPr/>
        </p:nvCxnSpPr>
        <p:spPr>
          <a:xfrm>
            <a:off x="2103120" y="3291840"/>
            <a:ext cx="182880" cy="0"/>
          </a:xfrm>
          <a:prstGeom prst="line">
            <a:avLst/>
          </a:prstGeom>
          <a:ln w="15875">
            <a:solidFill>
              <a:srgbClr val="40404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46" name="Oval 145"/>
          <p:cNvSpPr/>
          <p:nvPr/>
        </p:nvSpPr>
        <p:spPr>
          <a:xfrm>
            <a:off x="2116836" y="321411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7</a:t>
            </a:r>
          </a:p>
        </p:txBody>
      </p:sp>
      <p:sp>
        <p:nvSpPr>
          <p:cNvPr id="147" name="Rectangle 146"/>
          <p:cNvSpPr/>
          <p:nvPr/>
        </p:nvSpPr>
        <p:spPr>
          <a:xfrm>
            <a:off x="5303520" y="1682496"/>
            <a:ext cx="1188720" cy="1042415"/>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48" name="Rectangle 147"/>
          <p:cNvSpPr/>
          <p:nvPr/>
        </p:nvSpPr>
        <p:spPr>
          <a:xfrm>
            <a:off x="5303520" y="1682496"/>
            <a:ext cx="1027785"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«pod» Decode 서버</a:t>
            </a:r>
          </a:p>
        </p:txBody>
      </p:sp>
      <p:sp>
        <p:nvSpPr>
          <p:cNvPr id="149" name="Rectangle 148"/>
          <p:cNvSpPr/>
          <p:nvPr/>
        </p:nvSpPr>
        <p:spPr>
          <a:xfrm>
            <a:off x="5376672" y="1892807"/>
            <a:ext cx="1042415" cy="530352"/>
          </a:xfrm>
          <a:prstGeom prst="rect">
            <a:avLst/>
          </a:prstGeom>
          <a:solidFill>
            <a:srgbClr val="DAE3F3"/>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0" name="Rectangle 149"/>
          <p:cNvSpPr/>
          <p:nvPr/>
        </p:nvSpPr>
        <p:spPr>
          <a:xfrm>
            <a:off x="5376672" y="1892807"/>
            <a:ext cx="742492"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E pd-sidecar</a:t>
            </a:r>
          </a:p>
        </p:txBody>
      </p:sp>
      <p:sp>
        <p:nvSpPr>
          <p:cNvPr id="151" name="Rectangle 150"/>
          <p:cNvSpPr/>
          <p:nvPr/>
        </p:nvSpPr>
        <p:spPr>
          <a:xfrm>
            <a:off x="5413248" y="2075688"/>
            <a:ext cx="969264" cy="310896"/>
          </a:xfrm>
          <a:prstGeom prst="rect">
            <a:avLst/>
          </a:prstGeom>
          <a:solidFill>
            <a:srgbClr val="F8CBAD"/>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r>
              <a:rPr sz="700" b="1" i="0">
                <a:solidFill>
                  <a:srgbClr val="000000"/>
                </a:solidFill>
                <a:latin typeface="맑은 고딕"/>
                <a:ea typeface="맑은 고딕"/>
              </a:rPr>
              <a:t>노드 지시 수정 (P5, P/D 경로)</a:t>
            </a:r>
          </a:p>
        </p:txBody>
      </p:sp>
      <p:sp>
        <p:nvSpPr>
          <p:cNvPr id="152" name="Rectangle 151"/>
          <p:cNvSpPr/>
          <p:nvPr/>
        </p:nvSpPr>
        <p:spPr>
          <a:xfrm>
            <a:off x="5376672" y="2468880"/>
            <a:ext cx="1042415" cy="20116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vLLM (decode)</a:t>
            </a:r>
          </a:p>
        </p:txBody>
      </p:sp>
      <p:sp>
        <p:nvSpPr>
          <p:cNvPr id="153" name="Rectangle 152"/>
          <p:cNvSpPr/>
          <p:nvPr/>
        </p:nvSpPr>
        <p:spPr>
          <a:xfrm>
            <a:off x="5330952" y="25237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4" name="Rectangle 153"/>
          <p:cNvSpPr/>
          <p:nvPr/>
        </p:nvSpPr>
        <p:spPr>
          <a:xfrm>
            <a:off x="5330952" y="26151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5" name="Rectangle 154"/>
          <p:cNvSpPr/>
          <p:nvPr/>
        </p:nvSpPr>
        <p:spPr>
          <a:xfrm>
            <a:off x="5303520" y="2962656"/>
            <a:ext cx="1188720" cy="594360"/>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6" name="Rectangle 155"/>
          <p:cNvSpPr/>
          <p:nvPr/>
        </p:nvSpPr>
        <p:spPr>
          <a:xfrm>
            <a:off x="5303520" y="2962656"/>
            <a:ext cx="1078992"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«pod» Prefill 서버</a:t>
            </a:r>
          </a:p>
        </p:txBody>
      </p:sp>
      <p:sp>
        <p:nvSpPr>
          <p:cNvPr id="157" name="Rectangle 156"/>
          <p:cNvSpPr/>
          <p:nvPr/>
        </p:nvSpPr>
        <p:spPr>
          <a:xfrm>
            <a:off x="5376672" y="3154680"/>
            <a:ext cx="1042415" cy="347472"/>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vLLM (prefill)</a:t>
            </a:r>
          </a:p>
          <a:p>
            <a:pPr algn="ctr"/>
            <a:r>
              <a:rPr sz="700" b="0" i="0">
                <a:solidFill>
                  <a:srgbClr val="000000"/>
                </a:solidFill>
                <a:latin typeface="맑은 고딕"/>
                <a:ea typeface="맑은 고딕"/>
              </a:rPr>
              <a:t>KV events · /metrics</a:t>
            </a:r>
          </a:p>
        </p:txBody>
      </p:sp>
      <p:sp>
        <p:nvSpPr>
          <p:cNvPr id="158" name="Rectangle 157"/>
          <p:cNvSpPr/>
          <p:nvPr/>
        </p:nvSpPr>
        <p:spPr>
          <a:xfrm>
            <a:off x="5330952"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9" name="Rectangle 158"/>
          <p:cNvSpPr/>
          <p:nvPr/>
        </p:nvSpPr>
        <p:spPr>
          <a:xfrm>
            <a:off x="5330952"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160" name="Connector 159"/>
          <p:cNvCxnSpPr/>
          <p:nvPr/>
        </p:nvCxnSpPr>
        <p:spPr>
          <a:xfrm>
            <a:off x="4983480" y="2194560"/>
            <a:ext cx="320040"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61" name="Oval 160"/>
          <p:cNvSpPr/>
          <p:nvPr/>
        </p:nvSpPr>
        <p:spPr>
          <a:xfrm>
            <a:off x="5065776" y="211683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3</a:t>
            </a:r>
          </a:p>
        </p:txBody>
      </p:sp>
      <p:cxnSp>
        <p:nvCxnSpPr>
          <p:cNvPr id="162" name="Connector 161"/>
          <p:cNvCxnSpPr/>
          <p:nvPr/>
        </p:nvCxnSpPr>
        <p:spPr>
          <a:xfrm>
            <a:off x="5897880" y="2724912"/>
            <a:ext cx="0" cy="237744"/>
          </a:xfrm>
          <a:prstGeom prst="line">
            <a:avLst/>
          </a:prstGeom>
          <a:ln w="15875">
            <a:solidFill>
              <a:srgbClr val="40404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63" name="Oval 162"/>
          <p:cNvSpPr/>
          <p:nvPr/>
        </p:nvSpPr>
        <p:spPr>
          <a:xfrm>
            <a:off x="5820156" y="276606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4</a:t>
            </a:r>
          </a:p>
        </p:txBody>
      </p:sp>
      <p:sp>
        <p:nvSpPr>
          <p:cNvPr id="164" name="Oval 163"/>
          <p:cNvSpPr/>
          <p:nvPr/>
        </p:nvSpPr>
        <p:spPr>
          <a:xfrm>
            <a:off x="6140196" y="276606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5</a:t>
            </a:r>
          </a:p>
        </p:txBody>
      </p:sp>
      <p:cxnSp>
        <p:nvCxnSpPr>
          <p:cNvPr id="165" name="Connector 164"/>
          <p:cNvCxnSpPr/>
          <p:nvPr/>
        </p:nvCxnSpPr>
        <p:spPr>
          <a:xfrm flipH="1">
            <a:off x="4919472" y="3246120"/>
            <a:ext cx="38404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66" name="Oval 165"/>
          <p:cNvSpPr/>
          <p:nvPr/>
        </p:nvSpPr>
        <p:spPr>
          <a:xfrm>
            <a:off x="5033772" y="316839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6</a:t>
            </a:r>
          </a:p>
        </p:txBody>
      </p:sp>
      <p:sp>
        <p:nvSpPr>
          <p:cNvPr id="167" name="Rectangle 166"/>
          <p:cNvSpPr/>
          <p:nvPr/>
        </p:nvSpPr>
        <p:spPr>
          <a:xfrm>
            <a:off x="1188720" y="3602736"/>
            <a:ext cx="1280160" cy="173736"/>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0" rIns="18288" bIns="0"/>
          <a:lstStyle/>
          <a:p>
            <a:pPr algn="ctr"/>
            <a:r>
              <a:rPr sz="700" b="1" i="0">
                <a:solidFill>
                  <a:srgbClr val="000000"/>
                </a:solidFill>
                <a:latin typeface="맑은 고딕"/>
                <a:ea typeface="맑은 고딕"/>
              </a:rPr>
              <a:t>기존 OSS (그대로 사용)</a:t>
            </a:r>
          </a:p>
        </p:txBody>
      </p:sp>
      <p:sp>
        <p:nvSpPr>
          <p:cNvPr id="168" name="Rectangle 167"/>
          <p:cNvSpPr/>
          <p:nvPr/>
        </p:nvSpPr>
        <p:spPr>
          <a:xfrm>
            <a:off x="2530144" y="3602736"/>
            <a:ext cx="1280160" cy="173736"/>
          </a:xfrm>
          <a:prstGeom prst="rect">
            <a:avLst/>
          </a:prstGeom>
          <a:solidFill>
            <a:srgbClr val="FFD966"/>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0" rIns="18288" bIns="0"/>
          <a:lstStyle/>
          <a:p>
            <a:pPr algn="ctr"/>
            <a:r>
              <a:rPr sz="700" b="1" i="0">
                <a:solidFill>
                  <a:srgbClr val="000000"/>
                </a:solidFill>
                <a:latin typeface="맑은 고딕"/>
                <a:ea typeface="맑은 고딕"/>
              </a:rPr>
              <a:t>확장 모듈(plugin) 추가</a:t>
            </a:r>
          </a:p>
        </p:txBody>
      </p:sp>
      <p:sp>
        <p:nvSpPr>
          <p:cNvPr id="169" name="Rectangle 168"/>
          <p:cNvSpPr/>
          <p:nvPr/>
        </p:nvSpPr>
        <p:spPr>
          <a:xfrm>
            <a:off x="3871569" y="3602736"/>
            <a:ext cx="1280160" cy="173736"/>
          </a:xfrm>
          <a:prstGeom prst="rect">
            <a:avLst/>
          </a:prstGeom>
          <a:solidFill>
            <a:srgbClr val="FFF2CC"/>
          </a:solidFill>
          <a:ln w="15875">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 tIns="0" rIns="18288" bIns="0"/>
          <a:lstStyle/>
          <a:p>
            <a:pPr algn="ctr"/>
            <a:r>
              <a:rPr sz="700" b="1" i="0">
                <a:solidFill>
                  <a:srgbClr val="000000"/>
                </a:solidFill>
                <a:latin typeface="맑은 고딕"/>
                <a:ea typeface="맑은 고딕"/>
              </a:rPr>
              <a:t>설정만 변경</a:t>
            </a:r>
          </a:p>
        </p:txBody>
      </p:sp>
      <p:sp>
        <p:nvSpPr>
          <p:cNvPr id="170" name="Rectangle 169"/>
          <p:cNvSpPr/>
          <p:nvPr/>
        </p:nvSpPr>
        <p:spPr>
          <a:xfrm>
            <a:off x="5212994" y="3602736"/>
            <a:ext cx="1280160" cy="173736"/>
          </a:xfrm>
          <a:prstGeom prst="rect">
            <a:avLst/>
          </a:prstGeom>
          <a:solidFill>
            <a:srgbClr val="F8CBAD"/>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0" rIns="18288" bIns="0"/>
          <a:lstStyle/>
          <a:p>
            <a:pPr algn="ctr"/>
            <a:r>
              <a:rPr sz="700" b="1" i="0">
                <a:solidFill>
                  <a:srgbClr val="000000"/>
                </a:solidFill>
                <a:latin typeface="맑은 고딕"/>
                <a:ea typeface="맑은 고딕"/>
              </a:rPr>
              <a:t>기존 모듈 수정(patch)</a:t>
            </a:r>
          </a:p>
        </p:txBody>
      </p:sp>
      <p:sp>
        <p:nvSpPr>
          <p:cNvPr id="171" name="TextBox 170"/>
          <p:cNvSpPr txBox="1"/>
          <p:nvPr/>
        </p:nvSpPr>
        <p:spPr>
          <a:xfrm>
            <a:off x="1188720" y="3813048"/>
            <a:ext cx="5349240" cy="22860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① HTTP  ② 결정 요청 (원격 호출 1회 추가)  ③ 선택된 서버+헤더  ④ Prefill 요청+KV 전송 정보  ⑤ 서버 간 KV 전송(NIXL)</a:t>
            </a:r>
          </a:p>
          <a:p>
            <a:pPr algn="l"/>
            <a:r>
              <a:rPr sz="700" b="0" i="0">
                <a:solidFill>
                  <a:srgbClr val="404040"/>
                </a:solidFill>
                <a:latin typeface="맑은 고딕"/>
                <a:ea typeface="맑은 고딕"/>
              </a:rPr>
              <a:t>⑥ KV 위치 이벤트·/metrics  ⑦ 서버 발견  ⑧ 상태 조회</a:t>
            </a:r>
          </a:p>
        </p:txBody>
      </p:sp>
      <p:sp>
        <p:nvSpPr>
          <p:cNvPr id="172" name="Rectangle 171"/>
          <p:cNvSpPr/>
          <p:nvPr/>
        </p:nvSpPr>
        <p:spPr>
          <a:xfrm>
            <a:off x="1188720" y="4069080"/>
            <a:ext cx="5303520" cy="347472"/>
          </a:xfrm>
          <a:prstGeom prst="rect">
            <a:avLst/>
          </a:prstGeom>
          <a:solidFill>
            <a:srgbClr val="FFFBEA"/>
          </a:solidFill>
          <a:ln w="95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36576" bIns="9144"/>
          <a:lstStyle/>
          <a:p>
            <a:pPr algn="l"/>
            <a:r>
              <a:rPr sz="700" b="1" i="0">
                <a:solidFill>
                  <a:srgbClr val="7F6000"/>
                </a:solidFill>
                <a:latin typeface="맑은 고딕"/>
                <a:ea typeface="맑은 고딕"/>
              </a:rPr>
              <a:t>P1~P4 = 우리가 조율 계층에 넣는 판단 로직 </a:t>
            </a:r>
            <a:r>
              <a:rPr sz="700" b="0" i="0">
                <a:solidFill>
                  <a:srgbClr val="000000"/>
                </a:solidFill>
                <a:latin typeface="맑은 고딕"/>
                <a:ea typeface="맑은 고딕"/>
              </a:rPr>
              <a:t>(P5 노드 지시는 기존 모듈 1건 수정 필요)</a:t>
            </a:r>
          </a:p>
          <a:p>
            <a:pPr algn="l"/>
            <a:r>
              <a:rPr sz="700" b="0" i="0">
                <a:solidFill>
                  <a:srgbClr val="000000"/>
                </a:solidFill>
                <a:latin typeface="맑은 고딕"/>
                <a:ea typeface="맑은 고딕"/>
              </a:rPr>
              <a:t>P1 메모리 종류별 점수(설정) · P2 실시간 상태 반영(설정)</a:t>
            </a:r>
          </a:p>
          <a:p>
            <a:pPr algn="l"/>
            <a:r>
              <a:rPr sz="700" b="0" i="0">
                <a:solidFill>
                  <a:srgbClr val="000000"/>
                </a:solidFill>
                <a:latin typeface="맑은 고딕"/>
                <a:ea typeface="맑은 고딕"/>
              </a:rPr>
              <a:t>P3 비용 기반 적중 점수(확장) · P4 비용 기반 P/D 분리 판단(확장)</a:t>
            </a:r>
          </a:p>
        </p:txBody>
      </p:sp>
      <p:sp>
        <p:nvSpPr>
          <p:cNvPr id="173" name="Rectangle 172"/>
          <p:cNvSpPr/>
          <p:nvPr/>
        </p:nvSpPr>
        <p:spPr>
          <a:xfrm>
            <a:off x="6656832" y="2560320"/>
            <a:ext cx="548640" cy="274320"/>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50" b="1" i="0">
                <a:solidFill>
                  <a:srgbClr val="000000"/>
                </a:solidFill>
                <a:latin typeface="맑은 고딕"/>
                <a:ea typeface="맑은 고딕"/>
              </a:rPr>
              <a:t>Client</a:t>
            </a:r>
          </a:p>
        </p:txBody>
      </p:sp>
      <p:cxnSp>
        <p:nvCxnSpPr>
          <p:cNvPr id="174" name="Connector 173"/>
          <p:cNvCxnSpPr/>
          <p:nvPr/>
        </p:nvCxnSpPr>
        <p:spPr>
          <a:xfrm>
            <a:off x="7205472" y="2697480"/>
            <a:ext cx="2011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75" name="Oval 174"/>
          <p:cNvSpPr/>
          <p:nvPr/>
        </p:nvSpPr>
        <p:spPr>
          <a:xfrm>
            <a:off x="7228332" y="261975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1</a:t>
            </a:r>
          </a:p>
        </p:txBody>
      </p:sp>
      <p:sp>
        <p:nvSpPr>
          <p:cNvPr id="176" name="Rectangle 175"/>
          <p:cNvSpPr/>
          <p:nvPr/>
        </p:nvSpPr>
        <p:spPr>
          <a:xfrm>
            <a:off x="7406640" y="1682496"/>
            <a:ext cx="3383280" cy="1874519"/>
          </a:xfrm>
          <a:prstGeom prst="rect">
            <a:avLst/>
          </a:prstGeom>
          <a:solidFill>
            <a:srgbClr val="FFFFFF"/>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77" name="Rectangle 176"/>
          <p:cNvSpPr/>
          <p:nvPr/>
        </p:nvSpPr>
        <p:spPr>
          <a:xfrm>
            <a:off x="7406640" y="1682496"/>
            <a:ext cx="2542032"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700" b="1" i="0">
                <a:solidFill>
                  <a:srgbClr val="FFFFFF"/>
                </a:solidFill>
                <a:latin typeface="맑은 고딕"/>
                <a:ea typeface="맑은 고딕"/>
              </a:rPr>
              <a:t>«process» Own Router  (Python/Go, 단일 프로세스)</a:t>
            </a:r>
          </a:p>
        </p:txBody>
      </p:sp>
      <p:sp>
        <p:nvSpPr>
          <p:cNvPr id="178" name="Rectangle 177"/>
          <p:cNvSpPr/>
          <p:nvPr/>
        </p:nvSpPr>
        <p:spPr>
          <a:xfrm>
            <a:off x="7516368" y="1938528"/>
            <a:ext cx="146304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A 요청 경로</a:t>
            </a:r>
          </a:p>
          <a:p>
            <a:pPr algn="ctr"/>
            <a:r>
              <a:rPr sz="700" b="0" i="0">
                <a:solidFill>
                  <a:srgbClr val="000000"/>
                </a:solidFill>
                <a:latin typeface="맑은 고딕"/>
                <a:ea typeface="맑은 고딕"/>
              </a:rPr>
              <a:t>Ingress / Proxy</a:t>
            </a:r>
          </a:p>
        </p:txBody>
      </p:sp>
      <p:sp>
        <p:nvSpPr>
          <p:cNvPr id="179" name="Rectangle 178"/>
          <p:cNvSpPr/>
          <p:nvPr/>
        </p:nvSpPr>
        <p:spPr>
          <a:xfrm>
            <a:off x="7470648" y="199339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0" name="Rectangle 179"/>
          <p:cNvSpPr/>
          <p:nvPr/>
        </p:nvSpPr>
        <p:spPr>
          <a:xfrm>
            <a:off x="7470648" y="208483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1" name="Rectangle 180"/>
          <p:cNvSpPr/>
          <p:nvPr/>
        </p:nvSpPr>
        <p:spPr>
          <a:xfrm>
            <a:off x="7516368" y="2487168"/>
            <a:ext cx="146304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D 흐름 제어</a:t>
            </a:r>
          </a:p>
          <a:p>
            <a:pPr algn="ctr"/>
            <a:r>
              <a:rPr sz="700" b="0" i="0">
                <a:solidFill>
                  <a:srgbClr val="000000"/>
                </a:solidFill>
                <a:latin typeface="맑은 고딕"/>
                <a:ea typeface="맑은 고딕"/>
              </a:rPr>
              <a:t>Admission (최소)</a:t>
            </a:r>
          </a:p>
        </p:txBody>
      </p:sp>
      <p:sp>
        <p:nvSpPr>
          <p:cNvPr id="182" name="Rectangle 181"/>
          <p:cNvSpPr/>
          <p:nvPr/>
        </p:nvSpPr>
        <p:spPr>
          <a:xfrm>
            <a:off x="7470648" y="254203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3" name="Rectangle 182"/>
          <p:cNvSpPr/>
          <p:nvPr/>
        </p:nvSpPr>
        <p:spPr>
          <a:xfrm>
            <a:off x="7470648" y="263347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4" name="Rectangle 183"/>
          <p:cNvSpPr/>
          <p:nvPr/>
        </p:nvSpPr>
        <p:spPr>
          <a:xfrm>
            <a:off x="7516368" y="3035808"/>
            <a:ext cx="1463040" cy="457200"/>
          </a:xfrm>
          <a:prstGeom prst="rect">
            <a:avLst/>
          </a:prstGeom>
          <a:solidFill>
            <a:srgbClr val="FBE5D6"/>
          </a:solidFill>
          <a:ln w="222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B PolicyEngine</a:t>
            </a:r>
          </a:p>
          <a:p>
            <a:pPr algn="ctr"/>
            <a:r>
              <a:rPr sz="700" b="0" i="0">
                <a:solidFill>
                  <a:srgbClr val="000000"/>
                </a:solidFill>
                <a:latin typeface="맑은 고딕"/>
                <a:ea typeface="맑은 고딕"/>
              </a:rPr>
              <a:t>P1~P5 직접 코드</a:t>
            </a:r>
          </a:p>
        </p:txBody>
      </p:sp>
      <p:sp>
        <p:nvSpPr>
          <p:cNvPr id="185" name="Rectangle 184"/>
          <p:cNvSpPr/>
          <p:nvPr/>
        </p:nvSpPr>
        <p:spPr>
          <a:xfrm>
            <a:off x="7470648" y="309067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6" name="Rectangle 185"/>
          <p:cNvSpPr/>
          <p:nvPr/>
        </p:nvSpPr>
        <p:spPr>
          <a:xfrm>
            <a:off x="7470648" y="318211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7" name="Rectangle 186"/>
          <p:cNvSpPr/>
          <p:nvPr/>
        </p:nvSpPr>
        <p:spPr>
          <a:xfrm>
            <a:off x="9144000" y="1938528"/>
            <a:ext cx="155448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F 서버 발견</a:t>
            </a:r>
          </a:p>
          <a:p>
            <a:pPr algn="ctr"/>
            <a:r>
              <a:rPr sz="700" b="0" i="0">
                <a:solidFill>
                  <a:srgbClr val="000000"/>
                </a:solidFill>
                <a:latin typeface="맑은 고딕"/>
                <a:ea typeface="맑은 고딕"/>
              </a:rPr>
              <a:t>정적 설정 / etcd</a:t>
            </a:r>
          </a:p>
        </p:txBody>
      </p:sp>
      <p:sp>
        <p:nvSpPr>
          <p:cNvPr id="188" name="Rectangle 187"/>
          <p:cNvSpPr/>
          <p:nvPr/>
        </p:nvSpPr>
        <p:spPr>
          <a:xfrm>
            <a:off x="9098280" y="199339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89" name="Rectangle 188"/>
          <p:cNvSpPr/>
          <p:nvPr/>
        </p:nvSpPr>
        <p:spPr>
          <a:xfrm>
            <a:off x="9098280" y="208483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0" name="Rectangle 189"/>
          <p:cNvSpPr/>
          <p:nvPr/>
        </p:nvSpPr>
        <p:spPr>
          <a:xfrm>
            <a:off x="9144000" y="2487168"/>
            <a:ext cx="1554480" cy="457200"/>
          </a:xfrm>
          <a:prstGeom prst="rect">
            <a:avLst/>
          </a:prstGeom>
          <a:solidFill>
            <a:srgbClr val="FBE5D6"/>
          </a:solidFill>
          <a:ln w="222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C State Store</a:t>
            </a:r>
          </a:p>
          <a:p>
            <a:pPr algn="ctr"/>
            <a:r>
              <a:rPr sz="700" b="0" i="0">
                <a:solidFill>
                  <a:srgbClr val="000000"/>
                </a:solidFill>
                <a:latin typeface="맑은 고딕"/>
                <a:ea typeface="맑은 고딕"/>
              </a:rPr>
              <a:t>KV 인덱스 · 메트릭 수집</a:t>
            </a:r>
          </a:p>
        </p:txBody>
      </p:sp>
      <p:sp>
        <p:nvSpPr>
          <p:cNvPr id="191" name="Rectangle 190"/>
          <p:cNvSpPr/>
          <p:nvPr/>
        </p:nvSpPr>
        <p:spPr>
          <a:xfrm>
            <a:off x="9098280" y="254203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2" name="Rectangle 191"/>
          <p:cNvSpPr/>
          <p:nvPr/>
        </p:nvSpPr>
        <p:spPr>
          <a:xfrm>
            <a:off x="9098280" y="263347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3" name="Rectangle 192"/>
          <p:cNvSpPr/>
          <p:nvPr/>
        </p:nvSpPr>
        <p:spPr>
          <a:xfrm>
            <a:off x="9144000" y="3035808"/>
            <a:ext cx="1554480" cy="457200"/>
          </a:xfrm>
          <a:prstGeom prst="rect">
            <a:avLst/>
          </a:prstGeom>
          <a:solidFill>
            <a:srgbClr val="FBE5D6"/>
          </a:solidFill>
          <a:ln w="222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E P/D 조율</a:t>
            </a:r>
          </a:p>
          <a:p>
            <a:pPr algn="ctr"/>
            <a:r>
              <a:rPr sz="700" b="0" i="0">
                <a:solidFill>
                  <a:srgbClr val="000000"/>
                </a:solidFill>
                <a:latin typeface="맑은 고딕"/>
                <a:ea typeface="맑은 고딕"/>
              </a:rPr>
              <a:t>kv_transfer_params 직접 조립</a:t>
            </a:r>
          </a:p>
        </p:txBody>
      </p:sp>
      <p:sp>
        <p:nvSpPr>
          <p:cNvPr id="194" name="Rectangle 193"/>
          <p:cNvSpPr/>
          <p:nvPr/>
        </p:nvSpPr>
        <p:spPr>
          <a:xfrm>
            <a:off x="9098280" y="309067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95" name="Rectangle 194"/>
          <p:cNvSpPr/>
          <p:nvPr/>
        </p:nvSpPr>
        <p:spPr>
          <a:xfrm>
            <a:off x="9098280" y="3182112"/>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196" name="Connector 195"/>
          <p:cNvCxnSpPr/>
          <p:nvPr/>
        </p:nvCxnSpPr>
        <p:spPr>
          <a:xfrm>
            <a:off x="8247888" y="2395728"/>
            <a:ext cx="0" cy="9144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97" name="Oval 196"/>
          <p:cNvSpPr/>
          <p:nvPr/>
        </p:nvSpPr>
        <p:spPr>
          <a:xfrm>
            <a:off x="8170163" y="236372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2</a:t>
            </a:r>
          </a:p>
        </p:txBody>
      </p:sp>
      <p:cxnSp>
        <p:nvCxnSpPr>
          <p:cNvPr id="198" name="Connector 197"/>
          <p:cNvCxnSpPr/>
          <p:nvPr/>
        </p:nvCxnSpPr>
        <p:spPr>
          <a:xfrm>
            <a:off x="8247888" y="2944368"/>
            <a:ext cx="0" cy="9144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H="1">
            <a:off x="8979408" y="2761488"/>
            <a:ext cx="164592" cy="3474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200" name="Oval 199"/>
          <p:cNvSpPr/>
          <p:nvPr/>
        </p:nvSpPr>
        <p:spPr>
          <a:xfrm>
            <a:off x="8983980" y="285750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8</a:t>
            </a:r>
          </a:p>
        </p:txBody>
      </p:sp>
      <p:cxnSp>
        <p:nvCxnSpPr>
          <p:cNvPr id="201" name="Connector 200"/>
          <p:cNvCxnSpPr/>
          <p:nvPr/>
        </p:nvCxnSpPr>
        <p:spPr>
          <a:xfrm>
            <a:off x="8979408" y="3310128"/>
            <a:ext cx="164592"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202" name="Oval 201"/>
          <p:cNvSpPr/>
          <p:nvPr/>
        </p:nvSpPr>
        <p:spPr>
          <a:xfrm>
            <a:off x="8983980" y="32324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3</a:t>
            </a:r>
          </a:p>
        </p:txBody>
      </p:sp>
      <p:cxnSp>
        <p:nvCxnSpPr>
          <p:cNvPr id="203" name="Connector 202"/>
          <p:cNvCxnSpPr/>
          <p:nvPr/>
        </p:nvCxnSpPr>
        <p:spPr>
          <a:xfrm>
            <a:off x="9921240" y="2395728"/>
            <a:ext cx="0" cy="91440"/>
          </a:xfrm>
          <a:prstGeom prst="line">
            <a:avLst/>
          </a:prstGeom>
          <a:ln w="15875">
            <a:solidFill>
              <a:srgbClr val="40404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4" name="Oval 203"/>
          <p:cNvSpPr/>
          <p:nvPr/>
        </p:nvSpPr>
        <p:spPr>
          <a:xfrm>
            <a:off x="9843515" y="236372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7</a:t>
            </a:r>
          </a:p>
        </p:txBody>
      </p:sp>
      <p:sp>
        <p:nvSpPr>
          <p:cNvPr id="205" name="Rectangle 204"/>
          <p:cNvSpPr/>
          <p:nvPr/>
        </p:nvSpPr>
        <p:spPr>
          <a:xfrm>
            <a:off x="10972800" y="1682496"/>
            <a:ext cx="1005840" cy="1874519"/>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06" name="Rectangle 205"/>
          <p:cNvSpPr/>
          <p:nvPr/>
        </p:nvSpPr>
        <p:spPr>
          <a:xfrm>
            <a:off x="10972800" y="1682496"/>
            <a:ext cx="925372"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18288" bIns="0"/>
          <a:lstStyle/>
          <a:p>
            <a:pPr algn="l"/>
            <a:r>
              <a:rPr sz="650" b="1" i="0">
                <a:solidFill>
                  <a:srgbClr val="FFFFFF"/>
                </a:solidFill>
                <a:latin typeface="맑은 고딕"/>
                <a:ea typeface="맑은 고딕"/>
              </a:rPr>
              <a:t>«pod» vLLM 서버</a:t>
            </a:r>
          </a:p>
        </p:txBody>
      </p:sp>
      <p:sp>
        <p:nvSpPr>
          <p:cNvPr id="207" name="Rectangle 206"/>
          <p:cNvSpPr/>
          <p:nvPr/>
        </p:nvSpPr>
        <p:spPr>
          <a:xfrm>
            <a:off x="11045952" y="1938528"/>
            <a:ext cx="859536" cy="15544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tIns="18288" rIns="27432" bIns="18288"/>
          <a:lstStyle/>
          <a:p>
            <a:pPr algn="ctr"/>
            <a:r>
              <a:rPr sz="750" b="1" i="0">
                <a:solidFill>
                  <a:srgbClr val="000000"/>
                </a:solidFill>
                <a:latin typeface="맑은 고딕"/>
                <a:ea typeface="맑은 고딕"/>
              </a:rPr>
              <a:t>vLLM</a:t>
            </a:r>
          </a:p>
          <a:p>
            <a:pPr algn="ctr"/>
            <a:r>
              <a:rPr sz="700" b="0" i="0">
                <a:solidFill>
                  <a:srgbClr val="000000"/>
                </a:solidFill>
                <a:latin typeface="맑은 고딕"/>
                <a:ea typeface="맑은 고딕"/>
              </a:rPr>
              <a:t>Prefill/Decode</a:t>
            </a:r>
          </a:p>
          <a:p>
            <a:pPr algn="ctr"/>
            <a:r>
              <a:rPr sz="700" b="0" i="0">
                <a:solidFill>
                  <a:srgbClr val="000000"/>
                </a:solidFill>
                <a:latin typeface="맑은 고딕"/>
                <a:ea typeface="맑은 고딕"/>
              </a:rPr>
              <a:t/>
            </a:r>
          </a:p>
          <a:p>
            <a:pPr algn="ctr"/>
            <a:r>
              <a:rPr sz="700" b="0" i="0">
                <a:solidFill>
                  <a:srgbClr val="000000"/>
                </a:solidFill>
                <a:latin typeface="맑은 고딕"/>
                <a:ea typeface="맑은 고딕"/>
              </a:rPr>
              <a:t>KV events</a:t>
            </a:r>
          </a:p>
          <a:p>
            <a:pPr algn="ctr"/>
            <a:r>
              <a:rPr sz="700" b="0" i="0">
                <a:solidFill>
                  <a:srgbClr val="000000"/>
                </a:solidFill>
                <a:latin typeface="맑은 고딕"/>
                <a:ea typeface="맑은 고딕"/>
              </a:rPr>
              <a:t>/metrics</a:t>
            </a:r>
          </a:p>
          <a:p>
            <a:pPr algn="ctr"/>
            <a:r>
              <a:rPr sz="700" b="0" i="0">
                <a:solidFill>
                  <a:srgbClr val="000000"/>
                </a:solidFill>
                <a:latin typeface="맑은 고딕"/>
                <a:ea typeface="맑은 고딕"/>
              </a:rPr>
              <a:t>kv_transfer</a:t>
            </a:r>
          </a:p>
          <a:p>
            <a:pPr algn="ctr"/>
            <a:r>
              <a:rPr sz="700" b="0" i="0">
                <a:solidFill>
                  <a:srgbClr val="000000"/>
                </a:solidFill>
                <a:latin typeface="맑은 고딕"/>
                <a:ea typeface="맑은 고딕"/>
              </a:rPr>
              <a:t>_params</a:t>
            </a:r>
          </a:p>
          <a:p>
            <a:pPr algn="ctr"/>
            <a:r>
              <a:rPr sz="700" b="0" i="0">
                <a:solidFill>
                  <a:srgbClr val="000000"/>
                </a:solidFill>
                <a:latin typeface="맑은 고딕"/>
                <a:ea typeface="맑은 고딕"/>
              </a:rPr>
              <a:t>NIXL</a:t>
            </a:r>
          </a:p>
        </p:txBody>
      </p:sp>
      <p:sp>
        <p:nvSpPr>
          <p:cNvPr id="208" name="Rectangle 207"/>
          <p:cNvSpPr/>
          <p:nvPr/>
        </p:nvSpPr>
        <p:spPr>
          <a:xfrm>
            <a:off x="11000232" y="1993392"/>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209" name="Rectangle 208"/>
          <p:cNvSpPr/>
          <p:nvPr/>
        </p:nvSpPr>
        <p:spPr>
          <a:xfrm>
            <a:off x="11000232" y="2084832"/>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cxnSp>
        <p:nvCxnSpPr>
          <p:cNvPr id="210" name="Connector 209"/>
          <p:cNvCxnSpPr/>
          <p:nvPr/>
        </p:nvCxnSpPr>
        <p:spPr>
          <a:xfrm>
            <a:off x="10698480" y="3310128"/>
            <a:ext cx="274320"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211" name="Oval 210"/>
          <p:cNvSpPr/>
          <p:nvPr/>
        </p:nvSpPr>
        <p:spPr>
          <a:xfrm>
            <a:off x="10757915" y="32324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4</a:t>
            </a:r>
          </a:p>
        </p:txBody>
      </p:sp>
      <p:cxnSp>
        <p:nvCxnSpPr>
          <p:cNvPr id="212" name="Connector 211"/>
          <p:cNvCxnSpPr/>
          <p:nvPr/>
        </p:nvCxnSpPr>
        <p:spPr>
          <a:xfrm flipH="1">
            <a:off x="10698480" y="2697480"/>
            <a:ext cx="274320"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213" name="Oval 212"/>
          <p:cNvSpPr/>
          <p:nvPr/>
        </p:nvSpPr>
        <p:spPr>
          <a:xfrm>
            <a:off x="10757915" y="261975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650" b="1" i="0">
                <a:solidFill>
                  <a:srgbClr val="FFFFFF"/>
                </a:solidFill>
                <a:latin typeface="맑은 고딕"/>
                <a:ea typeface="맑은 고딕"/>
              </a:rPr>
              <a:t>6</a:t>
            </a:r>
          </a:p>
        </p:txBody>
      </p:sp>
      <p:sp>
        <p:nvSpPr>
          <p:cNvPr id="214" name="Rectangle 213"/>
          <p:cNvSpPr/>
          <p:nvPr/>
        </p:nvSpPr>
        <p:spPr>
          <a:xfrm>
            <a:off x="6656832" y="3602736"/>
            <a:ext cx="3108960" cy="173736"/>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tIns="0" rIns="18288" bIns="0"/>
          <a:lstStyle/>
          <a:p>
            <a:pPr algn="ctr"/>
            <a:r>
              <a:rPr sz="700" b="1" i="0">
                <a:solidFill>
                  <a:srgbClr val="000000"/>
                </a:solidFill>
                <a:latin typeface="맑은 고딕"/>
                <a:ea typeface="맑은 고딕"/>
              </a:rPr>
              <a:t>전부 우리가 직접 개발 (확장·수정 구분 없음)</a:t>
            </a:r>
          </a:p>
        </p:txBody>
      </p:sp>
      <p:sp>
        <p:nvSpPr>
          <p:cNvPr id="215" name="TextBox 214"/>
          <p:cNvSpPr txBox="1"/>
          <p:nvPr/>
        </p:nvSpPr>
        <p:spPr>
          <a:xfrm>
            <a:off x="6656832" y="3813048"/>
            <a:ext cx="5349240" cy="22860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호출 번호는 1안과 동일.  ②는 프로세스 내부 호출 (원격 호출 없음)</a:t>
            </a:r>
          </a:p>
          <a:p>
            <a:pPr algn="l"/>
            <a:r>
              <a:rPr sz="700" b="0" i="0">
                <a:solidFill>
                  <a:srgbClr val="404040"/>
                </a:solidFill>
                <a:latin typeface="맑은 고딕"/>
                <a:ea typeface="맑은 고딕"/>
              </a:rPr>
              <a:t>E(P/D 조율)가 Router 안으로 이동 (중앙)  ·  ⑤ 서버 간 KV 전송(NIXL)은 표시 생략</a:t>
            </a:r>
          </a:p>
        </p:txBody>
      </p:sp>
      <p:sp>
        <p:nvSpPr>
          <p:cNvPr id="216" name="Rectangle 215"/>
          <p:cNvSpPr/>
          <p:nvPr/>
        </p:nvSpPr>
        <p:spPr>
          <a:xfrm>
            <a:off x="6656832" y="4069080"/>
            <a:ext cx="5330952" cy="347472"/>
          </a:xfrm>
          <a:prstGeom prst="rect">
            <a:avLst/>
          </a:prstGeom>
          <a:solidFill>
            <a:srgbClr val="FFF7F0"/>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36576" bIns="9144"/>
          <a:lstStyle/>
          <a:p>
            <a:pPr algn="l"/>
            <a:r>
              <a:rPr sz="700" b="1" i="0">
                <a:solidFill>
                  <a:srgbClr val="C55A11"/>
                </a:solidFill>
                <a:latin typeface="맑은 고딕"/>
                <a:ea typeface="맑은 고딕"/>
              </a:rPr>
              <a:t>P1~P5 = 모두 PolicyEngine·P/D 조율 안에 직접 코드로 구현 </a:t>
            </a:r>
          </a:p>
          <a:p>
            <a:pPr algn="l"/>
            <a:r>
              <a:rPr sz="700" b="0" i="0">
                <a:solidFill>
                  <a:srgbClr val="000000"/>
                </a:solidFill>
                <a:latin typeface="맑은 고딕"/>
                <a:ea typeface="맑은 고딕"/>
              </a:rPr>
              <a:t>메모리 종류별 점수 · 실시간 상태 · 비용 기반 점수 · 비용 기반 P/D 판단 · 노드 지시</a:t>
            </a:r>
          </a:p>
          <a:p>
            <a:pPr algn="l"/>
            <a:r>
              <a:rPr sz="700" b="0" i="0">
                <a:solidFill>
                  <a:srgbClr val="000000"/>
                </a:solidFill>
                <a:latin typeface="맑은 고딕"/>
                <a:ea typeface="맑은 고딕"/>
              </a:rPr>
              <a:t>OSS 내부 수정 없음, 대신 상태 저장·흐름 제어·서버 발견까지 모두 유지 보수</a:t>
            </a:r>
          </a:p>
        </p:txBody>
      </p:sp>
      <p:sp>
        <p:nvSpPr>
          <p:cNvPr id="217" name="TextBox 216"/>
          <p:cNvSpPr txBox="1"/>
          <p:nvPr/>
        </p:nvSpPr>
        <p:spPr>
          <a:xfrm>
            <a:off x="246888" y="6318504"/>
            <a:ext cx="11750040" cy="137160"/>
          </a:xfrm>
          <a:prstGeom prst="rect">
            <a:avLst/>
          </a:prstGeom>
          <a:noFill/>
        </p:spPr>
        <p:txBody>
          <a:bodyPr wrap="square" lIns="0" tIns="0" rIns="0" bIns="0" anchor="t">
            <a:spAutoFit/>
          </a:bodyPr>
          <a:lstStyle/>
          <a:p>
            <a:pPr algn="l"/>
            <a:r>
              <a:rPr sz="800" b="0" i="0">
                <a:solidFill>
                  <a:srgbClr val="7F7F7F"/>
                </a:solidFill>
                <a:latin typeface="맑은 고딕"/>
                <a:ea typeface="맑은 고딕"/>
              </a:rPr>
              <a:t>※ ●는 구조 논증 기반 가설 [C] (●●● 우수). E1(결정 지연)·E3(상태 신선도)·E4(Goodput) 측정으로 확정. 근거: doc-mk/DP0 (mkim0628/vllm)</a:t>
            </a:r>
          </a:p>
        </p:txBody>
      </p:sp>
      <p:sp>
        <p:nvSpPr>
          <p:cNvPr id="218" name="TextBox 217"/>
          <p:cNvSpPr txBox="1"/>
          <p:nvPr/>
        </p:nvSpPr>
        <p:spPr>
          <a:xfrm>
            <a:off x="246888" y="6428232"/>
            <a:ext cx="11750040" cy="91440"/>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용어: P/D = Prefill(입력 처리)/Decode(응답 생성) 분리 · TTFT = 첫 응답 시간 · KV 캐시 = 이전 입력의 중간 결과 · plugin = 기존 코드를 안 고치는 확장 모듈</a:t>
            </a:r>
          </a:p>
        </p:txBody>
      </p:sp>
    </p:spTree>
    <p:extLst>
      <p:ext uri="{BB962C8B-B14F-4D97-AF65-F5344CB8AC3E}">
        <p14:creationId xmlns:p14="http://schemas.microsoft.com/office/powerpoint/2010/main" val="3392401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563880" y="1318260"/>
            <a:ext cx="11117580" cy="48387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ko-KR" sz="16600" b="1" dirty="0"/>
              <a:t>DP1</a:t>
            </a:r>
            <a:endParaRPr lang="ko-KR" altLang="en-US" sz="16600" b="1" dirty="0"/>
          </a:p>
        </p:txBody>
      </p:sp>
    </p:spTree>
    <p:extLst>
      <p:ext uri="{BB962C8B-B14F-4D97-AF65-F5344CB8AC3E}">
        <p14:creationId xmlns:p14="http://schemas.microsoft.com/office/powerpoint/2010/main" val="2585930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6775451" cy="365125"/>
          </a:xfrm>
        </p:spPr>
        <p:txBody>
          <a:bodyPr/>
          <a:lstStyle/>
          <a:p>
            <a:r>
              <a:rPr lang="en-US" altLang="ko-KR" dirty="0"/>
              <a:t>DP1. </a:t>
            </a:r>
            <a:r>
              <a:rPr lang="ko-KR" altLang="en-US" dirty="0"/>
              <a:t>이기종 메모리 기반 </a:t>
            </a:r>
            <a:r>
              <a:rPr lang="en-US" altLang="ko-KR" dirty="0"/>
              <a:t>Data Migration</a:t>
            </a:r>
            <a:r>
              <a:rPr lang="ko-KR" altLang="en-US" dirty="0"/>
              <a:t> 구조 </a:t>
            </a:r>
            <a:r>
              <a:rPr lang="en-US" altLang="ko-KR" dirty="0"/>
              <a:t>- </a:t>
            </a:r>
            <a:r>
              <a:rPr lang="ko-KR" altLang="en-US" dirty="0"/>
              <a:t>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4" name="직사각형 93">
            <a:extLst>
              <a:ext uri="{FF2B5EF4-FFF2-40B4-BE49-F238E27FC236}">
                <a16:creationId xmlns:a16="http://schemas.microsoft.com/office/drawing/2014/main" id="{E3784E02-153A-49F1-A2CD-CE4252048DE7}"/>
              </a:ext>
            </a:extLst>
          </p:cNvPr>
          <p:cNvSpPr/>
          <p:nvPr/>
        </p:nvSpPr>
        <p:spPr>
          <a:xfrm>
            <a:off x="6250329" y="882132"/>
            <a:ext cx="5694021" cy="549961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모서리가 둥근 직사각형 217">
            <a:extLst>
              <a:ext uri="{FF2B5EF4-FFF2-40B4-BE49-F238E27FC236}">
                <a16:creationId xmlns:a16="http://schemas.microsoft.com/office/drawing/2014/main" id="{63A3E9B0-7066-45A1-BE5D-E8DD4EAEDB03}"/>
              </a:ext>
            </a:extLst>
          </p:cNvPr>
          <p:cNvSpPr/>
          <p:nvPr/>
        </p:nvSpPr>
        <p:spPr>
          <a:xfrm>
            <a:off x="7210115" y="740708"/>
            <a:ext cx="3749552" cy="285015"/>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ko-KR" altLang="en-US" sz="1200" b="1" dirty="0"/>
              <a:t>다양한 메모리 솔루션 등장</a:t>
            </a:r>
          </a:p>
        </p:txBody>
      </p:sp>
      <p:grpSp>
        <p:nvGrpSpPr>
          <p:cNvPr id="91" name="그룹 90">
            <a:extLst>
              <a:ext uri="{FF2B5EF4-FFF2-40B4-BE49-F238E27FC236}">
                <a16:creationId xmlns:a16="http://schemas.microsoft.com/office/drawing/2014/main" id="{6A78737F-A253-4CE8-B9A2-72B91FF65732}"/>
              </a:ext>
            </a:extLst>
          </p:cNvPr>
          <p:cNvGrpSpPr/>
          <p:nvPr/>
        </p:nvGrpSpPr>
        <p:grpSpPr>
          <a:xfrm>
            <a:off x="295158" y="731684"/>
            <a:ext cx="5674740" cy="5650065"/>
            <a:chOff x="211958" y="3093998"/>
            <a:chExt cx="6173884" cy="5288499"/>
          </a:xfrm>
        </p:grpSpPr>
        <p:sp>
          <p:nvSpPr>
            <p:cNvPr id="92" name="직사각형 91">
              <a:extLst>
                <a:ext uri="{FF2B5EF4-FFF2-40B4-BE49-F238E27FC236}">
                  <a16:creationId xmlns:a16="http://schemas.microsoft.com/office/drawing/2014/main" id="{14E0C7FA-AF01-4522-B324-5D5122403813}"/>
                </a:ext>
              </a:extLst>
            </p:cNvPr>
            <p:cNvSpPr/>
            <p:nvPr/>
          </p:nvSpPr>
          <p:spPr>
            <a:xfrm>
              <a:off x="211958" y="3255024"/>
              <a:ext cx="6173884" cy="5127473"/>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모서리가 둥근 직사각형 212">
              <a:extLst>
                <a:ext uri="{FF2B5EF4-FFF2-40B4-BE49-F238E27FC236}">
                  <a16:creationId xmlns:a16="http://schemas.microsoft.com/office/drawing/2014/main" id="{1104C980-3417-4022-8A1E-A71193CA465E}"/>
                </a:ext>
              </a:extLst>
            </p:cNvPr>
            <p:cNvSpPr/>
            <p:nvPr/>
          </p:nvSpPr>
          <p:spPr>
            <a:xfrm>
              <a:off x="1275530" y="3093998"/>
              <a:ext cx="4046740" cy="276747"/>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200" b="1" dirty="0"/>
                <a:t>Agent</a:t>
              </a:r>
              <a:r>
                <a:rPr lang="ko-KR" altLang="en-US" sz="1200" b="1" dirty="0"/>
                <a:t>의 </a:t>
              </a:r>
              <a:r>
                <a:rPr lang="en-US" altLang="ko-KR" sz="1200" b="1" dirty="0"/>
                <a:t>HBM Pressure </a:t>
              </a:r>
              <a:r>
                <a:rPr lang="ko-KR" altLang="en-US" sz="1200" b="1" dirty="0"/>
                <a:t>가속화</a:t>
              </a:r>
            </a:p>
          </p:txBody>
        </p:sp>
      </p:grpSp>
      <p:sp>
        <p:nvSpPr>
          <p:cNvPr id="198" name="Text 22"/>
          <p:cNvSpPr/>
          <p:nvPr/>
        </p:nvSpPr>
        <p:spPr>
          <a:xfrm>
            <a:off x="347472" y="1094766"/>
            <a:ext cx="4444447" cy="318067"/>
          </a:xfrm>
          <a:prstGeom prst="rect">
            <a:avLst/>
          </a:prstGeom>
          <a:noFill/>
          <a:ln/>
        </p:spPr>
        <p:txBody>
          <a:bodyPr wrap="square" lIns="0" tIns="0" rIns="0" bIns="0" rtlCol="0" anchor="t"/>
          <a:lstStyle/>
          <a:p>
            <a:pPr marL="171450" indent="-171450">
              <a:lnSpc>
                <a:spcPct val="150000"/>
              </a:lnSpc>
              <a:buFont typeface="Wingdings" panose="05000000000000000000" pitchFamily="2" charset="2"/>
              <a:buChar char="ü"/>
            </a:pPr>
            <a:r>
              <a:rPr lang="en-US" altLang="ko-KR" sz="1200" dirty="0">
                <a:sym typeface="Wingdings" panose="05000000000000000000" pitchFamily="2" charset="2"/>
              </a:rPr>
              <a:t>Agent</a:t>
            </a:r>
            <a:r>
              <a:rPr lang="ko-KR" altLang="en-US" sz="1200" dirty="0">
                <a:sym typeface="Wingdings" panose="05000000000000000000" pitchFamily="2" charset="2"/>
              </a:rPr>
              <a:t>의 </a:t>
            </a:r>
            <a:r>
              <a:rPr lang="en-US" altLang="ko-KR" sz="1200" dirty="0">
                <a:sym typeface="Wingdings" panose="05000000000000000000" pitchFamily="2" charset="2"/>
              </a:rPr>
              <a:t>Multi-turn</a:t>
            </a:r>
            <a:r>
              <a:rPr lang="ko-KR" altLang="en-US" sz="1200" dirty="0">
                <a:sym typeface="Wingdings" panose="05000000000000000000" pitchFamily="2" charset="2"/>
              </a:rPr>
              <a:t>으로 인한 </a:t>
            </a:r>
            <a:r>
              <a:rPr lang="en-US" altLang="ko-KR" sz="1200" dirty="0">
                <a:sym typeface="Wingdings" panose="05000000000000000000" pitchFamily="2" charset="2"/>
              </a:rPr>
              <a:t>Context</a:t>
            </a:r>
            <a:r>
              <a:rPr lang="ko-KR" altLang="en-US" sz="1200" dirty="0">
                <a:sym typeface="Wingdings" panose="05000000000000000000" pitchFamily="2" charset="2"/>
              </a:rPr>
              <a:t> 누적 </a:t>
            </a:r>
            <a:r>
              <a:rPr lang="en-US" altLang="ko-KR" sz="1200" dirty="0">
                <a:sym typeface="Wingdings" panose="05000000000000000000" pitchFamily="2" charset="2"/>
              </a:rPr>
              <a:t> KV </a:t>
            </a:r>
            <a:r>
              <a:rPr lang="ko-KR" altLang="en-US" sz="1200" dirty="0">
                <a:sym typeface="Wingdings" panose="05000000000000000000" pitchFamily="2" charset="2"/>
              </a:rPr>
              <a:t>캐시 증가 </a:t>
            </a:r>
            <a:endParaRPr lang="en-US" altLang="ko-KR" sz="1200" dirty="0">
              <a:sym typeface="Wingdings" panose="05000000000000000000" pitchFamily="2" charset="2"/>
            </a:endParaRPr>
          </a:p>
        </p:txBody>
      </p:sp>
      <p:sp>
        <p:nvSpPr>
          <p:cNvPr id="199" name="Text 22"/>
          <p:cNvSpPr/>
          <p:nvPr/>
        </p:nvSpPr>
        <p:spPr>
          <a:xfrm>
            <a:off x="347472" y="3752076"/>
            <a:ext cx="5509863" cy="340314"/>
          </a:xfrm>
          <a:prstGeom prst="rect">
            <a:avLst/>
          </a:prstGeom>
          <a:noFill/>
          <a:ln/>
        </p:spPr>
        <p:txBody>
          <a:bodyPr wrap="square" lIns="0" tIns="0" rIns="0" bIns="0" rtlCol="0" anchor="t"/>
          <a:lstStyle/>
          <a:p>
            <a:pPr marL="171450" indent="-171450">
              <a:lnSpc>
                <a:spcPct val="150000"/>
              </a:lnSpc>
              <a:buFont typeface="Wingdings" panose="05000000000000000000" pitchFamily="2" charset="2"/>
              <a:buChar char="ü"/>
            </a:pPr>
            <a:r>
              <a:rPr lang="en-US" altLang="ko-KR" sz="1200" dirty="0">
                <a:sym typeface="Wingdings" panose="05000000000000000000" pitchFamily="2" charset="2"/>
              </a:rPr>
              <a:t>Agent</a:t>
            </a:r>
            <a:r>
              <a:rPr lang="ko-KR" altLang="en-US" sz="1200" dirty="0">
                <a:sym typeface="Wingdings" panose="05000000000000000000" pitchFamily="2" charset="2"/>
              </a:rPr>
              <a:t>는 하나의 요청을 여러 개의 동시 작업으로 증폭시킬 수 있음 </a:t>
            </a:r>
            <a:endParaRPr lang="en-US" altLang="ko-KR" sz="1200" b="1" dirty="0">
              <a:solidFill>
                <a:schemeClr val="accent2">
                  <a:lumMod val="75000"/>
                </a:schemeClr>
              </a:solidFill>
              <a:sym typeface="Wingdings" panose="05000000000000000000" pitchFamily="2" charset="2"/>
            </a:endParaRPr>
          </a:p>
        </p:txBody>
      </p:sp>
      <p:pic>
        <p:nvPicPr>
          <p:cNvPr id="204" name="그림 203"/>
          <p:cNvPicPr>
            <a:picLocks noChangeAspect="1"/>
          </p:cNvPicPr>
          <p:nvPr/>
        </p:nvPicPr>
        <p:blipFill rotWithShape="1">
          <a:blip r:embed="rId3"/>
          <a:srcRect l="2641" t="1749" r="2321" b="11984"/>
          <a:stretch/>
        </p:blipFill>
        <p:spPr>
          <a:xfrm>
            <a:off x="7154211" y="1184229"/>
            <a:ext cx="3823538" cy="2480669"/>
          </a:xfrm>
          <a:prstGeom prst="rect">
            <a:avLst/>
          </a:prstGeom>
        </p:spPr>
      </p:pic>
      <p:sp>
        <p:nvSpPr>
          <p:cNvPr id="299" name="실행 단추: 앞으로 또는 다음 298">
            <a:hlinkClick r:id="" action="ppaction://noaction" highlightClick="1"/>
          </p:cNvPr>
          <p:cNvSpPr/>
          <p:nvPr/>
        </p:nvSpPr>
        <p:spPr>
          <a:xfrm>
            <a:off x="10625465" y="779436"/>
            <a:ext cx="217381" cy="226009"/>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4" name="직선 연결선 213">
            <a:extLst>
              <a:ext uri="{FF2B5EF4-FFF2-40B4-BE49-F238E27FC236}">
                <a16:creationId xmlns:a16="http://schemas.microsoft.com/office/drawing/2014/main" id="{D58FEC0B-5568-4E2A-AF34-EF05147FA88B}"/>
              </a:ext>
            </a:extLst>
          </p:cNvPr>
          <p:cNvCxnSpPr>
            <a:stCxn id="138" idx="3"/>
            <a:endCxn id="166" idx="1"/>
          </p:cNvCxnSpPr>
          <p:nvPr/>
        </p:nvCxnSpPr>
        <p:spPr>
          <a:xfrm flipV="1">
            <a:off x="9517632" y="5199961"/>
            <a:ext cx="509288" cy="393619"/>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7" name="그룹 36"/>
          <p:cNvGrpSpPr/>
          <p:nvPr/>
        </p:nvGrpSpPr>
        <p:grpSpPr>
          <a:xfrm>
            <a:off x="6452396" y="4219751"/>
            <a:ext cx="4494180" cy="1993182"/>
            <a:chOff x="6344173" y="3347234"/>
            <a:chExt cx="4494180" cy="1993182"/>
          </a:xfrm>
        </p:grpSpPr>
        <p:grpSp>
          <p:nvGrpSpPr>
            <p:cNvPr id="5" name="그룹 4"/>
            <p:cNvGrpSpPr/>
            <p:nvPr/>
          </p:nvGrpSpPr>
          <p:grpSpPr>
            <a:xfrm>
              <a:off x="6344173" y="3347234"/>
              <a:ext cx="4494180" cy="1896944"/>
              <a:chOff x="6299288" y="3053619"/>
              <a:chExt cx="4428503" cy="2122718"/>
            </a:xfrm>
          </p:grpSpPr>
          <p:grpSp>
            <p:nvGrpSpPr>
              <p:cNvPr id="137" name="그룹 136">
                <a:extLst>
                  <a:ext uri="{FF2B5EF4-FFF2-40B4-BE49-F238E27FC236}">
                    <a16:creationId xmlns:a16="http://schemas.microsoft.com/office/drawing/2014/main" id="{58C3D28F-23EC-4DCC-95AC-37D92DBC27F5}"/>
                  </a:ext>
                </a:extLst>
              </p:cNvPr>
              <p:cNvGrpSpPr/>
              <p:nvPr/>
            </p:nvGrpSpPr>
            <p:grpSpPr>
              <a:xfrm>
                <a:off x="7524431" y="3143351"/>
                <a:ext cx="3101145" cy="2032986"/>
                <a:chOff x="1384719" y="2126980"/>
                <a:chExt cx="3072915" cy="2081864"/>
              </a:xfrm>
            </p:grpSpPr>
            <p:sp>
              <p:nvSpPr>
                <p:cNvPr id="138" name="직사각형 137">
                  <a:extLst>
                    <a:ext uri="{FF2B5EF4-FFF2-40B4-BE49-F238E27FC236}">
                      <a16:creationId xmlns:a16="http://schemas.microsoft.com/office/drawing/2014/main" id="{6F69B73E-FFFC-45E8-BB7B-9B8AB23AB720}"/>
                    </a:ext>
                  </a:extLst>
                </p:cNvPr>
                <p:cNvSpPr/>
                <p:nvPr/>
              </p:nvSpPr>
              <p:spPr>
                <a:xfrm>
                  <a:off x="2442582" y="3481564"/>
                  <a:ext cx="721092" cy="255659"/>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CPU</a:t>
                  </a:r>
                  <a:endParaRPr lang="ko-KR" altLang="en-US" sz="1100" b="1" dirty="0">
                    <a:solidFill>
                      <a:srgbClr val="1F3864"/>
                    </a:solidFill>
                    <a:latin typeface="Malgun Gothic" pitchFamily="34" charset="0"/>
                    <a:ea typeface="Malgun Gothic" pitchFamily="34" charset="-122"/>
                    <a:cs typeface="Malgun Gothic" pitchFamily="34" charset="-120"/>
                  </a:endParaRPr>
                </a:p>
              </p:txBody>
            </p:sp>
            <p:sp>
              <p:nvSpPr>
                <p:cNvPr id="139" name="모서리가 둥근 직사각형 191">
                  <a:extLst>
                    <a:ext uri="{FF2B5EF4-FFF2-40B4-BE49-F238E27FC236}">
                      <a16:creationId xmlns:a16="http://schemas.microsoft.com/office/drawing/2014/main" id="{2F7BF330-794C-4E29-BF45-B1F8AFFE3312}"/>
                    </a:ext>
                  </a:extLst>
                </p:cNvPr>
                <p:cNvSpPr/>
                <p:nvPr/>
              </p:nvSpPr>
              <p:spPr>
                <a:xfrm>
                  <a:off x="2397566" y="3953185"/>
                  <a:ext cx="804331"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SSD-PIM</a:t>
                  </a:r>
                  <a:endParaRPr lang="ko-KR" altLang="en-US" sz="1100" b="1" dirty="0">
                    <a:solidFill>
                      <a:srgbClr val="1F3864"/>
                    </a:solidFill>
                    <a:latin typeface="Malgun Gothic" pitchFamily="34" charset="0"/>
                    <a:ea typeface="Malgun Gothic" pitchFamily="34" charset="-122"/>
                    <a:cs typeface="Malgun Gothic" pitchFamily="34" charset="-120"/>
                  </a:endParaRPr>
                </a:p>
              </p:txBody>
            </p:sp>
            <p:sp>
              <p:nvSpPr>
                <p:cNvPr id="140" name="모서리가 둥근 직사각형 192">
                  <a:extLst>
                    <a:ext uri="{FF2B5EF4-FFF2-40B4-BE49-F238E27FC236}">
                      <a16:creationId xmlns:a16="http://schemas.microsoft.com/office/drawing/2014/main" id="{F514312F-4F37-4C23-84C5-02AC423D2309}"/>
                    </a:ext>
                  </a:extLst>
                </p:cNvPr>
                <p:cNvSpPr/>
                <p:nvPr/>
              </p:nvSpPr>
              <p:spPr>
                <a:xfrm>
                  <a:off x="3664432" y="3659517"/>
                  <a:ext cx="793202" cy="255659"/>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DRAM</a:t>
                  </a:r>
                  <a:endParaRPr lang="ko-KR" altLang="en-US" sz="1100" b="1" dirty="0">
                    <a:solidFill>
                      <a:srgbClr val="1F3864"/>
                    </a:solidFill>
                    <a:latin typeface="Malgun Gothic" pitchFamily="34" charset="0"/>
                    <a:ea typeface="Malgun Gothic" pitchFamily="34" charset="-122"/>
                    <a:cs typeface="Malgun Gothic" pitchFamily="34" charset="-120"/>
                  </a:endParaRPr>
                </a:p>
              </p:txBody>
            </p:sp>
            <p:cxnSp>
              <p:nvCxnSpPr>
                <p:cNvPr id="142" name="직선 연결선 9">
                  <a:extLst>
                    <a:ext uri="{FF2B5EF4-FFF2-40B4-BE49-F238E27FC236}">
                      <a16:creationId xmlns:a16="http://schemas.microsoft.com/office/drawing/2014/main" id="{FED03D99-C83C-46A5-B2BC-AED0C3F4FE2A}"/>
                    </a:ext>
                  </a:extLst>
                </p:cNvPr>
                <p:cNvCxnSpPr>
                  <a:stCxn id="151" idx="2"/>
                  <a:endCxn id="138" idx="0"/>
                </p:cNvCxnSpPr>
                <p:nvPr/>
              </p:nvCxnSpPr>
              <p:spPr>
                <a:xfrm>
                  <a:off x="2803128" y="3251008"/>
                  <a:ext cx="0" cy="230556"/>
                </a:xfrm>
                <a:prstGeom prst="straightConnector1">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3" name="직선 연결선 142">
                  <a:extLst>
                    <a:ext uri="{FF2B5EF4-FFF2-40B4-BE49-F238E27FC236}">
                      <a16:creationId xmlns:a16="http://schemas.microsoft.com/office/drawing/2014/main" id="{E8BD091E-84A4-4AF0-9C69-9D493ED1BE5B}"/>
                    </a:ext>
                  </a:extLst>
                </p:cNvPr>
                <p:cNvCxnSpPr>
                  <a:stCxn id="138" idx="2"/>
                  <a:endCxn id="139" idx="0"/>
                </p:cNvCxnSpPr>
                <p:nvPr/>
              </p:nvCxnSpPr>
              <p:spPr>
                <a:xfrm flipH="1">
                  <a:off x="2799732" y="3737223"/>
                  <a:ext cx="3397" cy="21596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44" name="그룹 143">
                  <a:extLst>
                    <a:ext uri="{FF2B5EF4-FFF2-40B4-BE49-F238E27FC236}">
                      <a16:creationId xmlns:a16="http://schemas.microsoft.com/office/drawing/2014/main" id="{9AB2F484-FCAE-43BA-9424-00EADB4082E4}"/>
                    </a:ext>
                  </a:extLst>
                </p:cNvPr>
                <p:cNvGrpSpPr/>
                <p:nvPr/>
              </p:nvGrpSpPr>
              <p:grpSpPr>
                <a:xfrm>
                  <a:off x="2323241" y="2126980"/>
                  <a:ext cx="959778" cy="1212050"/>
                  <a:chOff x="2993906" y="2126755"/>
                  <a:chExt cx="959778" cy="1212050"/>
                </a:xfrm>
              </p:grpSpPr>
              <p:sp>
                <p:nvSpPr>
                  <p:cNvPr id="151" name="직사각형 150">
                    <a:extLst>
                      <a:ext uri="{FF2B5EF4-FFF2-40B4-BE49-F238E27FC236}">
                        <a16:creationId xmlns:a16="http://schemas.microsoft.com/office/drawing/2014/main" id="{7CF69065-B71D-45B8-A775-D343993857B2}"/>
                      </a:ext>
                    </a:extLst>
                  </p:cNvPr>
                  <p:cNvSpPr/>
                  <p:nvPr/>
                </p:nvSpPr>
                <p:spPr>
                  <a:xfrm>
                    <a:off x="3113248" y="3057580"/>
                    <a:ext cx="721092" cy="281225"/>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GPU</a:t>
                    </a:r>
                    <a:endParaRPr lang="ko-KR" altLang="en-US" sz="1100" b="1" dirty="0">
                      <a:solidFill>
                        <a:srgbClr val="1F3864"/>
                      </a:solidFill>
                      <a:latin typeface="Malgun Gothic" pitchFamily="34" charset="0"/>
                      <a:ea typeface="Malgun Gothic" pitchFamily="34" charset="-122"/>
                      <a:cs typeface="Malgun Gothic" pitchFamily="34" charset="-120"/>
                    </a:endParaRPr>
                  </a:p>
                </p:txBody>
              </p:sp>
              <p:sp>
                <p:nvSpPr>
                  <p:cNvPr id="152" name="모서리가 둥근 직사각형 203">
                    <a:extLst>
                      <a:ext uri="{FF2B5EF4-FFF2-40B4-BE49-F238E27FC236}">
                        <a16:creationId xmlns:a16="http://schemas.microsoft.com/office/drawing/2014/main" id="{640F55E1-7C97-4A3F-B1BA-027109FA6D45}"/>
                      </a:ext>
                    </a:extLst>
                  </p:cNvPr>
                  <p:cNvSpPr/>
                  <p:nvPr/>
                </p:nvSpPr>
                <p:spPr>
                  <a:xfrm>
                    <a:off x="2993908" y="2540807"/>
                    <a:ext cx="959776" cy="281224"/>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HBM</a:t>
                    </a:r>
                    <a:endParaRPr lang="ko-KR" altLang="en-US" sz="1100" b="1" dirty="0">
                      <a:solidFill>
                        <a:srgbClr val="1F3864"/>
                      </a:solidFill>
                      <a:latin typeface="Malgun Gothic" pitchFamily="34" charset="0"/>
                      <a:ea typeface="Malgun Gothic" pitchFamily="34" charset="-122"/>
                      <a:cs typeface="Malgun Gothic" pitchFamily="34" charset="-120"/>
                    </a:endParaRPr>
                  </a:p>
                </p:txBody>
              </p:sp>
              <p:cxnSp>
                <p:nvCxnSpPr>
                  <p:cNvPr id="153" name="직선 연결선 152">
                    <a:extLst>
                      <a:ext uri="{FF2B5EF4-FFF2-40B4-BE49-F238E27FC236}">
                        <a16:creationId xmlns:a16="http://schemas.microsoft.com/office/drawing/2014/main" id="{DF99FE4A-16D5-45BD-8568-257EA845EE4C}"/>
                      </a:ext>
                    </a:extLst>
                  </p:cNvPr>
                  <p:cNvCxnSpPr>
                    <a:stCxn id="152" idx="2"/>
                    <a:endCxn id="151" idx="0"/>
                  </p:cNvCxnSpPr>
                  <p:nvPr/>
                </p:nvCxnSpPr>
                <p:spPr>
                  <a:xfrm flipH="1">
                    <a:off x="3473795" y="2822031"/>
                    <a:ext cx="1" cy="2355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8" name="모서리가 둥근 직사각형 241">
                    <a:extLst>
                      <a:ext uri="{FF2B5EF4-FFF2-40B4-BE49-F238E27FC236}">
                        <a16:creationId xmlns:a16="http://schemas.microsoft.com/office/drawing/2014/main" id="{AC135A3A-CAAB-4A76-A2D5-53B55EB1D318}"/>
                      </a:ext>
                    </a:extLst>
                  </p:cNvPr>
                  <p:cNvSpPr/>
                  <p:nvPr/>
                </p:nvSpPr>
                <p:spPr>
                  <a:xfrm>
                    <a:off x="2993906" y="2126755"/>
                    <a:ext cx="959774" cy="232416"/>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HBF</a:t>
                    </a:r>
                    <a:endParaRPr lang="ko-KR" altLang="en-US" sz="1100" b="1" dirty="0">
                      <a:solidFill>
                        <a:srgbClr val="1F3864"/>
                      </a:solidFill>
                      <a:latin typeface="Malgun Gothic" pitchFamily="34" charset="0"/>
                      <a:ea typeface="Malgun Gothic" pitchFamily="34" charset="-122"/>
                      <a:cs typeface="Malgun Gothic" pitchFamily="34" charset="-120"/>
                    </a:endParaRPr>
                  </a:p>
                </p:txBody>
              </p:sp>
            </p:grpSp>
            <p:sp>
              <p:nvSpPr>
                <p:cNvPr id="147" name="모서리가 둥근 직사각형 240">
                  <a:extLst>
                    <a:ext uri="{FF2B5EF4-FFF2-40B4-BE49-F238E27FC236}">
                      <a16:creationId xmlns:a16="http://schemas.microsoft.com/office/drawing/2014/main" id="{A8DF8FE3-2660-4ED5-B889-6041AD06E54C}"/>
                    </a:ext>
                  </a:extLst>
                </p:cNvPr>
                <p:cNvSpPr/>
                <p:nvPr/>
              </p:nvSpPr>
              <p:spPr>
                <a:xfrm>
                  <a:off x="1384719" y="3481563"/>
                  <a:ext cx="842359"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CXL-PNM</a:t>
                  </a:r>
                  <a:endParaRPr lang="ko-KR" altLang="en-US" sz="1100" b="1" dirty="0">
                    <a:solidFill>
                      <a:srgbClr val="1F3864"/>
                    </a:solidFill>
                    <a:latin typeface="Malgun Gothic" pitchFamily="34" charset="0"/>
                    <a:ea typeface="Malgun Gothic" pitchFamily="34" charset="-122"/>
                    <a:cs typeface="Malgun Gothic" pitchFamily="34" charset="-120"/>
                  </a:endParaRPr>
                </a:p>
              </p:txBody>
            </p:sp>
          </p:grpSp>
          <p:cxnSp>
            <p:nvCxnSpPr>
              <p:cNvPr id="162" name="직선 연결선 161">
                <a:extLst>
                  <a:ext uri="{FF2B5EF4-FFF2-40B4-BE49-F238E27FC236}">
                    <a16:creationId xmlns:a16="http://schemas.microsoft.com/office/drawing/2014/main" id="{D58FEC0B-5568-4E2A-AF34-EF05147FA88B}"/>
                  </a:ext>
                </a:extLst>
              </p:cNvPr>
              <p:cNvCxnSpPr>
                <a:stCxn id="147" idx="3"/>
                <a:endCxn id="138" idx="1"/>
              </p:cNvCxnSpPr>
              <p:nvPr/>
            </p:nvCxnSpPr>
            <p:spPr>
              <a:xfrm>
                <a:off x="8374528" y="4590961"/>
                <a:ext cx="217485"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3" name="직선 연결선 162">
                <a:extLst>
                  <a:ext uri="{FF2B5EF4-FFF2-40B4-BE49-F238E27FC236}">
                    <a16:creationId xmlns:a16="http://schemas.microsoft.com/office/drawing/2014/main" id="{4BFFC828-99F7-4529-B145-A0106CEEDECA}"/>
                  </a:ext>
                </a:extLst>
              </p:cNvPr>
              <p:cNvCxnSpPr>
                <a:stCxn id="158" idx="2"/>
                <a:endCxn id="152" idx="0"/>
              </p:cNvCxnSpPr>
              <p:nvPr/>
            </p:nvCxnSpPr>
            <p:spPr>
              <a:xfrm>
                <a:off x="8955871" y="3370311"/>
                <a:ext cx="3" cy="17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68" name="순서도: 자기 디스크 167">
                <a:extLst>
                  <a:ext uri="{FF2B5EF4-FFF2-40B4-BE49-F238E27FC236}">
                    <a16:creationId xmlns:a16="http://schemas.microsoft.com/office/drawing/2014/main" id="{B93D3D46-2EAF-4F46-8D70-4B0856C6C363}"/>
                  </a:ext>
                </a:extLst>
              </p:cNvPr>
              <p:cNvSpPr/>
              <p:nvPr/>
            </p:nvSpPr>
            <p:spPr>
              <a:xfrm>
                <a:off x="8165993" y="3132004"/>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KV1</a:t>
                </a:r>
                <a:endParaRPr lang="ko-KR" altLang="en-US" sz="800" b="1" dirty="0"/>
              </a:p>
            </p:txBody>
          </p:sp>
          <p:sp>
            <p:nvSpPr>
              <p:cNvPr id="181" name="대각선 방향의 모서리가 잘린 사각형 180">
                <a:extLst>
                  <a:ext uri="{FF2B5EF4-FFF2-40B4-BE49-F238E27FC236}">
                    <a16:creationId xmlns:a16="http://schemas.microsoft.com/office/drawing/2014/main" id="{66C77D57-A693-44F6-BED9-8013A3D12FE6}"/>
                  </a:ext>
                </a:extLst>
              </p:cNvPr>
              <p:cNvSpPr/>
              <p:nvPr/>
            </p:nvSpPr>
            <p:spPr>
              <a:xfrm>
                <a:off x="8012705" y="3687252"/>
                <a:ext cx="574622" cy="197237"/>
              </a:xfrm>
              <a:prstGeom prst="snip2Diag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1200" dirty="0" err="1"/>
                  <a:t>LoRA</a:t>
                </a:r>
                <a:endParaRPr lang="ko-KR" altLang="en-US" sz="1200" dirty="0"/>
              </a:p>
            </p:txBody>
          </p:sp>
          <p:grpSp>
            <p:nvGrpSpPr>
              <p:cNvPr id="259" name="그룹 258">
                <a:extLst>
                  <a:ext uri="{FF2B5EF4-FFF2-40B4-BE49-F238E27FC236}">
                    <a16:creationId xmlns:a16="http://schemas.microsoft.com/office/drawing/2014/main" id="{C2090F15-14C4-48A1-8E7A-3BD6B2016FAF}"/>
                  </a:ext>
                </a:extLst>
              </p:cNvPr>
              <p:cNvGrpSpPr/>
              <p:nvPr/>
            </p:nvGrpSpPr>
            <p:grpSpPr>
              <a:xfrm>
                <a:off x="6299288" y="3057166"/>
                <a:ext cx="1384623" cy="1817828"/>
                <a:chOff x="429779" y="2706833"/>
                <a:chExt cx="1384623" cy="1817828"/>
              </a:xfrm>
            </p:grpSpPr>
            <p:grpSp>
              <p:nvGrpSpPr>
                <p:cNvPr id="260" name="그룹 259">
                  <a:extLst>
                    <a:ext uri="{FF2B5EF4-FFF2-40B4-BE49-F238E27FC236}">
                      <a16:creationId xmlns:a16="http://schemas.microsoft.com/office/drawing/2014/main" id="{4838AC75-63E2-4DB0-866F-B7D40E013EF8}"/>
                    </a:ext>
                  </a:extLst>
                </p:cNvPr>
                <p:cNvGrpSpPr/>
                <p:nvPr/>
              </p:nvGrpSpPr>
              <p:grpSpPr>
                <a:xfrm>
                  <a:off x="489941" y="3237748"/>
                  <a:ext cx="797013" cy="253916"/>
                  <a:chOff x="647355" y="4269583"/>
                  <a:chExt cx="797013" cy="253916"/>
                </a:xfrm>
              </p:grpSpPr>
              <p:sp>
                <p:nvSpPr>
                  <p:cNvPr id="297" name="모서리가 둥근 직사각형 235">
                    <a:extLst>
                      <a:ext uri="{FF2B5EF4-FFF2-40B4-BE49-F238E27FC236}">
                        <a16:creationId xmlns:a16="http://schemas.microsoft.com/office/drawing/2014/main" id="{653D2F71-606D-4B28-9E0A-62FED89E9900}"/>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98" name="TextBox 297">
                    <a:extLst>
                      <a:ext uri="{FF2B5EF4-FFF2-40B4-BE49-F238E27FC236}">
                        <a16:creationId xmlns:a16="http://schemas.microsoft.com/office/drawing/2014/main" id="{44F47381-B54A-4D02-8BDD-28A19F136EAF}"/>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2</a:t>
                    </a:r>
                    <a:endParaRPr lang="ko-KR" altLang="en-US" sz="1050" dirty="0"/>
                  </a:p>
                </p:txBody>
              </p:sp>
            </p:grpSp>
            <p:sp>
              <p:nvSpPr>
                <p:cNvPr id="261" name="직사각형 260">
                  <a:extLst>
                    <a:ext uri="{FF2B5EF4-FFF2-40B4-BE49-F238E27FC236}">
                      <a16:creationId xmlns:a16="http://schemas.microsoft.com/office/drawing/2014/main" id="{FF91CC32-A2B0-4536-B334-334F143262B8}"/>
                    </a:ext>
                  </a:extLst>
                </p:cNvPr>
                <p:cNvSpPr/>
                <p:nvPr/>
              </p:nvSpPr>
              <p:spPr>
                <a:xfrm>
                  <a:off x="528344" y="2985727"/>
                  <a:ext cx="702893" cy="1538934"/>
                </a:xfrm>
                <a:prstGeom prst="rect">
                  <a:avLst/>
                </a:prstGeom>
                <a:noFill/>
                <a:ln w="9525"/>
              </p:spPr>
              <p:style>
                <a:lnRef idx="2">
                  <a:schemeClr val="dk1"/>
                </a:lnRef>
                <a:fillRef idx="1">
                  <a:schemeClr val="lt1"/>
                </a:fillRef>
                <a:effectRef idx="0">
                  <a:schemeClr val="dk1"/>
                </a:effectRef>
                <a:fontRef idx="minor">
                  <a:schemeClr val="dk1"/>
                </a:fontRef>
              </p:style>
              <p:txBody>
                <a:bodyPr anchor="ctr"/>
                <a:lstStyle/>
                <a:p>
                  <a:pPr algn="ctr"/>
                  <a:endParaRPr lang="ko-KR" altLang="en-US" sz="1400" b="1">
                    <a:solidFill>
                      <a:srgbClr val="1F3864"/>
                    </a:solidFill>
                    <a:latin typeface="Malgun Gothic" pitchFamily="34" charset="0"/>
                    <a:ea typeface="Malgun Gothic" pitchFamily="34" charset="-122"/>
                    <a:cs typeface="Malgun Gothic" pitchFamily="34" charset="-120"/>
                  </a:endParaRPr>
                </a:p>
              </p:txBody>
            </p:sp>
            <p:sp>
              <p:nvSpPr>
                <p:cNvPr id="262" name="TextBox 261">
                  <a:extLst>
                    <a:ext uri="{FF2B5EF4-FFF2-40B4-BE49-F238E27FC236}">
                      <a16:creationId xmlns:a16="http://schemas.microsoft.com/office/drawing/2014/main" id="{7B45D556-134F-47A0-8B00-6CAE2426BFA9}"/>
                    </a:ext>
                  </a:extLst>
                </p:cNvPr>
                <p:cNvSpPr txBox="1"/>
                <p:nvPr/>
              </p:nvSpPr>
              <p:spPr>
                <a:xfrm>
                  <a:off x="429779" y="2706833"/>
                  <a:ext cx="910827" cy="253916"/>
                </a:xfrm>
                <a:prstGeom prst="rect">
                  <a:avLst/>
                </a:prstGeom>
                <a:noFill/>
              </p:spPr>
              <p:txBody>
                <a:bodyPr wrap="none" rtlCol="0">
                  <a:spAutoFit/>
                </a:bodyPr>
                <a:lstStyle/>
                <a:p>
                  <a:r>
                    <a:rPr lang="en-US" altLang="ko-KR" sz="1050" dirty="0"/>
                    <a:t>work queue</a:t>
                  </a:r>
                  <a:endParaRPr lang="ko-KR" altLang="en-US" sz="1050" dirty="0"/>
                </a:p>
              </p:txBody>
            </p:sp>
            <p:grpSp>
              <p:nvGrpSpPr>
                <p:cNvPr id="264" name="그룹 263">
                  <a:extLst>
                    <a:ext uri="{FF2B5EF4-FFF2-40B4-BE49-F238E27FC236}">
                      <a16:creationId xmlns:a16="http://schemas.microsoft.com/office/drawing/2014/main" id="{7A918029-53A7-4C85-BC4D-3DF0F8C76427}"/>
                    </a:ext>
                  </a:extLst>
                </p:cNvPr>
                <p:cNvGrpSpPr/>
                <p:nvPr/>
              </p:nvGrpSpPr>
              <p:grpSpPr>
                <a:xfrm>
                  <a:off x="489941" y="2997325"/>
                  <a:ext cx="797013" cy="253916"/>
                  <a:chOff x="647355" y="4269583"/>
                  <a:chExt cx="797013" cy="253916"/>
                </a:xfrm>
              </p:grpSpPr>
              <p:sp>
                <p:nvSpPr>
                  <p:cNvPr id="295" name="모서리가 둥근 직사각형 233">
                    <a:extLst>
                      <a:ext uri="{FF2B5EF4-FFF2-40B4-BE49-F238E27FC236}">
                        <a16:creationId xmlns:a16="http://schemas.microsoft.com/office/drawing/2014/main" id="{2A169C89-2300-4622-A185-B9908471B292}"/>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96" name="TextBox 295">
                    <a:extLst>
                      <a:ext uri="{FF2B5EF4-FFF2-40B4-BE49-F238E27FC236}">
                        <a16:creationId xmlns:a16="http://schemas.microsoft.com/office/drawing/2014/main" id="{AC000B18-6351-4F08-9C62-6CB8A658C5D3}"/>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1</a:t>
                    </a:r>
                    <a:endParaRPr lang="ko-KR" altLang="en-US" sz="1050" dirty="0"/>
                  </a:p>
                </p:txBody>
              </p:sp>
            </p:grpSp>
            <p:grpSp>
              <p:nvGrpSpPr>
                <p:cNvPr id="265" name="그룹 264">
                  <a:extLst>
                    <a:ext uri="{FF2B5EF4-FFF2-40B4-BE49-F238E27FC236}">
                      <a16:creationId xmlns:a16="http://schemas.microsoft.com/office/drawing/2014/main" id="{2518B80D-8282-4EEB-956B-679D5958ACE9}"/>
                    </a:ext>
                  </a:extLst>
                </p:cNvPr>
                <p:cNvGrpSpPr/>
                <p:nvPr/>
              </p:nvGrpSpPr>
              <p:grpSpPr>
                <a:xfrm>
                  <a:off x="489941" y="3479840"/>
                  <a:ext cx="797013" cy="253916"/>
                  <a:chOff x="647355" y="4269583"/>
                  <a:chExt cx="797013" cy="253916"/>
                </a:xfrm>
              </p:grpSpPr>
              <p:sp>
                <p:nvSpPr>
                  <p:cNvPr id="293" name="모서리가 둥근 직사각형 231">
                    <a:extLst>
                      <a:ext uri="{FF2B5EF4-FFF2-40B4-BE49-F238E27FC236}">
                        <a16:creationId xmlns:a16="http://schemas.microsoft.com/office/drawing/2014/main" id="{FDE96DDE-B589-4061-8954-023C70252CD9}"/>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94" name="TextBox 293">
                    <a:extLst>
                      <a:ext uri="{FF2B5EF4-FFF2-40B4-BE49-F238E27FC236}">
                        <a16:creationId xmlns:a16="http://schemas.microsoft.com/office/drawing/2014/main" id="{6CE78D1D-B9D4-43B2-AA0D-D95B99927019}"/>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3</a:t>
                    </a:r>
                    <a:endParaRPr lang="ko-KR" altLang="en-US" sz="1050" dirty="0"/>
                  </a:p>
                </p:txBody>
              </p:sp>
            </p:grpSp>
            <p:grpSp>
              <p:nvGrpSpPr>
                <p:cNvPr id="281" name="그룹 280">
                  <a:extLst>
                    <a:ext uri="{FF2B5EF4-FFF2-40B4-BE49-F238E27FC236}">
                      <a16:creationId xmlns:a16="http://schemas.microsoft.com/office/drawing/2014/main" id="{1EEF3E81-2B98-4128-BABA-54443C16F66B}"/>
                    </a:ext>
                  </a:extLst>
                </p:cNvPr>
                <p:cNvGrpSpPr/>
                <p:nvPr/>
              </p:nvGrpSpPr>
              <p:grpSpPr>
                <a:xfrm>
                  <a:off x="489941" y="3734968"/>
                  <a:ext cx="797013" cy="253916"/>
                  <a:chOff x="647355" y="4269583"/>
                  <a:chExt cx="797013" cy="253916"/>
                </a:xfrm>
              </p:grpSpPr>
              <p:sp>
                <p:nvSpPr>
                  <p:cNvPr id="291" name="모서리가 둥근 직사각형 229">
                    <a:extLst>
                      <a:ext uri="{FF2B5EF4-FFF2-40B4-BE49-F238E27FC236}">
                        <a16:creationId xmlns:a16="http://schemas.microsoft.com/office/drawing/2014/main" id="{2438B9E8-A073-4BBB-8948-554830921296}"/>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92" name="TextBox 291">
                    <a:extLst>
                      <a:ext uri="{FF2B5EF4-FFF2-40B4-BE49-F238E27FC236}">
                        <a16:creationId xmlns:a16="http://schemas.microsoft.com/office/drawing/2014/main" id="{8DAB9D6A-E929-4921-B896-2084E5ABD724}"/>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4</a:t>
                    </a:r>
                    <a:endParaRPr lang="ko-KR" altLang="en-US" sz="1050" dirty="0"/>
                  </a:p>
                </p:txBody>
              </p:sp>
            </p:grpSp>
            <p:grpSp>
              <p:nvGrpSpPr>
                <p:cNvPr id="282" name="그룹 281">
                  <a:extLst>
                    <a:ext uri="{FF2B5EF4-FFF2-40B4-BE49-F238E27FC236}">
                      <a16:creationId xmlns:a16="http://schemas.microsoft.com/office/drawing/2014/main" id="{076F11A9-9364-4E6A-A826-5DBCAD01E9A8}"/>
                    </a:ext>
                  </a:extLst>
                </p:cNvPr>
                <p:cNvGrpSpPr/>
                <p:nvPr/>
              </p:nvGrpSpPr>
              <p:grpSpPr>
                <a:xfrm>
                  <a:off x="489941" y="3980247"/>
                  <a:ext cx="797013" cy="253916"/>
                  <a:chOff x="647355" y="4269583"/>
                  <a:chExt cx="797013" cy="253916"/>
                </a:xfrm>
              </p:grpSpPr>
              <p:sp>
                <p:nvSpPr>
                  <p:cNvPr id="287" name="모서리가 둥근 직사각형 227">
                    <a:extLst>
                      <a:ext uri="{FF2B5EF4-FFF2-40B4-BE49-F238E27FC236}">
                        <a16:creationId xmlns:a16="http://schemas.microsoft.com/office/drawing/2014/main" id="{1F09691A-0DBD-4D01-A7EF-05C7A560F54C}"/>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88" name="TextBox 287">
                    <a:extLst>
                      <a:ext uri="{FF2B5EF4-FFF2-40B4-BE49-F238E27FC236}">
                        <a16:creationId xmlns:a16="http://schemas.microsoft.com/office/drawing/2014/main" id="{FA47DEA8-F78E-42DA-9913-02A674D57B3D}"/>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5</a:t>
                    </a:r>
                    <a:endParaRPr lang="ko-KR" altLang="en-US" sz="1050" dirty="0"/>
                  </a:p>
                </p:txBody>
              </p:sp>
            </p:grpSp>
            <p:cxnSp>
              <p:nvCxnSpPr>
                <p:cNvPr id="283" name="직선 화살표 연결선 282">
                  <a:extLst>
                    <a:ext uri="{FF2B5EF4-FFF2-40B4-BE49-F238E27FC236}">
                      <a16:creationId xmlns:a16="http://schemas.microsoft.com/office/drawing/2014/main" id="{3E7D45FE-F6B6-4FF0-A744-100ACFD206A2}"/>
                    </a:ext>
                  </a:extLst>
                </p:cNvPr>
                <p:cNvCxnSpPr/>
                <p:nvPr/>
              </p:nvCxnSpPr>
              <p:spPr>
                <a:xfrm>
                  <a:off x="1286954" y="3602837"/>
                  <a:ext cx="1298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AD738F9F-DA01-4BBA-B2D6-9B908D779557}"/>
                    </a:ext>
                  </a:extLst>
                </p:cNvPr>
                <p:cNvSpPr txBox="1"/>
                <p:nvPr/>
              </p:nvSpPr>
              <p:spPr>
                <a:xfrm>
                  <a:off x="1359966" y="3472535"/>
                  <a:ext cx="450764" cy="253916"/>
                </a:xfrm>
                <a:prstGeom prst="rect">
                  <a:avLst/>
                </a:prstGeom>
                <a:noFill/>
              </p:spPr>
              <p:txBody>
                <a:bodyPr wrap="none" rtlCol="0">
                  <a:spAutoFit/>
                </a:bodyPr>
                <a:lstStyle/>
                <a:p>
                  <a:r>
                    <a:rPr lang="en-US" altLang="ko-KR" sz="1050" dirty="0"/>
                    <a:t>Tool</a:t>
                  </a:r>
                  <a:endParaRPr lang="ko-KR" altLang="en-US" sz="1050" dirty="0"/>
                </a:p>
              </p:txBody>
            </p:sp>
            <p:cxnSp>
              <p:nvCxnSpPr>
                <p:cNvPr id="285" name="직선 화살표 연결선 284">
                  <a:extLst>
                    <a:ext uri="{FF2B5EF4-FFF2-40B4-BE49-F238E27FC236}">
                      <a16:creationId xmlns:a16="http://schemas.microsoft.com/office/drawing/2014/main" id="{6BC863F9-3FB1-4A5A-B154-AB5BF8F8559A}"/>
                    </a:ext>
                  </a:extLst>
                </p:cNvPr>
                <p:cNvCxnSpPr>
                  <a:stCxn id="292" idx="3"/>
                </p:cNvCxnSpPr>
                <p:nvPr/>
              </p:nvCxnSpPr>
              <p:spPr>
                <a:xfrm>
                  <a:off x="1286954" y="3861926"/>
                  <a:ext cx="1560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6" name="TextBox 285">
                  <a:extLst>
                    <a:ext uri="{FF2B5EF4-FFF2-40B4-BE49-F238E27FC236}">
                      <a16:creationId xmlns:a16="http://schemas.microsoft.com/office/drawing/2014/main" id="{7AF2F04B-E68C-4547-A81F-FAE77D1DB23D}"/>
                    </a:ext>
                  </a:extLst>
                </p:cNvPr>
                <p:cNvSpPr txBox="1"/>
                <p:nvPr/>
              </p:nvSpPr>
              <p:spPr>
                <a:xfrm>
                  <a:off x="1363638" y="3736285"/>
                  <a:ext cx="450764" cy="253916"/>
                </a:xfrm>
                <a:prstGeom prst="rect">
                  <a:avLst/>
                </a:prstGeom>
                <a:noFill/>
              </p:spPr>
              <p:txBody>
                <a:bodyPr wrap="none" rtlCol="0">
                  <a:spAutoFit/>
                </a:bodyPr>
                <a:lstStyle/>
                <a:p>
                  <a:r>
                    <a:rPr lang="en-US" altLang="ko-KR" sz="1050" dirty="0"/>
                    <a:t>Tool</a:t>
                  </a:r>
                  <a:endParaRPr lang="ko-KR" altLang="en-US" sz="1050" dirty="0"/>
                </a:p>
              </p:txBody>
            </p:sp>
          </p:grpSp>
          <p:sp>
            <p:nvSpPr>
              <p:cNvPr id="166" name="모서리가 둥근 직사각형 262">
                <a:extLst>
                  <a:ext uri="{FF2B5EF4-FFF2-40B4-BE49-F238E27FC236}">
                    <a16:creationId xmlns:a16="http://schemas.microsoft.com/office/drawing/2014/main" id="{9A6C1B79-B67A-4936-907B-4FE927F86E5B}"/>
                  </a:ext>
                </a:extLst>
              </p:cNvPr>
              <p:cNvSpPr/>
              <p:nvPr/>
            </p:nvSpPr>
            <p:spPr>
              <a:xfrm>
                <a:off x="9821575" y="3981487"/>
                <a:ext cx="906216" cy="338012"/>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1200" b="1" dirty="0" err="1">
                    <a:solidFill>
                      <a:srgbClr val="1F3864"/>
                    </a:solidFill>
                    <a:latin typeface="Malgun Gothic" pitchFamily="34" charset="0"/>
                    <a:ea typeface="Malgun Gothic" pitchFamily="34" charset="-122"/>
                    <a:cs typeface="Malgun Gothic" pitchFamily="34" charset="-120"/>
                  </a:rPr>
                  <a:t>ScHBM</a:t>
                </a:r>
                <a:endParaRPr lang="ko-KR" altLang="en-US" sz="1200" b="1" dirty="0">
                  <a:solidFill>
                    <a:srgbClr val="1F3864"/>
                  </a:solidFill>
                  <a:latin typeface="Malgun Gothic" pitchFamily="34" charset="0"/>
                  <a:ea typeface="Malgun Gothic" pitchFamily="34" charset="-122"/>
                  <a:cs typeface="Malgun Gothic" pitchFamily="34" charset="-120"/>
                </a:endParaRPr>
              </a:p>
            </p:txBody>
          </p:sp>
          <p:sp>
            <p:nvSpPr>
              <p:cNvPr id="226" name="순서도: 자기 디스크 225">
                <a:extLst>
                  <a:ext uri="{FF2B5EF4-FFF2-40B4-BE49-F238E27FC236}">
                    <a16:creationId xmlns:a16="http://schemas.microsoft.com/office/drawing/2014/main" id="{B93D3D46-2EAF-4F46-8D70-4B0856C6C363}"/>
                  </a:ext>
                </a:extLst>
              </p:cNvPr>
              <p:cNvSpPr/>
              <p:nvPr/>
            </p:nvSpPr>
            <p:spPr>
              <a:xfrm>
                <a:off x="9312166" y="3053619"/>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KV2</a:t>
                </a:r>
                <a:endParaRPr lang="ko-KR" altLang="en-US" sz="800" b="1" dirty="0"/>
              </a:p>
            </p:txBody>
          </p:sp>
          <p:sp>
            <p:nvSpPr>
              <p:cNvPr id="228" name="순서도: 자기 디스크 227">
                <a:extLst>
                  <a:ext uri="{FF2B5EF4-FFF2-40B4-BE49-F238E27FC236}">
                    <a16:creationId xmlns:a16="http://schemas.microsoft.com/office/drawing/2014/main" id="{B93D3D46-2EAF-4F46-8D70-4B0856C6C363}"/>
                  </a:ext>
                </a:extLst>
              </p:cNvPr>
              <p:cNvSpPr/>
              <p:nvPr/>
            </p:nvSpPr>
            <p:spPr>
              <a:xfrm>
                <a:off x="9251802" y="3681533"/>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KV5</a:t>
                </a:r>
                <a:endParaRPr lang="ko-KR" altLang="en-US" sz="800" b="1" dirty="0"/>
              </a:p>
            </p:txBody>
          </p:sp>
          <p:sp>
            <p:nvSpPr>
              <p:cNvPr id="229" name="순서도: 자기 디스크 228">
                <a:extLst>
                  <a:ext uri="{FF2B5EF4-FFF2-40B4-BE49-F238E27FC236}">
                    <a16:creationId xmlns:a16="http://schemas.microsoft.com/office/drawing/2014/main" id="{B93D3D46-2EAF-4F46-8D70-4B0856C6C363}"/>
                  </a:ext>
                </a:extLst>
              </p:cNvPr>
              <p:cNvSpPr/>
              <p:nvPr/>
            </p:nvSpPr>
            <p:spPr>
              <a:xfrm>
                <a:off x="7990790" y="4677849"/>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KV3</a:t>
                </a:r>
                <a:endParaRPr lang="ko-KR" altLang="en-US" sz="800" b="1" dirty="0"/>
              </a:p>
            </p:txBody>
          </p:sp>
          <p:sp>
            <p:nvSpPr>
              <p:cNvPr id="230" name="순서도: 자기 디스크 229">
                <a:extLst>
                  <a:ext uri="{FF2B5EF4-FFF2-40B4-BE49-F238E27FC236}">
                    <a16:creationId xmlns:a16="http://schemas.microsoft.com/office/drawing/2014/main" id="{B93D3D46-2EAF-4F46-8D70-4B0856C6C363}"/>
                  </a:ext>
                </a:extLst>
              </p:cNvPr>
              <p:cNvSpPr/>
              <p:nvPr/>
            </p:nvSpPr>
            <p:spPr>
              <a:xfrm>
                <a:off x="9752193" y="4261538"/>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KV4</a:t>
                </a:r>
                <a:endParaRPr lang="ko-KR" altLang="en-US" sz="800" b="1" dirty="0"/>
              </a:p>
            </p:txBody>
          </p:sp>
          <p:sp>
            <p:nvSpPr>
              <p:cNvPr id="231" name="대각선 방향의 모서리가 잘린 사각형 230">
                <a:extLst>
                  <a:ext uri="{FF2B5EF4-FFF2-40B4-BE49-F238E27FC236}">
                    <a16:creationId xmlns:a16="http://schemas.microsoft.com/office/drawing/2014/main" id="{66C77D57-A693-44F6-BED9-8013A3D12FE6}"/>
                  </a:ext>
                </a:extLst>
              </p:cNvPr>
              <p:cNvSpPr/>
              <p:nvPr/>
            </p:nvSpPr>
            <p:spPr>
              <a:xfrm>
                <a:off x="9312166" y="3290786"/>
                <a:ext cx="574622" cy="197237"/>
              </a:xfrm>
              <a:prstGeom prst="snip2DiagRect">
                <a:avLst/>
              </a:prstGeom>
              <a:ln>
                <a:solidFill>
                  <a:schemeClr val="accent4"/>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900" dirty="0"/>
                  <a:t>Expert</a:t>
                </a:r>
                <a:endParaRPr lang="ko-KR" altLang="en-US" sz="900" dirty="0"/>
              </a:p>
            </p:txBody>
          </p:sp>
        </p:grpSp>
        <p:sp>
          <p:nvSpPr>
            <p:cNvPr id="220" name="순서도: 자기 디스크 219">
              <a:extLst>
                <a:ext uri="{FF2B5EF4-FFF2-40B4-BE49-F238E27FC236}">
                  <a16:creationId xmlns:a16="http://schemas.microsoft.com/office/drawing/2014/main" id="{B93D3D46-2EAF-4F46-8D70-4B0856C6C363}"/>
                </a:ext>
              </a:extLst>
            </p:cNvPr>
            <p:cNvSpPr/>
            <p:nvPr/>
          </p:nvSpPr>
          <p:spPr>
            <a:xfrm>
              <a:off x="9349442" y="5048468"/>
              <a:ext cx="754531" cy="291948"/>
            </a:xfrm>
            <a:prstGeom prst="flowChartMagneticDisk">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dirty="0"/>
                <a:t>Vector </a:t>
              </a:r>
              <a:r>
                <a:rPr lang="en-US" altLang="ko-KR" sz="800" dirty="0" err="1"/>
                <a:t>Idx</a:t>
              </a:r>
              <a:r>
                <a:rPr lang="en-US" altLang="ko-KR" sz="800" dirty="0"/>
                <a:t> Cache</a:t>
              </a:r>
              <a:endParaRPr lang="ko-KR" altLang="en-US" sz="800" dirty="0"/>
            </a:p>
          </p:txBody>
        </p:sp>
      </p:grpSp>
      <p:cxnSp>
        <p:nvCxnSpPr>
          <p:cNvPr id="222" name="직선 연결선 221">
            <a:extLst>
              <a:ext uri="{FF2B5EF4-FFF2-40B4-BE49-F238E27FC236}">
                <a16:creationId xmlns:a16="http://schemas.microsoft.com/office/drawing/2014/main" id="{E8BD091E-84A4-4AF0-9C69-9D493ED1BE5B}"/>
              </a:ext>
            </a:extLst>
          </p:cNvPr>
          <p:cNvCxnSpPr>
            <a:stCxn id="138" idx="3"/>
            <a:endCxn id="140" idx="1"/>
          </p:cNvCxnSpPr>
          <p:nvPr/>
        </p:nvCxnSpPr>
        <p:spPr>
          <a:xfrm>
            <a:off x="9517632" y="5593580"/>
            <a:ext cx="512853" cy="155292"/>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2" name="모서리가 둥근 직사각형 192">
            <a:extLst>
              <a:ext uri="{FF2B5EF4-FFF2-40B4-BE49-F238E27FC236}">
                <a16:creationId xmlns:a16="http://schemas.microsoft.com/office/drawing/2014/main" id="{F514312F-4F37-4C23-84C5-02AC423D2309}"/>
              </a:ext>
            </a:extLst>
          </p:cNvPr>
          <p:cNvSpPr/>
          <p:nvPr/>
        </p:nvSpPr>
        <p:spPr>
          <a:xfrm>
            <a:off x="10997939" y="6025681"/>
            <a:ext cx="817052" cy="223103"/>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ko-KR" altLang="en-US" sz="900" b="1" dirty="0">
                <a:solidFill>
                  <a:srgbClr val="1F3864"/>
                </a:solidFill>
                <a:latin typeface="Malgun Gothic" pitchFamily="34" charset="0"/>
                <a:ea typeface="Malgun Gothic" pitchFamily="34" charset="-122"/>
                <a:cs typeface="Malgun Gothic" pitchFamily="34" charset="-120"/>
              </a:rPr>
              <a:t>기존 메모리</a:t>
            </a:r>
          </a:p>
        </p:txBody>
      </p:sp>
      <p:sp>
        <p:nvSpPr>
          <p:cNvPr id="233" name="모서리가 둥근 직사각형 192">
            <a:extLst>
              <a:ext uri="{FF2B5EF4-FFF2-40B4-BE49-F238E27FC236}">
                <a16:creationId xmlns:a16="http://schemas.microsoft.com/office/drawing/2014/main" id="{F514312F-4F37-4C23-84C5-02AC423D2309}"/>
              </a:ext>
            </a:extLst>
          </p:cNvPr>
          <p:cNvSpPr/>
          <p:nvPr/>
        </p:nvSpPr>
        <p:spPr>
          <a:xfrm>
            <a:off x="10997939" y="5765354"/>
            <a:ext cx="817052" cy="223103"/>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ko-KR" altLang="en-US" sz="900" b="1" dirty="0">
                <a:solidFill>
                  <a:srgbClr val="1F3864"/>
                </a:solidFill>
                <a:latin typeface="Malgun Gothic" pitchFamily="34" charset="0"/>
                <a:ea typeface="Malgun Gothic" pitchFamily="34" charset="-122"/>
                <a:cs typeface="Malgun Gothic" pitchFamily="34" charset="-120"/>
              </a:rPr>
              <a:t>신규 메모리</a:t>
            </a:r>
          </a:p>
        </p:txBody>
      </p:sp>
      <p:sp>
        <p:nvSpPr>
          <p:cNvPr id="234" name="실행 단추: 앞으로 또는 다음 233">
            <a:hlinkClick r:id="" action="ppaction://noaction" highlightClick="1"/>
          </p:cNvPr>
          <p:cNvSpPr/>
          <p:nvPr/>
        </p:nvSpPr>
        <p:spPr>
          <a:xfrm>
            <a:off x="5639954" y="1126338"/>
            <a:ext cx="217381" cy="226009"/>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6357908" y="4019550"/>
            <a:ext cx="5535079" cy="2255795"/>
          </a:xfrm>
          <a:prstGeom prst="rect">
            <a:avLst/>
          </a:prstGeom>
          <a:noFill/>
          <a:ln>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9" name="TextBox 38"/>
          <p:cNvSpPr txBox="1"/>
          <p:nvPr/>
        </p:nvSpPr>
        <p:spPr>
          <a:xfrm>
            <a:off x="7715788" y="3876574"/>
            <a:ext cx="2903360" cy="253916"/>
          </a:xfrm>
          <a:prstGeom prst="rect">
            <a:avLst/>
          </a:prstGeom>
          <a:solidFill>
            <a:schemeClr val="bg1"/>
          </a:solidFill>
        </p:spPr>
        <p:txBody>
          <a:bodyPr wrap="none" rtlCol="0">
            <a:spAutoFit/>
          </a:bodyPr>
          <a:lstStyle/>
          <a:p>
            <a:pPr algn="ctr"/>
            <a:r>
              <a:rPr lang="en-US" altLang="ko-KR" sz="1050" dirty="0"/>
              <a:t>&lt;</a:t>
            </a:r>
            <a:r>
              <a:rPr lang="ko-KR" altLang="en-US" sz="1050" dirty="0"/>
              <a:t>이기종 메모리 기반 데이터 배치 시나리오</a:t>
            </a:r>
            <a:r>
              <a:rPr lang="en-US" altLang="ko-KR" sz="1050" dirty="0"/>
              <a:t>&gt;</a:t>
            </a:r>
            <a:endParaRPr lang="ko-KR" altLang="en-US" sz="1050" dirty="0"/>
          </a:p>
        </p:txBody>
      </p:sp>
      <p:sp>
        <p:nvSpPr>
          <p:cNvPr id="237" name="Text 22"/>
          <p:cNvSpPr/>
          <p:nvPr/>
        </p:nvSpPr>
        <p:spPr>
          <a:xfrm>
            <a:off x="5181906" y="1154838"/>
            <a:ext cx="458048" cy="158203"/>
          </a:xfrm>
          <a:prstGeom prst="rect">
            <a:avLst/>
          </a:prstGeom>
          <a:noFill/>
          <a:ln/>
        </p:spPr>
        <p:txBody>
          <a:bodyPr wrap="square" lIns="0" tIns="0" rIns="0" bIns="0" rtlCol="0" anchor="t"/>
          <a:lstStyle/>
          <a:p>
            <a:pPr>
              <a:lnSpc>
                <a:spcPct val="150000"/>
              </a:lnSpc>
            </a:pPr>
            <a:r>
              <a:rPr lang="en-US" altLang="ko-KR" sz="800" b="1" dirty="0">
                <a:solidFill>
                  <a:schemeClr val="bg1">
                    <a:lumMod val="50000"/>
                  </a:schemeClr>
                </a:solidFill>
                <a:sym typeface="Wingdings" panose="05000000000000000000" pitchFamily="2" charset="2"/>
              </a:rPr>
              <a:t>*KV </a:t>
            </a:r>
            <a:r>
              <a:rPr lang="ko-KR" altLang="en-US" sz="800" b="1" dirty="0">
                <a:solidFill>
                  <a:schemeClr val="bg1">
                    <a:lumMod val="50000"/>
                  </a:schemeClr>
                </a:solidFill>
                <a:sym typeface="Wingdings" panose="05000000000000000000" pitchFamily="2" charset="2"/>
              </a:rPr>
              <a:t>캐시 </a:t>
            </a:r>
            <a:endParaRPr lang="en-US" altLang="ko-KR" sz="800" b="1" dirty="0">
              <a:solidFill>
                <a:schemeClr val="bg1">
                  <a:lumMod val="50000"/>
                </a:schemeClr>
              </a:solidFill>
              <a:sym typeface="Wingdings" panose="05000000000000000000" pitchFamily="2" charset="2"/>
            </a:endParaRPr>
          </a:p>
        </p:txBody>
      </p:sp>
      <p:pic>
        <p:nvPicPr>
          <p:cNvPr id="9" name="그림 8">
            <a:extLst>
              <a:ext uri="{FF2B5EF4-FFF2-40B4-BE49-F238E27FC236}">
                <a16:creationId xmlns:a16="http://schemas.microsoft.com/office/drawing/2014/main" id="{BB1BC9BB-87A4-44D8-8E2B-13F5A972EDDE}"/>
              </a:ext>
            </a:extLst>
          </p:cNvPr>
          <p:cNvPicPr>
            <a:picLocks noChangeAspect="1"/>
          </p:cNvPicPr>
          <p:nvPr/>
        </p:nvPicPr>
        <p:blipFill>
          <a:blip r:embed="rId4"/>
          <a:stretch>
            <a:fillRect/>
          </a:stretch>
        </p:blipFill>
        <p:spPr>
          <a:xfrm>
            <a:off x="627616" y="1382834"/>
            <a:ext cx="4874080" cy="2249575"/>
          </a:xfrm>
          <a:prstGeom prst="rect">
            <a:avLst/>
          </a:prstGeom>
        </p:spPr>
      </p:pic>
      <p:pic>
        <p:nvPicPr>
          <p:cNvPr id="11" name="그림 10">
            <a:extLst>
              <a:ext uri="{FF2B5EF4-FFF2-40B4-BE49-F238E27FC236}">
                <a16:creationId xmlns:a16="http://schemas.microsoft.com/office/drawing/2014/main" id="{7A943532-133E-4E8D-B3A2-82832428E82C}"/>
              </a:ext>
            </a:extLst>
          </p:cNvPr>
          <p:cNvPicPr>
            <a:picLocks noChangeAspect="1"/>
          </p:cNvPicPr>
          <p:nvPr/>
        </p:nvPicPr>
        <p:blipFill rotWithShape="1">
          <a:blip r:embed="rId5"/>
          <a:srcRect t="8370"/>
          <a:stretch/>
        </p:blipFill>
        <p:spPr>
          <a:xfrm>
            <a:off x="767447" y="4037881"/>
            <a:ext cx="4703015" cy="2394113"/>
          </a:xfrm>
          <a:prstGeom prst="rect">
            <a:avLst/>
          </a:prstGeom>
        </p:spPr>
      </p:pic>
    </p:spTree>
    <p:extLst>
      <p:ext uri="{BB962C8B-B14F-4D97-AF65-F5344CB8AC3E}">
        <p14:creationId xmlns:p14="http://schemas.microsoft.com/office/powerpoint/2010/main" val="2950105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6775451" cy="365125"/>
          </a:xfrm>
        </p:spPr>
        <p:txBody>
          <a:bodyPr/>
          <a:lstStyle/>
          <a:p>
            <a:r>
              <a:rPr lang="en-US" altLang="ko-KR" dirty="0"/>
              <a:t>DP1. </a:t>
            </a:r>
            <a:r>
              <a:rPr lang="ko-KR" altLang="en-US" dirty="0"/>
              <a:t>이기종 메모리 기반 </a:t>
            </a:r>
            <a:r>
              <a:rPr lang="en-US" altLang="ko-KR" dirty="0"/>
              <a:t>Data Migration</a:t>
            </a:r>
            <a:r>
              <a:rPr lang="ko-KR" altLang="en-US" dirty="0"/>
              <a:t> 구조 </a:t>
            </a:r>
            <a:r>
              <a:rPr lang="en-US" altLang="ko-KR" dirty="0"/>
              <a:t>- </a:t>
            </a:r>
            <a:r>
              <a:rPr lang="ko-KR" altLang="en-US" dirty="0"/>
              <a:t>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6" name="Text 22"/>
          <p:cNvSpPr/>
          <p:nvPr/>
        </p:nvSpPr>
        <p:spPr>
          <a:xfrm>
            <a:off x="383682" y="5989237"/>
            <a:ext cx="8321945" cy="574400"/>
          </a:xfrm>
          <a:prstGeom prst="rect">
            <a:avLst/>
          </a:prstGeom>
          <a:noFill/>
          <a:ln/>
        </p:spPr>
        <p:txBody>
          <a:bodyPr wrap="square" lIns="0" tIns="0" rIns="0" bIns="0" rtlCol="0" anchor="t"/>
          <a:lstStyle/>
          <a:p>
            <a:pPr>
              <a:lnSpc>
                <a:spcPct val="125000"/>
              </a:lnSpc>
            </a:pPr>
            <a:r>
              <a:rPr lang="ko-KR" altLang="en-US" sz="1200" dirty="0">
                <a:latin typeface="맑은 고딕" panose="020B0503020000020004" pitchFamily="50" charset="-127"/>
              </a:rPr>
              <a:t>설계 쟁점 </a:t>
            </a:r>
            <a:r>
              <a:rPr lang="en-US" altLang="ko-KR" sz="1200" dirty="0">
                <a:latin typeface="맑은 고딕" panose="020B0503020000020004" pitchFamily="50" charset="-127"/>
              </a:rPr>
              <a:t>1. </a:t>
            </a:r>
            <a:r>
              <a:rPr lang="ko-KR" altLang="en-US" sz="1200" dirty="0">
                <a:latin typeface="맑은 고딕" panose="020B0503020000020004" pitchFamily="50" charset="-127"/>
              </a:rPr>
              <a:t>메모리 특성</a:t>
            </a:r>
            <a:r>
              <a:rPr lang="en-US" altLang="ko-KR" sz="1200" dirty="0">
                <a:latin typeface="맑은 고딕" panose="020B0503020000020004" pitchFamily="50" charset="-127"/>
              </a:rPr>
              <a:t>, </a:t>
            </a:r>
            <a:r>
              <a:rPr lang="ko-KR" altLang="en-US" sz="1200" dirty="0">
                <a:latin typeface="맑은 고딕" panose="020B0503020000020004" pitchFamily="50" charset="-127"/>
              </a:rPr>
              <a:t>데이터 특성을 </a:t>
            </a:r>
            <a:r>
              <a:rPr lang="en-US" altLang="ko-KR" sz="1200" dirty="0">
                <a:latin typeface="맑은 고딕" panose="020B0503020000020004" pitchFamily="50" charset="-127"/>
              </a:rPr>
              <a:t>aware</a:t>
            </a:r>
            <a:r>
              <a:rPr lang="ko-KR" altLang="en-US" sz="1200" dirty="0">
                <a:latin typeface="맑은 고딕" panose="020B0503020000020004" pitchFamily="50" charset="-127"/>
              </a:rPr>
              <a:t>한 데이터 </a:t>
            </a:r>
            <a:r>
              <a:rPr lang="en-US" altLang="ko-KR" sz="1200" dirty="0">
                <a:latin typeface="맑은 고딕" panose="020B0503020000020004" pitchFamily="50" charset="-127"/>
              </a:rPr>
              <a:t>Migration</a:t>
            </a:r>
            <a:r>
              <a:rPr lang="ko-KR" altLang="en-US" sz="1200" dirty="0">
                <a:latin typeface="맑은 고딕" panose="020B0503020000020004" pitchFamily="50" charset="-127"/>
              </a:rPr>
              <a:t>을 통해 </a:t>
            </a:r>
            <a:r>
              <a:rPr lang="en-US" altLang="ko-KR" sz="1200" b="1" dirty="0">
                <a:solidFill>
                  <a:srgbClr val="0066FF"/>
                </a:solidFill>
                <a:latin typeface="맑은 고딕" panose="020B0503020000020004" pitchFamily="50" charset="-127"/>
              </a:rPr>
              <a:t>AI </a:t>
            </a:r>
            <a:r>
              <a:rPr lang="ko-KR" altLang="en-US" sz="1200" b="1" dirty="0">
                <a:solidFill>
                  <a:srgbClr val="0066FF"/>
                </a:solidFill>
                <a:latin typeface="맑은 고딕" panose="020B0503020000020004" pitchFamily="50" charset="-127"/>
              </a:rPr>
              <a:t>추론 성능 최적화</a:t>
            </a:r>
            <a:endParaRPr lang="en-US" altLang="ko-KR" sz="1200" dirty="0">
              <a:latin typeface="맑은 고딕" panose="020B0503020000020004" pitchFamily="50" charset="-127"/>
            </a:endParaRPr>
          </a:p>
          <a:p>
            <a:pPr>
              <a:lnSpc>
                <a:spcPct val="125000"/>
              </a:lnSpc>
            </a:pPr>
            <a:r>
              <a:rPr lang="ko-KR" altLang="en-US" sz="1200" dirty="0">
                <a:latin typeface="맑은 고딕" panose="020B0503020000020004" pitchFamily="50" charset="-127"/>
              </a:rPr>
              <a:t>설계 쟁점 </a:t>
            </a:r>
            <a:r>
              <a:rPr lang="en-US" altLang="ko-KR" sz="1200" dirty="0">
                <a:latin typeface="맑은 고딕" panose="020B0503020000020004" pitchFamily="50" charset="-127"/>
              </a:rPr>
              <a:t>2. </a:t>
            </a:r>
            <a:r>
              <a:rPr lang="ko-KR" altLang="en-US" sz="1200" dirty="0">
                <a:latin typeface="맑은 고딕" panose="020B0503020000020004" pitchFamily="50" charset="-127"/>
              </a:rPr>
              <a:t>신규 메모리 확장 시 </a:t>
            </a:r>
            <a:r>
              <a:rPr lang="ko-KR" altLang="en-US" sz="1200" b="1" dirty="0">
                <a:solidFill>
                  <a:srgbClr val="0066FF"/>
                </a:solidFill>
                <a:latin typeface="맑은 고딕" panose="020B0503020000020004" pitchFamily="50" charset="-127"/>
              </a:rPr>
              <a:t>기존 구조 변경을 최소화</a:t>
            </a:r>
            <a:endParaRPr lang="en-US" altLang="ko-KR" sz="1200" dirty="0">
              <a:latin typeface="맑은 고딕" panose="020B0503020000020004" pitchFamily="50" charset="-127"/>
            </a:endParaRPr>
          </a:p>
        </p:txBody>
      </p:sp>
      <p:sp>
        <p:nvSpPr>
          <p:cNvPr id="94" name="직사각형 93">
            <a:extLst>
              <a:ext uri="{FF2B5EF4-FFF2-40B4-BE49-F238E27FC236}">
                <a16:creationId xmlns:a16="http://schemas.microsoft.com/office/drawing/2014/main" id="{E3784E02-153A-49F1-A2CD-CE4252048DE7}"/>
              </a:ext>
            </a:extLst>
          </p:cNvPr>
          <p:cNvSpPr/>
          <p:nvPr/>
        </p:nvSpPr>
        <p:spPr>
          <a:xfrm>
            <a:off x="6250329" y="821729"/>
            <a:ext cx="5694021" cy="4666036"/>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모서리가 둥근 직사각형 217">
            <a:extLst>
              <a:ext uri="{FF2B5EF4-FFF2-40B4-BE49-F238E27FC236}">
                <a16:creationId xmlns:a16="http://schemas.microsoft.com/office/drawing/2014/main" id="{63A3E9B0-7066-45A1-BE5D-E8DD4EAEDB03}"/>
              </a:ext>
            </a:extLst>
          </p:cNvPr>
          <p:cNvSpPr/>
          <p:nvPr/>
        </p:nvSpPr>
        <p:spPr>
          <a:xfrm>
            <a:off x="7210115" y="675855"/>
            <a:ext cx="3749552" cy="285015"/>
          </a:xfrm>
          <a:prstGeom prst="round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To-Be: </a:t>
            </a:r>
            <a:r>
              <a:rPr lang="ko-KR" altLang="en-US" sz="1100" b="1" dirty="0"/>
              <a:t>이기종 메모리 기반 </a:t>
            </a:r>
            <a:r>
              <a:rPr lang="en-US" altLang="ko-KR" sz="1100" b="1" dirty="0"/>
              <a:t>Data Migration </a:t>
            </a:r>
            <a:r>
              <a:rPr lang="ko-KR" altLang="en-US" sz="1100" b="1" dirty="0"/>
              <a:t>구조 </a:t>
            </a:r>
          </a:p>
        </p:txBody>
      </p:sp>
      <p:grpSp>
        <p:nvGrpSpPr>
          <p:cNvPr id="91" name="그룹 90">
            <a:extLst>
              <a:ext uri="{FF2B5EF4-FFF2-40B4-BE49-F238E27FC236}">
                <a16:creationId xmlns:a16="http://schemas.microsoft.com/office/drawing/2014/main" id="{6A78737F-A253-4CE8-B9A2-72B91FF65732}"/>
              </a:ext>
            </a:extLst>
          </p:cNvPr>
          <p:cNvGrpSpPr/>
          <p:nvPr/>
        </p:nvGrpSpPr>
        <p:grpSpPr>
          <a:xfrm>
            <a:off x="295158" y="692846"/>
            <a:ext cx="5674740" cy="4794919"/>
            <a:chOff x="211958" y="3004152"/>
            <a:chExt cx="6173883" cy="5378345"/>
          </a:xfrm>
        </p:grpSpPr>
        <p:sp>
          <p:nvSpPr>
            <p:cNvPr id="92" name="직사각형 91">
              <a:extLst>
                <a:ext uri="{FF2B5EF4-FFF2-40B4-BE49-F238E27FC236}">
                  <a16:creationId xmlns:a16="http://schemas.microsoft.com/office/drawing/2014/main" id="{14E0C7FA-AF01-4522-B324-5D5122403813}"/>
                </a:ext>
              </a:extLst>
            </p:cNvPr>
            <p:cNvSpPr/>
            <p:nvPr/>
          </p:nvSpPr>
          <p:spPr>
            <a:xfrm>
              <a:off x="211958" y="3148717"/>
              <a:ext cx="6173883" cy="5233780"/>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모서리가 둥근 직사각형 212">
              <a:extLst>
                <a:ext uri="{FF2B5EF4-FFF2-40B4-BE49-F238E27FC236}">
                  <a16:creationId xmlns:a16="http://schemas.microsoft.com/office/drawing/2014/main" id="{1104C980-3417-4022-8A1E-A71193CA465E}"/>
                </a:ext>
              </a:extLst>
            </p:cNvPr>
            <p:cNvSpPr/>
            <p:nvPr/>
          </p:nvSpPr>
          <p:spPr>
            <a:xfrm>
              <a:off x="1275530" y="3004152"/>
              <a:ext cx="4046740" cy="334864"/>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200" b="1" dirty="0"/>
                <a:t>As-Is: </a:t>
              </a:r>
              <a:r>
                <a:rPr lang="ko-KR" altLang="en-US" sz="1200" b="1" dirty="0"/>
                <a:t>vLLM 기존 </a:t>
              </a:r>
              <a:r>
                <a:rPr lang="en-US" altLang="ko-KR" sz="1200" b="1" dirty="0"/>
                <a:t>메모리 관리 </a:t>
              </a:r>
              <a:r>
                <a:rPr lang="ko-KR" altLang="en-US" sz="1200" b="1" dirty="0"/>
                <a:t>구조 (타입별 독립)</a:t>
              </a:r>
            </a:p>
          </p:txBody>
        </p:sp>
      </p:grpSp>
      <p:sp>
        <p:nvSpPr>
          <p:cNvPr id="173" name="Text 22"/>
          <p:cNvSpPr/>
          <p:nvPr/>
        </p:nvSpPr>
        <p:spPr>
          <a:xfrm>
            <a:off x="805910" y="5613532"/>
            <a:ext cx="8761226" cy="325343"/>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System-Level</a:t>
            </a:r>
            <a:r>
              <a:rPr lang="ko-KR" altLang="en-US"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메모리의 효율적 활용을 위해 이기종 메모리 환경 기반 데이터 </a:t>
            </a:r>
            <a:r>
              <a:rPr lang="ko-KR" altLang="en-US" sz="1200" b="1" dirty="0" err="1">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이동〮배치</a:t>
            </a:r>
            <a:r>
              <a:rPr lang="ko-KR" altLang="en-US"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구조 필요 </a:t>
            </a:r>
            <a:endPar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endParaRPr>
          </a:p>
        </p:txBody>
      </p:sp>
      <p:sp>
        <p:nvSpPr>
          <p:cNvPr id="40" name="오른쪽 화살표 39"/>
          <p:cNvSpPr/>
          <p:nvPr/>
        </p:nvSpPr>
        <p:spPr>
          <a:xfrm>
            <a:off x="284845" y="5625163"/>
            <a:ext cx="412417" cy="2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Fig_AsIs_vLLM_Native"/>
          <p:cNvGrpSpPr/>
          <p:nvPr/>
        </p:nvGrpSpPr>
        <p:grpSpPr>
          <a:xfrm>
            <a:off x="457200" y="1106043"/>
            <a:ext cx="5349240" cy="4177449"/>
            <a:chOff x="457200" y="1115568"/>
            <a:chExt cx="5349240" cy="4177449"/>
          </a:xfrm>
        </p:grpSpPr>
        <p:sp>
          <p:nvSpPr>
            <p:cNvPr id="501" name="AsIs Engine 501"/>
            <p:cNvSpPr/>
            <p:nvPr/>
          </p:nvSpPr>
          <p:spPr>
            <a:xfrm>
              <a:off x="457200" y="1115568"/>
              <a:ext cx="5349240" cy="560000"/>
            </a:xfrm>
            <a:prstGeom prst="rect">
              <a:avLst/>
            </a:prstGeom>
            <a:solidFill>
              <a:srgbClr val="F7F9FC"/>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endParaRPr sz="800"/>
            </a:p>
          </p:txBody>
        </p:sp>
        <p:sp>
          <p:nvSpPr>
            <p:cNvPr id="502" name="AsIs TextBox 502"/>
            <p:cNvSpPr txBox="1"/>
            <p:nvPr/>
          </p:nvSpPr>
          <p:spPr>
            <a:xfrm>
              <a:off x="512064" y="1160000"/>
              <a:ext cx="5239512" cy="150000"/>
            </a:xfrm>
            <a:prstGeom prst="rect">
              <a:avLst/>
            </a:prstGeom>
            <a:noFill/>
          </p:spPr>
          <p:txBody>
            <a:bodyPr wrap="square" lIns="0" tIns="0" rIns="0" bIns="0" anchor="ctr"/>
            <a:lstStyle/>
            <a:p>
              <a:pPr algn="l"/>
              <a:r>
                <a:rPr lang="ko-KR" sz="900" b="1" dirty="0">
                  <a:solidFill>
                    <a:srgbClr val="1A1A1A"/>
                  </a:solidFill>
                  <a:latin typeface="맑은 고딕"/>
                  <a:ea typeface="맑은 고딕"/>
                </a:rPr>
                <a:t>vLLM (Inference Engine)</a:t>
              </a:r>
            </a:p>
          </p:txBody>
        </p:sp>
        <p:sp>
          <p:nvSpPr>
            <p:cNvPr id="506" name="AsIs MissingLayer 506"/>
            <p:cNvSpPr/>
            <p:nvPr/>
          </p:nvSpPr>
          <p:spPr>
            <a:xfrm>
              <a:off x="457200" y="1790000"/>
              <a:ext cx="5349240" cy="1180000"/>
            </a:xfrm>
            <a:prstGeom prst="rect">
              <a:avLst/>
            </a:prstGeom>
            <a:solidFill>
              <a:srgbClr val="FFFFFF"/>
            </a:solidFill>
            <a:ln w="1587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endParaRPr sz="800"/>
            </a:p>
          </p:txBody>
        </p:sp>
        <p:sp>
          <p:nvSpPr>
            <p:cNvPr id="507" name="AsIs TextBox 507"/>
            <p:cNvSpPr txBox="1"/>
            <p:nvPr/>
          </p:nvSpPr>
          <p:spPr>
            <a:xfrm>
              <a:off x="512064" y="1830000"/>
              <a:ext cx="5239512" cy="170000"/>
            </a:xfrm>
            <a:prstGeom prst="rect">
              <a:avLst/>
            </a:prstGeom>
            <a:noFill/>
          </p:spPr>
          <p:txBody>
            <a:bodyPr wrap="square" lIns="0" tIns="0" rIns="0" bIns="0" anchor="ctr"/>
            <a:lstStyle/>
            <a:p>
              <a:pPr algn="l"/>
              <a:r>
                <a:rPr lang="ko-KR" sz="900" b="1" dirty="0">
                  <a:solidFill>
                    <a:srgbClr val="C00000"/>
                  </a:solidFill>
                  <a:latin typeface="맑은 고딕"/>
                  <a:ea typeface="맑은 고딕"/>
                </a:rPr>
                <a:t>이기종 메모리 aware Migration Layer  —  vLLM에 없음 (부재)</a:t>
              </a:r>
            </a:p>
          </p:txBody>
        </p:sp>
        <p:sp>
          <p:nvSpPr>
            <p:cNvPr id="508" name="AsIs Missing 508"/>
            <p:cNvSpPr/>
            <p:nvPr/>
          </p:nvSpPr>
          <p:spPr>
            <a:xfrm>
              <a:off x="512064" y="2080000"/>
              <a:ext cx="1706504" cy="400000"/>
            </a:xfrm>
            <a:prstGeom prst="rect">
              <a:avLst/>
            </a:prstGeom>
            <a:solidFill>
              <a:srgbClr val="F2F2F2"/>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00" b="0" dirty="0">
                  <a:solidFill>
                    <a:srgbClr val="7F7F7F"/>
                  </a:solidFill>
                  <a:latin typeface="맑은 고딕"/>
                  <a:ea typeface="맑은 고딕"/>
                </a:rPr>
                <a:t>Data Object Registry</a:t>
              </a:r>
            </a:p>
          </p:txBody>
        </p:sp>
        <p:sp>
          <p:nvSpPr>
            <p:cNvPr id="509" name="AsIs Missing 509"/>
            <p:cNvSpPr/>
            <p:nvPr/>
          </p:nvSpPr>
          <p:spPr>
            <a:xfrm>
              <a:off x="2278568" y="2080000"/>
              <a:ext cx="1706504" cy="400000"/>
            </a:xfrm>
            <a:prstGeom prst="rect">
              <a:avLst/>
            </a:prstGeom>
            <a:solidFill>
              <a:srgbClr val="F2F2F2"/>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00" b="0" dirty="0">
                  <a:solidFill>
                    <a:srgbClr val="7F7F7F"/>
                  </a:solidFill>
                  <a:latin typeface="맑은 고딕"/>
                  <a:ea typeface="맑은 고딕"/>
                </a:rPr>
                <a:t>Migration Scheduler</a:t>
              </a:r>
            </a:p>
            <a:p>
              <a:pPr algn="ctr"/>
              <a:r>
                <a:rPr lang="ko-KR" sz="800" b="0" dirty="0">
                  <a:solidFill>
                    <a:srgbClr val="7F7F7F"/>
                  </a:solidFill>
                  <a:latin typeface="맑은 고딕"/>
                  <a:ea typeface="맑은 고딕"/>
                </a:rPr>
                <a:t>(Monitor·Predict)</a:t>
              </a:r>
            </a:p>
          </p:txBody>
        </p:sp>
        <p:sp>
          <p:nvSpPr>
            <p:cNvPr id="510" name="AsIs Missing 510"/>
            <p:cNvSpPr/>
            <p:nvPr/>
          </p:nvSpPr>
          <p:spPr>
            <a:xfrm>
              <a:off x="4045072" y="2080000"/>
              <a:ext cx="1706504" cy="400000"/>
            </a:xfrm>
            <a:prstGeom prst="rect">
              <a:avLst/>
            </a:prstGeom>
            <a:solidFill>
              <a:srgbClr val="F2F2F2"/>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00" b="0" dirty="0">
                  <a:solidFill>
                    <a:srgbClr val="7F7F7F"/>
                  </a:solidFill>
                  <a:latin typeface="맑은 고딕"/>
                  <a:ea typeface="맑은 고딕"/>
                </a:rPr>
                <a:t>Migration Executor</a:t>
              </a:r>
            </a:p>
          </p:txBody>
        </p:sp>
        <p:sp>
          <p:nvSpPr>
            <p:cNvPr id="511" name="AsIs TextBox 511"/>
            <p:cNvSpPr txBox="1"/>
            <p:nvPr/>
          </p:nvSpPr>
          <p:spPr>
            <a:xfrm>
              <a:off x="512064" y="2540000"/>
              <a:ext cx="5239512" cy="380000"/>
            </a:xfrm>
            <a:prstGeom prst="rect">
              <a:avLst/>
            </a:prstGeom>
            <a:noFill/>
          </p:spPr>
          <p:txBody>
            <a:bodyPr wrap="square" lIns="0" tIns="0" rIns="0" bIns="0" anchor="t"/>
            <a:lstStyle/>
            <a:p>
              <a:pPr algn="l"/>
              <a:r>
                <a:rPr lang="ko-KR" sz="800" b="0" dirty="0">
                  <a:solidFill>
                    <a:srgbClr val="C00000"/>
                  </a:solidFill>
                  <a:latin typeface="맑은 고딕"/>
                  <a:ea typeface="맑은 고딕"/>
                </a:rPr>
                <a:t>✕ 데이터 타입(KV·Weight·LoRA·Expert) 인지 없음</a:t>
              </a:r>
            </a:p>
            <a:p>
              <a:pPr algn="l"/>
              <a:r>
                <a:rPr lang="ko-KR" sz="800" b="0" dirty="0">
                  <a:solidFill>
                    <a:srgbClr val="C00000"/>
                  </a:solidFill>
                  <a:latin typeface="맑은 고딕"/>
                  <a:ea typeface="맑은 고딕"/>
                </a:rPr>
                <a:t>✕ 메모리 특성(BW·Latency·용량) 기반 배치·사전 이동 없음</a:t>
              </a:r>
            </a:p>
          </p:txBody>
        </p:sp>
        <p:sp>
          <p:nvSpPr>
            <p:cNvPr id="520" name="AsIs Mem 520"/>
            <p:cNvSpPr/>
            <p:nvPr/>
          </p:nvSpPr>
          <p:spPr>
            <a:xfrm>
              <a:off x="812373" y="3675424"/>
              <a:ext cx="1272378" cy="280000"/>
            </a:xfrm>
            <a:prstGeom prst="rect">
              <a:avLst/>
            </a:prstGeom>
            <a:solidFill>
              <a:srgbClr val="F7F9FC"/>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50" b="1" dirty="0">
                  <a:solidFill>
                    <a:srgbClr val="1A1A1A"/>
                  </a:solidFill>
                  <a:latin typeface="맑은 고딕"/>
                  <a:ea typeface="맑은 고딕"/>
                </a:rPr>
                <a:t>CPU DRAM</a:t>
              </a:r>
            </a:p>
          </p:txBody>
        </p:sp>
        <p:sp>
          <p:nvSpPr>
            <p:cNvPr id="521" name="AsIs Mem 521"/>
            <p:cNvSpPr/>
            <p:nvPr/>
          </p:nvSpPr>
          <p:spPr>
            <a:xfrm>
              <a:off x="2601966" y="3675424"/>
              <a:ext cx="1272378" cy="280000"/>
            </a:xfrm>
            <a:prstGeom prst="rect">
              <a:avLst/>
            </a:prstGeom>
            <a:solidFill>
              <a:srgbClr val="F7F9FC"/>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50" b="1" dirty="0">
                  <a:solidFill>
                    <a:srgbClr val="1A1A1A"/>
                  </a:solidFill>
                  <a:latin typeface="맑은 고딕"/>
                  <a:ea typeface="맑은 고딕"/>
                </a:rPr>
                <a:t>Disk SSD</a:t>
              </a:r>
            </a:p>
          </p:txBody>
        </p:sp>
        <p:sp>
          <p:nvSpPr>
            <p:cNvPr id="522" name="AsIs MemNew 522"/>
            <p:cNvSpPr/>
            <p:nvPr/>
          </p:nvSpPr>
          <p:spPr>
            <a:xfrm>
              <a:off x="4154775" y="3675424"/>
              <a:ext cx="1272378" cy="280000"/>
            </a:xfrm>
            <a:prstGeom prst="rect">
              <a:avLst/>
            </a:prstGeom>
            <a:solidFill>
              <a:srgbClr val="FDECEA"/>
            </a:solidFill>
            <a:ln w="952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50" b="1" dirty="0">
                  <a:solidFill>
                    <a:srgbClr val="C00000"/>
                  </a:solidFill>
                  <a:latin typeface="맑은 고딕"/>
                  <a:ea typeface="맑은 고딕"/>
                </a:rPr>
                <a:t>신규 메모리 ✕</a:t>
              </a:r>
            </a:p>
          </p:txBody>
        </p:sp>
        <p:sp>
          <p:nvSpPr>
            <p:cNvPr id="523" name="AsIs TextBox 523"/>
            <p:cNvSpPr txBox="1"/>
            <p:nvPr/>
          </p:nvSpPr>
          <p:spPr>
            <a:xfrm>
              <a:off x="812372" y="4092634"/>
              <a:ext cx="4930059" cy="150000"/>
            </a:xfrm>
            <a:prstGeom prst="rect">
              <a:avLst/>
            </a:prstGeom>
            <a:noFill/>
          </p:spPr>
          <p:txBody>
            <a:bodyPr wrap="square" lIns="0" tIns="0" rIns="0" bIns="0" anchor="ctr"/>
            <a:lstStyle/>
            <a:p>
              <a:pPr algn="l"/>
              <a:r>
                <a:rPr lang="ko-KR" sz="750" b="0" dirty="0">
                  <a:solidFill>
                    <a:srgbClr val="7F7F7F"/>
                  </a:solidFill>
                  <a:latin typeface="맑은 고딕"/>
                  <a:ea typeface="맑은 고딕"/>
                </a:rPr>
                <a:t>Tier 고정(HBM·DRAM·SSD) — 신규 메모리 대응 I/</a:t>
              </a:r>
              <a:r>
                <a:rPr lang="ko-KR" sz="750" b="0" dirty="0" err="1">
                  <a:solidFill>
                    <a:srgbClr val="7F7F7F"/>
                  </a:solidFill>
                  <a:latin typeface="맑은 고딕"/>
                  <a:ea typeface="맑은 고딕"/>
                </a:rPr>
                <a:t>F</a:t>
              </a:r>
              <a:r>
                <a:rPr lang="ko-KR" sz="750" b="0" dirty="0">
                  <a:solidFill>
                    <a:srgbClr val="7F7F7F"/>
                  </a:solidFill>
                  <a:latin typeface="맑은 고딕"/>
                  <a:ea typeface="맑은 고딕"/>
                </a:rPr>
                <a:t> 없음</a:t>
              </a:r>
            </a:p>
          </p:txBody>
        </p:sp>
        <p:sp>
          <p:nvSpPr>
            <p:cNvPr id="524" name="AsIs Note 524"/>
            <p:cNvSpPr/>
            <p:nvPr/>
          </p:nvSpPr>
          <p:spPr>
            <a:xfrm>
              <a:off x="457200" y="4402246"/>
              <a:ext cx="5349240" cy="890771"/>
            </a:xfrm>
            <a:prstGeom prst="rect">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lnSpc>
                  <a:spcPct val="120000"/>
                </a:lnSpc>
              </a:pPr>
              <a:r>
                <a:rPr lang="ko-KR" sz="950" b="0" dirty="0">
                  <a:solidFill>
                    <a:srgbClr val="3A3A3A"/>
                  </a:solidFill>
                  <a:latin typeface="맑은 고딕"/>
                  <a:ea typeface="맑은 고딕"/>
                </a:rPr>
                <a:t>① </a:t>
              </a:r>
              <a:r>
                <a:rPr lang="en-US" altLang="ko-KR" sz="950" b="0" dirty="0">
                  <a:solidFill>
                    <a:srgbClr val="3A3A3A"/>
                  </a:solidFill>
                  <a:latin typeface="맑은 고딕"/>
                  <a:ea typeface="맑은 고딕"/>
                </a:rPr>
                <a:t>Data</a:t>
              </a:r>
              <a:r>
                <a:rPr lang="ko-KR" sz="950" b="0" dirty="0">
                  <a:solidFill>
                    <a:srgbClr val="3A3A3A"/>
                  </a:solidFill>
                  <a:latin typeface="맑은 고딕"/>
                  <a:ea typeface="맑은 고딕"/>
                </a:rPr>
                <a:t> Migration Layer 부재 → 데이터 특성 무관, 타입별 LRU·고정 정책</a:t>
              </a:r>
            </a:p>
            <a:p>
              <a:pPr algn="l">
                <a:lnSpc>
                  <a:spcPct val="120000"/>
                </a:lnSpc>
              </a:pPr>
              <a:r>
                <a:rPr lang="ko-KR" sz="950" b="0" dirty="0">
                  <a:solidFill>
                    <a:srgbClr val="3A3A3A"/>
                  </a:solidFill>
                  <a:latin typeface="맑은 고딕"/>
                  <a:ea typeface="맑은 고딕"/>
                </a:rPr>
                <a:t>② 메모리 </a:t>
              </a:r>
              <a:r>
                <a:rPr lang="ko-KR" sz="950" b="0" dirty="0" err="1">
                  <a:solidFill>
                    <a:srgbClr val="3A3A3A"/>
                  </a:solidFill>
                  <a:latin typeface="맑은 고딕"/>
                  <a:ea typeface="맑은 고딕"/>
                </a:rPr>
                <a:t>Tier</a:t>
              </a:r>
              <a:r>
                <a:rPr lang="ko-KR" altLang="en-US" sz="950" dirty="0" err="1">
                  <a:solidFill>
                    <a:srgbClr val="3A3A3A"/>
                  </a:solidFill>
                  <a:latin typeface="맑은 고딕"/>
                  <a:ea typeface="맑은 고딕"/>
                </a:rPr>
                <a:t>별</a:t>
              </a:r>
              <a:r>
                <a:rPr lang="ko-KR" altLang="en-US" sz="950" dirty="0">
                  <a:solidFill>
                    <a:srgbClr val="3A3A3A"/>
                  </a:solidFill>
                  <a:latin typeface="맑은 고딕"/>
                  <a:ea typeface="맑은 고딕"/>
                </a:rPr>
                <a:t> </a:t>
              </a:r>
              <a:r>
                <a:rPr lang="en-US" altLang="ko-KR" sz="950" dirty="0">
                  <a:solidFill>
                    <a:srgbClr val="3A3A3A"/>
                  </a:solidFill>
                  <a:latin typeface="맑은 고딕"/>
                  <a:ea typeface="맑은 고딕"/>
                </a:rPr>
                <a:t>Backend</a:t>
              </a:r>
              <a:r>
                <a:rPr lang="ko-KR" sz="950" b="0" dirty="0">
                  <a:solidFill>
                    <a:srgbClr val="3A3A3A"/>
                  </a:solidFill>
                  <a:latin typeface="맑은 고딕"/>
                  <a:ea typeface="맑은 고딕"/>
                </a:rPr>
                <a:t> 고정 → 신규 메모리마다 타입별 코드 수정</a:t>
              </a:r>
            </a:p>
            <a:p>
              <a:pPr algn="l">
                <a:lnSpc>
                  <a:spcPct val="120000"/>
                </a:lnSpc>
              </a:pPr>
              <a:r>
                <a:rPr lang="ko-KR" sz="950" b="0" dirty="0">
                  <a:solidFill>
                    <a:srgbClr val="3A3A3A"/>
                  </a:solidFill>
                  <a:latin typeface="맑은 고딕"/>
                  <a:ea typeface="맑은 고딕"/>
                </a:rPr>
                <a:t>③ 이동은 반응형(부족 시 Evict·Preempt·Miss 조회), 사전 예측 없음</a:t>
              </a:r>
            </a:p>
          </p:txBody>
        </p:sp>
        <p:sp>
          <p:nvSpPr>
            <p:cNvPr id="143" name="AsIs Mem 520">
              <a:extLst>
                <a:ext uri="{FF2B5EF4-FFF2-40B4-BE49-F238E27FC236}">
                  <a16:creationId xmlns:a16="http://schemas.microsoft.com/office/drawing/2014/main" id="{895FA672-34D4-4B38-BAC1-276D775DEDD6}"/>
                </a:ext>
              </a:extLst>
            </p:cNvPr>
            <p:cNvSpPr/>
            <p:nvPr/>
          </p:nvSpPr>
          <p:spPr>
            <a:xfrm>
              <a:off x="812373" y="3204025"/>
              <a:ext cx="1272378" cy="28000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altLang="ko-KR" sz="900" b="1" dirty="0" err="1">
                  <a:solidFill>
                    <a:srgbClr val="1A1A1A"/>
                  </a:solidFill>
                  <a:latin typeface="맑은 고딕"/>
                  <a:ea typeface="맑은 고딕"/>
                </a:rPr>
                <a:t>LocalCPUBackend</a:t>
              </a:r>
              <a:endParaRPr lang="ko-KR" altLang="en-US" sz="900" b="1" dirty="0">
                <a:solidFill>
                  <a:srgbClr val="1A1A1A"/>
                </a:solidFill>
                <a:latin typeface="맑은 고딕"/>
                <a:ea typeface="맑은 고딕"/>
              </a:endParaRPr>
            </a:p>
          </p:txBody>
        </p:sp>
        <p:sp>
          <p:nvSpPr>
            <p:cNvPr id="144" name="AsIs Mem 521">
              <a:extLst>
                <a:ext uri="{FF2B5EF4-FFF2-40B4-BE49-F238E27FC236}">
                  <a16:creationId xmlns:a16="http://schemas.microsoft.com/office/drawing/2014/main" id="{963741BC-C4FF-49DD-A18B-A2DC84E7EB73}"/>
                </a:ext>
              </a:extLst>
            </p:cNvPr>
            <p:cNvSpPr/>
            <p:nvPr/>
          </p:nvSpPr>
          <p:spPr>
            <a:xfrm>
              <a:off x="2601966" y="3211821"/>
              <a:ext cx="1272378" cy="28000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altLang="ko-KR" sz="900" b="1" dirty="0" err="1">
                  <a:solidFill>
                    <a:srgbClr val="1A1A1A"/>
                  </a:solidFill>
                  <a:latin typeface="맑은 고딕"/>
                  <a:ea typeface="맑은 고딕"/>
                </a:rPr>
                <a:t>LocalDiskBackend</a:t>
              </a:r>
              <a:endParaRPr lang="ko-KR" altLang="en-US" sz="900" b="1" dirty="0">
                <a:solidFill>
                  <a:srgbClr val="1A1A1A"/>
                </a:solidFill>
                <a:latin typeface="맑은 고딕"/>
                <a:ea typeface="맑은 고딕"/>
              </a:endParaRPr>
            </a:p>
          </p:txBody>
        </p:sp>
      </p:grpSp>
      <p:grpSp>
        <p:nvGrpSpPr>
          <p:cNvPr id="4" name="Fig_ToBe_HeteroMigration"/>
          <p:cNvGrpSpPr/>
          <p:nvPr/>
        </p:nvGrpSpPr>
        <p:grpSpPr>
          <a:xfrm>
            <a:off x="6382512" y="1115568"/>
            <a:ext cx="5498592" cy="4285171"/>
            <a:chOff x="6382512" y="1115568"/>
            <a:chExt cx="5498592" cy="4285171"/>
          </a:xfrm>
        </p:grpSpPr>
        <p:sp>
          <p:nvSpPr>
            <p:cNvPr id="261" name="Rectangle 260"/>
            <p:cNvSpPr/>
            <p:nvPr/>
          </p:nvSpPr>
          <p:spPr>
            <a:xfrm>
              <a:off x="6382512" y="1115568"/>
              <a:ext cx="5458968" cy="640080"/>
            </a:xfrm>
            <a:prstGeom prst="rect">
              <a:avLst/>
            </a:prstGeom>
            <a:solidFill>
              <a:srgbClr val="F7F9FC"/>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262" name="TextBox 261"/>
            <p:cNvSpPr txBox="1"/>
            <p:nvPr/>
          </p:nvSpPr>
          <p:spPr>
            <a:xfrm>
              <a:off x="6437376" y="1174334"/>
              <a:ext cx="5349240" cy="138499"/>
            </a:xfrm>
            <a:prstGeom prst="rect">
              <a:avLst/>
            </a:prstGeom>
            <a:noFill/>
          </p:spPr>
          <p:txBody>
            <a:bodyPr wrap="square" lIns="0" tIns="0" rIns="0" bIns="0" anchor="ctr">
              <a:spAutoFit/>
            </a:bodyPr>
            <a:lstStyle/>
            <a:p>
              <a:pPr algn="l"/>
              <a:r>
                <a:rPr sz="900" b="1" dirty="0">
                  <a:solidFill>
                    <a:srgbClr val="1A1A1A"/>
                  </a:solidFill>
                  <a:latin typeface="맑은 고딕"/>
                  <a:ea typeface="맑은 고딕"/>
                </a:rPr>
                <a:t>Inference Engine / KV Offload Engine (</a:t>
              </a:r>
              <a:r>
                <a:rPr sz="900" b="1" dirty="0" err="1">
                  <a:solidFill>
                    <a:srgbClr val="1A1A1A"/>
                  </a:solidFill>
                  <a:latin typeface="맑은 고딕"/>
                  <a:ea typeface="맑은 고딕"/>
                </a:rPr>
                <a:t>기존</a:t>
              </a:r>
              <a:r>
                <a:rPr sz="900" b="1" dirty="0">
                  <a:solidFill>
                    <a:srgbClr val="1A1A1A"/>
                  </a:solidFill>
                  <a:latin typeface="맑은 고딕"/>
                  <a:ea typeface="맑은 고딕"/>
                </a:rPr>
                <a:t> I/F </a:t>
              </a:r>
              <a:r>
                <a:rPr sz="900" b="1" dirty="0" err="1">
                  <a:solidFill>
                    <a:srgbClr val="1A1A1A"/>
                  </a:solidFill>
                  <a:latin typeface="맑은 고딕"/>
                  <a:ea typeface="맑은 고딕"/>
                </a:rPr>
                <a:t>유지</a:t>
              </a:r>
              <a:r>
                <a:rPr sz="900" b="1" dirty="0">
                  <a:solidFill>
                    <a:srgbClr val="1A1A1A"/>
                  </a:solidFill>
                  <a:latin typeface="맑은 고딕"/>
                  <a:ea typeface="맑은 고딕"/>
                </a:rPr>
                <a:t>)</a:t>
              </a:r>
            </a:p>
          </p:txBody>
        </p:sp>
        <p:sp>
          <p:nvSpPr>
            <p:cNvPr id="263" name="Rectangle 262"/>
            <p:cNvSpPr/>
            <p:nvPr/>
          </p:nvSpPr>
          <p:spPr>
            <a:xfrm>
              <a:off x="6473952" y="1371600"/>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Scheduler</a:t>
              </a:r>
            </a:p>
          </p:txBody>
        </p:sp>
        <p:sp>
          <p:nvSpPr>
            <p:cNvPr id="264" name="Rectangle 263"/>
            <p:cNvSpPr/>
            <p:nvPr/>
          </p:nvSpPr>
          <p:spPr>
            <a:xfrm>
              <a:off x="7872984" y="1371600"/>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KV Cache </a:t>
              </a:r>
              <a:r>
                <a:rPr sz="900" b="1" dirty="0" err="1">
                  <a:solidFill>
                    <a:srgbClr val="1A1A1A"/>
                  </a:solidFill>
                  <a:latin typeface="맑은 고딕"/>
                  <a:ea typeface="맑은 고딕"/>
                </a:rPr>
                <a:t>M</a:t>
              </a:r>
              <a:r>
                <a:rPr lang="en-US" sz="900" b="1" dirty="0" err="1">
                  <a:solidFill>
                    <a:srgbClr val="1A1A1A"/>
                  </a:solidFill>
                  <a:latin typeface="맑은 고딕"/>
                  <a:ea typeface="맑은 고딕"/>
                </a:rPr>
                <a:t>gr</a:t>
              </a:r>
              <a:endParaRPr sz="900" b="1" dirty="0">
                <a:solidFill>
                  <a:srgbClr val="1A1A1A"/>
                </a:solidFill>
                <a:latin typeface="맑은 고딕"/>
                <a:ea typeface="맑은 고딕"/>
              </a:endParaRPr>
            </a:p>
          </p:txBody>
        </p:sp>
        <p:sp>
          <p:nvSpPr>
            <p:cNvPr id="265" name="Rectangle 264"/>
            <p:cNvSpPr/>
            <p:nvPr/>
          </p:nvSpPr>
          <p:spPr>
            <a:xfrm>
              <a:off x="9272016" y="1371600"/>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a:solidFill>
                    <a:srgbClr val="1A1A1A"/>
                  </a:solidFill>
                  <a:latin typeface="맑은 고딕"/>
                  <a:ea typeface="맑은 고딕"/>
                </a:rPr>
                <a:t>KV Connector</a:t>
              </a:r>
            </a:p>
          </p:txBody>
        </p:sp>
        <p:sp>
          <p:nvSpPr>
            <p:cNvPr id="267" name="Rectangle 266"/>
            <p:cNvSpPr/>
            <p:nvPr/>
          </p:nvSpPr>
          <p:spPr>
            <a:xfrm>
              <a:off x="10671048" y="1371600"/>
              <a:ext cx="1051560"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sz="900" b="1" dirty="0">
                  <a:solidFill>
                    <a:srgbClr val="1A1A1A"/>
                  </a:solidFill>
                  <a:latin typeface="맑은 고딕"/>
                  <a:ea typeface="맑은 고딕"/>
                </a:rPr>
                <a:t>Model Runner</a:t>
              </a:r>
              <a:endParaRPr sz="900" b="1" dirty="0">
                <a:solidFill>
                  <a:srgbClr val="1A1A1A"/>
                </a:solidFill>
                <a:latin typeface="맑은 고딕"/>
                <a:ea typeface="맑은 고딕"/>
              </a:endParaRPr>
            </a:p>
          </p:txBody>
        </p:sp>
        <p:cxnSp>
          <p:nvCxnSpPr>
            <p:cNvPr id="268" name="Connector 267"/>
            <p:cNvCxnSpPr/>
            <p:nvPr/>
          </p:nvCxnSpPr>
          <p:spPr>
            <a:xfrm>
              <a:off x="8057798" y="1755648"/>
              <a:ext cx="0" cy="256032"/>
            </a:xfrm>
            <a:prstGeom prst="line">
              <a:avLst/>
            </a:prstGeom>
            <a:ln w="15875">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9" name="TextBox 268"/>
            <p:cNvSpPr txBox="1"/>
            <p:nvPr/>
          </p:nvSpPr>
          <p:spPr>
            <a:xfrm>
              <a:off x="8121806" y="1811515"/>
              <a:ext cx="2011680" cy="107722"/>
            </a:xfrm>
            <a:prstGeom prst="rect">
              <a:avLst/>
            </a:prstGeom>
            <a:noFill/>
          </p:spPr>
          <p:txBody>
            <a:bodyPr wrap="square" lIns="0" tIns="0" rIns="0" bIns="0" anchor="ctr">
              <a:spAutoFit/>
            </a:bodyPr>
            <a:lstStyle/>
            <a:p>
              <a:pPr algn="l"/>
              <a:r>
                <a:rPr sz="700" b="0">
                  <a:solidFill>
                    <a:srgbClr val="C55A11"/>
                  </a:solidFill>
                  <a:latin typeface="맑은 고딕"/>
                  <a:ea typeface="맑은 고딕"/>
                </a:rPr>
                <a:t>Event push(비동기): 요청·Tool 호출·Access</a:t>
              </a:r>
            </a:p>
          </p:txBody>
        </p:sp>
        <p:cxnSp>
          <p:nvCxnSpPr>
            <p:cNvPr id="270" name="Connector 269"/>
            <p:cNvCxnSpPr/>
            <p:nvPr/>
          </p:nvCxnSpPr>
          <p:spPr>
            <a:xfrm flipV="1">
              <a:off x="11338560" y="1755648"/>
              <a:ext cx="0" cy="256032"/>
            </a:xfrm>
            <a:prstGeom prst="line">
              <a:avLst/>
            </a:prstGeom>
            <a:ln w="15875">
              <a:solidFill>
                <a:srgbClr val="4472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469880" y="1811515"/>
              <a:ext cx="822960" cy="107722"/>
            </a:xfrm>
            <a:prstGeom prst="rect">
              <a:avLst/>
            </a:prstGeom>
            <a:noFill/>
          </p:spPr>
          <p:txBody>
            <a:bodyPr wrap="square" lIns="0" tIns="0" rIns="0" bIns="0" anchor="ctr">
              <a:spAutoFit/>
            </a:bodyPr>
            <a:lstStyle/>
            <a:p>
              <a:pPr algn="r"/>
              <a:r>
                <a:rPr sz="700" b="0" dirty="0" err="1">
                  <a:solidFill>
                    <a:srgbClr val="4472C4"/>
                  </a:solidFill>
                  <a:latin typeface="맑은 고딕"/>
                  <a:ea typeface="맑은 고딕"/>
                </a:rPr>
                <a:t>위치</a:t>
              </a:r>
              <a:r>
                <a:rPr sz="700" b="0" dirty="0">
                  <a:solidFill>
                    <a:srgbClr val="4472C4"/>
                  </a:solidFill>
                  <a:latin typeface="맑은 고딕"/>
                  <a:ea typeface="맑은 고딕"/>
                </a:rPr>
                <a:t> </a:t>
              </a:r>
              <a:r>
                <a:rPr sz="700" b="0" dirty="0" err="1">
                  <a:solidFill>
                    <a:srgbClr val="4472C4"/>
                  </a:solidFill>
                  <a:latin typeface="맑은 고딕"/>
                  <a:ea typeface="맑은 고딕"/>
                </a:rPr>
                <a:t>조회</a:t>
              </a:r>
              <a:r>
                <a:rPr sz="700" b="0" dirty="0">
                  <a:solidFill>
                    <a:srgbClr val="4472C4"/>
                  </a:solidFill>
                  <a:latin typeface="맑은 고딕"/>
                  <a:ea typeface="맑은 고딕"/>
                </a:rPr>
                <a:t> / Hint</a:t>
              </a:r>
            </a:p>
          </p:txBody>
        </p:sp>
        <p:sp>
          <p:nvSpPr>
            <p:cNvPr id="272" name="Rectangle 271"/>
            <p:cNvSpPr/>
            <p:nvPr/>
          </p:nvSpPr>
          <p:spPr>
            <a:xfrm>
              <a:off x="6422136" y="2012341"/>
              <a:ext cx="5458968" cy="2395728"/>
            </a:xfrm>
            <a:prstGeom prst="rect">
              <a:avLst/>
            </a:prstGeom>
            <a:solidFill>
              <a:srgbClr val="FFFBF8"/>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273" name="TextBox 272"/>
            <p:cNvSpPr txBox="1"/>
            <p:nvPr/>
          </p:nvSpPr>
          <p:spPr>
            <a:xfrm>
              <a:off x="6437376" y="2070446"/>
              <a:ext cx="5349240" cy="138499"/>
            </a:xfrm>
            <a:prstGeom prst="rect">
              <a:avLst/>
            </a:prstGeom>
            <a:noFill/>
          </p:spPr>
          <p:txBody>
            <a:bodyPr wrap="square" lIns="0" tIns="0" rIns="0" bIns="0" anchor="ctr">
              <a:spAutoFit/>
            </a:bodyPr>
            <a:lstStyle/>
            <a:p>
              <a:pPr algn="l"/>
              <a:r>
                <a:rPr sz="900" b="1">
                  <a:solidFill>
                    <a:srgbClr val="C55A11"/>
                  </a:solidFill>
                  <a:latin typeface="맑은 고딕"/>
                  <a:ea typeface="맑은 고딕"/>
                </a:rPr>
                <a:t>이기종 메모리 aware Migration Layer (신규)</a:t>
              </a:r>
            </a:p>
          </p:txBody>
        </p:sp>
        <p:sp>
          <p:nvSpPr>
            <p:cNvPr id="274" name="Rectangle 273"/>
            <p:cNvSpPr/>
            <p:nvPr/>
          </p:nvSpPr>
          <p:spPr>
            <a:xfrm>
              <a:off x="6473952" y="2286000"/>
              <a:ext cx="1234440" cy="201168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275" name="TextBox 274"/>
            <p:cNvSpPr txBox="1"/>
            <p:nvPr/>
          </p:nvSpPr>
          <p:spPr>
            <a:xfrm>
              <a:off x="6492240" y="2325028"/>
              <a:ext cx="1197864" cy="123111"/>
            </a:xfrm>
            <a:prstGeom prst="rect">
              <a:avLst/>
            </a:prstGeom>
            <a:noFill/>
          </p:spPr>
          <p:txBody>
            <a:bodyPr wrap="square" lIns="0" tIns="0" rIns="0" bIns="0" anchor="ctr">
              <a:spAutoFit/>
            </a:bodyPr>
            <a:lstStyle/>
            <a:p>
              <a:pPr algn="ctr"/>
              <a:r>
                <a:rPr sz="800" b="1">
                  <a:solidFill>
                    <a:srgbClr val="1A1A1A"/>
                  </a:solidFill>
                  <a:latin typeface="맑은 고딕"/>
                  <a:ea typeface="맑은 고딕"/>
                </a:rPr>
                <a:t>Data Object Registry</a:t>
              </a:r>
            </a:p>
          </p:txBody>
        </p:sp>
        <p:sp>
          <p:nvSpPr>
            <p:cNvPr id="276" name="Rectangle 275"/>
            <p:cNvSpPr/>
            <p:nvPr/>
          </p:nvSpPr>
          <p:spPr>
            <a:xfrm>
              <a:off x="6537960" y="2594584"/>
              <a:ext cx="1106424" cy="251460"/>
            </a:xfrm>
            <a:prstGeom prst="rect">
              <a:avLst/>
            </a:prstGeom>
            <a:solidFill>
              <a:srgbClr val="FFFFFF"/>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a:solidFill>
                    <a:srgbClr val="1A1A1A"/>
                  </a:solidFill>
                  <a:latin typeface="맑은 고딕"/>
                  <a:ea typeface="맑은 고딕"/>
                </a:rPr>
                <a:t>KV (System Prompt)</a:t>
              </a:r>
            </a:p>
          </p:txBody>
        </p:sp>
        <p:sp>
          <p:nvSpPr>
            <p:cNvPr id="277" name="Rectangle 276"/>
            <p:cNvSpPr/>
            <p:nvPr/>
          </p:nvSpPr>
          <p:spPr>
            <a:xfrm>
              <a:off x="6537960" y="2919254"/>
              <a:ext cx="1106424" cy="251460"/>
            </a:xfrm>
            <a:prstGeom prst="rect">
              <a:avLst/>
            </a:prstGeom>
            <a:solidFill>
              <a:srgbClr val="FFFFFF"/>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a:solidFill>
                    <a:srgbClr val="1A1A1A"/>
                  </a:solidFill>
                  <a:latin typeface="맑은 고딕"/>
                  <a:ea typeface="맑은 고딕"/>
                </a:rPr>
                <a:t>KV (Agent Memory)</a:t>
              </a:r>
            </a:p>
          </p:txBody>
        </p:sp>
        <p:sp>
          <p:nvSpPr>
            <p:cNvPr id="278" name="Rectangle 277"/>
            <p:cNvSpPr/>
            <p:nvPr/>
          </p:nvSpPr>
          <p:spPr>
            <a:xfrm>
              <a:off x="6537960" y="3243924"/>
              <a:ext cx="1106424" cy="251460"/>
            </a:xfrm>
            <a:prstGeom prst="rect">
              <a:avLst/>
            </a:prstGeom>
            <a:solidFill>
              <a:srgbClr val="FFFFFF"/>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LoRA Adapter</a:t>
              </a:r>
            </a:p>
          </p:txBody>
        </p:sp>
        <p:sp>
          <p:nvSpPr>
            <p:cNvPr id="279" name="Rectangle 278"/>
            <p:cNvSpPr/>
            <p:nvPr/>
          </p:nvSpPr>
          <p:spPr>
            <a:xfrm>
              <a:off x="6537960" y="3568594"/>
              <a:ext cx="1106424" cy="251460"/>
            </a:xfrm>
            <a:prstGeom prst="rect">
              <a:avLst/>
            </a:prstGeom>
            <a:solidFill>
              <a:srgbClr val="FFFFFF"/>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err="1">
                  <a:solidFill>
                    <a:srgbClr val="1A1A1A"/>
                  </a:solidFill>
                  <a:latin typeface="맑은 고딕"/>
                  <a:ea typeface="맑은 고딕"/>
                </a:rPr>
                <a:t>MoE</a:t>
              </a:r>
              <a:r>
                <a:rPr sz="800" b="1" dirty="0">
                  <a:solidFill>
                    <a:srgbClr val="1A1A1A"/>
                  </a:solidFill>
                  <a:latin typeface="맑은 고딕"/>
                  <a:ea typeface="맑은 고딕"/>
                </a:rPr>
                <a:t> Expert</a:t>
              </a:r>
            </a:p>
          </p:txBody>
        </p:sp>
        <p:sp>
          <p:nvSpPr>
            <p:cNvPr id="281" name="TextBox 280"/>
            <p:cNvSpPr txBox="1"/>
            <p:nvPr/>
          </p:nvSpPr>
          <p:spPr>
            <a:xfrm>
              <a:off x="6492240" y="3942067"/>
              <a:ext cx="1197864" cy="107722"/>
            </a:xfrm>
            <a:prstGeom prst="rect">
              <a:avLst/>
            </a:prstGeom>
            <a:noFill/>
          </p:spPr>
          <p:txBody>
            <a:bodyPr wrap="square" lIns="0" tIns="0" rIns="0" bIns="0" anchor="ctr">
              <a:spAutoFit/>
            </a:bodyPr>
            <a:lstStyle/>
            <a:p>
              <a:pPr algn="ctr"/>
              <a:r>
                <a:rPr sz="700" b="0">
                  <a:solidFill>
                    <a:srgbClr val="595959"/>
                  </a:solidFill>
                  <a:latin typeface="맑은 고딕"/>
                  <a:ea typeface="맑은 고딕"/>
                </a:rPr>
                <a:t>Class별 Metadata</a:t>
              </a:r>
            </a:p>
          </p:txBody>
        </p:sp>
        <p:sp>
          <p:nvSpPr>
            <p:cNvPr id="282" name="TextBox 281"/>
            <p:cNvSpPr txBox="1"/>
            <p:nvPr/>
          </p:nvSpPr>
          <p:spPr>
            <a:xfrm>
              <a:off x="6492240" y="4097515"/>
              <a:ext cx="1197864" cy="107722"/>
            </a:xfrm>
            <a:prstGeom prst="rect">
              <a:avLst/>
            </a:prstGeom>
            <a:noFill/>
          </p:spPr>
          <p:txBody>
            <a:bodyPr wrap="square" lIns="0" tIns="0" rIns="0" bIns="0" anchor="ctr">
              <a:spAutoFit/>
            </a:bodyPr>
            <a:lstStyle/>
            <a:p>
              <a:pPr algn="ctr"/>
              <a:r>
                <a:rPr sz="700" b="0">
                  <a:solidFill>
                    <a:srgbClr val="595959"/>
                  </a:solidFill>
                  <a:latin typeface="맑은 고딕"/>
                  <a:ea typeface="맑은 고딕"/>
                </a:rPr>
                <a:t>(Reuse · Lifetime · Tool)</a:t>
              </a:r>
            </a:p>
          </p:txBody>
        </p:sp>
        <p:sp>
          <p:nvSpPr>
            <p:cNvPr id="283" name="Rectangle 282"/>
            <p:cNvSpPr/>
            <p:nvPr/>
          </p:nvSpPr>
          <p:spPr>
            <a:xfrm>
              <a:off x="10515600" y="2286000"/>
              <a:ext cx="1234440" cy="201168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284" name="TextBox 283"/>
            <p:cNvSpPr txBox="1"/>
            <p:nvPr/>
          </p:nvSpPr>
          <p:spPr>
            <a:xfrm>
              <a:off x="10533888" y="2325028"/>
              <a:ext cx="1197864" cy="123111"/>
            </a:xfrm>
            <a:prstGeom prst="rect">
              <a:avLst/>
            </a:prstGeom>
            <a:noFill/>
          </p:spPr>
          <p:txBody>
            <a:bodyPr wrap="square" lIns="0" tIns="0" rIns="0" bIns="0" anchor="ctr">
              <a:spAutoFit/>
            </a:bodyPr>
            <a:lstStyle/>
            <a:p>
              <a:pPr algn="ctr"/>
              <a:r>
                <a:rPr sz="800" b="1">
                  <a:solidFill>
                    <a:srgbClr val="1A1A1A"/>
                  </a:solidFill>
                  <a:latin typeface="맑은 고딕"/>
                  <a:ea typeface="맑은 고딕"/>
                </a:rPr>
                <a:t>Resource Manager</a:t>
              </a:r>
            </a:p>
          </p:txBody>
        </p:sp>
        <p:sp>
          <p:nvSpPr>
            <p:cNvPr id="285" name="Rectangle 284"/>
            <p:cNvSpPr/>
            <p:nvPr/>
          </p:nvSpPr>
          <p:spPr>
            <a:xfrm>
              <a:off x="10579608" y="2542032"/>
              <a:ext cx="1106424" cy="676656"/>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000" b="1" dirty="0">
                  <a:solidFill>
                    <a:srgbClr val="1A1A1A"/>
                  </a:solidFill>
                  <a:latin typeface="맑은 고딕"/>
                  <a:ea typeface="맑은 고딕"/>
                </a:rPr>
                <a:t>Telemetry </a:t>
              </a:r>
              <a:endParaRPr lang="en-US" sz="1000" b="1" dirty="0">
                <a:solidFill>
                  <a:srgbClr val="1A1A1A"/>
                </a:solidFill>
                <a:latin typeface="맑은 고딕"/>
                <a:ea typeface="맑은 고딕"/>
              </a:endParaRPr>
            </a:p>
            <a:p>
              <a:pPr algn="ctr"/>
              <a:r>
                <a:rPr sz="1000" b="1" dirty="0">
                  <a:solidFill>
                    <a:srgbClr val="1A1A1A"/>
                  </a:solidFill>
                  <a:latin typeface="맑은 고딕"/>
                  <a:ea typeface="맑은 고딕"/>
                </a:rPr>
                <a:t>Collector</a:t>
              </a:r>
              <a:endParaRPr lang="en-US" sz="1000" b="1" dirty="0">
                <a:solidFill>
                  <a:srgbClr val="1A1A1A"/>
                </a:solidFill>
                <a:latin typeface="맑은 고딕"/>
                <a:ea typeface="맑은 고딕"/>
              </a:endParaRPr>
            </a:p>
          </p:txBody>
        </p:sp>
        <p:sp>
          <p:nvSpPr>
            <p:cNvPr id="286" name="Rectangle 285"/>
            <p:cNvSpPr/>
            <p:nvPr/>
          </p:nvSpPr>
          <p:spPr>
            <a:xfrm>
              <a:off x="10579608" y="3353892"/>
              <a:ext cx="1106424" cy="68580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000" b="1" dirty="0">
                  <a:solidFill>
                    <a:srgbClr val="1A1A1A"/>
                  </a:solidFill>
                  <a:latin typeface="맑은 고딕"/>
                  <a:ea typeface="맑은 고딕"/>
                </a:rPr>
                <a:t>Memory </a:t>
              </a:r>
              <a:endParaRPr lang="en-US" sz="1000" b="1" dirty="0">
                <a:solidFill>
                  <a:srgbClr val="1A1A1A"/>
                </a:solidFill>
                <a:latin typeface="맑은 고딕"/>
                <a:ea typeface="맑은 고딕"/>
              </a:endParaRPr>
            </a:p>
            <a:p>
              <a:pPr algn="ctr"/>
              <a:r>
                <a:rPr sz="1000" b="1" dirty="0">
                  <a:solidFill>
                    <a:srgbClr val="1A1A1A"/>
                  </a:solidFill>
                  <a:latin typeface="맑은 고딕"/>
                  <a:ea typeface="맑은 고딕"/>
                </a:rPr>
                <a:t>Registry</a:t>
              </a:r>
              <a:endParaRPr lang="en-US" sz="1000" b="1" dirty="0">
                <a:solidFill>
                  <a:srgbClr val="1A1A1A"/>
                </a:solidFill>
                <a:latin typeface="맑은 고딕"/>
                <a:ea typeface="맑은 고딕"/>
              </a:endParaRPr>
            </a:p>
          </p:txBody>
        </p:sp>
        <p:sp>
          <p:nvSpPr>
            <p:cNvPr id="287" name="Rectangle 286"/>
            <p:cNvSpPr/>
            <p:nvPr/>
          </p:nvSpPr>
          <p:spPr>
            <a:xfrm>
              <a:off x="7882127" y="2286000"/>
              <a:ext cx="2468880" cy="27432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a:solidFill>
                    <a:srgbClr val="1A1A1A"/>
                  </a:solidFill>
                  <a:latin typeface="맑은 고딕"/>
                  <a:ea typeface="맑은 고딕"/>
                </a:rPr>
                <a:t>Migration Scheduler</a:t>
              </a:r>
            </a:p>
          </p:txBody>
        </p:sp>
        <p:sp>
          <p:nvSpPr>
            <p:cNvPr id="288" name="Rectangle 287"/>
            <p:cNvSpPr/>
            <p:nvPr/>
          </p:nvSpPr>
          <p:spPr>
            <a:xfrm>
              <a:off x="7882127" y="2695887"/>
              <a:ext cx="2468880" cy="349135"/>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000" b="1" dirty="0">
                  <a:solidFill>
                    <a:srgbClr val="1A1A1A"/>
                  </a:solidFill>
                  <a:latin typeface="맑은 고딕"/>
                  <a:ea typeface="맑은 고딕"/>
                </a:rPr>
                <a:t>Monitor</a:t>
              </a:r>
            </a:p>
          </p:txBody>
        </p:sp>
        <p:sp>
          <p:nvSpPr>
            <p:cNvPr id="289" name="Rectangle 288"/>
            <p:cNvSpPr/>
            <p:nvPr/>
          </p:nvSpPr>
          <p:spPr>
            <a:xfrm>
              <a:off x="7882127" y="3207570"/>
              <a:ext cx="2468880" cy="349135"/>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000" b="1" dirty="0">
                  <a:solidFill>
                    <a:srgbClr val="1A1A1A"/>
                  </a:solidFill>
                  <a:latin typeface="맑은 고딕"/>
                  <a:ea typeface="맑은 고딕"/>
                </a:rPr>
                <a:t>Analyze / Predict</a:t>
              </a:r>
            </a:p>
          </p:txBody>
        </p:sp>
        <p:sp>
          <p:nvSpPr>
            <p:cNvPr id="290" name="Rectangle 289"/>
            <p:cNvSpPr/>
            <p:nvPr/>
          </p:nvSpPr>
          <p:spPr>
            <a:xfrm>
              <a:off x="7882127" y="3682518"/>
              <a:ext cx="2468880" cy="331927"/>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000" b="1" dirty="0">
                  <a:solidFill>
                    <a:srgbClr val="FFFFFF"/>
                  </a:solidFill>
                  <a:latin typeface="맑은 고딕"/>
                  <a:ea typeface="맑은 고딕"/>
                </a:rPr>
                <a:t>Destination Tier · </a:t>
              </a:r>
              <a:endParaRPr lang="en-US" sz="1000" b="1" dirty="0">
                <a:solidFill>
                  <a:srgbClr val="FFFFFF"/>
                </a:solidFill>
                <a:latin typeface="맑은 고딕"/>
                <a:ea typeface="맑은 고딕"/>
              </a:endParaRPr>
            </a:p>
            <a:p>
              <a:pPr algn="ctr"/>
              <a:r>
                <a:rPr lang="en-US" sz="1000" b="1" dirty="0">
                  <a:solidFill>
                    <a:srgbClr val="FFFFFF"/>
                  </a:solidFill>
                  <a:latin typeface="맑은 고딕"/>
                  <a:ea typeface="맑은 고딕"/>
                </a:rPr>
                <a:t>Migration </a:t>
              </a:r>
              <a:r>
                <a:rPr sz="1000" b="1" dirty="0">
                  <a:solidFill>
                    <a:srgbClr val="FFFFFF"/>
                  </a:solidFill>
                  <a:latin typeface="맑은 고딕"/>
                  <a:ea typeface="맑은 고딕"/>
                </a:rPr>
                <a:t>Data </a:t>
              </a:r>
              <a:r>
                <a:rPr lang="en-US" sz="1000" b="1" dirty="0">
                  <a:solidFill>
                    <a:srgbClr val="FFFFFF"/>
                  </a:solidFill>
                  <a:latin typeface="맑은 고딕"/>
                  <a:ea typeface="맑은 고딕"/>
                </a:rPr>
                <a:t>Selector</a:t>
              </a:r>
              <a:endParaRPr sz="1000" b="1" dirty="0">
                <a:solidFill>
                  <a:srgbClr val="FFFFFF"/>
                </a:solidFill>
                <a:latin typeface="맑은 고딕"/>
                <a:ea typeface="맑은 고딕"/>
              </a:endParaRPr>
            </a:p>
          </p:txBody>
        </p:sp>
        <p:cxnSp>
          <p:nvCxnSpPr>
            <p:cNvPr id="291" name="Connector 290"/>
            <p:cNvCxnSpPr/>
            <p:nvPr/>
          </p:nvCxnSpPr>
          <p:spPr>
            <a:xfrm>
              <a:off x="9116567" y="2560320"/>
              <a:ext cx="0" cy="13716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9116567" y="3062478"/>
              <a:ext cx="0" cy="13716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9116567" y="3564636"/>
              <a:ext cx="0" cy="13716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4" name="Rectangle 293"/>
            <p:cNvSpPr/>
            <p:nvPr/>
          </p:nvSpPr>
          <p:spPr>
            <a:xfrm>
              <a:off x="7882127" y="4096512"/>
              <a:ext cx="2468880" cy="237744"/>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a:solidFill>
                    <a:srgbClr val="1A1A1A"/>
                  </a:solidFill>
                  <a:latin typeface="맑은 고딕"/>
                  <a:ea typeface="맑은 고딕"/>
                </a:rPr>
                <a:t>Migration Executor</a:t>
              </a:r>
            </a:p>
          </p:txBody>
        </p:sp>
        <p:cxnSp>
          <p:nvCxnSpPr>
            <p:cNvPr id="295" name="Connector 294"/>
            <p:cNvCxnSpPr/>
            <p:nvPr/>
          </p:nvCxnSpPr>
          <p:spPr>
            <a:xfrm>
              <a:off x="9116567" y="4014215"/>
              <a:ext cx="0" cy="82297"/>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7708392" y="2889504"/>
              <a:ext cx="173735" cy="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7708392" y="3877056"/>
              <a:ext cx="173735" cy="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flipH="1">
              <a:off x="10351008" y="2889504"/>
              <a:ext cx="164592" cy="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flipH="1">
              <a:off x="10351008" y="3877056"/>
              <a:ext cx="164592" cy="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0" name="Rounded Rectangle 299"/>
            <p:cNvSpPr/>
            <p:nvPr/>
          </p:nvSpPr>
          <p:spPr>
            <a:xfrm>
              <a:off x="11183111" y="2048256"/>
              <a:ext cx="566928" cy="182880"/>
            </a:xfrm>
            <a:prstGeom prst="roundRect">
              <a:avLst>
                <a:gd name="adj" fmla="val 12000"/>
              </a:avLst>
            </a:prstGeom>
            <a:solidFill>
              <a:srgbClr val="0066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a:solidFill>
                    <a:srgbClr val="FFFFFF"/>
                  </a:solidFill>
                  <a:latin typeface="맑은 고딕"/>
                  <a:ea typeface="맑은 고딕"/>
                </a:rPr>
                <a:t>쟁점 1</a:t>
              </a:r>
            </a:p>
          </p:txBody>
        </p:sp>
        <p:cxnSp>
          <p:nvCxnSpPr>
            <p:cNvPr id="301" name="Connector 300"/>
            <p:cNvCxnSpPr/>
            <p:nvPr/>
          </p:nvCxnSpPr>
          <p:spPr>
            <a:xfrm>
              <a:off x="9116567" y="4334256"/>
              <a:ext cx="0" cy="192024"/>
            </a:xfrm>
            <a:prstGeom prst="line">
              <a:avLst/>
            </a:prstGeom>
            <a:ln w="15875">
              <a:solidFill>
                <a:srgbClr val="C55A1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02" name="Rectangle 301"/>
            <p:cNvSpPr/>
            <p:nvPr/>
          </p:nvSpPr>
          <p:spPr>
            <a:xfrm>
              <a:off x="6382512" y="4526280"/>
              <a:ext cx="5458968" cy="27432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err="1">
                  <a:solidFill>
                    <a:srgbClr val="FFFFFF"/>
                  </a:solidFill>
                  <a:latin typeface="맑은 고딕"/>
                  <a:ea typeface="맑은 고딕"/>
                </a:rPr>
                <a:t>공통</a:t>
              </a:r>
              <a:r>
                <a:rPr sz="800" b="1" dirty="0">
                  <a:solidFill>
                    <a:srgbClr val="FFFFFF"/>
                  </a:solidFill>
                  <a:latin typeface="맑은 고딕"/>
                  <a:ea typeface="맑은 고딕"/>
                </a:rPr>
                <a:t> Memory Backend I/F (Plug-in)</a:t>
              </a:r>
            </a:p>
          </p:txBody>
        </p:sp>
        <p:sp>
          <p:nvSpPr>
            <p:cNvPr id="303" name="Rounded Rectangle 302"/>
            <p:cNvSpPr/>
            <p:nvPr/>
          </p:nvSpPr>
          <p:spPr>
            <a:xfrm>
              <a:off x="11219688" y="4562856"/>
              <a:ext cx="566928" cy="201168"/>
            </a:xfrm>
            <a:prstGeom prst="roundRect">
              <a:avLst>
                <a:gd name="adj" fmla="val 12000"/>
              </a:avLst>
            </a:prstGeom>
            <a:solidFill>
              <a:srgbClr val="0066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a:solidFill>
                    <a:srgbClr val="FFFFFF"/>
                  </a:solidFill>
                  <a:latin typeface="맑은 고딕"/>
                  <a:ea typeface="맑은 고딕"/>
                </a:rPr>
                <a:t>쟁점 2</a:t>
              </a:r>
            </a:p>
          </p:txBody>
        </p:sp>
        <p:sp>
          <p:nvSpPr>
            <p:cNvPr id="304" name="Rectangle 303"/>
            <p:cNvSpPr/>
            <p:nvPr/>
          </p:nvSpPr>
          <p:spPr>
            <a:xfrm>
              <a:off x="6382512" y="4892040"/>
              <a:ext cx="621792" cy="274320"/>
            </a:xfrm>
            <a:prstGeom prst="rect">
              <a:avLst/>
            </a:prstGeom>
            <a:solidFill>
              <a:srgbClr val="E7E6E6"/>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HBM</a:t>
              </a:r>
            </a:p>
          </p:txBody>
        </p:sp>
        <p:cxnSp>
          <p:nvCxnSpPr>
            <p:cNvPr id="305" name="Connector 304"/>
            <p:cNvCxnSpPr/>
            <p:nvPr/>
          </p:nvCxnSpPr>
          <p:spPr>
            <a:xfrm>
              <a:off x="6693408"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06" name="Rectangle 305"/>
            <p:cNvSpPr/>
            <p:nvPr/>
          </p:nvSpPr>
          <p:spPr>
            <a:xfrm>
              <a:off x="7075627" y="4892040"/>
              <a:ext cx="621792" cy="27432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ScHBM</a:t>
              </a:r>
            </a:p>
          </p:txBody>
        </p:sp>
        <p:cxnSp>
          <p:nvCxnSpPr>
            <p:cNvPr id="307" name="Connector 306"/>
            <p:cNvCxnSpPr/>
            <p:nvPr/>
          </p:nvCxnSpPr>
          <p:spPr>
            <a:xfrm>
              <a:off x="7386523"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08" name="Rectangle 307"/>
            <p:cNvSpPr/>
            <p:nvPr/>
          </p:nvSpPr>
          <p:spPr>
            <a:xfrm>
              <a:off x="7768742" y="4892040"/>
              <a:ext cx="621792" cy="274320"/>
            </a:xfrm>
            <a:prstGeom prst="rect">
              <a:avLst/>
            </a:prstGeom>
            <a:solidFill>
              <a:srgbClr val="E7E6E6"/>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DRAM</a:t>
              </a:r>
            </a:p>
          </p:txBody>
        </p:sp>
        <p:cxnSp>
          <p:nvCxnSpPr>
            <p:cNvPr id="309" name="Connector 308"/>
            <p:cNvCxnSpPr/>
            <p:nvPr/>
          </p:nvCxnSpPr>
          <p:spPr>
            <a:xfrm>
              <a:off x="8079638"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0" name="Rectangle 309"/>
            <p:cNvSpPr/>
            <p:nvPr/>
          </p:nvSpPr>
          <p:spPr>
            <a:xfrm>
              <a:off x="8461857" y="4892040"/>
              <a:ext cx="621792" cy="27432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CXL-PNM</a:t>
              </a:r>
            </a:p>
          </p:txBody>
        </p:sp>
        <p:cxnSp>
          <p:nvCxnSpPr>
            <p:cNvPr id="311" name="Connector 310"/>
            <p:cNvCxnSpPr/>
            <p:nvPr/>
          </p:nvCxnSpPr>
          <p:spPr>
            <a:xfrm>
              <a:off x="8772753"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2" name="Rectangle 311"/>
            <p:cNvSpPr/>
            <p:nvPr/>
          </p:nvSpPr>
          <p:spPr>
            <a:xfrm>
              <a:off x="9154972" y="4892040"/>
              <a:ext cx="621792" cy="27432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HBF</a:t>
              </a:r>
            </a:p>
          </p:txBody>
        </p:sp>
        <p:cxnSp>
          <p:nvCxnSpPr>
            <p:cNvPr id="313" name="Connector 312"/>
            <p:cNvCxnSpPr/>
            <p:nvPr/>
          </p:nvCxnSpPr>
          <p:spPr>
            <a:xfrm>
              <a:off x="9465868"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4" name="Rectangle 313"/>
            <p:cNvSpPr/>
            <p:nvPr/>
          </p:nvSpPr>
          <p:spPr>
            <a:xfrm>
              <a:off x="9848088" y="4892040"/>
              <a:ext cx="621792" cy="274320"/>
            </a:xfrm>
            <a:prstGeom prst="rect">
              <a:avLst/>
            </a:prstGeom>
            <a:solidFill>
              <a:srgbClr val="E7E6E6"/>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SSD</a:t>
              </a:r>
            </a:p>
          </p:txBody>
        </p:sp>
        <p:cxnSp>
          <p:nvCxnSpPr>
            <p:cNvPr id="315" name="Connector 314"/>
            <p:cNvCxnSpPr/>
            <p:nvPr/>
          </p:nvCxnSpPr>
          <p:spPr>
            <a:xfrm>
              <a:off x="10158984"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6" name="Rectangle 315"/>
            <p:cNvSpPr/>
            <p:nvPr/>
          </p:nvSpPr>
          <p:spPr>
            <a:xfrm>
              <a:off x="10541203" y="4892040"/>
              <a:ext cx="621792" cy="27432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SSD-PIM</a:t>
              </a:r>
            </a:p>
          </p:txBody>
        </p:sp>
        <p:cxnSp>
          <p:nvCxnSpPr>
            <p:cNvPr id="317" name="Connector 316"/>
            <p:cNvCxnSpPr/>
            <p:nvPr/>
          </p:nvCxnSpPr>
          <p:spPr>
            <a:xfrm>
              <a:off x="10852099"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8" name="Rectangle 317"/>
            <p:cNvSpPr/>
            <p:nvPr/>
          </p:nvSpPr>
          <p:spPr>
            <a:xfrm>
              <a:off x="11234318" y="4892040"/>
              <a:ext cx="621792" cy="274320"/>
            </a:xfrm>
            <a:prstGeom prst="rect">
              <a:avLst/>
            </a:prstGeom>
            <a:solidFill>
              <a:srgbClr val="FFFFFF"/>
            </a:solidFill>
            <a:ln w="9525">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C55A11"/>
                  </a:solidFill>
                  <a:latin typeface="맑은 고딕"/>
                  <a:ea typeface="맑은 고딕"/>
                </a:rPr>
                <a:t>+ New</a:t>
              </a:r>
            </a:p>
          </p:txBody>
        </p:sp>
        <p:cxnSp>
          <p:nvCxnSpPr>
            <p:cNvPr id="319" name="Connector 318"/>
            <p:cNvCxnSpPr/>
            <p:nvPr/>
          </p:nvCxnSpPr>
          <p:spPr>
            <a:xfrm>
              <a:off x="11545214"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20" name="Rectangle 319"/>
            <p:cNvSpPr/>
            <p:nvPr/>
          </p:nvSpPr>
          <p:spPr>
            <a:xfrm>
              <a:off x="9948672" y="5257800"/>
              <a:ext cx="146304" cy="109728"/>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321" name="TextBox 320"/>
            <p:cNvSpPr txBox="1"/>
            <p:nvPr/>
          </p:nvSpPr>
          <p:spPr>
            <a:xfrm>
              <a:off x="10131552" y="5258803"/>
              <a:ext cx="731520" cy="107722"/>
            </a:xfrm>
            <a:prstGeom prst="rect">
              <a:avLst/>
            </a:prstGeom>
            <a:noFill/>
          </p:spPr>
          <p:txBody>
            <a:bodyPr wrap="square" lIns="0" tIns="0" rIns="0" bIns="0" anchor="ctr">
              <a:spAutoFit/>
            </a:bodyPr>
            <a:lstStyle/>
            <a:p>
              <a:pPr algn="l"/>
              <a:r>
                <a:rPr sz="700" b="0">
                  <a:solidFill>
                    <a:srgbClr val="595959"/>
                  </a:solidFill>
                  <a:latin typeface="맑은 고딕"/>
                  <a:ea typeface="맑은 고딕"/>
                </a:rPr>
                <a:t>신규 메모리</a:t>
              </a:r>
            </a:p>
          </p:txBody>
        </p:sp>
        <p:sp>
          <p:nvSpPr>
            <p:cNvPr id="322" name="Rectangle 321"/>
            <p:cNvSpPr/>
            <p:nvPr/>
          </p:nvSpPr>
          <p:spPr>
            <a:xfrm>
              <a:off x="10908792" y="5257800"/>
              <a:ext cx="146304" cy="109728"/>
            </a:xfrm>
            <a:prstGeom prst="rect">
              <a:avLst/>
            </a:prstGeom>
            <a:solidFill>
              <a:srgbClr val="E7E6E6"/>
            </a:solidFill>
            <a:ln w="6350">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323" name="TextBox 322"/>
            <p:cNvSpPr txBox="1"/>
            <p:nvPr/>
          </p:nvSpPr>
          <p:spPr>
            <a:xfrm>
              <a:off x="11091672" y="5258803"/>
              <a:ext cx="731520" cy="107722"/>
            </a:xfrm>
            <a:prstGeom prst="rect">
              <a:avLst/>
            </a:prstGeom>
            <a:noFill/>
          </p:spPr>
          <p:txBody>
            <a:bodyPr wrap="square" lIns="0" tIns="0" rIns="0" bIns="0" anchor="ctr">
              <a:spAutoFit/>
            </a:bodyPr>
            <a:lstStyle/>
            <a:p>
              <a:pPr algn="l"/>
              <a:r>
                <a:rPr sz="700" b="0">
                  <a:solidFill>
                    <a:srgbClr val="595959"/>
                  </a:solidFill>
                  <a:latin typeface="맑은 고딕"/>
                  <a:ea typeface="맑은 고딕"/>
                </a:rPr>
                <a:t>기존 메모리</a:t>
              </a:r>
            </a:p>
          </p:txBody>
        </p:sp>
        <p:sp>
          <p:nvSpPr>
            <p:cNvPr id="324" name="TextBox 323"/>
            <p:cNvSpPr txBox="1"/>
            <p:nvPr/>
          </p:nvSpPr>
          <p:spPr>
            <a:xfrm>
              <a:off x="6382512" y="5293017"/>
              <a:ext cx="3291840" cy="107722"/>
            </a:xfrm>
            <a:prstGeom prst="rect">
              <a:avLst/>
            </a:prstGeom>
            <a:noFill/>
          </p:spPr>
          <p:txBody>
            <a:bodyPr wrap="square" lIns="0" tIns="0" rIns="0" bIns="0" anchor="ctr">
              <a:spAutoFit/>
            </a:bodyPr>
            <a:lstStyle/>
            <a:p>
              <a:pPr algn="l"/>
              <a:r>
                <a:rPr sz="700" b="0" dirty="0">
                  <a:solidFill>
                    <a:srgbClr val="595959"/>
                  </a:solidFill>
                  <a:latin typeface="맑은 고딕"/>
                  <a:ea typeface="맑은 고딕"/>
                </a:rPr>
                <a:t>※ </a:t>
              </a:r>
              <a:r>
                <a:rPr sz="700" b="0" dirty="0" err="1">
                  <a:solidFill>
                    <a:srgbClr val="595959"/>
                  </a:solidFill>
                  <a:latin typeface="맑은 고딕"/>
                  <a:ea typeface="맑은 고딕"/>
                </a:rPr>
                <a:t>추상화</a:t>
              </a:r>
              <a:r>
                <a:rPr sz="700" b="0" dirty="0">
                  <a:solidFill>
                    <a:srgbClr val="595959"/>
                  </a:solidFill>
                  <a:latin typeface="맑은 고딕"/>
                  <a:ea typeface="맑은 고딕"/>
                </a:rPr>
                <a:t> 뷰 — </a:t>
              </a:r>
              <a:r>
                <a:rPr sz="700" b="0" dirty="0" err="1">
                  <a:solidFill>
                    <a:srgbClr val="595959"/>
                  </a:solidFill>
                  <a:latin typeface="맑은 고딕"/>
                  <a:ea typeface="맑은 고딕"/>
                </a:rPr>
                <a:t>상세</a:t>
              </a:r>
              <a:r>
                <a:rPr sz="700" b="0" dirty="0">
                  <a:solidFill>
                    <a:srgbClr val="595959"/>
                  </a:solidFill>
                  <a:latin typeface="맑은 고딕"/>
                  <a:ea typeface="맑은 고딕"/>
                </a:rPr>
                <a:t> </a:t>
              </a:r>
              <a:r>
                <a:rPr sz="700" b="0" dirty="0" err="1">
                  <a:solidFill>
                    <a:srgbClr val="595959"/>
                  </a:solidFill>
                  <a:latin typeface="맑은 고딕"/>
                  <a:ea typeface="맑은 고딕"/>
                </a:rPr>
                <a:t>구조는</a:t>
              </a:r>
              <a:r>
                <a:rPr sz="700" b="0" dirty="0">
                  <a:solidFill>
                    <a:srgbClr val="595959"/>
                  </a:solidFill>
                  <a:latin typeface="맑은 고딕"/>
                  <a:ea typeface="맑은 고딕"/>
                </a:rPr>
                <a:t> </a:t>
              </a:r>
              <a:r>
                <a:rPr sz="700" b="0" dirty="0" err="1">
                  <a:solidFill>
                    <a:srgbClr val="595959"/>
                  </a:solidFill>
                  <a:latin typeface="맑은 고딕"/>
                  <a:ea typeface="맑은 고딕"/>
                </a:rPr>
                <a:t>설계</a:t>
              </a:r>
              <a:r>
                <a:rPr lang="ko-KR" altLang="en-US" sz="700" dirty="0">
                  <a:solidFill>
                    <a:srgbClr val="595959"/>
                  </a:solidFill>
                  <a:latin typeface="맑은 고딕"/>
                  <a:ea typeface="맑은 고딕"/>
                </a:rPr>
                <a:t>페이지</a:t>
              </a:r>
              <a:r>
                <a:rPr sz="700" b="0" dirty="0">
                  <a:solidFill>
                    <a:srgbClr val="595959"/>
                  </a:solidFill>
                  <a:latin typeface="맑은 고딕"/>
                  <a:ea typeface="맑은 고딕"/>
                </a:rPr>
                <a:t> </a:t>
              </a:r>
              <a:r>
                <a:rPr sz="700" b="0" dirty="0" err="1">
                  <a:solidFill>
                    <a:srgbClr val="595959"/>
                  </a:solidFill>
                  <a:latin typeface="맑은 고딕"/>
                  <a:ea typeface="맑은 고딕"/>
                </a:rPr>
                <a:t>참조</a:t>
              </a:r>
              <a:endParaRPr sz="700" b="0" dirty="0">
                <a:solidFill>
                  <a:srgbClr val="595959"/>
                </a:solidFill>
                <a:latin typeface="맑은 고딕"/>
                <a:ea typeface="맑은 고딕"/>
              </a:endParaRPr>
            </a:p>
          </p:txBody>
        </p:sp>
      </p:grpSp>
      <p:sp>
        <p:nvSpPr>
          <p:cNvPr id="116" name="Rectangle 262">
            <a:extLst>
              <a:ext uri="{FF2B5EF4-FFF2-40B4-BE49-F238E27FC236}">
                <a16:creationId xmlns:a16="http://schemas.microsoft.com/office/drawing/2014/main" id="{5E5E24D5-DD07-4B93-AB37-DDD32A3A2D27}"/>
              </a:ext>
            </a:extLst>
          </p:cNvPr>
          <p:cNvSpPr/>
          <p:nvPr/>
        </p:nvSpPr>
        <p:spPr>
          <a:xfrm>
            <a:off x="502920" y="1345886"/>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Scheduler</a:t>
            </a:r>
          </a:p>
        </p:txBody>
      </p:sp>
      <p:sp>
        <p:nvSpPr>
          <p:cNvPr id="117" name="Rectangle 263">
            <a:extLst>
              <a:ext uri="{FF2B5EF4-FFF2-40B4-BE49-F238E27FC236}">
                <a16:creationId xmlns:a16="http://schemas.microsoft.com/office/drawing/2014/main" id="{74394127-A72E-4631-A782-D747A9EDD11B}"/>
              </a:ext>
            </a:extLst>
          </p:cNvPr>
          <p:cNvSpPr/>
          <p:nvPr/>
        </p:nvSpPr>
        <p:spPr>
          <a:xfrm>
            <a:off x="1901952" y="1345886"/>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KV Cache </a:t>
            </a:r>
            <a:r>
              <a:rPr sz="900" b="1" dirty="0" err="1">
                <a:solidFill>
                  <a:srgbClr val="1A1A1A"/>
                </a:solidFill>
                <a:latin typeface="맑은 고딕"/>
                <a:ea typeface="맑은 고딕"/>
              </a:rPr>
              <a:t>M</a:t>
            </a:r>
            <a:r>
              <a:rPr lang="en-US" sz="900" b="1" dirty="0" err="1">
                <a:solidFill>
                  <a:srgbClr val="1A1A1A"/>
                </a:solidFill>
                <a:latin typeface="맑은 고딕"/>
                <a:ea typeface="맑은 고딕"/>
              </a:rPr>
              <a:t>gr</a:t>
            </a:r>
            <a:endParaRPr sz="900" b="1" dirty="0">
              <a:solidFill>
                <a:srgbClr val="1A1A1A"/>
              </a:solidFill>
              <a:latin typeface="맑은 고딕"/>
              <a:ea typeface="맑은 고딕"/>
            </a:endParaRPr>
          </a:p>
        </p:txBody>
      </p:sp>
      <p:sp>
        <p:nvSpPr>
          <p:cNvPr id="118" name="Rectangle 264">
            <a:extLst>
              <a:ext uri="{FF2B5EF4-FFF2-40B4-BE49-F238E27FC236}">
                <a16:creationId xmlns:a16="http://schemas.microsoft.com/office/drawing/2014/main" id="{0EE1B332-E102-4A40-9243-E6E92E237C41}"/>
              </a:ext>
            </a:extLst>
          </p:cNvPr>
          <p:cNvSpPr/>
          <p:nvPr/>
        </p:nvSpPr>
        <p:spPr>
          <a:xfrm>
            <a:off x="3300984" y="1345886"/>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KV Connector</a:t>
            </a:r>
          </a:p>
        </p:txBody>
      </p:sp>
      <p:sp>
        <p:nvSpPr>
          <p:cNvPr id="119" name="Rectangle 266">
            <a:extLst>
              <a:ext uri="{FF2B5EF4-FFF2-40B4-BE49-F238E27FC236}">
                <a16:creationId xmlns:a16="http://schemas.microsoft.com/office/drawing/2014/main" id="{A3BC80FB-7FE1-4783-895D-524998D7C601}"/>
              </a:ext>
            </a:extLst>
          </p:cNvPr>
          <p:cNvSpPr/>
          <p:nvPr/>
        </p:nvSpPr>
        <p:spPr>
          <a:xfrm>
            <a:off x="4700016" y="1345886"/>
            <a:ext cx="1051560"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sz="900" b="1" dirty="0">
                <a:solidFill>
                  <a:srgbClr val="1A1A1A"/>
                </a:solidFill>
                <a:latin typeface="맑은 고딕"/>
                <a:ea typeface="맑은 고딕"/>
              </a:rPr>
              <a:t>Model Runner</a:t>
            </a:r>
            <a:endParaRPr sz="900" b="1" dirty="0">
              <a:solidFill>
                <a:srgbClr val="1A1A1A"/>
              </a:solidFill>
              <a:latin typeface="맑은 고딕"/>
              <a:ea typeface="맑은 고딕"/>
            </a:endParaRPr>
          </a:p>
        </p:txBody>
      </p:sp>
      <p:cxnSp>
        <p:nvCxnSpPr>
          <p:cNvPr id="145" name="직선 화살표 연결선 185">
            <a:extLst>
              <a:ext uri="{FF2B5EF4-FFF2-40B4-BE49-F238E27FC236}">
                <a16:creationId xmlns:a16="http://schemas.microsoft.com/office/drawing/2014/main" id="{52794E2E-8A35-4B3D-B9FE-0291022DBE61}"/>
              </a:ext>
            </a:extLst>
          </p:cNvPr>
          <p:cNvCxnSpPr>
            <a:cxnSpLocks/>
            <a:stCxn id="144" idx="2"/>
            <a:endCxn id="521" idx="0"/>
          </p:cNvCxnSpPr>
          <p:nvPr/>
        </p:nvCxnSpPr>
        <p:spPr>
          <a:xfrm>
            <a:off x="3238155" y="3482296"/>
            <a:ext cx="0" cy="183603"/>
          </a:xfrm>
          <a:prstGeom prst="straightConnector1">
            <a:avLst/>
          </a:prstGeom>
          <a:noFill/>
          <a:ln w="11430">
            <a:solidFill>
              <a:schemeClr val="accent1"/>
            </a:solidFill>
            <a:prstDash val="solid"/>
            <a:headEnd type="none" w="med" len="med"/>
            <a:tailEnd type="triangle" w="med" len="med"/>
          </a:ln>
        </p:spPr>
      </p:cxnSp>
      <p:cxnSp>
        <p:nvCxnSpPr>
          <p:cNvPr id="148" name="직선 화살표 연결선 185">
            <a:extLst>
              <a:ext uri="{FF2B5EF4-FFF2-40B4-BE49-F238E27FC236}">
                <a16:creationId xmlns:a16="http://schemas.microsoft.com/office/drawing/2014/main" id="{B0C2E324-ABC2-4754-929A-1C39667AF7FF}"/>
              </a:ext>
            </a:extLst>
          </p:cNvPr>
          <p:cNvCxnSpPr>
            <a:cxnSpLocks/>
            <a:stCxn id="143" idx="2"/>
            <a:endCxn id="520" idx="0"/>
          </p:cNvCxnSpPr>
          <p:nvPr/>
        </p:nvCxnSpPr>
        <p:spPr>
          <a:xfrm>
            <a:off x="1448562" y="3474500"/>
            <a:ext cx="0" cy="191399"/>
          </a:xfrm>
          <a:prstGeom prst="straightConnector1">
            <a:avLst/>
          </a:prstGeom>
          <a:noFill/>
          <a:ln w="11430">
            <a:solidFill>
              <a:schemeClr val="accent1"/>
            </a:solidFill>
            <a:prstDash val="solid"/>
            <a:headEnd type="none" w="med" len="med"/>
            <a:tailEnd type="triangle" w="med" len="med"/>
          </a:ln>
        </p:spPr>
      </p:cxnSp>
    </p:spTree>
    <p:extLst>
      <p:ext uri="{BB962C8B-B14F-4D97-AF65-F5344CB8AC3E}">
        <p14:creationId xmlns:p14="http://schemas.microsoft.com/office/powerpoint/2010/main" val="1597622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49035" y="1044054"/>
          <a:ext cx="11747501" cy="5331514"/>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3866672">
                  <a:extLst>
                    <a:ext uri="{9D8B030D-6E8A-4147-A177-3AD203B41FA5}">
                      <a16:colId xmlns:a16="http://schemas.microsoft.com/office/drawing/2014/main" val="5654497"/>
                    </a:ext>
                  </a:extLst>
                </a:gridCol>
                <a:gridCol w="1569382">
                  <a:extLst>
                    <a:ext uri="{9D8B030D-6E8A-4147-A177-3AD203B41FA5}">
                      <a16:colId xmlns:a16="http://schemas.microsoft.com/office/drawing/2014/main" val="2953438935"/>
                    </a:ext>
                  </a:extLst>
                </a:gridCol>
                <a:gridCol w="3833198">
                  <a:extLst>
                    <a:ext uri="{9D8B030D-6E8A-4147-A177-3AD203B41FA5}">
                      <a16:colId xmlns:a16="http://schemas.microsoft.com/office/drawing/2014/main" val="3070054508"/>
                    </a:ext>
                  </a:extLst>
                </a:gridCol>
                <a:gridCol w="1602856">
                  <a:extLst>
                    <a:ext uri="{9D8B030D-6E8A-4147-A177-3AD203B41FA5}">
                      <a16:colId xmlns:a16="http://schemas.microsoft.com/office/drawing/2014/main" val="3101495520"/>
                    </a:ext>
                  </a:extLst>
                </a:gridCol>
              </a:tblGrid>
              <a:tr h="321759">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strike="noStrike" dirty="0"/>
                        <a:t>(1</a:t>
                      </a:r>
                      <a:r>
                        <a:rPr lang="ko-KR" altLang="en-US" sz="1200" b="1" strike="noStrike" dirty="0"/>
                        <a:t>안</a:t>
                      </a:r>
                      <a:r>
                        <a:rPr lang="en-US" altLang="ko-KR" sz="1200" b="1" strike="noStrike" dirty="0"/>
                        <a:t>)</a:t>
                      </a:r>
                      <a:r>
                        <a:rPr lang="en-US" altLang="ko-KR" sz="1200" b="1" strike="noStrike" baseline="0" dirty="0"/>
                        <a:t> </a:t>
                      </a:r>
                      <a:r>
                        <a:rPr lang="ko-KR" altLang="en-US" sz="1200" b="1" strike="noStrike" baseline="0" dirty="0"/>
                        <a:t>메모리</a:t>
                      </a:r>
                      <a:r>
                        <a:rPr lang="en-US" altLang="ko-KR" sz="1200" b="1" strike="noStrike" baseline="0" dirty="0"/>
                        <a:t> Resource State driven Migration </a:t>
                      </a:r>
                      <a:r>
                        <a:rPr lang="ko-KR" altLang="en-US" sz="1200" b="1" strike="noStrike" baseline="0" dirty="0"/>
                        <a:t>구조</a:t>
                      </a:r>
                      <a:endParaRPr lang="ko-KR" altLang="en-US" sz="1200" b="1" strike="noStrike"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algn="l" latinLnBrk="1"/>
                      <a:r>
                        <a:rPr lang="en-US" altLang="ko-KR" sz="1200" b="1" strike="noStrike" dirty="0"/>
                        <a:t>(2</a:t>
                      </a:r>
                      <a:r>
                        <a:rPr lang="ko-KR" altLang="en-US" sz="1200" b="1" strike="noStrike" dirty="0"/>
                        <a:t>안</a:t>
                      </a:r>
                      <a:r>
                        <a:rPr lang="en-US" altLang="ko-KR" sz="1200" b="1" strike="noStrike" dirty="0"/>
                        <a:t>)</a:t>
                      </a:r>
                      <a:r>
                        <a:rPr lang="en-US" altLang="ko-KR" sz="1200" b="1" strike="noStrike" baseline="0" dirty="0"/>
                        <a:t> AI Data </a:t>
                      </a:r>
                      <a:r>
                        <a:rPr lang="en-US" altLang="ko-KR" sz="1200" b="1" strike="noStrike" dirty="0"/>
                        <a:t>Behavior</a:t>
                      </a:r>
                      <a:r>
                        <a:rPr lang="en-US" altLang="ko-KR" sz="1200" b="1" strike="noStrike" baseline="0" dirty="0"/>
                        <a:t> </a:t>
                      </a:r>
                      <a:r>
                        <a:rPr lang="en-US" altLang="ko-KR" sz="1200" b="1" strike="noStrike" dirty="0"/>
                        <a:t>driven</a:t>
                      </a:r>
                      <a:r>
                        <a:rPr lang="en-US" altLang="ko-KR" sz="1200" b="1" strike="noStrike" baseline="0" dirty="0"/>
                        <a:t> </a:t>
                      </a:r>
                      <a:r>
                        <a:rPr lang="en-US" altLang="ko-KR" sz="1200" b="1" strike="noStrike" dirty="0"/>
                        <a:t>Migration</a:t>
                      </a:r>
                      <a:r>
                        <a:rPr lang="ko-KR" altLang="en-US" sz="1200" b="1" strike="noStrike" dirty="0"/>
                        <a:t> 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272395">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ko-KR" altLang="en-US" sz="105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ko-KR" altLang="en-US" sz="1200" b="1" dirty="0">
                        <a:solidFill>
                          <a:srgbClr val="0033CC"/>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374073">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낮은 </a:t>
                      </a:r>
                      <a:r>
                        <a:rPr lang="en-US" altLang="ko-KR" sz="1200" strike="noStrike" kern="1200" baseline="0" dirty="0">
                          <a:solidFill>
                            <a:schemeClr val="tx1"/>
                          </a:solidFill>
                          <a:effectLst/>
                          <a:latin typeface="+mn-lt"/>
                          <a:ea typeface="+mn-ea"/>
                          <a:cs typeface="+mn-cs"/>
                        </a:rPr>
                        <a:t>Decision overhead </a:t>
                      </a:r>
                      <a:r>
                        <a:rPr lang="ko-KR" altLang="en-US" sz="1200" strike="noStrike" kern="1200" baseline="0" dirty="0">
                          <a:solidFill>
                            <a:schemeClr val="tx1"/>
                          </a:solidFill>
                          <a:effectLst/>
                          <a:latin typeface="+mn-lt"/>
                          <a:ea typeface="+mn-ea"/>
                          <a:cs typeface="+mn-cs"/>
                        </a:rPr>
                        <a:t>및 </a:t>
                      </a:r>
                      <a:r>
                        <a:rPr lang="en-US" altLang="ko-KR" sz="1200" strike="noStrike" kern="1200" baseline="0" dirty="0">
                          <a:solidFill>
                            <a:schemeClr val="tx1"/>
                          </a:solidFill>
                          <a:effectLst/>
                          <a:latin typeface="+mn-lt"/>
                          <a:ea typeface="+mn-ea"/>
                          <a:cs typeface="+mn-cs"/>
                        </a:rPr>
                        <a:t>Resource state</a:t>
                      </a:r>
                      <a:r>
                        <a:rPr lang="ko-KR" altLang="en-US" sz="1200" strike="noStrike" kern="1200" baseline="0" dirty="0">
                          <a:solidFill>
                            <a:schemeClr val="tx1"/>
                          </a:solidFill>
                          <a:effectLst/>
                          <a:latin typeface="+mn-lt"/>
                          <a:ea typeface="+mn-ea"/>
                          <a:cs typeface="+mn-cs"/>
                        </a:rPr>
                        <a:t> 변화에 즉시 반응</a:t>
                      </a:r>
                    </a:p>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전체 메모리</a:t>
                      </a:r>
                      <a:r>
                        <a:rPr lang="en-US" altLang="ko-KR" sz="1200" strike="noStrike" kern="1200" baseline="0" dirty="0">
                          <a:solidFill>
                            <a:schemeClr val="tx1"/>
                          </a:solidFill>
                          <a:effectLst/>
                          <a:latin typeface="+mn-lt"/>
                          <a:ea typeface="+mn-ea"/>
                          <a:cs typeface="+mn-cs"/>
                        </a:rPr>
                        <a:t> Pool</a:t>
                      </a:r>
                      <a:r>
                        <a:rPr lang="ko-KR" altLang="en-US" sz="1200" strike="noStrike" kern="1200" baseline="0" dirty="0">
                          <a:solidFill>
                            <a:schemeClr val="tx1"/>
                          </a:solidFill>
                          <a:effectLst/>
                          <a:latin typeface="+mn-lt"/>
                          <a:ea typeface="+mn-ea"/>
                          <a:cs typeface="+mn-cs"/>
                        </a:rPr>
                        <a:t>의 </a:t>
                      </a:r>
                      <a:r>
                        <a:rPr lang="en-US" altLang="ko-KR" sz="1200" strike="noStrike" kern="1200" baseline="0" dirty="0">
                          <a:solidFill>
                            <a:schemeClr val="tx1"/>
                          </a:solidFill>
                          <a:effectLst/>
                          <a:latin typeface="+mn-lt"/>
                          <a:ea typeface="+mn-ea"/>
                          <a:cs typeface="+mn-cs"/>
                        </a:rPr>
                        <a:t>Utilization </a:t>
                      </a:r>
                      <a:r>
                        <a:rPr lang="ko-KR" altLang="en-US" sz="1200" strike="noStrike" kern="1200" baseline="0" dirty="0">
                          <a:solidFill>
                            <a:schemeClr val="tx1"/>
                          </a:solidFill>
                          <a:effectLst/>
                          <a:latin typeface="+mn-lt"/>
                          <a:ea typeface="+mn-ea"/>
                          <a:cs typeface="+mn-cs"/>
                        </a:rPr>
                        <a:t>관리에 유리 </a:t>
                      </a:r>
                      <a:endParaRPr lang="en-US" altLang="ko-KR" sz="1200" strike="noStrike" kern="1200" baseline="0" dirty="0">
                        <a:solidFill>
                          <a:schemeClr val="tx1"/>
                        </a:solidFill>
                        <a:effectLst/>
                        <a:latin typeface="+mn-lt"/>
                        <a:ea typeface="+mn-ea"/>
                        <a:cs typeface="+mn-cs"/>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dirty="0">
                          <a:solidFill>
                            <a:schemeClr val="tx1"/>
                          </a:solidFill>
                          <a:effectLst/>
                        </a:rPr>
                        <a:t>Data </a:t>
                      </a:r>
                      <a:r>
                        <a:rPr lang="ko-KR" altLang="en-US" sz="1200" strike="noStrike" dirty="0">
                          <a:solidFill>
                            <a:schemeClr val="tx1"/>
                          </a:solidFill>
                          <a:effectLst/>
                        </a:rPr>
                        <a:t>종류 별 </a:t>
                      </a:r>
                      <a:r>
                        <a:rPr lang="en-US" altLang="ko-KR" sz="1200" strike="noStrike" dirty="0">
                          <a:solidFill>
                            <a:schemeClr val="tx1"/>
                          </a:solidFill>
                          <a:effectLst/>
                        </a:rPr>
                        <a:t>Access </a:t>
                      </a:r>
                      <a:r>
                        <a:rPr lang="ko-KR" altLang="en-US" sz="1200" strike="noStrike" dirty="0">
                          <a:solidFill>
                            <a:schemeClr val="tx1"/>
                          </a:solidFill>
                          <a:effectLst/>
                        </a:rPr>
                        <a:t>특성에 맞는 </a:t>
                      </a:r>
                      <a:r>
                        <a:rPr lang="en-US" altLang="ko-KR" sz="1200" strike="noStrike" dirty="0">
                          <a:solidFill>
                            <a:schemeClr val="tx1"/>
                          </a:solidFill>
                          <a:effectLst/>
                        </a:rPr>
                        <a:t>Fine-grained </a:t>
                      </a:r>
                      <a:r>
                        <a:rPr lang="ko-KR" altLang="en-US" sz="1200" strike="noStrike" dirty="0">
                          <a:solidFill>
                            <a:schemeClr val="tx1"/>
                          </a:solidFill>
                          <a:effectLst/>
                        </a:rPr>
                        <a:t>배치 가능</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dirty="0">
                          <a:solidFill>
                            <a:schemeClr val="tx1"/>
                          </a:solidFill>
                          <a:effectLst/>
                        </a:rPr>
                        <a:t>고속</a:t>
                      </a:r>
                      <a:r>
                        <a:rPr lang="en-US" altLang="ko-KR" sz="1200" strike="noStrike" dirty="0">
                          <a:solidFill>
                            <a:schemeClr val="tx1"/>
                          </a:solidFill>
                          <a:effectLst/>
                        </a:rPr>
                        <a:t>(High</a:t>
                      </a:r>
                      <a:r>
                        <a:rPr lang="en-US" altLang="ko-KR" sz="1200" strike="noStrike" baseline="0" dirty="0">
                          <a:solidFill>
                            <a:schemeClr val="tx1"/>
                          </a:solidFill>
                          <a:effectLst/>
                        </a:rPr>
                        <a:t> tier)</a:t>
                      </a:r>
                      <a:r>
                        <a:rPr lang="ko-KR" altLang="en-US" sz="1200" strike="noStrike" dirty="0">
                          <a:solidFill>
                            <a:schemeClr val="tx1"/>
                          </a:solidFill>
                          <a:effectLst/>
                        </a:rPr>
                        <a:t> 메모리의 불필요한 점유 감소 가능</a:t>
                      </a:r>
                      <a:endParaRPr lang="en-US" altLang="ko-KR" sz="1200" strike="noStrike"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Data</a:t>
                      </a:r>
                      <a:r>
                        <a:rPr lang="ko-KR" altLang="en-US" sz="1200" strike="noStrike" baseline="0" dirty="0">
                          <a:solidFill>
                            <a:schemeClr val="tx1"/>
                          </a:solidFill>
                          <a:effectLst/>
                        </a:rPr>
                        <a:t>별 접근 특성 반영 한계 </a:t>
                      </a:r>
                      <a:endParaRPr lang="en-US" altLang="ko-KR" sz="1200" strike="noStrike" baseline="0"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solidFill>
                            <a:schemeClr val="tx1"/>
                          </a:solidFill>
                          <a:effectLst/>
                        </a:rPr>
                        <a:t>동일한 </a:t>
                      </a:r>
                      <a:r>
                        <a:rPr lang="en-US" altLang="ko-KR" sz="1200" strike="noStrike" baseline="0" dirty="0">
                          <a:solidFill>
                            <a:schemeClr val="tx1"/>
                          </a:solidFill>
                          <a:effectLst/>
                        </a:rPr>
                        <a:t>Resource state</a:t>
                      </a:r>
                      <a:r>
                        <a:rPr lang="ko-KR" altLang="en-US" sz="1200" strike="noStrike" baseline="0" dirty="0">
                          <a:solidFill>
                            <a:schemeClr val="tx1"/>
                          </a:solidFill>
                          <a:effectLst/>
                        </a:rPr>
                        <a:t>에서 서로 다른 </a:t>
                      </a:r>
                      <a:r>
                        <a:rPr lang="en-US" altLang="ko-KR" sz="1200" strike="noStrike" baseline="0" dirty="0">
                          <a:solidFill>
                            <a:schemeClr val="tx1"/>
                          </a:solidFill>
                          <a:effectLst/>
                        </a:rPr>
                        <a:t>Data</a:t>
                      </a:r>
                      <a:r>
                        <a:rPr lang="ko-KR" altLang="en-US" sz="1200" strike="noStrike" baseline="0" dirty="0">
                          <a:solidFill>
                            <a:schemeClr val="tx1"/>
                          </a:solidFill>
                          <a:effectLst/>
                        </a:rPr>
                        <a:t>의 </a:t>
                      </a:r>
                      <a:r>
                        <a:rPr lang="en-US" altLang="ko-KR" sz="1200" strike="noStrike" baseline="0" dirty="0">
                          <a:solidFill>
                            <a:schemeClr val="tx1"/>
                          </a:solidFill>
                          <a:effectLst/>
                        </a:rPr>
                        <a:t>Access pattern </a:t>
                      </a:r>
                      <a:r>
                        <a:rPr lang="ko-KR" altLang="en-US" sz="1200" strike="noStrike" baseline="0" dirty="0">
                          <a:solidFill>
                            <a:schemeClr val="tx1"/>
                          </a:solidFill>
                          <a:effectLst/>
                        </a:rPr>
                        <a:t>구분 한계 </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en-US" altLang="ko-KR" sz="1200" strike="noStrike" baseline="0" dirty="0">
                          <a:solidFill>
                            <a:schemeClr val="tx1"/>
                          </a:solidFill>
                          <a:effectLst/>
                        </a:rPr>
                        <a:t>Data </a:t>
                      </a:r>
                      <a:r>
                        <a:rPr lang="ko-KR" altLang="en-US" sz="1200" strike="noStrike" baseline="0" dirty="0">
                          <a:solidFill>
                            <a:schemeClr val="tx1"/>
                          </a:solidFill>
                          <a:effectLst/>
                        </a:rPr>
                        <a:t>종류 별 </a:t>
                      </a:r>
                      <a:r>
                        <a:rPr lang="en-US" altLang="ko-KR" sz="1200" strike="noStrike" baseline="0" dirty="0">
                          <a:solidFill>
                            <a:schemeClr val="tx1"/>
                          </a:solidFill>
                          <a:effectLst/>
                        </a:rPr>
                        <a:t>Characterization </a:t>
                      </a:r>
                      <a:r>
                        <a:rPr lang="ko-KR" altLang="en-US" sz="1200" strike="noStrike" baseline="0" dirty="0">
                          <a:solidFill>
                            <a:schemeClr val="tx1"/>
                          </a:solidFill>
                          <a:effectLst/>
                        </a:rPr>
                        <a:t>및 </a:t>
                      </a:r>
                      <a:r>
                        <a:rPr lang="en-US" altLang="ko-KR" sz="1200" strike="noStrike" baseline="0" dirty="0">
                          <a:solidFill>
                            <a:schemeClr val="tx1"/>
                          </a:solidFill>
                          <a:effectLst/>
                        </a:rPr>
                        <a:t>Pattern </a:t>
                      </a:r>
                      <a:r>
                        <a:rPr lang="ko-KR" altLang="en-US" sz="1200" strike="noStrike" baseline="0" dirty="0">
                          <a:solidFill>
                            <a:schemeClr val="tx1"/>
                          </a:solidFill>
                          <a:effectLst/>
                        </a:rPr>
                        <a:t>예측을 위한 </a:t>
                      </a:r>
                      <a:r>
                        <a:rPr lang="en-US" altLang="ko-KR" sz="1200" strike="noStrike" baseline="0" dirty="0">
                          <a:solidFill>
                            <a:schemeClr val="tx1"/>
                          </a:solidFill>
                          <a:effectLst/>
                        </a:rPr>
                        <a:t>Overhead </a:t>
                      </a:r>
                      <a:r>
                        <a:rPr lang="ko-KR" altLang="en-US" sz="1200" strike="noStrike" baseline="0" dirty="0">
                          <a:solidFill>
                            <a:schemeClr val="tx1"/>
                          </a:solidFill>
                          <a:effectLst/>
                        </a:rPr>
                        <a:t>증가</a:t>
                      </a:r>
                    </a:p>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예측 오류 시 </a:t>
                      </a:r>
                      <a:r>
                        <a:rPr lang="en-US" altLang="ko-KR" sz="1200" strike="noStrike" baseline="0" dirty="0" err="1">
                          <a:solidFill>
                            <a:schemeClr val="tx1"/>
                          </a:solidFill>
                          <a:effectLst/>
                        </a:rPr>
                        <a:t>Mis</a:t>
                      </a:r>
                      <a:r>
                        <a:rPr lang="en-US" altLang="ko-KR" sz="1200" strike="noStrike" baseline="0" dirty="0">
                          <a:solidFill>
                            <a:schemeClr val="tx1"/>
                          </a:solidFill>
                          <a:effectLst/>
                        </a:rPr>
                        <a:t>-placement </a:t>
                      </a:r>
                      <a:r>
                        <a:rPr lang="ko-KR" altLang="en-US" sz="1200" strike="noStrike" baseline="0" dirty="0">
                          <a:solidFill>
                            <a:schemeClr val="tx1"/>
                          </a:solidFill>
                          <a:effectLst/>
                        </a:rPr>
                        <a:t>가능</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630306">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(throughput)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(latency – TTFT, 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r>
                        <a:rPr lang="ko-KR" altLang="en-US" sz="1200" strike="noStrike" baseline="0"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(00TPS)</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(00ms, 00ms)</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(00%)</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endParaRPr lang="en-US" altLang="ko-KR" sz="1200" strike="noStrike" dirty="0">
                        <a:solidFill>
                          <a:schemeClr val="tx1"/>
                        </a:solidFill>
                        <a:latin typeface="맑은 고딕" panose="020B0503020000020004" pitchFamily="50" charset="-127"/>
                        <a:ea typeface="+mn-ea"/>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(throughput)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(latency – TTFT, 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(00TPS)</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a:t>
                      </a:r>
                      <a:r>
                        <a:rPr lang="en-US" altLang="ko-KR" sz="1200" strike="noStrike" baseline="0" dirty="0">
                          <a:solidFill>
                            <a:schemeClr val="tx1"/>
                          </a:solidFill>
                          <a:latin typeface="맑은 고딕" panose="020B0503020000020004" pitchFamily="50" charset="-127"/>
                          <a:ea typeface="+mn-ea"/>
                        </a:rPr>
                        <a:t>00ms, 00ms)</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(00%)</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prstClr val="black"/>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3" name="제목 2"/>
          <p:cNvSpPr>
            <a:spLocks noGrp="1"/>
          </p:cNvSpPr>
          <p:nvPr>
            <p:ph type="title"/>
          </p:nvPr>
        </p:nvSpPr>
        <p:spPr>
          <a:xfrm>
            <a:off x="234949" y="137379"/>
            <a:ext cx="7631530" cy="365125"/>
          </a:xfrm>
        </p:spPr>
        <p:txBody>
          <a:bodyPr/>
          <a:lstStyle/>
          <a:p>
            <a:r>
              <a:rPr lang="en-US" altLang="ko-KR" dirty="0"/>
              <a:t>DP1. </a:t>
            </a:r>
            <a:r>
              <a:rPr lang="ko-KR" altLang="en-US" dirty="0"/>
              <a:t>이기종 메모리 기반 </a:t>
            </a:r>
            <a:r>
              <a:rPr lang="en-US" altLang="ko-KR" dirty="0"/>
              <a:t>Data Migration</a:t>
            </a:r>
            <a:r>
              <a:rPr lang="ko-KR" altLang="en-US" dirty="0"/>
              <a:t> 구조 </a:t>
            </a:r>
            <a:r>
              <a:rPr lang="en-US" altLang="ko-KR" dirty="0"/>
              <a:t>- </a:t>
            </a:r>
            <a:r>
              <a:rPr lang="ko-KR" altLang="en-US" dirty="0"/>
              <a:t>설계</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a:solidFill>
                  <a:schemeClr val="bg1"/>
                </a:solidFill>
              </a:rPr>
              <a:t>이기종 메모리 환경의 자원 상태 및 </a:t>
            </a:r>
            <a:r>
              <a:rPr lang="en-US" altLang="ko-KR" sz="1400" b="1" dirty="0">
                <a:solidFill>
                  <a:schemeClr val="bg1"/>
                </a:solidFill>
              </a:rPr>
              <a:t>AI Data </a:t>
            </a:r>
            <a:r>
              <a:rPr lang="ko-KR" altLang="en-US" sz="1400" b="1" dirty="0">
                <a:solidFill>
                  <a:schemeClr val="bg1"/>
                </a:solidFill>
              </a:rPr>
              <a:t>특성을 고려한 </a:t>
            </a:r>
            <a:r>
              <a:rPr lang="en-US" altLang="ko-KR" sz="1400" b="1" dirty="0">
                <a:solidFill>
                  <a:schemeClr val="bg1"/>
                </a:solidFill>
              </a:rPr>
              <a:t>Data Migration </a:t>
            </a:r>
            <a:r>
              <a:rPr lang="ko-KR" altLang="en-US" sz="1400" b="1" dirty="0">
                <a:solidFill>
                  <a:schemeClr val="bg1"/>
                </a:solidFill>
              </a:rPr>
              <a:t>구조 </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88657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9673910"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a:t>
            </a:r>
            <a:endParaRPr lang="ko-KR" altLang="en-US" sz="900" b="1" dirty="0">
              <a:latin typeface="맑은 고딕" panose="020B0503020000020004" pitchFamily="50" charset="-127"/>
              <a:ea typeface="맑은 고딕" panose="020B0503020000020004" pitchFamily="50" charset="-127"/>
            </a:endParaRPr>
          </a:p>
        </p:txBody>
      </p:sp>
      <p:sp>
        <p:nvSpPr>
          <p:cNvPr id="32" name="모서리가 둥근 직사각형 31"/>
          <p:cNvSpPr/>
          <p:nvPr/>
        </p:nvSpPr>
        <p:spPr>
          <a:xfrm>
            <a:off x="11187937"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rPr>
              <a:t>C2</a:t>
            </a:r>
            <a:endParaRPr lang="ko-KR" altLang="en-US" sz="900" b="1" dirty="0">
              <a:latin typeface="맑은 고딕" panose="020B0503020000020004" pitchFamily="50" charset="-127"/>
            </a:endParaRPr>
          </a:p>
        </p:txBody>
      </p:sp>
      <p:sp>
        <p:nvSpPr>
          <p:cNvPr id="38" name="모서리가 둥근 직사각형 37"/>
          <p:cNvSpPr/>
          <p:nvPr/>
        </p:nvSpPr>
        <p:spPr>
          <a:xfrm>
            <a:off x="8062711"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0453490"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9</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11250" y="1397380"/>
            <a:ext cx="5422899" cy="261610"/>
          </a:xfrm>
          <a:prstGeom prst="rect">
            <a:avLst/>
          </a:prstGeom>
          <a:noFill/>
        </p:spPr>
        <p:txBody>
          <a:bodyPr wrap="square" rtlCol="0">
            <a:spAutoFit/>
          </a:bodyPr>
          <a:lstStyle/>
          <a:p>
            <a:r>
              <a:rPr lang="en-US" altLang="ko-KR" sz="1100" dirty="0"/>
              <a:t>“Data</a:t>
            </a:r>
            <a:r>
              <a:rPr lang="ko-KR" altLang="en-US" sz="1100" dirty="0"/>
              <a:t> 종류 관계없이 </a:t>
            </a:r>
            <a:r>
              <a:rPr lang="ko-KR" altLang="en-US" sz="1100" dirty="0">
                <a:solidFill>
                  <a:srgbClr val="0066FF"/>
                </a:solidFill>
              </a:rPr>
              <a:t>메모리</a:t>
            </a:r>
            <a:r>
              <a:rPr lang="en-US" altLang="ko-KR" sz="1100" dirty="0">
                <a:solidFill>
                  <a:srgbClr val="0066FF"/>
                </a:solidFill>
              </a:rPr>
              <a:t> </a:t>
            </a:r>
            <a:r>
              <a:rPr lang="ko-KR" altLang="en-US" sz="1100" dirty="0">
                <a:solidFill>
                  <a:srgbClr val="0066FF"/>
                </a:solidFill>
              </a:rPr>
              <a:t>자원 상태</a:t>
            </a:r>
            <a:r>
              <a:rPr lang="en-US" altLang="ko-KR" sz="1100" dirty="0">
                <a:solidFill>
                  <a:srgbClr val="0066FF"/>
                </a:solidFill>
              </a:rPr>
              <a:t>(Capacity/BW/Load)</a:t>
            </a:r>
            <a:r>
              <a:rPr lang="ko-KR" altLang="en-US" sz="1100" dirty="0"/>
              <a:t>에 기반한 </a:t>
            </a:r>
            <a:r>
              <a:rPr lang="en-US" altLang="ko-KR" sz="1100" dirty="0"/>
              <a:t>Migration“</a:t>
            </a:r>
          </a:p>
        </p:txBody>
      </p:sp>
      <p:sp>
        <p:nvSpPr>
          <p:cNvPr id="106" name="TextBox 105"/>
          <p:cNvSpPr txBox="1"/>
          <p:nvPr/>
        </p:nvSpPr>
        <p:spPr>
          <a:xfrm>
            <a:off x="6534149" y="1383052"/>
            <a:ext cx="5448301" cy="261610"/>
          </a:xfrm>
          <a:prstGeom prst="rect">
            <a:avLst/>
          </a:prstGeom>
          <a:noFill/>
        </p:spPr>
        <p:txBody>
          <a:bodyPr wrap="square" rtlCol="0">
            <a:spAutoFit/>
          </a:bodyPr>
          <a:lstStyle/>
          <a:p>
            <a:r>
              <a:rPr lang="en-US" altLang="ko-KR" sz="1100" dirty="0"/>
              <a:t>“</a:t>
            </a:r>
            <a:r>
              <a:rPr lang="en-US" altLang="ko-KR" sz="1100" dirty="0">
                <a:solidFill>
                  <a:srgbClr val="0066FF"/>
                </a:solidFill>
              </a:rPr>
              <a:t>AI Data</a:t>
            </a:r>
            <a:r>
              <a:rPr lang="ko-KR" altLang="en-US" sz="1100" dirty="0">
                <a:solidFill>
                  <a:srgbClr val="0066FF"/>
                </a:solidFill>
              </a:rPr>
              <a:t> 특성</a:t>
            </a:r>
            <a:r>
              <a:rPr lang="en-US" altLang="ko-KR" sz="1100" dirty="0">
                <a:solidFill>
                  <a:srgbClr val="0066FF"/>
                </a:solidFill>
              </a:rPr>
              <a:t>(Type/Hotness/Lifetime/Agent Tool Info </a:t>
            </a:r>
            <a:r>
              <a:rPr lang="ko-KR" altLang="en-US" sz="1100" dirty="0">
                <a:solidFill>
                  <a:srgbClr val="0066FF"/>
                </a:solidFill>
              </a:rPr>
              <a:t>등</a:t>
            </a:r>
            <a:r>
              <a:rPr lang="en-US" altLang="ko-KR" sz="1100" dirty="0">
                <a:solidFill>
                  <a:srgbClr val="0066FF"/>
                </a:solidFill>
              </a:rPr>
              <a:t>)</a:t>
            </a:r>
            <a:r>
              <a:rPr lang="ko-KR" altLang="en-US" sz="1100" dirty="0"/>
              <a:t>에 기반한 </a:t>
            </a:r>
            <a:r>
              <a:rPr lang="en-US" altLang="ko-KR" sz="1100" dirty="0"/>
              <a:t>Migration“</a:t>
            </a:r>
            <a:endParaRPr lang="ko-KR" altLang="en-US" sz="1100" dirty="0"/>
          </a:p>
        </p:txBody>
      </p:sp>
      <p:sp>
        <p:nvSpPr>
          <p:cNvPr id="103" name="Shape 56">
            <a:extLst>
              <a:ext uri="{FF2B5EF4-FFF2-40B4-BE49-F238E27FC236}">
                <a16:creationId xmlns:a16="http://schemas.microsoft.com/office/drawing/2014/main" id="{33C7046D-072B-4A63-B8E3-E6FE269F4E83}"/>
              </a:ext>
            </a:extLst>
          </p:cNvPr>
          <p:cNvSpPr/>
          <p:nvPr/>
        </p:nvSpPr>
        <p:spPr>
          <a:xfrm>
            <a:off x="3727203" y="3812656"/>
            <a:ext cx="0" cy="0"/>
          </a:xfrm>
          <a:prstGeom prst="line">
            <a:avLst/>
          </a:prstGeom>
          <a:noFill/>
          <a:ln w="16510">
            <a:solidFill>
              <a:srgbClr val="4D7EA8"/>
            </a:solidFill>
            <a:prstDash val="solid"/>
            <a:headEnd type="none"/>
            <a:tailEnd type="none"/>
          </a:ln>
        </p:spPr>
      </p:sp>
      <p:sp>
        <p:nvSpPr>
          <p:cNvPr id="156" name="Shape 39">
            <a:extLst>
              <a:ext uri="{FF2B5EF4-FFF2-40B4-BE49-F238E27FC236}">
                <a16:creationId xmlns:a16="http://schemas.microsoft.com/office/drawing/2014/main" id="{F7D82DE9-0B6E-4CB1-A5F0-9E4D7591B816}"/>
              </a:ext>
            </a:extLst>
          </p:cNvPr>
          <p:cNvSpPr/>
          <p:nvPr/>
        </p:nvSpPr>
        <p:spPr>
          <a:xfrm>
            <a:off x="2538668" y="2963227"/>
            <a:ext cx="1149429" cy="338829"/>
          </a:xfrm>
          <a:prstGeom prst="rect">
            <a:avLst/>
          </a:prstGeom>
          <a:solidFill>
            <a:schemeClr val="accent1">
              <a:lumMod val="20000"/>
              <a:lumOff val="80000"/>
            </a:schemeClr>
          </a:solidFill>
          <a:ln w="12700">
            <a:solidFill>
              <a:srgbClr val="4D7EA8"/>
            </a:solidFill>
            <a:prstDash val="solid"/>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Resource-based Trend Analyzer</a:t>
            </a:r>
          </a:p>
        </p:txBody>
      </p:sp>
      <p:sp>
        <p:nvSpPr>
          <p:cNvPr id="157" name="Shape 37">
            <a:extLst>
              <a:ext uri="{FF2B5EF4-FFF2-40B4-BE49-F238E27FC236}">
                <a16:creationId xmlns:a16="http://schemas.microsoft.com/office/drawing/2014/main" id="{306B7634-9A5E-4F0E-A947-927E7282352F}"/>
              </a:ext>
            </a:extLst>
          </p:cNvPr>
          <p:cNvSpPr/>
          <p:nvPr/>
        </p:nvSpPr>
        <p:spPr>
          <a:xfrm>
            <a:off x="3210857" y="2280321"/>
            <a:ext cx="1147942" cy="326923"/>
          </a:xfrm>
          <a:prstGeom prst="rect">
            <a:avLst/>
          </a:prstGeom>
          <a:solidFill>
            <a:schemeClr val="accent1">
              <a:lumMod val="20000"/>
              <a:lumOff val="80000"/>
            </a:schemeClr>
          </a:solidFill>
          <a:ln w="12700">
            <a:solidFill>
              <a:srgbClr val="4D7EA8"/>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rPr>
              <a:t>Resource State Monitor</a:t>
            </a:r>
          </a:p>
        </p:txBody>
      </p:sp>
      <p:cxnSp>
        <p:nvCxnSpPr>
          <p:cNvPr id="160" name="직선 화살표 연결선 185">
            <a:extLst>
              <a:ext uri="{FF2B5EF4-FFF2-40B4-BE49-F238E27FC236}">
                <a16:creationId xmlns:a16="http://schemas.microsoft.com/office/drawing/2014/main" id="{63055888-A989-4681-8232-E5AD42EA4D88}"/>
              </a:ext>
            </a:extLst>
          </p:cNvPr>
          <p:cNvCxnSpPr>
            <a:cxnSpLocks/>
            <a:stCxn id="157" idx="2"/>
            <a:endCxn id="156" idx="0"/>
          </p:cNvCxnSpPr>
          <p:nvPr/>
        </p:nvCxnSpPr>
        <p:spPr>
          <a:xfrm rot="5400000">
            <a:off x="3271115" y="2449513"/>
            <a:ext cx="355983" cy="671445"/>
          </a:xfrm>
          <a:prstGeom prst="bentConnector3">
            <a:avLst>
              <a:gd name="adj1" fmla="val 50000"/>
            </a:avLst>
          </a:prstGeom>
          <a:noFill/>
          <a:ln w="11430">
            <a:solidFill>
              <a:schemeClr val="accent1"/>
            </a:solidFill>
            <a:prstDash val="solid"/>
            <a:headEnd type="none" w="med" len="med"/>
            <a:tailEnd type="triangle" w="med" len="med"/>
          </a:ln>
        </p:spPr>
      </p:cxnSp>
      <p:sp>
        <p:nvSpPr>
          <p:cNvPr id="164" name="Shape 39">
            <a:extLst>
              <a:ext uri="{FF2B5EF4-FFF2-40B4-BE49-F238E27FC236}">
                <a16:creationId xmlns:a16="http://schemas.microsoft.com/office/drawing/2014/main" id="{F7D82DE9-0B6E-4CB1-A5F0-9E4D7591B816}"/>
              </a:ext>
            </a:extLst>
          </p:cNvPr>
          <p:cNvSpPr/>
          <p:nvPr/>
        </p:nvSpPr>
        <p:spPr>
          <a:xfrm>
            <a:off x="3210114" y="4292156"/>
            <a:ext cx="1149429" cy="231425"/>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cs typeface="Malgun Gothic" pitchFamily="34" charset="-120"/>
              </a:rPr>
              <a:t>Migration Executor</a:t>
            </a:r>
          </a:p>
        </p:txBody>
      </p:sp>
      <p:sp>
        <p:nvSpPr>
          <p:cNvPr id="166" name="Shape 39">
            <a:extLst>
              <a:ext uri="{FF2B5EF4-FFF2-40B4-BE49-F238E27FC236}">
                <a16:creationId xmlns:a16="http://schemas.microsoft.com/office/drawing/2014/main" id="{F7D82DE9-0B6E-4CB1-A5F0-9E4D7591B816}"/>
              </a:ext>
            </a:extLst>
          </p:cNvPr>
          <p:cNvSpPr/>
          <p:nvPr/>
        </p:nvSpPr>
        <p:spPr>
          <a:xfrm>
            <a:off x="3874006" y="3565097"/>
            <a:ext cx="1149430" cy="338829"/>
          </a:xfrm>
          <a:prstGeom prst="rect">
            <a:avLst/>
          </a:prstGeom>
          <a:solidFill>
            <a:schemeClr val="accent1">
              <a:lumMod val="20000"/>
              <a:lumOff val="80000"/>
            </a:schemeClr>
          </a:solidFill>
          <a:ln w="12700">
            <a:solidFill>
              <a:srgbClr val="4D7EA8"/>
            </a:solidFill>
            <a:prstDash val="solid"/>
          </a:ln>
        </p:spPr>
        <p:txBody>
          <a:bodyPr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1A1A1A"/>
                </a:solidFill>
                <a:latin typeface="Malgun Gothic" pitchFamily="34" charset="0"/>
                <a:ea typeface="Malgun Gothic" pitchFamily="34" charset="-122"/>
                <a:cs typeface="Malgun Gothic" pitchFamily="34" charset="-120"/>
              </a:rPr>
              <a:t>Migration</a:t>
            </a:r>
            <a:r>
              <a:rPr kumimoji="0" lang="en-US" altLang="ko-KR" sz="9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rPr>
              <a:t> Data</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rPr>
              <a:t>Selector</a:t>
            </a:r>
          </a:p>
        </p:txBody>
      </p:sp>
      <p:sp>
        <p:nvSpPr>
          <p:cNvPr id="186" name="Shape 39">
            <a:extLst>
              <a:ext uri="{FF2B5EF4-FFF2-40B4-BE49-F238E27FC236}">
                <a16:creationId xmlns:a16="http://schemas.microsoft.com/office/drawing/2014/main" id="{F7D82DE9-0B6E-4CB1-A5F0-9E4D7591B816}"/>
              </a:ext>
            </a:extLst>
          </p:cNvPr>
          <p:cNvSpPr/>
          <p:nvPr/>
        </p:nvSpPr>
        <p:spPr>
          <a:xfrm>
            <a:off x="3874007" y="2961798"/>
            <a:ext cx="1149429" cy="338829"/>
          </a:xfrm>
          <a:prstGeom prst="rect">
            <a:avLst/>
          </a:prstGeom>
          <a:solidFill>
            <a:schemeClr val="accent1">
              <a:lumMod val="20000"/>
              <a:lumOff val="80000"/>
            </a:schemeClr>
          </a:solidFill>
          <a:ln w="12700">
            <a:solidFill>
              <a:srgbClr val="4D7EA8"/>
            </a:solidFill>
            <a:prstDash val="solid"/>
          </a:ln>
        </p:spPr>
        <p:txBody>
          <a:bodyPr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1A1A1A"/>
                </a:solidFill>
                <a:latin typeface="Malgun Gothic" pitchFamily="34" charset="0"/>
                <a:ea typeface="Malgun Gothic" pitchFamily="34" charset="-122"/>
                <a:cs typeface="Malgun Gothic" pitchFamily="34" charset="-120"/>
              </a:rPr>
              <a:t>Data Eviction Manager</a:t>
            </a:r>
            <a:endParaRPr kumimoji="0" lang="en-US" altLang="ko-KR" sz="9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endParaRPr>
          </a:p>
        </p:txBody>
      </p:sp>
      <p:cxnSp>
        <p:nvCxnSpPr>
          <p:cNvPr id="189" name="직선 화살표 연결선 185">
            <a:extLst>
              <a:ext uri="{FF2B5EF4-FFF2-40B4-BE49-F238E27FC236}">
                <a16:creationId xmlns:a16="http://schemas.microsoft.com/office/drawing/2014/main" id="{978083D3-9687-40FB-9182-FF0D3D8D7808}"/>
              </a:ext>
            </a:extLst>
          </p:cNvPr>
          <p:cNvCxnSpPr>
            <a:cxnSpLocks/>
            <a:stCxn id="186" idx="2"/>
            <a:endCxn id="166" idx="0"/>
          </p:cNvCxnSpPr>
          <p:nvPr/>
        </p:nvCxnSpPr>
        <p:spPr>
          <a:xfrm flipH="1">
            <a:off x="4448721" y="3300627"/>
            <a:ext cx="1" cy="264470"/>
          </a:xfrm>
          <a:prstGeom prst="straightConnector1">
            <a:avLst/>
          </a:prstGeom>
          <a:noFill/>
          <a:ln w="11430">
            <a:solidFill>
              <a:schemeClr val="accent1"/>
            </a:solidFill>
            <a:prstDash val="solid"/>
            <a:headEnd type="none"/>
            <a:tailEnd type="triangle"/>
          </a:ln>
        </p:spPr>
      </p:cxnSp>
      <p:cxnSp>
        <p:nvCxnSpPr>
          <p:cNvPr id="190" name="직선 화살표 연결선 185">
            <a:extLst>
              <a:ext uri="{FF2B5EF4-FFF2-40B4-BE49-F238E27FC236}">
                <a16:creationId xmlns:a16="http://schemas.microsoft.com/office/drawing/2014/main" id="{63055888-A989-4681-8232-E5AD42EA4D88}"/>
              </a:ext>
            </a:extLst>
          </p:cNvPr>
          <p:cNvCxnSpPr>
            <a:cxnSpLocks/>
            <a:stCxn id="157" idx="2"/>
            <a:endCxn id="186" idx="0"/>
          </p:cNvCxnSpPr>
          <p:nvPr/>
        </p:nvCxnSpPr>
        <p:spPr>
          <a:xfrm rot="16200000" flipH="1">
            <a:off x="3939498" y="2452574"/>
            <a:ext cx="354554" cy="663894"/>
          </a:xfrm>
          <a:prstGeom prst="bentConnector3">
            <a:avLst>
              <a:gd name="adj1" fmla="val 50000"/>
            </a:avLst>
          </a:prstGeom>
          <a:noFill/>
          <a:ln w="11430">
            <a:solidFill>
              <a:schemeClr val="accent1"/>
            </a:solidFill>
            <a:prstDash val="solid"/>
            <a:headEnd type="none" w="med" len="med"/>
            <a:tailEnd type="triangle" w="med" len="med"/>
          </a:ln>
        </p:spPr>
      </p:cxnSp>
      <p:sp>
        <p:nvSpPr>
          <p:cNvPr id="191" name="Shape 39">
            <a:extLst>
              <a:ext uri="{FF2B5EF4-FFF2-40B4-BE49-F238E27FC236}">
                <a16:creationId xmlns:a16="http://schemas.microsoft.com/office/drawing/2014/main" id="{F7D82DE9-0B6E-4CB1-A5F0-9E4D7591B816}"/>
              </a:ext>
            </a:extLst>
          </p:cNvPr>
          <p:cNvSpPr/>
          <p:nvPr/>
        </p:nvSpPr>
        <p:spPr>
          <a:xfrm>
            <a:off x="2538668" y="3564387"/>
            <a:ext cx="1149429" cy="338829"/>
          </a:xfrm>
          <a:prstGeom prst="rect">
            <a:avLst/>
          </a:prstGeom>
          <a:solidFill>
            <a:schemeClr val="accent1">
              <a:lumMod val="20000"/>
              <a:lumOff val="80000"/>
            </a:schemeClr>
          </a:solidFill>
          <a:ln w="12700">
            <a:solidFill>
              <a:srgbClr val="4D7EA8"/>
            </a:solidFill>
            <a:prstDash val="solid"/>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Destination Tier Selector</a:t>
            </a:r>
          </a:p>
        </p:txBody>
      </p:sp>
      <p:cxnSp>
        <p:nvCxnSpPr>
          <p:cNvPr id="192" name="직선 화살표 연결선 185">
            <a:extLst>
              <a:ext uri="{FF2B5EF4-FFF2-40B4-BE49-F238E27FC236}">
                <a16:creationId xmlns:a16="http://schemas.microsoft.com/office/drawing/2014/main" id="{63055888-A989-4681-8232-E5AD42EA4D88}"/>
              </a:ext>
            </a:extLst>
          </p:cNvPr>
          <p:cNvCxnSpPr>
            <a:cxnSpLocks/>
            <a:stCxn id="156" idx="2"/>
            <a:endCxn id="191" idx="0"/>
          </p:cNvCxnSpPr>
          <p:nvPr/>
        </p:nvCxnSpPr>
        <p:spPr>
          <a:xfrm>
            <a:off x="3113383" y="3302056"/>
            <a:ext cx="0" cy="262331"/>
          </a:xfrm>
          <a:prstGeom prst="straightConnector1">
            <a:avLst/>
          </a:prstGeom>
          <a:noFill/>
          <a:ln w="11430">
            <a:solidFill>
              <a:schemeClr val="accent1"/>
            </a:solidFill>
            <a:prstDash val="solid"/>
            <a:headEnd type="none" w="med" len="med"/>
            <a:tailEnd type="triangle" w="med" len="med"/>
          </a:ln>
        </p:spPr>
      </p:cxnSp>
      <p:cxnSp>
        <p:nvCxnSpPr>
          <p:cNvPr id="193" name="직선 화살표 연결선 185">
            <a:extLst>
              <a:ext uri="{FF2B5EF4-FFF2-40B4-BE49-F238E27FC236}">
                <a16:creationId xmlns:a16="http://schemas.microsoft.com/office/drawing/2014/main" id="{63055888-A989-4681-8232-E5AD42EA4D88}"/>
              </a:ext>
            </a:extLst>
          </p:cNvPr>
          <p:cNvCxnSpPr>
            <a:cxnSpLocks/>
            <a:stCxn id="191" idx="2"/>
            <a:endCxn id="164" idx="0"/>
          </p:cNvCxnSpPr>
          <p:nvPr/>
        </p:nvCxnSpPr>
        <p:spPr>
          <a:xfrm rot="16200000" flipH="1">
            <a:off x="3254636" y="3761963"/>
            <a:ext cx="388940" cy="671446"/>
          </a:xfrm>
          <a:prstGeom prst="bentConnector3">
            <a:avLst>
              <a:gd name="adj1" fmla="val 50000"/>
            </a:avLst>
          </a:prstGeom>
          <a:noFill/>
          <a:ln w="11430">
            <a:solidFill>
              <a:schemeClr val="accent1"/>
            </a:solidFill>
            <a:prstDash val="solid"/>
            <a:headEnd type="none" w="med" len="med"/>
            <a:tailEnd type="triangle" w="med" len="med"/>
          </a:ln>
        </p:spPr>
      </p:cxnSp>
      <p:cxnSp>
        <p:nvCxnSpPr>
          <p:cNvPr id="194" name="직선 화살표 연결선 185">
            <a:extLst>
              <a:ext uri="{FF2B5EF4-FFF2-40B4-BE49-F238E27FC236}">
                <a16:creationId xmlns:a16="http://schemas.microsoft.com/office/drawing/2014/main" id="{63055888-A989-4681-8232-E5AD42EA4D88}"/>
              </a:ext>
            </a:extLst>
          </p:cNvPr>
          <p:cNvCxnSpPr>
            <a:cxnSpLocks/>
            <a:stCxn id="166" idx="2"/>
            <a:endCxn id="164" idx="0"/>
          </p:cNvCxnSpPr>
          <p:nvPr/>
        </p:nvCxnSpPr>
        <p:spPr>
          <a:xfrm rot="5400000">
            <a:off x="3922660" y="3766095"/>
            <a:ext cx="388230" cy="663892"/>
          </a:xfrm>
          <a:prstGeom prst="bentConnector3">
            <a:avLst>
              <a:gd name="adj1" fmla="val 50000"/>
            </a:avLst>
          </a:prstGeom>
          <a:noFill/>
          <a:ln w="11430">
            <a:solidFill>
              <a:schemeClr val="accent1"/>
            </a:solidFill>
            <a:prstDash val="solid"/>
            <a:headEnd type="none" w="med" len="med"/>
            <a:tailEnd type="triangle" w="med" len="med"/>
          </a:ln>
        </p:spPr>
      </p:cxnSp>
      <p:sp>
        <p:nvSpPr>
          <p:cNvPr id="231" name="Shape 56">
            <a:extLst>
              <a:ext uri="{FF2B5EF4-FFF2-40B4-BE49-F238E27FC236}">
                <a16:creationId xmlns:a16="http://schemas.microsoft.com/office/drawing/2014/main" id="{33C7046D-072B-4A63-B8E3-E6FE269F4E83}"/>
              </a:ext>
            </a:extLst>
          </p:cNvPr>
          <p:cNvSpPr/>
          <p:nvPr/>
        </p:nvSpPr>
        <p:spPr>
          <a:xfrm>
            <a:off x="9208179" y="3812656"/>
            <a:ext cx="0" cy="0"/>
          </a:xfrm>
          <a:prstGeom prst="line">
            <a:avLst/>
          </a:prstGeom>
          <a:noFill/>
          <a:ln w="16510">
            <a:solidFill>
              <a:srgbClr val="4D7EA8"/>
            </a:solidFill>
            <a:prstDash val="solid"/>
            <a:headEnd type="none"/>
            <a:tailEnd type="none"/>
          </a:ln>
        </p:spPr>
      </p:sp>
      <p:sp>
        <p:nvSpPr>
          <p:cNvPr id="235" name="Shape 37">
            <a:extLst>
              <a:ext uri="{FF2B5EF4-FFF2-40B4-BE49-F238E27FC236}">
                <a16:creationId xmlns:a16="http://schemas.microsoft.com/office/drawing/2014/main" id="{306B7634-9A5E-4F0E-A947-927E7282352F}"/>
              </a:ext>
            </a:extLst>
          </p:cNvPr>
          <p:cNvSpPr/>
          <p:nvPr/>
        </p:nvSpPr>
        <p:spPr>
          <a:xfrm>
            <a:off x="8660389" y="2256335"/>
            <a:ext cx="1147942" cy="326923"/>
          </a:xfrm>
          <a:prstGeom prst="rect">
            <a:avLst/>
          </a:prstGeom>
          <a:solidFill>
            <a:schemeClr val="accent2">
              <a:lumMod val="20000"/>
              <a:lumOff val="80000"/>
            </a:schemeClr>
          </a:solidFill>
          <a:ln w="12700">
            <a:solidFill>
              <a:srgbClr val="C76E31"/>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cs typeface="Malgun Gothic" pitchFamily="34" charset="-120"/>
              </a:rPr>
              <a:t>Data Behavior Monitor</a:t>
            </a:r>
          </a:p>
        </p:txBody>
      </p:sp>
      <p:cxnSp>
        <p:nvCxnSpPr>
          <p:cNvPr id="236" name="직선 화살표 연결선 185">
            <a:extLst>
              <a:ext uri="{FF2B5EF4-FFF2-40B4-BE49-F238E27FC236}">
                <a16:creationId xmlns:a16="http://schemas.microsoft.com/office/drawing/2014/main" id="{63055888-A989-4681-8232-E5AD42EA4D88}"/>
              </a:ext>
            </a:extLst>
          </p:cNvPr>
          <p:cNvCxnSpPr>
            <a:cxnSpLocks/>
            <a:stCxn id="235" idx="2"/>
            <a:endCxn id="414" idx="0"/>
          </p:cNvCxnSpPr>
          <p:nvPr/>
        </p:nvCxnSpPr>
        <p:spPr>
          <a:xfrm>
            <a:off x="9234360" y="2583258"/>
            <a:ext cx="0" cy="161733"/>
          </a:xfrm>
          <a:prstGeom prst="straightConnector1">
            <a:avLst/>
          </a:prstGeom>
          <a:noFill/>
          <a:ln w="12700">
            <a:solidFill>
              <a:srgbClr val="C76E31"/>
            </a:solidFill>
            <a:prstDash val="solid"/>
            <a:headEnd type="none"/>
            <a:tailEnd type="triangle"/>
          </a:ln>
        </p:spPr>
      </p:cxnSp>
      <p:sp>
        <p:nvSpPr>
          <p:cNvPr id="237" name="Shape 39">
            <a:extLst>
              <a:ext uri="{FF2B5EF4-FFF2-40B4-BE49-F238E27FC236}">
                <a16:creationId xmlns:a16="http://schemas.microsoft.com/office/drawing/2014/main" id="{F7D82DE9-0B6E-4CB1-A5F0-9E4D7591B816}"/>
              </a:ext>
            </a:extLst>
          </p:cNvPr>
          <p:cNvSpPr/>
          <p:nvPr/>
        </p:nvSpPr>
        <p:spPr>
          <a:xfrm>
            <a:off x="8667632" y="4305657"/>
            <a:ext cx="1149429" cy="231425"/>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cs typeface="Malgun Gothic" pitchFamily="34" charset="-120"/>
              </a:rPr>
              <a:t>Migration Executor</a:t>
            </a:r>
          </a:p>
        </p:txBody>
      </p:sp>
      <p:cxnSp>
        <p:nvCxnSpPr>
          <p:cNvPr id="245" name="직선 화살표 연결선 185">
            <a:extLst>
              <a:ext uri="{FF2B5EF4-FFF2-40B4-BE49-F238E27FC236}">
                <a16:creationId xmlns:a16="http://schemas.microsoft.com/office/drawing/2014/main" id="{63055888-A989-4681-8232-E5AD42EA4D88}"/>
              </a:ext>
            </a:extLst>
          </p:cNvPr>
          <p:cNvCxnSpPr>
            <a:cxnSpLocks/>
            <a:stCxn id="421" idx="2"/>
            <a:endCxn id="237" idx="0"/>
          </p:cNvCxnSpPr>
          <p:nvPr/>
        </p:nvCxnSpPr>
        <p:spPr>
          <a:xfrm rot="16200000" flipH="1">
            <a:off x="8793027" y="3856337"/>
            <a:ext cx="179352" cy="719287"/>
          </a:xfrm>
          <a:prstGeom prst="bentConnector3">
            <a:avLst>
              <a:gd name="adj1" fmla="val 50000"/>
            </a:avLst>
          </a:prstGeom>
          <a:noFill/>
          <a:ln w="12700">
            <a:solidFill>
              <a:srgbClr val="C76E31"/>
            </a:solidFill>
            <a:prstDash val="solid"/>
            <a:headEnd type="none"/>
            <a:tailEnd type="triangle"/>
          </a:ln>
        </p:spPr>
      </p:cxnSp>
      <p:cxnSp>
        <p:nvCxnSpPr>
          <p:cNvPr id="246" name="직선 화살표 연결선 185">
            <a:extLst>
              <a:ext uri="{FF2B5EF4-FFF2-40B4-BE49-F238E27FC236}">
                <a16:creationId xmlns:a16="http://schemas.microsoft.com/office/drawing/2014/main" id="{63055888-A989-4681-8232-E5AD42EA4D88}"/>
              </a:ext>
            </a:extLst>
          </p:cNvPr>
          <p:cNvCxnSpPr>
            <a:cxnSpLocks/>
            <a:stCxn id="420" idx="2"/>
            <a:endCxn id="237" idx="0"/>
          </p:cNvCxnSpPr>
          <p:nvPr/>
        </p:nvCxnSpPr>
        <p:spPr>
          <a:xfrm rot="5400000">
            <a:off x="9538791" y="3829861"/>
            <a:ext cx="179352" cy="772240"/>
          </a:xfrm>
          <a:prstGeom prst="bentConnector3">
            <a:avLst>
              <a:gd name="adj1" fmla="val 50000"/>
            </a:avLst>
          </a:prstGeom>
          <a:noFill/>
          <a:ln w="12700">
            <a:solidFill>
              <a:srgbClr val="C76E31"/>
            </a:solidFill>
            <a:prstDash val="solid"/>
            <a:headEnd type="none"/>
            <a:tailEnd type="triangle"/>
          </a:ln>
        </p:spPr>
      </p:cxnSp>
      <p:sp>
        <p:nvSpPr>
          <p:cNvPr id="355" name="Shape 39">
            <a:extLst>
              <a:ext uri="{FF2B5EF4-FFF2-40B4-BE49-F238E27FC236}">
                <a16:creationId xmlns:a16="http://schemas.microsoft.com/office/drawing/2014/main" id="{F7D82DE9-0B6E-4CB1-A5F0-9E4D7591B816}"/>
              </a:ext>
            </a:extLst>
          </p:cNvPr>
          <p:cNvSpPr/>
          <p:nvPr/>
        </p:nvSpPr>
        <p:spPr>
          <a:xfrm>
            <a:off x="11009431" y="2705023"/>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lvl="0" algn="ctr"/>
            <a:r>
              <a:rPr lang="en-US" altLang="ko-KR" sz="900" b="1" dirty="0">
                <a:solidFill>
                  <a:prstClr val="white">
                    <a:lumMod val="65000"/>
                  </a:prstClr>
                </a:solidFill>
                <a:latin typeface="Malgun Gothic" pitchFamily="34" charset="0"/>
                <a:ea typeface="Malgun Gothic" pitchFamily="34" charset="-122"/>
                <a:cs typeface="Malgun Gothic" pitchFamily="34" charset="-120"/>
              </a:rPr>
              <a:t>KV Cache </a:t>
            </a:r>
          </a:p>
          <a:p>
            <a:pPr lvl="0" algn="ctr"/>
            <a:r>
              <a:rPr lang="en-US" altLang="ko-KR" sz="600" b="1" dirty="0">
                <a:solidFill>
                  <a:prstClr val="white">
                    <a:lumMod val="65000"/>
                  </a:prstClr>
                </a:solidFill>
                <a:latin typeface="Malgun Gothic" pitchFamily="34" charset="0"/>
                <a:ea typeface="Malgun Gothic" pitchFamily="34" charset="-122"/>
                <a:cs typeface="Malgun Gothic" pitchFamily="34" charset="-120"/>
              </a:rPr>
              <a:t>(Agent Memory)</a:t>
            </a:r>
          </a:p>
        </p:txBody>
      </p:sp>
      <p:sp>
        <p:nvSpPr>
          <p:cNvPr id="378" name="Shape 39">
            <a:extLst>
              <a:ext uri="{FF2B5EF4-FFF2-40B4-BE49-F238E27FC236}">
                <a16:creationId xmlns:a16="http://schemas.microsoft.com/office/drawing/2014/main" id="{F7D82DE9-0B6E-4CB1-A5F0-9E4D7591B816}"/>
              </a:ext>
            </a:extLst>
          </p:cNvPr>
          <p:cNvSpPr/>
          <p:nvPr/>
        </p:nvSpPr>
        <p:spPr>
          <a:xfrm>
            <a:off x="11009431" y="2381847"/>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a:solidFill>
                  <a:schemeClr val="bg1">
                    <a:lumMod val="65000"/>
                  </a:schemeClr>
                </a:solidFill>
                <a:latin typeface="Malgun Gothic" pitchFamily="34" charset="0"/>
                <a:ea typeface="Malgun Gothic" pitchFamily="34" charset="-122"/>
                <a:cs typeface="Malgun Gothic" pitchFamily="34" charset="-120"/>
              </a:rPr>
              <a:t>KV Cache </a:t>
            </a:r>
          </a:p>
          <a:p>
            <a:pPr algn="ctr"/>
            <a:r>
              <a:rPr lang="en-US" altLang="ko-KR" sz="600" b="1" dirty="0">
                <a:solidFill>
                  <a:schemeClr val="bg1">
                    <a:lumMod val="65000"/>
                  </a:schemeClr>
                </a:solidFill>
                <a:latin typeface="Malgun Gothic" pitchFamily="34" charset="0"/>
                <a:ea typeface="Malgun Gothic" pitchFamily="34" charset="-122"/>
                <a:cs typeface="Malgun Gothic" pitchFamily="34" charset="-120"/>
              </a:rPr>
              <a:t>(System Prompt)</a:t>
            </a:r>
          </a:p>
        </p:txBody>
      </p:sp>
      <p:sp>
        <p:nvSpPr>
          <p:cNvPr id="379" name="Shape 39">
            <a:extLst>
              <a:ext uri="{FF2B5EF4-FFF2-40B4-BE49-F238E27FC236}">
                <a16:creationId xmlns:a16="http://schemas.microsoft.com/office/drawing/2014/main" id="{F7D82DE9-0B6E-4CB1-A5F0-9E4D7591B816}"/>
              </a:ext>
            </a:extLst>
          </p:cNvPr>
          <p:cNvSpPr/>
          <p:nvPr/>
        </p:nvSpPr>
        <p:spPr>
          <a:xfrm>
            <a:off x="11009431" y="3028199"/>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err="1">
                <a:solidFill>
                  <a:schemeClr val="bg1">
                    <a:lumMod val="65000"/>
                  </a:schemeClr>
                </a:solidFill>
                <a:latin typeface="Malgun Gothic" pitchFamily="34" charset="0"/>
                <a:ea typeface="Malgun Gothic" pitchFamily="34" charset="-122"/>
                <a:cs typeface="Malgun Gothic" pitchFamily="34" charset="-120"/>
              </a:rPr>
              <a:t>LoRA</a:t>
            </a:r>
            <a:r>
              <a:rPr lang="en-US" altLang="ko-KR" sz="900" b="1" dirty="0">
                <a:solidFill>
                  <a:schemeClr val="bg1">
                    <a:lumMod val="65000"/>
                  </a:schemeClr>
                </a:solidFill>
                <a:latin typeface="Malgun Gothic" pitchFamily="34" charset="0"/>
                <a:ea typeface="Malgun Gothic" pitchFamily="34" charset="-122"/>
                <a:cs typeface="Malgun Gothic" pitchFamily="34" charset="-120"/>
              </a:rPr>
              <a:t> Adapter </a:t>
            </a:r>
          </a:p>
        </p:txBody>
      </p:sp>
      <p:sp>
        <p:nvSpPr>
          <p:cNvPr id="380" name="Shape 39">
            <a:extLst>
              <a:ext uri="{FF2B5EF4-FFF2-40B4-BE49-F238E27FC236}">
                <a16:creationId xmlns:a16="http://schemas.microsoft.com/office/drawing/2014/main" id="{F7D82DE9-0B6E-4CB1-A5F0-9E4D7591B816}"/>
              </a:ext>
            </a:extLst>
          </p:cNvPr>
          <p:cNvSpPr/>
          <p:nvPr/>
        </p:nvSpPr>
        <p:spPr>
          <a:xfrm>
            <a:off x="11009431" y="3351375"/>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err="1">
                <a:solidFill>
                  <a:schemeClr val="bg1">
                    <a:lumMod val="65000"/>
                  </a:schemeClr>
                </a:solidFill>
                <a:latin typeface="Malgun Gothic" pitchFamily="34" charset="0"/>
                <a:ea typeface="Malgun Gothic" pitchFamily="34" charset="-122"/>
                <a:cs typeface="Malgun Gothic" pitchFamily="34" charset="-120"/>
              </a:rPr>
              <a:t>MoE</a:t>
            </a:r>
            <a:r>
              <a:rPr lang="en-US" altLang="ko-KR" sz="900" b="1" dirty="0">
                <a:solidFill>
                  <a:schemeClr val="bg1">
                    <a:lumMod val="65000"/>
                  </a:schemeClr>
                </a:solidFill>
                <a:latin typeface="Malgun Gothic" pitchFamily="34" charset="0"/>
                <a:ea typeface="Malgun Gothic" pitchFamily="34" charset="-122"/>
                <a:cs typeface="Malgun Gothic" pitchFamily="34" charset="-120"/>
              </a:rPr>
              <a:t> Expert </a:t>
            </a:r>
          </a:p>
        </p:txBody>
      </p:sp>
      <p:sp>
        <p:nvSpPr>
          <p:cNvPr id="381" name="Shape 39">
            <a:extLst>
              <a:ext uri="{FF2B5EF4-FFF2-40B4-BE49-F238E27FC236}">
                <a16:creationId xmlns:a16="http://schemas.microsoft.com/office/drawing/2014/main" id="{F7D82DE9-0B6E-4CB1-A5F0-9E4D7591B816}"/>
              </a:ext>
            </a:extLst>
          </p:cNvPr>
          <p:cNvSpPr/>
          <p:nvPr/>
        </p:nvSpPr>
        <p:spPr>
          <a:xfrm>
            <a:off x="11009431" y="3674552"/>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a:solidFill>
                  <a:schemeClr val="bg1">
                    <a:lumMod val="65000"/>
                  </a:schemeClr>
                </a:solidFill>
                <a:latin typeface="Malgun Gothic" pitchFamily="34" charset="0"/>
                <a:ea typeface="Malgun Gothic" pitchFamily="34" charset="-122"/>
                <a:cs typeface="Malgun Gothic" pitchFamily="34" charset="-120"/>
              </a:rPr>
              <a:t>Vector </a:t>
            </a:r>
            <a:r>
              <a:rPr lang="en-US" altLang="ko-KR" sz="900" b="1" dirty="0" err="1">
                <a:solidFill>
                  <a:schemeClr val="bg1">
                    <a:lumMod val="65000"/>
                  </a:schemeClr>
                </a:solidFill>
                <a:latin typeface="Malgun Gothic" pitchFamily="34" charset="0"/>
                <a:ea typeface="Malgun Gothic" pitchFamily="34" charset="-122"/>
                <a:cs typeface="Malgun Gothic" pitchFamily="34" charset="-120"/>
              </a:rPr>
              <a:t>Idx</a:t>
            </a:r>
            <a:r>
              <a:rPr lang="en-US" altLang="ko-KR" sz="900" b="1" dirty="0">
                <a:solidFill>
                  <a:schemeClr val="bg1">
                    <a:lumMod val="65000"/>
                  </a:schemeClr>
                </a:solidFill>
                <a:latin typeface="Malgun Gothic" pitchFamily="34" charset="0"/>
                <a:ea typeface="Malgun Gothic" pitchFamily="34" charset="-122"/>
                <a:cs typeface="Malgun Gothic" pitchFamily="34" charset="-120"/>
              </a:rPr>
              <a:t> Cache</a:t>
            </a:r>
          </a:p>
        </p:txBody>
      </p:sp>
      <p:sp>
        <p:nvSpPr>
          <p:cNvPr id="385" name="Shape 37">
            <a:extLst>
              <a:ext uri="{FF2B5EF4-FFF2-40B4-BE49-F238E27FC236}">
                <a16:creationId xmlns:a16="http://schemas.microsoft.com/office/drawing/2014/main" id="{306B7634-9A5E-4F0E-A947-927E7282352F}"/>
              </a:ext>
            </a:extLst>
          </p:cNvPr>
          <p:cNvSpPr/>
          <p:nvPr/>
        </p:nvSpPr>
        <p:spPr>
          <a:xfrm>
            <a:off x="10432876" y="1930379"/>
            <a:ext cx="862466" cy="359615"/>
          </a:xfrm>
          <a:prstGeom prst="rect">
            <a:avLst/>
          </a:prstGeom>
          <a:solidFill>
            <a:schemeClr val="accent2">
              <a:lumMod val="20000"/>
              <a:lumOff val="80000"/>
            </a:schemeClr>
          </a:solidFill>
          <a:ln w="12700">
            <a:solidFill>
              <a:srgbClr val="C76E31"/>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cs typeface="Malgun Gothic" pitchFamily="34" charset="-120"/>
              </a:rPr>
              <a:t>Data</a:t>
            </a:r>
            <a:r>
              <a:rPr lang="ko-KR" altLang="en-US" sz="900" b="1" dirty="0">
                <a:solidFill>
                  <a:srgbClr val="1A1A1A"/>
                </a:solidFill>
                <a:latin typeface="Malgun Gothic" pitchFamily="34" charset="0"/>
                <a:ea typeface="Malgun Gothic" pitchFamily="34" charset="-122"/>
                <a:cs typeface="Malgun Gothic" pitchFamily="34" charset="-120"/>
              </a:rPr>
              <a:t> </a:t>
            </a:r>
            <a:r>
              <a:rPr lang="en-US" altLang="ko-KR" sz="900" b="1" dirty="0">
                <a:solidFill>
                  <a:srgbClr val="1A1A1A"/>
                </a:solidFill>
                <a:latin typeface="Malgun Gothic" pitchFamily="34" charset="0"/>
                <a:ea typeface="Malgun Gothic" pitchFamily="34" charset="-122"/>
                <a:cs typeface="Malgun Gothic" pitchFamily="34" charset="-120"/>
              </a:rPr>
              <a:t>Object</a:t>
            </a:r>
            <a:r>
              <a:rPr lang="ko-KR" altLang="en-US" sz="900" b="1" dirty="0">
                <a:solidFill>
                  <a:srgbClr val="1A1A1A"/>
                </a:solidFill>
                <a:latin typeface="Malgun Gothic" pitchFamily="34" charset="0"/>
                <a:ea typeface="Malgun Gothic" pitchFamily="34" charset="-122"/>
                <a:cs typeface="Malgun Gothic" pitchFamily="34" charset="-120"/>
              </a:rPr>
              <a:t> </a:t>
            </a:r>
            <a:r>
              <a:rPr lang="en-US" altLang="ko-KR" sz="900" b="1" dirty="0">
                <a:solidFill>
                  <a:srgbClr val="1A1A1A"/>
                </a:solidFill>
                <a:latin typeface="Malgun Gothic" pitchFamily="34" charset="0"/>
                <a:ea typeface="Malgun Gothic" pitchFamily="34" charset="-122"/>
                <a:cs typeface="Malgun Gothic" pitchFamily="34" charset="-120"/>
              </a:rPr>
              <a:t>Registry</a:t>
            </a:r>
          </a:p>
        </p:txBody>
      </p:sp>
      <p:cxnSp>
        <p:nvCxnSpPr>
          <p:cNvPr id="386" name="직선 화살표 연결선 185">
            <a:extLst>
              <a:ext uri="{FF2B5EF4-FFF2-40B4-BE49-F238E27FC236}">
                <a16:creationId xmlns:a16="http://schemas.microsoft.com/office/drawing/2014/main" id="{63055888-A989-4681-8232-E5AD42EA4D88}"/>
              </a:ext>
            </a:extLst>
          </p:cNvPr>
          <p:cNvCxnSpPr>
            <a:cxnSpLocks/>
            <a:stCxn id="235" idx="3"/>
            <a:endCxn id="385" idx="1"/>
          </p:cNvCxnSpPr>
          <p:nvPr/>
        </p:nvCxnSpPr>
        <p:spPr>
          <a:xfrm flipV="1">
            <a:off x="9808331" y="2110187"/>
            <a:ext cx="624545" cy="309610"/>
          </a:xfrm>
          <a:prstGeom prst="bentConnector3">
            <a:avLst>
              <a:gd name="adj1" fmla="val 50000"/>
            </a:avLst>
          </a:prstGeom>
          <a:noFill/>
          <a:ln w="12700">
            <a:solidFill>
              <a:srgbClr val="C76E31"/>
            </a:solidFill>
            <a:prstDash val="solid"/>
            <a:headEnd type="none"/>
            <a:tailEnd type="triangle"/>
          </a:ln>
        </p:spPr>
      </p:cxnSp>
      <p:cxnSp>
        <p:nvCxnSpPr>
          <p:cNvPr id="389" name="직선 화살표 연결선 185">
            <a:extLst>
              <a:ext uri="{FF2B5EF4-FFF2-40B4-BE49-F238E27FC236}">
                <a16:creationId xmlns:a16="http://schemas.microsoft.com/office/drawing/2014/main" id="{63055888-A989-4681-8232-E5AD42EA4D88}"/>
              </a:ext>
            </a:extLst>
          </p:cNvPr>
          <p:cNvCxnSpPr>
            <a:cxnSpLocks/>
            <a:stCxn id="385" idx="2"/>
            <a:endCxn id="378" idx="1"/>
          </p:cNvCxnSpPr>
          <p:nvPr/>
        </p:nvCxnSpPr>
        <p:spPr>
          <a:xfrm rot="16200000" flipH="1">
            <a:off x="10827202" y="2326901"/>
            <a:ext cx="219137" cy="145322"/>
          </a:xfrm>
          <a:prstGeom prst="bentConnector2">
            <a:avLst/>
          </a:prstGeom>
          <a:noFill/>
          <a:ln w="12700">
            <a:solidFill>
              <a:schemeClr val="accent2">
                <a:lumMod val="40000"/>
                <a:lumOff val="60000"/>
              </a:schemeClr>
            </a:solidFill>
            <a:prstDash val="solid"/>
            <a:headEnd type="none"/>
            <a:tailEnd type="triangle"/>
          </a:ln>
        </p:spPr>
      </p:cxnSp>
      <p:cxnSp>
        <p:nvCxnSpPr>
          <p:cNvPr id="392" name="직선 화살표 연결선 185">
            <a:extLst>
              <a:ext uri="{FF2B5EF4-FFF2-40B4-BE49-F238E27FC236}">
                <a16:creationId xmlns:a16="http://schemas.microsoft.com/office/drawing/2014/main" id="{63055888-A989-4681-8232-E5AD42EA4D88}"/>
              </a:ext>
            </a:extLst>
          </p:cNvPr>
          <p:cNvCxnSpPr>
            <a:cxnSpLocks/>
            <a:stCxn id="385" idx="2"/>
            <a:endCxn id="355" idx="1"/>
          </p:cNvCxnSpPr>
          <p:nvPr/>
        </p:nvCxnSpPr>
        <p:spPr>
          <a:xfrm rot="16200000" flipH="1">
            <a:off x="10665614" y="2488489"/>
            <a:ext cx="542313" cy="145322"/>
          </a:xfrm>
          <a:prstGeom prst="bentConnector2">
            <a:avLst/>
          </a:prstGeom>
          <a:noFill/>
          <a:ln w="12700">
            <a:solidFill>
              <a:schemeClr val="accent2">
                <a:lumMod val="40000"/>
                <a:lumOff val="60000"/>
              </a:schemeClr>
            </a:solidFill>
            <a:prstDash val="solid"/>
            <a:headEnd type="none"/>
            <a:tailEnd type="triangle"/>
          </a:ln>
        </p:spPr>
      </p:cxnSp>
      <p:cxnSp>
        <p:nvCxnSpPr>
          <p:cNvPr id="395" name="직선 화살표 연결선 185">
            <a:extLst>
              <a:ext uri="{FF2B5EF4-FFF2-40B4-BE49-F238E27FC236}">
                <a16:creationId xmlns:a16="http://schemas.microsoft.com/office/drawing/2014/main" id="{63055888-A989-4681-8232-E5AD42EA4D88}"/>
              </a:ext>
            </a:extLst>
          </p:cNvPr>
          <p:cNvCxnSpPr>
            <a:cxnSpLocks/>
            <a:stCxn id="385" idx="2"/>
            <a:endCxn id="379" idx="1"/>
          </p:cNvCxnSpPr>
          <p:nvPr/>
        </p:nvCxnSpPr>
        <p:spPr>
          <a:xfrm rot="16200000" flipH="1">
            <a:off x="10504026" y="2650077"/>
            <a:ext cx="865489" cy="145322"/>
          </a:xfrm>
          <a:prstGeom prst="bentConnector2">
            <a:avLst/>
          </a:prstGeom>
          <a:noFill/>
          <a:ln w="12700">
            <a:solidFill>
              <a:schemeClr val="accent2">
                <a:lumMod val="40000"/>
                <a:lumOff val="60000"/>
              </a:schemeClr>
            </a:solidFill>
            <a:prstDash val="solid"/>
            <a:headEnd type="none"/>
            <a:tailEnd type="triangle"/>
          </a:ln>
        </p:spPr>
      </p:cxnSp>
      <p:cxnSp>
        <p:nvCxnSpPr>
          <p:cNvPr id="398" name="직선 화살표 연결선 185">
            <a:extLst>
              <a:ext uri="{FF2B5EF4-FFF2-40B4-BE49-F238E27FC236}">
                <a16:creationId xmlns:a16="http://schemas.microsoft.com/office/drawing/2014/main" id="{63055888-A989-4681-8232-E5AD42EA4D88}"/>
              </a:ext>
            </a:extLst>
          </p:cNvPr>
          <p:cNvCxnSpPr>
            <a:cxnSpLocks/>
            <a:stCxn id="385" idx="2"/>
            <a:endCxn id="380" idx="1"/>
          </p:cNvCxnSpPr>
          <p:nvPr/>
        </p:nvCxnSpPr>
        <p:spPr>
          <a:xfrm rot="16200000" flipH="1">
            <a:off x="10342438" y="2811665"/>
            <a:ext cx="1188665" cy="145322"/>
          </a:xfrm>
          <a:prstGeom prst="bentConnector2">
            <a:avLst/>
          </a:prstGeom>
          <a:noFill/>
          <a:ln w="12700">
            <a:solidFill>
              <a:schemeClr val="accent2">
                <a:lumMod val="40000"/>
                <a:lumOff val="60000"/>
              </a:schemeClr>
            </a:solidFill>
            <a:prstDash val="solid"/>
            <a:headEnd type="none"/>
            <a:tailEnd type="triangle"/>
          </a:ln>
        </p:spPr>
      </p:cxnSp>
      <p:cxnSp>
        <p:nvCxnSpPr>
          <p:cNvPr id="401" name="직선 화살표 연결선 185">
            <a:extLst>
              <a:ext uri="{FF2B5EF4-FFF2-40B4-BE49-F238E27FC236}">
                <a16:creationId xmlns:a16="http://schemas.microsoft.com/office/drawing/2014/main" id="{63055888-A989-4681-8232-E5AD42EA4D88}"/>
              </a:ext>
            </a:extLst>
          </p:cNvPr>
          <p:cNvCxnSpPr>
            <a:cxnSpLocks/>
            <a:stCxn id="385" idx="2"/>
            <a:endCxn id="381" idx="1"/>
          </p:cNvCxnSpPr>
          <p:nvPr/>
        </p:nvCxnSpPr>
        <p:spPr>
          <a:xfrm rot="16200000" flipH="1">
            <a:off x="10180849" y="2973254"/>
            <a:ext cx="1511842" cy="145322"/>
          </a:xfrm>
          <a:prstGeom prst="bentConnector2">
            <a:avLst/>
          </a:prstGeom>
          <a:noFill/>
          <a:ln w="12700">
            <a:solidFill>
              <a:schemeClr val="accent2">
                <a:lumMod val="40000"/>
                <a:lumOff val="60000"/>
              </a:schemeClr>
            </a:solidFill>
            <a:prstDash val="solid"/>
            <a:headEnd type="none"/>
            <a:tailEnd type="triangle"/>
          </a:ln>
        </p:spPr>
      </p:cxnSp>
      <p:sp>
        <p:nvSpPr>
          <p:cNvPr id="414" name="Shape 37">
            <a:extLst>
              <a:ext uri="{FF2B5EF4-FFF2-40B4-BE49-F238E27FC236}">
                <a16:creationId xmlns:a16="http://schemas.microsoft.com/office/drawing/2014/main" id="{306B7634-9A5E-4F0E-A947-927E7282352F}"/>
              </a:ext>
            </a:extLst>
          </p:cNvPr>
          <p:cNvSpPr/>
          <p:nvPr/>
        </p:nvSpPr>
        <p:spPr>
          <a:xfrm>
            <a:off x="8660389" y="2744991"/>
            <a:ext cx="1147942" cy="326923"/>
          </a:xfrm>
          <a:prstGeom prst="rect">
            <a:avLst/>
          </a:prstGeom>
          <a:solidFill>
            <a:schemeClr val="accent2">
              <a:lumMod val="20000"/>
              <a:lumOff val="80000"/>
            </a:schemeClr>
          </a:solidFill>
          <a:ln w="12700">
            <a:solidFill>
              <a:srgbClr val="C76E31"/>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cs typeface="Malgun Gothic" pitchFamily="34" charset="-120"/>
              </a:rPr>
              <a:t>Behavior-based Trend Analyzer</a:t>
            </a:r>
          </a:p>
        </p:txBody>
      </p:sp>
      <p:sp>
        <p:nvSpPr>
          <p:cNvPr id="417" name="Shape 37">
            <a:extLst>
              <a:ext uri="{FF2B5EF4-FFF2-40B4-BE49-F238E27FC236}">
                <a16:creationId xmlns:a16="http://schemas.microsoft.com/office/drawing/2014/main" id="{306B7634-9A5E-4F0E-A947-927E7282352F}"/>
              </a:ext>
            </a:extLst>
          </p:cNvPr>
          <p:cNvSpPr/>
          <p:nvPr/>
        </p:nvSpPr>
        <p:spPr>
          <a:xfrm>
            <a:off x="8660389" y="3223571"/>
            <a:ext cx="1147942" cy="326923"/>
          </a:xfrm>
          <a:prstGeom prst="rect">
            <a:avLst/>
          </a:prstGeom>
          <a:solidFill>
            <a:schemeClr val="accent2">
              <a:lumMod val="20000"/>
              <a:lumOff val="80000"/>
            </a:schemeClr>
          </a:solidFill>
          <a:ln w="12700">
            <a:solidFill>
              <a:srgbClr val="C76E31"/>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cs typeface="Malgun Gothic" pitchFamily="34" charset="-120"/>
              </a:rPr>
              <a:t>Behavior Predictor</a:t>
            </a:r>
          </a:p>
        </p:txBody>
      </p:sp>
      <p:sp>
        <p:nvSpPr>
          <p:cNvPr id="420" name="Shape 37">
            <a:extLst>
              <a:ext uri="{FF2B5EF4-FFF2-40B4-BE49-F238E27FC236}">
                <a16:creationId xmlns:a16="http://schemas.microsoft.com/office/drawing/2014/main" id="{306B7634-9A5E-4F0E-A947-927E7282352F}"/>
              </a:ext>
            </a:extLst>
          </p:cNvPr>
          <p:cNvSpPr/>
          <p:nvPr/>
        </p:nvSpPr>
        <p:spPr>
          <a:xfrm>
            <a:off x="9440616" y="3799382"/>
            <a:ext cx="1147942" cy="326923"/>
          </a:xfrm>
          <a:prstGeom prst="rect">
            <a:avLst/>
          </a:prstGeom>
          <a:solidFill>
            <a:schemeClr val="accent2">
              <a:lumMod val="20000"/>
              <a:lumOff val="80000"/>
            </a:schemeClr>
          </a:solidFill>
          <a:ln w="12700">
            <a:solidFill>
              <a:srgbClr val="C76E31"/>
            </a:solidFill>
            <a:prstDash val="solid"/>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Migration Data</a:t>
            </a:r>
          </a:p>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Selector</a:t>
            </a:r>
          </a:p>
        </p:txBody>
      </p:sp>
      <p:sp>
        <p:nvSpPr>
          <p:cNvPr id="421" name="Shape 37">
            <a:extLst>
              <a:ext uri="{FF2B5EF4-FFF2-40B4-BE49-F238E27FC236}">
                <a16:creationId xmlns:a16="http://schemas.microsoft.com/office/drawing/2014/main" id="{306B7634-9A5E-4F0E-A947-927E7282352F}"/>
              </a:ext>
            </a:extLst>
          </p:cNvPr>
          <p:cNvSpPr/>
          <p:nvPr/>
        </p:nvSpPr>
        <p:spPr>
          <a:xfrm>
            <a:off x="7949089" y="3799382"/>
            <a:ext cx="1147942" cy="326923"/>
          </a:xfrm>
          <a:prstGeom prst="rect">
            <a:avLst/>
          </a:prstGeom>
          <a:solidFill>
            <a:schemeClr val="accent2">
              <a:lumMod val="20000"/>
              <a:lumOff val="80000"/>
            </a:schemeClr>
          </a:solidFill>
          <a:ln w="12700">
            <a:solidFill>
              <a:srgbClr val="C76E31"/>
            </a:solidFill>
            <a:prstDash val="solid"/>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Destination Tier Selector</a:t>
            </a:r>
          </a:p>
        </p:txBody>
      </p:sp>
      <p:cxnSp>
        <p:nvCxnSpPr>
          <p:cNvPr id="470" name="직선 화살표 연결선 185">
            <a:extLst>
              <a:ext uri="{FF2B5EF4-FFF2-40B4-BE49-F238E27FC236}">
                <a16:creationId xmlns:a16="http://schemas.microsoft.com/office/drawing/2014/main" id="{63055888-A989-4681-8232-E5AD42EA4D88}"/>
              </a:ext>
            </a:extLst>
          </p:cNvPr>
          <p:cNvCxnSpPr>
            <a:cxnSpLocks/>
            <a:stCxn id="414" idx="2"/>
            <a:endCxn id="417" idx="0"/>
          </p:cNvCxnSpPr>
          <p:nvPr/>
        </p:nvCxnSpPr>
        <p:spPr>
          <a:xfrm>
            <a:off x="9234360" y="3071914"/>
            <a:ext cx="0" cy="151657"/>
          </a:xfrm>
          <a:prstGeom prst="straightConnector1">
            <a:avLst/>
          </a:prstGeom>
          <a:noFill/>
          <a:ln w="12700">
            <a:solidFill>
              <a:srgbClr val="C76E31"/>
            </a:solidFill>
            <a:prstDash val="solid"/>
            <a:headEnd type="none"/>
            <a:tailEnd type="triangle"/>
          </a:ln>
        </p:spPr>
      </p:cxnSp>
      <p:cxnSp>
        <p:nvCxnSpPr>
          <p:cNvPr id="474" name="직선 화살표 연결선 185">
            <a:extLst>
              <a:ext uri="{FF2B5EF4-FFF2-40B4-BE49-F238E27FC236}">
                <a16:creationId xmlns:a16="http://schemas.microsoft.com/office/drawing/2014/main" id="{63055888-A989-4681-8232-E5AD42EA4D88}"/>
              </a:ext>
            </a:extLst>
          </p:cNvPr>
          <p:cNvCxnSpPr>
            <a:cxnSpLocks/>
            <a:stCxn id="417" idx="2"/>
            <a:endCxn id="420" idx="0"/>
          </p:cNvCxnSpPr>
          <p:nvPr/>
        </p:nvCxnSpPr>
        <p:spPr>
          <a:xfrm rot="16200000" flipH="1">
            <a:off x="9500029" y="3284824"/>
            <a:ext cx="248888" cy="780227"/>
          </a:xfrm>
          <a:prstGeom prst="bentConnector3">
            <a:avLst>
              <a:gd name="adj1" fmla="val 50000"/>
            </a:avLst>
          </a:prstGeom>
          <a:noFill/>
          <a:ln w="12700">
            <a:solidFill>
              <a:srgbClr val="C76E31"/>
            </a:solidFill>
            <a:prstDash val="solid"/>
            <a:headEnd type="none"/>
            <a:tailEnd type="triangle"/>
          </a:ln>
        </p:spPr>
      </p:cxnSp>
      <p:cxnSp>
        <p:nvCxnSpPr>
          <p:cNvPr id="477" name="직선 화살표 연결선 185">
            <a:extLst>
              <a:ext uri="{FF2B5EF4-FFF2-40B4-BE49-F238E27FC236}">
                <a16:creationId xmlns:a16="http://schemas.microsoft.com/office/drawing/2014/main" id="{63055888-A989-4681-8232-E5AD42EA4D88}"/>
              </a:ext>
            </a:extLst>
          </p:cNvPr>
          <p:cNvCxnSpPr>
            <a:cxnSpLocks/>
            <a:stCxn id="417" idx="2"/>
            <a:endCxn id="421" idx="0"/>
          </p:cNvCxnSpPr>
          <p:nvPr/>
        </p:nvCxnSpPr>
        <p:spPr>
          <a:xfrm rot="5400000">
            <a:off x="8754266" y="3319288"/>
            <a:ext cx="248888" cy="711300"/>
          </a:xfrm>
          <a:prstGeom prst="bentConnector3">
            <a:avLst>
              <a:gd name="adj1" fmla="val 50000"/>
            </a:avLst>
          </a:prstGeom>
          <a:noFill/>
          <a:ln w="12700">
            <a:solidFill>
              <a:srgbClr val="C76E31"/>
            </a:solidFill>
            <a:prstDash val="solid"/>
            <a:headEnd type="none"/>
            <a:tailEnd type="triangle"/>
          </a:ln>
        </p:spPr>
      </p:cxnSp>
      <p:grpSp>
        <p:nvGrpSpPr>
          <p:cNvPr id="525" name="그룹 524"/>
          <p:cNvGrpSpPr/>
          <p:nvPr/>
        </p:nvGrpSpPr>
        <p:grpSpPr>
          <a:xfrm>
            <a:off x="10951822" y="4005409"/>
            <a:ext cx="900294" cy="377838"/>
            <a:chOff x="11040384" y="4137943"/>
            <a:chExt cx="900294" cy="377838"/>
          </a:xfrm>
        </p:grpSpPr>
        <p:grpSp>
          <p:nvGrpSpPr>
            <p:cNvPr id="460" name="그룹 459"/>
            <p:cNvGrpSpPr/>
            <p:nvPr/>
          </p:nvGrpSpPr>
          <p:grpSpPr>
            <a:xfrm>
              <a:off x="11040384" y="4137943"/>
              <a:ext cx="788371" cy="258772"/>
              <a:chOff x="7752318" y="2902314"/>
              <a:chExt cx="686990" cy="258772"/>
            </a:xfrm>
          </p:grpSpPr>
          <p:sp>
            <p:nvSpPr>
              <p:cNvPr id="467" name="모서리가 접힌 도형 466"/>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8" name="직사각형 467">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Type</a:t>
                </a:r>
                <a:r>
                  <a:rPr lang="ko-KR" altLang="en-US" sz="600" dirty="0"/>
                  <a:t>별 </a:t>
                </a:r>
                <a:r>
                  <a:rPr lang="en-US" altLang="ko-KR" sz="600" dirty="0"/>
                  <a:t>Behavior </a:t>
                </a:r>
                <a:r>
                  <a:rPr lang="ko-KR" altLang="en-US" sz="600" dirty="0"/>
                  <a:t>로그</a:t>
                </a:r>
                <a:endParaRPr lang="en-US" altLang="ko-KR" sz="600" dirty="0"/>
              </a:p>
            </p:txBody>
          </p:sp>
        </p:grpSp>
        <p:grpSp>
          <p:nvGrpSpPr>
            <p:cNvPr id="461" name="그룹 460"/>
            <p:cNvGrpSpPr/>
            <p:nvPr/>
          </p:nvGrpSpPr>
          <p:grpSpPr>
            <a:xfrm>
              <a:off x="11068808" y="4168822"/>
              <a:ext cx="788371" cy="258772"/>
              <a:chOff x="7752318" y="2902314"/>
              <a:chExt cx="686990" cy="258772"/>
            </a:xfrm>
          </p:grpSpPr>
          <p:sp>
            <p:nvSpPr>
              <p:cNvPr id="465" name="모서리가 접힌 도형 464"/>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6" name="직사각형 465">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Type</a:t>
                </a:r>
                <a:r>
                  <a:rPr lang="ko-KR" altLang="en-US" sz="600" dirty="0"/>
                  <a:t>별 </a:t>
                </a:r>
                <a:r>
                  <a:rPr lang="en-US" altLang="ko-KR" sz="600" dirty="0"/>
                  <a:t>Behavior </a:t>
                </a:r>
                <a:r>
                  <a:rPr lang="ko-KR" altLang="en-US" sz="600" dirty="0"/>
                  <a:t>로그</a:t>
                </a:r>
                <a:endParaRPr lang="en-US" altLang="ko-KR" sz="600" dirty="0"/>
              </a:p>
            </p:txBody>
          </p:sp>
        </p:grpSp>
        <p:grpSp>
          <p:nvGrpSpPr>
            <p:cNvPr id="462" name="그룹 461"/>
            <p:cNvGrpSpPr/>
            <p:nvPr/>
          </p:nvGrpSpPr>
          <p:grpSpPr>
            <a:xfrm>
              <a:off x="11099474" y="4196592"/>
              <a:ext cx="788371" cy="258772"/>
              <a:chOff x="7752318" y="2902314"/>
              <a:chExt cx="686990" cy="258772"/>
            </a:xfrm>
          </p:grpSpPr>
          <p:sp>
            <p:nvSpPr>
              <p:cNvPr id="463" name="모서리가 접힌 도형 462"/>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4" name="직사각형 463">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Class</a:t>
                </a:r>
                <a:r>
                  <a:rPr lang="ko-KR" altLang="en-US" sz="600" dirty="0"/>
                  <a:t>별 </a:t>
                </a:r>
                <a:r>
                  <a:rPr lang="en-US" altLang="ko-KR" sz="600" dirty="0"/>
                  <a:t>Metadata</a:t>
                </a:r>
              </a:p>
            </p:txBody>
          </p:sp>
        </p:grpSp>
        <p:grpSp>
          <p:nvGrpSpPr>
            <p:cNvPr id="519" name="그룹 518"/>
            <p:cNvGrpSpPr/>
            <p:nvPr/>
          </p:nvGrpSpPr>
          <p:grpSpPr>
            <a:xfrm>
              <a:off x="11124641" y="4226530"/>
              <a:ext cx="788371" cy="258772"/>
              <a:chOff x="7752318" y="2902314"/>
              <a:chExt cx="686990" cy="258772"/>
            </a:xfrm>
          </p:grpSpPr>
          <p:sp>
            <p:nvSpPr>
              <p:cNvPr id="520" name="모서리가 접힌 도형 519"/>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1" name="직사각형 520">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Class</a:t>
                </a:r>
                <a:r>
                  <a:rPr lang="ko-KR" altLang="en-US" sz="600" dirty="0"/>
                  <a:t>별 </a:t>
                </a:r>
                <a:r>
                  <a:rPr lang="en-US" altLang="ko-KR" sz="600" dirty="0"/>
                  <a:t>Metadata</a:t>
                </a:r>
              </a:p>
            </p:txBody>
          </p:sp>
        </p:grpSp>
        <p:grpSp>
          <p:nvGrpSpPr>
            <p:cNvPr id="522" name="그룹 521"/>
            <p:cNvGrpSpPr/>
            <p:nvPr/>
          </p:nvGrpSpPr>
          <p:grpSpPr>
            <a:xfrm>
              <a:off x="11152307" y="4257009"/>
              <a:ext cx="788371" cy="258772"/>
              <a:chOff x="7752318" y="2902314"/>
              <a:chExt cx="686990" cy="258772"/>
            </a:xfrm>
          </p:grpSpPr>
          <p:sp>
            <p:nvSpPr>
              <p:cNvPr id="523" name="모서리가 접힌 도형 522"/>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4" name="직사각형 523">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Class</a:t>
                </a:r>
                <a:r>
                  <a:rPr lang="ko-KR" altLang="en-US" sz="600" dirty="0"/>
                  <a:t>별 </a:t>
                </a:r>
                <a:r>
                  <a:rPr lang="en-US" altLang="ko-KR" sz="600" dirty="0"/>
                  <a:t>Metadata</a:t>
                </a:r>
              </a:p>
            </p:txBody>
          </p:sp>
        </p:grpSp>
      </p:grpSp>
      <p:grpSp>
        <p:nvGrpSpPr>
          <p:cNvPr id="94" name="그룹 93"/>
          <p:cNvGrpSpPr/>
          <p:nvPr/>
        </p:nvGrpSpPr>
        <p:grpSpPr>
          <a:xfrm>
            <a:off x="6714984" y="2381847"/>
            <a:ext cx="923728" cy="1562691"/>
            <a:chOff x="6714984" y="2178070"/>
            <a:chExt cx="923728" cy="1562691"/>
          </a:xfrm>
        </p:grpSpPr>
        <p:grpSp>
          <p:nvGrpSpPr>
            <p:cNvPr id="487" name="그룹 486"/>
            <p:cNvGrpSpPr/>
            <p:nvPr/>
          </p:nvGrpSpPr>
          <p:grpSpPr>
            <a:xfrm>
              <a:off x="6714984" y="2178070"/>
              <a:ext cx="923728" cy="1562691"/>
              <a:chOff x="5405727" y="1845809"/>
              <a:chExt cx="1016101" cy="1562691"/>
            </a:xfrm>
          </p:grpSpPr>
          <p:sp>
            <p:nvSpPr>
              <p:cNvPr id="488" name="Shape 59">
                <a:extLst>
                  <a:ext uri="{FF2B5EF4-FFF2-40B4-BE49-F238E27FC236}">
                    <a16:creationId xmlns:a16="http://schemas.microsoft.com/office/drawing/2014/main" id="{67748352-D195-48A3-8563-9385B634D68C}"/>
                  </a:ext>
                </a:extLst>
              </p:cNvPr>
              <p:cNvSpPr/>
              <p:nvPr/>
            </p:nvSpPr>
            <p:spPr>
              <a:xfrm>
                <a:off x="5405727" y="1845809"/>
                <a:ext cx="1016101" cy="1562691"/>
              </a:xfrm>
              <a:prstGeom prst="rect">
                <a:avLst/>
              </a:prstGeom>
              <a:solidFill>
                <a:srgbClr val="F0F1F3"/>
              </a:solidFill>
              <a:ln w="12700">
                <a:solidFill>
                  <a:srgbClr val="888C91"/>
                </a:solidFill>
                <a:prstDash val="solid"/>
              </a:ln>
            </p:spPr>
            <p:txBody>
              <a:bodyPr/>
              <a:lstStyle/>
              <a:p>
                <a:pPr algn="ctr"/>
                <a:r>
                  <a:rPr lang="en-US" altLang="ko-KR" sz="1000" dirty="0"/>
                  <a:t>Resource Manager</a:t>
                </a:r>
                <a:endParaRPr lang="ko-KR" altLang="en-US" sz="1000" dirty="0"/>
              </a:p>
            </p:txBody>
          </p:sp>
          <p:sp>
            <p:nvSpPr>
              <p:cNvPr id="489" name="Shape 37">
                <a:extLst>
                  <a:ext uri="{FF2B5EF4-FFF2-40B4-BE49-F238E27FC236}">
                    <a16:creationId xmlns:a16="http://schemas.microsoft.com/office/drawing/2014/main" id="{306B7634-9A5E-4F0E-A947-927E7282352F}"/>
                  </a:ext>
                </a:extLst>
              </p:cNvPr>
              <p:cNvSpPr/>
              <p:nvPr/>
            </p:nvSpPr>
            <p:spPr>
              <a:xfrm>
                <a:off x="5542708" y="2375033"/>
                <a:ext cx="761643" cy="297203"/>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Telemetry Collector</a:t>
                </a:r>
              </a:p>
            </p:txBody>
          </p:sp>
        </p:grpSp>
        <p:grpSp>
          <p:nvGrpSpPr>
            <p:cNvPr id="605" name="그룹 604"/>
            <p:cNvGrpSpPr/>
            <p:nvPr/>
          </p:nvGrpSpPr>
          <p:grpSpPr>
            <a:xfrm>
              <a:off x="6826503" y="3194948"/>
              <a:ext cx="686996" cy="384167"/>
              <a:chOff x="1394212" y="2799554"/>
              <a:chExt cx="686996" cy="384167"/>
            </a:xfrm>
          </p:grpSpPr>
          <p:sp>
            <p:nvSpPr>
              <p:cNvPr id="606" name="Shape 35">
                <a:extLst>
                  <a:ext uri="{FF2B5EF4-FFF2-40B4-BE49-F238E27FC236}">
                    <a16:creationId xmlns:a16="http://schemas.microsoft.com/office/drawing/2014/main" id="{2AF637AF-E433-47AC-BA4E-9F7E3C334277}"/>
                  </a:ext>
                </a:extLst>
              </p:cNvPr>
              <p:cNvSpPr/>
              <p:nvPr/>
            </p:nvSpPr>
            <p:spPr>
              <a:xfrm>
                <a:off x="1394212" y="2799554"/>
                <a:ext cx="686996" cy="384167"/>
              </a:xfrm>
              <a:prstGeom prst="can">
                <a:avLst/>
              </a:prstGeom>
              <a:solidFill>
                <a:srgbClr val="F0F1F3"/>
              </a:solidFill>
              <a:ln w="12700">
                <a:solidFill>
                  <a:srgbClr val="888C91"/>
                </a:solidFill>
                <a:prstDash val="solid"/>
              </a:ln>
            </p:spPr>
            <p:txBody>
              <a:bodyPr/>
              <a:lstStyle/>
              <a:p>
                <a:endParaRPr lang="ko-KR" altLang="en-US" dirty="0"/>
              </a:p>
            </p:txBody>
          </p:sp>
          <p:sp>
            <p:nvSpPr>
              <p:cNvPr id="607" name="직사각형 606">
                <a:extLst>
                  <a:ext uri="{FF2B5EF4-FFF2-40B4-BE49-F238E27FC236}">
                    <a16:creationId xmlns:a16="http://schemas.microsoft.com/office/drawing/2014/main" id="{1F732118-666E-4542-8530-F6AD2A384259}"/>
                  </a:ext>
                </a:extLst>
              </p:cNvPr>
              <p:cNvSpPr/>
              <p:nvPr/>
            </p:nvSpPr>
            <p:spPr>
              <a:xfrm>
                <a:off x="1439012" y="2874371"/>
                <a:ext cx="611259" cy="269641"/>
              </a:xfrm>
              <a:prstGeom prst="rect">
                <a:avLst/>
              </a:prstGeom>
              <a:noFill/>
              <a:ln w="12700">
                <a:noFill/>
                <a:prstDash val="dash"/>
              </a:ln>
            </p:spPr>
            <p:txBody>
              <a:bodyPr rtlCol="0" anchor="ctr"/>
              <a:lstStyle/>
              <a:p>
                <a:pPr algn="ctr"/>
                <a:r>
                  <a:rPr lang="en-US" altLang="ko-KR" sz="800" dirty="0">
                    <a:solidFill>
                      <a:srgbClr val="1A1A1A"/>
                    </a:solidFill>
                    <a:latin typeface="Malgun Gothic" pitchFamily="34" charset="0"/>
                    <a:ea typeface="Malgun Gothic" pitchFamily="34" charset="-122"/>
                    <a:cs typeface="Malgun Gothic" pitchFamily="34" charset="-120"/>
                  </a:rPr>
                  <a:t>Memory</a:t>
                </a:r>
                <a:endParaRPr lang="en-US" altLang="ko-KR" sz="800" dirty="0"/>
              </a:p>
              <a:p>
                <a:pPr algn="ctr"/>
                <a:r>
                  <a:rPr lang="en-US" altLang="ko-KR" sz="800" dirty="0">
                    <a:solidFill>
                      <a:srgbClr val="1A1A1A"/>
                    </a:solidFill>
                    <a:latin typeface="Malgun Gothic" pitchFamily="34" charset="0"/>
                    <a:ea typeface="Malgun Gothic" pitchFamily="34" charset="-122"/>
                    <a:cs typeface="Malgun Gothic" pitchFamily="34" charset="-120"/>
                  </a:rPr>
                  <a:t>Registry</a:t>
                </a:r>
                <a:endParaRPr lang="en-US" altLang="ko-KR" sz="800" dirty="0"/>
              </a:p>
            </p:txBody>
          </p:sp>
        </p:grpSp>
      </p:grpSp>
      <p:cxnSp>
        <p:nvCxnSpPr>
          <p:cNvPr id="609" name="직선 화살표 연결선 185">
            <a:extLst>
              <a:ext uri="{FF2B5EF4-FFF2-40B4-BE49-F238E27FC236}">
                <a16:creationId xmlns:a16="http://schemas.microsoft.com/office/drawing/2014/main" id="{C77B044C-CFD5-4C99-9B08-C9CDFDD38AC5}"/>
              </a:ext>
            </a:extLst>
          </p:cNvPr>
          <p:cNvCxnSpPr>
            <a:cxnSpLocks/>
            <a:stCxn id="421" idx="1"/>
            <a:endCxn id="606" idx="4"/>
          </p:cNvCxnSpPr>
          <p:nvPr/>
        </p:nvCxnSpPr>
        <p:spPr>
          <a:xfrm rot="10800000">
            <a:off x="7513499" y="3590810"/>
            <a:ext cx="435590" cy="372035"/>
          </a:xfrm>
          <a:prstGeom prst="bentConnector3">
            <a:avLst>
              <a:gd name="adj1" fmla="val 50000"/>
            </a:avLst>
          </a:prstGeom>
          <a:noFill/>
          <a:ln w="6350">
            <a:solidFill>
              <a:srgbClr val="888C91"/>
            </a:solidFill>
            <a:prstDash val="solid"/>
            <a:headEnd type="none"/>
            <a:tailEnd type="triangle"/>
          </a:ln>
        </p:spPr>
      </p:cxn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34" name="Shape 37">
            <a:extLst>
              <a:ext uri="{FF2B5EF4-FFF2-40B4-BE49-F238E27FC236}">
                <a16:creationId xmlns:a16="http://schemas.microsoft.com/office/drawing/2014/main" id="{306B7634-9A5E-4F0E-A947-927E7282352F}"/>
              </a:ext>
            </a:extLst>
          </p:cNvPr>
          <p:cNvSpPr/>
          <p:nvPr/>
        </p:nvSpPr>
        <p:spPr>
          <a:xfrm>
            <a:off x="5448132" y="2036658"/>
            <a:ext cx="948713" cy="359615"/>
          </a:xfrm>
          <a:prstGeom prst="rect">
            <a:avLst/>
          </a:prstGeom>
          <a:solidFill>
            <a:schemeClr val="accent1">
              <a:lumMod val="20000"/>
              <a:lumOff val="80000"/>
            </a:schemeClr>
          </a:solidFill>
          <a:ln w="12700">
            <a:solidFill>
              <a:srgbClr val="4D7EA8"/>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rPr>
              <a:t>Data Object Registry</a:t>
            </a:r>
          </a:p>
        </p:txBody>
      </p:sp>
      <p:cxnSp>
        <p:nvCxnSpPr>
          <p:cNvPr id="135" name="직선 화살표 연결선 185">
            <a:extLst>
              <a:ext uri="{FF2B5EF4-FFF2-40B4-BE49-F238E27FC236}">
                <a16:creationId xmlns:a16="http://schemas.microsoft.com/office/drawing/2014/main" id="{978083D3-9687-40FB-9182-FF0D3D8D7808}"/>
              </a:ext>
            </a:extLst>
          </p:cNvPr>
          <p:cNvCxnSpPr>
            <a:cxnSpLocks/>
            <a:stCxn id="186" idx="3"/>
            <a:endCxn id="134" idx="1"/>
          </p:cNvCxnSpPr>
          <p:nvPr/>
        </p:nvCxnSpPr>
        <p:spPr>
          <a:xfrm flipV="1">
            <a:off x="5023436" y="2216466"/>
            <a:ext cx="424696" cy="914747"/>
          </a:xfrm>
          <a:prstGeom prst="bentConnector3">
            <a:avLst>
              <a:gd name="adj1" fmla="val 50000"/>
            </a:avLst>
          </a:prstGeom>
          <a:noFill/>
          <a:ln w="11430">
            <a:solidFill>
              <a:schemeClr val="accent1"/>
            </a:solidFill>
            <a:prstDash val="solid"/>
            <a:headEnd type="none"/>
            <a:tailEnd type="triangle"/>
          </a:ln>
        </p:spPr>
      </p:cxnSp>
      <p:sp>
        <p:nvSpPr>
          <p:cNvPr id="162" name="직사각형 161">
            <a:extLst>
              <a:ext uri="{FF2B5EF4-FFF2-40B4-BE49-F238E27FC236}">
                <a16:creationId xmlns:a16="http://schemas.microsoft.com/office/drawing/2014/main" id="{1F732118-666E-4542-8530-F6AD2A384259}"/>
              </a:ext>
            </a:extLst>
          </p:cNvPr>
          <p:cNvSpPr/>
          <p:nvPr/>
        </p:nvSpPr>
        <p:spPr>
          <a:xfrm>
            <a:off x="5451058" y="2431582"/>
            <a:ext cx="941068" cy="186773"/>
          </a:xfrm>
          <a:prstGeom prst="rect">
            <a:avLst/>
          </a:prstGeom>
          <a:noFill/>
          <a:ln w="12700">
            <a:noFill/>
            <a:prstDash val="dash"/>
          </a:ln>
        </p:spPr>
        <p:txBody>
          <a:bodyPr rtlCol="0" anchor="ctr"/>
          <a:lstStyle/>
          <a:p>
            <a:r>
              <a:rPr lang="ko-KR" altLang="en-US" sz="700" dirty="0" err="1">
                <a:solidFill>
                  <a:schemeClr val="bg1">
                    <a:lumMod val="50000"/>
                  </a:schemeClr>
                </a:solidFill>
              </a:rPr>
              <a:t>위치∙크기</a:t>
            </a:r>
            <a:r>
              <a:rPr lang="ko-KR" altLang="en-US" sz="700" dirty="0">
                <a:solidFill>
                  <a:schemeClr val="bg1">
                    <a:lumMod val="50000"/>
                  </a:schemeClr>
                </a:solidFill>
              </a:rPr>
              <a:t>∙</a:t>
            </a:r>
            <a:r>
              <a:rPr lang="en-US" altLang="ko-KR" sz="700" dirty="0">
                <a:solidFill>
                  <a:schemeClr val="bg1">
                    <a:lumMod val="50000"/>
                  </a:schemeClr>
                </a:solidFill>
              </a:rPr>
              <a:t>tier </a:t>
            </a:r>
            <a:r>
              <a:rPr lang="ko-KR" altLang="en-US" sz="700" dirty="0">
                <a:solidFill>
                  <a:schemeClr val="bg1">
                    <a:lumMod val="50000"/>
                  </a:schemeClr>
                </a:solidFill>
              </a:rPr>
              <a:t>조회</a:t>
            </a:r>
            <a:endParaRPr lang="en-US" altLang="ko-KR" sz="700" dirty="0">
              <a:solidFill>
                <a:schemeClr val="bg1">
                  <a:lumMod val="50000"/>
                </a:schemeClr>
              </a:solidFill>
            </a:endParaRPr>
          </a:p>
        </p:txBody>
      </p:sp>
      <p:grpSp>
        <p:nvGrpSpPr>
          <p:cNvPr id="478" name="그룹 477"/>
          <p:cNvGrpSpPr/>
          <p:nvPr/>
        </p:nvGrpSpPr>
        <p:grpSpPr>
          <a:xfrm>
            <a:off x="1225081" y="2413112"/>
            <a:ext cx="927192" cy="1590324"/>
            <a:chOff x="1235467" y="2693125"/>
            <a:chExt cx="923728" cy="1590324"/>
          </a:xfrm>
        </p:grpSpPr>
        <p:sp>
          <p:nvSpPr>
            <p:cNvPr id="577" name="Shape 59">
              <a:extLst>
                <a:ext uri="{FF2B5EF4-FFF2-40B4-BE49-F238E27FC236}">
                  <a16:creationId xmlns:a16="http://schemas.microsoft.com/office/drawing/2014/main" id="{67748352-D195-48A3-8563-9385B634D68C}"/>
                </a:ext>
              </a:extLst>
            </p:cNvPr>
            <p:cNvSpPr/>
            <p:nvPr/>
          </p:nvSpPr>
          <p:spPr>
            <a:xfrm>
              <a:off x="1235467" y="2693125"/>
              <a:ext cx="923728" cy="1590324"/>
            </a:xfrm>
            <a:prstGeom prst="rect">
              <a:avLst/>
            </a:prstGeom>
            <a:solidFill>
              <a:srgbClr val="F0F1F3"/>
            </a:solidFill>
            <a:ln w="12700">
              <a:solidFill>
                <a:srgbClr val="888C91"/>
              </a:solidFill>
              <a:prstDash val="solid"/>
            </a:ln>
          </p:spPr>
          <p:txBody>
            <a:bodyPr/>
            <a:lstStyle/>
            <a:p>
              <a:pPr algn="ctr"/>
              <a:r>
                <a:rPr lang="en-US" altLang="ko-KR" sz="1000" dirty="0"/>
                <a:t>Resource Manager</a:t>
              </a:r>
              <a:endParaRPr lang="ko-KR" altLang="en-US" sz="1000" dirty="0"/>
            </a:p>
          </p:txBody>
        </p:sp>
        <p:grpSp>
          <p:nvGrpSpPr>
            <p:cNvPr id="568" name="그룹 567"/>
            <p:cNvGrpSpPr/>
            <p:nvPr/>
          </p:nvGrpSpPr>
          <p:grpSpPr>
            <a:xfrm>
              <a:off x="1320700" y="3738511"/>
              <a:ext cx="721126" cy="384167"/>
              <a:chOff x="1377148" y="2666713"/>
              <a:chExt cx="721126" cy="384167"/>
            </a:xfrm>
          </p:grpSpPr>
          <p:sp>
            <p:nvSpPr>
              <p:cNvPr id="566" name="Shape 35">
                <a:extLst>
                  <a:ext uri="{FF2B5EF4-FFF2-40B4-BE49-F238E27FC236}">
                    <a16:creationId xmlns:a16="http://schemas.microsoft.com/office/drawing/2014/main" id="{2AF637AF-E433-47AC-BA4E-9F7E3C334277}"/>
                  </a:ext>
                </a:extLst>
              </p:cNvPr>
              <p:cNvSpPr/>
              <p:nvPr/>
            </p:nvSpPr>
            <p:spPr>
              <a:xfrm>
                <a:off x="1394211" y="2666713"/>
                <a:ext cx="686998" cy="384167"/>
              </a:xfrm>
              <a:prstGeom prst="can">
                <a:avLst/>
              </a:prstGeom>
              <a:solidFill>
                <a:srgbClr val="F0F1F3"/>
              </a:solidFill>
              <a:ln w="12700">
                <a:solidFill>
                  <a:srgbClr val="888C91"/>
                </a:solidFill>
                <a:prstDash val="solid"/>
              </a:ln>
            </p:spPr>
            <p:txBody>
              <a:bodyPr/>
              <a:lstStyle/>
              <a:p>
                <a:endParaRPr lang="ko-KR" altLang="en-US" dirty="0"/>
              </a:p>
            </p:txBody>
          </p:sp>
          <p:sp>
            <p:nvSpPr>
              <p:cNvPr id="567" name="직사각형 566">
                <a:extLst>
                  <a:ext uri="{FF2B5EF4-FFF2-40B4-BE49-F238E27FC236}">
                    <a16:creationId xmlns:a16="http://schemas.microsoft.com/office/drawing/2014/main" id="{1F732118-666E-4542-8530-F6AD2A384259}"/>
                  </a:ext>
                </a:extLst>
              </p:cNvPr>
              <p:cNvSpPr/>
              <p:nvPr/>
            </p:nvSpPr>
            <p:spPr>
              <a:xfrm>
                <a:off x="1377148" y="2740537"/>
                <a:ext cx="721126" cy="269641"/>
              </a:xfrm>
              <a:prstGeom prst="rect">
                <a:avLst/>
              </a:prstGeom>
              <a:noFill/>
              <a:ln w="12700">
                <a:noFill/>
                <a:prstDash val="dash"/>
              </a:ln>
            </p:spPr>
            <p:txBody>
              <a:bodyPr rtlCol="0" anchor="ctr"/>
              <a:lstStyle/>
              <a:p>
                <a:pPr algn="ctr"/>
                <a:r>
                  <a:rPr lang="en-US" altLang="ko-KR" sz="800" dirty="0">
                    <a:solidFill>
                      <a:srgbClr val="1A1A1A"/>
                    </a:solidFill>
                    <a:latin typeface="Malgun Gothic" pitchFamily="34" charset="0"/>
                    <a:ea typeface="Malgun Gothic" pitchFamily="34" charset="-122"/>
                    <a:cs typeface="Malgun Gothic" pitchFamily="34" charset="-120"/>
                  </a:rPr>
                  <a:t>Memory</a:t>
                </a:r>
                <a:endParaRPr lang="en-US" altLang="ko-KR" sz="800" dirty="0"/>
              </a:p>
              <a:p>
                <a:pPr algn="ctr"/>
                <a:r>
                  <a:rPr lang="en-US" altLang="ko-KR" sz="800" dirty="0">
                    <a:solidFill>
                      <a:srgbClr val="1A1A1A"/>
                    </a:solidFill>
                    <a:latin typeface="Malgun Gothic" pitchFamily="34" charset="0"/>
                    <a:ea typeface="Malgun Gothic" pitchFamily="34" charset="-122"/>
                    <a:cs typeface="Malgun Gothic" pitchFamily="34" charset="-120"/>
                  </a:rPr>
                  <a:t>Registry</a:t>
                </a:r>
                <a:endParaRPr lang="en-US" altLang="ko-KR" sz="800" dirty="0"/>
              </a:p>
            </p:txBody>
          </p:sp>
        </p:grpSp>
        <p:sp>
          <p:nvSpPr>
            <p:cNvPr id="195" name="Shape 37">
              <a:extLst>
                <a:ext uri="{FF2B5EF4-FFF2-40B4-BE49-F238E27FC236}">
                  <a16:creationId xmlns:a16="http://schemas.microsoft.com/office/drawing/2014/main" id="{306B7634-9A5E-4F0E-A947-927E7282352F}"/>
                </a:ext>
              </a:extLst>
            </p:cNvPr>
            <p:cNvSpPr/>
            <p:nvPr/>
          </p:nvSpPr>
          <p:spPr>
            <a:xfrm>
              <a:off x="1307788" y="3277959"/>
              <a:ext cx="761643" cy="297203"/>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Telemetry Collector</a:t>
              </a:r>
            </a:p>
          </p:txBody>
        </p:sp>
      </p:grpSp>
      <p:cxnSp>
        <p:nvCxnSpPr>
          <p:cNvPr id="198" name="직선 화살표 연결선 185">
            <a:extLst>
              <a:ext uri="{FF2B5EF4-FFF2-40B4-BE49-F238E27FC236}">
                <a16:creationId xmlns:a16="http://schemas.microsoft.com/office/drawing/2014/main" id="{C77B044C-CFD5-4C99-9B08-C9CDFDD38AC5}"/>
              </a:ext>
            </a:extLst>
          </p:cNvPr>
          <p:cNvCxnSpPr>
            <a:cxnSpLocks/>
            <a:stCxn id="157" idx="1"/>
            <a:endCxn id="195" idx="3"/>
          </p:cNvCxnSpPr>
          <p:nvPr/>
        </p:nvCxnSpPr>
        <p:spPr>
          <a:xfrm rot="10800000" flipV="1">
            <a:off x="2062173" y="2443782"/>
            <a:ext cx="1148685" cy="702765"/>
          </a:xfrm>
          <a:prstGeom prst="bentConnector3">
            <a:avLst>
              <a:gd name="adj1" fmla="val 72018"/>
            </a:avLst>
          </a:prstGeom>
          <a:noFill/>
          <a:ln w="6350">
            <a:solidFill>
              <a:srgbClr val="888C91"/>
            </a:solidFill>
            <a:prstDash val="solid"/>
            <a:headEnd type="none"/>
            <a:tailEnd type="triangle"/>
          </a:ln>
        </p:spPr>
      </p:cxnSp>
      <p:cxnSp>
        <p:nvCxnSpPr>
          <p:cNvPr id="505" name="직선 화살표 연결선 185">
            <a:extLst>
              <a:ext uri="{FF2B5EF4-FFF2-40B4-BE49-F238E27FC236}">
                <a16:creationId xmlns:a16="http://schemas.microsoft.com/office/drawing/2014/main" id="{C77B044C-CFD5-4C99-9B08-C9CDFDD38AC5}"/>
              </a:ext>
            </a:extLst>
          </p:cNvPr>
          <p:cNvCxnSpPr>
            <a:cxnSpLocks/>
            <a:stCxn id="191" idx="1"/>
            <a:endCxn id="566" idx="4"/>
          </p:cNvCxnSpPr>
          <p:nvPr/>
        </p:nvCxnSpPr>
        <p:spPr>
          <a:xfrm rot="10800000">
            <a:off x="2017336" y="3650582"/>
            <a:ext cx="521333" cy="83220"/>
          </a:xfrm>
          <a:prstGeom prst="bentConnector3">
            <a:avLst>
              <a:gd name="adj1" fmla="val 50000"/>
            </a:avLst>
          </a:prstGeom>
          <a:noFill/>
          <a:ln w="6350">
            <a:solidFill>
              <a:srgbClr val="888C91"/>
            </a:solidFill>
            <a:prstDash val="solid"/>
            <a:headEnd type="none"/>
            <a:tailEnd type="triangle"/>
          </a:ln>
        </p:spPr>
      </p:cxnSp>
      <p:cxnSp>
        <p:nvCxnSpPr>
          <p:cNvPr id="490" name="직선 화살표 연결선 185">
            <a:extLst>
              <a:ext uri="{FF2B5EF4-FFF2-40B4-BE49-F238E27FC236}">
                <a16:creationId xmlns:a16="http://schemas.microsoft.com/office/drawing/2014/main" id="{C77B044C-CFD5-4C99-9B08-C9CDFDD38AC5}"/>
              </a:ext>
            </a:extLst>
          </p:cNvPr>
          <p:cNvCxnSpPr>
            <a:cxnSpLocks/>
            <a:stCxn id="421" idx="1"/>
            <a:endCxn id="489" idx="3"/>
          </p:cNvCxnSpPr>
          <p:nvPr/>
        </p:nvCxnSpPr>
        <p:spPr>
          <a:xfrm rot="10800000">
            <a:off x="7531915" y="3059674"/>
            <a:ext cx="417174" cy="903171"/>
          </a:xfrm>
          <a:prstGeom prst="bentConnector3">
            <a:avLst>
              <a:gd name="adj1" fmla="val 50000"/>
            </a:avLst>
          </a:prstGeom>
          <a:noFill/>
          <a:ln w="6350">
            <a:solidFill>
              <a:srgbClr val="888C91"/>
            </a:solidFill>
            <a:prstDash val="solid"/>
            <a:headEnd type="none"/>
            <a:tailEnd type="triangle"/>
          </a:ln>
        </p:spPr>
      </p:cxnSp>
      <p:grpSp>
        <p:nvGrpSpPr>
          <p:cNvPr id="110" name="그룹 109"/>
          <p:cNvGrpSpPr/>
          <p:nvPr/>
        </p:nvGrpSpPr>
        <p:grpSpPr>
          <a:xfrm>
            <a:off x="7388916" y="1883914"/>
            <a:ext cx="2442530" cy="372421"/>
            <a:chOff x="7388916" y="1883914"/>
            <a:chExt cx="2442530" cy="372421"/>
          </a:xfrm>
        </p:grpSpPr>
        <p:sp>
          <p:nvSpPr>
            <p:cNvPr id="146" name="직사각형 145">
              <a:extLst>
                <a:ext uri="{FF2B5EF4-FFF2-40B4-BE49-F238E27FC236}">
                  <a16:creationId xmlns:a16="http://schemas.microsoft.com/office/drawing/2014/main" id="{1F732118-666E-4542-8530-F6AD2A384259}"/>
                </a:ext>
              </a:extLst>
            </p:cNvPr>
            <p:cNvSpPr/>
            <p:nvPr/>
          </p:nvSpPr>
          <p:spPr>
            <a:xfrm>
              <a:off x="7388916" y="1901995"/>
              <a:ext cx="994316" cy="186773"/>
            </a:xfrm>
            <a:prstGeom prst="rect">
              <a:avLst/>
            </a:prstGeom>
            <a:noFill/>
            <a:ln w="12700">
              <a:solidFill>
                <a:schemeClr val="bg1"/>
              </a:solidFill>
              <a:prstDash val="dash"/>
            </a:ln>
          </p:spPr>
          <p:txBody>
            <a:bodyPr rtlCol="0" anchor="ctr"/>
            <a:lstStyle/>
            <a:p>
              <a:r>
                <a:rPr lang="en-US" altLang="ko-KR" sz="700" dirty="0">
                  <a:solidFill>
                    <a:schemeClr val="bg1">
                      <a:lumMod val="50000"/>
                    </a:schemeClr>
                  </a:solidFill>
                </a:rPr>
                <a:t>Event push (</a:t>
              </a:r>
              <a:r>
                <a:rPr lang="ko-KR" altLang="en-US" sz="700" dirty="0">
                  <a:solidFill>
                    <a:schemeClr val="bg1">
                      <a:lumMod val="50000"/>
                    </a:schemeClr>
                  </a:solidFill>
                </a:rPr>
                <a:t>비동기</a:t>
              </a:r>
              <a:r>
                <a:rPr lang="en-US" altLang="ko-KR" sz="700" dirty="0">
                  <a:solidFill>
                    <a:schemeClr val="bg1">
                      <a:lumMod val="50000"/>
                    </a:schemeClr>
                  </a:solidFill>
                </a:rPr>
                <a:t>)</a:t>
              </a:r>
            </a:p>
          </p:txBody>
        </p:sp>
        <p:cxnSp>
          <p:nvCxnSpPr>
            <p:cNvPr id="241" name="직선 화살표 연결선 185">
              <a:extLst>
                <a:ext uri="{FF2B5EF4-FFF2-40B4-BE49-F238E27FC236}">
                  <a16:creationId xmlns:a16="http://schemas.microsoft.com/office/drawing/2014/main" id="{C77B044C-CFD5-4C99-9B08-C9CDFDD38AC5}"/>
                </a:ext>
              </a:extLst>
            </p:cNvPr>
            <p:cNvCxnSpPr>
              <a:cxnSpLocks/>
              <a:stCxn id="235" idx="0"/>
              <a:endCxn id="259" idx="2"/>
            </p:cNvCxnSpPr>
            <p:nvPr/>
          </p:nvCxnSpPr>
          <p:spPr>
            <a:xfrm flipV="1">
              <a:off x="9234360" y="2102824"/>
              <a:ext cx="1500" cy="153511"/>
            </a:xfrm>
            <a:prstGeom prst="straightConnector1">
              <a:avLst/>
            </a:prstGeom>
            <a:noFill/>
            <a:ln w="6350">
              <a:solidFill>
                <a:srgbClr val="888C91"/>
              </a:solidFill>
              <a:prstDash val="solid"/>
              <a:headEnd type="triangle" w="med" len="med"/>
              <a:tailEnd type="none" w="med" len="med"/>
            </a:ln>
          </p:spPr>
        </p:cxnSp>
        <p:cxnSp>
          <p:nvCxnSpPr>
            <p:cNvPr id="247" name="직선 화살표 연결선 185">
              <a:extLst>
                <a:ext uri="{FF2B5EF4-FFF2-40B4-BE49-F238E27FC236}">
                  <a16:creationId xmlns:a16="http://schemas.microsoft.com/office/drawing/2014/main" id="{C77B044C-CFD5-4C99-9B08-C9CDFDD38AC5}"/>
                </a:ext>
              </a:extLst>
            </p:cNvPr>
            <p:cNvCxnSpPr>
              <a:cxnSpLocks/>
              <a:stCxn id="259" idx="1"/>
              <a:endCxn id="146" idx="3"/>
            </p:cNvCxnSpPr>
            <p:nvPr/>
          </p:nvCxnSpPr>
          <p:spPr>
            <a:xfrm flipH="1">
              <a:off x="8383232" y="1993369"/>
              <a:ext cx="257042" cy="2013"/>
            </a:xfrm>
            <a:prstGeom prst="straightConnector1">
              <a:avLst/>
            </a:prstGeom>
            <a:noFill/>
            <a:ln w="6350">
              <a:solidFill>
                <a:srgbClr val="888C91"/>
              </a:solidFill>
              <a:prstDash val="solid"/>
              <a:headEnd type="triangle" w="med" len="med"/>
              <a:tailEnd type="none" w="med" len="med"/>
            </a:ln>
          </p:spPr>
        </p:cxnSp>
        <p:sp>
          <p:nvSpPr>
            <p:cNvPr id="259" name="직사각형 258">
              <a:extLst>
                <a:ext uri="{FF2B5EF4-FFF2-40B4-BE49-F238E27FC236}">
                  <a16:creationId xmlns:a16="http://schemas.microsoft.com/office/drawing/2014/main" id="{1F732118-666E-4542-8530-F6AD2A384259}"/>
                </a:ext>
              </a:extLst>
            </p:cNvPr>
            <p:cNvSpPr/>
            <p:nvPr/>
          </p:nvSpPr>
          <p:spPr>
            <a:xfrm>
              <a:off x="8640274" y="1883914"/>
              <a:ext cx="1191172" cy="218910"/>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Migration Scheduler</a:t>
              </a:r>
            </a:p>
          </p:txBody>
        </p:sp>
      </p:grpSp>
      <p:cxnSp>
        <p:nvCxnSpPr>
          <p:cNvPr id="271" name="직선 화살표 연결선 185">
            <a:extLst>
              <a:ext uri="{FF2B5EF4-FFF2-40B4-BE49-F238E27FC236}">
                <a16:creationId xmlns:a16="http://schemas.microsoft.com/office/drawing/2014/main" id="{C77B044C-CFD5-4C99-9B08-C9CDFDD38AC5}"/>
              </a:ext>
            </a:extLst>
          </p:cNvPr>
          <p:cNvCxnSpPr>
            <a:cxnSpLocks/>
            <a:stCxn id="157" idx="0"/>
            <a:endCxn id="273" idx="2"/>
          </p:cNvCxnSpPr>
          <p:nvPr/>
        </p:nvCxnSpPr>
        <p:spPr>
          <a:xfrm flipH="1" flipV="1">
            <a:off x="3783489" y="2102824"/>
            <a:ext cx="1339" cy="177497"/>
          </a:xfrm>
          <a:prstGeom prst="straightConnector1">
            <a:avLst/>
          </a:prstGeom>
          <a:noFill/>
          <a:ln w="6350">
            <a:solidFill>
              <a:srgbClr val="888C91"/>
            </a:solidFill>
            <a:prstDash val="solid"/>
            <a:headEnd type="triangle" w="med" len="med"/>
            <a:tailEnd type="none" w="med" len="med"/>
          </a:ln>
        </p:spPr>
      </p:cxnSp>
      <p:grpSp>
        <p:nvGrpSpPr>
          <p:cNvPr id="543" name="그룹 542"/>
          <p:cNvGrpSpPr/>
          <p:nvPr/>
        </p:nvGrpSpPr>
        <p:grpSpPr>
          <a:xfrm>
            <a:off x="1960252" y="1883914"/>
            <a:ext cx="2418823" cy="218910"/>
            <a:chOff x="1960252" y="1883914"/>
            <a:chExt cx="2418823" cy="218910"/>
          </a:xfrm>
        </p:grpSpPr>
        <p:sp>
          <p:nvSpPr>
            <p:cNvPr id="270" name="직사각형 269">
              <a:extLst>
                <a:ext uri="{FF2B5EF4-FFF2-40B4-BE49-F238E27FC236}">
                  <a16:creationId xmlns:a16="http://schemas.microsoft.com/office/drawing/2014/main" id="{1F732118-666E-4542-8530-F6AD2A384259}"/>
                </a:ext>
              </a:extLst>
            </p:cNvPr>
            <p:cNvSpPr/>
            <p:nvPr/>
          </p:nvSpPr>
          <p:spPr>
            <a:xfrm>
              <a:off x="1960252" y="1901995"/>
              <a:ext cx="970609" cy="186773"/>
            </a:xfrm>
            <a:prstGeom prst="rect">
              <a:avLst/>
            </a:prstGeom>
            <a:noFill/>
            <a:ln w="12700">
              <a:solidFill>
                <a:schemeClr val="bg1"/>
              </a:solidFill>
              <a:prstDash val="dash"/>
            </a:ln>
          </p:spPr>
          <p:txBody>
            <a:bodyPr rtlCol="0" anchor="ctr"/>
            <a:lstStyle/>
            <a:p>
              <a:r>
                <a:rPr lang="en-US" altLang="ko-KR" sz="700" dirty="0">
                  <a:solidFill>
                    <a:schemeClr val="bg1">
                      <a:lumMod val="50000"/>
                    </a:schemeClr>
                  </a:solidFill>
                </a:rPr>
                <a:t>Event push (</a:t>
              </a:r>
              <a:r>
                <a:rPr lang="ko-KR" altLang="en-US" sz="700" dirty="0">
                  <a:solidFill>
                    <a:schemeClr val="bg1">
                      <a:lumMod val="50000"/>
                    </a:schemeClr>
                  </a:solidFill>
                </a:rPr>
                <a:t>비동기</a:t>
              </a:r>
              <a:r>
                <a:rPr lang="en-US" altLang="ko-KR" sz="700" dirty="0">
                  <a:solidFill>
                    <a:schemeClr val="bg1">
                      <a:lumMod val="50000"/>
                    </a:schemeClr>
                  </a:solidFill>
                </a:rPr>
                <a:t>)</a:t>
              </a:r>
            </a:p>
          </p:txBody>
        </p:sp>
        <p:cxnSp>
          <p:nvCxnSpPr>
            <p:cNvPr id="272" name="직선 화살표 연결선 185">
              <a:extLst>
                <a:ext uri="{FF2B5EF4-FFF2-40B4-BE49-F238E27FC236}">
                  <a16:creationId xmlns:a16="http://schemas.microsoft.com/office/drawing/2014/main" id="{C77B044C-CFD5-4C99-9B08-C9CDFDD38AC5}"/>
                </a:ext>
              </a:extLst>
            </p:cNvPr>
            <p:cNvCxnSpPr>
              <a:cxnSpLocks/>
              <a:stCxn id="273" idx="1"/>
              <a:endCxn id="270" idx="3"/>
            </p:cNvCxnSpPr>
            <p:nvPr/>
          </p:nvCxnSpPr>
          <p:spPr>
            <a:xfrm flipH="1">
              <a:off x="2930861" y="1993369"/>
              <a:ext cx="257042" cy="2013"/>
            </a:xfrm>
            <a:prstGeom prst="straightConnector1">
              <a:avLst/>
            </a:prstGeom>
            <a:noFill/>
            <a:ln w="6350">
              <a:solidFill>
                <a:srgbClr val="888C91"/>
              </a:solidFill>
              <a:prstDash val="solid"/>
              <a:headEnd type="triangle" w="med" len="med"/>
              <a:tailEnd type="none" w="med" len="med"/>
            </a:ln>
          </p:spPr>
        </p:cxnSp>
        <p:sp>
          <p:nvSpPr>
            <p:cNvPr id="273" name="직사각형 272">
              <a:extLst>
                <a:ext uri="{FF2B5EF4-FFF2-40B4-BE49-F238E27FC236}">
                  <a16:creationId xmlns:a16="http://schemas.microsoft.com/office/drawing/2014/main" id="{1F732118-666E-4542-8530-F6AD2A384259}"/>
                </a:ext>
              </a:extLst>
            </p:cNvPr>
            <p:cNvSpPr/>
            <p:nvPr/>
          </p:nvSpPr>
          <p:spPr>
            <a:xfrm>
              <a:off x="3187903" y="1883914"/>
              <a:ext cx="1191172" cy="218910"/>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Migration Scheduler</a:t>
              </a:r>
            </a:p>
          </p:txBody>
        </p:sp>
      </p:grpSp>
    </p:spTree>
    <p:extLst>
      <p:ext uri="{BB962C8B-B14F-4D97-AF65-F5344CB8AC3E}">
        <p14:creationId xmlns:p14="http://schemas.microsoft.com/office/powerpoint/2010/main" val="1872020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49035" y="1044054"/>
          <a:ext cx="11747501" cy="5901181"/>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3798092">
                  <a:extLst>
                    <a:ext uri="{9D8B030D-6E8A-4147-A177-3AD203B41FA5}">
                      <a16:colId xmlns:a16="http://schemas.microsoft.com/office/drawing/2014/main" val="5654497"/>
                    </a:ext>
                  </a:extLst>
                </a:gridCol>
                <a:gridCol w="1637962">
                  <a:extLst>
                    <a:ext uri="{9D8B030D-6E8A-4147-A177-3AD203B41FA5}">
                      <a16:colId xmlns:a16="http://schemas.microsoft.com/office/drawing/2014/main" val="2953438935"/>
                    </a:ext>
                  </a:extLst>
                </a:gridCol>
                <a:gridCol w="3795098">
                  <a:extLst>
                    <a:ext uri="{9D8B030D-6E8A-4147-A177-3AD203B41FA5}">
                      <a16:colId xmlns:a16="http://schemas.microsoft.com/office/drawing/2014/main" val="3070054508"/>
                    </a:ext>
                  </a:extLst>
                </a:gridCol>
                <a:gridCol w="1640956">
                  <a:extLst>
                    <a:ext uri="{9D8B030D-6E8A-4147-A177-3AD203B41FA5}">
                      <a16:colId xmlns:a16="http://schemas.microsoft.com/office/drawing/2014/main" val="3101495520"/>
                    </a:ext>
                  </a:extLst>
                </a:gridCol>
              </a:tblGrid>
              <a:tr h="342786">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strike="noStrike" dirty="0"/>
                        <a:t>(1</a:t>
                      </a:r>
                      <a:r>
                        <a:rPr lang="ko-KR" altLang="en-US" sz="1200" b="1" strike="noStrike" dirty="0"/>
                        <a:t>안</a:t>
                      </a:r>
                      <a:r>
                        <a:rPr lang="en-US" altLang="ko-KR" sz="1200" b="1" strike="noStrike" dirty="0"/>
                        <a:t>)</a:t>
                      </a:r>
                      <a:r>
                        <a:rPr lang="en-US" altLang="ko-KR" sz="1200" b="1" strike="noStrike" baseline="0" dirty="0"/>
                        <a:t> </a:t>
                      </a:r>
                      <a:r>
                        <a:rPr lang="ko-KR" altLang="en-US" sz="1200" b="1" strike="noStrike" baseline="0" dirty="0"/>
                        <a:t>메모리 </a:t>
                      </a:r>
                      <a:r>
                        <a:rPr lang="en-US" altLang="ko-KR" sz="1200" b="1" strike="noStrike" baseline="0" dirty="0"/>
                        <a:t>Resource State driven Migration </a:t>
                      </a:r>
                      <a:r>
                        <a:rPr lang="en-US" altLang="ko-KR" sz="1200" b="1" strike="noStrike" baseline="0" dirty="0">
                          <a:solidFill>
                            <a:srgbClr val="FF0000"/>
                          </a:solidFill>
                        </a:rPr>
                        <a:t>+ Data-Memory Affinity</a:t>
                      </a:r>
                      <a:endParaRPr lang="ko-KR" altLang="en-US" sz="1200" b="1" strike="noStrike" dirty="0">
                        <a:solidFill>
                          <a:srgbClr val="FF0000"/>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algn="l" latinLnBrk="1"/>
                      <a:r>
                        <a:rPr lang="en-US" altLang="ko-KR" sz="1200" b="1" strike="noStrike" dirty="0"/>
                        <a:t>(2</a:t>
                      </a:r>
                      <a:r>
                        <a:rPr lang="ko-KR" altLang="en-US" sz="1200" b="1" strike="noStrike" dirty="0"/>
                        <a:t>안</a:t>
                      </a:r>
                      <a:r>
                        <a:rPr lang="en-US" altLang="ko-KR" sz="1200" b="1" strike="noStrike" dirty="0"/>
                        <a:t>)</a:t>
                      </a:r>
                      <a:r>
                        <a:rPr lang="en-US" altLang="ko-KR" sz="1200" b="1" strike="noStrike" baseline="0" dirty="0"/>
                        <a:t> AI Data </a:t>
                      </a:r>
                      <a:r>
                        <a:rPr lang="en-US" altLang="ko-KR" sz="1200" b="1" strike="noStrike" dirty="0"/>
                        <a:t>Behavior</a:t>
                      </a:r>
                      <a:r>
                        <a:rPr lang="en-US" altLang="ko-KR" sz="1200" b="1" strike="noStrike" baseline="0" dirty="0"/>
                        <a:t> </a:t>
                      </a:r>
                      <a:r>
                        <a:rPr lang="en-US" altLang="ko-KR" sz="1200" b="1" strike="noStrike" dirty="0"/>
                        <a:t>driven</a:t>
                      </a:r>
                      <a:r>
                        <a:rPr lang="en-US" altLang="ko-KR" sz="1200" b="1" strike="noStrike" baseline="0" dirty="0"/>
                        <a:t> </a:t>
                      </a:r>
                      <a:r>
                        <a:rPr lang="en-US" altLang="ko-KR" sz="1200" b="1" strike="noStrike" dirty="0"/>
                        <a:t>Migration</a:t>
                      </a:r>
                      <a:r>
                        <a:rPr lang="ko-KR" altLang="en-US" sz="1200" b="1" strike="noStrike" dirty="0"/>
                        <a:t> 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272395">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ko-KR" altLang="en-US" sz="105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ko-KR" altLang="en-US" sz="1200" b="1" dirty="0">
                        <a:solidFill>
                          <a:srgbClr val="0033CC"/>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374073">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낮은 </a:t>
                      </a:r>
                      <a:r>
                        <a:rPr lang="en-US" altLang="ko-KR" sz="1200" strike="noStrike" kern="1200" baseline="0" dirty="0">
                          <a:solidFill>
                            <a:schemeClr val="tx1"/>
                          </a:solidFill>
                          <a:effectLst/>
                          <a:latin typeface="+mn-lt"/>
                          <a:ea typeface="+mn-ea"/>
                          <a:cs typeface="+mn-cs"/>
                        </a:rPr>
                        <a:t>Decision overhead </a:t>
                      </a:r>
                      <a:r>
                        <a:rPr lang="ko-KR" altLang="en-US" sz="1200" strike="noStrike" kern="1200" baseline="0" dirty="0">
                          <a:solidFill>
                            <a:schemeClr val="tx1"/>
                          </a:solidFill>
                          <a:effectLst/>
                          <a:latin typeface="+mn-lt"/>
                          <a:ea typeface="+mn-ea"/>
                          <a:cs typeface="+mn-cs"/>
                        </a:rPr>
                        <a:t>및 </a:t>
                      </a:r>
                      <a:r>
                        <a:rPr lang="en-US" altLang="ko-KR" sz="1200" strike="noStrike" kern="1200" baseline="0" dirty="0">
                          <a:solidFill>
                            <a:schemeClr val="tx1"/>
                          </a:solidFill>
                          <a:effectLst/>
                          <a:latin typeface="+mn-lt"/>
                          <a:ea typeface="+mn-ea"/>
                          <a:cs typeface="+mn-cs"/>
                        </a:rPr>
                        <a:t>Resource state</a:t>
                      </a:r>
                      <a:r>
                        <a:rPr lang="ko-KR" altLang="en-US" sz="1200" strike="noStrike" kern="1200" baseline="0" dirty="0">
                          <a:solidFill>
                            <a:schemeClr val="tx1"/>
                          </a:solidFill>
                          <a:effectLst/>
                          <a:latin typeface="+mn-lt"/>
                          <a:ea typeface="+mn-ea"/>
                          <a:cs typeface="+mn-cs"/>
                        </a:rPr>
                        <a:t> 변화에 즉시 반응</a:t>
                      </a:r>
                    </a:p>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전체 메모리</a:t>
                      </a:r>
                      <a:r>
                        <a:rPr lang="en-US" altLang="ko-KR" sz="1200" strike="noStrike" kern="1200" baseline="0" dirty="0">
                          <a:solidFill>
                            <a:schemeClr val="tx1"/>
                          </a:solidFill>
                          <a:effectLst/>
                          <a:latin typeface="+mn-lt"/>
                          <a:ea typeface="+mn-ea"/>
                          <a:cs typeface="+mn-cs"/>
                        </a:rPr>
                        <a:t> Pool</a:t>
                      </a:r>
                      <a:r>
                        <a:rPr lang="ko-KR" altLang="en-US" sz="1200" strike="noStrike" kern="1200" baseline="0" dirty="0">
                          <a:solidFill>
                            <a:schemeClr val="tx1"/>
                          </a:solidFill>
                          <a:effectLst/>
                          <a:latin typeface="+mn-lt"/>
                          <a:ea typeface="+mn-ea"/>
                          <a:cs typeface="+mn-cs"/>
                        </a:rPr>
                        <a:t>의 </a:t>
                      </a:r>
                      <a:r>
                        <a:rPr lang="en-US" altLang="ko-KR" sz="1200" strike="noStrike" kern="1200" baseline="0" dirty="0">
                          <a:solidFill>
                            <a:schemeClr val="tx1"/>
                          </a:solidFill>
                          <a:effectLst/>
                          <a:latin typeface="+mn-lt"/>
                          <a:ea typeface="+mn-ea"/>
                          <a:cs typeface="+mn-cs"/>
                        </a:rPr>
                        <a:t>Utilization </a:t>
                      </a:r>
                      <a:r>
                        <a:rPr lang="ko-KR" altLang="en-US" sz="1200" strike="noStrike" kern="1200" baseline="0" dirty="0">
                          <a:solidFill>
                            <a:schemeClr val="tx1"/>
                          </a:solidFill>
                          <a:effectLst/>
                          <a:latin typeface="+mn-lt"/>
                          <a:ea typeface="+mn-ea"/>
                          <a:cs typeface="+mn-cs"/>
                        </a:rPr>
                        <a:t>관리에 유리 </a:t>
                      </a:r>
                      <a:endParaRPr lang="en-US" altLang="ko-KR" sz="1200" strike="noStrike" kern="1200" baseline="0" dirty="0">
                        <a:solidFill>
                          <a:schemeClr val="tx1"/>
                        </a:solidFill>
                        <a:effectLst/>
                        <a:latin typeface="+mn-lt"/>
                        <a:ea typeface="+mn-ea"/>
                        <a:cs typeface="+mn-cs"/>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dirty="0">
                          <a:solidFill>
                            <a:schemeClr val="tx1"/>
                          </a:solidFill>
                          <a:effectLst/>
                        </a:rPr>
                        <a:t>Data </a:t>
                      </a:r>
                      <a:r>
                        <a:rPr lang="ko-KR" altLang="en-US" sz="1200" strike="noStrike" dirty="0">
                          <a:solidFill>
                            <a:schemeClr val="tx1"/>
                          </a:solidFill>
                          <a:effectLst/>
                        </a:rPr>
                        <a:t>종류 별 </a:t>
                      </a:r>
                      <a:r>
                        <a:rPr lang="en-US" altLang="ko-KR" sz="1200" strike="noStrike" dirty="0">
                          <a:solidFill>
                            <a:schemeClr val="tx1"/>
                          </a:solidFill>
                          <a:effectLst/>
                        </a:rPr>
                        <a:t>Access </a:t>
                      </a:r>
                      <a:r>
                        <a:rPr lang="ko-KR" altLang="en-US" sz="1200" strike="noStrike" dirty="0">
                          <a:solidFill>
                            <a:schemeClr val="tx1"/>
                          </a:solidFill>
                          <a:effectLst/>
                        </a:rPr>
                        <a:t>특성에 맞는 </a:t>
                      </a:r>
                      <a:r>
                        <a:rPr lang="en-US" altLang="ko-KR" sz="1200" strike="noStrike" dirty="0">
                          <a:solidFill>
                            <a:schemeClr val="tx1"/>
                          </a:solidFill>
                          <a:effectLst/>
                        </a:rPr>
                        <a:t>Fine-grained </a:t>
                      </a:r>
                      <a:r>
                        <a:rPr lang="ko-KR" altLang="en-US" sz="1200" strike="noStrike" dirty="0">
                          <a:solidFill>
                            <a:schemeClr val="tx1"/>
                          </a:solidFill>
                          <a:effectLst/>
                        </a:rPr>
                        <a:t>배치 가능</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dirty="0">
                          <a:solidFill>
                            <a:schemeClr val="tx1"/>
                          </a:solidFill>
                          <a:effectLst/>
                        </a:rPr>
                        <a:t>고속</a:t>
                      </a:r>
                      <a:r>
                        <a:rPr lang="en-US" altLang="ko-KR" sz="1200" strike="noStrike" dirty="0">
                          <a:solidFill>
                            <a:schemeClr val="tx1"/>
                          </a:solidFill>
                          <a:effectLst/>
                        </a:rPr>
                        <a:t>(High</a:t>
                      </a:r>
                      <a:r>
                        <a:rPr lang="en-US" altLang="ko-KR" sz="1200" strike="noStrike" baseline="0" dirty="0">
                          <a:solidFill>
                            <a:schemeClr val="tx1"/>
                          </a:solidFill>
                          <a:effectLst/>
                        </a:rPr>
                        <a:t> tier)</a:t>
                      </a:r>
                      <a:r>
                        <a:rPr lang="ko-KR" altLang="en-US" sz="1200" strike="noStrike" dirty="0">
                          <a:solidFill>
                            <a:schemeClr val="tx1"/>
                          </a:solidFill>
                          <a:effectLst/>
                        </a:rPr>
                        <a:t> 메모리의 불필요한 점유 감소 가능</a:t>
                      </a:r>
                      <a:endParaRPr lang="en-US" altLang="ko-KR" sz="1200" strike="noStrike"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Data</a:t>
                      </a:r>
                      <a:r>
                        <a:rPr lang="ko-KR" altLang="en-US" sz="1200" strike="noStrike" baseline="0" dirty="0">
                          <a:solidFill>
                            <a:schemeClr val="tx1"/>
                          </a:solidFill>
                          <a:effectLst/>
                        </a:rPr>
                        <a:t>별 접근 특성 반영 한계</a:t>
                      </a:r>
                      <a:endParaRPr lang="en-US" altLang="ko-KR" sz="1200" strike="noStrike" baseline="0" dirty="0">
                        <a:solidFill>
                          <a:schemeClr val="tx1"/>
                        </a:solidFill>
                        <a:effectLst/>
                      </a:endParaRPr>
                    </a:p>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en-US" altLang="ko-KR" sz="1200" strike="noStrike" baseline="0" dirty="0">
                          <a:solidFill>
                            <a:srgbClr val="FF0000"/>
                          </a:solidFill>
                          <a:effectLst/>
                          <a:sym typeface="Wingdings" panose="05000000000000000000" pitchFamily="2" charset="2"/>
                        </a:rPr>
                        <a:t> </a:t>
                      </a:r>
                      <a:r>
                        <a:rPr lang="ko-KR" altLang="en-US" sz="1200" strike="noStrike" baseline="0" dirty="0">
                          <a:solidFill>
                            <a:srgbClr val="FF0000"/>
                          </a:solidFill>
                          <a:effectLst/>
                          <a:sym typeface="Wingdings" panose="05000000000000000000" pitchFamily="2" charset="2"/>
                        </a:rPr>
                        <a:t>대표적인 </a:t>
                      </a:r>
                      <a:r>
                        <a:rPr lang="en-US" altLang="ko-KR" sz="1200" strike="noStrike" baseline="0" dirty="0">
                          <a:solidFill>
                            <a:srgbClr val="FF0000"/>
                          </a:solidFill>
                          <a:effectLst/>
                          <a:sym typeface="Wingdings" panose="05000000000000000000" pitchFamily="2" charset="2"/>
                        </a:rPr>
                        <a:t>AI Data/operation</a:t>
                      </a:r>
                      <a:r>
                        <a:rPr lang="ko-KR" altLang="en-US" sz="1200" strike="noStrike" baseline="0" dirty="0">
                          <a:solidFill>
                            <a:srgbClr val="FF0000"/>
                          </a:solidFill>
                          <a:effectLst/>
                          <a:sym typeface="Wingdings" panose="05000000000000000000" pitchFamily="2" charset="2"/>
                        </a:rPr>
                        <a:t>의 특성은 </a:t>
                      </a:r>
                      <a:r>
                        <a:rPr lang="en-US" altLang="ko-KR" sz="1200" strike="noStrike" baseline="0" dirty="0">
                          <a:solidFill>
                            <a:srgbClr val="FF0000"/>
                          </a:solidFill>
                          <a:effectLst/>
                          <a:sym typeface="Wingdings" panose="05000000000000000000" pitchFamily="2" charset="2"/>
                        </a:rPr>
                        <a:t>static hint</a:t>
                      </a:r>
                      <a:r>
                        <a:rPr lang="ko-KR" altLang="en-US" sz="1200" strike="noStrike" baseline="0" dirty="0">
                          <a:solidFill>
                            <a:srgbClr val="FF0000"/>
                          </a:solidFill>
                          <a:effectLst/>
                          <a:sym typeface="Wingdings" panose="05000000000000000000" pitchFamily="2" charset="2"/>
                        </a:rPr>
                        <a:t>로 반영</a:t>
                      </a:r>
                      <a:endParaRPr lang="en-US" altLang="ko-KR" sz="1200" strike="noStrike" baseline="0"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solidFill>
                            <a:schemeClr val="tx1"/>
                          </a:solidFill>
                          <a:effectLst/>
                        </a:rPr>
                        <a:t>동일한 </a:t>
                      </a:r>
                      <a:r>
                        <a:rPr lang="en-US" altLang="ko-KR" sz="1200" strike="noStrike" baseline="0" dirty="0">
                          <a:solidFill>
                            <a:schemeClr val="tx1"/>
                          </a:solidFill>
                          <a:effectLst/>
                        </a:rPr>
                        <a:t>Resource state</a:t>
                      </a:r>
                      <a:r>
                        <a:rPr lang="ko-KR" altLang="en-US" sz="1200" strike="noStrike" baseline="0" dirty="0">
                          <a:solidFill>
                            <a:schemeClr val="tx1"/>
                          </a:solidFill>
                          <a:effectLst/>
                        </a:rPr>
                        <a:t>에서 서로 다른 </a:t>
                      </a:r>
                      <a:r>
                        <a:rPr lang="en-US" altLang="ko-KR" sz="1200" strike="noStrike" baseline="0" dirty="0">
                          <a:solidFill>
                            <a:schemeClr val="tx1"/>
                          </a:solidFill>
                          <a:effectLst/>
                        </a:rPr>
                        <a:t>Data</a:t>
                      </a:r>
                      <a:r>
                        <a:rPr lang="ko-KR" altLang="en-US" sz="1200" strike="noStrike" baseline="0" dirty="0">
                          <a:solidFill>
                            <a:schemeClr val="tx1"/>
                          </a:solidFill>
                          <a:effectLst/>
                        </a:rPr>
                        <a:t>의 </a:t>
                      </a:r>
                      <a:r>
                        <a:rPr lang="en-US" altLang="ko-KR" sz="1200" strike="noStrike" baseline="0" dirty="0">
                          <a:solidFill>
                            <a:schemeClr val="tx1"/>
                          </a:solidFill>
                          <a:effectLst/>
                        </a:rPr>
                        <a:t>Access pattern </a:t>
                      </a:r>
                      <a:r>
                        <a:rPr lang="ko-KR" altLang="en-US" sz="1200" strike="noStrike" baseline="0" dirty="0">
                          <a:solidFill>
                            <a:schemeClr val="tx1"/>
                          </a:solidFill>
                          <a:effectLst/>
                        </a:rPr>
                        <a:t>구분 한계 </a:t>
                      </a:r>
                      <a:endParaRPr lang="en-US" altLang="ko-KR" sz="1200" strike="noStrike" baseline="0" dirty="0">
                        <a:solidFill>
                          <a:schemeClr val="tx1"/>
                        </a:solidFill>
                        <a:effectLst/>
                      </a:endParaRPr>
                    </a:p>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lang="en-US" altLang="ko-KR" sz="1200" strike="noStrike" baseline="0" dirty="0">
                          <a:solidFill>
                            <a:srgbClr val="FF0000"/>
                          </a:solidFill>
                          <a:effectLst/>
                          <a:sym typeface="Wingdings" panose="05000000000000000000" pitchFamily="2" charset="2"/>
                        </a:rPr>
                        <a:t> Agent</a:t>
                      </a:r>
                      <a:r>
                        <a:rPr lang="ko-KR" altLang="en-US" sz="1200" strike="noStrike" baseline="0" dirty="0">
                          <a:solidFill>
                            <a:srgbClr val="FF0000"/>
                          </a:solidFill>
                          <a:effectLst/>
                          <a:sym typeface="Wingdings" panose="05000000000000000000" pitchFamily="2" charset="2"/>
                        </a:rPr>
                        <a:t> </a:t>
                      </a:r>
                      <a:r>
                        <a:rPr lang="en-US" altLang="ko-KR" sz="1200" strike="noStrike" baseline="0" dirty="0">
                          <a:solidFill>
                            <a:srgbClr val="FF0000"/>
                          </a:solidFill>
                          <a:effectLst/>
                          <a:sym typeface="Wingdings" panose="05000000000000000000" pitchFamily="2" charset="2"/>
                        </a:rPr>
                        <a:t>aware</a:t>
                      </a:r>
                      <a:r>
                        <a:rPr lang="ko-KR" altLang="en-US" sz="1200" strike="noStrike" baseline="0" dirty="0">
                          <a:solidFill>
                            <a:srgbClr val="FF0000"/>
                          </a:solidFill>
                          <a:effectLst/>
                          <a:sym typeface="Wingdings" panose="05000000000000000000" pitchFamily="2" charset="2"/>
                        </a:rPr>
                        <a:t>한 </a:t>
                      </a:r>
                      <a:r>
                        <a:rPr lang="en-US" altLang="ko-KR" sz="1200" strike="noStrike" baseline="0" dirty="0">
                          <a:solidFill>
                            <a:srgbClr val="FF0000"/>
                          </a:solidFill>
                          <a:effectLst/>
                          <a:sym typeface="Wingdings" panose="05000000000000000000" pitchFamily="2" charset="2"/>
                        </a:rPr>
                        <a:t>KV </a:t>
                      </a:r>
                      <a:r>
                        <a:rPr lang="ko-KR" altLang="en-US" sz="1200" strike="noStrike" baseline="0" dirty="0">
                          <a:solidFill>
                            <a:srgbClr val="FF0000"/>
                          </a:solidFill>
                          <a:effectLst/>
                          <a:sym typeface="Wingdings" panose="05000000000000000000" pitchFamily="2" charset="2"/>
                        </a:rPr>
                        <a:t>관리는 데이터 이동 구조가 아닌 </a:t>
                      </a:r>
                      <a:r>
                        <a:rPr lang="en-US" altLang="ko-KR" sz="1200" strike="noStrike" baseline="0" dirty="0">
                          <a:solidFill>
                            <a:srgbClr val="FF0000"/>
                          </a:solidFill>
                          <a:effectLst/>
                          <a:sym typeface="Wingdings" panose="05000000000000000000" pitchFamily="2" charset="2"/>
                        </a:rPr>
                        <a:t>Tool </a:t>
                      </a:r>
                      <a:r>
                        <a:rPr lang="ko-KR" altLang="en-US" sz="1200" strike="noStrike" baseline="0" dirty="0">
                          <a:solidFill>
                            <a:srgbClr val="FF0000"/>
                          </a:solidFill>
                          <a:effectLst/>
                          <a:sym typeface="Wingdings" panose="05000000000000000000" pitchFamily="2" charset="2"/>
                        </a:rPr>
                        <a:t>호출 시점의 </a:t>
                      </a:r>
                      <a:r>
                        <a:rPr lang="en-US" altLang="ko-KR" sz="1200" strike="noStrike" baseline="0" dirty="0">
                          <a:solidFill>
                            <a:srgbClr val="FF0000"/>
                          </a:solidFill>
                          <a:effectLst/>
                          <a:sym typeface="Wingdings" panose="05000000000000000000" pitchFamily="2" charset="2"/>
                        </a:rPr>
                        <a:t>KV </a:t>
                      </a:r>
                      <a:r>
                        <a:rPr lang="ko-KR" altLang="en-US" sz="1200" strike="noStrike" baseline="0" dirty="0">
                          <a:solidFill>
                            <a:srgbClr val="FF0000"/>
                          </a:solidFill>
                          <a:effectLst/>
                          <a:sym typeface="Wingdings" panose="05000000000000000000" pitchFamily="2" charset="2"/>
                        </a:rPr>
                        <a:t>관리 구조로 보완 </a:t>
                      </a:r>
                      <a:r>
                        <a:rPr lang="en-US" altLang="ko-KR" sz="1200" strike="noStrike" baseline="0" dirty="0">
                          <a:solidFill>
                            <a:srgbClr val="FF0000"/>
                          </a:solidFill>
                          <a:effectLst/>
                          <a:sym typeface="Wingdings" panose="05000000000000000000" pitchFamily="2" charset="2"/>
                        </a:rPr>
                        <a:t>(DP3)</a:t>
                      </a:r>
                      <a:endParaRPr lang="en-US" altLang="ko-KR" sz="1200" strike="noStrike" baseline="0" dirty="0">
                        <a:solidFill>
                          <a:srgbClr val="FF0000"/>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en-US" altLang="ko-KR" sz="1200" strike="noStrike" baseline="0" dirty="0">
                          <a:solidFill>
                            <a:schemeClr val="tx1"/>
                          </a:solidFill>
                          <a:effectLst/>
                        </a:rPr>
                        <a:t>Data </a:t>
                      </a:r>
                      <a:r>
                        <a:rPr lang="ko-KR" altLang="en-US" sz="1200" strike="noStrike" baseline="0" dirty="0">
                          <a:solidFill>
                            <a:schemeClr val="tx1"/>
                          </a:solidFill>
                          <a:effectLst/>
                        </a:rPr>
                        <a:t>종류 별 </a:t>
                      </a:r>
                      <a:r>
                        <a:rPr lang="en-US" altLang="ko-KR" sz="1200" strike="noStrike" baseline="0" dirty="0">
                          <a:solidFill>
                            <a:schemeClr val="tx1"/>
                          </a:solidFill>
                          <a:effectLst/>
                        </a:rPr>
                        <a:t>Characterization </a:t>
                      </a:r>
                      <a:r>
                        <a:rPr lang="ko-KR" altLang="en-US" sz="1200" strike="noStrike" baseline="0" dirty="0">
                          <a:solidFill>
                            <a:schemeClr val="tx1"/>
                          </a:solidFill>
                          <a:effectLst/>
                        </a:rPr>
                        <a:t>및 </a:t>
                      </a:r>
                      <a:r>
                        <a:rPr lang="en-US" altLang="ko-KR" sz="1200" strike="noStrike" baseline="0" dirty="0">
                          <a:solidFill>
                            <a:schemeClr val="tx1"/>
                          </a:solidFill>
                          <a:effectLst/>
                        </a:rPr>
                        <a:t>Pattern </a:t>
                      </a:r>
                      <a:r>
                        <a:rPr lang="ko-KR" altLang="en-US" sz="1200" strike="noStrike" baseline="0" dirty="0">
                          <a:solidFill>
                            <a:schemeClr val="tx1"/>
                          </a:solidFill>
                          <a:effectLst/>
                        </a:rPr>
                        <a:t>예측을 위한 </a:t>
                      </a:r>
                      <a:r>
                        <a:rPr lang="en-US" altLang="ko-KR" sz="1200" strike="noStrike" baseline="0" dirty="0">
                          <a:solidFill>
                            <a:schemeClr val="tx1"/>
                          </a:solidFill>
                          <a:effectLst/>
                        </a:rPr>
                        <a:t>Overhead </a:t>
                      </a:r>
                      <a:r>
                        <a:rPr lang="ko-KR" altLang="en-US" sz="1200" strike="noStrike" baseline="0" dirty="0">
                          <a:solidFill>
                            <a:schemeClr val="tx1"/>
                          </a:solidFill>
                          <a:effectLst/>
                        </a:rPr>
                        <a:t>증가</a:t>
                      </a:r>
                    </a:p>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예측 오류 시 </a:t>
                      </a:r>
                      <a:r>
                        <a:rPr lang="en-US" altLang="ko-KR" sz="1200" strike="noStrike" baseline="0" dirty="0" err="1">
                          <a:solidFill>
                            <a:schemeClr val="tx1"/>
                          </a:solidFill>
                          <a:effectLst/>
                        </a:rPr>
                        <a:t>Mis</a:t>
                      </a:r>
                      <a:r>
                        <a:rPr lang="en-US" altLang="ko-KR" sz="1200" strike="noStrike" baseline="0" dirty="0">
                          <a:solidFill>
                            <a:schemeClr val="tx1"/>
                          </a:solidFill>
                          <a:effectLst/>
                        </a:rPr>
                        <a:t>-placement </a:t>
                      </a:r>
                      <a:r>
                        <a:rPr lang="ko-KR" altLang="en-US" sz="1200" strike="noStrike" baseline="0" dirty="0">
                          <a:solidFill>
                            <a:schemeClr val="tx1"/>
                          </a:solidFill>
                          <a:effectLst/>
                        </a:rPr>
                        <a:t>가능</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630306">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(throughput)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(latency – TTFT, 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r>
                        <a:rPr lang="ko-KR" altLang="en-US" sz="1200" strike="noStrike" baseline="0"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(00TPS)</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r>
                        <a:rPr lang="ko-KR" altLang="en-US" sz="1200" strike="noStrike" dirty="0">
                          <a:solidFill>
                            <a:srgbClr val="FF0000"/>
                          </a:solidFill>
                          <a:latin typeface="맑은 고딕" panose="020B0503020000020004" pitchFamily="50" charset="-127"/>
                          <a:ea typeface="+mn-ea"/>
                        </a:rPr>
                        <a:t>●◐</a:t>
                      </a:r>
                      <a:r>
                        <a:rPr lang="ko-KR" altLang="en-US" sz="1200" strike="noStrike"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(00ms, 00ms)</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(00%)</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endParaRPr lang="en-US" altLang="ko-KR" sz="1200" strike="noStrike" dirty="0">
                        <a:solidFill>
                          <a:schemeClr val="tx1"/>
                        </a:solidFill>
                        <a:latin typeface="맑은 고딕" panose="020B0503020000020004" pitchFamily="50" charset="-127"/>
                        <a:ea typeface="+mn-ea"/>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(throughput)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(latency – TTFT, 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(00TPS)</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a:t>
                      </a:r>
                      <a:r>
                        <a:rPr lang="en-US" altLang="ko-KR" sz="1200" strike="noStrike" baseline="0" dirty="0">
                          <a:solidFill>
                            <a:schemeClr val="tx1"/>
                          </a:solidFill>
                          <a:latin typeface="맑은 고딕" panose="020B0503020000020004" pitchFamily="50" charset="-127"/>
                          <a:ea typeface="+mn-ea"/>
                        </a:rPr>
                        <a:t>00ms, 00ms)</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(00%)</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prstClr val="black"/>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577" name="Shape 59">
            <a:extLst>
              <a:ext uri="{FF2B5EF4-FFF2-40B4-BE49-F238E27FC236}">
                <a16:creationId xmlns:a16="http://schemas.microsoft.com/office/drawing/2014/main" id="{67748352-D195-48A3-8563-9385B634D68C}"/>
              </a:ext>
            </a:extLst>
          </p:cNvPr>
          <p:cNvSpPr/>
          <p:nvPr/>
        </p:nvSpPr>
        <p:spPr>
          <a:xfrm>
            <a:off x="1235467" y="3411858"/>
            <a:ext cx="923728" cy="1022771"/>
          </a:xfrm>
          <a:prstGeom prst="rect">
            <a:avLst/>
          </a:prstGeom>
          <a:solidFill>
            <a:srgbClr val="F0F1F3"/>
          </a:solidFill>
          <a:ln w="12700">
            <a:solidFill>
              <a:srgbClr val="888C91"/>
            </a:solidFill>
            <a:prstDash val="solid"/>
          </a:ln>
        </p:spPr>
        <p:txBody>
          <a:bodyPr/>
          <a:lstStyle/>
          <a:p>
            <a:pPr algn="ctr"/>
            <a:r>
              <a:rPr lang="en-US" altLang="ko-KR" sz="1000" dirty="0"/>
              <a:t>Resource Manager</a:t>
            </a:r>
            <a:endParaRPr lang="ko-KR" altLang="en-US" sz="1000" dirty="0"/>
          </a:p>
        </p:txBody>
      </p:sp>
      <p:sp>
        <p:nvSpPr>
          <p:cNvPr id="3" name="제목 2"/>
          <p:cNvSpPr>
            <a:spLocks noGrp="1"/>
          </p:cNvSpPr>
          <p:nvPr>
            <p:ph type="title"/>
          </p:nvPr>
        </p:nvSpPr>
        <p:spPr>
          <a:xfrm>
            <a:off x="234949" y="137379"/>
            <a:ext cx="7631530" cy="365125"/>
          </a:xfrm>
        </p:spPr>
        <p:txBody>
          <a:bodyPr/>
          <a:lstStyle/>
          <a:p>
            <a:r>
              <a:rPr lang="en-US" altLang="ko-KR" dirty="0"/>
              <a:t>DP1. </a:t>
            </a:r>
            <a:r>
              <a:rPr lang="ko-KR" altLang="en-US" dirty="0"/>
              <a:t>이기종 메모리 기반 </a:t>
            </a:r>
            <a:r>
              <a:rPr lang="en-US" altLang="ko-KR" dirty="0"/>
              <a:t>Data Migration</a:t>
            </a:r>
            <a:r>
              <a:rPr lang="ko-KR" altLang="en-US" dirty="0"/>
              <a:t> 구조 </a:t>
            </a:r>
            <a:r>
              <a:rPr lang="en-US" altLang="ko-KR" dirty="0"/>
              <a:t>- </a:t>
            </a:r>
            <a:r>
              <a:rPr lang="ko-KR" altLang="en-US" dirty="0"/>
              <a:t>설계</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a:solidFill>
                  <a:schemeClr val="bg1"/>
                </a:solidFill>
              </a:rPr>
              <a:t>이기종 메모리 환경의 자원 상태 및 </a:t>
            </a:r>
            <a:r>
              <a:rPr lang="en-US" altLang="ko-KR" sz="1400" b="1" dirty="0">
                <a:solidFill>
                  <a:schemeClr val="bg1"/>
                </a:solidFill>
              </a:rPr>
              <a:t>AI Data </a:t>
            </a:r>
            <a:r>
              <a:rPr lang="ko-KR" altLang="en-US" sz="1400" b="1" dirty="0">
                <a:solidFill>
                  <a:schemeClr val="bg1"/>
                </a:solidFill>
              </a:rPr>
              <a:t>특성을 고려한 </a:t>
            </a:r>
            <a:r>
              <a:rPr lang="en-US" altLang="ko-KR" sz="1400" b="1" dirty="0">
                <a:solidFill>
                  <a:schemeClr val="bg1"/>
                </a:solidFill>
              </a:rPr>
              <a:t>Data Migration </a:t>
            </a:r>
            <a:r>
              <a:rPr lang="ko-KR" altLang="en-US" sz="1400" b="1" dirty="0">
                <a:solidFill>
                  <a:schemeClr val="bg1"/>
                </a:solidFill>
              </a:rPr>
              <a:t>구조 </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88657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9673910"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a:t>
            </a:r>
            <a:endParaRPr lang="ko-KR" altLang="en-US" sz="900" b="1" dirty="0">
              <a:latin typeface="맑은 고딕" panose="020B0503020000020004" pitchFamily="50" charset="-127"/>
              <a:ea typeface="맑은 고딕" panose="020B0503020000020004" pitchFamily="50" charset="-127"/>
            </a:endParaRPr>
          </a:p>
        </p:txBody>
      </p:sp>
      <p:sp>
        <p:nvSpPr>
          <p:cNvPr id="32" name="모서리가 둥근 직사각형 31"/>
          <p:cNvSpPr/>
          <p:nvPr/>
        </p:nvSpPr>
        <p:spPr>
          <a:xfrm>
            <a:off x="11187937"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rPr>
              <a:t>C2</a:t>
            </a:r>
            <a:endParaRPr lang="ko-KR" altLang="en-US" sz="900" b="1" dirty="0">
              <a:latin typeface="맑은 고딕" panose="020B0503020000020004" pitchFamily="50" charset="-127"/>
            </a:endParaRPr>
          </a:p>
        </p:txBody>
      </p:sp>
      <p:sp>
        <p:nvSpPr>
          <p:cNvPr id="38" name="모서리가 둥근 직사각형 37"/>
          <p:cNvSpPr/>
          <p:nvPr/>
        </p:nvSpPr>
        <p:spPr>
          <a:xfrm>
            <a:off x="8062711"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0453490"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10</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11250" y="1397380"/>
            <a:ext cx="5422899" cy="261610"/>
          </a:xfrm>
          <a:prstGeom prst="rect">
            <a:avLst/>
          </a:prstGeom>
          <a:noFill/>
        </p:spPr>
        <p:txBody>
          <a:bodyPr wrap="square" rtlCol="0">
            <a:spAutoFit/>
          </a:bodyPr>
          <a:lstStyle/>
          <a:p>
            <a:r>
              <a:rPr lang="en-US" altLang="ko-KR" sz="1100" dirty="0"/>
              <a:t>“Data</a:t>
            </a:r>
            <a:r>
              <a:rPr lang="ko-KR" altLang="en-US" sz="1100" dirty="0"/>
              <a:t> 종류 관계없이 </a:t>
            </a:r>
            <a:r>
              <a:rPr lang="ko-KR" altLang="en-US" sz="1100" dirty="0">
                <a:solidFill>
                  <a:srgbClr val="0066FF"/>
                </a:solidFill>
              </a:rPr>
              <a:t>메모리</a:t>
            </a:r>
            <a:r>
              <a:rPr lang="en-US" altLang="ko-KR" sz="1100" dirty="0">
                <a:solidFill>
                  <a:srgbClr val="0066FF"/>
                </a:solidFill>
              </a:rPr>
              <a:t> </a:t>
            </a:r>
            <a:r>
              <a:rPr lang="ko-KR" altLang="en-US" sz="1100" dirty="0">
                <a:solidFill>
                  <a:srgbClr val="0066FF"/>
                </a:solidFill>
              </a:rPr>
              <a:t>자원 상태</a:t>
            </a:r>
            <a:r>
              <a:rPr lang="en-US" altLang="ko-KR" sz="1100" dirty="0">
                <a:solidFill>
                  <a:srgbClr val="0066FF"/>
                </a:solidFill>
              </a:rPr>
              <a:t>(Capacity/BW/Load)</a:t>
            </a:r>
            <a:r>
              <a:rPr lang="ko-KR" altLang="en-US" sz="1100" dirty="0"/>
              <a:t>에 기반한 </a:t>
            </a:r>
            <a:r>
              <a:rPr lang="en-US" altLang="ko-KR" sz="1100" dirty="0"/>
              <a:t>Migration“</a:t>
            </a:r>
          </a:p>
        </p:txBody>
      </p:sp>
      <p:sp>
        <p:nvSpPr>
          <p:cNvPr id="106" name="TextBox 105"/>
          <p:cNvSpPr txBox="1"/>
          <p:nvPr/>
        </p:nvSpPr>
        <p:spPr>
          <a:xfrm>
            <a:off x="6534149" y="1383052"/>
            <a:ext cx="5448301" cy="261610"/>
          </a:xfrm>
          <a:prstGeom prst="rect">
            <a:avLst/>
          </a:prstGeom>
          <a:noFill/>
        </p:spPr>
        <p:txBody>
          <a:bodyPr wrap="square" rtlCol="0">
            <a:spAutoFit/>
          </a:bodyPr>
          <a:lstStyle/>
          <a:p>
            <a:r>
              <a:rPr lang="en-US" altLang="ko-KR" sz="1100" dirty="0"/>
              <a:t>“</a:t>
            </a:r>
            <a:r>
              <a:rPr lang="en-US" altLang="ko-KR" sz="1100" dirty="0">
                <a:solidFill>
                  <a:srgbClr val="0066FF"/>
                </a:solidFill>
              </a:rPr>
              <a:t>AI Data</a:t>
            </a:r>
            <a:r>
              <a:rPr lang="ko-KR" altLang="en-US" sz="1100" dirty="0">
                <a:solidFill>
                  <a:srgbClr val="0066FF"/>
                </a:solidFill>
              </a:rPr>
              <a:t> 특성</a:t>
            </a:r>
            <a:r>
              <a:rPr lang="en-US" altLang="ko-KR" sz="1100" dirty="0">
                <a:solidFill>
                  <a:srgbClr val="0066FF"/>
                </a:solidFill>
              </a:rPr>
              <a:t>(Reuse pattern/Lifetime/Agent Tool Info </a:t>
            </a:r>
            <a:r>
              <a:rPr lang="ko-KR" altLang="en-US" sz="1100" dirty="0">
                <a:solidFill>
                  <a:srgbClr val="0066FF"/>
                </a:solidFill>
              </a:rPr>
              <a:t>등</a:t>
            </a:r>
            <a:r>
              <a:rPr lang="en-US" altLang="ko-KR" sz="1100" dirty="0">
                <a:solidFill>
                  <a:srgbClr val="0066FF"/>
                </a:solidFill>
              </a:rPr>
              <a:t>)</a:t>
            </a:r>
            <a:r>
              <a:rPr lang="ko-KR" altLang="en-US" sz="1100" dirty="0"/>
              <a:t>에 기반한 </a:t>
            </a:r>
            <a:r>
              <a:rPr lang="en-US" altLang="ko-KR" sz="1100" dirty="0"/>
              <a:t>Migration“</a:t>
            </a:r>
            <a:endParaRPr lang="ko-KR" altLang="en-US" sz="1100" dirty="0"/>
          </a:p>
        </p:txBody>
      </p:sp>
      <p:sp>
        <p:nvSpPr>
          <p:cNvPr id="103" name="Shape 56">
            <a:extLst>
              <a:ext uri="{FF2B5EF4-FFF2-40B4-BE49-F238E27FC236}">
                <a16:creationId xmlns:a16="http://schemas.microsoft.com/office/drawing/2014/main" id="{33C7046D-072B-4A63-B8E3-E6FE269F4E83}"/>
              </a:ext>
            </a:extLst>
          </p:cNvPr>
          <p:cNvSpPr/>
          <p:nvPr/>
        </p:nvSpPr>
        <p:spPr>
          <a:xfrm>
            <a:off x="3727203" y="3812656"/>
            <a:ext cx="0" cy="0"/>
          </a:xfrm>
          <a:prstGeom prst="line">
            <a:avLst/>
          </a:prstGeom>
          <a:noFill/>
          <a:ln w="16510">
            <a:solidFill>
              <a:srgbClr val="4D7EA8"/>
            </a:solidFill>
            <a:prstDash val="solid"/>
            <a:headEnd type="none"/>
            <a:tailEnd type="none"/>
          </a:ln>
        </p:spPr>
      </p:sp>
      <p:sp>
        <p:nvSpPr>
          <p:cNvPr id="156" name="Shape 39">
            <a:extLst>
              <a:ext uri="{FF2B5EF4-FFF2-40B4-BE49-F238E27FC236}">
                <a16:creationId xmlns:a16="http://schemas.microsoft.com/office/drawing/2014/main" id="{F7D82DE9-0B6E-4CB1-A5F0-9E4D7591B816}"/>
              </a:ext>
            </a:extLst>
          </p:cNvPr>
          <p:cNvSpPr/>
          <p:nvPr/>
        </p:nvSpPr>
        <p:spPr>
          <a:xfrm>
            <a:off x="2538668" y="2495666"/>
            <a:ext cx="1149429" cy="372712"/>
          </a:xfrm>
          <a:prstGeom prst="rect">
            <a:avLst/>
          </a:prstGeom>
          <a:solidFill>
            <a:srgbClr val="FFFFFF"/>
          </a:solidFill>
          <a:ln w="12700">
            <a:solidFill>
              <a:srgbClr val="4D7EA8"/>
            </a:solidFill>
            <a:prstDash val="solid"/>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Resource-based Trend Analyzer</a:t>
            </a:r>
          </a:p>
        </p:txBody>
      </p:sp>
      <p:sp>
        <p:nvSpPr>
          <p:cNvPr id="157" name="Shape 37">
            <a:extLst>
              <a:ext uri="{FF2B5EF4-FFF2-40B4-BE49-F238E27FC236}">
                <a16:creationId xmlns:a16="http://schemas.microsoft.com/office/drawing/2014/main" id="{306B7634-9A5E-4F0E-A947-927E7282352F}"/>
              </a:ext>
            </a:extLst>
          </p:cNvPr>
          <p:cNvSpPr/>
          <p:nvPr/>
        </p:nvSpPr>
        <p:spPr>
          <a:xfrm>
            <a:off x="3179413" y="1801608"/>
            <a:ext cx="1147942" cy="359615"/>
          </a:xfrm>
          <a:prstGeom prst="rect">
            <a:avLst/>
          </a:prstGeom>
          <a:solidFill>
            <a:srgbClr val="FFFFFF"/>
          </a:solidFill>
          <a:ln w="12700">
            <a:solidFill>
              <a:srgbClr val="4D7EA8"/>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rPr>
              <a:t>Resource State Monitor</a:t>
            </a:r>
          </a:p>
        </p:txBody>
      </p:sp>
      <p:cxnSp>
        <p:nvCxnSpPr>
          <p:cNvPr id="160" name="직선 화살표 연결선 185">
            <a:extLst>
              <a:ext uri="{FF2B5EF4-FFF2-40B4-BE49-F238E27FC236}">
                <a16:creationId xmlns:a16="http://schemas.microsoft.com/office/drawing/2014/main" id="{63055888-A989-4681-8232-E5AD42EA4D88}"/>
              </a:ext>
            </a:extLst>
          </p:cNvPr>
          <p:cNvCxnSpPr>
            <a:cxnSpLocks/>
            <a:stCxn id="157" idx="2"/>
            <a:endCxn id="156" idx="0"/>
          </p:cNvCxnSpPr>
          <p:nvPr/>
        </p:nvCxnSpPr>
        <p:spPr>
          <a:xfrm rot="5400000">
            <a:off x="3266163" y="2008444"/>
            <a:ext cx="334443" cy="640001"/>
          </a:xfrm>
          <a:prstGeom prst="bentConnector3">
            <a:avLst>
              <a:gd name="adj1" fmla="val 50000"/>
            </a:avLst>
          </a:prstGeom>
          <a:noFill/>
          <a:ln w="11430">
            <a:solidFill>
              <a:schemeClr val="accent1"/>
            </a:solidFill>
            <a:prstDash val="solid"/>
            <a:headEnd type="none" w="med" len="med"/>
            <a:tailEnd type="triangle" w="med" len="med"/>
          </a:ln>
        </p:spPr>
      </p:cxnSp>
      <p:sp>
        <p:nvSpPr>
          <p:cNvPr id="164" name="Shape 39">
            <a:extLst>
              <a:ext uri="{FF2B5EF4-FFF2-40B4-BE49-F238E27FC236}">
                <a16:creationId xmlns:a16="http://schemas.microsoft.com/office/drawing/2014/main" id="{F7D82DE9-0B6E-4CB1-A5F0-9E4D7591B816}"/>
              </a:ext>
            </a:extLst>
          </p:cNvPr>
          <p:cNvSpPr/>
          <p:nvPr/>
        </p:nvSpPr>
        <p:spPr>
          <a:xfrm>
            <a:off x="3176181" y="4271544"/>
            <a:ext cx="1149429" cy="308026"/>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cs typeface="Malgun Gothic" pitchFamily="34" charset="-120"/>
              </a:rPr>
              <a:t>Migration</a:t>
            </a:r>
          </a:p>
          <a:p>
            <a:pPr algn="ctr" latinLnBrk="0"/>
            <a:r>
              <a:rPr lang="en-US" altLang="ko-KR" sz="800" dirty="0">
                <a:solidFill>
                  <a:srgbClr val="1A1A1A"/>
                </a:solidFill>
                <a:latin typeface="Malgun Gothic" pitchFamily="34" charset="0"/>
                <a:ea typeface="Malgun Gothic" pitchFamily="34" charset="-122"/>
                <a:cs typeface="Malgun Gothic" pitchFamily="34" charset="-120"/>
              </a:rPr>
              <a:t>Executor</a:t>
            </a:r>
          </a:p>
        </p:txBody>
      </p:sp>
      <p:sp>
        <p:nvSpPr>
          <p:cNvPr id="166" name="Shape 39">
            <a:extLst>
              <a:ext uri="{FF2B5EF4-FFF2-40B4-BE49-F238E27FC236}">
                <a16:creationId xmlns:a16="http://schemas.microsoft.com/office/drawing/2014/main" id="{F7D82DE9-0B6E-4CB1-A5F0-9E4D7591B816}"/>
              </a:ext>
            </a:extLst>
          </p:cNvPr>
          <p:cNvSpPr/>
          <p:nvPr/>
        </p:nvSpPr>
        <p:spPr>
          <a:xfrm>
            <a:off x="3874006" y="3689791"/>
            <a:ext cx="1149430" cy="372712"/>
          </a:xfrm>
          <a:prstGeom prst="rect">
            <a:avLst/>
          </a:prstGeom>
          <a:solidFill>
            <a:srgbClr val="FFFFFF"/>
          </a:solidFill>
          <a:ln w="12700">
            <a:solidFill>
              <a:srgbClr val="4D7EA8"/>
            </a:solidFill>
            <a:prstDash val="solid"/>
          </a:ln>
        </p:spPr>
        <p:txBody>
          <a:bodyPr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1A1A1A"/>
                </a:solidFill>
                <a:latin typeface="Malgun Gothic" pitchFamily="34" charset="0"/>
                <a:ea typeface="Malgun Gothic" pitchFamily="34" charset="-122"/>
                <a:cs typeface="Malgun Gothic" pitchFamily="34" charset="-120"/>
              </a:rPr>
              <a:t>Migration</a:t>
            </a:r>
            <a:r>
              <a:rPr kumimoji="0" lang="en-US" altLang="ko-KR" sz="9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rPr>
              <a:t> Data</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rPr>
              <a:t>Selector</a:t>
            </a:r>
          </a:p>
        </p:txBody>
      </p:sp>
      <p:sp>
        <p:nvSpPr>
          <p:cNvPr id="186" name="Shape 39">
            <a:extLst>
              <a:ext uri="{FF2B5EF4-FFF2-40B4-BE49-F238E27FC236}">
                <a16:creationId xmlns:a16="http://schemas.microsoft.com/office/drawing/2014/main" id="{F7D82DE9-0B6E-4CB1-A5F0-9E4D7591B816}"/>
              </a:ext>
            </a:extLst>
          </p:cNvPr>
          <p:cNvSpPr/>
          <p:nvPr/>
        </p:nvSpPr>
        <p:spPr>
          <a:xfrm>
            <a:off x="3825186" y="2494957"/>
            <a:ext cx="1149429" cy="374544"/>
          </a:xfrm>
          <a:prstGeom prst="rect">
            <a:avLst/>
          </a:prstGeom>
          <a:solidFill>
            <a:srgbClr val="FFFFFF"/>
          </a:solidFill>
          <a:ln w="12700">
            <a:solidFill>
              <a:srgbClr val="4D7EA8"/>
            </a:solidFill>
            <a:prstDash val="solid"/>
          </a:ln>
        </p:spPr>
        <p:txBody>
          <a:bodyPr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1A1A1A"/>
                </a:solidFill>
                <a:latin typeface="Malgun Gothic" pitchFamily="34" charset="0"/>
                <a:ea typeface="Malgun Gothic" pitchFamily="34" charset="-122"/>
                <a:cs typeface="Malgun Gothic" pitchFamily="34" charset="-120"/>
              </a:rPr>
              <a:t>Data Eviction Manager</a:t>
            </a:r>
            <a:endParaRPr kumimoji="0" lang="en-US" altLang="ko-KR" sz="9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endParaRPr>
          </a:p>
        </p:txBody>
      </p:sp>
      <p:cxnSp>
        <p:nvCxnSpPr>
          <p:cNvPr id="189" name="직선 화살표 연결선 185">
            <a:extLst>
              <a:ext uri="{FF2B5EF4-FFF2-40B4-BE49-F238E27FC236}">
                <a16:creationId xmlns:a16="http://schemas.microsoft.com/office/drawing/2014/main" id="{978083D3-9687-40FB-9182-FF0D3D8D7808}"/>
              </a:ext>
            </a:extLst>
          </p:cNvPr>
          <p:cNvCxnSpPr>
            <a:cxnSpLocks/>
            <a:stCxn id="186" idx="2"/>
            <a:endCxn id="129" idx="0"/>
          </p:cNvCxnSpPr>
          <p:nvPr/>
        </p:nvCxnSpPr>
        <p:spPr>
          <a:xfrm rot="5400000">
            <a:off x="3972830" y="2674054"/>
            <a:ext cx="231625" cy="622519"/>
          </a:xfrm>
          <a:prstGeom prst="bentConnector3">
            <a:avLst>
              <a:gd name="adj1" fmla="val 50000"/>
            </a:avLst>
          </a:prstGeom>
          <a:noFill/>
          <a:ln w="11430">
            <a:solidFill>
              <a:srgbClr val="FF0000"/>
            </a:solidFill>
            <a:prstDash val="solid"/>
            <a:headEnd type="none"/>
            <a:tailEnd type="triangle"/>
          </a:ln>
        </p:spPr>
      </p:cxnSp>
      <p:cxnSp>
        <p:nvCxnSpPr>
          <p:cNvPr id="190" name="직선 화살표 연결선 185">
            <a:extLst>
              <a:ext uri="{FF2B5EF4-FFF2-40B4-BE49-F238E27FC236}">
                <a16:creationId xmlns:a16="http://schemas.microsoft.com/office/drawing/2014/main" id="{63055888-A989-4681-8232-E5AD42EA4D88}"/>
              </a:ext>
            </a:extLst>
          </p:cNvPr>
          <p:cNvCxnSpPr>
            <a:cxnSpLocks/>
            <a:stCxn id="157" idx="2"/>
            <a:endCxn id="186" idx="0"/>
          </p:cNvCxnSpPr>
          <p:nvPr/>
        </p:nvCxnSpPr>
        <p:spPr>
          <a:xfrm rot="16200000" flipH="1">
            <a:off x="3909775" y="2004831"/>
            <a:ext cx="333734" cy="646517"/>
          </a:xfrm>
          <a:prstGeom prst="bentConnector3">
            <a:avLst>
              <a:gd name="adj1" fmla="val 50000"/>
            </a:avLst>
          </a:prstGeom>
          <a:noFill/>
          <a:ln w="11430">
            <a:solidFill>
              <a:schemeClr val="accent1"/>
            </a:solidFill>
            <a:prstDash val="solid"/>
            <a:headEnd type="none" w="med" len="med"/>
            <a:tailEnd type="triangle" w="med" len="med"/>
          </a:ln>
        </p:spPr>
      </p:cxnSp>
      <p:sp>
        <p:nvSpPr>
          <p:cNvPr id="191" name="Shape 39">
            <a:extLst>
              <a:ext uri="{FF2B5EF4-FFF2-40B4-BE49-F238E27FC236}">
                <a16:creationId xmlns:a16="http://schemas.microsoft.com/office/drawing/2014/main" id="{F7D82DE9-0B6E-4CB1-A5F0-9E4D7591B816}"/>
              </a:ext>
            </a:extLst>
          </p:cNvPr>
          <p:cNvSpPr/>
          <p:nvPr/>
        </p:nvSpPr>
        <p:spPr>
          <a:xfrm>
            <a:off x="2538668" y="3689081"/>
            <a:ext cx="1149429" cy="372712"/>
          </a:xfrm>
          <a:prstGeom prst="rect">
            <a:avLst/>
          </a:prstGeom>
          <a:solidFill>
            <a:srgbClr val="FFFFFF"/>
          </a:solidFill>
          <a:ln w="12700">
            <a:solidFill>
              <a:srgbClr val="4D7EA8"/>
            </a:solidFill>
            <a:prstDash val="solid"/>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Destination Tier Selector</a:t>
            </a:r>
          </a:p>
        </p:txBody>
      </p:sp>
      <p:cxnSp>
        <p:nvCxnSpPr>
          <p:cNvPr id="192" name="직선 화살표 연결선 185">
            <a:extLst>
              <a:ext uri="{FF2B5EF4-FFF2-40B4-BE49-F238E27FC236}">
                <a16:creationId xmlns:a16="http://schemas.microsoft.com/office/drawing/2014/main" id="{63055888-A989-4681-8232-E5AD42EA4D88}"/>
              </a:ext>
            </a:extLst>
          </p:cNvPr>
          <p:cNvCxnSpPr>
            <a:cxnSpLocks/>
            <a:stCxn id="156" idx="2"/>
            <a:endCxn id="129" idx="0"/>
          </p:cNvCxnSpPr>
          <p:nvPr/>
        </p:nvCxnSpPr>
        <p:spPr>
          <a:xfrm rot="16200000" flipH="1">
            <a:off x="3329008" y="2652752"/>
            <a:ext cx="232748" cy="663999"/>
          </a:xfrm>
          <a:prstGeom prst="bentConnector3">
            <a:avLst>
              <a:gd name="adj1" fmla="val 50000"/>
            </a:avLst>
          </a:prstGeom>
          <a:noFill/>
          <a:ln w="11430">
            <a:solidFill>
              <a:srgbClr val="FF0000"/>
            </a:solidFill>
            <a:prstDash val="solid"/>
            <a:headEnd type="none"/>
            <a:tailEnd type="triangle"/>
          </a:ln>
        </p:spPr>
      </p:cxnSp>
      <p:cxnSp>
        <p:nvCxnSpPr>
          <p:cNvPr id="193" name="직선 화살표 연결선 185">
            <a:extLst>
              <a:ext uri="{FF2B5EF4-FFF2-40B4-BE49-F238E27FC236}">
                <a16:creationId xmlns:a16="http://schemas.microsoft.com/office/drawing/2014/main" id="{63055888-A989-4681-8232-E5AD42EA4D88}"/>
              </a:ext>
            </a:extLst>
          </p:cNvPr>
          <p:cNvCxnSpPr>
            <a:cxnSpLocks/>
            <a:stCxn id="191" idx="2"/>
            <a:endCxn id="164" idx="0"/>
          </p:cNvCxnSpPr>
          <p:nvPr/>
        </p:nvCxnSpPr>
        <p:spPr>
          <a:xfrm rot="16200000" flipH="1">
            <a:off x="3327264" y="3847911"/>
            <a:ext cx="209751" cy="637513"/>
          </a:xfrm>
          <a:prstGeom prst="bentConnector3">
            <a:avLst>
              <a:gd name="adj1" fmla="val 50000"/>
            </a:avLst>
          </a:prstGeom>
          <a:noFill/>
          <a:ln w="11430">
            <a:solidFill>
              <a:schemeClr val="accent1"/>
            </a:solidFill>
            <a:prstDash val="solid"/>
            <a:headEnd type="none" w="med" len="med"/>
            <a:tailEnd type="triangle" w="med" len="med"/>
          </a:ln>
        </p:spPr>
      </p:cxnSp>
      <p:cxnSp>
        <p:nvCxnSpPr>
          <p:cNvPr id="194" name="직선 화살표 연결선 185">
            <a:extLst>
              <a:ext uri="{FF2B5EF4-FFF2-40B4-BE49-F238E27FC236}">
                <a16:creationId xmlns:a16="http://schemas.microsoft.com/office/drawing/2014/main" id="{63055888-A989-4681-8232-E5AD42EA4D88}"/>
              </a:ext>
            </a:extLst>
          </p:cNvPr>
          <p:cNvCxnSpPr>
            <a:cxnSpLocks/>
            <a:stCxn id="166" idx="2"/>
            <a:endCxn id="164" idx="0"/>
          </p:cNvCxnSpPr>
          <p:nvPr/>
        </p:nvCxnSpPr>
        <p:spPr>
          <a:xfrm rot="5400000">
            <a:off x="3995289" y="3818111"/>
            <a:ext cx="209041" cy="697825"/>
          </a:xfrm>
          <a:prstGeom prst="bentConnector3">
            <a:avLst>
              <a:gd name="adj1" fmla="val 50000"/>
            </a:avLst>
          </a:prstGeom>
          <a:noFill/>
          <a:ln w="11430">
            <a:solidFill>
              <a:schemeClr val="accent1"/>
            </a:solidFill>
            <a:prstDash val="solid"/>
            <a:headEnd type="none" w="med" len="med"/>
            <a:tailEnd type="triangle" w="med" len="med"/>
          </a:ln>
        </p:spPr>
      </p:cxnSp>
      <p:grpSp>
        <p:nvGrpSpPr>
          <p:cNvPr id="277" name="그룹 276"/>
          <p:cNvGrpSpPr/>
          <p:nvPr/>
        </p:nvGrpSpPr>
        <p:grpSpPr>
          <a:xfrm>
            <a:off x="5405727" y="1879542"/>
            <a:ext cx="1016101" cy="1022771"/>
            <a:chOff x="5405727" y="1879542"/>
            <a:chExt cx="1016101" cy="1022771"/>
          </a:xfrm>
        </p:grpSpPr>
        <p:sp>
          <p:nvSpPr>
            <p:cNvPr id="281" name="Shape 59">
              <a:extLst>
                <a:ext uri="{FF2B5EF4-FFF2-40B4-BE49-F238E27FC236}">
                  <a16:creationId xmlns:a16="http://schemas.microsoft.com/office/drawing/2014/main" id="{67748352-D195-48A3-8563-9385B634D68C}"/>
                </a:ext>
              </a:extLst>
            </p:cNvPr>
            <p:cNvSpPr/>
            <p:nvPr/>
          </p:nvSpPr>
          <p:spPr>
            <a:xfrm>
              <a:off x="5405727" y="1879542"/>
              <a:ext cx="1016101" cy="1022771"/>
            </a:xfrm>
            <a:prstGeom prst="rect">
              <a:avLst/>
            </a:prstGeom>
            <a:solidFill>
              <a:srgbClr val="F0F1F3"/>
            </a:solidFill>
            <a:ln w="12700">
              <a:solidFill>
                <a:srgbClr val="888C91"/>
              </a:solidFill>
              <a:prstDash val="solid"/>
            </a:ln>
          </p:spPr>
          <p:txBody>
            <a:bodyPr/>
            <a:lstStyle/>
            <a:p>
              <a:pPr algn="ctr"/>
              <a:r>
                <a:rPr lang="en-US" altLang="ko-KR" sz="1000" dirty="0"/>
                <a:t>Resource Manager</a:t>
              </a:r>
              <a:endParaRPr lang="ko-KR" altLang="en-US" sz="1000" dirty="0"/>
            </a:p>
          </p:txBody>
        </p:sp>
        <p:sp>
          <p:nvSpPr>
            <p:cNvPr id="197" name="Shape 37">
              <a:extLst>
                <a:ext uri="{FF2B5EF4-FFF2-40B4-BE49-F238E27FC236}">
                  <a16:creationId xmlns:a16="http://schemas.microsoft.com/office/drawing/2014/main" id="{306B7634-9A5E-4F0E-A947-927E7282352F}"/>
                </a:ext>
              </a:extLst>
            </p:cNvPr>
            <p:cNvSpPr/>
            <p:nvPr/>
          </p:nvSpPr>
          <p:spPr>
            <a:xfrm>
              <a:off x="5521018" y="2395921"/>
              <a:ext cx="837807" cy="297203"/>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Telemetry Collector</a:t>
              </a:r>
            </a:p>
          </p:txBody>
        </p:sp>
      </p:grpSp>
      <p:sp>
        <p:nvSpPr>
          <p:cNvPr id="231" name="Shape 56">
            <a:extLst>
              <a:ext uri="{FF2B5EF4-FFF2-40B4-BE49-F238E27FC236}">
                <a16:creationId xmlns:a16="http://schemas.microsoft.com/office/drawing/2014/main" id="{33C7046D-072B-4A63-B8E3-E6FE269F4E83}"/>
              </a:ext>
            </a:extLst>
          </p:cNvPr>
          <p:cNvSpPr/>
          <p:nvPr/>
        </p:nvSpPr>
        <p:spPr>
          <a:xfrm>
            <a:off x="9208179" y="3812656"/>
            <a:ext cx="0" cy="0"/>
          </a:xfrm>
          <a:prstGeom prst="line">
            <a:avLst/>
          </a:prstGeom>
          <a:noFill/>
          <a:ln w="16510">
            <a:solidFill>
              <a:srgbClr val="4D7EA8"/>
            </a:solidFill>
            <a:prstDash val="solid"/>
            <a:headEnd type="none"/>
            <a:tailEnd type="none"/>
          </a:ln>
        </p:spPr>
      </p:sp>
      <p:sp>
        <p:nvSpPr>
          <p:cNvPr id="235" name="Shape 37">
            <a:extLst>
              <a:ext uri="{FF2B5EF4-FFF2-40B4-BE49-F238E27FC236}">
                <a16:creationId xmlns:a16="http://schemas.microsoft.com/office/drawing/2014/main" id="{306B7634-9A5E-4F0E-A947-927E7282352F}"/>
              </a:ext>
            </a:extLst>
          </p:cNvPr>
          <p:cNvSpPr/>
          <p:nvPr/>
        </p:nvSpPr>
        <p:spPr>
          <a:xfrm>
            <a:off x="8660389" y="1930379"/>
            <a:ext cx="1147942" cy="359615"/>
          </a:xfrm>
          <a:prstGeom prst="rect">
            <a:avLst/>
          </a:prstGeom>
          <a:solidFill>
            <a:srgbClr val="FFFFFF"/>
          </a:solidFill>
          <a:ln w="12700">
            <a:solidFill>
              <a:srgbClr val="C76E31"/>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cs typeface="Malgun Gothic" pitchFamily="34" charset="-120"/>
              </a:rPr>
              <a:t>Data Behavior Monitor</a:t>
            </a:r>
          </a:p>
        </p:txBody>
      </p:sp>
      <p:cxnSp>
        <p:nvCxnSpPr>
          <p:cNvPr id="236" name="직선 화살표 연결선 185">
            <a:extLst>
              <a:ext uri="{FF2B5EF4-FFF2-40B4-BE49-F238E27FC236}">
                <a16:creationId xmlns:a16="http://schemas.microsoft.com/office/drawing/2014/main" id="{63055888-A989-4681-8232-E5AD42EA4D88}"/>
              </a:ext>
            </a:extLst>
          </p:cNvPr>
          <p:cNvCxnSpPr>
            <a:cxnSpLocks/>
            <a:stCxn id="235" idx="2"/>
            <a:endCxn id="414" idx="0"/>
          </p:cNvCxnSpPr>
          <p:nvPr/>
        </p:nvCxnSpPr>
        <p:spPr>
          <a:xfrm>
            <a:off x="9234360" y="2289994"/>
            <a:ext cx="0" cy="244426"/>
          </a:xfrm>
          <a:prstGeom prst="straightConnector1">
            <a:avLst/>
          </a:prstGeom>
          <a:noFill/>
          <a:ln w="12700">
            <a:solidFill>
              <a:srgbClr val="C76E31"/>
            </a:solidFill>
            <a:prstDash val="solid"/>
            <a:headEnd type="none"/>
            <a:tailEnd type="triangle"/>
          </a:ln>
        </p:spPr>
      </p:cxnSp>
      <p:sp>
        <p:nvSpPr>
          <p:cNvPr id="237" name="Shape 39">
            <a:extLst>
              <a:ext uri="{FF2B5EF4-FFF2-40B4-BE49-F238E27FC236}">
                <a16:creationId xmlns:a16="http://schemas.microsoft.com/office/drawing/2014/main" id="{F7D82DE9-0B6E-4CB1-A5F0-9E4D7591B816}"/>
              </a:ext>
            </a:extLst>
          </p:cNvPr>
          <p:cNvSpPr/>
          <p:nvPr/>
        </p:nvSpPr>
        <p:spPr>
          <a:xfrm>
            <a:off x="8667632" y="4267356"/>
            <a:ext cx="1149429" cy="308026"/>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cs typeface="Malgun Gothic" pitchFamily="34" charset="-120"/>
              </a:rPr>
              <a:t>Migration</a:t>
            </a:r>
          </a:p>
          <a:p>
            <a:pPr algn="ctr" latinLnBrk="0"/>
            <a:r>
              <a:rPr lang="en-US" altLang="ko-KR" sz="800" dirty="0">
                <a:solidFill>
                  <a:srgbClr val="1A1A1A"/>
                </a:solidFill>
                <a:latin typeface="Malgun Gothic" pitchFamily="34" charset="0"/>
                <a:ea typeface="Malgun Gothic" pitchFamily="34" charset="-122"/>
                <a:cs typeface="Malgun Gothic" pitchFamily="34" charset="-120"/>
              </a:rPr>
              <a:t>Executor</a:t>
            </a:r>
          </a:p>
        </p:txBody>
      </p:sp>
      <p:cxnSp>
        <p:nvCxnSpPr>
          <p:cNvPr id="245" name="직선 화살표 연결선 185">
            <a:extLst>
              <a:ext uri="{FF2B5EF4-FFF2-40B4-BE49-F238E27FC236}">
                <a16:creationId xmlns:a16="http://schemas.microsoft.com/office/drawing/2014/main" id="{63055888-A989-4681-8232-E5AD42EA4D88}"/>
              </a:ext>
            </a:extLst>
          </p:cNvPr>
          <p:cNvCxnSpPr>
            <a:cxnSpLocks/>
            <a:stCxn id="421" idx="2"/>
            <a:endCxn id="237" idx="0"/>
          </p:cNvCxnSpPr>
          <p:nvPr/>
        </p:nvCxnSpPr>
        <p:spPr>
          <a:xfrm rot="16200000" flipH="1">
            <a:off x="8771263" y="3796272"/>
            <a:ext cx="222880" cy="719287"/>
          </a:xfrm>
          <a:prstGeom prst="bentConnector3">
            <a:avLst>
              <a:gd name="adj1" fmla="val 50000"/>
            </a:avLst>
          </a:prstGeom>
          <a:noFill/>
          <a:ln w="12700">
            <a:solidFill>
              <a:srgbClr val="C76E31"/>
            </a:solidFill>
            <a:prstDash val="solid"/>
            <a:headEnd type="none"/>
            <a:tailEnd type="triangle"/>
          </a:ln>
        </p:spPr>
      </p:cxnSp>
      <p:cxnSp>
        <p:nvCxnSpPr>
          <p:cNvPr id="246" name="직선 화살표 연결선 185">
            <a:extLst>
              <a:ext uri="{FF2B5EF4-FFF2-40B4-BE49-F238E27FC236}">
                <a16:creationId xmlns:a16="http://schemas.microsoft.com/office/drawing/2014/main" id="{63055888-A989-4681-8232-E5AD42EA4D88}"/>
              </a:ext>
            </a:extLst>
          </p:cNvPr>
          <p:cNvCxnSpPr>
            <a:cxnSpLocks/>
            <a:stCxn id="420" idx="2"/>
            <a:endCxn id="237" idx="0"/>
          </p:cNvCxnSpPr>
          <p:nvPr/>
        </p:nvCxnSpPr>
        <p:spPr>
          <a:xfrm rot="5400000">
            <a:off x="9517027" y="3769796"/>
            <a:ext cx="222880" cy="772240"/>
          </a:xfrm>
          <a:prstGeom prst="bentConnector3">
            <a:avLst>
              <a:gd name="adj1" fmla="val 50000"/>
            </a:avLst>
          </a:prstGeom>
          <a:noFill/>
          <a:ln w="12700">
            <a:solidFill>
              <a:srgbClr val="C76E31"/>
            </a:solidFill>
            <a:prstDash val="solid"/>
            <a:headEnd type="none"/>
            <a:tailEnd type="triangle"/>
          </a:ln>
        </p:spPr>
      </p:cxnSp>
      <p:cxnSp>
        <p:nvCxnSpPr>
          <p:cNvPr id="198" name="직선 화살표 연결선 185">
            <a:extLst>
              <a:ext uri="{FF2B5EF4-FFF2-40B4-BE49-F238E27FC236}">
                <a16:creationId xmlns:a16="http://schemas.microsoft.com/office/drawing/2014/main" id="{C77B044C-CFD5-4C99-9B08-C9CDFDD38AC5}"/>
              </a:ext>
            </a:extLst>
          </p:cNvPr>
          <p:cNvCxnSpPr>
            <a:cxnSpLocks/>
            <a:stCxn id="157" idx="3"/>
            <a:endCxn id="197" idx="1"/>
          </p:cNvCxnSpPr>
          <p:nvPr/>
        </p:nvCxnSpPr>
        <p:spPr>
          <a:xfrm>
            <a:off x="4327355" y="1981416"/>
            <a:ext cx="1193663" cy="563107"/>
          </a:xfrm>
          <a:prstGeom prst="bentConnector3">
            <a:avLst>
              <a:gd name="adj1" fmla="val 71705"/>
            </a:avLst>
          </a:prstGeom>
          <a:noFill/>
          <a:ln w="6350">
            <a:solidFill>
              <a:srgbClr val="888C91"/>
            </a:solidFill>
            <a:prstDash val="solid"/>
            <a:headEnd type="none"/>
            <a:tailEnd type="triangle"/>
          </a:ln>
        </p:spPr>
      </p:cxnSp>
      <p:cxnSp>
        <p:nvCxnSpPr>
          <p:cNvPr id="312" name="직선 화살표 연결선 185">
            <a:extLst>
              <a:ext uri="{FF2B5EF4-FFF2-40B4-BE49-F238E27FC236}">
                <a16:creationId xmlns:a16="http://schemas.microsoft.com/office/drawing/2014/main" id="{C77B044C-CFD5-4C99-9B08-C9CDFDD38AC5}"/>
              </a:ext>
            </a:extLst>
          </p:cNvPr>
          <p:cNvCxnSpPr>
            <a:cxnSpLocks/>
            <a:stCxn id="143" idx="3"/>
            <a:endCxn id="235" idx="1"/>
          </p:cNvCxnSpPr>
          <p:nvPr/>
        </p:nvCxnSpPr>
        <p:spPr>
          <a:xfrm flipV="1">
            <a:off x="7560911" y="2110187"/>
            <a:ext cx="1099478" cy="300945"/>
          </a:xfrm>
          <a:prstGeom prst="bentConnector3">
            <a:avLst>
              <a:gd name="adj1" fmla="val 50000"/>
            </a:avLst>
          </a:prstGeom>
          <a:noFill/>
          <a:ln w="6350">
            <a:solidFill>
              <a:srgbClr val="888C91"/>
            </a:solidFill>
            <a:prstDash val="solid"/>
            <a:headEnd type="none"/>
            <a:tailEnd type="triangle"/>
          </a:ln>
        </p:spPr>
      </p:cxnSp>
      <p:cxnSp>
        <p:nvCxnSpPr>
          <p:cNvPr id="274" name="직선 화살표 연결선 185">
            <a:extLst>
              <a:ext uri="{FF2B5EF4-FFF2-40B4-BE49-F238E27FC236}">
                <a16:creationId xmlns:a16="http://schemas.microsoft.com/office/drawing/2014/main" id="{C77B044C-CFD5-4C99-9B08-C9CDFDD38AC5}"/>
              </a:ext>
            </a:extLst>
          </p:cNvPr>
          <p:cNvCxnSpPr>
            <a:cxnSpLocks/>
            <a:stCxn id="132" idx="3"/>
            <a:endCxn id="157" idx="1"/>
          </p:cNvCxnSpPr>
          <p:nvPr/>
        </p:nvCxnSpPr>
        <p:spPr>
          <a:xfrm flipV="1">
            <a:off x="2154586" y="1981416"/>
            <a:ext cx="1024827" cy="396912"/>
          </a:xfrm>
          <a:prstGeom prst="bentConnector3">
            <a:avLst>
              <a:gd name="adj1" fmla="val 50000"/>
            </a:avLst>
          </a:prstGeom>
          <a:noFill/>
          <a:ln w="6350">
            <a:solidFill>
              <a:srgbClr val="888C91"/>
            </a:solidFill>
            <a:prstDash val="solid"/>
            <a:headEnd type="none"/>
            <a:tailEnd type="triangle"/>
          </a:ln>
        </p:spPr>
      </p:cxnSp>
      <p:sp>
        <p:nvSpPr>
          <p:cNvPr id="355" name="Shape 39">
            <a:extLst>
              <a:ext uri="{FF2B5EF4-FFF2-40B4-BE49-F238E27FC236}">
                <a16:creationId xmlns:a16="http://schemas.microsoft.com/office/drawing/2014/main" id="{F7D82DE9-0B6E-4CB1-A5F0-9E4D7591B816}"/>
              </a:ext>
            </a:extLst>
          </p:cNvPr>
          <p:cNvSpPr/>
          <p:nvPr/>
        </p:nvSpPr>
        <p:spPr>
          <a:xfrm>
            <a:off x="11009431" y="2705023"/>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a:solidFill>
                  <a:schemeClr val="bg1">
                    <a:lumMod val="65000"/>
                  </a:schemeClr>
                </a:solidFill>
                <a:latin typeface="Malgun Gothic" pitchFamily="34" charset="0"/>
                <a:ea typeface="Malgun Gothic" pitchFamily="34" charset="-122"/>
                <a:cs typeface="Malgun Gothic" pitchFamily="34" charset="-120"/>
              </a:rPr>
              <a:t>Agent Memory </a:t>
            </a:r>
          </a:p>
        </p:txBody>
      </p:sp>
      <p:sp>
        <p:nvSpPr>
          <p:cNvPr id="378" name="Shape 39">
            <a:extLst>
              <a:ext uri="{FF2B5EF4-FFF2-40B4-BE49-F238E27FC236}">
                <a16:creationId xmlns:a16="http://schemas.microsoft.com/office/drawing/2014/main" id="{F7D82DE9-0B6E-4CB1-A5F0-9E4D7591B816}"/>
              </a:ext>
            </a:extLst>
          </p:cNvPr>
          <p:cNvSpPr/>
          <p:nvPr/>
        </p:nvSpPr>
        <p:spPr>
          <a:xfrm>
            <a:off x="11009431" y="2381847"/>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a:solidFill>
                  <a:schemeClr val="bg1">
                    <a:lumMod val="65000"/>
                  </a:schemeClr>
                </a:solidFill>
                <a:latin typeface="Malgun Gothic" pitchFamily="34" charset="0"/>
                <a:ea typeface="Malgun Gothic" pitchFamily="34" charset="-122"/>
                <a:cs typeface="Malgun Gothic" pitchFamily="34" charset="-120"/>
              </a:rPr>
              <a:t>KV Cache </a:t>
            </a:r>
          </a:p>
        </p:txBody>
      </p:sp>
      <p:sp>
        <p:nvSpPr>
          <p:cNvPr id="379" name="Shape 39">
            <a:extLst>
              <a:ext uri="{FF2B5EF4-FFF2-40B4-BE49-F238E27FC236}">
                <a16:creationId xmlns:a16="http://schemas.microsoft.com/office/drawing/2014/main" id="{F7D82DE9-0B6E-4CB1-A5F0-9E4D7591B816}"/>
              </a:ext>
            </a:extLst>
          </p:cNvPr>
          <p:cNvSpPr/>
          <p:nvPr/>
        </p:nvSpPr>
        <p:spPr>
          <a:xfrm>
            <a:off x="11009431" y="3028199"/>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err="1">
                <a:solidFill>
                  <a:schemeClr val="bg1">
                    <a:lumMod val="65000"/>
                  </a:schemeClr>
                </a:solidFill>
                <a:latin typeface="Malgun Gothic" pitchFamily="34" charset="0"/>
                <a:ea typeface="Malgun Gothic" pitchFamily="34" charset="-122"/>
                <a:cs typeface="Malgun Gothic" pitchFamily="34" charset="-120"/>
              </a:rPr>
              <a:t>LoRA</a:t>
            </a:r>
            <a:r>
              <a:rPr lang="en-US" altLang="ko-KR" sz="900" b="1" dirty="0">
                <a:solidFill>
                  <a:schemeClr val="bg1">
                    <a:lumMod val="65000"/>
                  </a:schemeClr>
                </a:solidFill>
                <a:latin typeface="Malgun Gothic" pitchFamily="34" charset="0"/>
                <a:ea typeface="Malgun Gothic" pitchFamily="34" charset="-122"/>
                <a:cs typeface="Malgun Gothic" pitchFamily="34" charset="-120"/>
              </a:rPr>
              <a:t> Adapter </a:t>
            </a:r>
          </a:p>
        </p:txBody>
      </p:sp>
      <p:sp>
        <p:nvSpPr>
          <p:cNvPr id="380" name="Shape 39">
            <a:extLst>
              <a:ext uri="{FF2B5EF4-FFF2-40B4-BE49-F238E27FC236}">
                <a16:creationId xmlns:a16="http://schemas.microsoft.com/office/drawing/2014/main" id="{F7D82DE9-0B6E-4CB1-A5F0-9E4D7591B816}"/>
              </a:ext>
            </a:extLst>
          </p:cNvPr>
          <p:cNvSpPr/>
          <p:nvPr/>
        </p:nvSpPr>
        <p:spPr>
          <a:xfrm>
            <a:off x="11009431" y="3351375"/>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err="1">
                <a:solidFill>
                  <a:schemeClr val="bg1">
                    <a:lumMod val="65000"/>
                  </a:schemeClr>
                </a:solidFill>
                <a:latin typeface="Malgun Gothic" pitchFamily="34" charset="0"/>
                <a:ea typeface="Malgun Gothic" pitchFamily="34" charset="-122"/>
                <a:cs typeface="Malgun Gothic" pitchFamily="34" charset="-120"/>
              </a:rPr>
              <a:t>MoE</a:t>
            </a:r>
            <a:r>
              <a:rPr lang="en-US" altLang="ko-KR" sz="900" b="1" dirty="0">
                <a:solidFill>
                  <a:schemeClr val="bg1">
                    <a:lumMod val="65000"/>
                  </a:schemeClr>
                </a:solidFill>
                <a:latin typeface="Malgun Gothic" pitchFamily="34" charset="0"/>
                <a:ea typeface="Malgun Gothic" pitchFamily="34" charset="-122"/>
                <a:cs typeface="Malgun Gothic" pitchFamily="34" charset="-120"/>
              </a:rPr>
              <a:t> Expert </a:t>
            </a:r>
          </a:p>
        </p:txBody>
      </p:sp>
      <p:sp>
        <p:nvSpPr>
          <p:cNvPr id="381" name="Shape 39">
            <a:extLst>
              <a:ext uri="{FF2B5EF4-FFF2-40B4-BE49-F238E27FC236}">
                <a16:creationId xmlns:a16="http://schemas.microsoft.com/office/drawing/2014/main" id="{F7D82DE9-0B6E-4CB1-A5F0-9E4D7591B816}"/>
              </a:ext>
            </a:extLst>
          </p:cNvPr>
          <p:cNvSpPr/>
          <p:nvPr/>
        </p:nvSpPr>
        <p:spPr>
          <a:xfrm>
            <a:off x="11009431" y="3674552"/>
            <a:ext cx="785076" cy="254568"/>
          </a:xfrm>
          <a:prstGeom prst="rect">
            <a:avLst/>
          </a:prstGeom>
          <a:solidFill>
            <a:srgbClr val="FFFFFF"/>
          </a:solidFill>
          <a:ln w="12700">
            <a:solidFill>
              <a:schemeClr val="accent2">
                <a:lumMod val="40000"/>
                <a:lumOff val="60000"/>
              </a:schemeClr>
            </a:solidFill>
            <a:prstDash val="solid"/>
          </a:ln>
        </p:spPr>
        <p:txBody>
          <a:bodyPr anchor="ctr"/>
          <a:lstStyle/>
          <a:p>
            <a:pPr algn="ctr"/>
            <a:r>
              <a:rPr lang="en-US" altLang="ko-KR" sz="900" b="1" dirty="0">
                <a:solidFill>
                  <a:schemeClr val="bg1">
                    <a:lumMod val="65000"/>
                  </a:schemeClr>
                </a:solidFill>
                <a:latin typeface="Malgun Gothic" pitchFamily="34" charset="0"/>
                <a:ea typeface="Malgun Gothic" pitchFamily="34" charset="-122"/>
                <a:cs typeface="Malgun Gothic" pitchFamily="34" charset="-120"/>
              </a:rPr>
              <a:t>Vector </a:t>
            </a:r>
            <a:r>
              <a:rPr lang="en-US" altLang="ko-KR" sz="900" b="1" dirty="0" err="1">
                <a:solidFill>
                  <a:schemeClr val="bg1">
                    <a:lumMod val="65000"/>
                  </a:schemeClr>
                </a:solidFill>
                <a:latin typeface="Malgun Gothic" pitchFamily="34" charset="0"/>
                <a:ea typeface="Malgun Gothic" pitchFamily="34" charset="-122"/>
                <a:cs typeface="Malgun Gothic" pitchFamily="34" charset="-120"/>
              </a:rPr>
              <a:t>Idx</a:t>
            </a:r>
            <a:r>
              <a:rPr lang="en-US" altLang="ko-KR" sz="900" b="1" dirty="0">
                <a:solidFill>
                  <a:schemeClr val="bg1">
                    <a:lumMod val="65000"/>
                  </a:schemeClr>
                </a:solidFill>
                <a:latin typeface="Malgun Gothic" pitchFamily="34" charset="0"/>
                <a:ea typeface="Malgun Gothic" pitchFamily="34" charset="-122"/>
                <a:cs typeface="Malgun Gothic" pitchFamily="34" charset="-120"/>
              </a:rPr>
              <a:t> Cache</a:t>
            </a:r>
          </a:p>
        </p:txBody>
      </p:sp>
      <p:sp>
        <p:nvSpPr>
          <p:cNvPr id="385" name="Shape 37">
            <a:extLst>
              <a:ext uri="{FF2B5EF4-FFF2-40B4-BE49-F238E27FC236}">
                <a16:creationId xmlns:a16="http://schemas.microsoft.com/office/drawing/2014/main" id="{306B7634-9A5E-4F0E-A947-927E7282352F}"/>
              </a:ext>
            </a:extLst>
          </p:cNvPr>
          <p:cNvSpPr/>
          <p:nvPr/>
        </p:nvSpPr>
        <p:spPr>
          <a:xfrm>
            <a:off x="10432876" y="1930379"/>
            <a:ext cx="862466" cy="359615"/>
          </a:xfrm>
          <a:prstGeom prst="rect">
            <a:avLst/>
          </a:prstGeom>
          <a:solidFill>
            <a:srgbClr val="FFFFFF"/>
          </a:solidFill>
          <a:ln w="12700">
            <a:solidFill>
              <a:srgbClr val="C76E31"/>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cs typeface="Malgun Gothic" pitchFamily="34" charset="-120"/>
              </a:rPr>
              <a:t>Data</a:t>
            </a:r>
            <a:r>
              <a:rPr lang="ko-KR" altLang="en-US" sz="900" b="1" dirty="0">
                <a:solidFill>
                  <a:srgbClr val="1A1A1A"/>
                </a:solidFill>
                <a:latin typeface="Malgun Gothic" pitchFamily="34" charset="0"/>
                <a:ea typeface="Malgun Gothic" pitchFamily="34" charset="-122"/>
                <a:cs typeface="Malgun Gothic" pitchFamily="34" charset="-120"/>
              </a:rPr>
              <a:t> </a:t>
            </a:r>
            <a:r>
              <a:rPr lang="en-US" altLang="ko-KR" sz="900" b="1" dirty="0">
                <a:solidFill>
                  <a:srgbClr val="1A1A1A"/>
                </a:solidFill>
                <a:latin typeface="Malgun Gothic" pitchFamily="34" charset="0"/>
                <a:ea typeface="Malgun Gothic" pitchFamily="34" charset="-122"/>
                <a:cs typeface="Malgun Gothic" pitchFamily="34" charset="-120"/>
              </a:rPr>
              <a:t>Object</a:t>
            </a:r>
            <a:r>
              <a:rPr lang="ko-KR" altLang="en-US" sz="900" b="1" dirty="0">
                <a:solidFill>
                  <a:srgbClr val="1A1A1A"/>
                </a:solidFill>
                <a:latin typeface="Malgun Gothic" pitchFamily="34" charset="0"/>
                <a:ea typeface="Malgun Gothic" pitchFamily="34" charset="-122"/>
                <a:cs typeface="Malgun Gothic" pitchFamily="34" charset="-120"/>
              </a:rPr>
              <a:t> </a:t>
            </a:r>
            <a:r>
              <a:rPr lang="en-US" altLang="ko-KR" sz="900" b="1" dirty="0">
                <a:solidFill>
                  <a:srgbClr val="1A1A1A"/>
                </a:solidFill>
                <a:latin typeface="Malgun Gothic" pitchFamily="34" charset="0"/>
                <a:ea typeface="Malgun Gothic" pitchFamily="34" charset="-122"/>
                <a:cs typeface="Malgun Gothic" pitchFamily="34" charset="-120"/>
              </a:rPr>
              <a:t>Registry</a:t>
            </a:r>
          </a:p>
        </p:txBody>
      </p:sp>
      <p:cxnSp>
        <p:nvCxnSpPr>
          <p:cNvPr id="386" name="직선 화살표 연결선 185">
            <a:extLst>
              <a:ext uri="{FF2B5EF4-FFF2-40B4-BE49-F238E27FC236}">
                <a16:creationId xmlns:a16="http://schemas.microsoft.com/office/drawing/2014/main" id="{63055888-A989-4681-8232-E5AD42EA4D88}"/>
              </a:ext>
            </a:extLst>
          </p:cNvPr>
          <p:cNvCxnSpPr>
            <a:cxnSpLocks/>
            <a:stCxn id="235" idx="3"/>
            <a:endCxn id="385" idx="1"/>
          </p:cNvCxnSpPr>
          <p:nvPr/>
        </p:nvCxnSpPr>
        <p:spPr>
          <a:xfrm>
            <a:off x="9808331" y="2110187"/>
            <a:ext cx="624545" cy="0"/>
          </a:xfrm>
          <a:prstGeom prst="straightConnector1">
            <a:avLst/>
          </a:prstGeom>
          <a:noFill/>
          <a:ln w="12700">
            <a:solidFill>
              <a:srgbClr val="C76E31"/>
            </a:solidFill>
            <a:prstDash val="solid"/>
            <a:headEnd type="none"/>
            <a:tailEnd type="triangle"/>
          </a:ln>
        </p:spPr>
      </p:cxnSp>
      <p:cxnSp>
        <p:nvCxnSpPr>
          <p:cNvPr id="389" name="직선 화살표 연결선 185">
            <a:extLst>
              <a:ext uri="{FF2B5EF4-FFF2-40B4-BE49-F238E27FC236}">
                <a16:creationId xmlns:a16="http://schemas.microsoft.com/office/drawing/2014/main" id="{63055888-A989-4681-8232-E5AD42EA4D88}"/>
              </a:ext>
            </a:extLst>
          </p:cNvPr>
          <p:cNvCxnSpPr>
            <a:cxnSpLocks/>
            <a:stCxn id="385" idx="2"/>
            <a:endCxn id="378" idx="1"/>
          </p:cNvCxnSpPr>
          <p:nvPr/>
        </p:nvCxnSpPr>
        <p:spPr>
          <a:xfrm rot="16200000" flipH="1">
            <a:off x="10827202" y="2326901"/>
            <a:ext cx="219137" cy="145322"/>
          </a:xfrm>
          <a:prstGeom prst="bentConnector2">
            <a:avLst/>
          </a:prstGeom>
          <a:noFill/>
          <a:ln w="12700">
            <a:solidFill>
              <a:schemeClr val="accent2">
                <a:lumMod val="40000"/>
                <a:lumOff val="60000"/>
              </a:schemeClr>
            </a:solidFill>
            <a:prstDash val="solid"/>
            <a:headEnd type="none"/>
            <a:tailEnd type="triangle"/>
          </a:ln>
        </p:spPr>
      </p:cxnSp>
      <p:cxnSp>
        <p:nvCxnSpPr>
          <p:cNvPr id="392" name="직선 화살표 연결선 185">
            <a:extLst>
              <a:ext uri="{FF2B5EF4-FFF2-40B4-BE49-F238E27FC236}">
                <a16:creationId xmlns:a16="http://schemas.microsoft.com/office/drawing/2014/main" id="{63055888-A989-4681-8232-E5AD42EA4D88}"/>
              </a:ext>
            </a:extLst>
          </p:cNvPr>
          <p:cNvCxnSpPr>
            <a:cxnSpLocks/>
            <a:stCxn id="385" idx="2"/>
            <a:endCxn id="355" idx="1"/>
          </p:cNvCxnSpPr>
          <p:nvPr/>
        </p:nvCxnSpPr>
        <p:spPr>
          <a:xfrm rot="16200000" flipH="1">
            <a:off x="10665614" y="2488489"/>
            <a:ext cx="542313" cy="145322"/>
          </a:xfrm>
          <a:prstGeom prst="bentConnector2">
            <a:avLst/>
          </a:prstGeom>
          <a:noFill/>
          <a:ln w="12700">
            <a:solidFill>
              <a:schemeClr val="accent2">
                <a:lumMod val="40000"/>
                <a:lumOff val="60000"/>
              </a:schemeClr>
            </a:solidFill>
            <a:prstDash val="solid"/>
            <a:headEnd type="none"/>
            <a:tailEnd type="triangle"/>
          </a:ln>
        </p:spPr>
      </p:cxnSp>
      <p:cxnSp>
        <p:nvCxnSpPr>
          <p:cNvPr id="395" name="직선 화살표 연결선 185">
            <a:extLst>
              <a:ext uri="{FF2B5EF4-FFF2-40B4-BE49-F238E27FC236}">
                <a16:creationId xmlns:a16="http://schemas.microsoft.com/office/drawing/2014/main" id="{63055888-A989-4681-8232-E5AD42EA4D88}"/>
              </a:ext>
            </a:extLst>
          </p:cNvPr>
          <p:cNvCxnSpPr>
            <a:cxnSpLocks/>
            <a:stCxn id="385" idx="2"/>
            <a:endCxn id="379" idx="1"/>
          </p:cNvCxnSpPr>
          <p:nvPr/>
        </p:nvCxnSpPr>
        <p:spPr>
          <a:xfrm rot="16200000" flipH="1">
            <a:off x="10504026" y="2650077"/>
            <a:ext cx="865489" cy="145322"/>
          </a:xfrm>
          <a:prstGeom prst="bentConnector2">
            <a:avLst/>
          </a:prstGeom>
          <a:noFill/>
          <a:ln w="12700">
            <a:solidFill>
              <a:schemeClr val="accent2">
                <a:lumMod val="40000"/>
                <a:lumOff val="60000"/>
              </a:schemeClr>
            </a:solidFill>
            <a:prstDash val="solid"/>
            <a:headEnd type="none"/>
            <a:tailEnd type="triangle"/>
          </a:ln>
        </p:spPr>
      </p:cxnSp>
      <p:cxnSp>
        <p:nvCxnSpPr>
          <p:cNvPr id="398" name="직선 화살표 연결선 185">
            <a:extLst>
              <a:ext uri="{FF2B5EF4-FFF2-40B4-BE49-F238E27FC236}">
                <a16:creationId xmlns:a16="http://schemas.microsoft.com/office/drawing/2014/main" id="{63055888-A989-4681-8232-E5AD42EA4D88}"/>
              </a:ext>
            </a:extLst>
          </p:cNvPr>
          <p:cNvCxnSpPr>
            <a:cxnSpLocks/>
            <a:stCxn id="385" idx="2"/>
            <a:endCxn id="380" idx="1"/>
          </p:cNvCxnSpPr>
          <p:nvPr/>
        </p:nvCxnSpPr>
        <p:spPr>
          <a:xfrm rot="16200000" flipH="1">
            <a:off x="10342438" y="2811665"/>
            <a:ext cx="1188665" cy="145322"/>
          </a:xfrm>
          <a:prstGeom prst="bentConnector2">
            <a:avLst/>
          </a:prstGeom>
          <a:noFill/>
          <a:ln w="12700">
            <a:solidFill>
              <a:schemeClr val="accent2">
                <a:lumMod val="40000"/>
                <a:lumOff val="60000"/>
              </a:schemeClr>
            </a:solidFill>
            <a:prstDash val="solid"/>
            <a:headEnd type="none"/>
            <a:tailEnd type="triangle"/>
          </a:ln>
        </p:spPr>
      </p:cxnSp>
      <p:cxnSp>
        <p:nvCxnSpPr>
          <p:cNvPr id="401" name="직선 화살표 연결선 185">
            <a:extLst>
              <a:ext uri="{FF2B5EF4-FFF2-40B4-BE49-F238E27FC236}">
                <a16:creationId xmlns:a16="http://schemas.microsoft.com/office/drawing/2014/main" id="{63055888-A989-4681-8232-E5AD42EA4D88}"/>
              </a:ext>
            </a:extLst>
          </p:cNvPr>
          <p:cNvCxnSpPr>
            <a:cxnSpLocks/>
            <a:stCxn id="385" idx="2"/>
            <a:endCxn id="381" idx="1"/>
          </p:cNvCxnSpPr>
          <p:nvPr/>
        </p:nvCxnSpPr>
        <p:spPr>
          <a:xfrm rot="16200000" flipH="1">
            <a:off x="10180849" y="2973254"/>
            <a:ext cx="1511842" cy="145322"/>
          </a:xfrm>
          <a:prstGeom prst="bentConnector2">
            <a:avLst/>
          </a:prstGeom>
          <a:noFill/>
          <a:ln w="12700">
            <a:solidFill>
              <a:schemeClr val="accent2">
                <a:lumMod val="40000"/>
                <a:lumOff val="60000"/>
              </a:schemeClr>
            </a:solidFill>
            <a:prstDash val="solid"/>
            <a:headEnd type="none"/>
            <a:tailEnd type="triangle"/>
          </a:ln>
        </p:spPr>
      </p:cxnSp>
      <p:sp>
        <p:nvSpPr>
          <p:cNvPr id="414" name="Shape 37">
            <a:extLst>
              <a:ext uri="{FF2B5EF4-FFF2-40B4-BE49-F238E27FC236}">
                <a16:creationId xmlns:a16="http://schemas.microsoft.com/office/drawing/2014/main" id="{306B7634-9A5E-4F0E-A947-927E7282352F}"/>
              </a:ext>
            </a:extLst>
          </p:cNvPr>
          <p:cNvSpPr/>
          <p:nvPr/>
        </p:nvSpPr>
        <p:spPr>
          <a:xfrm>
            <a:off x="8660389" y="2534420"/>
            <a:ext cx="1147942" cy="359615"/>
          </a:xfrm>
          <a:prstGeom prst="rect">
            <a:avLst/>
          </a:prstGeom>
          <a:solidFill>
            <a:srgbClr val="FFFFFF"/>
          </a:solidFill>
          <a:ln w="12700">
            <a:solidFill>
              <a:srgbClr val="C76E31"/>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cs typeface="Malgun Gothic" pitchFamily="34" charset="-120"/>
              </a:rPr>
              <a:t>Behavior-based Trend Analyzer</a:t>
            </a:r>
          </a:p>
        </p:txBody>
      </p:sp>
      <p:sp>
        <p:nvSpPr>
          <p:cNvPr id="417" name="Shape 37">
            <a:extLst>
              <a:ext uri="{FF2B5EF4-FFF2-40B4-BE49-F238E27FC236}">
                <a16:creationId xmlns:a16="http://schemas.microsoft.com/office/drawing/2014/main" id="{306B7634-9A5E-4F0E-A947-927E7282352F}"/>
              </a:ext>
            </a:extLst>
          </p:cNvPr>
          <p:cNvSpPr/>
          <p:nvPr/>
        </p:nvSpPr>
        <p:spPr>
          <a:xfrm>
            <a:off x="8660389" y="3065065"/>
            <a:ext cx="1147942" cy="359615"/>
          </a:xfrm>
          <a:prstGeom prst="rect">
            <a:avLst/>
          </a:prstGeom>
          <a:solidFill>
            <a:srgbClr val="FFFFFF"/>
          </a:solidFill>
          <a:ln w="12700">
            <a:solidFill>
              <a:srgbClr val="C76E31"/>
            </a:solidFill>
            <a:prstDash val="solid"/>
          </a:ln>
        </p:spPr>
        <p:txBody>
          <a:bodyPr anchor="ctr"/>
          <a:lstStyle/>
          <a:p>
            <a:pPr algn="ctr"/>
            <a:r>
              <a:rPr lang="en-US" altLang="ko-KR" sz="900" b="1" dirty="0">
                <a:solidFill>
                  <a:srgbClr val="1A1A1A"/>
                </a:solidFill>
                <a:latin typeface="Malgun Gothic" pitchFamily="34" charset="0"/>
                <a:ea typeface="Malgun Gothic" pitchFamily="34" charset="-122"/>
                <a:cs typeface="Malgun Gothic" pitchFamily="34" charset="-120"/>
              </a:rPr>
              <a:t>Future Behavior Predictor</a:t>
            </a:r>
          </a:p>
        </p:txBody>
      </p:sp>
      <p:sp>
        <p:nvSpPr>
          <p:cNvPr id="420" name="Shape 37">
            <a:extLst>
              <a:ext uri="{FF2B5EF4-FFF2-40B4-BE49-F238E27FC236}">
                <a16:creationId xmlns:a16="http://schemas.microsoft.com/office/drawing/2014/main" id="{306B7634-9A5E-4F0E-A947-927E7282352F}"/>
              </a:ext>
            </a:extLst>
          </p:cNvPr>
          <p:cNvSpPr/>
          <p:nvPr/>
        </p:nvSpPr>
        <p:spPr>
          <a:xfrm>
            <a:off x="9440616" y="3684861"/>
            <a:ext cx="1147942" cy="359615"/>
          </a:xfrm>
          <a:prstGeom prst="rect">
            <a:avLst/>
          </a:prstGeom>
          <a:solidFill>
            <a:srgbClr val="FFFFFF"/>
          </a:solidFill>
          <a:ln w="12700">
            <a:solidFill>
              <a:srgbClr val="C76E31"/>
            </a:solidFill>
            <a:prstDash val="solid"/>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Migration Data</a:t>
            </a:r>
          </a:p>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Selector</a:t>
            </a:r>
          </a:p>
        </p:txBody>
      </p:sp>
      <p:sp>
        <p:nvSpPr>
          <p:cNvPr id="421" name="Shape 37">
            <a:extLst>
              <a:ext uri="{FF2B5EF4-FFF2-40B4-BE49-F238E27FC236}">
                <a16:creationId xmlns:a16="http://schemas.microsoft.com/office/drawing/2014/main" id="{306B7634-9A5E-4F0E-A947-927E7282352F}"/>
              </a:ext>
            </a:extLst>
          </p:cNvPr>
          <p:cNvSpPr/>
          <p:nvPr/>
        </p:nvSpPr>
        <p:spPr>
          <a:xfrm>
            <a:off x="7949089" y="3684861"/>
            <a:ext cx="1147942" cy="359615"/>
          </a:xfrm>
          <a:prstGeom prst="rect">
            <a:avLst/>
          </a:prstGeom>
          <a:solidFill>
            <a:srgbClr val="FFFFFF"/>
          </a:solidFill>
          <a:ln w="12700">
            <a:solidFill>
              <a:srgbClr val="C76E31"/>
            </a:solidFill>
            <a:prstDash val="solid"/>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Destination Tier Selector</a:t>
            </a:r>
          </a:p>
        </p:txBody>
      </p:sp>
      <p:cxnSp>
        <p:nvCxnSpPr>
          <p:cNvPr id="470" name="직선 화살표 연결선 185">
            <a:extLst>
              <a:ext uri="{FF2B5EF4-FFF2-40B4-BE49-F238E27FC236}">
                <a16:creationId xmlns:a16="http://schemas.microsoft.com/office/drawing/2014/main" id="{63055888-A989-4681-8232-E5AD42EA4D88}"/>
              </a:ext>
            </a:extLst>
          </p:cNvPr>
          <p:cNvCxnSpPr>
            <a:cxnSpLocks/>
            <a:stCxn id="414" idx="2"/>
            <a:endCxn id="417" idx="0"/>
          </p:cNvCxnSpPr>
          <p:nvPr/>
        </p:nvCxnSpPr>
        <p:spPr>
          <a:xfrm>
            <a:off x="9234360" y="2894035"/>
            <a:ext cx="0" cy="171030"/>
          </a:xfrm>
          <a:prstGeom prst="straightConnector1">
            <a:avLst/>
          </a:prstGeom>
          <a:noFill/>
          <a:ln w="12700">
            <a:solidFill>
              <a:srgbClr val="C76E31"/>
            </a:solidFill>
            <a:prstDash val="solid"/>
            <a:headEnd type="none"/>
            <a:tailEnd type="triangle"/>
          </a:ln>
        </p:spPr>
      </p:cxnSp>
      <p:sp>
        <p:nvSpPr>
          <p:cNvPr id="473" name="직사각형 472">
            <a:extLst>
              <a:ext uri="{FF2B5EF4-FFF2-40B4-BE49-F238E27FC236}">
                <a16:creationId xmlns:a16="http://schemas.microsoft.com/office/drawing/2014/main" id="{1F732118-666E-4542-8530-F6AD2A384259}"/>
              </a:ext>
            </a:extLst>
          </p:cNvPr>
          <p:cNvSpPr/>
          <p:nvPr/>
        </p:nvSpPr>
        <p:spPr>
          <a:xfrm>
            <a:off x="9216547" y="2328139"/>
            <a:ext cx="941068" cy="186773"/>
          </a:xfrm>
          <a:prstGeom prst="rect">
            <a:avLst/>
          </a:prstGeom>
          <a:noFill/>
          <a:ln w="12700">
            <a:noFill/>
            <a:prstDash val="dash"/>
          </a:ln>
        </p:spPr>
        <p:txBody>
          <a:bodyPr rtlCol="0" anchor="ctr"/>
          <a:lstStyle/>
          <a:p>
            <a:r>
              <a:rPr lang="en-US" altLang="ko-KR" sz="700" dirty="0">
                <a:solidFill>
                  <a:schemeClr val="bg1">
                    <a:lumMod val="50000"/>
                  </a:schemeClr>
                </a:solidFill>
              </a:rPr>
              <a:t>Data Affinity </a:t>
            </a:r>
            <a:r>
              <a:rPr lang="ko-KR" altLang="en-US" sz="700" dirty="0">
                <a:solidFill>
                  <a:schemeClr val="bg1">
                    <a:lumMod val="50000"/>
                  </a:schemeClr>
                </a:solidFill>
              </a:rPr>
              <a:t>정보</a:t>
            </a:r>
            <a:endParaRPr lang="en-US" altLang="ko-KR" sz="700" dirty="0">
              <a:solidFill>
                <a:schemeClr val="bg1">
                  <a:lumMod val="50000"/>
                </a:schemeClr>
              </a:solidFill>
            </a:endParaRPr>
          </a:p>
        </p:txBody>
      </p:sp>
      <p:cxnSp>
        <p:nvCxnSpPr>
          <p:cNvPr id="474" name="직선 화살표 연결선 185">
            <a:extLst>
              <a:ext uri="{FF2B5EF4-FFF2-40B4-BE49-F238E27FC236}">
                <a16:creationId xmlns:a16="http://schemas.microsoft.com/office/drawing/2014/main" id="{63055888-A989-4681-8232-E5AD42EA4D88}"/>
              </a:ext>
            </a:extLst>
          </p:cNvPr>
          <p:cNvCxnSpPr>
            <a:cxnSpLocks/>
            <a:stCxn id="417" idx="2"/>
            <a:endCxn id="420" idx="0"/>
          </p:cNvCxnSpPr>
          <p:nvPr/>
        </p:nvCxnSpPr>
        <p:spPr>
          <a:xfrm rot="16200000" flipH="1">
            <a:off x="9494383" y="3164656"/>
            <a:ext cx="260181" cy="780227"/>
          </a:xfrm>
          <a:prstGeom prst="bentConnector3">
            <a:avLst>
              <a:gd name="adj1" fmla="val 50000"/>
            </a:avLst>
          </a:prstGeom>
          <a:noFill/>
          <a:ln w="12700">
            <a:solidFill>
              <a:srgbClr val="C76E31"/>
            </a:solidFill>
            <a:prstDash val="solid"/>
            <a:headEnd type="none"/>
            <a:tailEnd type="triangle"/>
          </a:ln>
        </p:spPr>
      </p:cxnSp>
      <p:cxnSp>
        <p:nvCxnSpPr>
          <p:cNvPr id="477" name="직선 화살표 연결선 185">
            <a:extLst>
              <a:ext uri="{FF2B5EF4-FFF2-40B4-BE49-F238E27FC236}">
                <a16:creationId xmlns:a16="http://schemas.microsoft.com/office/drawing/2014/main" id="{63055888-A989-4681-8232-E5AD42EA4D88}"/>
              </a:ext>
            </a:extLst>
          </p:cNvPr>
          <p:cNvCxnSpPr>
            <a:cxnSpLocks/>
            <a:stCxn id="417" idx="2"/>
            <a:endCxn id="421" idx="0"/>
          </p:cNvCxnSpPr>
          <p:nvPr/>
        </p:nvCxnSpPr>
        <p:spPr>
          <a:xfrm rot="5400000">
            <a:off x="8748620" y="3199120"/>
            <a:ext cx="260181" cy="711300"/>
          </a:xfrm>
          <a:prstGeom prst="bentConnector3">
            <a:avLst>
              <a:gd name="adj1" fmla="val 50000"/>
            </a:avLst>
          </a:prstGeom>
          <a:noFill/>
          <a:ln w="12700">
            <a:solidFill>
              <a:srgbClr val="C76E31"/>
            </a:solidFill>
            <a:prstDash val="solid"/>
            <a:headEnd type="none"/>
            <a:tailEnd type="triangle"/>
          </a:ln>
        </p:spPr>
      </p:cxnSp>
      <p:grpSp>
        <p:nvGrpSpPr>
          <p:cNvPr id="487" name="그룹 486"/>
          <p:cNvGrpSpPr/>
          <p:nvPr/>
        </p:nvGrpSpPr>
        <p:grpSpPr>
          <a:xfrm>
            <a:off x="6668798" y="3314821"/>
            <a:ext cx="1016101" cy="1260561"/>
            <a:chOff x="5405727" y="1845809"/>
            <a:chExt cx="1016101" cy="1260561"/>
          </a:xfrm>
        </p:grpSpPr>
        <p:sp>
          <p:nvSpPr>
            <p:cNvPr id="488" name="Shape 59">
              <a:extLst>
                <a:ext uri="{FF2B5EF4-FFF2-40B4-BE49-F238E27FC236}">
                  <a16:creationId xmlns:a16="http://schemas.microsoft.com/office/drawing/2014/main" id="{67748352-D195-48A3-8563-9385B634D68C}"/>
                </a:ext>
              </a:extLst>
            </p:cNvPr>
            <p:cNvSpPr/>
            <p:nvPr/>
          </p:nvSpPr>
          <p:spPr>
            <a:xfrm>
              <a:off x="5405727" y="1845809"/>
              <a:ext cx="1016101" cy="1260561"/>
            </a:xfrm>
            <a:prstGeom prst="rect">
              <a:avLst/>
            </a:prstGeom>
            <a:solidFill>
              <a:srgbClr val="F0F1F3"/>
            </a:solidFill>
            <a:ln w="12700">
              <a:solidFill>
                <a:srgbClr val="888C91"/>
              </a:solidFill>
              <a:prstDash val="solid"/>
            </a:ln>
          </p:spPr>
          <p:txBody>
            <a:bodyPr/>
            <a:lstStyle/>
            <a:p>
              <a:pPr algn="ctr"/>
              <a:r>
                <a:rPr lang="en-US" altLang="ko-KR" sz="1000" dirty="0"/>
                <a:t>Resource Manager</a:t>
              </a:r>
              <a:endParaRPr lang="ko-KR" altLang="en-US" sz="1000" dirty="0"/>
            </a:p>
          </p:txBody>
        </p:sp>
        <p:sp>
          <p:nvSpPr>
            <p:cNvPr id="489" name="Shape 37">
              <a:extLst>
                <a:ext uri="{FF2B5EF4-FFF2-40B4-BE49-F238E27FC236}">
                  <a16:creationId xmlns:a16="http://schemas.microsoft.com/office/drawing/2014/main" id="{306B7634-9A5E-4F0E-A947-927E7282352F}"/>
                </a:ext>
              </a:extLst>
            </p:cNvPr>
            <p:cNvSpPr/>
            <p:nvPr/>
          </p:nvSpPr>
          <p:spPr>
            <a:xfrm>
              <a:off x="5504626" y="2284243"/>
              <a:ext cx="837807" cy="297203"/>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Telemetry Collector</a:t>
              </a:r>
            </a:p>
          </p:txBody>
        </p:sp>
      </p:grpSp>
      <p:cxnSp>
        <p:nvCxnSpPr>
          <p:cNvPr id="490" name="직선 화살표 연결선 185">
            <a:extLst>
              <a:ext uri="{FF2B5EF4-FFF2-40B4-BE49-F238E27FC236}">
                <a16:creationId xmlns:a16="http://schemas.microsoft.com/office/drawing/2014/main" id="{C77B044C-CFD5-4C99-9B08-C9CDFDD38AC5}"/>
              </a:ext>
            </a:extLst>
          </p:cNvPr>
          <p:cNvCxnSpPr>
            <a:cxnSpLocks/>
            <a:stCxn id="421" idx="1"/>
            <a:endCxn id="489" idx="3"/>
          </p:cNvCxnSpPr>
          <p:nvPr/>
        </p:nvCxnSpPr>
        <p:spPr>
          <a:xfrm rot="10800000" flipV="1">
            <a:off x="7605505" y="3864669"/>
            <a:ext cx="343585" cy="37188"/>
          </a:xfrm>
          <a:prstGeom prst="bentConnector3">
            <a:avLst>
              <a:gd name="adj1" fmla="val 50000"/>
            </a:avLst>
          </a:prstGeom>
          <a:noFill/>
          <a:ln w="6350">
            <a:solidFill>
              <a:srgbClr val="888C91"/>
            </a:solidFill>
            <a:prstDash val="solid"/>
            <a:headEnd type="none"/>
            <a:tailEnd type="triangle"/>
          </a:ln>
        </p:spPr>
      </p:cxnSp>
      <p:cxnSp>
        <p:nvCxnSpPr>
          <p:cNvPr id="505" name="직선 화살표 연결선 185">
            <a:extLst>
              <a:ext uri="{FF2B5EF4-FFF2-40B4-BE49-F238E27FC236}">
                <a16:creationId xmlns:a16="http://schemas.microsoft.com/office/drawing/2014/main" id="{C77B044C-CFD5-4C99-9B08-C9CDFDD38AC5}"/>
              </a:ext>
            </a:extLst>
          </p:cNvPr>
          <p:cNvCxnSpPr>
            <a:cxnSpLocks/>
            <a:stCxn id="191" idx="1"/>
            <a:endCxn id="566" idx="4"/>
          </p:cNvCxnSpPr>
          <p:nvPr/>
        </p:nvCxnSpPr>
        <p:spPr>
          <a:xfrm rot="10800000" flipV="1">
            <a:off x="2059110" y="3875436"/>
            <a:ext cx="479558" cy="187999"/>
          </a:xfrm>
          <a:prstGeom prst="bentConnector3">
            <a:avLst>
              <a:gd name="adj1" fmla="val 50000"/>
            </a:avLst>
          </a:prstGeom>
          <a:noFill/>
          <a:ln w="6350">
            <a:solidFill>
              <a:srgbClr val="888C91"/>
            </a:solidFill>
            <a:prstDash val="solid"/>
            <a:headEnd type="none"/>
            <a:tailEnd type="triangle"/>
          </a:ln>
        </p:spPr>
      </p:cxnSp>
      <p:grpSp>
        <p:nvGrpSpPr>
          <p:cNvPr id="525" name="그룹 524"/>
          <p:cNvGrpSpPr/>
          <p:nvPr/>
        </p:nvGrpSpPr>
        <p:grpSpPr>
          <a:xfrm>
            <a:off x="10951822" y="4005409"/>
            <a:ext cx="900294" cy="377838"/>
            <a:chOff x="11040384" y="4137943"/>
            <a:chExt cx="900294" cy="377838"/>
          </a:xfrm>
        </p:grpSpPr>
        <p:grpSp>
          <p:nvGrpSpPr>
            <p:cNvPr id="460" name="그룹 459"/>
            <p:cNvGrpSpPr/>
            <p:nvPr/>
          </p:nvGrpSpPr>
          <p:grpSpPr>
            <a:xfrm>
              <a:off x="11040384" y="4137943"/>
              <a:ext cx="788371" cy="258772"/>
              <a:chOff x="7752318" y="2902314"/>
              <a:chExt cx="686990" cy="258772"/>
            </a:xfrm>
          </p:grpSpPr>
          <p:sp>
            <p:nvSpPr>
              <p:cNvPr id="467" name="모서리가 접힌 도형 466"/>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8" name="직사각형 467">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Type</a:t>
                </a:r>
                <a:r>
                  <a:rPr lang="ko-KR" altLang="en-US" sz="600" dirty="0"/>
                  <a:t>별 </a:t>
                </a:r>
                <a:r>
                  <a:rPr lang="en-US" altLang="ko-KR" sz="600" dirty="0"/>
                  <a:t>Behavior </a:t>
                </a:r>
                <a:r>
                  <a:rPr lang="ko-KR" altLang="en-US" sz="600" dirty="0"/>
                  <a:t>로그</a:t>
                </a:r>
                <a:endParaRPr lang="en-US" altLang="ko-KR" sz="600" dirty="0"/>
              </a:p>
            </p:txBody>
          </p:sp>
        </p:grpSp>
        <p:grpSp>
          <p:nvGrpSpPr>
            <p:cNvPr id="461" name="그룹 460"/>
            <p:cNvGrpSpPr/>
            <p:nvPr/>
          </p:nvGrpSpPr>
          <p:grpSpPr>
            <a:xfrm>
              <a:off x="11068808" y="4168822"/>
              <a:ext cx="788371" cy="258772"/>
              <a:chOff x="7752318" y="2902314"/>
              <a:chExt cx="686990" cy="258772"/>
            </a:xfrm>
          </p:grpSpPr>
          <p:sp>
            <p:nvSpPr>
              <p:cNvPr id="465" name="모서리가 접힌 도형 464"/>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6" name="직사각형 465">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Type</a:t>
                </a:r>
                <a:r>
                  <a:rPr lang="ko-KR" altLang="en-US" sz="600" dirty="0"/>
                  <a:t>별 </a:t>
                </a:r>
                <a:r>
                  <a:rPr lang="en-US" altLang="ko-KR" sz="600" dirty="0"/>
                  <a:t>Behavior </a:t>
                </a:r>
                <a:r>
                  <a:rPr lang="ko-KR" altLang="en-US" sz="600" dirty="0"/>
                  <a:t>로그</a:t>
                </a:r>
                <a:endParaRPr lang="en-US" altLang="ko-KR" sz="600" dirty="0"/>
              </a:p>
            </p:txBody>
          </p:sp>
        </p:grpSp>
        <p:grpSp>
          <p:nvGrpSpPr>
            <p:cNvPr id="462" name="그룹 461"/>
            <p:cNvGrpSpPr/>
            <p:nvPr/>
          </p:nvGrpSpPr>
          <p:grpSpPr>
            <a:xfrm>
              <a:off x="11099474" y="4196592"/>
              <a:ext cx="788371" cy="258772"/>
              <a:chOff x="7752318" y="2902314"/>
              <a:chExt cx="686990" cy="258772"/>
            </a:xfrm>
          </p:grpSpPr>
          <p:sp>
            <p:nvSpPr>
              <p:cNvPr id="463" name="모서리가 접힌 도형 462"/>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4" name="직사각형 463">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Class</a:t>
                </a:r>
                <a:r>
                  <a:rPr lang="ko-KR" altLang="en-US" sz="600" dirty="0"/>
                  <a:t>별 </a:t>
                </a:r>
                <a:r>
                  <a:rPr lang="en-US" altLang="ko-KR" sz="600" dirty="0"/>
                  <a:t>Metadata</a:t>
                </a:r>
              </a:p>
            </p:txBody>
          </p:sp>
        </p:grpSp>
        <p:grpSp>
          <p:nvGrpSpPr>
            <p:cNvPr id="519" name="그룹 518"/>
            <p:cNvGrpSpPr/>
            <p:nvPr/>
          </p:nvGrpSpPr>
          <p:grpSpPr>
            <a:xfrm>
              <a:off x="11124641" y="4226530"/>
              <a:ext cx="788371" cy="258772"/>
              <a:chOff x="7752318" y="2902314"/>
              <a:chExt cx="686990" cy="258772"/>
            </a:xfrm>
          </p:grpSpPr>
          <p:sp>
            <p:nvSpPr>
              <p:cNvPr id="520" name="모서리가 접힌 도형 519"/>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1" name="직사각형 520">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Class</a:t>
                </a:r>
                <a:r>
                  <a:rPr lang="ko-KR" altLang="en-US" sz="600" dirty="0"/>
                  <a:t>별 </a:t>
                </a:r>
                <a:r>
                  <a:rPr lang="en-US" altLang="ko-KR" sz="600" dirty="0"/>
                  <a:t>Metadata</a:t>
                </a:r>
              </a:p>
            </p:txBody>
          </p:sp>
        </p:grpSp>
        <p:grpSp>
          <p:nvGrpSpPr>
            <p:cNvPr id="522" name="그룹 521"/>
            <p:cNvGrpSpPr/>
            <p:nvPr/>
          </p:nvGrpSpPr>
          <p:grpSpPr>
            <a:xfrm>
              <a:off x="11152307" y="4257009"/>
              <a:ext cx="788371" cy="258772"/>
              <a:chOff x="7752318" y="2902314"/>
              <a:chExt cx="686990" cy="258772"/>
            </a:xfrm>
          </p:grpSpPr>
          <p:sp>
            <p:nvSpPr>
              <p:cNvPr id="523" name="모서리가 접힌 도형 522"/>
              <p:cNvSpPr/>
              <p:nvPr/>
            </p:nvSpPr>
            <p:spPr>
              <a:xfrm>
                <a:off x="7810500" y="2902314"/>
                <a:ext cx="563979" cy="258772"/>
              </a:xfrm>
              <a:prstGeom prst="foldedCorner">
                <a:avLst>
                  <a:gd name="adj" fmla="val 27888"/>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4" name="직사각형 523">
                <a:extLst>
                  <a:ext uri="{FF2B5EF4-FFF2-40B4-BE49-F238E27FC236}">
                    <a16:creationId xmlns:a16="http://schemas.microsoft.com/office/drawing/2014/main" id="{1F732118-666E-4542-8530-F6AD2A384259}"/>
                  </a:ext>
                </a:extLst>
              </p:cNvPr>
              <p:cNvSpPr/>
              <p:nvPr/>
            </p:nvSpPr>
            <p:spPr>
              <a:xfrm>
                <a:off x="7752318" y="2932987"/>
                <a:ext cx="686990" cy="197425"/>
              </a:xfrm>
              <a:prstGeom prst="rect">
                <a:avLst/>
              </a:prstGeom>
              <a:noFill/>
              <a:ln w="12700">
                <a:noFill/>
                <a:prstDash val="dash"/>
              </a:ln>
            </p:spPr>
            <p:txBody>
              <a:bodyPr rtlCol="0" anchor="ctr"/>
              <a:lstStyle/>
              <a:p>
                <a:r>
                  <a:rPr lang="ko-KR" altLang="en-US" sz="600" dirty="0"/>
                  <a:t>데이터 </a:t>
                </a:r>
                <a:r>
                  <a:rPr lang="en-US" altLang="ko-KR" sz="600" dirty="0"/>
                  <a:t>Class</a:t>
                </a:r>
                <a:r>
                  <a:rPr lang="ko-KR" altLang="en-US" sz="600" dirty="0"/>
                  <a:t>별 </a:t>
                </a:r>
                <a:r>
                  <a:rPr lang="en-US" altLang="ko-KR" sz="600" dirty="0"/>
                  <a:t>Metadata</a:t>
                </a:r>
              </a:p>
            </p:txBody>
          </p:sp>
        </p:grpSp>
      </p:grpSp>
      <p:sp>
        <p:nvSpPr>
          <p:cNvPr id="531" name="원통 530"/>
          <p:cNvSpPr/>
          <p:nvPr/>
        </p:nvSpPr>
        <p:spPr>
          <a:xfrm>
            <a:off x="2247008" y="3046285"/>
            <a:ext cx="520861" cy="254568"/>
          </a:xfrm>
          <a:prstGeom prst="can">
            <a:avLst/>
          </a:prstGeom>
          <a:ln w="6350">
            <a:solidFill>
              <a:srgbClr val="AFCEEB"/>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sz="900" dirty="0" err="1">
                <a:solidFill>
                  <a:schemeClr val="bg1">
                    <a:lumMod val="75000"/>
                  </a:schemeClr>
                </a:solidFill>
              </a:rPr>
              <a:t>Func</a:t>
            </a:r>
            <a:endParaRPr lang="ko-KR" altLang="en-US" sz="900" dirty="0">
              <a:solidFill>
                <a:schemeClr val="bg1">
                  <a:lumMod val="75000"/>
                </a:schemeClr>
              </a:solidFill>
            </a:endParaRPr>
          </a:p>
        </p:txBody>
      </p:sp>
      <p:cxnSp>
        <p:nvCxnSpPr>
          <p:cNvPr id="533" name="구부러진 연결선 532"/>
          <p:cNvCxnSpPr>
            <a:stCxn id="156" idx="2"/>
            <a:endCxn id="531" idx="4"/>
          </p:cNvCxnSpPr>
          <p:nvPr/>
        </p:nvCxnSpPr>
        <p:spPr>
          <a:xfrm rot="5400000">
            <a:off x="2788031" y="2848216"/>
            <a:ext cx="305191" cy="345514"/>
          </a:xfrm>
          <a:prstGeom prst="curvedConnector2">
            <a:avLst/>
          </a:prstGeom>
          <a:ln w="6350">
            <a:solidFill>
              <a:srgbClr val="AFCEEB"/>
            </a:solidFill>
            <a:tailEnd type="triangle"/>
          </a:ln>
        </p:spPr>
        <p:style>
          <a:lnRef idx="1">
            <a:schemeClr val="accent1"/>
          </a:lnRef>
          <a:fillRef idx="0">
            <a:schemeClr val="accent1"/>
          </a:fillRef>
          <a:effectRef idx="0">
            <a:schemeClr val="accent1"/>
          </a:effectRef>
          <a:fontRef idx="minor">
            <a:schemeClr val="tx1"/>
          </a:fontRef>
        </p:style>
      </p:cxnSp>
      <p:sp>
        <p:nvSpPr>
          <p:cNvPr id="534" name="원통 533"/>
          <p:cNvSpPr/>
          <p:nvPr/>
        </p:nvSpPr>
        <p:spPr>
          <a:xfrm>
            <a:off x="10029706" y="2807556"/>
            <a:ext cx="520861" cy="254568"/>
          </a:xfrm>
          <a:prstGeom prst="can">
            <a:avLst/>
          </a:prstGeom>
          <a:solidFill>
            <a:srgbClr val="FFFFFF"/>
          </a:solidFill>
          <a:ln w="6350">
            <a:solidFill>
              <a:srgbClr val="E6B99A"/>
            </a:solidFill>
            <a:prstDash val="solid"/>
          </a:ln>
        </p:spPr>
        <p:txBody>
          <a:bodyPr anchor="ctr"/>
          <a:lstStyle/>
          <a:p>
            <a:pPr algn="ctr"/>
            <a:r>
              <a:rPr lang="en-US" altLang="ko-KR" sz="900" dirty="0">
                <a:solidFill>
                  <a:schemeClr val="bg1">
                    <a:lumMod val="75000"/>
                  </a:schemeClr>
                </a:solidFill>
                <a:latin typeface="Malgun Gothic" pitchFamily="34" charset="0"/>
                <a:ea typeface="Malgun Gothic" pitchFamily="34" charset="-122"/>
                <a:cs typeface="Malgun Gothic" pitchFamily="34" charset="-120"/>
              </a:rPr>
              <a:t>Func1</a:t>
            </a:r>
            <a:endParaRPr lang="ko-KR" altLang="en-US" sz="900" dirty="0">
              <a:solidFill>
                <a:schemeClr val="bg1">
                  <a:lumMod val="75000"/>
                </a:schemeClr>
              </a:solidFill>
              <a:latin typeface="Malgun Gothic" pitchFamily="34" charset="0"/>
              <a:ea typeface="Malgun Gothic" pitchFamily="34" charset="-122"/>
              <a:cs typeface="Malgun Gothic" pitchFamily="34" charset="-120"/>
            </a:endParaRPr>
          </a:p>
        </p:txBody>
      </p:sp>
      <p:cxnSp>
        <p:nvCxnSpPr>
          <p:cNvPr id="535" name="구부러진 연결선 534"/>
          <p:cNvCxnSpPr>
            <a:stCxn id="414" idx="2"/>
            <a:endCxn id="534" idx="2"/>
          </p:cNvCxnSpPr>
          <p:nvPr/>
        </p:nvCxnSpPr>
        <p:spPr>
          <a:xfrm rot="16200000" flipH="1">
            <a:off x="9611631" y="2516764"/>
            <a:ext cx="40805" cy="795346"/>
          </a:xfrm>
          <a:prstGeom prst="curvedConnector2">
            <a:avLst/>
          </a:prstGeom>
          <a:noFill/>
          <a:ln w="6350">
            <a:solidFill>
              <a:srgbClr val="E6B99A"/>
            </a:solidFill>
            <a:prstDash val="solid"/>
            <a:headEnd type="none"/>
            <a:tailEnd type="triangle"/>
          </a:ln>
        </p:spPr>
      </p:cxnSp>
      <p:sp>
        <p:nvSpPr>
          <p:cNvPr id="541" name="원통 540"/>
          <p:cNvSpPr/>
          <p:nvPr/>
        </p:nvSpPr>
        <p:spPr>
          <a:xfrm>
            <a:off x="10029706" y="3284574"/>
            <a:ext cx="520861" cy="254568"/>
          </a:xfrm>
          <a:prstGeom prst="can">
            <a:avLst/>
          </a:prstGeom>
          <a:solidFill>
            <a:srgbClr val="FFFFFF"/>
          </a:solidFill>
          <a:ln w="6350">
            <a:solidFill>
              <a:srgbClr val="E6B99A"/>
            </a:solidFill>
            <a:prstDash val="solid"/>
          </a:ln>
        </p:spPr>
        <p:txBody>
          <a:bodyPr anchor="ctr"/>
          <a:lstStyle/>
          <a:p>
            <a:pPr algn="ctr"/>
            <a:r>
              <a:rPr lang="en-US" altLang="ko-KR" sz="900" dirty="0">
                <a:solidFill>
                  <a:schemeClr val="bg1">
                    <a:lumMod val="75000"/>
                  </a:schemeClr>
                </a:solidFill>
                <a:latin typeface="Malgun Gothic" pitchFamily="34" charset="0"/>
                <a:ea typeface="Malgun Gothic" pitchFamily="34" charset="-122"/>
                <a:cs typeface="Malgun Gothic" pitchFamily="34" charset="-120"/>
              </a:rPr>
              <a:t>Func2</a:t>
            </a:r>
            <a:endParaRPr lang="ko-KR" altLang="en-US" sz="900" dirty="0">
              <a:solidFill>
                <a:schemeClr val="bg1">
                  <a:lumMod val="75000"/>
                </a:schemeClr>
              </a:solidFill>
              <a:latin typeface="Malgun Gothic" pitchFamily="34" charset="0"/>
              <a:ea typeface="Malgun Gothic" pitchFamily="34" charset="-122"/>
              <a:cs typeface="Malgun Gothic" pitchFamily="34" charset="-120"/>
            </a:endParaRPr>
          </a:p>
        </p:txBody>
      </p:sp>
      <p:cxnSp>
        <p:nvCxnSpPr>
          <p:cNvPr id="542" name="구부러진 연결선 541"/>
          <p:cNvCxnSpPr>
            <a:stCxn id="417" idx="2"/>
            <a:endCxn id="541" idx="2"/>
          </p:cNvCxnSpPr>
          <p:nvPr/>
        </p:nvCxnSpPr>
        <p:spPr>
          <a:xfrm rot="5400000" flipH="1" flipV="1">
            <a:off x="9625622" y="3020596"/>
            <a:ext cx="12822" cy="795346"/>
          </a:xfrm>
          <a:prstGeom prst="curvedConnector4">
            <a:avLst>
              <a:gd name="adj1" fmla="val -609336"/>
              <a:gd name="adj2" fmla="val 86083"/>
            </a:avLst>
          </a:prstGeom>
          <a:noFill/>
          <a:ln w="6350">
            <a:solidFill>
              <a:srgbClr val="E6B99A"/>
            </a:solidFill>
            <a:prstDash val="solid"/>
            <a:headEnd type="none"/>
            <a:tailEnd type="triangle"/>
          </a:ln>
        </p:spPr>
      </p:cxnSp>
      <p:grpSp>
        <p:nvGrpSpPr>
          <p:cNvPr id="568" name="그룹 567"/>
          <p:cNvGrpSpPr/>
          <p:nvPr/>
        </p:nvGrpSpPr>
        <p:grpSpPr>
          <a:xfrm>
            <a:off x="1303414" y="3871352"/>
            <a:ext cx="755696" cy="384167"/>
            <a:chOff x="1359862" y="2799554"/>
            <a:chExt cx="755696" cy="384167"/>
          </a:xfrm>
        </p:grpSpPr>
        <p:sp>
          <p:nvSpPr>
            <p:cNvPr id="566" name="Shape 35">
              <a:extLst>
                <a:ext uri="{FF2B5EF4-FFF2-40B4-BE49-F238E27FC236}">
                  <a16:creationId xmlns:a16="http://schemas.microsoft.com/office/drawing/2014/main" id="{2AF637AF-E433-47AC-BA4E-9F7E3C334277}"/>
                </a:ext>
              </a:extLst>
            </p:cNvPr>
            <p:cNvSpPr/>
            <p:nvPr/>
          </p:nvSpPr>
          <p:spPr>
            <a:xfrm>
              <a:off x="1359862" y="2799554"/>
              <a:ext cx="755696" cy="384167"/>
            </a:xfrm>
            <a:prstGeom prst="can">
              <a:avLst/>
            </a:prstGeom>
            <a:solidFill>
              <a:srgbClr val="F0F1F3"/>
            </a:solidFill>
            <a:ln w="12700">
              <a:solidFill>
                <a:srgbClr val="888C91"/>
              </a:solidFill>
              <a:prstDash val="solid"/>
            </a:ln>
          </p:spPr>
          <p:txBody>
            <a:bodyPr/>
            <a:lstStyle/>
            <a:p>
              <a:endParaRPr lang="ko-KR" altLang="en-US" dirty="0"/>
            </a:p>
          </p:txBody>
        </p:sp>
        <p:sp>
          <p:nvSpPr>
            <p:cNvPr id="567" name="직사각형 566">
              <a:extLst>
                <a:ext uri="{FF2B5EF4-FFF2-40B4-BE49-F238E27FC236}">
                  <a16:creationId xmlns:a16="http://schemas.microsoft.com/office/drawing/2014/main" id="{1F732118-666E-4542-8530-F6AD2A384259}"/>
                </a:ext>
              </a:extLst>
            </p:cNvPr>
            <p:cNvSpPr/>
            <p:nvPr/>
          </p:nvSpPr>
          <p:spPr>
            <a:xfrm>
              <a:off x="1439012" y="2874371"/>
              <a:ext cx="611259" cy="269641"/>
            </a:xfrm>
            <a:prstGeom prst="rect">
              <a:avLst/>
            </a:prstGeom>
            <a:noFill/>
            <a:ln w="12700">
              <a:noFill/>
              <a:prstDash val="dash"/>
            </a:ln>
          </p:spPr>
          <p:txBody>
            <a:bodyPr rtlCol="0" anchor="ctr"/>
            <a:lstStyle/>
            <a:p>
              <a:pPr algn="ctr"/>
              <a:r>
                <a:rPr lang="en-US" altLang="ko-KR" sz="800" dirty="0">
                  <a:solidFill>
                    <a:srgbClr val="1A1A1A"/>
                  </a:solidFill>
                  <a:latin typeface="Malgun Gothic" pitchFamily="34" charset="0"/>
                  <a:ea typeface="Malgun Gothic" pitchFamily="34" charset="-122"/>
                  <a:cs typeface="Malgun Gothic" pitchFamily="34" charset="-120"/>
                </a:rPr>
                <a:t>Memory</a:t>
              </a:r>
              <a:endParaRPr lang="en-US" altLang="ko-KR" sz="800" dirty="0"/>
            </a:p>
            <a:p>
              <a:pPr algn="ctr"/>
              <a:r>
                <a:rPr lang="en-US" altLang="ko-KR" sz="800" dirty="0">
                  <a:solidFill>
                    <a:srgbClr val="1A1A1A"/>
                  </a:solidFill>
                  <a:latin typeface="Malgun Gothic" pitchFamily="34" charset="0"/>
                  <a:ea typeface="Malgun Gothic" pitchFamily="34" charset="-122"/>
                  <a:cs typeface="Malgun Gothic" pitchFamily="34" charset="-120"/>
                </a:rPr>
                <a:t>Registry</a:t>
              </a:r>
              <a:endParaRPr lang="en-US" altLang="ko-KR" sz="800" dirty="0"/>
            </a:p>
          </p:txBody>
        </p:sp>
      </p:grpSp>
      <p:grpSp>
        <p:nvGrpSpPr>
          <p:cNvPr id="605" name="그룹 604"/>
          <p:cNvGrpSpPr/>
          <p:nvPr/>
        </p:nvGrpSpPr>
        <p:grpSpPr>
          <a:xfrm>
            <a:off x="6838341" y="4143967"/>
            <a:ext cx="755696" cy="384167"/>
            <a:chOff x="1359862" y="2799554"/>
            <a:chExt cx="755696" cy="384167"/>
          </a:xfrm>
        </p:grpSpPr>
        <p:sp>
          <p:nvSpPr>
            <p:cNvPr id="606" name="Shape 35">
              <a:extLst>
                <a:ext uri="{FF2B5EF4-FFF2-40B4-BE49-F238E27FC236}">
                  <a16:creationId xmlns:a16="http://schemas.microsoft.com/office/drawing/2014/main" id="{2AF637AF-E433-47AC-BA4E-9F7E3C334277}"/>
                </a:ext>
              </a:extLst>
            </p:cNvPr>
            <p:cNvSpPr/>
            <p:nvPr/>
          </p:nvSpPr>
          <p:spPr>
            <a:xfrm>
              <a:off x="1359862" y="2799554"/>
              <a:ext cx="755696" cy="384167"/>
            </a:xfrm>
            <a:prstGeom prst="can">
              <a:avLst/>
            </a:prstGeom>
            <a:solidFill>
              <a:srgbClr val="F0F1F3"/>
            </a:solidFill>
            <a:ln w="12700">
              <a:solidFill>
                <a:srgbClr val="888C91"/>
              </a:solidFill>
              <a:prstDash val="solid"/>
            </a:ln>
          </p:spPr>
          <p:txBody>
            <a:bodyPr/>
            <a:lstStyle/>
            <a:p>
              <a:endParaRPr lang="ko-KR" altLang="en-US" dirty="0"/>
            </a:p>
          </p:txBody>
        </p:sp>
        <p:sp>
          <p:nvSpPr>
            <p:cNvPr id="607" name="직사각형 606">
              <a:extLst>
                <a:ext uri="{FF2B5EF4-FFF2-40B4-BE49-F238E27FC236}">
                  <a16:creationId xmlns:a16="http://schemas.microsoft.com/office/drawing/2014/main" id="{1F732118-666E-4542-8530-F6AD2A384259}"/>
                </a:ext>
              </a:extLst>
            </p:cNvPr>
            <p:cNvSpPr/>
            <p:nvPr/>
          </p:nvSpPr>
          <p:spPr>
            <a:xfrm>
              <a:off x="1439012" y="2874371"/>
              <a:ext cx="611259" cy="269641"/>
            </a:xfrm>
            <a:prstGeom prst="rect">
              <a:avLst/>
            </a:prstGeom>
            <a:noFill/>
            <a:ln w="12700">
              <a:noFill/>
              <a:prstDash val="dash"/>
            </a:ln>
          </p:spPr>
          <p:txBody>
            <a:bodyPr rtlCol="0" anchor="ctr"/>
            <a:lstStyle/>
            <a:p>
              <a:pPr algn="ctr"/>
              <a:r>
                <a:rPr lang="en-US" altLang="ko-KR" sz="800" dirty="0">
                  <a:solidFill>
                    <a:srgbClr val="1A1A1A"/>
                  </a:solidFill>
                  <a:latin typeface="Malgun Gothic" pitchFamily="34" charset="0"/>
                  <a:ea typeface="Malgun Gothic" pitchFamily="34" charset="-122"/>
                  <a:cs typeface="Malgun Gothic" pitchFamily="34" charset="-120"/>
                </a:rPr>
                <a:t>Memory</a:t>
              </a:r>
              <a:endParaRPr lang="en-US" altLang="ko-KR" sz="800" dirty="0"/>
            </a:p>
            <a:p>
              <a:pPr algn="ctr"/>
              <a:r>
                <a:rPr lang="en-US" altLang="ko-KR" sz="800" dirty="0">
                  <a:solidFill>
                    <a:srgbClr val="1A1A1A"/>
                  </a:solidFill>
                  <a:latin typeface="Malgun Gothic" pitchFamily="34" charset="0"/>
                  <a:ea typeface="Malgun Gothic" pitchFamily="34" charset="-122"/>
                  <a:cs typeface="Malgun Gothic" pitchFamily="34" charset="-120"/>
                </a:rPr>
                <a:t>Registry</a:t>
              </a:r>
              <a:endParaRPr lang="en-US" altLang="ko-KR" sz="800" dirty="0"/>
            </a:p>
          </p:txBody>
        </p:sp>
      </p:grpSp>
      <p:cxnSp>
        <p:nvCxnSpPr>
          <p:cNvPr id="609" name="직선 화살표 연결선 185">
            <a:extLst>
              <a:ext uri="{FF2B5EF4-FFF2-40B4-BE49-F238E27FC236}">
                <a16:creationId xmlns:a16="http://schemas.microsoft.com/office/drawing/2014/main" id="{C77B044C-CFD5-4C99-9B08-C9CDFDD38AC5}"/>
              </a:ext>
            </a:extLst>
          </p:cNvPr>
          <p:cNvCxnSpPr>
            <a:cxnSpLocks/>
            <a:stCxn id="421" idx="1"/>
            <a:endCxn id="606" idx="4"/>
          </p:cNvCxnSpPr>
          <p:nvPr/>
        </p:nvCxnSpPr>
        <p:spPr>
          <a:xfrm rot="10800000" flipV="1">
            <a:off x="7594037" y="3864669"/>
            <a:ext cx="355052" cy="471382"/>
          </a:xfrm>
          <a:prstGeom prst="bentConnector3">
            <a:avLst>
              <a:gd name="adj1" fmla="val 50000"/>
            </a:avLst>
          </a:prstGeom>
          <a:noFill/>
          <a:ln w="6350">
            <a:solidFill>
              <a:srgbClr val="888C91"/>
            </a:solidFill>
            <a:prstDash val="solid"/>
            <a:headEnd type="none"/>
            <a:tailEnd type="triangle"/>
          </a:ln>
        </p:spPr>
      </p:cxnSp>
      <p:sp>
        <p:nvSpPr>
          <p:cNvPr id="129" name="Shape 39">
            <a:extLst>
              <a:ext uri="{FF2B5EF4-FFF2-40B4-BE49-F238E27FC236}">
                <a16:creationId xmlns:a16="http://schemas.microsoft.com/office/drawing/2014/main" id="{F7D82DE9-0B6E-4CB1-A5F0-9E4D7591B816}"/>
              </a:ext>
            </a:extLst>
          </p:cNvPr>
          <p:cNvSpPr/>
          <p:nvPr/>
        </p:nvSpPr>
        <p:spPr>
          <a:xfrm>
            <a:off x="3202667" y="3101126"/>
            <a:ext cx="1149429" cy="372712"/>
          </a:xfrm>
          <a:prstGeom prst="rect">
            <a:avLst/>
          </a:prstGeom>
          <a:noFill/>
          <a:ln w="11430">
            <a:solidFill>
              <a:srgbClr val="FF0000"/>
            </a:solidFill>
            <a:prstDash val="solid"/>
            <a:headEnd type="none"/>
            <a:tailEnd type="triangle"/>
          </a:ln>
        </p:spPr>
        <p:txBody>
          <a:bodyPr anchor="ctr"/>
          <a:lstStyle/>
          <a:p>
            <a:pPr lvl="0" algn="ctr">
              <a:defRPr/>
            </a:pPr>
            <a:r>
              <a:rPr lang="en-US" altLang="ko-KR" sz="900" b="1" dirty="0">
                <a:solidFill>
                  <a:srgbClr val="1A1A1A"/>
                </a:solidFill>
                <a:latin typeface="Malgun Gothic" pitchFamily="34" charset="0"/>
                <a:ea typeface="Malgun Gothic" pitchFamily="34" charset="-122"/>
                <a:cs typeface="Malgun Gothic" pitchFamily="34" charset="-120"/>
              </a:rPr>
              <a:t>Data-Memory Affinity Mapper</a:t>
            </a:r>
          </a:p>
        </p:txBody>
      </p:sp>
      <p:cxnSp>
        <p:nvCxnSpPr>
          <p:cNvPr id="136" name="직선 화살표 연결선 185">
            <a:extLst>
              <a:ext uri="{FF2B5EF4-FFF2-40B4-BE49-F238E27FC236}">
                <a16:creationId xmlns:a16="http://schemas.microsoft.com/office/drawing/2014/main" id="{63055888-A989-4681-8232-E5AD42EA4D88}"/>
              </a:ext>
            </a:extLst>
          </p:cNvPr>
          <p:cNvCxnSpPr>
            <a:cxnSpLocks/>
            <a:stCxn id="129" idx="2"/>
            <a:endCxn id="166" idx="0"/>
          </p:cNvCxnSpPr>
          <p:nvPr/>
        </p:nvCxnSpPr>
        <p:spPr>
          <a:xfrm rot="16200000" flipH="1">
            <a:off x="4005075" y="3246144"/>
            <a:ext cx="215953" cy="671339"/>
          </a:xfrm>
          <a:prstGeom prst="bentConnector3">
            <a:avLst>
              <a:gd name="adj1" fmla="val 50000"/>
            </a:avLst>
          </a:prstGeom>
          <a:noFill/>
          <a:ln w="11430">
            <a:solidFill>
              <a:srgbClr val="FF0000"/>
            </a:solidFill>
            <a:prstDash val="solid"/>
            <a:headEnd type="none"/>
            <a:tailEnd type="triangle"/>
          </a:ln>
        </p:spPr>
      </p:cxnSp>
      <p:cxnSp>
        <p:nvCxnSpPr>
          <p:cNvPr id="153" name="직선 화살표 연결선 185">
            <a:extLst>
              <a:ext uri="{FF2B5EF4-FFF2-40B4-BE49-F238E27FC236}">
                <a16:creationId xmlns:a16="http://schemas.microsoft.com/office/drawing/2014/main" id="{63055888-A989-4681-8232-E5AD42EA4D88}"/>
              </a:ext>
            </a:extLst>
          </p:cNvPr>
          <p:cNvCxnSpPr>
            <a:cxnSpLocks/>
            <a:stCxn id="129" idx="2"/>
            <a:endCxn id="191" idx="0"/>
          </p:cNvCxnSpPr>
          <p:nvPr/>
        </p:nvCxnSpPr>
        <p:spPr>
          <a:xfrm rot="5400000">
            <a:off x="3337762" y="3249460"/>
            <a:ext cx="215243" cy="663999"/>
          </a:xfrm>
          <a:prstGeom prst="bentConnector3">
            <a:avLst>
              <a:gd name="adj1" fmla="val 50000"/>
            </a:avLst>
          </a:prstGeom>
          <a:noFill/>
          <a:ln w="11430">
            <a:solidFill>
              <a:srgbClr val="FF0000"/>
            </a:solidFill>
            <a:prstDash val="solid"/>
            <a:headEnd type="none"/>
            <a:tailEnd type="triangle"/>
          </a:ln>
        </p:spPr>
      </p:cxnSp>
      <p:sp>
        <p:nvSpPr>
          <p:cNvPr id="15" name="모서리가 접힌 도형 14"/>
          <p:cNvSpPr/>
          <p:nvPr/>
        </p:nvSpPr>
        <p:spPr>
          <a:xfrm>
            <a:off x="5204224" y="3303037"/>
            <a:ext cx="1375471" cy="1110987"/>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t>자세히</a:t>
            </a:r>
            <a:r>
              <a:rPr lang="en-US" altLang="ko-KR" dirty="0"/>
              <a:t>.</a:t>
            </a:r>
          </a:p>
          <a:p>
            <a:pPr algn="ctr"/>
            <a:r>
              <a:rPr lang="ko-KR" altLang="en-US" dirty="0"/>
              <a:t>페이지 따로 만들기</a:t>
            </a:r>
          </a:p>
        </p:txBody>
      </p:sp>
      <p:sp>
        <p:nvSpPr>
          <p:cNvPr id="130" name="직사각형 129"/>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grpSp>
        <p:nvGrpSpPr>
          <p:cNvPr id="123" name="그룹 122">
            <a:extLst>
              <a:ext uri="{FF2B5EF4-FFF2-40B4-BE49-F238E27FC236}">
                <a16:creationId xmlns:a16="http://schemas.microsoft.com/office/drawing/2014/main" id="{E4708C69-377B-4948-91E1-D9019E177C8B}"/>
              </a:ext>
            </a:extLst>
          </p:cNvPr>
          <p:cNvGrpSpPr/>
          <p:nvPr/>
        </p:nvGrpSpPr>
        <p:grpSpPr>
          <a:xfrm>
            <a:off x="1259641" y="1798432"/>
            <a:ext cx="894945" cy="725580"/>
            <a:chOff x="1249858" y="1739024"/>
            <a:chExt cx="894945" cy="725580"/>
          </a:xfrm>
        </p:grpSpPr>
        <p:sp>
          <p:nvSpPr>
            <p:cNvPr id="124" name="Shape 31">
              <a:extLst>
                <a:ext uri="{FF2B5EF4-FFF2-40B4-BE49-F238E27FC236}">
                  <a16:creationId xmlns:a16="http://schemas.microsoft.com/office/drawing/2014/main" id="{5008A3F3-1B8A-4382-847F-CE66894370DE}"/>
                </a:ext>
              </a:extLst>
            </p:cNvPr>
            <p:cNvSpPr/>
            <p:nvPr/>
          </p:nvSpPr>
          <p:spPr>
            <a:xfrm>
              <a:off x="1368023" y="1739024"/>
              <a:ext cx="658614" cy="185841"/>
            </a:xfrm>
            <a:prstGeom prst="roundRect">
              <a:avLst>
                <a:gd name="adj" fmla="val 50000"/>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Event</a:t>
              </a:r>
            </a:p>
          </p:txBody>
        </p:sp>
        <p:cxnSp>
          <p:nvCxnSpPr>
            <p:cNvPr id="125" name="직선 화살표 연결선 185">
              <a:extLst>
                <a:ext uri="{FF2B5EF4-FFF2-40B4-BE49-F238E27FC236}">
                  <a16:creationId xmlns:a16="http://schemas.microsoft.com/office/drawing/2014/main" id="{C77B044C-CFD5-4C99-9B08-C9CDFDD38AC5}"/>
                </a:ext>
              </a:extLst>
            </p:cNvPr>
            <p:cNvCxnSpPr>
              <a:cxnSpLocks/>
              <a:stCxn id="132" idx="0"/>
              <a:endCxn id="124" idx="2"/>
            </p:cNvCxnSpPr>
            <p:nvPr/>
          </p:nvCxnSpPr>
          <p:spPr>
            <a:xfrm flipH="1" flipV="1">
              <a:off x="1697330" y="1924865"/>
              <a:ext cx="1" cy="248370"/>
            </a:xfrm>
            <a:prstGeom prst="straightConnector1">
              <a:avLst/>
            </a:prstGeom>
            <a:noFill/>
            <a:ln w="6350">
              <a:solidFill>
                <a:srgbClr val="888C91"/>
              </a:solidFill>
              <a:prstDash val="solid"/>
              <a:headEnd type="triangle" w="med" len="med"/>
              <a:tailEnd type="none" w="med" len="med"/>
            </a:ln>
          </p:spPr>
        </p:cxnSp>
        <p:sp>
          <p:nvSpPr>
            <p:cNvPr id="132" name="직사각형 131">
              <a:extLst>
                <a:ext uri="{FF2B5EF4-FFF2-40B4-BE49-F238E27FC236}">
                  <a16:creationId xmlns:a16="http://schemas.microsoft.com/office/drawing/2014/main" id="{1F732118-666E-4542-8530-F6AD2A384259}"/>
                </a:ext>
              </a:extLst>
            </p:cNvPr>
            <p:cNvSpPr/>
            <p:nvPr/>
          </p:nvSpPr>
          <p:spPr>
            <a:xfrm>
              <a:off x="1249858" y="2173235"/>
              <a:ext cx="894945" cy="291369"/>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Migration Scheduler</a:t>
              </a:r>
            </a:p>
          </p:txBody>
        </p:sp>
      </p:grpSp>
      <p:grpSp>
        <p:nvGrpSpPr>
          <p:cNvPr id="133" name="그룹 132">
            <a:extLst>
              <a:ext uri="{FF2B5EF4-FFF2-40B4-BE49-F238E27FC236}">
                <a16:creationId xmlns:a16="http://schemas.microsoft.com/office/drawing/2014/main" id="{E4708C69-377B-4948-91E1-D9019E177C8B}"/>
              </a:ext>
            </a:extLst>
          </p:cNvPr>
          <p:cNvGrpSpPr/>
          <p:nvPr/>
        </p:nvGrpSpPr>
        <p:grpSpPr>
          <a:xfrm>
            <a:off x="6665966" y="1831236"/>
            <a:ext cx="894945" cy="725580"/>
            <a:chOff x="1249858" y="1739024"/>
            <a:chExt cx="894945" cy="725580"/>
          </a:xfrm>
        </p:grpSpPr>
        <p:sp>
          <p:nvSpPr>
            <p:cNvPr id="134" name="Shape 31">
              <a:extLst>
                <a:ext uri="{FF2B5EF4-FFF2-40B4-BE49-F238E27FC236}">
                  <a16:creationId xmlns:a16="http://schemas.microsoft.com/office/drawing/2014/main" id="{5008A3F3-1B8A-4382-847F-CE66894370DE}"/>
                </a:ext>
              </a:extLst>
            </p:cNvPr>
            <p:cNvSpPr/>
            <p:nvPr/>
          </p:nvSpPr>
          <p:spPr>
            <a:xfrm>
              <a:off x="1368023" y="1739024"/>
              <a:ext cx="658614" cy="185841"/>
            </a:xfrm>
            <a:prstGeom prst="roundRect">
              <a:avLst>
                <a:gd name="adj" fmla="val 50000"/>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Event</a:t>
              </a:r>
            </a:p>
          </p:txBody>
        </p:sp>
        <p:cxnSp>
          <p:nvCxnSpPr>
            <p:cNvPr id="135" name="직선 화살표 연결선 185">
              <a:extLst>
                <a:ext uri="{FF2B5EF4-FFF2-40B4-BE49-F238E27FC236}">
                  <a16:creationId xmlns:a16="http://schemas.microsoft.com/office/drawing/2014/main" id="{C77B044C-CFD5-4C99-9B08-C9CDFDD38AC5}"/>
                </a:ext>
              </a:extLst>
            </p:cNvPr>
            <p:cNvCxnSpPr>
              <a:cxnSpLocks/>
              <a:stCxn id="143" idx="0"/>
              <a:endCxn id="134" idx="2"/>
            </p:cNvCxnSpPr>
            <p:nvPr/>
          </p:nvCxnSpPr>
          <p:spPr>
            <a:xfrm flipH="1" flipV="1">
              <a:off x="1697330" y="1924865"/>
              <a:ext cx="1" cy="248370"/>
            </a:xfrm>
            <a:prstGeom prst="straightConnector1">
              <a:avLst/>
            </a:prstGeom>
            <a:noFill/>
            <a:ln w="6350">
              <a:solidFill>
                <a:srgbClr val="888C91"/>
              </a:solidFill>
              <a:prstDash val="solid"/>
              <a:headEnd type="triangle" w="med" len="med"/>
              <a:tailEnd type="none" w="med" len="med"/>
            </a:ln>
          </p:spPr>
        </p:cxnSp>
        <p:sp>
          <p:nvSpPr>
            <p:cNvPr id="143" name="직사각형 142">
              <a:extLst>
                <a:ext uri="{FF2B5EF4-FFF2-40B4-BE49-F238E27FC236}">
                  <a16:creationId xmlns:a16="http://schemas.microsoft.com/office/drawing/2014/main" id="{1F732118-666E-4542-8530-F6AD2A384259}"/>
                </a:ext>
              </a:extLst>
            </p:cNvPr>
            <p:cNvSpPr/>
            <p:nvPr/>
          </p:nvSpPr>
          <p:spPr>
            <a:xfrm>
              <a:off x="1249858" y="2173235"/>
              <a:ext cx="894945" cy="291369"/>
            </a:xfrm>
            <a:prstGeom prst="rect">
              <a:avLst/>
            </a:prstGeom>
            <a:solidFill>
              <a:srgbClr val="F0F1F3"/>
            </a:solidFill>
            <a:ln w="12700">
              <a:solidFill>
                <a:srgbClr val="888C91"/>
              </a:solidFill>
              <a:prstDash val="solid"/>
            </a:ln>
          </p:spPr>
          <p:txBody>
            <a:bodyPr anchor="ctr"/>
            <a:lstStyle/>
            <a:p>
              <a:pPr algn="ctr" latinLnBrk="0"/>
              <a:r>
                <a:rPr lang="en-US" altLang="ko-KR" sz="800" dirty="0">
                  <a:solidFill>
                    <a:srgbClr val="1A1A1A"/>
                  </a:solidFill>
                  <a:latin typeface="Malgun Gothic" pitchFamily="34" charset="0"/>
                  <a:ea typeface="Malgun Gothic" pitchFamily="34" charset="-122"/>
                </a:rPr>
                <a:t>Migration Scheduler</a:t>
              </a:r>
            </a:p>
          </p:txBody>
        </p:sp>
      </p:grpSp>
      <p:sp>
        <p:nvSpPr>
          <p:cNvPr id="144" name="직사각형 143">
            <a:extLst>
              <a:ext uri="{FF2B5EF4-FFF2-40B4-BE49-F238E27FC236}">
                <a16:creationId xmlns:a16="http://schemas.microsoft.com/office/drawing/2014/main" id="{1F732118-666E-4542-8530-F6AD2A384259}"/>
              </a:ext>
            </a:extLst>
          </p:cNvPr>
          <p:cNvSpPr/>
          <p:nvPr/>
        </p:nvSpPr>
        <p:spPr>
          <a:xfrm>
            <a:off x="1805634" y="1984408"/>
            <a:ext cx="1052913" cy="186773"/>
          </a:xfrm>
          <a:prstGeom prst="rect">
            <a:avLst/>
          </a:prstGeom>
          <a:noFill/>
          <a:ln w="12700">
            <a:noFill/>
            <a:prstDash val="dash"/>
          </a:ln>
        </p:spPr>
        <p:txBody>
          <a:bodyPr rtlCol="0" anchor="ctr"/>
          <a:lstStyle/>
          <a:p>
            <a:r>
              <a:rPr lang="en-US" altLang="ko-KR" sz="700" dirty="0">
                <a:solidFill>
                  <a:schemeClr val="bg1">
                    <a:lumMod val="50000"/>
                  </a:schemeClr>
                </a:solidFill>
              </a:rPr>
              <a:t>Event push (</a:t>
            </a:r>
            <a:r>
              <a:rPr lang="ko-KR" altLang="en-US" sz="700" dirty="0">
                <a:solidFill>
                  <a:schemeClr val="bg1">
                    <a:lumMod val="50000"/>
                  </a:schemeClr>
                </a:solidFill>
              </a:rPr>
              <a:t>비동기</a:t>
            </a:r>
            <a:r>
              <a:rPr lang="en-US" altLang="ko-KR" sz="700" dirty="0">
                <a:solidFill>
                  <a:schemeClr val="bg1">
                    <a:lumMod val="50000"/>
                  </a:schemeClr>
                </a:solidFill>
              </a:rPr>
              <a:t>)</a:t>
            </a:r>
          </a:p>
        </p:txBody>
      </p:sp>
      <p:sp>
        <p:nvSpPr>
          <p:cNvPr id="145" name="직사각형 144">
            <a:extLst>
              <a:ext uri="{FF2B5EF4-FFF2-40B4-BE49-F238E27FC236}">
                <a16:creationId xmlns:a16="http://schemas.microsoft.com/office/drawing/2014/main" id="{1F732118-666E-4542-8530-F6AD2A384259}"/>
              </a:ext>
            </a:extLst>
          </p:cNvPr>
          <p:cNvSpPr/>
          <p:nvPr/>
        </p:nvSpPr>
        <p:spPr>
          <a:xfrm>
            <a:off x="7109032" y="2026116"/>
            <a:ext cx="1052913" cy="186773"/>
          </a:xfrm>
          <a:prstGeom prst="rect">
            <a:avLst/>
          </a:prstGeom>
          <a:noFill/>
          <a:ln w="12700">
            <a:noFill/>
            <a:prstDash val="dash"/>
          </a:ln>
        </p:spPr>
        <p:txBody>
          <a:bodyPr rtlCol="0" anchor="ctr"/>
          <a:lstStyle/>
          <a:p>
            <a:r>
              <a:rPr lang="en-US" altLang="ko-KR" sz="700" dirty="0">
                <a:solidFill>
                  <a:schemeClr val="bg1">
                    <a:lumMod val="50000"/>
                  </a:schemeClr>
                </a:solidFill>
              </a:rPr>
              <a:t>Event push (</a:t>
            </a:r>
            <a:r>
              <a:rPr lang="ko-KR" altLang="en-US" sz="700" dirty="0">
                <a:solidFill>
                  <a:schemeClr val="bg1">
                    <a:lumMod val="50000"/>
                  </a:schemeClr>
                </a:solidFill>
              </a:rPr>
              <a:t>비동기</a:t>
            </a:r>
            <a:r>
              <a:rPr lang="en-US" altLang="ko-KR" sz="700" dirty="0">
                <a:solidFill>
                  <a:schemeClr val="bg1">
                    <a:lumMod val="50000"/>
                  </a:schemeClr>
                </a:solidFill>
              </a:rPr>
              <a:t>)</a:t>
            </a:r>
          </a:p>
        </p:txBody>
      </p:sp>
    </p:spTree>
    <p:extLst>
      <p:ext uri="{BB962C8B-B14F-4D97-AF65-F5344CB8AC3E}">
        <p14:creationId xmlns:p14="http://schemas.microsoft.com/office/powerpoint/2010/main" val="4235539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563880" y="1318260"/>
            <a:ext cx="11117580" cy="48387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ko-KR" sz="16600" b="1" dirty="0"/>
              <a:t>DP2</a:t>
            </a:r>
            <a:endParaRPr lang="ko-KR" altLang="en-US" sz="16600" b="1" dirty="0"/>
          </a:p>
        </p:txBody>
      </p:sp>
    </p:spTree>
    <p:extLst>
      <p:ext uri="{BB962C8B-B14F-4D97-AF65-F5344CB8AC3E}">
        <p14:creationId xmlns:p14="http://schemas.microsoft.com/office/powerpoint/2010/main" val="2177541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6146"/>
          <p:cNvSpPr/>
          <p:nvPr/>
        </p:nvSpPr>
        <p:spPr>
          <a:xfrm>
            <a:off x="347472" y="758044"/>
            <a:ext cx="11494008" cy="2506364"/>
          </a:xfrm>
          <a:prstGeom prst="rect">
            <a:avLst/>
          </a:prstGeom>
          <a:noFill/>
          <a:ln w="952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6148" name="Rounded Rectangle 6147"/>
          <p:cNvSpPr/>
          <p:nvPr/>
        </p:nvSpPr>
        <p:spPr>
          <a:xfrm>
            <a:off x="4448556" y="630392"/>
            <a:ext cx="3291840" cy="283464"/>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ko-KR" altLang="en-US" sz="1100" b="1" dirty="0">
                <a:solidFill>
                  <a:srgbClr val="000000"/>
                </a:solidFill>
                <a:latin typeface="맑은 고딕"/>
                <a:ea typeface="맑은 고딕"/>
              </a:rPr>
              <a:t>① </a:t>
            </a:r>
            <a:r>
              <a:rPr sz="1100" b="1" dirty="0">
                <a:solidFill>
                  <a:srgbClr val="000000"/>
                </a:solidFill>
                <a:latin typeface="맑은 고딕"/>
                <a:ea typeface="맑은 고딕"/>
              </a:rPr>
              <a:t>Prefill / </a:t>
            </a:r>
            <a:r>
              <a:rPr sz="1100" b="1" dirty="0" err="1">
                <a:solidFill>
                  <a:srgbClr val="000000"/>
                </a:solidFill>
                <a:latin typeface="맑은 고딕"/>
                <a:ea typeface="맑은 고딕"/>
              </a:rPr>
              <a:t>Decode란</a:t>
            </a:r>
            <a:r>
              <a:rPr sz="1100" b="1" dirty="0">
                <a:solidFill>
                  <a:srgbClr val="000000"/>
                </a:solidFill>
                <a:latin typeface="맑은 고딕"/>
                <a:ea typeface="맑은 고딕"/>
              </a:rPr>
              <a:t>?</a:t>
            </a:r>
          </a:p>
        </p:txBody>
      </p:sp>
      <p:sp>
        <p:nvSpPr>
          <p:cNvPr id="6149" name="Rectangle 6148"/>
          <p:cNvSpPr/>
          <p:nvPr/>
        </p:nvSpPr>
        <p:spPr>
          <a:xfrm>
            <a:off x="347472" y="3547872"/>
            <a:ext cx="11494008" cy="2395728"/>
          </a:xfrm>
          <a:prstGeom prst="rect">
            <a:avLst/>
          </a:prstGeom>
          <a:noFill/>
          <a:ln w="952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6150" name="Rounded Rectangle 6149"/>
          <p:cNvSpPr/>
          <p:nvPr/>
        </p:nvSpPr>
        <p:spPr>
          <a:xfrm>
            <a:off x="3259836" y="3401568"/>
            <a:ext cx="5669280" cy="283464"/>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ko-KR" altLang="en-US" sz="1100" b="1" dirty="0">
                <a:solidFill>
                  <a:srgbClr val="000000"/>
                </a:solidFill>
                <a:latin typeface="맑은 고딕"/>
                <a:ea typeface="맑은 고딕"/>
              </a:rPr>
              <a:t>② </a:t>
            </a:r>
            <a:r>
              <a:rPr sz="1100" b="1" dirty="0">
                <a:solidFill>
                  <a:srgbClr val="000000"/>
                </a:solidFill>
                <a:latin typeface="맑은 고딕"/>
                <a:ea typeface="맑은 고딕"/>
              </a:rPr>
              <a:t>Prefill-Decode </a:t>
            </a:r>
            <a:r>
              <a:rPr sz="1100" b="1" dirty="0" err="1">
                <a:solidFill>
                  <a:srgbClr val="000000"/>
                </a:solidFill>
                <a:latin typeface="맑은 고딕"/>
                <a:ea typeface="맑은 고딕"/>
              </a:rPr>
              <a:t>분리</a:t>
            </a:r>
            <a:r>
              <a:rPr sz="1100" b="1" dirty="0">
                <a:solidFill>
                  <a:srgbClr val="000000"/>
                </a:solidFill>
                <a:latin typeface="맑은 고딕"/>
                <a:ea typeface="맑은 고딕"/>
              </a:rPr>
              <a:t> </a:t>
            </a:r>
            <a:r>
              <a:rPr sz="1100" b="1" dirty="0" err="1">
                <a:solidFill>
                  <a:srgbClr val="000000"/>
                </a:solidFill>
                <a:latin typeface="맑은 고딕"/>
                <a:ea typeface="맑은 고딕"/>
              </a:rPr>
              <a:t>실행</a:t>
            </a:r>
            <a:r>
              <a:rPr sz="1100" b="1" dirty="0">
                <a:solidFill>
                  <a:srgbClr val="000000"/>
                </a:solidFill>
                <a:latin typeface="맑은 고딕"/>
                <a:ea typeface="맑은 고딕"/>
              </a:rPr>
              <a:t> (P/D Disaggregation)</a:t>
            </a:r>
          </a:p>
        </p:txBody>
      </p:sp>
      <p:sp>
        <p:nvSpPr>
          <p:cNvPr id="3" name="제목 2"/>
          <p:cNvSpPr>
            <a:spLocks noGrp="1"/>
          </p:cNvSpPr>
          <p:nvPr>
            <p:ph type="title"/>
          </p:nvPr>
        </p:nvSpPr>
        <p:spPr>
          <a:xfrm>
            <a:off x="234949" y="137379"/>
            <a:ext cx="8128859" cy="365125"/>
          </a:xfrm>
        </p:spPr>
        <p:txBody>
          <a:bodyPr/>
          <a:lstStyle/>
          <a:p>
            <a:r>
              <a:rPr lang="en-US" altLang="ko-KR" dirty="0"/>
              <a:t>DP2. </a:t>
            </a:r>
            <a:r>
              <a:rPr lang="ko-KR" altLang="en-US" dirty="0"/>
              <a:t>이기종 메모리 환경의 </a:t>
            </a:r>
            <a:r>
              <a:rPr lang="en-US" altLang="ko-KR" dirty="0"/>
              <a:t>Prefill </a:t>
            </a:r>
            <a:r>
              <a:rPr lang="ko-KR" altLang="en-US" dirty="0"/>
              <a:t>실행 위치 결정 구조 </a:t>
            </a:r>
            <a:r>
              <a:rPr lang="en-US" altLang="ko-KR" dirty="0"/>
              <a:t>- 사전 지식</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138928" y="1078992"/>
            <a:ext cx="2831427" cy="2019990"/>
            <a:chOff x="7198162" y="2496690"/>
            <a:chExt cx="3839603" cy="3543981"/>
          </a:xfrm>
        </p:grpSpPr>
        <p:sp>
          <p:nvSpPr>
            <p:cNvPr id="165" name="직사각형 164"/>
            <p:cNvSpPr/>
            <p:nvPr/>
          </p:nvSpPr>
          <p:spPr>
            <a:xfrm>
              <a:off x="8392326" y="3596490"/>
              <a:ext cx="2170873" cy="396099"/>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250" b="1" i="0" u="none" strike="noStrike" kern="1200" cap="none" spc="0" normalizeH="0" baseline="0" noProof="0" dirty="0">
                  <a:ln>
                    <a:noFill/>
                  </a:ln>
                  <a:effectLst/>
                  <a:uLnTx/>
                  <a:uFillTx/>
                  <a:latin typeface="Arial"/>
                  <a:ea typeface="Samsung Sharp Sans Bold" pitchFamily="2" charset="0"/>
                  <a:cs typeface="Samsung Sharp Sans Bold" pitchFamily="2" charset="0"/>
                </a:rPr>
                <a:t>&lt;Prefill&gt;</a:t>
              </a:r>
              <a:endParaRPr kumimoji="0" lang="ko-KR" altLang="en-US" sz="1400" b="1" i="0" u="none" strike="noStrike" kern="1200" cap="none" spc="0" normalizeH="0" baseline="0" noProof="0" dirty="0">
                <a:ln>
                  <a:noFill/>
                </a:ln>
                <a:effectLst/>
                <a:uLnTx/>
                <a:uFillTx/>
                <a:latin typeface="Arial"/>
                <a:ea typeface="맑은 고딕"/>
                <a:cs typeface="Samsung Sharp Sans Bold" pitchFamily="2" charset="0"/>
              </a:endParaRPr>
            </a:p>
          </p:txBody>
        </p:sp>
        <p:sp>
          <p:nvSpPr>
            <p:cNvPr id="166" name="직사각형 165"/>
            <p:cNvSpPr/>
            <p:nvPr/>
          </p:nvSpPr>
          <p:spPr>
            <a:xfrm>
              <a:off x="7359095" y="2557171"/>
              <a:ext cx="1180417" cy="29707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4F81BD">
                      <a:lumMod val="75000"/>
                    </a:srgbClr>
                  </a:solidFill>
                  <a:effectLst/>
                  <a:uLnTx/>
                  <a:uFillTx/>
                  <a:latin typeface="Arial"/>
                  <a:ea typeface="Samsung Sharp Sans Bold" pitchFamily="2" charset="0"/>
                  <a:cs typeface="Samsung Sharp Sans Bold" pitchFamily="2" charset="0"/>
                </a:rPr>
                <a:t>Computation</a:t>
              </a:r>
            </a:p>
          </p:txBody>
        </p:sp>
        <p:sp>
          <p:nvSpPr>
            <p:cNvPr id="167" name="직사각형 166"/>
            <p:cNvSpPr/>
            <p:nvPr/>
          </p:nvSpPr>
          <p:spPr>
            <a:xfrm>
              <a:off x="7311797" y="3139320"/>
              <a:ext cx="1180417" cy="495124"/>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FFC000"/>
                  </a:solidFill>
                  <a:effectLst/>
                  <a:uLnTx/>
                  <a:uFillTx/>
                  <a:latin typeface="Arial"/>
                  <a:ea typeface="Samsung Sharp Sans Bold" pitchFamily="2" charset="0"/>
                  <a:cs typeface="Samsung Sharp Sans Bold" pitchFamily="2" charset="0"/>
                </a:rPr>
                <a:t>Memory Load &amp; Store</a:t>
              </a:r>
            </a:p>
          </p:txBody>
        </p:sp>
        <p:sp>
          <p:nvSpPr>
            <p:cNvPr id="168" name="직사각형 167"/>
            <p:cNvSpPr/>
            <p:nvPr/>
          </p:nvSpPr>
          <p:spPr>
            <a:xfrm flipH="1">
              <a:off x="10238115" y="3129752"/>
              <a:ext cx="144257" cy="462036"/>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69" name="직사각형 168"/>
            <p:cNvSpPr/>
            <p:nvPr/>
          </p:nvSpPr>
          <p:spPr>
            <a:xfrm flipH="1">
              <a:off x="8814939" y="3134318"/>
              <a:ext cx="144257" cy="462036"/>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70" name="직사각형 169"/>
            <p:cNvSpPr/>
            <p:nvPr/>
          </p:nvSpPr>
          <p:spPr>
            <a:xfrm flipH="1">
              <a:off x="9291636" y="3132770"/>
              <a:ext cx="144257" cy="462036"/>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71" name="직사각형 170"/>
            <p:cNvSpPr/>
            <p:nvPr/>
          </p:nvSpPr>
          <p:spPr>
            <a:xfrm flipH="1">
              <a:off x="9721156" y="3152479"/>
              <a:ext cx="191954" cy="444790"/>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cxnSp>
          <p:nvCxnSpPr>
            <p:cNvPr id="172" name="직선 화살표 연결선 171"/>
            <p:cNvCxnSpPr/>
            <p:nvPr/>
          </p:nvCxnSpPr>
          <p:spPr>
            <a:xfrm>
              <a:off x="8482264" y="3020391"/>
              <a:ext cx="2052000" cy="0"/>
            </a:xfrm>
            <a:prstGeom prst="straightConnector1">
              <a:avLst/>
            </a:prstGeom>
            <a:noFill/>
            <a:ln w="38100" cap="flat" cmpd="sng" algn="ctr">
              <a:solidFill>
                <a:schemeClr val="tx2"/>
              </a:solidFill>
              <a:prstDash val="solid"/>
              <a:miter lim="800000"/>
              <a:tailEnd type="triangle"/>
            </a:ln>
            <a:effectLst/>
          </p:spPr>
        </p:cxnSp>
        <p:sp>
          <p:nvSpPr>
            <p:cNvPr id="173" name="직사각형 172"/>
            <p:cNvSpPr/>
            <p:nvPr/>
          </p:nvSpPr>
          <p:spPr>
            <a:xfrm>
              <a:off x="8480260" y="2496690"/>
              <a:ext cx="469513" cy="374284"/>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Samsung Sharp Sans Bold" pitchFamily="50" charset="0"/>
              </a:endParaRPr>
            </a:p>
          </p:txBody>
        </p:sp>
        <p:sp>
          <p:nvSpPr>
            <p:cNvPr id="174" name="직사각형 173"/>
            <p:cNvSpPr/>
            <p:nvPr/>
          </p:nvSpPr>
          <p:spPr>
            <a:xfrm>
              <a:off x="8962170" y="2496690"/>
              <a:ext cx="469513" cy="374284"/>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Samsung Sharp Sans Bold" pitchFamily="50" charset="0"/>
              </a:endParaRPr>
            </a:p>
          </p:txBody>
        </p:sp>
        <p:sp>
          <p:nvSpPr>
            <p:cNvPr id="175" name="직사각형 174"/>
            <p:cNvSpPr/>
            <p:nvPr/>
          </p:nvSpPr>
          <p:spPr>
            <a:xfrm>
              <a:off x="9444080" y="2496690"/>
              <a:ext cx="469513" cy="374284"/>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Samsung Sharp Sans Bold" pitchFamily="50" charset="0"/>
              </a:endParaRPr>
            </a:p>
          </p:txBody>
        </p:sp>
        <p:sp>
          <p:nvSpPr>
            <p:cNvPr id="176" name="직사각형 175"/>
            <p:cNvSpPr/>
            <p:nvPr/>
          </p:nvSpPr>
          <p:spPr>
            <a:xfrm>
              <a:off x="9925540" y="2496690"/>
              <a:ext cx="469513" cy="374284"/>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Samsung Sharp Sans Bold" pitchFamily="50" charset="0"/>
              </a:endParaRPr>
            </a:p>
          </p:txBody>
        </p:sp>
        <p:sp>
          <p:nvSpPr>
            <p:cNvPr id="177" name="직사각형 176"/>
            <p:cNvSpPr/>
            <p:nvPr/>
          </p:nvSpPr>
          <p:spPr>
            <a:xfrm flipH="1">
              <a:off x="8814939" y="2934416"/>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78" name="직사각형 177"/>
            <p:cNvSpPr/>
            <p:nvPr/>
          </p:nvSpPr>
          <p:spPr>
            <a:xfrm flipH="1">
              <a:off x="9288377" y="2934416"/>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79" name="직사각형 178"/>
            <p:cNvSpPr/>
            <p:nvPr/>
          </p:nvSpPr>
          <p:spPr>
            <a:xfrm flipH="1">
              <a:off x="9768853" y="2934416"/>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80" name="직사각형 179"/>
            <p:cNvSpPr/>
            <p:nvPr/>
          </p:nvSpPr>
          <p:spPr>
            <a:xfrm flipH="1">
              <a:off x="10231672" y="2934416"/>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81" name="직사각형 180"/>
            <p:cNvSpPr/>
            <p:nvPr/>
          </p:nvSpPr>
          <p:spPr>
            <a:xfrm flipH="1">
              <a:off x="8762251" y="4381310"/>
              <a:ext cx="144257" cy="462036"/>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mn-cs"/>
              </a:endParaRPr>
            </a:p>
          </p:txBody>
        </p:sp>
        <p:sp>
          <p:nvSpPr>
            <p:cNvPr id="182" name="직사각형 181"/>
            <p:cNvSpPr/>
            <p:nvPr/>
          </p:nvSpPr>
          <p:spPr>
            <a:xfrm flipH="1">
              <a:off x="9235576" y="4386251"/>
              <a:ext cx="144257" cy="462036"/>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mn-cs"/>
              </a:endParaRPr>
            </a:p>
          </p:txBody>
        </p:sp>
        <p:sp>
          <p:nvSpPr>
            <p:cNvPr id="183" name="직사각형 182"/>
            <p:cNvSpPr/>
            <p:nvPr/>
          </p:nvSpPr>
          <p:spPr>
            <a:xfrm flipH="1">
              <a:off x="9722281" y="4376683"/>
              <a:ext cx="144257" cy="462036"/>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mn-cs"/>
              </a:endParaRPr>
            </a:p>
          </p:txBody>
        </p:sp>
        <p:sp>
          <p:nvSpPr>
            <p:cNvPr id="184" name="직사각형 183"/>
            <p:cNvSpPr/>
            <p:nvPr/>
          </p:nvSpPr>
          <p:spPr>
            <a:xfrm flipH="1">
              <a:off x="10187017" y="4376683"/>
              <a:ext cx="144257" cy="462036"/>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mn-cs"/>
              </a:endParaRPr>
            </a:p>
          </p:txBody>
        </p:sp>
        <p:sp>
          <p:nvSpPr>
            <p:cNvPr id="185" name="직사각형 184"/>
            <p:cNvSpPr/>
            <p:nvPr/>
          </p:nvSpPr>
          <p:spPr>
            <a:xfrm>
              <a:off x="7359746" y="4458147"/>
              <a:ext cx="1180417" cy="29707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4F81BD">
                      <a:lumMod val="75000"/>
                    </a:srgbClr>
                  </a:solidFill>
                  <a:effectLst/>
                  <a:uLnTx/>
                  <a:uFillTx/>
                  <a:latin typeface="Arial"/>
                  <a:ea typeface="Samsung Sharp Sans Bold" pitchFamily="2" charset="0"/>
                  <a:cs typeface="Samsung Sharp Sans Bold" pitchFamily="2" charset="0"/>
                </a:rPr>
                <a:t>Computation</a:t>
              </a:r>
            </a:p>
          </p:txBody>
        </p:sp>
        <p:sp>
          <p:nvSpPr>
            <p:cNvPr id="186" name="직사각형 185"/>
            <p:cNvSpPr/>
            <p:nvPr/>
          </p:nvSpPr>
          <p:spPr>
            <a:xfrm>
              <a:off x="7312448" y="5110146"/>
              <a:ext cx="1180417" cy="495124"/>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FFC000"/>
                  </a:solidFill>
                  <a:effectLst/>
                  <a:uLnTx/>
                  <a:uFillTx/>
                  <a:latin typeface="Arial"/>
                  <a:ea typeface="Samsung Sharp Sans Bold" pitchFamily="2" charset="0"/>
                  <a:cs typeface="Samsung Sharp Sans Bold" pitchFamily="2" charset="0"/>
                </a:rPr>
                <a:t>Memory Load &amp; Store</a:t>
              </a:r>
            </a:p>
          </p:txBody>
        </p:sp>
        <p:sp>
          <p:nvSpPr>
            <p:cNvPr id="187" name="직사각형 186">
              <a:extLst>
                <a:ext uri="{FF2B5EF4-FFF2-40B4-BE49-F238E27FC236}">
                  <a16:creationId xmlns:a16="http://schemas.microsoft.com/office/drawing/2014/main" id="{5186C55D-E743-AA2E-D8EB-20E11C073C37}"/>
                </a:ext>
              </a:extLst>
            </p:cNvPr>
            <p:cNvSpPr/>
            <p:nvPr/>
          </p:nvSpPr>
          <p:spPr>
            <a:xfrm>
              <a:off x="8279443" y="5512149"/>
              <a:ext cx="2283756" cy="297074"/>
            </a:xfrm>
            <a:prstGeom prst="rect">
              <a:avLst/>
            </a:prstGeom>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250" b="1" i="0" u="none" strike="noStrike" kern="1200" cap="none" spc="0" normalizeH="0" baseline="0" noProof="0" dirty="0">
                  <a:ln>
                    <a:noFill/>
                  </a:ln>
                  <a:effectLst/>
                  <a:uLnTx/>
                  <a:uFillTx/>
                  <a:latin typeface="Arial"/>
                  <a:ea typeface="Samsung Sharp Sans Bold" pitchFamily="2" charset="0"/>
                  <a:cs typeface="Samsung Sharp Sans Bold" pitchFamily="2" charset="0"/>
                </a:rPr>
                <a:t> &lt; D</a:t>
              </a:r>
              <a:r>
                <a:rPr kumimoji="0" lang="en-US" altLang="ko-KR" sz="1250" b="1" i="0" u="none" strike="noStrike" kern="1200" cap="none" spc="0" normalizeH="0" baseline="0" noProof="0" dirty="0" err="1">
                  <a:ln>
                    <a:noFill/>
                  </a:ln>
                  <a:effectLst/>
                  <a:uLnTx/>
                  <a:uFillTx/>
                  <a:latin typeface="Arial"/>
                  <a:ea typeface="Samsung Sharp Sans Bold" pitchFamily="2" charset="0"/>
                  <a:cs typeface="Samsung Sharp Sans Bold" pitchFamily="2" charset="0"/>
                </a:rPr>
                <a:t>ecode</a:t>
              </a:r>
              <a:r>
                <a:rPr kumimoji="0" lang="en-US" altLang="ko-KR" sz="1250" b="1" i="0" u="none" strike="noStrike" kern="1200" cap="none" spc="0" normalizeH="0" baseline="0" noProof="0" dirty="0">
                  <a:ln>
                    <a:noFill/>
                  </a:ln>
                  <a:effectLst/>
                  <a:uLnTx/>
                  <a:uFillTx/>
                  <a:latin typeface="Arial"/>
                  <a:ea typeface="Samsung Sharp Sans Bold" pitchFamily="2" charset="0"/>
                  <a:cs typeface="Samsung Sharp Sans Bold" pitchFamily="2" charset="0"/>
                </a:rPr>
                <a:t> &gt;</a:t>
              </a:r>
              <a:endParaRPr kumimoji="0" lang="ko-KR" altLang="en-US" b="1" i="0" u="none" strike="noStrike" kern="1200" cap="none" spc="0" normalizeH="0" baseline="0" noProof="0" dirty="0">
                <a:ln>
                  <a:noFill/>
                </a:ln>
                <a:effectLst/>
                <a:uLnTx/>
                <a:uFillTx/>
                <a:latin typeface="Arial"/>
                <a:ea typeface="SamsungOneKorean 700" panose="020B0803030303020204" pitchFamily="50" charset="-127"/>
                <a:cs typeface="Samsung Sharp Sans Bold" pitchFamily="2" charset="0"/>
              </a:endParaRPr>
            </a:p>
          </p:txBody>
        </p:sp>
        <p:cxnSp>
          <p:nvCxnSpPr>
            <p:cNvPr id="188" name="직선 화살표 연결선 187"/>
            <p:cNvCxnSpPr/>
            <p:nvPr/>
          </p:nvCxnSpPr>
          <p:spPr>
            <a:xfrm>
              <a:off x="8434567" y="4948035"/>
              <a:ext cx="2052000" cy="0"/>
            </a:xfrm>
            <a:prstGeom prst="straightConnector1">
              <a:avLst/>
            </a:prstGeom>
            <a:noFill/>
            <a:ln w="38100" cap="flat" cmpd="sng" algn="ctr">
              <a:solidFill>
                <a:schemeClr val="tx2"/>
              </a:solidFill>
              <a:prstDash val="solid"/>
              <a:miter lim="800000"/>
              <a:tailEnd type="triangle"/>
            </a:ln>
            <a:effectLst/>
          </p:spPr>
        </p:cxnSp>
        <p:sp>
          <p:nvSpPr>
            <p:cNvPr id="189" name="직사각형 188"/>
            <p:cNvSpPr/>
            <p:nvPr/>
          </p:nvSpPr>
          <p:spPr>
            <a:xfrm>
              <a:off x="8425325" y="5095223"/>
              <a:ext cx="469513" cy="374284"/>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mn-cs"/>
              </a:endParaRPr>
            </a:p>
          </p:txBody>
        </p:sp>
        <p:sp>
          <p:nvSpPr>
            <p:cNvPr id="190" name="직사각형 189"/>
            <p:cNvSpPr/>
            <p:nvPr/>
          </p:nvSpPr>
          <p:spPr>
            <a:xfrm>
              <a:off x="8914473" y="5095223"/>
              <a:ext cx="469513" cy="374284"/>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mn-cs"/>
              </a:endParaRPr>
            </a:p>
          </p:txBody>
        </p:sp>
        <p:sp>
          <p:nvSpPr>
            <p:cNvPr id="191" name="직사각형 190"/>
            <p:cNvSpPr/>
            <p:nvPr/>
          </p:nvSpPr>
          <p:spPr>
            <a:xfrm>
              <a:off x="9396383" y="5095223"/>
              <a:ext cx="469513" cy="374284"/>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mn-cs"/>
              </a:endParaRPr>
            </a:p>
          </p:txBody>
        </p:sp>
        <p:sp>
          <p:nvSpPr>
            <p:cNvPr id="192" name="직사각형 191"/>
            <p:cNvSpPr/>
            <p:nvPr/>
          </p:nvSpPr>
          <p:spPr>
            <a:xfrm>
              <a:off x="9877843" y="5095223"/>
              <a:ext cx="469513" cy="374284"/>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mn-cs"/>
              </a:endParaRPr>
            </a:p>
          </p:txBody>
        </p:sp>
        <p:sp>
          <p:nvSpPr>
            <p:cNvPr id="193" name="직사각형 192"/>
            <p:cNvSpPr/>
            <p:nvPr/>
          </p:nvSpPr>
          <p:spPr>
            <a:xfrm flipH="1">
              <a:off x="8767242" y="4890762"/>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94" name="직사각형 193"/>
            <p:cNvSpPr/>
            <p:nvPr/>
          </p:nvSpPr>
          <p:spPr>
            <a:xfrm flipH="1">
              <a:off x="9240680" y="4890762"/>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95" name="직사각형 194"/>
            <p:cNvSpPr/>
            <p:nvPr/>
          </p:nvSpPr>
          <p:spPr>
            <a:xfrm flipH="1">
              <a:off x="9721156" y="4890762"/>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96" name="직사각형 195"/>
            <p:cNvSpPr/>
            <p:nvPr/>
          </p:nvSpPr>
          <p:spPr>
            <a:xfrm flipH="1">
              <a:off x="10183975" y="4890762"/>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97" name="직사각형 196"/>
            <p:cNvSpPr/>
            <p:nvPr/>
          </p:nvSpPr>
          <p:spPr>
            <a:xfrm>
              <a:off x="7262871" y="4826847"/>
              <a:ext cx="1282098" cy="297074"/>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FF0000"/>
                  </a:solidFill>
                  <a:effectLst/>
                  <a:uLnTx/>
                  <a:uFillTx/>
                  <a:latin typeface="Arial"/>
                  <a:ea typeface="Samsung Sharp Sans Bold" pitchFamily="2" charset="0"/>
                  <a:cs typeface="Samsung Sharp Sans Bold" pitchFamily="2" charset="0"/>
                </a:rPr>
                <a:t>Memory BW</a:t>
              </a:r>
            </a:p>
          </p:txBody>
        </p:sp>
        <p:sp>
          <p:nvSpPr>
            <p:cNvPr id="200" name="직사각형 199"/>
            <p:cNvSpPr/>
            <p:nvPr/>
          </p:nvSpPr>
          <p:spPr>
            <a:xfrm>
              <a:off x="7198162" y="2890868"/>
              <a:ext cx="1282098" cy="297074"/>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FF0000"/>
                  </a:solidFill>
                  <a:effectLst/>
                  <a:uLnTx/>
                  <a:uFillTx/>
                  <a:latin typeface="Arial"/>
                  <a:ea typeface="Samsung Sharp Sans Bold" pitchFamily="2" charset="0"/>
                  <a:cs typeface="Samsung Sharp Sans Bold" pitchFamily="2" charset="0"/>
                </a:rPr>
                <a:t>Memory BW</a:t>
              </a:r>
            </a:p>
          </p:txBody>
        </p:sp>
        <p:sp>
          <p:nvSpPr>
            <p:cNvPr id="201" name="TextBox 200"/>
            <p:cNvSpPr txBox="1"/>
            <p:nvPr/>
          </p:nvSpPr>
          <p:spPr>
            <a:xfrm>
              <a:off x="9865413" y="5809613"/>
              <a:ext cx="1063447" cy="231058"/>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550" b="0" i="0" u="none" strike="noStrike" kern="1200" cap="none" spc="0" normalizeH="0" baseline="0" noProof="0" dirty="0">
                  <a:ln>
                    <a:noFill/>
                  </a:ln>
                  <a:solidFill>
                    <a:srgbClr val="E7E6E6">
                      <a:lumMod val="50000"/>
                    </a:srgbClr>
                  </a:solidFill>
                  <a:effectLst/>
                  <a:uLnTx/>
                  <a:uFillTx/>
                  <a:latin typeface="맑은 고딕" panose="020F0502020204030204"/>
                  <a:ea typeface="맑은 고딕" panose="020B0503020000020004" pitchFamily="50" charset="-127"/>
                  <a:cs typeface="+mn-cs"/>
                </a:rPr>
                <a:t>[source] Naver Clova</a:t>
              </a:r>
              <a:endParaRPr kumimoji="0" lang="ko-KR" altLang="en-US" sz="550" b="0" i="0" u="none" strike="noStrike" kern="1200" cap="none" spc="0" normalizeH="0" baseline="0" noProof="0" dirty="0">
                <a:ln>
                  <a:noFill/>
                </a:ln>
                <a:solidFill>
                  <a:srgbClr val="E7E6E6">
                    <a:lumMod val="50000"/>
                  </a:srgbClr>
                </a:solidFill>
                <a:effectLst/>
                <a:uLnTx/>
                <a:uFillTx/>
                <a:latin typeface="맑은 고딕" panose="020F0502020204030204"/>
                <a:ea typeface="맑은 고딕" panose="020B0503020000020004" pitchFamily="50" charset="-127"/>
                <a:cs typeface="+mn-cs"/>
              </a:endParaRPr>
            </a:p>
          </p:txBody>
        </p:sp>
        <p:sp>
          <p:nvSpPr>
            <p:cNvPr id="202" name="TextBox 201"/>
            <p:cNvSpPr txBox="1"/>
            <p:nvPr/>
          </p:nvSpPr>
          <p:spPr>
            <a:xfrm>
              <a:off x="10351217" y="2717104"/>
              <a:ext cx="686548" cy="272318"/>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Time</a:t>
              </a:r>
              <a:endParaRPr kumimoji="0" lang="ko-KR" altLang="en-US" sz="750" b="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203" name="TextBox 202"/>
            <p:cNvSpPr txBox="1"/>
            <p:nvPr/>
          </p:nvSpPr>
          <p:spPr>
            <a:xfrm>
              <a:off x="10351217" y="4679278"/>
              <a:ext cx="686548" cy="272318"/>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Time</a:t>
              </a:r>
              <a:endParaRPr kumimoji="0" lang="ko-KR" altLang="en-US" sz="750" b="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grpSp>
      <p:grpSp>
        <p:nvGrpSpPr>
          <p:cNvPr id="6" name="그룹 5"/>
          <p:cNvGrpSpPr/>
          <p:nvPr/>
        </p:nvGrpSpPr>
        <p:grpSpPr>
          <a:xfrm>
            <a:off x="384048" y="1097280"/>
            <a:ext cx="4629759" cy="2020007"/>
            <a:chOff x="-45158" y="1369253"/>
            <a:chExt cx="6860940" cy="3465907"/>
          </a:xfrm>
        </p:grpSpPr>
        <p:grpSp>
          <p:nvGrpSpPr>
            <p:cNvPr id="206" name="그룹 205"/>
            <p:cNvGrpSpPr/>
            <p:nvPr/>
          </p:nvGrpSpPr>
          <p:grpSpPr>
            <a:xfrm>
              <a:off x="-45158" y="1369253"/>
              <a:ext cx="6434557" cy="1991894"/>
              <a:chOff x="947012" y="3108733"/>
              <a:chExt cx="5337782" cy="1686548"/>
            </a:xfrm>
          </p:grpSpPr>
          <p:sp>
            <p:nvSpPr>
              <p:cNvPr id="207" name="직사각형 206">
                <a:extLst>
                  <a:ext uri="{FF2B5EF4-FFF2-40B4-BE49-F238E27FC236}">
                    <a16:creationId xmlns:a16="http://schemas.microsoft.com/office/drawing/2014/main" id="{5186C55D-E743-AA2E-D8EB-20E11C073C37}"/>
                  </a:ext>
                </a:extLst>
              </p:cNvPr>
              <p:cNvSpPr/>
              <p:nvPr/>
            </p:nvSpPr>
            <p:spPr>
              <a:xfrm>
                <a:off x="947012" y="3112929"/>
                <a:ext cx="1975277" cy="246221"/>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50" b="0" i="0" u="none" strike="noStrike" kern="0" cap="none" spc="0" normalizeH="0" baseline="0" noProof="0" dirty="0">
                    <a:ln>
                      <a:noFill/>
                    </a:ln>
                    <a:effectLst/>
                    <a:uLnTx/>
                    <a:uFillTx/>
                    <a:latin typeface="Arial"/>
                    <a:ea typeface="Samsung Sharp Sans Bold" pitchFamily="2" charset="0"/>
                    <a:cs typeface="Samsung Sharp Sans Bold" pitchFamily="2" charset="0"/>
                  </a:rPr>
                  <a:t>Prefill</a:t>
                </a:r>
                <a:endParaRPr kumimoji="0" lang="ko-KR" altLang="en-US" sz="1250" b="0" i="0" u="none" strike="noStrike" kern="0" cap="none" spc="0" normalizeH="0" baseline="0" noProof="0" dirty="0">
                  <a:ln>
                    <a:noFill/>
                  </a:ln>
                  <a:effectLst/>
                  <a:uLnTx/>
                  <a:uFillTx/>
                  <a:latin typeface="Arial"/>
                  <a:ea typeface="SamsungOneKorean 700" panose="020B0803030303020204" pitchFamily="50" charset="-127"/>
                  <a:cs typeface="Samsung Sharp Sans Bold" pitchFamily="2" charset="0"/>
                </a:endParaRPr>
              </a:p>
            </p:txBody>
          </p:sp>
          <p:cxnSp>
            <p:nvCxnSpPr>
              <p:cNvPr id="208" name="직선 연결선 207">
                <a:extLst>
                  <a:ext uri="{FF2B5EF4-FFF2-40B4-BE49-F238E27FC236}">
                    <a16:creationId xmlns:a16="http://schemas.microsoft.com/office/drawing/2014/main" id="{25BB8C04-C31F-470C-9A50-6C4BD57CD03C}"/>
                  </a:ext>
                </a:extLst>
              </p:cNvPr>
              <p:cNvCxnSpPr>
                <a:cxnSpLocks/>
              </p:cNvCxnSpPr>
              <p:nvPr/>
            </p:nvCxnSpPr>
            <p:spPr>
              <a:xfrm flipH="1">
                <a:off x="2509126" y="3531927"/>
                <a:ext cx="150" cy="1191494"/>
              </a:xfrm>
              <a:prstGeom prst="line">
                <a:avLst/>
              </a:prstGeom>
              <a:noFill/>
              <a:ln w="19050" cap="rnd" cmpd="sng" algn="ctr">
                <a:solidFill>
                  <a:srgbClr val="A6A6A6"/>
                </a:solidFill>
                <a:prstDash val="dash"/>
                <a:round/>
                <a:headEnd type="none" w="med" len="med"/>
                <a:tailEnd type="none" w="med" len="med"/>
              </a:ln>
              <a:effectLst/>
            </p:spPr>
          </p:cxnSp>
          <p:grpSp>
            <p:nvGrpSpPr>
              <p:cNvPr id="209" name="그룹 208"/>
              <p:cNvGrpSpPr/>
              <p:nvPr/>
            </p:nvGrpSpPr>
            <p:grpSpPr>
              <a:xfrm>
                <a:off x="5581891" y="3661568"/>
                <a:ext cx="604062" cy="867545"/>
                <a:chOff x="953656" y="2867715"/>
                <a:chExt cx="540000" cy="775540"/>
              </a:xfrm>
            </p:grpSpPr>
            <p:sp>
              <p:nvSpPr>
                <p:cNvPr id="238" name="줄무늬가 있는 오른쪽 화살표 85">
                  <a:extLst>
                    <a:ext uri="{FF2B5EF4-FFF2-40B4-BE49-F238E27FC236}">
                      <a16:creationId xmlns:a16="http://schemas.microsoft.com/office/drawing/2014/main" id="{4FC2A20A-96F0-40E8-FF0B-07159864B259}"/>
                    </a:ext>
                  </a:extLst>
                </p:cNvPr>
                <p:cNvSpPr/>
                <p:nvPr/>
              </p:nvSpPr>
              <p:spPr>
                <a:xfrm rot="5400000">
                  <a:off x="1054632" y="3423064"/>
                  <a:ext cx="337212" cy="103170"/>
                </a:xfrm>
                <a:prstGeom prst="rightArrow">
                  <a:avLst>
                    <a:gd name="adj1" fmla="val 50000"/>
                    <a:gd name="adj2" fmla="val 91203"/>
                  </a:avLst>
                </a:prstGeom>
                <a:gradFill flip="none" rotWithShape="1">
                  <a:gsLst>
                    <a:gs pos="0">
                      <a:srgbClr val="8631DB"/>
                    </a:gs>
                    <a:gs pos="65000">
                      <a:srgbClr val="9E75E7"/>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sp>
              <p:nvSpPr>
                <p:cNvPr id="239" name="모서리가 둥근 직사각형 117">
                  <a:extLst>
                    <a:ext uri="{FF2B5EF4-FFF2-40B4-BE49-F238E27FC236}">
                      <a16:creationId xmlns:a16="http://schemas.microsoft.com/office/drawing/2014/main" id="{5544D22D-B6A3-54CB-7E2C-1B269DF5655E}"/>
                    </a:ext>
                  </a:extLst>
                </p:cNvPr>
                <p:cNvSpPr/>
                <p:nvPr/>
              </p:nvSpPr>
              <p:spPr>
                <a:xfrm>
                  <a:off x="953656" y="2867715"/>
                  <a:ext cx="540000" cy="540000"/>
                </a:xfrm>
                <a:prstGeom prst="roundRect">
                  <a:avLst>
                    <a:gd name="adj" fmla="val 7835"/>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rPr>
                    <a:t>LM</a:t>
                  </a:r>
                  <a:endParaRPr kumimoji="0" lang="ko-KR" altLang="en-US" sz="14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grpSp>
          <p:grpSp>
            <p:nvGrpSpPr>
              <p:cNvPr id="210" name="그룹 209"/>
              <p:cNvGrpSpPr/>
              <p:nvPr/>
            </p:nvGrpSpPr>
            <p:grpSpPr>
              <a:xfrm>
                <a:off x="5244491" y="3946924"/>
                <a:ext cx="209139" cy="45719"/>
                <a:chOff x="4132147" y="2579292"/>
                <a:chExt cx="312424" cy="68298"/>
              </a:xfrm>
            </p:grpSpPr>
            <p:sp>
              <p:nvSpPr>
                <p:cNvPr id="235" name="타원 234"/>
                <p:cNvSpPr/>
                <p:nvPr/>
              </p:nvSpPr>
              <p:spPr>
                <a:xfrm>
                  <a:off x="4255016" y="2579292"/>
                  <a:ext cx="66687" cy="66687"/>
                </a:xfrm>
                <a:prstGeom prst="ellipse">
                  <a:avLst/>
                </a:prstGeom>
                <a:solidFill>
                  <a:srgbClr val="8093DC"/>
                </a:solidFill>
                <a:ln w="12700" cap="flat" cmpd="sng" algn="ctr">
                  <a:noFill/>
                  <a:prstDash val="solid"/>
                  <a:miter lim="800000"/>
                </a:ln>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750" b="1" i="0" u="none" strike="noStrike" kern="0" cap="none" spc="0" normalizeH="0" baseline="0" noProof="0" dirty="0">
                    <a:ln>
                      <a:noFill/>
                    </a:ln>
                    <a:effectLst/>
                    <a:uLnTx/>
                    <a:uFillTx/>
                    <a:latin typeface="Arial"/>
                    <a:ea typeface="SAMSUNGONE-600C" panose="020B0503030303020204" pitchFamily="34" charset="-127"/>
                    <a:cs typeface="Samsung Sharp Sans Bold" pitchFamily="2" charset="0"/>
                  </a:endParaRPr>
                </a:p>
              </p:txBody>
            </p:sp>
            <p:sp>
              <p:nvSpPr>
                <p:cNvPr id="236" name="타원 235"/>
                <p:cNvSpPr/>
                <p:nvPr/>
              </p:nvSpPr>
              <p:spPr>
                <a:xfrm>
                  <a:off x="4377884" y="2580903"/>
                  <a:ext cx="66687" cy="66687"/>
                </a:xfrm>
                <a:prstGeom prst="ellipse">
                  <a:avLst/>
                </a:prstGeom>
                <a:solidFill>
                  <a:srgbClr val="8093DC"/>
                </a:solidFill>
                <a:ln w="12700" cap="flat" cmpd="sng" algn="ctr">
                  <a:noFill/>
                  <a:prstDash val="solid"/>
                  <a:miter lim="800000"/>
                </a:ln>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750" b="1" i="0" u="none" strike="noStrike" kern="0" cap="none" spc="0" normalizeH="0" baseline="0" noProof="0" dirty="0">
                    <a:ln>
                      <a:noFill/>
                    </a:ln>
                    <a:effectLst/>
                    <a:uLnTx/>
                    <a:uFillTx/>
                    <a:latin typeface="Arial"/>
                    <a:ea typeface="SAMSUNGONE-600C" panose="020B0503030303020204" pitchFamily="34" charset="-127"/>
                    <a:cs typeface="Samsung Sharp Sans Bold" pitchFamily="2" charset="0"/>
                  </a:endParaRPr>
                </a:p>
              </p:txBody>
            </p:sp>
            <p:sp>
              <p:nvSpPr>
                <p:cNvPr id="237" name="타원 236"/>
                <p:cNvSpPr/>
                <p:nvPr/>
              </p:nvSpPr>
              <p:spPr>
                <a:xfrm>
                  <a:off x="4132147" y="2579292"/>
                  <a:ext cx="66687" cy="66687"/>
                </a:xfrm>
                <a:prstGeom prst="ellipse">
                  <a:avLst/>
                </a:prstGeom>
                <a:solidFill>
                  <a:srgbClr val="8093DC"/>
                </a:solidFill>
                <a:ln w="12700" cap="flat" cmpd="sng" algn="ctr">
                  <a:noFill/>
                  <a:prstDash val="solid"/>
                  <a:miter lim="800000"/>
                </a:ln>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750" b="1" i="0" u="none" strike="noStrike" kern="0" cap="none" spc="0" normalizeH="0" baseline="0" noProof="0" dirty="0">
                    <a:ln>
                      <a:noFill/>
                    </a:ln>
                    <a:effectLst/>
                    <a:uLnTx/>
                    <a:uFillTx/>
                    <a:latin typeface="Arial"/>
                    <a:ea typeface="SAMSUNGONE-600C" panose="020B0503030303020204" pitchFamily="34" charset="-127"/>
                    <a:cs typeface="Samsung Sharp Sans Bold" pitchFamily="2" charset="0"/>
                  </a:endParaRPr>
                </a:p>
              </p:txBody>
            </p:sp>
          </p:grpSp>
          <p:sp>
            <p:nvSpPr>
              <p:cNvPr id="211" name="직사각형 210">
                <a:extLst>
                  <a:ext uri="{FF2B5EF4-FFF2-40B4-BE49-F238E27FC236}">
                    <a16:creationId xmlns:a16="http://schemas.microsoft.com/office/drawing/2014/main" id="{5186C55D-E743-AA2E-D8EB-20E11C073C37}"/>
                  </a:ext>
                </a:extLst>
              </p:cNvPr>
              <p:cNvSpPr/>
              <p:nvPr/>
            </p:nvSpPr>
            <p:spPr>
              <a:xfrm>
                <a:off x="2504748" y="3108733"/>
                <a:ext cx="3701376" cy="246221"/>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50" b="0" i="0" u="none" strike="noStrike" kern="0" cap="none" spc="0" normalizeH="0" baseline="0" noProof="0" dirty="0">
                    <a:ln>
                      <a:noFill/>
                    </a:ln>
                    <a:effectLst/>
                    <a:uLnTx/>
                    <a:uFillTx/>
                    <a:latin typeface="Arial"/>
                    <a:ea typeface="Samsung Sharp Sans Bold" pitchFamily="2" charset="0"/>
                    <a:cs typeface="Samsung Sharp Sans Bold" pitchFamily="2" charset="0"/>
                  </a:rPr>
                  <a:t>Decode</a:t>
                </a:r>
                <a:endParaRPr kumimoji="0" lang="ko-KR" altLang="en-US" sz="1250" b="0" i="0" u="none" strike="noStrike" kern="0" cap="none" spc="0" normalizeH="0" baseline="0" noProof="0" dirty="0">
                  <a:ln>
                    <a:noFill/>
                  </a:ln>
                  <a:effectLst/>
                  <a:uLnTx/>
                  <a:uFillTx/>
                  <a:latin typeface="Arial"/>
                  <a:ea typeface="SamsungOneKorean 700" panose="020B0803030303020204" pitchFamily="50" charset="-127"/>
                  <a:cs typeface="Samsung Sharp Sans Bold" pitchFamily="2" charset="0"/>
                </a:endParaRPr>
              </a:p>
            </p:txBody>
          </p:sp>
          <p:sp>
            <p:nvSpPr>
              <p:cNvPr id="212" name="직사각형 211">
                <a:extLst>
                  <a:ext uri="{FF2B5EF4-FFF2-40B4-BE49-F238E27FC236}">
                    <a16:creationId xmlns:a16="http://schemas.microsoft.com/office/drawing/2014/main" id="{AF7D9B76-4995-265E-AA04-71E12230B659}"/>
                  </a:ext>
                </a:extLst>
              </p:cNvPr>
              <p:cNvSpPr/>
              <p:nvPr/>
            </p:nvSpPr>
            <p:spPr>
              <a:xfrm>
                <a:off x="1304575" y="3427110"/>
                <a:ext cx="1267849" cy="29644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effectLst/>
                    <a:uLnTx/>
                    <a:uFillTx/>
                    <a:latin typeface="Arial"/>
                    <a:ea typeface="Samsung Sharp Sans Bold" pitchFamily="2" charset="0"/>
                    <a:cs typeface="Samsung Sharp Sans Bold" pitchFamily="2" charset="0"/>
                  </a:rPr>
                  <a:t>“Hello, my name”</a:t>
                </a:r>
              </a:p>
            </p:txBody>
          </p:sp>
          <p:sp>
            <p:nvSpPr>
              <p:cNvPr id="213" name="직사각형 212">
                <a:extLst>
                  <a:ext uri="{FF2B5EF4-FFF2-40B4-BE49-F238E27FC236}">
                    <a16:creationId xmlns:a16="http://schemas.microsoft.com/office/drawing/2014/main" id="{BD25430C-0D03-4265-0B88-8E9DB257E2A1}"/>
                  </a:ext>
                </a:extLst>
              </p:cNvPr>
              <p:cNvSpPr/>
              <p:nvPr/>
            </p:nvSpPr>
            <p:spPr>
              <a:xfrm rot="10800000">
                <a:off x="1536432" y="4552915"/>
                <a:ext cx="4748362" cy="193717"/>
              </a:xfrm>
              <a:prstGeom prst="rect">
                <a:avLst/>
              </a:prstGeom>
              <a:gradFill>
                <a:gsLst>
                  <a:gs pos="13000">
                    <a:sysClr val="window" lastClr="FFFFFF">
                      <a:alpha val="0"/>
                    </a:sysClr>
                  </a:gs>
                  <a:gs pos="100000">
                    <a:sysClr val="window" lastClr="FFFFFF">
                      <a:alpha val="5000"/>
                    </a:sys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200" b="0" i="0" u="none" strike="noStrike" kern="0" cap="none" spc="0" normalizeH="0" baseline="0" noProof="0" dirty="0">
                  <a:ln>
                    <a:noFill/>
                  </a:ln>
                  <a:effectLst/>
                  <a:uLnTx/>
                  <a:uFillTx/>
                  <a:latin typeface="Arial"/>
                  <a:ea typeface="맑은 고딕"/>
                  <a:cs typeface="+mn-cs"/>
                </a:endParaRPr>
              </a:p>
            </p:txBody>
          </p:sp>
          <p:sp>
            <p:nvSpPr>
              <p:cNvPr id="214" name="직사각형 213"/>
              <p:cNvSpPr/>
              <p:nvPr/>
            </p:nvSpPr>
            <p:spPr>
              <a:xfrm>
                <a:off x="1826309" y="4517306"/>
                <a:ext cx="391454"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effectLst/>
                    <a:uLnTx/>
                    <a:uFillTx/>
                    <a:latin typeface="Arial"/>
                    <a:ea typeface="Samsung Sharp Sans Bold" pitchFamily="2" charset="0"/>
                    <a:cs typeface="Samsung Sharp Sans Bold" pitchFamily="2" charset="0"/>
                  </a:rPr>
                  <a:t>“is”</a:t>
                </a:r>
                <a:endParaRPr kumimoji="0" lang="ko-KR" altLang="en-US" sz="850" b="0" i="0" u="none" strike="noStrike" kern="0" cap="none" spc="0" normalizeH="0" baseline="0" noProof="0" dirty="0">
                  <a:ln>
                    <a:noFill/>
                  </a:ln>
                  <a:effectLst/>
                  <a:uLnTx/>
                  <a:uFillTx/>
                  <a:latin typeface="Arial"/>
                  <a:ea typeface="맑은 고딕"/>
                </a:endParaRPr>
              </a:p>
            </p:txBody>
          </p:sp>
          <p:sp>
            <p:nvSpPr>
              <p:cNvPr id="215" name="직사각형 214"/>
              <p:cNvSpPr/>
              <p:nvPr/>
            </p:nvSpPr>
            <p:spPr>
              <a:xfrm>
                <a:off x="2655382" y="4533671"/>
                <a:ext cx="692818"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effectLst/>
                    <a:uLnTx/>
                    <a:uFillTx/>
                    <a:latin typeface="Arial"/>
                    <a:ea typeface="Samsung Sharp Sans Bold" pitchFamily="2" charset="0"/>
                    <a:cs typeface="Samsung Sharp Sans Bold" pitchFamily="2" charset="0"/>
                  </a:rPr>
                  <a:t>“James”</a:t>
                </a:r>
                <a:endParaRPr kumimoji="0" lang="ko-KR" altLang="en-US" sz="850" b="0" i="0" u="none" strike="noStrike" kern="0" cap="none" spc="0" normalizeH="0" baseline="0" noProof="0" dirty="0">
                  <a:ln>
                    <a:noFill/>
                  </a:ln>
                  <a:effectLst/>
                  <a:uLnTx/>
                  <a:uFillTx/>
                  <a:latin typeface="Arial"/>
                  <a:ea typeface="맑은 고딕"/>
                </a:endParaRPr>
              </a:p>
            </p:txBody>
          </p:sp>
          <p:sp>
            <p:nvSpPr>
              <p:cNvPr id="216" name="직사각형 215"/>
              <p:cNvSpPr/>
              <p:nvPr/>
            </p:nvSpPr>
            <p:spPr>
              <a:xfrm>
                <a:off x="3505046" y="4524486"/>
                <a:ext cx="638316"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effectLst/>
                    <a:uLnTx/>
                    <a:uFillTx/>
                    <a:latin typeface="Arial"/>
                    <a:ea typeface="Samsung Sharp Sans Bold" pitchFamily="2" charset="0"/>
                    <a:cs typeface="Samsung Sharp Sans Bold" pitchFamily="2" charset="0"/>
                  </a:rPr>
                  <a:t>“Smith”</a:t>
                </a:r>
                <a:endParaRPr kumimoji="0" lang="ko-KR" altLang="en-US" sz="850" b="0" i="0" u="none" strike="noStrike" kern="0" cap="none" spc="0" normalizeH="0" baseline="0" noProof="0" dirty="0">
                  <a:ln>
                    <a:noFill/>
                  </a:ln>
                  <a:effectLst/>
                  <a:uLnTx/>
                  <a:uFillTx/>
                  <a:latin typeface="Arial"/>
                  <a:ea typeface="맑은 고딕"/>
                </a:endParaRPr>
              </a:p>
            </p:txBody>
          </p:sp>
          <p:sp>
            <p:nvSpPr>
              <p:cNvPr id="217" name="직사각형 216"/>
              <p:cNvSpPr/>
              <p:nvPr/>
            </p:nvSpPr>
            <p:spPr>
              <a:xfrm>
                <a:off x="4398118" y="4515440"/>
                <a:ext cx="513282"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effectLst/>
                    <a:uLnTx/>
                    <a:uFillTx/>
                    <a:latin typeface="Arial"/>
                    <a:ea typeface="Samsung Sharp Sans Bold" pitchFamily="2" charset="0"/>
                    <a:cs typeface="Samsung Sharp Sans Bold" pitchFamily="2" charset="0"/>
                  </a:rPr>
                  <a:t>“and”</a:t>
                </a:r>
                <a:endParaRPr kumimoji="0" lang="ko-KR" altLang="en-US" sz="850" b="0" i="0" u="none" strike="noStrike" kern="0" cap="none" spc="0" normalizeH="0" baseline="0" noProof="0" dirty="0">
                  <a:ln>
                    <a:noFill/>
                  </a:ln>
                  <a:effectLst/>
                  <a:uLnTx/>
                  <a:uFillTx/>
                  <a:latin typeface="Arial"/>
                  <a:ea typeface="맑은 고딕"/>
                </a:endParaRPr>
              </a:p>
            </p:txBody>
          </p:sp>
          <p:sp>
            <p:nvSpPr>
              <p:cNvPr id="218" name="직사각형 217"/>
              <p:cNvSpPr/>
              <p:nvPr/>
            </p:nvSpPr>
            <p:spPr>
              <a:xfrm>
                <a:off x="5622815" y="4515440"/>
                <a:ext cx="500683" cy="2616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effectLst/>
                    <a:uLnTx/>
                    <a:uFillTx/>
                    <a:latin typeface="Arial"/>
                    <a:ea typeface="Samsung Sharp Sans Bold" pitchFamily="2" charset="0"/>
                    <a:cs typeface="Samsung Sharp Sans Bold" pitchFamily="2" charset="0"/>
                  </a:rPr>
                  <a:t>“.”</a:t>
                </a:r>
                <a:endParaRPr kumimoji="0" lang="ko-KR" altLang="en-US" sz="850" b="0" i="0" u="none" strike="noStrike" kern="0" cap="none" spc="0" normalizeH="0" baseline="0" noProof="0" dirty="0">
                  <a:ln>
                    <a:noFill/>
                  </a:ln>
                  <a:effectLst/>
                  <a:uLnTx/>
                  <a:uFillTx/>
                  <a:latin typeface="Arial"/>
                  <a:ea typeface="맑은 고딕"/>
                </a:endParaRPr>
              </a:p>
            </p:txBody>
          </p:sp>
          <p:sp>
            <p:nvSpPr>
              <p:cNvPr id="219" name="줄무늬가 있는 오른쪽 화살표 85">
                <a:extLst>
                  <a:ext uri="{FF2B5EF4-FFF2-40B4-BE49-F238E27FC236}">
                    <a16:creationId xmlns:a16="http://schemas.microsoft.com/office/drawing/2014/main" id="{4FC2A20A-96F0-40E8-FF0B-07159864B259}"/>
                  </a:ext>
                </a:extLst>
              </p:cNvPr>
              <p:cNvSpPr/>
              <p:nvPr/>
            </p:nvSpPr>
            <p:spPr>
              <a:xfrm>
                <a:off x="2282349" y="3928541"/>
                <a:ext cx="392707" cy="115409"/>
              </a:xfrm>
              <a:prstGeom prst="rightArrow">
                <a:avLst>
                  <a:gd name="adj1" fmla="val 50000"/>
                  <a:gd name="adj2" fmla="val 91203"/>
                </a:avLst>
              </a:prstGeom>
              <a:gradFill flip="none" rotWithShape="1">
                <a:gsLst>
                  <a:gs pos="4425">
                    <a:srgbClr val="44546A">
                      <a:lumMod val="75000"/>
                    </a:srgbClr>
                  </a:gs>
                  <a:gs pos="65000">
                    <a:srgbClr val="5B9BD5"/>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grpSp>
            <p:nvGrpSpPr>
              <p:cNvPr id="220" name="그룹 219"/>
              <p:cNvGrpSpPr/>
              <p:nvPr/>
            </p:nvGrpSpPr>
            <p:grpSpPr>
              <a:xfrm>
                <a:off x="1712026" y="3669221"/>
                <a:ext cx="604062" cy="867545"/>
                <a:chOff x="222043" y="2867715"/>
                <a:chExt cx="540000" cy="775540"/>
              </a:xfrm>
            </p:grpSpPr>
            <p:sp>
              <p:nvSpPr>
                <p:cNvPr id="233" name="줄무늬가 있는 오른쪽 화살표 85">
                  <a:extLst>
                    <a:ext uri="{FF2B5EF4-FFF2-40B4-BE49-F238E27FC236}">
                      <a16:creationId xmlns:a16="http://schemas.microsoft.com/office/drawing/2014/main" id="{4FC2A20A-96F0-40E8-FF0B-07159864B259}"/>
                    </a:ext>
                  </a:extLst>
                </p:cNvPr>
                <p:cNvSpPr/>
                <p:nvPr/>
              </p:nvSpPr>
              <p:spPr>
                <a:xfrm rot="5400000">
                  <a:off x="330490" y="3423064"/>
                  <a:ext cx="337212" cy="103170"/>
                </a:xfrm>
                <a:prstGeom prst="rightArrow">
                  <a:avLst>
                    <a:gd name="adj1" fmla="val 50000"/>
                    <a:gd name="adj2" fmla="val 91203"/>
                  </a:avLst>
                </a:prstGeom>
                <a:gradFill flip="none" rotWithShape="1">
                  <a:gsLst>
                    <a:gs pos="4425">
                      <a:srgbClr val="44546A">
                        <a:lumMod val="75000"/>
                      </a:srgbClr>
                    </a:gs>
                    <a:gs pos="65000">
                      <a:srgbClr val="5B9BD5"/>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sp>
              <p:nvSpPr>
                <p:cNvPr id="234" name="모서리가 둥근 직사각형 116">
                  <a:extLst>
                    <a:ext uri="{FF2B5EF4-FFF2-40B4-BE49-F238E27FC236}">
                      <a16:creationId xmlns:a16="http://schemas.microsoft.com/office/drawing/2014/main" id="{B592C16F-9D7E-9F3F-966B-99B420A8A137}"/>
                    </a:ext>
                  </a:extLst>
                </p:cNvPr>
                <p:cNvSpPr/>
                <p:nvPr/>
              </p:nvSpPr>
              <p:spPr>
                <a:xfrm>
                  <a:off x="222043" y="2867715"/>
                  <a:ext cx="540000" cy="540000"/>
                </a:xfrm>
                <a:prstGeom prst="roundRect">
                  <a:avLst>
                    <a:gd name="adj" fmla="val 7835"/>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50" b="0" i="0" u="none" strike="noStrike" kern="0" cap="none" spc="0" normalizeH="0" baseline="0" noProof="0" dirty="0">
                      <a:ln>
                        <a:noFill/>
                      </a:ln>
                      <a:effectLst/>
                      <a:uLnTx/>
                      <a:uFillTx/>
                      <a:latin typeface="Arial"/>
                      <a:ea typeface="맑은 고딕"/>
                      <a:cs typeface="+mn-cs"/>
                    </a:rPr>
                    <a:t>LM</a:t>
                  </a:r>
                </a:p>
              </p:txBody>
            </p:sp>
          </p:grpSp>
          <p:sp>
            <p:nvSpPr>
              <p:cNvPr id="221" name="줄무늬가 있는 오른쪽 화살표 85">
                <a:extLst>
                  <a:ext uri="{FF2B5EF4-FFF2-40B4-BE49-F238E27FC236}">
                    <a16:creationId xmlns:a16="http://schemas.microsoft.com/office/drawing/2014/main" id="{4FC2A20A-96F0-40E8-FF0B-07159864B259}"/>
                  </a:ext>
                </a:extLst>
              </p:cNvPr>
              <p:cNvSpPr/>
              <p:nvPr/>
            </p:nvSpPr>
            <p:spPr>
              <a:xfrm>
                <a:off x="3137945" y="3922208"/>
                <a:ext cx="377217" cy="115409"/>
              </a:xfrm>
              <a:prstGeom prst="rightArrow">
                <a:avLst>
                  <a:gd name="adj1" fmla="val 50000"/>
                  <a:gd name="adj2" fmla="val 91203"/>
                </a:avLst>
              </a:prstGeom>
              <a:gradFill flip="none" rotWithShape="1">
                <a:gsLst>
                  <a:gs pos="0">
                    <a:srgbClr val="FFC000"/>
                  </a:gs>
                  <a:gs pos="65000">
                    <a:srgbClr val="FFC000"/>
                  </a:gs>
                  <a:gs pos="100000">
                    <a:srgbClr val="FFC000"/>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grpSp>
            <p:nvGrpSpPr>
              <p:cNvPr id="222" name="그룹 221"/>
              <p:cNvGrpSpPr/>
              <p:nvPr/>
            </p:nvGrpSpPr>
            <p:grpSpPr>
              <a:xfrm>
                <a:off x="2690062" y="3663149"/>
                <a:ext cx="604062" cy="867545"/>
                <a:chOff x="953656" y="2867715"/>
                <a:chExt cx="540000" cy="775540"/>
              </a:xfrm>
            </p:grpSpPr>
            <p:sp>
              <p:nvSpPr>
                <p:cNvPr id="231" name="줄무늬가 있는 오른쪽 화살표 85">
                  <a:extLst>
                    <a:ext uri="{FF2B5EF4-FFF2-40B4-BE49-F238E27FC236}">
                      <a16:creationId xmlns:a16="http://schemas.microsoft.com/office/drawing/2014/main" id="{4FC2A20A-96F0-40E8-FF0B-07159864B259}"/>
                    </a:ext>
                  </a:extLst>
                </p:cNvPr>
                <p:cNvSpPr/>
                <p:nvPr/>
              </p:nvSpPr>
              <p:spPr>
                <a:xfrm rot="5400000">
                  <a:off x="1054632" y="3423064"/>
                  <a:ext cx="337212" cy="103170"/>
                </a:xfrm>
                <a:prstGeom prst="rightArrow">
                  <a:avLst>
                    <a:gd name="adj1" fmla="val 50000"/>
                    <a:gd name="adj2" fmla="val 91203"/>
                  </a:avLst>
                </a:prstGeom>
                <a:gradFill flip="none" rotWithShape="1">
                  <a:gsLst>
                    <a:gs pos="0">
                      <a:srgbClr val="8631DB"/>
                    </a:gs>
                    <a:gs pos="65000">
                      <a:srgbClr val="9E75E7"/>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sp>
              <p:nvSpPr>
                <p:cNvPr id="232" name="모서리가 둥근 직사각형 117">
                  <a:extLst>
                    <a:ext uri="{FF2B5EF4-FFF2-40B4-BE49-F238E27FC236}">
                      <a16:creationId xmlns:a16="http://schemas.microsoft.com/office/drawing/2014/main" id="{5544D22D-B6A3-54CB-7E2C-1B269DF5655E}"/>
                    </a:ext>
                  </a:extLst>
                </p:cNvPr>
                <p:cNvSpPr/>
                <p:nvPr/>
              </p:nvSpPr>
              <p:spPr>
                <a:xfrm>
                  <a:off x="953656" y="2867715"/>
                  <a:ext cx="540000" cy="540000"/>
                </a:xfrm>
                <a:prstGeom prst="roundRect">
                  <a:avLst>
                    <a:gd name="adj" fmla="val 7835"/>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rPr>
                    <a:t>LM</a:t>
                  </a:r>
                  <a:endParaRPr kumimoji="0" lang="ko-KR" altLang="en-US" sz="14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grpSp>
          <p:sp>
            <p:nvSpPr>
              <p:cNvPr id="223" name="줄무늬가 있는 오른쪽 화살표 85">
                <a:extLst>
                  <a:ext uri="{FF2B5EF4-FFF2-40B4-BE49-F238E27FC236}">
                    <a16:creationId xmlns:a16="http://schemas.microsoft.com/office/drawing/2014/main" id="{4FC2A20A-96F0-40E8-FF0B-07159864B259}"/>
                  </a:ext>
                </a:extLst>
              </p:cNvPr>
              <p:cNvSpPr/>
              <p:nvPr/>
            </p:nvSpPr>
            <p:spPr>
              <a:xfrm>
                <a:off x="3978219" y="3922207"/>
                <a:ext cx="377217" cy="115409"/>
              </a:xfrm>
              <a:prstGeom prst="rightArrow">
                <a:avLst>
                  <a:gd name="adj1" fmla="val 50000"/>
                  <a:gd name="adj2" fmla="val 91203"/>
                </a:avLst>
              </a:prstGeom>
              <a:gradFill flip="none" rotWithShape="1">
                <a:gsLst>
                  <a:gs pos="0">
                    <a:srgbClr val="FFC000"/>
                  </a:gs>
                  <a:gs pos="65000">
                    <a:srgbClr val="FFC000"/>
                  </a:gs>
                  <a:gs pos="100000">
                    <a:srgbClr val="FFC000"/>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sp>
            <p:nvSpPr>
              <p:cNvPr id="224" name="줄무늬가 있는 오른쪽 화살표 85">
                <a:extLst>
                  <a:ext uri="{FF2B5EF4-FFF2-40B4-BE49-F238E27FC236}">
                    <a16:creationId xmlns:a16="http://schemas.microsoft.com/office/drawing/2014/main" id="{4FC2A20A-96F0-40E8-FF0B-07159864B259}"/>
                  </a:ext>
                </a:extLst>
              </p:cNvPr>
              <p:cNvSpPr/>
              <p:nvPr/>
            </p:nvSpPr>
            <p:spPr>
              <a:xfrm>
                <a:off x="4815447" y="3917782"/>
                <a:ext cx="377217" cy="115409"/>
              </a:xfrm>
              <a:prstGeom prst="rightArrow">
                <a:avLst>
                  <a:gd name="adj1" fmla="val 50000"/>
                  <a:gd name="adj2" fmla="val 91203"/>
                </a:avLst>
              </a:prstGeom>
              <a:gradFill flip="none" rotWithShape="1">
                <a:gsLst>
                  <a:gs pos="0">
                    <a:srgbClr val="FFC000"/>
                  </a:gs>
                  <a:gs pos="65000">
                    <a:srgbClr val="FFC000"/>
                  </a:gs>
                  <a:gs pos="100000">
                    <a:srgbClr val="FFC000"/>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grpSp>
            <p:nvGrpSpPr>
              <p:cNvPr id="225" name="그룹 224"/>
              <p:cNvGrpSpPr/>
              <p:nvPr/>
            </p:nvGrpSpPr>
            <p:grpSpPr>
              <a:xfrm>
                <a:off x="3530561" y="3663149"/>
                <a:ext cx="604062" cy="867545"/>
                <a:chOff x="953656" y="2867715"/>
                <a:chExt cx="540000" cy="775540"/>
              </a:xfrm>
            </p:grpSpPr>
            <p:sp>
              <p:nvSpPr>
                <p:cNvPr id="229" name="줄무늬가 있는 오른쪽 화살표 85">
                  <a:extLst>
                    <a:ext uri="{FF2B5EF4-FFF2-40B4-BE49-F238E27FC236}">
                      <a16:creationId xmlns:a16="http://schemas.microsoft.com/office/drawing/2014/main" id="{4FC2A20A-96F0-40E8-FF0B-07159864B259}"/>
                    </a:ext>
                  </a:extLst>
                </p:cNvPr>
                <p:cNvSpPr/>
                <p:nvPr/>
              </p:nvSpPr>
              <p:spPr>
                <a:xfrm rot="5400000">
                  <a:off x="1054632" y="3423064"/>
                  <a:ext cx="337212" cy="103170"/>
                </a:xfrm>
                <a:prstGeom prst="rightArrow">
                  <a:avLst>
                    <a:gd name="adj1" fmla="val 50000"/>
                    <a:gd name="adj2" fmla="val 91203"/>
                  </a:avLst>
                </a:prstGeom>
                <a:gradFill flip="none" rotWithShape="1">
                  <a:gsLst>
                    <a:gs pos="0">
                      <a:srgbClr val="8631DB"/>
                    </a:gs>
                    <a:gs pos="65000">
                      <a:srgbClr val="9E75E7"/>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sp>
              <p:nvSpPr>
                <p:cNvPr id="230" name="모서리가 둥근 직사각형 117">
                  <a:extLst>
                    <a:ext uri="{FF2B5EF4-FFF2-40B4-BE49-F238E27FC236}">
                      <a16:creationId xmlns:a16="http://schemas.microsoft.com/office/drawing/2014/main" id="{5544D22D-B6A3-54CB-7E2C-1B269DF5655E}"/>
                    </a:ext>
                  </a:extLst>
                </p:cNvPr>
                <p:cNvSpPr/>
                <p:nvPr/>
              </p:nvSpPr>
              <p:spPr>
                <a:xfrm>
                  <a:off x="953656" y="2867715"/>
                  <a:ext cx="540000" cy="540000"/>
                </a:xfrm>
                <a:prstGeom prst="roundRect">
                  <a:avLst>
                    <a:gd name="adj" fmla="val 7835"/>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rPr>
                    <a:t>LM</a:t>
                  </a:r>
                  <a:endParaRPr kumimoji="0" lang="ko-KR" altLang="en-US" sz="14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grpSp>
          <p:grpSp>
            <p:nvGrpSpPr>
              <p:cNvPr id="226" name="그룹 225"/>
              <p:cNvGrpSpPr/>
              <p:nvPr/>
            </p:nvGrpSpPr>
            <p:grpSpPr>
              <a:xfrm>
                <a:off x="4372882" y="3663149"/>
                <a:ext cx="604062" cy="867545"/>
                <a:chOff x="953656" y="2867715"/>
                <a:chExt cx="540000" cy="775540"/>
              </a:xfrm>
            </p:grpSpPr>
            <p:sp>
              <p:nvSpPr>
                <p:cNvPr id="227" name="줄무늬가 있는 오른쪽 화살표 85">
                  <a:extLst>
                    <a:ext uri="{FF2B5EF4-FFF2-40B4-BE49-F238E27FC236}">
                      <a16:creationId xmlns:a16="http://schemas.microsoft.com/office/drawing/2014/main" id="{4FC2A20A-96F0-40E8-FF0B-07159864B259}"/>
                    </a:ext>
                  </a:extLst>
                </p:cNvPr>
                <p:cNvSpPr/>
                <p:nvPr/>
              </p:nvSpPr>
              <p:spPr>
                <a:xfrm rot="5400000">
                  <a:off x="1054632" y="3423064"/>
                  <a:ext cx="337212" cy="103170"/>
                </a:xfrm>
                <a:prstGeom prst="rightArrow">
                  <a:avLst>
                    <a:gd name="adj1" fmla="val 50000"/>
                    <a:gd name="adj2" fmla="val 91203"/>
                  </a:avLst>
                </a:prstGeom>
                <a:gradFill flip="none" rotWithShape="1">
                  <a:gsLst>
                    <a:gs pos="0">
                      <a:srgbClr val="8631DB"/>
                    </a:gs>
                    <a:gs pos="65000">
                      <a:srgbClr val="9E75E7"/>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4200" b="0" i="0" u="none" strike="noStrike" kern="0" cap="none" spc="0" normalizeH="0" baseline="0" noProof="0" dirty="0">
                    <a:ln>
                      <a:noFill/>
                    </a:ln>
                    <a:effectLst/>
                    <a:uLnTx/>
                    <a:uFillTx/>
                    <a:latin typeface="Arial"/>
                    <a:ea typeface="맑은 고딕"/>
                    <a:cs typeface="+mn-cs"/>
                  </a:endParaRPr>
                </a:p>
              </p:txBody>
            </p:sp>
            <p:sp>
              <p:nvSpPr>
                <p:cNvPr id="228" name="모서리가 둥근 직사각형 117">
                  <a:extLst>
                    <a:ext uri="{FF2B5EF4-FFF2-40B4-BE49-F238E27FC236}">
                      <a16:creationId xmlns:a16="http://schemas.microsoft.com/office/drawing/2014/main" id="{5544D22D-B6A3-54CB-7E2C-1B269DF5655E}"/>
                    </a:ext>
                  </a:extLst>
                </p:cNvPr>
                <p:cNvSpPr/>
                <p:nvPr/>
              </p:nvSpPr>
              <p:spPr>
                <a:xfrm>
                  <a:off x="953656" y="2867715"/>
                  <a:ext cx="540000" cy="540000"/>
                </a:xfrm>
                <a:prstGeom prst="roundRect">
                  <a:avLst>
                    <a:gd name="adj" fmla="val 7835"/>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rPr>
                    <a:t>LM</a:t>
                  </a:r>
                  <a:endParaRPr kumimoji="0" lang="ko-KR" altLang="en-US" sz="14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grpSp>
        </p:grpSp>
        <p:sp>
          <p:nvSpPr>
            <p:cNvPr id="243" name="자유형 242"/>
            <p:cNvSpPr/>
            <p:nvPr/>
          </p:nvSpPr>
          <p:spPr>
            <a:xfrm>
              <a:off x="1083323" y="2743285"/>
              <a:ext cx="5192408" cy="1285205"/>
            </a:xfrm>
            <a:custGeom>
              <a:avLst/>
              <a:gdLst>
                <a:gd name="connsiteX0" fmla="*/ 838200 w 4320540"/>
                <a:gd name="connsiteY0" fmla="*/ 0 h 1104900"/>
                <a:gd name="connsiteX1" fmla="*/ 0 w 4320540"/>
                <a:gd name="connsiteY1" fmla="*/ 1097280 h 1104900"/>
                <a:gd name="connsiteX2" fmla="*/ 3756660 w 4320540"/>
                <a:gd name="connsiteY2" fmla="*/ 1104900 h 1104900"/>
                <a:gd name="connsiteX3" fmla="*/ 4320540 w 4320540"/>
                <a:gd name="connsiteY3" fmla="*/ 7620 h 1104900"/>
                <a:gd name="connsiteX4" fmla="*/ 838200 w 4320540"/>
                <a:gd name="connsiteY4" fmla="*/ 0 h 1104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540" h="1104900">
                  <a:moveTo>
                    <a:pt x="838200" y="0"/>
                  </a:moveTo>
                  <a:lnTo>
                    <a:pt x="0" y="1097280"/>
                  </a:lnTo>
                  <a:lnTo>
                    <a:pt x="3756660" y="1104900"/>
                  </a:lnTo>
                  <a:lnTo>
                    <a:pt x="4320540" y="7620"/>
                  </a:lnTo>
                  <a:lnTo>
                    <a:pt x="838200" y="0"/>
                  </a:lnTo>
                  <a:close/>
                </a:path>
              </a:pathLst>
            </a:custGeom>
            <a:gradFill flip="none" rotWithShape="1">
              <a:gsLst>
                <a:gs pos="4425">
                  <a:srgbClr val="1F497D">
                    <a:alpha val="50000"/>
                  </a:srgbClr>
                </a:gs>
                <a:gs pos="65000">
                  <a:srgbClr val="5B9BD5">
                    <a:alpha val="10000"/>
                  </a:srgbClr>
                </a:gs>
                <a:gs pos="100000">
                  <a:srgbClr val="44546A">
                    <a:alpha val="20000"/>
                  </a:srgbClr>
                </a:gs>
              </a:gsLst>
              <a:lin ang="16200000" scaled="1"/>
              <a:tileRect/>
            </a:gradFill>
            <a:ln w="12700" cap="flat" cmpd="sng" algn="ctr">
              <a:noFill/>
              <a:prstDash val="solid"/>
              <a:miter lim="800000"/>
            </a:ln>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75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Samsung Sharp Sans Bold" pitchFamily="2" charset="0"/>
              </a:endParaRPr>
            </a:p>
          </p:txBody>
        </p:sp>
        <p:sp>
          <p:nvSpPr>
            <p:cNvPr id="241" name="모서리가 둥근 직사각형 117">
              <a:extLst>
                <a:ext uri="{FF2B5EF4-FFF2-40B4-BE49-F238E27FC236}">
                  <a16:creationId xmlns:a16="http://schemas.microsoft.com/office/drawing/2014/main" id="{FA0ECA91-1A8B-EF88-9873-53E434D66C39}"/>
                </a:ext>
              </a:extLst>
            </p:cNvPr>
            <p:cNvSpPr/>
            <p:nvPr/>
          </p:nvSpPr>
          <p:spPr>
            <a:xfrm>
              <a:off x="2020149" y="1842103"/>
              <a:ext cx="4536306" cy="1040798"/>
            </a:xfrm>
            <a:prstGeom prst="roundRect">
              <a:avLst>
                <a:gd name="adj" fmla="val 7835"/>
              </a:avLst>
            </a:prstGeom>
            <a:noFill/>
            <a:ln w="25400" cap="flat" cmpd="sng" algn="ctr">
              <a:solidFill>
                <a:srgbClr val="1F497D"/>
              </a:solidFill>
              <a:prstDash val="sysDash"/>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950" b="0" i="0" u="none" strike="noStrike" kern="0" cap="none" spc="0" normalizeH="0" baseline="0" noProof="0" dirty="0">
                <a:ln>
                  <a:noFill/>
                </a:ln>
                <a:effectLst/>
                <a:uLnTx/>
                <a:uFillTx/>
                <a:latin typeface="Samsung Sharp Sans Bold" pitchFamily="50" charset="0"/>
                <a:ea typeface="맑은 고딕"/>
                <a:cs typeface="Samsung Sharp Sans Bold" pitchFamily="50" charset="0"/>
              </a:endParaRPr>
            </a:p>
          </p:txBody>
        </p:sp>
        <p:sp>
          <p:nvSpPr>
            <p:cNvPr id="242" name="직사각형 241"/>
            <p:cNvSpPr/>
            <p:nvPr/>
          </p:nvSpPr>
          <p:spPr>
            <a:xfrm>
              <a:off x="4547450" y="1471586"/>
              <a:ext cx="2268332" cy="3295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GEMV Computation dominated</a:t>
              </a:r>
            </a:p>
          </p:txBody>
        </p:sp>
        <p:grpSp>
          <p:nvGrpSpPr>
            <p:cNvPr id="244" name="그룹 243"/>
            <p:cNvGrpSpPr/>
            <p:nvPr/>
          </p:nvGrpSpPr>
          <p:grpSpPr>
            <a:xfrm>
              <a:off x="62279" y="3679710"/>
              <a:ext cx="6608915" cy="1155450"/>
              <a:chOff x="418623" y="5661519"/>
              <a:chExt cx="5482421" cy="978326"/>
            </a:xfrm>
          </p:grpSpPr>
          <p:cxnSp>
            <p:nvCxnSpPr>
              <p:cNvPr id="245" name="직선 연결선 244">
                <a:extLst>
                  <a:ext uri="{FF2B5EF4-FFF2-40B4-BE49-F238E27FC236}">
                    <a16:creationId xmlns:a16="http://schemas.microsoft.com/office/drawing/2014/main" id="{25BB8C04-C31F-470C-9A50-6C4BD57CD03C}"/>
                  </a:ext>
                </a:extLst>
              </p:cNvPr>
              <p:cNvCxnSpPr>
                <a:cxnSpLocks/>
              </p:cNvCxnSpPr>
              <p:nvPr/>
            </p:nvCxnSpPr>
            <p:spPr>
              <a:xfrm flipV="1">
                <a:off x="2051876" y="5842334"/>
                <a:ext cx="3177" cy="468000"/>
              </a:xfrm>
              <a:prstGeom prst="line">
                <a:avLst/>
              </a:prstGeom>
              <a:noFill/>
              <a:ln w="12700" cap="rnd" cmpd="sng" algn="ctr">
                <a:solidFill>
                  <a:srgbClr val="A6A6A6"/>
                </a:solidFill>
                <a:prstDash val="sysDash"/>
                <a:round/>
                <a:headEnd type="none" w="med" len="med"/>
                <a:tailEnd type="none" w="med" len="med"/>
              </a:ln>
              <a:effectLst/>
            </p:spPr>
          </p:cxnSp>
          <p:cxnSp>
            <p:nvCxnSpPr>
              <p:cNvPr id="246" name="직선 연결선 245">
                <a:extLst>
                  <a:ext uri="{FF2B5EF4-FFF2-40B4-BE49-F238E27FC236}">
                    <a16:creationId xmlns:a16="http://schemas.microsoft.com/office/drawing/2014/main" id="{25BB8C04-C31F-470C-9A50-6C4BD57CD03C}"/>
                  </a:ext>
                </a:extLst>
              </p:cNvPr>
              <p:cNvCxnSpPr>
                <a:cxnSpLocks/>
              </p:cNvCxnSpPr>
              <p:nvPr/>
            </p:nvCxnSpPr>
            <p:spPr>
              <a:xfrm flipV="1">
                <a:off x="3211790" y="5849352"/>
                <a:ext cx="3177" cy="468000"/>
              </a:xfrm>
              <a:prstGeom prst="line">
                <a:avLst/>
              </a:prstGeom>
              <a:noFill/>
              <a:ln w="12700" cap="rnd" cmpd="sng" algn="ctr">
                <a:solidFill>
                  <a:srgbClr val="A6A6A6"/>
                </a:solidFill>
                <a:prstDash val="sysDash"/>
                <a:round/>
                <a:headEnd type="none" w="med" len="med"/>
                <a:tailEnd type="none" w="med" len="med"/>
              </a:ln>
              <a:effectLst/>
            </p:spPr>
          </p:cxnSp>
          <p:sp>
            <p:nvSpPr>
              <p:cNvPr id="247" name="직사각형 246"/>
              <p:cNvSpPr/>
              <p:nvPr/>
            </p:nvSpPr>
            <p:spPr>
              <a:xfrm>
                <a:off x="884174" y="5948122"/>
                <a:ext cx="354409" cy="252535"/>
              </a:xfrm>
              <a:prstGeom prst="rect">
                <a:avLst/>
              </a:prstGeom>
              <a:solidFill>
                <a:srgbClr val="0077C8"/>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dirty="0">
                  <a:ln>
                    <a:noFill/>
                  </a:ln>
                  <a:effectLst/>
                  <a:uLnTx/>
                  <a:uFillTx/>
                  <a:latin typeface="Samsung Sharp Sans Bold"/>
                  <a:ea typeface="맑은 고딕"/>
                  <a:cs typeface="Arial" panose="020B0604020202020204" pitchFamily="34" charset="0"/>
                </a:endParaRPr>
              </a:p>
            </p:txBody>
          </p:sp>
          <p:sp>
            <p:nvSpPr>
              <p:cNvPr id="248" name="직사각형 247"/>
              <p:cNvSpPr/>
              <p:nvPr/>
            </p:nvSpPr>
            <p:spPr>
              <a:xfrm>
                <a:off x="898066" y="5957754"/>
                <a:ext cx="360633" cy="195447"/>
              </a:xfrm>
              <a:prstGeom prst="rect">
                <a:avLst/>
              </a:prstGeom>
              <a:gradFill>
                <a:gsLst>
                  <a:gs pos="0">
                    <a:srgbClr val="4472C4">
                      <a:lumMod val="67000"/>
                    </a:srgbClr>
                  </a:gs>
                  <a:gs pos="48000">
                    <a:srgbClr val="4472C4">
                      <a:lumMod val="97000"/>
                      <a:lumOff val="3000"/>
                    </a:srgbClr>
                  </a:gs>
                  <a:gs pos="100000">
                    <a:srgbClr val="4472C4">
                      <a:lumMod val="60000"/>
                      <a:lumOff val="40000"/>
                    </a:srgbClr>
                  </a:gs>
                </a:gsLst>
                <a:lin ang="0" scaled="1"/>
              </a:grad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7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rPr>
                  <a:t>2.1%</a:t>
                </a:r>
                <a:endParaRPr kumimoji="0" lang="ko-KR" altLang="en-US" sz="7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endParaRPr>
              </a:p>
            </p:txBody>
          </p:sp>
          <p:sp>
            <p:nvSpPr>
              <p:cNvPr id="249" name="직사각형 248"/>
              <p:cNvSpPr/>
              <p:nvPr/>
            </p:nvSpPr>
            <p:spPr>
              <a:xfrm>
                <a:off x="687379" y="5661519"/>
                <a:ext cx="365806" cy="246221"/>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0%</a:t>
                </a:r>
                <a:endParaRPr kumimoji="0" lang="ko-KR" altLang="en-US" sz="800" b="0" i="0" u="none" strike="noStrike" kern="0" cap="none" spc="0" normalizeH="0" baseline="0" noProof="0" dirty="0">
                  <a:ln>
                    <a:noFill/>
                  </a:ln>
                  <a:effectLst/>
                  <a:uLnTx/>
                  <a:uFillTx/>
                  <a:latin typeface="Arial"/>
                  <a:ea typeface="맑은 고딕"/>
                </a:endParaRPr>
              </a:p>
            </p:txBody>
          </p:sp>
          <p:sp>
            <p:nvSpPr>
              <p:cNvPr id="250" name="직사각형 249"/>
              <p:cNvSpPr/>
              <p:nvPr/>
            </p:nvSpPr>
            <p:spPr>
              <a:xfrm>
                <a:off x="1820922" y="5661520"/>
                <a:ext cx="433132" cy="246221"/>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25%</a:t>
                </a:r>
                <a:endParaRPr kumimoji="0" lang="ko-KR" altLang="en-US" sz="800" b="0" i="0" u="none" strike="noStrike" kern="0" cap="none" spc="0" normalizeH="0" baseline="0" noProof="0" dirty="0">
                  <a:ln>
                    <a:noFill/>
                  </a:ln>
                  <a:effectLst/>
                  <a:uLnTx/>
                  <a:uFillTx/>
                  <a:latin typeface="Arial"/>
                  <a:ea typeface="맑은 고딕"/>
                </a:endParaRPr>
              </a:p>
            </p:txBody>
          </p:sp>
          <p:sp>
            <p:nvSpPr>
              <p:cNvPr id="251" name="직사각형 250"/>
              <p:cNvSpPr/>
              <p:nvPr/>
            </p:nvSpPr>
            <p:spPr>
              <a:xfrm>
                <a:off x="2966029" y="5664154"/>
                <a:ext cx="434734" cy="246221"/>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50%</a:t>
                </a:r>
                <a:endParaRPr kumimoji="0" lang="ko-KR" altLang="en-US" sz="800" b="0" i="0" u="none" strike="noStrike" kern="0" cap="none" spc="0" normalizeH="0" baseline="0" noProof="0" dirty="0">
                  <a:ln>
                    <a:noFill/>
                  </a:ln>
                  <a:effectLst/>
                  <a:uLnTx/>
                  <a:uFillTx/>
                  <a:latin typeface="Arial"/>
                  <a:ea typeface="맑은 고딕"/>
                </a:endParaRPr>
              </a:p>
            </p:txBody>
          </p:sp>
          <p:sp>
            <p:nvSpPr>
              <p:cNvPr id="252" name="직사각형 251"/>
              <p:cNvSpPr/>
              <p:nvPr/>
            </p:nvSpPr>
            <p:spPr>
              <a:xfrm>
                <a:off x="4160137" y="5661519"/>
                <a:ext cx="433132" cy="246221"/>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75%</a:t>
                </a:r>
                <a:endParaRPr kumimoji="0" lang="ko-KR" altLang="en-US" sz="800" b="0" i="0" u="none" strike="noStrike" kern="0" cap="none" spc="0" normalizeH="0" baseline="0" noProof="0" dirty="0">
                  <a:ln>
                    <a:noFill/>
                  </a:ln>
                  <a:effectLst/>
                  <a:uLnTx/>
                  <a:uFillTx/>
                  <a:latin typeface="Arial"/>
                  <a:ea typeface="맑은 고딕"/>
                </a:endParaRPr>
              </a:p>
            </p:txBody>
          </p:sp>
          <p:cxnSp>
            <p:nvCxnSpPr>
              <p:cNvPr id="253" name="직선 연결선 252">
                <a:extLst>
                  <a:ext uri="{FF2B5EF4-FFF2-40B4-BE49-F238E27FC236}">
                    <a16:creationId xmlns:a16="http://schemas.microsoft.com/office/drawing/2014/main" id="{25BB8C04-C31F-470C-9A50-6C4BD57CD03C}"/>
                  </a:ext>
                </a:extLst>
              </p:cNvPr>
              <p:cNvCxnSpPr>
                <a:cxnSpLocks/>
              </p:cNvCxnSpPr>
              <p:nvPr/>
            </p:nvCxnSpPr>
            <p:spPr>
              <a:xfrm flipV="1">
                <a:off x="882246" y="5846970"/>
                <a:ext cx="3177" cy="468000"/>
              </a:xfrm>
              <a:prstGeom prst="line">
                <a:avLst/>
              </a:prstGeom>
              <a:noFill/>
              <a:ln w="12700" cap="rnd" cmpd="sng" algn="ctr">
                <a:solidFill>
                  <a:srgbClr val="A6A6A6"/>
                </a:solidFill>
                <a:prstDash val="sysDash"/>
                <a:round/>
                <a:headEnd type="none" w="med" len="med"/>
                <a:tailEnd type="none" w="med" len="med"/>
              </a:ln>
              <a:effectLst/>
            </p:spPr>
          </p:cxnSp>
          <p:cxnSp>
            <p:nvCxnSpPr>
              <p:cNvPr id="254" name="직선 연결선 253">
                <a:extLst>
                  <a:ext uri="{FF2B5EF4-FFF2-40B4-BE49-F238E27FC236}">
                    <a16:creationId xmlns:a16="http://schemas.microsoft.com/office/drawing/2014/main" id="{25BB8C04-C31F-470C-9A50-6C4BD57CD03C}"/>
                  </a:ext>
                </a:extLst>
              </p:cNvPr>
              <p:cNvCxnSpPr>
                <a:cxnSpLocks/>
              </p:cNvCxnSpPr>
              <p:nvPr/>
            </p:nvCxnSpPr>
            <p:spPr>
              <a:xfrm flipV="1">
                <a:off x="4392963" y="5851266"/>
                <a:ext cx="3177" cy="468000"/>
              </a:xfrm>
              <a:prstGeom prst="line">
                <a:avLst/>
              </a:prstGeom>
              <a:noFill/>
              <a:ln w="12700" cap="rnd" cmpd="sng" algn="ctr">
                <a:solidFill>
                  <a:srgbClr val="A6A6A6"/>
                </a:solidFill>
                <a:prstDash val="sysDash"/>
                <a:round/>
                <a:headEnd type="none" w="med" len="med"/>
                <a:tailEnd type="none" w="med" len="med"/>
              </a:ln>
              <a:effectLst/>
            </p:spPr>
          </p:cxnSp>
          <p:sp>
            <p:nvSpPr>
              <p:cNvPr id="255" name="직사각형 254"/>
              <p:cNvSpPr/>
              <p:nvPr/>
            </p:nvSpPr>
            <p:spPr>
              <a:xfrm>
                <a:off x="1238583" y="5948122"/>
                <a:ext cx="3764389" cy="250248"/>
              </a:xfrm>
              <a:prstGeom prst="rect">
                <a:avLst/>
              </a:prstGeom>
              <a:gradFill>
                <a:gsLst>
                  <a:gs pos="0">
                    <a:srgbClr val="FFC000">
                      <a:lumMod val="67000"/>
                    </a:srgbClr>
                  </a:gs>
                  <a:gs pos="48000">
                    <a:srgbClr val="FFC000">
                      <a:lumMod val="97000"/>
                      <a:lumOff val="3000"/>
                    </a:srgbClr>
                  </a:gs>
                  <a:gs pos="100000">
                    <a:srgbClr val="FFC000">
                      <a:lumMod val="60000"/>
                      <a:lumOff val="40000"/>
                    </a:srgbClr>
                  </a:gs>
                </a:gsLst>
                <a:lin ang="10800000" scaled="1"/>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315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sp>
            <p:nvSpPr>
              <p:cNvPr id="256" name="직사각형 255"/>
              <p:cNvSpPr/>
              <p:nvPr/>
            </p:nvSpPr>
            <p:spPr>
              <a:xfrm>
                <a:off x="1436066" y="5957755"/>
                <a:ext cx="3288080" cy="230833"/>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700" b="0" i="0" u="none" strike="noStrike" kern="0" cap="none" spc="0" normalizeH="0" baseline="0" noProof="0" dirty="0">
                    <a:ln>
                      <a:noFill/>
                    </a:ln>
                    <a:effectLst/>
                    <a:uLnTx/>
                    <a:uFillTx/>
                    <a:latin typeface="Samsung Sharp Sans Bold"/>
                    <a:ea typeface="맑은 고딕"/>
                    <a:cs typeface="Arial" panose="020B0604020202020204" pitchFamily="34" charset="0"/>
                  </a:rPr>
                  <a:t>GEMV accounts for 82.3% of total computation time (GPU)</a:t>
                </a:r>
                <a:endParaRPr kumimoji="0" lang="ko-KR" altLang="en-US" sz="700" b="0" i="0" u="none" strike="noStrike" kern="0" cap="none" spc="0" normalizeH="0" baseline="0" noProof="0" dirty="0">
                  <a:ln>
                    <a:noFill/>
                  </a:ln>
                  <a:effectLst/>
                  <a:uLnTx/>
                  <a:uFillTx/>
                  <a:latin typeface="Samsung Sharp Sans Bold"/>
                  <a:ea typeface="맑은 고딕"/>
                  <a:cs typeface="Arial" panose="020B0604020202020204" pitchFamily="34" charset="0"/>
                </a:endParaRPr>
              </a:p>
            </p:txBody>
          </p:sp>
          <p:sp>
            <p:nvSpPr>
              <p:cNvPr id="257" name="직사각형 256"/>
              <p:cNvSpPr/>
              <p:nvPr/>
            </p:nvSpPr>
            <p:spPr>
              <a:xfrm>
                <a:off x="4998150" y="5948122"/>
                <a:ext cx="334116" cy="250248"/>
              </a:xfrm>
              <a:prstGeom prst="rect">
                <a:avLst/>
              </a:prstGeom>
              <a:solidFill>
                <a:srgbClr val="17375E"/>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950" b="0" i="0" u="none" strike="noStrike" kern="0" cap="none" spc="0" normalizeH="0" baseline="0" noProof="0" dirty="0">
                  <a:ln>
                    <a:noFill/>
                  </a:ln>
                  <a:effectLst/>
                  <a:uLnTx/>
                  <a:uFillTx/>
                  <a:latin typeface="Samsung Sharp Sans Bold"/>
                  <a:ea typeface="맑은 고딕"/>
                  <a:cs typeface="Arial" panose="020B0604020202020204" pitchFamily="34" charset="0"/>
                </a:endParaRPr>
              </a:p>
            </p:txBody>
          </p:sp>
          <p:sp>
            <p:nvSpPr>
              <p:cNvPr id="258" name="직사각형 257"/>
              <p:cNvSpPr/>
              <p:nvPr/>
            </p:nvSpPr>
            <p:spPr>
              <a:xfrm>
                <a:off x="5332265" y="5948268"/>
                <a:ext cx="347290" cy="250248"/>
              </a:xfrm>
              <a:prstGeom prst="rect">
                <a:avLst/>
              </a:prstGeom>
              <a:solidFill>
                <a:srgbClr val="7030A0"/>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950" b="0" i="0" u="none" strike="noStrike" kern="0" cap="none" spc="0" normalizeH="0" baseline="0" noProof="0" dirty="0">
                  <a:ln>
                    <a:noFill/>
                  </a:ln>
                  <a:effectLst/>
                  <a:uLnTx/>
                  <a:uFillTx/>
                  <a:latin typeface="Samsung Sharp Sans Bold"/>
                  <a:ea typeface="맑은 고딕"/>
                  <a:cs typeface="Arial" panose="020B0604020202020204" pitchFamily="34" charset="0"/>
                </a:endParaRPr>
              </a:p>
            </p:txBody>
          </p:sp>
          <p:sp>
            <p:nvSpPr>
              <p:cNvPr id="259" name="직사각형 258"/>
              <p:cNvSpPr/>
              <p:nvPr/>
            </p:nvSpPr>
            <p:spPr>
              <a:xfrm>
                <a:off x="4986405" y="5956486"/>
                <a:ext cx="360633" cy="19544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7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rPr>
                  <a:t>7.8%</a:t>
                </a:r>
                <a:endParaRPr kumimoji="0" lang="ko-KR" altLang="en-US" sz="7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endParaRPr>
              </a:p>
            </p:txBody>
          </p:sp>
          <p:sp>
            <p:nvSpPr>
              <p:cNvPr id="260" name="직사각형 259"/>
              <p:cNvSpPr/>
              <p:nvPr/>
            </p:nvSpPr>
            <p:spPr>
              <a:xfrm>
                <a:off x="5337146" y="5956486"/>
                <a:ext cx="360633" cy="19544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7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rPr>
                  <a:t>7.9%</a:t>
                </a:r>
                <a:endParaRPr kumimoji="0" lang="ko-KR" altLang="en-US" sz="7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endParaRPr>
              </a:p>
            </p:txBody>
          </p:sp>
          <p:sp>
            <p:nvSpPr>
              <p:cNvPr id="261" name="직사각형 260"/>
              <p:cNvSpPr/>
              <p:nvPr/>
            </p:nvSpPr>
            <p:spPr>
              <a:xfrm>
                <a:off x="5397381" y="5661519"/>
                <a:ext cx="503663" cy="246221"/>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100%</a:t>
                </a:r>
                <a:endParaRPr kumimoji="0" lang="ko-KR" altLang="en-US" sz="800" b="0" i="0" u="none" strike="noStrike" kern="0" cap="none" spc="0" normalizeH="0" baseline="0" noProof="0" dirty="0">
                  <a:ln>
                    <a:noFill/>
                  </a:ln>
                  <a:effectLst/>
                  <a:uLnTx/>
                  <a:uFillTx/>
                  <a:latin typeface="Arial"/>
                  <a:ea typeface="맑은 고딕"/>
                </a:endParaRPr>
              </a:p>
            </p:txBody>
          </p:sp>
          <p:grpSp>
            <p:nvGrpSpPr>
              <p:cNvPr id="262" name="그룹 261"/>
              <p:cNvGrpSpPr/>
              <p:nvPr/>
            </p:nvGrpSpPr>
            <p:grpSpPr>
              <a:xfrm>
                <a:off x="3305707" y="6382429"/>
                <a:ext cx="2475083" cy="253171"/>
                <a:chOff x="3311103" y="6381595"/>
                <a:chExt cx="2475083" cy="253171"/>
              </a:xfrm>
            </p:grpSpPr>
            <p:sp>
              <p:nvSpPr>
                <p:cNvPr id="265" name="직사각형 264"/>
                <p:cNvSpPr/>
                <p:nvPr/>
              </p:nvSpPr>
              <p:spPr>
                <a:xfrm>
                  <a:off x="3974527" y="6381596"/>
                  <a:ext cx="537327" cy="246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a:ea typeface="맑은 고딕"/>
                      <a:cs typeface="Arial" panose="020B0604020202020204" pitchFamily="34" charset="0"/>
                    </a:rPr>
                    <a:t>GEMV</a:t>
                  </a:r>
                  <a:endParaRPr kumimoji="0" lang="ko-KR" altLang="en-US" sz="80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sp>
              <p:nvSpPr>
                <p:cNvPr id="266" name="직사각형 265"/>
                <p:cNvSpPr/>
                <p:nvPr/>
              </p:nvSpPr>
              <p:spPr>
                <a:xfrm>
                  <a:off x="3311103" y="6475549"/>
                  <a:ext cx="78516" cy="66384"/>
                </a:xfrm>
                <a:prstGeom prst="rect">
                  <a:avLst/>
                </a:prstGeom>
                <a:solidFill>
                  <a:srgbClr val="0077C8"/>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400" b="0" i="0" u="none" strike="noStrike" kern="0" cap="none" spc="0" normalizeH="0" baseline="0" noProof="0" dirty="0">
                    <a:ln>
                      <a:noFill/>
                    </a:ln>
                    <a:effectLst/>
                    <a:uLnTx/>
                    <a:uFillTx/>
                    <a:latin typeface="Arial" panose="020B0604020202020204" pitchFamily="34" charset="0"/>
                    <a:ea typeface="맑은 고딕"/>
                    <a:cs typeface="Arial" panose="020B0604020202020204" pitchFamily="34" charset="0"/>
                  </a:endParaRPr>
                </a:p>
              </p:txBody>
            </p:sp>
            <p:sp>
              <p:nvSpPr>
                <p:cNvPr id="267" name="직사각형 266"/>
                <p:cNvSpPr/>
                <p:nvPr/>
              </p:nvSpPr>
              <p:spPr>
                <a:xfrm>
                  <a:off x="3345122" y="6388544"/>
                  <a:ext cx="574196" cy="24622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a:ea typeface="맑은 고딕"/>
                      <a:cs typeface="Arial" panose="020B0604020202020204" pitchFamily="34" charset="0"/>
                    </a:rPr>
                    <a:t>GEMM</a:t>
                  </a:r>
                  <a:endParaRPr kumimoji="0" lang="ko-KR" altLang="en-US" sz="80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sp>
              <p:nvSpPr>
                <p:cNvPr id="268" name="직사각형 267"/>
                <p:cNvSpPr/>
                <p:nvPr/>
              </p:nvSpPr>
              <p:spPr>
                <a:xfrm>
                  <a:off x="3927227" y="6475549"/>
                  <a:ext cx="78516" cy="66384"/>
                </a:xfrm>
                <a:prstGeom prst="rect">
                  <a:avLst/>
                </a:prstGeom>
                <a:solidFill>
                  <a:srgbClr val="FFC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400" b="0" i="0" u="none" strike="noStrike" kern="0" cap="none" spc="0" normalizeH="0" baseline="0" noProof="0" dirty="0">
                    <a:ln>
                      <a:noFill/>
                    </a:ln>
                    <a:effectLst/>
                    <a:uLnTx/>
                    <a:uFillTx/>
                    <a:latin typeface="Arial" panose="020B0604020202020204" pitchFamily="34" charset="0"/>
                    <a:ea typeface="맑은 고딕"/>
                    <a:cs typeface="Arial" panose="020B0604020202020204" pitchFamily="34" charset="0"/>
                  </a:endParaRPr>
                </a:p>
              </p:txBody>
            </p:sp>
            <p:sp>
              <p:nvSpPr>
                <p:cNvPr id="269" name="직사각형 268"/>
                <p:cNvSpPr/>
                <p:nvPr/>
              </p:nvSpPr>
              <p:spPr>
                <a:xfrm>
                  <a:off x="4539939" y="6382051"/>
                  <a:ext cx="833883"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a:ea typeface="맑은 고딕"/>
                      <a:cs typeface="Arial" panose="020B0604020202020204" pitchFamily="34" charset="0"/>
                    </a:rPr>
                    <a:t>Non-Linear</a:t>
                  </a:r>
                  <a:endParaRPr kumimoji="0" lang="ko-KR" altLang="en-US" sz="80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sp>
              <p:nvSpPr>
                <p:cNvPr id="270" name="직사각형 269"/>
                <p:cNvSpPr/>
                <p:nvPr/>
              </p:nvSpPr>
              <p:spPr>
                <a:xfrm>
                  <a:off x="4503027" y="6476005"/>
                  <a:ext cx="78516" cy="66384"/>
                </a:xfrm>
                <a:prstGeom prst="rect">
                  <a:avLst/>
                </a:prstGeom>
                <a:solidFill>
                  <a:srgbClr val="17375E"/>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400" b="0" i="0" u="none" strike="noStrike" kern="0" cap="none" spc="0" normalizeH="0" baseline="0" noProof="0" dirty="0">
                    <a:ln>
                      <a:noFill/>
                    </a:ln>
                    <a:effectLst/>
                    <a:uLnTx/>
                    <a:uFillTx/>
                    <a:latin typeface="Arial" panose="020B0604020202020204" pitchFamily="34" charset="0"/>
                    <a:ea typeface="맑은 고딕"/>
                    <a:cs typeface="Arial" panose="020B0604020202020204" pitchFamily="34" charset="0"/>
                  </a:endParaRPr>
                </a:p>
              </p:txBody>
            </p:sp>
            <p:sp>
              <p:nvSpPr>
                <p:cNvPr id="271" name="직사각형 270"/>
                <p:cNvSpPr/>
                <p:nvPr/>
              </p:nvSpPr>
              <p:spPr>
                <a:xfrm>
                  <a:off x="5401144" y="6381595"/>
                  <a:ext cx="385042"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a:ea typeface="맑은 고딕"/>
                      <a:cs typeface="Arial" panose="020B0604020202020204" pitchFamily="34" charset="0"/>
                    </a:rPr>
                    <a:t>Etc.</a:t>
                  </a:r>
                  <a:endParaRPr kumimoji="0" lang="ko-KR" altLang="en-US" sz="80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sp>
              <p:nvSpPr>
                <p:cNvPr id="272" name="직사각형 271"/>
                <p:cNvSpPr/>
                <p:nvPr/>
              </p:nvSpPr>
              <p:spPr>
                <a:xfrm>
                  <a:off x="5364233" y="6475549"/>
                  <a:ext cx="78516" cy="66384"/>
                </a:xfrm>
                <a:prstGeom prst="rect">
                  <a:avLst/>
                </a:prstGeom>
                <a:solidFill>
                  <a:srgbClr val="604A7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400" b="0" i="0" u="none" strike="noStrike" kern="0" cap="none" spc="0" normalizeH="0" baseline="0" noProof="0" dirty="0">
                    <a:ln>
                      <a:noFill/>
                    </a:ln>
                    <a:effectLst/>
                    <a:uLnTx/>
                    <a:uFillTx/>
                    <a:latin typeface="Arial" panose="020B0604020202020204" pitchFamily="34" charset="0"/>
                    <a:ea typeface="맑은 고딕"/>
                    <a:cs typeface="Arial" panose="020B0604020202020204" pitchFamily="34" charset="0"/>
                  </a:endParaRPr>
                </a:p>
              </p:txBody>
            </p:sp>
          </p:grpSp>
          <p:cxnSp>
            <p:nvCxnSpPr>
              <p:cNvPr id="263" name="직선 연결선 262">
                <a:extLst>
                  <a:ext uri="{FF2B5EF4-FFF2-40B4-BE49-F238E27FC236}">
                    <a16:creationId xmlns:a16="http://schemas.microsoft.com/office/drawing/2014/main" id="{25BB8C04-C31F-470C-9A50-6C4BD57CD03C}"/>
                  </a:ext>
                </a:extLst>
              </p:cNvPr>
              <p:cNvCxnSpPr>
                <a:cxnSpLocks/>
              </p:cNvCxnSpPr>
              <p:nvPr/>
            </p:nvCxnSpPr>
            <p:spPr>
              <a:xfrm flipV="1">
                <a:off x="5674791" y="5853456"/>
                <a:ext cx="3177" cy="468000"/>
              </a:xfrm>
              <a:prstGeom prst="line">
                <a:avLst/>
              </a:prstGeom>
              <a:noFill/>
              <a:ln w="12700" cap="rnd" cmpd="sng" algn="ctr">
                <a:solidFill>
                  <a:srgbClr val="A6A6A6"/>
                </a:solidFill>
                <a:prstDash val="sysDash"/>
                <a:round/>
                <a:headEnd type="none" w="med" len="med"/>
                <a:tailEnd type="none" w="med" len="med"/>
              </a:ln>
              <a:effectLst/>
            </p:spPr>
          </p:cxnSp>
          <p:sp>
            <p:nvSpPr>
              <p:cNvPr id="264" name="직사각형 263"/>
              <p:cNvSpPr/>
              <p:nvPr/>
            </p:nvSpPr>
            <p:spPr>
              <a:xfrm>
                <a:off x="418623" y="6393624"/>
                <a:ext cx="2741456"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effectLst/>
                    <a:uLnTx/>
                    <a:uFillTx/>
                    <a:latin typeface="Samsung Sharp Sans Bold"/>
                    <a:ea typeface="맑은 고딕"/>
                    <a:cs typeface="Arial" panose="020B0604020202020204" pitchFamily="34" charset="0"/>
                  </a:rPr>
                  <a:t>*GPT-J 6B latency breakdown on A100 GPU</a:t>
                </a:r>
                <a:endParaRPr kumimoji="0" lang="ko-KR" altLang="en-US" sz="80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grpSp>
      </p:grpSp>
      <p:pic>
        <p:nvPicPr>
          <p:cNvPr id="6146" name="Picture 2" descr="논문 리뷰] A Dynamic PD-Disaggregation Architecture for Maximizing Goodput in  LLM Inference Serv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63640" y="4041648"/>
            <a:ext cx="3348267" cy="1828800"/>
          </a:xfrm>
          <a:prstGeom prst="rect">
            <a:avLst/>
          </a:prstGeom>
          <a:noFill/>
          <a:ln w="6350">
            <a:solidFill>
              <a:srgbClr val="D9D9D9"/>
            </a:solidFill>
          </a:ln>
          <a:extLst>
            <a:ext uri="{909E8E84-426E-40DD-AFC4-6F175D3DCCD1}">
              <a14:hiddenFill xmlns:a14="http://schemas.microsoft.com/office/drawing/2010/main">
                <a:solidFill>
                  <a:srgbClr val="FFFFFF"/>
                </a:solidFill>
              </a14:hiddenFill>
            </a:ext>
          </a:extLst>
        </p:spPr>
      </p:pic>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12</a:t>
            </a:fld>
            <a:endParaRPr lang="ko-KR" altLang="en-US" dirty="0"/>
          </a:p>
        </p:txBody>
      </p:sp>
      <p:sp>
        <p:nvSpPr>
          <p:cNvPr id="88" name="오른쪽 화살표 39">
            <a:extLst>
              <a:ext uri="{FF2B5EF4-FFF2-40B4-BE49-F238E27FC236}">
                <a16:creationId xmlns:a16="http://schemas.microsoft.com/office/drawing/2014/main" id="{0C02C4F3-EB01-4664-B739-CF69604C5390}"/>
              </a:ext>
            </a:extLst>
          </p:cNvPr>
          <p:cNvSpPr/>
          <p:nvPr/>
        </p:nvSpPr>
        <p:spPr>
          <a:xfrm>
            <a:off x="284845" y="6089904"/>
            <a:ext cx="412417" cy="2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DP2 9014">
            <a:extLst>
              <a:ext uri="{FF2B5EF4-FFF2-40B4-BE49-F238E27FC236}">
                <a16:creationId xmlns:a16="http://schemas.microsoft.com/office/drawing/2014/main" id="{BAB6A9C5-DE6C-4B40-9E12-B57562177C2D}"/>
              </a:ext>
            </a:extLst>
          </p:cNvPr>
          <p:cNvSpPr/>
          <p:nvPr/>
        </p:nvSpPr>
        <p:spPr>
          <a:xfrm>
            <a:off x="665581" y="6108192"/>
            <a:ext cx="10972800" cy="256032"/>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P/D 분리는 단계 간 간섭을 없애지만, KV 캐시가 어디(노드·Memory Tier)에 있느냐에 따라 다음 Prefill의 실행 비용이 달라짐 (→ 다음 장)</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graphicFrame>
        <p:nvGraphicFramePr>
          <p:cNvPr id="6151" name="Table 6150"/>
          <p:cNvGraphicFramePr>
            <a:graphicFrameLocks noGrp="1"/>
          </p:cNvGraphicFramePr>
          <p:nvPr>
            <p:extLst>
              <p:ext uri="{D42A27DB-BD31-4B8C-83A1-F6EECF244321}">
                <p14:modId xmlns:p14="http://schemas.microsoft.com/office/powerpoint/2010/main" val="1369732280"/>
              </p:ext>
            </p:extLst>
          </p:nvPr>
        </p:nvGraphicFramePr>
        <p:xfrm>
          <a:off x="8000595" y="1097280"/>
          <a:ext cx="3749447" cy="1892808"/>
        </p:xfrm>
        <a:graphic>
          <a:graphicData uri="http://schemas.openxmlformats.org/drawingml/2006/table">
            <a:tbl>
              <a:tblPr>
                <a:tableStyleId>{5940675A-B579-460E-94D1-54222C63F5DA}</a:tableStyleId>
              </a:tblPr>
              <a:tblGrid>
                <a:gridCol w="610005">
                  <a:extLst>
                    <a:ext uri="{9D8B030D-6E8A-4147-A177-3AD203B41FA5}">
                      <a16:colId xmlns:a16="http://schemas.microsoft.com/office/drawing/2014/main" val="20000"/>
                    </a:ext>
                  </a:extLst>
                </a:gridCol>
                <a:gridCol w="1569721">
                  <a:extLst>
                    <a:ext uri="{9D8B030D-6E8A-4147-A177-3AD203B41FA5}">
                      <a16:colId xmlns:a16="http://schemas.microsoft.com/office/drawing/2014/main" val="20001"/>
                    </a:ext>
                  </a:extLst>
                </a:gridCol>
                <a:gridCol w="1569721">
                  <a:extLst>
                    <a:ext uri="{9D8B030D-6E8A-4147-A177-3AD203B41FA5}">
                      <a16:colId xmlns:a16="http://schemas.microsoft.com/office/drawing/2014/main" val="20002"/>
                    </a:ext>
                  </a:extLst>
                </a:gridCol>
              </a:tblGrid>
              <a:tr h="246888">
                <a:tc>
                  <a:txBody>
                    <a:bodyPr/>
                    <a:lstStyle/>
                    <a:p>
                      <a:pPr algn="ctr"/>
                      <a:r>
                        <a:rPr sz="1000" b="1" dirty="0" err="1">
                          <a:solidFill>
                            <a:schemeClr val="tx1"/>
                          </a:solidFill>
                          <a:latin typeface="맑은 고딕"/>
                          <a:ea typeface="맑은 고딕"/>
                        </a:rPr>
                        <a:t>구분</a:t>
                      </a:r>
                      <a:endParaRPr sz="1000" b="1" dirty="0">
                        <a:solidFill>
                          <a:schemeClr val="tx1"/>
                        </a:solidFill>
                        <a:latin typeface="맑은 고딕"/>
                        <a:ea typeface="맑은 고딕"/>
                      </a:endParaRP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sz="1000" b="1" dirty="0">
                          <a:solidFill>
                            <a:schemeClr val="tx1"/>
                          </a:solidFill>
                          <a:latin typeface="맑은 고딕"/>
                          <a:ea typeface="맑은 고딕"/>
                        </a:rPr>
                        <a:t>Prefill</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sz="1000" b="1" dirty="0">
                          <a:solidFill>
                            <a:schemeClr val="tx1"/>
                          </a:solidFill>
                          <a:latin typeface="맑은 고딕"/>
                          <a:ea typeface="맑은 고딕"/>
                        </a:rPr>
                        <a:t>Decode</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000"/>
                  </a:ext>
                </a:extLst>
              </a:tr>
              <a:tr h="402336">
                <a:tc>
                  <a:txBody>
                    <a:bodyPr/>
                    <a:lstStyle/>
                    <a:p>
                      <a:pPr algn="ctr"/>
                      <a:r>
                        <a:rPr lang="ko-KR" altLang="en-US" sz="900" b="1" dirty="0">
                          <a:solidFill>
                            <a:srgbClr val="404040"/>
                          </a:solidFill>
                          <a:latin typeface="맑은 고딕"/>
                          <a:ea typeface="맑은 고딕"/>
                        </a:rPr>
                        <a:t>역할</a:t>
                      </a:r>
                      <a:endParaRPr sz="900" b="1" dirty="0">
                        <a:solidFill>
                          <a:srgbClr val="404040"/>
                        </a:solidFill>
                        <a:latin typeface="맑은 고딕"/>
                        <a:ea typeface="맑은 고딕"/>
                      </a:endParaRP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lang="ko-KR" altLang="en-US" sz="900" b="0" dirty="0">
                          <a:solidFill>
                            <a:srgbClr val="262626"/>
                          </a:solidFill>
                          <a:latin typeface="맑은 고딕"/>
                          <a:ea typeface="맑은 고딕"/>
                        </a:rPr>
                        <a:t>입력 </a:t>
                      </a:r>
                      <a:r>
                        <a:rPr sz="900" b="0" dirty="0" err="1">
                          <a:solidFill>
                            <a:srgbClr val="262626"/>
                          </a:solidFill>
                          <a:latin typeface="맑은 고딕"/>
                          <a:ea typeface="맑은 고딕"/>
                        </a:rPr>
                        <a:t>프롬프트</a:t>
                      </a:r>
                      <a:r>
                        <a:rPr sz="900" b="0" dirty="0">
                          <a:solidFill>
                            <a:srgbClr val="262626"/>
                          </a:solidFill>
                          <a:latin typeface="맑은 고딕"/>
                          <a:ea typeface="맑은 고딕"/>
                        </a:rPr>
                        <a:t> </a:t>
                      </a:r>
                      <a:r>
                        <a:rPr sz="900" b="0" dirty="0" err="1">
                          <a:solidFill>
                            <a:srgbClr val="262626"/>
                          </a:solidFill>
                          <a:latin typeface="맑은 고딕"/>
                          <a:ea typeface="맑은 고딕"/>
                        </a:rPr>
                        <a:t>처리</a:t>
                      </a:r>
                      <a:endParaRPr sz="900" b="0" dirty="0">
                        <a:solidFill>
                          <a:srgbClr val="262626"/>
                        </a:solidFill>
                        <a:latin typeface="맑은 고딕"/>
                        <a:ea typeface="맑은 고딕"/>
                      </a:endParaRPr>
                    </a:p>
                    <a:p>
                      <a:pPr algn="ctr"/>
                      <a:r>
                        <a:rPr sz="900" b="0" dirty="0">
                          <a:solidFill>
                            <a:srgbClr val="262626"/>
                          </a:solidFill>
                          <a:latin typeface="맑은 고딕"/>
                          <a:ea typeface="맑은 고딕"/>
                        </a:rPr>
                        <a:t>→ 첫 </a:t>
                      </a:r>
                      <a:r>
                        <a:rPr sz="900" b="0" dirty="0" err="1">
                          <a:solidFill>
                            <a:srgbClr val="262626"/>
                          </a:solidFill>
                          <a:latin typeface="맑은 고딕"/>
                          <a:ea typeface="맑은 고딕"/>
                        </a:rPr>
                        <a:t>토큰</a:t>
                      </a:r>
                      <a:r>
                        <a:rPr lang="en-US" sz="900" b="0" dirty="0">
                          <a:solidFill>
                            <a:srgbClr val="262626"/>
                          </a:solidFill>
                          <a:latin typeface="맑은 고딕"/>
                          <a:ea typeface="맑은 고딕"/>
                        </a:rPr>
                        <a:t> </a:t>
                      </a:r>
                      <a:r>
                        <a:rPr lang="en-US" altLang="ko-KR" sz="900" b="0" dirty="0">
                          <a:solidFill>
                            <a:srgbClr val="262626"/>
                          </a:solidFill>
                          <a:latin typeface="맑은 고딕"/>
                          <a:ea typeface="맑은 고딕"/>
                        </a:rPr>
                        <a:t>+</a:t>
                      </a:r>
                      <a:r>
                        <a:rPr lang="ko-KR" altLang="en-US" sz="900" b="0" dirty="0">
                          <a:solidFill>
                            <a:srgbClr val="262626"/>
                          </a:solidFill>
                          <a:latin typeface="맑은 고딕"/>
                          <a:ea typeface="맑은 고딕"/>
                        </a:rPr>
                        <a:t> </a:t>
                      </a:r>
                      <a:r>
                        <a:rPr lang="en-US" altLang="ko-KR" sz="900" b="0" dirty="0">
                          <a:solidFill>
                            <a:srgbClr val="262626"/>
                          </a:solidFill>
                          <a:latin typeface="맑은 고딕"/>
                          <a:ea typeface="맑은 고딕"/>
                        </a:rPr>
                        <a:t>KV</a:t>
                      </a:r>
                      <a:r>
                        <a:rPr lang="ko-KR" altLang="en-US" sz="900" b="0" dirty="0">
                          <a:solidFill>
                            <a:srgbClr val="262626"/>
                          </a:solidFill>
                          <a:latin typeface="맑은 고딕"/>
                          <a:ea typeface="맑은 고딕"/>
                        </a:rPr>
                        <a:t> 캐시</a:t>
                      </a:r>
                      <a:endParaRPr sz="900" b="0" dirty="0">
                        <a:solidFill>
                          <a:srgbClr val="262626"/>
                        </a:solidFill>
                        <a:latin typeface="맑은 고딕"/>
                        <a:ea typeface="맑은 고딕"/>
                      </a:endParaRP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900" b="0" dirty="0" err="1">
                          <a:solidFill>
                            <a:srgbClr val="262626"/>
                          </a:solidFill>
                          <a:latin typeface="맑은 고딕"/>
                          <a:ea typeface="맑은 고딕"/>
                        </a:rPr>
                        <a:t>KV를</a:t>
                      </a:r>
                      <a:r>
                        <a:rPr sz="900" b="0" dirty="0">
                          <a:solidFill>
                            <a:srgbClr val="262626"/>
                          </a:solidFill>
                          <a:latin typeface="맑은 고딕"/>
                          <a:ea typeface="맑은 고딕"/>
                        </a:rPr>
                        <a:t> </a:t>
                      </a:r>
                      <a:r>
                        <a:rPr sz="900" b="0" dirty="0" err="1">
                          <a:solidFill>
                            <a:srgbClr val="262626"/>
                          </a:solidFill>
                          <a:latin typeface="맑은 고딕"/>
                          <a:ea typeface="맑은 고딕"/>
                        </a:rPr>
                        <a:t>참조해</a:t>
                      </a:r>
                      <a:r>
                        <a:rPr sz="900" b="0" dirty="0">
                          <a:solidFill>
                            <a:srgbClr val="262626"/>
                          </a:solidFill>
                          <a:latin typeface="맑은 고딕"/>
                          <a:ea typeface="맑은 고딕"/>
                        </a:rPr>
                        <a:t> </a:t>
                      </a:r>
                      <a:r>
                        <a:rPr sz="900" b="0" dirty="0" err="1">
                          <a:solidFill>
                            <a:srgbClr val="262626"/>
                          </a:solidFill>
                          <a:latin typeface="맑은 고딕"/>
                          <a:ea typeface="맑은 고딕"/>
                        </a:rPr>
                        <a:t>토큰을</a:t>
                      </a:r>
                      <a:endParaRPr sz="900" b="0" dirty="0">
                        <a:solidFill>
                          <a:srgbClr val="262626"/>
                        </a:solidFill>
                        <a:latin typeface="맑은 고딕"/>
                        <a:ea typeface="맑은 고딕"/>
                      </a:endParaRPr>
                    </a:p>
                    <a:p>
                      <a:pPr algn="ctr"/>
                      <a:r>
                        <a:rPr sz="900" b="0" dirty="0">
                          <a:solidFill>
                            <a:srgbClr val="262626"/>
                          </a:solidFill>
                          <a:latin typeface="맑은 고딕"/>
                          <a:ea typeface="맑은 고딕"/>
                        </a:rPr>
                        <a:t>1개씩 </a:t>
                      </a:r>
                      <a:r>
                        <a:rPr sz="900" b="0" dirty="0" err="1">
                          <a:solidFill>
                            <a:srgbClr val="262626"/>
                          </a:solidFill>
                          <a:latin typeface="맑은 고딕"/>
                          <a:ea typeface="맑은 고딕"/>
                        </a:rPr>
                        <a:t>반복</a:t>
                      </a:r>
                      <a:r>
                        <a:rPr sz="900" b="0" dirty="0">
                          <a:solidFill>
                            <a:srgbClr val="262626"/>
                          </a:solidFill>
                          <a:latin typeface="맑은 고딕"/>
                          <a:ea typeface="맑은 고딕"/>
                        </a:rPr>
                        <a:t> </a:t>
                      </a:r>
                      <a:r>
                        <a:rPr sz="900" b="0" dirty="0" err="1">
                          <a:solidFill>
                            <a:srgbClr val="262626"/>
                          </a:solidFill>
                          <a:latin typeface="맑은 고딕"/>
                          <a:ea typeface="맑은 고딕"/>
                        </a:rPr>
                        <a:t>생성</a:t>
                      </a:r>
                      <a:endParaRPr sz="900" b="0" dirty="0">
                        <a:solidFill>
                          <a:srgbClr val="262626"/>
                        </a:solidFill>
                        <a:latin typeface="맑은 고딕"/>
                        <a:ea typeface="맑은 고딕"/>
                      </a:endParaRP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74320">
                <a:tc>
                  <a:txBody>
                    <a:bodyPr/>
                    <a:lstStyle/>
                    <a:p>
                      <a:pPr algn="ctr"/>
                      <a:r>
                        <a:rPr sz="900" b="1">
                          <a:solidFill>
                            <a:srgbClr val="404040"/>
                          </a:solidFill>
                          <a:latin typeface="맑은 고딕"/>
                          <a:ea typeface="맑은 고딕"/>
                        </a:rPr>
                        <a:t>연산 형태</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sz="900" b="0" dirty="0">
                          <a:solidFill>
                            <a:srgbClr val="262626"/>
                          </a:solidFill>
                          <a:latin typeface="맑은 고딕"/>
                          <a:ea typeface="맑은 고딕"/>
                        </a:rPr>
                        <a:t>n </a:t>
                      </a:r>
                      <a:r>
                        <a:rPr sz="900" b="0" dirty="0" err="1">
                          <a:solidFill>
                            <a:srgbClr val="262626"/>
                          </a:solidFill>
                          <a:latin typeface="맑은 고딕"/>
                          <a:ea typeface="맑은 고딕"/>
                        </a:rPr>
                        <a:t>토큰</a:t>
                      </a:r>
                      <a:r>
                        <a:rPr sz="900" b="0" dirty="0">
                          <a:solidFill>
                            <a:srgbClr val="262626"/>
                          </a:solidFill>
                          <a:latin typeface="맑은 고딕"/>
                          <a:ea typeface="맑은 고딕"/>
                        </a:rPr>
                        <a:t> </a:t>
                      </a:r>
                      <a:r>
                        <a:rPr sz="900" b="0" dirty="0" err="1">
                          <a:solidFill>
                            <a:srgbClr val="262626"/>
                          </a:solidFill>
                          <a:latin typeface="맑은 고딕"/>
                          <a:ea typeface="맑은 고딕"/>
                        </a:rPr>
                        <a:t>병렬</a:t>
                      </a:r>
                      <a:r>
                        <a:rPr sz="900" b="0" dirty="0">
                          <a:solidFill>
                            <a:srgbClr val="262626"/>
                          </a:solidFill>
                          <a:latin typeface="맑은 고딕"/>
                          <a:ea typeface="맑은 고딕"/>
                        </a:rPr>
                        <a:t> (GEMM)</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900" b="0" dirty="0" err="1">
                          <a:solidFill>
                            <a:srgbClr val="262626"/>
                          </a:solidFill>
                          <a:latin typeface="맑은 고딕"/>
                          <a:ea typeface="맑은 고딕"/>
                        </a:rPr>
                        <a:t>step당</a:t>
                      </a:r>
                      <a:r>
                        <a:rPr sz="900" b="0" dirty="0">
                          <a:solidFill>
                            <a:srgbClr val="262626"/>
                          </a:solidFill>
                          <a:latin typeface="맑은 고딕"/>
                          <a:ea typeface="맑은 고딕"/>
                        </a:rPr>
                        <a:t> 1 </a:t>
                      </a:r>
                      <a:r>
                        <a:rPr sz="900" b="0" dirty="0" err="1">
                          <a:solidFill>
                            <a:srgbClr val="262626"/>
                          </a:solidFill>
                          <a:latin typeface="맑은 고딕"/>
                          <a:ea typeface="맑은 고딕"/>
                        </a:rPr>
                        <a:t>토큰</a:t>
                      </a:r>
                      <a:r>
                        <a:rPr sz="900" b="0" dirty="0">
                          <a:solidFill>
                            <a:srgbClr val="262626"/>
                          </a:solidFill>
                          <a:latin typeface="맑은 고딕"/>
                          <a:ea typeface="맑은 고딕"/>
                        </a:rPr>
                        <a:t> (GEMV)</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402336">
                <a:tc>
                  <a:txBody>
                    <a:bodyPr/>
                    <a:lstStyle/>
                    <a:p>
                      <a:pPr algn="ctr"/>
                      <a:r>
                        <a:rPr sz="900" b="1">
                          <a:solidFill>
                            <a:srgbClr val="404040"/>
                          </a:solidFill>
                          <a:latin typeface="맑은 고딕"/>
                          <a:ea typeface="맑은 고딕"/>
                        </a:rPr>
                        <a:t>병목</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sz="900" b="1" dirty="0">
                          <a:solidFill>
                            <a:srgbClr val="2E75B6"/>
                          </a:solidFill>
                          <a:latin typeface="맑은 고딕"/>
                          <a:ea typeface="맑은 고딕"/>
                        </a:rPr>
                        <a:t>Compute-bound</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900" b="1" dirty="0">
                          <a:solidFill>
                            <a:srgbClr val="C55A11"/>
                          </a:solidFill>
                          <a:latin typeface="맑은 고딕"/>
                          <a:ea typeface="맑은 고딕"/>
                        </a:rPr>
                        <a:t>Memory-bound</a:t>
                      </a:r>
                    </a:p>
                    <a:p>
                      <a:pPr algn="ctr"/>
                      <a:r>
                        <a:rPr sz="900" b="0" dirty="0">
                          <a:solidFill>
                            <a:srgbClr val="262626"/>
                          </a:solidFill>
                          <a:latin typeface="맑은 고딕"/>
                          <a:ea typeface="맑은 고딕"/>
                        </a:rPr>
                        <a:t>(</a:t>
                      </a:r>
                      <a:r>
                        <a:rPr lang="en-US" sz="900" b="0" dirty="0" err="1">
                          <a:solidFill>
                            <a:srgbClr val="262626"/>
                          </a:solidFill>
                          <a:latin typeface="맑은 고딕"/>
                          <a:ea typeface="맑은 고딕"/>
                        </a:rPr>
                        <a:t>Weight</a:t>
                      </a:r>
                      <a:r>
                        <a:rPr sz="900" b="0" dirty="0" err="1">
                          <a:solidFill>
                            <a:srgbClr val="262626"/>
                          </a:solidFill>
                          <a:latin typeface="맑은 고딕"/>
                          <a:ea typeface="맑은 고딕"/>
                        </a:rPr>
                        <a:t>·KV</a:t>
                      </a:r>
                      <a:r>
                        <a:rPr sz="900" b="0" dirty="0">
                          <a:solidFill>
                            <a:srgbClr val="262626"/>
                          </a:solidFill>
                          <a:latin typeface="맑은 고딕"/>
                          <a:ea typeface="맑은 고딕"/>
                        </a:rPr>
                        <a:t> </a:t>
                      </a:r>
                      <a:r>
                        <a:rPr sz="900" b="0" dirty="0" err="1">
                          <a:solidFill>
                            <a:srgbClr val="262626"/>
                          </a:solidFill>
                          <a:latin typeface="맑은 고딕"/>
                          <a:ea typeface="맑은 고딕"/>
                        </a:rPr>
                        <a:t>반복</a:t>
                      </a:r>
                      <a:r>
                        <a:rPr sz="900" b="0" dirty="0">
                          <a:solidFill>
                            <a:srgbClr val="262626"/>
                          </a:solidFill>
                          <a:latin typeface="맑은 고딕"/>
                          <a:ea typeface="맑은 고딕"/>
                        </a:rPr>
                        <a:t> </a:t>
                      </a:r>
                      <a:r>
                        <a:rPr sz="900" b="0" dirty="0" err="1">
                          <a:solidFill>
                            <a:srgbClr val="262626"/>
                          </a:solidFill>
                          <a:latin typeface="맑은 고딕"/>
                          <a:ea typeface="맑은 고딕"/>
                        </a:rPr>
                        <a:t>읽기</a:t>
                      </a:r>
                      <a:r>
                        <a:rPr sz="900" b="0" dirty="0">
                          <a:solidFill>
                            <a:srgbClr val="262626"/>
                          </a:solidFill>
                          <a:latin typeface="맑은 고딕"/>
                          <a:ea typeface="맑은 고딕"/>
                        </a:rPr>
                        <a:t>)</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74320">
                <a:tc>
                  <a:txBody>
                    <a:bodyPr/>
                    <a:lstStyle/>
                    <a:p>
                      <a:pPr algn="ctr"/>
                      <a:r>
                        <a:rPr sz="900" b="1">
                          <a:solidFill>
                            <a:srgbClr val="404040"/>
                          </a:solidFill>
                          <a:latin typeface="맑은 고딕"/>
                          <a:ea typeface="맑은 고딕"/>
                        </a:rPr>
                        <a:t>KV 캐시</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sz="900" b="0" dirty="0" err="1">
                          <a:solidFill>
                            <a:srgbClr val="262626"/>
                          </a:solidFill>
                          <a:latin typeface="맑은 고딕"/>
                          <a:ea typeface="맑은 고딕"/>
                        </a:rPr>
                        <a:t>생성</a:t>
                      </a:r>
                      <a:r>
                        <a:rPr sz="900" b="0" dirty="0">
                          <a:solidFill>
                            <a:srgbClr val="262626"/>
                          </a:solidFill>
                          <a:latin typeface="맑은 고딕"/>
                          <a:ea typeface="맑은 고딕"/>
                        </a:rPr>
                        <a:t>(Write)</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900" b="0" dirty="0" err="1">
                          <a:solidFill>
                            <a:srgbClr val="262626"/>
                          </a:solidFill>
                          <a:latin typeface="맑은 고딕"/>
                          <a:ea typeface="맑은 고딕"/>
                        </a:rPr>
                        <a:t>읽기</a:t>
                      </a:r>
                      <a:r>
                        <a:rPr sz="900" b="0" dirty="0">
                          <a:solidFill>
                            <a:srgbClr val="262626"/>
                          </a:solidFill>
                          <a:latin typeface="맑은 고딕"/>
                          <a:ea typeface="맑은 고딕"/>
                        </a:rPr>
                        <a:t> + </a:t>
                      </a:r>
                      <a:r>
                        <a:rPr lang="en-US" sz="900" b="0" dirty="0">
                          <a:solidFill>
                            <a:srgbClr val="262626"/>
                          </a:solidFill>
                          <a:latin typeface="맑은 고딕"/>
                          <a:ea typeface="맑은 고딕"/>
                        </a:rPr>
                        <a:t>Append Write</a:t>
                      </a:r>
                      <a:endParaRPr sz="900" b="0" dirty="0">
                        <a:solidFill>
                          <a:srgbClr val="262626"/>
                        </a:solidFill>
                        <a:latin typeface="맑은 고딕"/>
                        <a:ea typeface="맑은 고딕"/>
                      </a:endParaRP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74320">
                <a:tc>
                  <a:txBody>
                    <a:bodyPr/>
                    <a:lstStyle/>
                    <a:p>
                      <a:pPr algn="ctr"/>
                      <a:r>
                        <a:rPr sz="900" b="1">
                          <a:solidFill>
                            <a:srgbClr val="404040"/>
                          </a:solidFill>
                          <a:latin typeface="맑은 고딕"/>
                          <a:ea typeface="맑은 고딕"/>
                        </a:rPr>
                        <a:t>지표</a:t>
                      </a: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sz="900" b="1" dirty="0">
                          <a:solidFill>
                            <a:srgbClr val="2E75B6"/>
                          </a:solidFill>
                          <a:latin typeface="맑은 고딕"/>
                          <a:ea typeface="맑은 고딕"/>
                        </a:rPr>
                        <a:t>TTFT</a:t>
                      </a:r>
                      <a:endParaRPr lang="en-US" sz="900" b="1" dirty="0">
                        <a:solidFill>
                          <a:srgbClr val="2E75B6"/>
                        </a:solidFill>
                        <a:latin typeface="맑은 고딕"/>
                        <a:ea typeface="맑은 고딕"/>
                      </a:endParaRPr>
                    </a:p>
                    <a:p>
                      <a:pPr algn="ctr"/>
                      <a:r>
                        <a:rPr lang="en-US" sz="900" b="1" dirty="0">
                          <a:solidFill>
                            <a:srgbClr val="2E75B6"/>
                          </a:solidFill>
                          <a:latin typeface="맑은 고딕"/>
                          <a:ea typeface="맑은 고딕"/>
                        </a:rPr>
                        <a:t>(Time To First Token)</a:t>
                      </a:r>
                      <a:endParaRPr sz="900" b="1" dirty="0">
                        <a:solidFill>
                          <a:srgbClr val="2E75B6"/>
                        </a:solidFill>
                        <a:latin typeface="맑은 고딕"/>
                        <a:ea typeface="맑은 고딕"/>
                      </a:endParaRP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900" b="1" dirty="0">
                          <a:solidFill>
                            <a:srgbClr val="C55A11"/>
                          </a:solidFill>
                          <a:latin typeface="맑은 고딕"/>
                          <a:ea typeface="맑은 고딕"/>
                        </a:rPr>
                        <a:t>TPOT</a:t>
                      </a:r>
                      <a:r>
                        <a:rPr lang="en-US" sz="900" b="1" dirty="0">
                          <a:solidFill>
                            <a:srgbClr val="C55A11"/>
                          </a:solidFill>
                          <a:latin typeface="맑은 고딕"/>
                          <a:ea typeface="맑은 고딕"/>
                        </a:rPr>
                        <a:t> </a:t>
                      </a:r>
                    </a:p>
                    <a:p>
                      <a:pPr algn="ctr"/>
                      <a:r>
                        <a:rPr lang="en-US" sz="900" b="1" dirty="0">
                          <a:solidFill>
                            <a:srgbClr val="C55A11"/>
                          </a:solidFill>
                          <a:latin typeface="맑은 고딕"/>
                          <a:ea typeface="맑은 고딕"/>
                        </a:rPr>
                        <a:t>(Time Per Output Token)</a:t>
                      </a:r>
                      <a:endParaRPr sz="900" b="1" dirty="0">
                        <a:solidFill>
                          <a:srgbClr val="C55A11"/>
                        </a:solidFill>
                        <a:latin typeface="맑은 고딕"/>
                        <a:ea typeface="맑은 고딕"/>
                      </a:endParaRPr>
                    </a:p>
                  </a:txBody>
                  <a:tcPr marL="27432" marR="27432" marT="9144" marB="9144"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bl>
          </a:graphicData>
        </a:graphic>
      </p:graphicFrame>
      <p:sp>
        <p:nvSpPr>
          <p:cNvPr id="6152" name="Rectangle 6151"/>
          <p:cNvSpPr/>
          <p:nvPr/>
        </p:nvSpPr>
        <p:spPr>
          <a:xfrm>
            <a:off x="502920" y="3721608"/>
            <a:ext cx="5212080" cy="2194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900" b="1" dirty="0">
                <a:solidFill>
                  <a:srgbClr val="262626"/>
                </a:solidFill>
                <a:latin typeface="맑은 고딕"/>
                <a:ea typeface="맑은 고딕"/>
              </a:rPr>
              <a:t>(a) </a:t>
            </a:r>
            <a:r>
              <a:rPr sz="900" b="1" dirty="0" err="1">
                <a:solidFill>
                  <a:srgbClr val="262626"/>
                </a:solidFill>
                <a:latin typeface="맑은 고딕"/>
                <a:ea typeface="맑은 고딕"/>
              </a:rPr>
              <a:t>통합</a:t>
            </a:r>
            <a:r>
              <a:rPr sz="900" b="1" dirty="0">
                <a:solidFill>
                  <a:srgbClr val="262626"/>
                </a:solidFill>
                <a:latin typeface="맑은 고딕"/>
                <a:ea typeface="맑은 고딕"/>
              </a:rPr>
              <a:t> </a:t>
            </a:r>
            <a:r>
              <a:rPr sz="900" b="1" dirty="0" err="1">
                <a:solidFill>
                  <a:srgbClr val="262626"/>
                </a:solidFill>
                <a:latin typeface="맑은 고딕"/>
                <a:ea typeface="맑은 고딕"/>
              </a:rPr>
              <a:t>실행</a:t>
            </a:r>
            <a:r>
              <a:rPr sz="900" b="1" dirty="0">
                <a:solidFill>
                  <a:srgbClr val="262626"/>
                </a:solidFill>
                <a:latin typeface="맑은 고딕"/>
                <a:ea typeface="맑은 고딕"/>
              </a:rPr>
              <a:t>: </a:t>
            </a:r>
            <a:r>
              <a:rPr sz="900" b="0" dirty="0">
                <a:solidFill>
                  <a:srgbClr val="404040"/>
                </a:solidFill>
                <a:latin typeface="맑은 고딕"/>
                <a:ea typeface="맑은 고딕"/>
              </a:rPr>
              <a:t>한 </a:t>
            </a:r>
            <a:r>
              <a:rPr sz="900" b="0" dirty="0" err="1">
                <a:solidFill>
                  <a:srgbClr val="404040"/>
                </a:solidFill>
                <a:latin typeface="맑은 고딕"/>
                <a:ea typeface="맑은 고딕"/>
              </a:rPr>
              <a:t>GPU에서</a:t>
            </a:r>
            <a:r>
              <a:rPr sz="900" b="0" dirty="0">
                <a:solidFill>
                  <a:srgbClr val="404040"/>
                </a:solidFill>
                <a:latin typeface="맑은 고딕"/>
                <a:ea typeface="맑은 고딕"/>
              </a:rPr>
              <a:t> </a:t>
            </a:r>
            <a:r>
              <a:rPr sz="900" b="0" dirty="0" err="1">
                <a:solidFill>
                  <a:srgbClr val="404040"/>
                </a:solidFill>
                <a:latin typeface="맑은 고딕"/>
                <a:ea typeface="맑은 고딕"/>
              </a:rPr>
              <a:t>Prefill과</a:t>
            </a:r>
            <a:r>
              <a:rPr sz="900" b="0" dirty="0">
                <a:solidFill>
                  <a:srgbClr val="404040"/>
                </a:solidFill>
                <a:latin typeface="맑은 고딕"/>
                <a:ea typeface="맑은 고딕"/>
              </a:rPr>
              <a:t> </a:t>
            </a:r>
            <a:r>
              <a:rPr sz="900" b="0" dirty="0" err="1">
                <a:solidFill>
                  <a:srgbClr val="404040"/>
                </a:solidFill>
                <a:latin typeface="맑은 고딕"/>
                <a:ea typeface="맑은 고딕"/>
              </a:rPr>
              <a:t>Decode를</a:t>
            </a:r>
            <a:r>
              <a:rPr sz="900" b="0" dirty="0">
                <a:solidFill>
                  <a:srgbClr val="404040"/>
                </a:solidFill>
                <a:latin typeface="맑은 고딕"/>
                <a:ea typeface="맑은 고딕"/>
              </a:rPr>
              <a:t> </a:t>
            </a:r>
            <a:r>
              <a:rPr sz="900" b="0" dirty="0" err="1">
                <a:solidFill>
                  <a:srgbClr val="404040"/>
                </a:solidFill>
                <a:latin typeface="맑은 고딕"/>
                <a:ea typeface="맑은 고딕"/>
              </a:rPr>
              <a:t>섞어</a:t>
            </a:r>
            <a:r>
              <a:rPr sz="900" b="0" dirty="0">
                <a:solidFill>
                  <a:srgbClr val="404040"/>
                </a:solidFill>
                <a:latin typeface="맑은 고딕"/>
                <a:ea typeface="맑은 고딕"/>
              </a:rPr>
              <a:t> </a:t>
            </a:r>
            <a:r>
              <a:rPr sz="900" b="0" dirty="0" err="1">
                <a:solidFill>
                  <a:srgbClr val="404040"/>
                </a:solidFill>
                <a:latin typeface="맑은 고딕"/>
                <a:ea typeface="맑은 고딕"/>
              </a:rPr>
              <a:t>실행</a:t>
            </a:r>
            <a:endParaRPr sz="900" b="0" dirty="0">
              <a:solidFill>
                <a:srgbClr val="404040"/>
              </a:solidFill>
              <a:latin typeface="맑은 고딕"/>
              <a:ea typeface="맑은 고딕"/>
            </a:endParaRPr>
          </a:p>
        </p:txBody>
      </p:sp>
      <p:sp>
        <p:nvSpPr>
          <p:cNvPr id="6173" name="Right Arrow 6172"/>
          <p:cNvSpPr/>
          <p:nvPr/>
        </p:nvSpPr>
        <p:spPr>
          <a:xfrm>
            <a:off x="5700540" y="4773654"/>
            <a:ext cx="292608" cy="329184"/>
          </a:xfrm>
          <a:prstGeom prst="rightArrow">
            <a:avLst/>
          </a:prstGeom>
          <a:solidFill>
            <a:srgbClr val="FFD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74" name="Rectangle 6173"/>
          <p:cNvSpPr/>
          <p:nvPr/>
        </p:nvSpPr>
        <p:spPr>
          <a:xfrm>
            <a:off x="6263640" y="3738219"/>
            <a:ext cx="5486400" cy="2194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900" b="1" dirty="0">
                <a:solidFill>
                  <a:srgbClr val="262626"/>
                </a:solidFill>
                <a:latin typeface="맑은 고딕"/>
                <a:ea typeface="맑은 고딕"/>
              </a:rPr>
              <a:t>(b) P/D </a:t>
            </a:r>
            <a:r>
              <a:rPr sz="900" b="1" dirty="0" err="1">
                <a:solidFill>
                  <a:srgbClr val="262626"/>
                </a:solidFill>
                <a:latin typeface="맑은 고딕"/>
                <a:ea typeface="맑은 고딕"/>
              </a:rPr>
              <a:t>분리</a:t>
            </a:r>
            <a:r>
              <a:rPr sz="900" b="1" dirty="0">
                <a:solidFill>
                  <a:srgbClr val="262626"/>
                </a:solidFill>
                <a:latin typeface="맑은 고딕"/>
                <a:ea typeface="맑은 고딕"/>
              </a:rPr>
              <a:t> </a:t>
            </a:r>
            <a:r>
              <a:rPr sz="900" b="1" dirty="0" err="1">
                <a:solidFill>
                  <a:srgbClr val="262626"/>
                </a:solidFill>
                <a:latin typeface="맑은 고딕"/>
                <a:ea typeface="맑은 고딕"/>
              </a:rPr>
              <a:t>실행</a:t>
            </a:r>
            <a:r>
              <a:rPr sz="900" b="1" dirty="0">
                <a:solidFill>
                  <a:srgbClr val="262626"/>
                </a:solidFill>
                <a:latin typeface="맑은 고딕"/>
                <a:ea typeface="맑은 고딕"/>
              </a:rPr>
              <a:t>: </a:t>
            </a:r>
            <a:r>
              <a:rPr sz="900" b="0" dirty="0" err="1">
                <a:solidFill>
                  <a:srgbClr val="404040"/>
                </a:solidFill>
                <a:latin typeface="맑은 고딕"/>
                <a:ea typeface="맑은 고딕"/>
              </a:rPr>
              <a:t>단계별</a:t>
            </a:r>
            <a:r>
              <a:rPr sz="900" b="0" dirty="0">
                <a:solidFill>
                  <a:srgbClr val="404040"/>
                </a:solidFill>
                <a:latin typeface="맑은 고딕"/>
                <a:ea typeface="맑은 고딕"/>
              </a:rPr>
              <a:t> </a:t>
            </a:r>
            <a:r>
              <a:rPr sz="900" b="0" dirty="0" err="1">
                <a:solidFill>
                  <a:srgbClr val="404040"/>
                </a:solidFill>
                <a:latin typeface="맑은 고딕"/>
                <a:ea typeface="맑은 고딕"/>
              </a:rPr>
              <a:t>전용</a:t>
            </a:r>
            <a:r>
              <a:rPr sz="900" b="0" dirty="0">
                <a:solidFill>
                  <a:srgbClr val="404040"/>
                </a:solidFill>
                <a:latin typeface="맑은 고딕"/>
                <a:ea typeface="맑은 고딕"/>
              </a:rPr>
              <a:t> </a:t>
            </a:r>
            <a:r>
              <a:rPr sz="900" b="0" dirty="0" err="1">
                <a:solidFill>
                  <a:srgbClr val="404040"/>
                </a:solidFill>
                <a:latin typeface="맑은 고딕"/>
                <a:ea typeface="맑은 고딕"/>
              </a:rPr>
              <a:t>인스턴스</a:t>
            </a:r>
            <a:r>
              <a:rPr sz="900" b="0" dirty="0">
                <a:solidFill>
                  <a:srgbClr val="404040"/>
                </a:solidFill>
                <a:latin typeface="맑은 고딕"/>
                <a:ea typeface="맑은 고딕"/>
              </a:rPr>
              <a:t> + KV </a:t>
            </a:r>
            <a:r>
              <a:rPr sz="900" b="0" dirty="0" err="1">
                <a:solidFill>
                  <a:srgbClr val="404040"/>
                </a:solidFill>
                <a:latin typeface="맑은 고딕"/>
                <a:ea typeface="맑은 고딕"/>
              </a:rPr>
              <a:t>캐시</a:t>
            </a:r>
            <a:r>
              <a:rPr sz="900" b="0" dirty="0">
                <a:solidFill>
                  <a:srgbClr val="404040"/>
                </a:solidFill>
                <a:latin typeface="맑은 고딕"/>
                <a:ea typeface="맑은 고딕"/>
              </a:rPr>
              <a:t> </a:t>
            </a:r>
            <a:r>
              <a:rPr sz="900" b="0" dirty="0" err="1">
                <a:solidFill>
                  <a:srgbClr val="404040"/>
                </a:solidFill>
                <a:latin typeface="맑은 고딕"/>
                <a:ea typeface="맑은 고딕"/>
              </a:rPr>
              <a:t>전송</a:t>
            </a:r>
            <a:endParaRPr sz="900" b="0" dirty="0">
              <a:solidFill>
                <a:srgbClr val="404040"/>
              </a:solidFill>
              <a:latin typeface="맑은 고딕"/>
              <a:ea typeface="맑은 고딕"/>
            </a:endParaRPr>
          </a:p>
        </p:txBody>
      </p:sp>
      <p:sp>
        <p:nvSpPr>
          <p:cNvPr id="6175" name="Rounded Rectangle 6174"/>
          <p:cNvSpPr/>
          <p:nvPr/>
        </p:nvSpPr>
        <p:spPr>
          <a:xfrm>
            <a:off x="9749067" y="4041648"/>
            <a:ext cx="2000972" cy="512064"/>
          </a:xfrm>
          <a:prstGeom prst="roundRect">
            <a:avLst>
              <a:gd name="adj" fmla="val 10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800" b="1" dirty="0">
                <a:solidFill>
                  <a:srgbClr val="2E75B6"/>
                </a:solidFill>
                <a:latin typeface="맑은 고딕"/>
                <a:ea typeface="맑은 고딕"/>
              </a:rPr>
              <a:t>Prefill Instance</a:t>
            </a:r>
          </a:p>
          <a:p>
            <a:pPr algn="l"/>
            <a:r>
              <a:rPr sz="800" b="0" dirty="0">
                <a:solidFill>
                  <a:srgbClr val="404040"/>
                </a:solidFill>
                <a:latin typeface="맑은 고딕"/>
                <a:ea typeface="맑은 고딕"/>
              </a:rPr>
              <a:t>TTFT </a:t>
            </a:r>
            <a:r>
              <a:rPr sz="800" b="0" dirty="0" err="1">
                <a:solidFill>
                  <a:srgbClr val="404040"/>
                </a:solidFill>
                <a:latin typeface="맑은 고딕"/>
                <a:ea typeface="맑은 고딕"/>
              </a:rPr>
              <a:t>최적화</a:t>
            </a:r>
            <a:r>
              <a:rPr sz="800" b="0" dirty="0">
                <a:solidFill>
                  <a:srgbClr val="404040"/>
                </a:solidFill>
                <a:latin typeface="맑은 고딕"/>
                <a:ea typeface="맑은 고딕"/>
              </a:rPr>
              <a:t> · </a:t>
            </a:r>
            <a:r>
              <a:rPr sz="800" b="0" dirty="0" err="1">
                <a:solidFill>
                  <a:srgbClr val="404040"/>
                </a:solidFill>
                <a:latin typeface="맑은 고딕"/>
                <a:ea typeface="맑은 고딕"/>
              </a:rPr>
              <a:t>연산</a:t>
            </a:r>
            <a:r>
              <a:rPr sz="800" b="0" dirty="0">
                <a:solidFill>
                  <a:srgbClr val="404040"/>
                </a:solidFill>
                <a:latin typeface="맑은 고딕"/>
                <a:ea typeface="맑은 고딕"/>
              </a:rPr>
              <a:t> </a:t>
            </a:r>
            <a:r>
              <a:rPr sz="800" b="0" dirty="0" err="1">
                <a:solidFill>
                  <a:srgbClr val="404040"/>
                </a:solidFill>
                <a:latin typeface="맑은 고딕"/>
                <a:ea typeface="맑은 고딕"/>
              </a:rPr>
              <a:t>중심</a:t>
            </a:r>
            <a:r>
              <a:rPr sz="800" b="0" dirty="0">
                <a:solidFill>
                  <a:srgbClr val="404040"/>
                </a:solidFill>
                <a:latin typeface="맑은 고딕"/>
                <a:ea typeface="맑은 고딕"/>
              </a:rPr>
              <a:t> </a:t>
            </a:r>
            <a:r>
              <a:rPr sz="800" b="0" dirty="0" err="1">
                <a:solidFill>
                  <a:srgbClr val="404040"/>
                </a:solidFill>
                <a:latin typeface="맑은 고딕"/>
                <a:ea typeface="맑은 고딕"/>
              </a:rPr>
              <a:t>자원</a:t>
            </a:r>
            <a:r>
              <a:rPr sz="800" b="0" dirty="0">
                <a:solidFill>
                  <a:srgbClr val="404040"/>
                </a:solidFill>
                <a:latin typeface="맑은 고딕"/>
                <a:ea typeface="맑은 고딕"/>
              </a:rPr>
              <a:t>/</a:t>
            </a:r>
            <a:r>
              <a:rPr sz="800" b="0" dirty="0" err="1">
                <a:solidFill>
                  <a:srgbClr val="404040"/>
                </a:solidFill>
                <a:latin typeface="맑은 고딕"/>
                <a:ea typeface="맑은 고딕"/>
              </a:rPr>
              <a:t>병렬화</a:t>
            </a:r>
            <a:endParaRPr sz="800" b="0" dirty="0">
              <a:solidFill>
                <a:srgbClr val="404040"/>
              </a:solidFill>
              <a:latin typeface="맑은 고딕"/>
              <a:ea typeface="맑은 고딕"/>
            </a:endParaRPr>
          </a:p>
        </p:txBody>
      </p:sp>
      <p:sp>
        <p:nvSpPr>
          <p:cNvPr id="6176" name="Rounded Rectangle 6175"/>
          <p:cNvSpPr/>
          <p:nvPr/>
        </p:nvSpPr>
        <p:spPr>
          <a:xfrm>
            <a:off x="9749067" y="4700016"/>
            <a:ext cx="2000972" cy="512064"/>
          </a:xfrm>
          <a:prstGeom prst="roundRect">
            <a:avLst>
              <a:gd name="adj" fmla="val 10000"/>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800" b="1" dirty="0">
                <a:solidFill>
                  <a:srgbClr val="C55A11"/>
                </a:solidFill>
                <a:latin typeface="맑은 고딕"/>
                <a:ea typeface="맑은 고딕"/>
              </a:rPr>
              <a:t>Decoding Instance</a:t>
            </a:r>
          </a:p>
          <a:p>
            <a:pPr algn="l"/>
            <a:r>
              <a:rPr sz="800" b="0" dirty="0">
                <a:solidFill>
                  <a:srgbClr val="404040"/>
                </a:solidFill>
                <a:latin typeface="맑은 고딕"/>
                <a:ea typeface="맑은 고딕"/>
              </a:rPr>
              <a:t>TPOT </a:t>
            </a:r>
            <a:r>
              <a:rPr sz="800" b="0" dirty="0" err="1">
                <a:solidFill>
                  <a:srgbClr val="404040"/>
                </a:solidFill>
                <a:latin typeface="맑은 고딕"/>
                <a:ea typeface="맑은 고딕"/>
              </a:rPr>
              <a:t>최적화</a:t>
            </a:r>
            <a:r>
              <a:rPr sz="800" b="0" dirty="0">
                <a:solidFill>
                  <a:srgbClr val="404040"/>
                </a:solidFill>
                <a:latin typeface="맑은 고딕"/>
                <a:ea typeface="맑은 고딕"/>
              </a:rPr>
              <a:t> · 큰 batch · </a:t>
            </a:r>
            <a:endParaRPr lang="en-US" sz="800" b="0" dirty="0">
              <a:solidFill>
                <a:srgbClr val="404040"/>
              </a:solidFill>
              <a:latin typeface="맑은 고딕"/>
              <a:ea typeface="맑은 고딕"/>
            </a:endParaRPr>
          </a:p>
          <a:p>
            <a:pPr algn="l"/>
            <a:r>
              <a:rPr sz="800" b="0" dirty="0" err="1">
                <a:solidFill>
                  <a:srgbClr val="404040"/>
                </a:solidFill>
                <a:latin typeface="맑은 고딕"/>
                <a:ea typeface="맑은 고딕"/>
              </a:rPr>
              <a:t>메모리</a:t>
            </a:r>
            <a:r>
              <a:rPr sz="800" b="0" dirty="0">
                <a:solidFill>
                  <a:srgbClr val="404040"/>
                </a:solidFill>
                <a:latin typeface="맑은 고딕"/>
                <a:ea typeface="맑은 고딕"/>
              </a:rPr>
              <a:t> BW/</a:t>
            </a:r>
            <a:r>
              <a:rPr sz="800" b="0" dirty="0" err="1">
                <a:solidFill>
                  <a:srgbClr val="404040"/>
                </a:solidFill>
                <a:latin typeface="맑은 고딕"/>
                <a:ea typeface="맑은 고딕"/>
              </a:rPr>
              <a:t>용량</a:t>
            </a:r>
            <a:endParaRPr sz="800" b="0" dirty="0">
              <a:solidFill>
                <a:srgbClr val="404040"/>
              </a:solidFill>
              <a:latin typeface="맑은 고딕"/>
              <a:ea typeface="맑은 고딕"/>
            </a:endParaRPr>
          </a:p>
        </p:txBody>
      </p:sp>
      <p:sp>
        <p:nvSpPr>
          <p:cNvPr id="6177" name="Rounded Rectangle 6176"/>
          <p:cNvSpPr/>
          <p:nvPr/>
        </p:nvSpPr>
        <p:spPr>
          <a:xfrm>
            <a:off x="9749067" y="5358384"/>
            <a:ext cx="2000972" cy="512064"/>
          </a:xfrm>
          <a:prstGeom prst="roundRect">
            <a:avLst>
              <a:gd name="adj" fmla="val 10000"/>
            </a:avLst>
          </a:prstGeom>
          <a:solidFill>
            <a:srgbClr val="E2F0D9"/>
          </a:solidFill>
          <a:ln w="9525">
            <a:solidFill>
              <a:srgbClr val="548235"/>
            </a:solidFill>
          </a:ln>
          <a:effectLst/>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800" b="1" dirty="0" err="1">
                <a:solidFill>
                  <a:srgbClr val="548235"/>
                </a:solidFill>
                <a:latin typeface="맑은 고딕"/>
                <a:ea typeface="맑은 고딕"/>
              </a:rPr>
              <a:t>효과</a:t>
            </a:r>
            <a:endParaRPr sz="800" b="1" dirty="0">
              <a:solidFill>
                <a:srgbClr val="548235"/>
              </a:solidFill>
              <a:latin typeface="맑은 고딕"/>
              <a:ea typeface="맑은 고딕"/>
            </a:endParaRPr>
          </a:p>
          <a:p>
            <a:pPr algn="l"/>
            <a:r>
              <a:rPr sz="800" b="0" dirty="0" err="1">
                <a:solidFill>
                  <a:srgbClr val="404040"/>
                </a:solidFill>
                <a:latin typeface="맑은 고딕"/>
                <a:ea typeface="맑은 고딕"/>
              </a:rPr>
              <a:t>단계</a:t>
            </a:r>
            <a:r>
              <a:rPr sz="800" b="0" dirty="0">
                <a:solidFill>
                  <a:srgbClr val="404040"/>
                </a:solidFill>
                <a:latin typeface="맑은 고딕"/>
                <a:ea typeface="맑은 고딕"/>
              </a:rPr>
              <a:t> 간 </a:t>
            </a:r>
            <a:r>
              <a:rPr sz="800" b="0" dirty="0" err="1">
                <a:solidFill>
                  <a:srgbClr val="404040"/>
                </a:solidFill>
                <a:latin typeface="맑은 고딕"/>
                <a:ea typeface="맑은 고딕"/>
              </a:rPr>
              <a:t>간섭</a:t>
            </a:r>
            <a:r>
              <a:rPr sz="800" b="0" dirty="0">
                <a:solidFill>
                  <a:srgbClr val="404040"/>
                </a:solidFill>
                <a:latin typeface="맑은 고딕"/>
                <a:ea typeface="맑은 고딕"/>
              </a:rPr>
              <a:t> </a:t>
            </a:r>
            <a:r>
              <a:rPr sz="800" b="0" dirty="0" err="1">
                <a:solidFill>
                  <a:srgbClr val="404040"/>
                </a:solidFill>
                <a:latin typeface="맑은 고딕"/>
                <a:ea typeface="맑은 고딕"/>
              </a:rPr>
              <a:t>제거</a:t>
            </a:r>
            <a:r>
              <a:rPr sz="800" b="0" dirty="0">
                <a:solidFill>
                  <a:srgbClr val="404040"/>
                </a:solidFill>
                <a:latin typeface="맑은 고딕"/>
                <a:ea typeface="맑은 고딕"/>
              </a:rPr>
              <a:t> · P:D </a:t>
            </a:r>
            <a:r>
              <a:rPr sz="800" b="0" dirty="0" err="1">
                <a:solidFill>
                  <a:srgbClr val="404040"/>
                </a:solidFill>
                <a:latin typeface="맑은 고딕"/>
                <a:ea typeface="맑은 고딕"/>
              </a:rPr>
              <a:t>독립</a:t>
            </a:r>
            <a:r>
              <a:rPr sz="800" b="0" dirty="0">
                <a:solidFill>
                  <a:srgbClr val="404040"/>
                </a:solidFill>
                <a:latin typeface="맑은 고딕"/>
                <a:ea typeface="맑은 고딕"/>
              </a:rPr>
              <a:t> scaling</a:t>
            </a:r>
          </a:p>
        </p:txBody>
      </p:sp>
      <p:grpSp>
        <p:nvGrpSpPr>
          <p:cNvPr id="2" name="그룹 1">
            <a:extLst>
              <a:ext uri="{FF2B5EF4-FFF2-40B4-BE49-F238E27FC236}">
                <a16:creationId xmlns:a16="http://schemas.microsoft.com/office/drawing/2014/main" id="{AB8A297E-CCEA-4417-8652-FE55EBFDD7FF}"/>
              </a:ext>
            </a:extLst>
          </p:cNvPr>
          <p:cNvGrpSpPr/>
          <p:nvPr/>
        </p:nvGrpSpPr>
        <p:grpSpPr>
          <a:xfrm>
            <a:off x="464838" y="4278125"/>
            <a:ext cx="5043275" cy="1541239"/>
            <a:chOff x="502920" y="4014215"/>
            <a:chExt cx="4700016" cy="1077429"/>
          </a:xfrm>
        </p:grpSpPr>
        <p:sp>
          <p:nvSpPr>
            <p:cNvPr id="155" name="Rectangle 6152">
              <a:extLst>
                <a:ext uri="{FF2B5EF4-FFF2-40B4-BE49-F238E27FC236}">
                  <a16:creationId xmlns:a16="http://schemas.microsoft.com/office/drawing/2014/main" id="{FF2D4AB9-0B43-4658-B6C0-7467620626F3}"/>
                </a:ext>
              </a:extLst>
            </p:cNvPr>
            <p:cNvSpPr/>
            <p:nvPr/>
          </p:nvSpPr>
          <p:spPr>
            <a:xfrm>
              <a:off x="502920" y="4041648"/>
              <a:ext cx="987552"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C55A11"/>
                  </a:solidFill>
                  <a:latin typeface="맑은 고딕"/>
                  <a:ea typeface="맑은 고딕"/>
                </a:rPr>
                <a:t>R1 · Decode 중</a:t>
              </a:r>
            </a:p>
          </p:txBody>
        </p:sp>
        <p:sp>
          <p:nvSpPr>
            <p:cNvPr id="156" name="Rectangle 6153">
              <a:extLst>
                <a:ext uri="{FF2B5EF4-FFF2-40B4-BE49-F238E27FC236}">
                  <a16:creationId xmlns:a16="http://schemas.microsoft.com/office/drawing/2014/main" id="{ABAE4728-ABFA-4FDB-B7AC-1E5BA6247FB1}"/>
                </a:ext>
              </a:extLst>
            </p:cNvPr>
            <p:cNvSpPr/>
            <p:nvPr/>
          </p:nvSpPr>
          <p:spPr>
            <a:xfrm>
              <a:off x="502920" y="4215384"/>
              <a:ext cx="987552"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C55A11"/>
                  </a:solidFill>
                  <a:latin typeface="맑은 고딕"/>
                  <a:ea typeface="맑은 고딕"/>
                </a:rPr>
                <a:t>R2 · Decode 중</a:t>
              </a:r>
            </a:p>
          </p:txBody>
        </p:sp>
        <p:sp>
          <p:nvSpPr>
            <p:cNvPr id="157" name="Rectangle 6154">
              <a:extLst>
                <a:ext uri="{FF2B5EF4-FFF2-40B4-BE49-F238E27FC236}">
                  <a16:creationId xmlns:a16="http://schemas.microsoft.com/office/drawing/2014/main" id="{EFB63F22-0161-4313-A52F-32F36FA85296}"/>
                </a:ext>
              </a:extLst>
            </p:cNvPr>
            <p:cNvSpPr/>
            <p:nvPr/>
          </p:nvSpPr>
          <p:spPr>
            <a:xfrm>
              <a:off x="502920" y="4389120"/>
              <a:ext cx="987552" cy="146304"/>
            </a:xfrm>
            <a:prstGeom prst="rect">
              <a:avLst/>
            </a:prstGeom>
            <a:solidFill>
              <a:srgbClr val="DEEBF7"/>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2E75B6"/>
                  </a:solidFill>
                  <a:latin typeface="맑은 고딕"/>
                  <a:ea typeface="맑은 고딕"/>
                </a:rPr>
                <a:t>R3 · 신규 Prefill</a:t>
              </a:r>
            </a:p>
          </p:txBody>
        </p:sp>
        <p:sp>
          <p:nvSpPr>
            <p:cNvPr id="158" name="Rectangle 6155">
              <a:extLst>
                <a:ext uri="{FF2B5EF4-FFF2-40B4-BE49-F238E27FC236}">
                  <a16:creationId xmlns:a16="http://schemas.microsoft.com/office/drawing/2014/main" id="{465185A4-B7E7-4398-9D60-5460DA1D8404}"/>
                </a:ext>
              </a:extLst>
            </p:cNvPr>
            <p:cNvSpPr/>
            <p:nvPr/>
          </p:nvSpPr>
          <p:spPr>
            <a:xfrm>
              <a:off x="502920" y="4562856"/>
              <a:ext cx="987552" cy="146304"/>
            </a:xfrm>
            <a:prstGeom prst="rect">
              <a:avLst/>
            </a:prstGeom>
            <a:solidFill>
              <a:srgbClr val="DEEBF7"/>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2E75B6"/>
                  </a:solidFill>
                  <a:latin typeface="맑은 고딕"/>
                  <a:ea typeface="맑은 고딕"/>
                </a:rPr>
                <a:t>R4 · 신규 Prefill</a:t>
              </a:r>
            </a:p>
          </p:txBody>
        </p:sp>
        <p:cxnSp>
          <p:nvCxnSpPr>
            <p:cNvPr id="159" name="Connector 6156">
              <a:extLst>
                <a:ext uri="{FF2B5EF4-FFF2-40B4-BE49-F238E27FC236}">
                  <a16:creationId xmlns:a16="http://schemas.microsoft.com/office/drawing/2014/main" id="{49D0AF00-80D0-4EAD-88CB-3C52C8CC6277}"/>
                </a:ext>
              </a:extLst>
            </p:cNvPr>
            <p:cNvCxnSpPr/>
            <p:nvPr/>
          </p:nvCxnSpPr>
          <p:spPr>
            <a:xfrm>
              <a:off x="1527048" y="4261104"/>
              <a:ext cx="164592" cy="0"/>
            </a:xfrm>
            <a:prstGeom prst="line">
              <a:avLst/>
            </a:prstGeom>
            <a:ln w="12700">
              <a:solidFill>
                <a:srgbClr val="7F7F7F"/>
              </a:solidFill>
              <a:tailEnd type="triangle"/>
            </a:ln>
          </p:spPr>
          <p:style>
            <a:lnRef idx="2">
              <a:schemeClr val="accent1"/>
            </a:lnRef>
            <a:fillRef idx="0">
              <a:schemeClr val="accent1"/>
            </a:fillRef>
            <a:effectRef idx="1">
              <a:schemeClr val="accent1"/>
            </a:effectRef>
            <a:fontRef idx="minor">
              <a:schemeClr val="tx1"/>
            </a:fontRef>
          </p:style>
        </p:cxnSp>
        <p:sp>
          <p:nvSpPr>
            <p:cNvPr id="160" name="Rectangle 6157">
              <a:extLst>
                <a:ext uri="{FF2B5EF4-FFF2-40B4-BE49-F238E27FC236}">
                  <a16:creationId xmlns:a16="http://schemas.microsoft.com/office/drawing/2014/main" id="{AC8C792D-22C6-40AE-BDCC-299FB23CD875}"/>
                </a:ext>
              </a:extLst>
            </p:cNvPr>
            <p:cNvSpPr/>
            <p:nvPr/>
          </p:nvSpPr>
          <p:spPr>
            <a:xfrm>
              <a:off x="1709928" y="4041648"/>
              <a:ext cx="365760" cy="667512"/>
            </a:xfrm>
            <a:prstGeom prst="rect">
              <a:avLst/>
            </a:prstGeom>
            <a:solidFill>
              <a:srgbClr val="F0F1F3"/>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a:solidFill>
                    <a:srgbClr val="000000"/>
                  </a:solidFill>
                  <a:latin typeface="맑은 고딕"/>
                  <a:ea typeface="맑은 고딕"/>
                </a:rPr>
                <a:t>GPU</a:t>
              </a:r>
            </a:p>
          </p:txBody>
        </p:sp>
        <p:sp>
          <p:nvSpPr>
            <p:cNvPr id="161" name="Rectangle 6158">
              <a:extLst>
                <a:ext uri="{FF2B5EF4-FFF2-40B4-BE49-F238E27FC236}">
                  <a16:creationId xmlns:a16="http://schemas.microsoft.com/office/drawing/2014/main" id="{BF280A27-50E4-4F2B-A278-BB3FA661D21A}"/>
                </a:ext>
              </a:extLst>
            </p:cNvPr>
            <p:cNvSpPr/>
            <p:nvPr/>
          </p:nvSpPr>
          <p:spPr>
            <a:xfrm>
              <a:off x="2167128" y="4041648"/>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D1</a:t>
              </a:r>
            </a:p>
          </p:txBody>
        </p:sp>
        <p:sp>
          <p:nvSpPr>
            <p:cNvPr id="162" name="Rectangle 6159">
              <a:extLst>
                <a:ext uri="{FF2B5EF4-FFF2-40B4-BE49-F238E27FC236}">
                  <a16:creationId xmlns:a16="http://schemas.microsoft.com/office/drawing/2014/main" id="{2FC09F91-1BDD-45F0-9B76-BE7958A4B6B3}"/>
                </a:ext>
              </a:extLst>
            </p:cNvPr>
            <p:cNvSpPr/>
            <p:nvPr/>
          </p:nvSpPr>
          <p:spPr>
            <a:xfrm>
              <a:off x="2167128" y="4215384"/>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D2</a:t>
              </a:r>
            </a:p>
          </p:txBody>
        </p:sp>
        <p:sp>
          <p:nvSpPr>
            <p:cNvPr id="163" name="Rectangle 6160">
              <a:extLst>
                <a:ext uri="{FF2B5EF4-FFF2-40B4-BE49-F238E27FC236}">
                  <a16:creationId xmlns:a16="http://schemas.microsoft.com/office/drawing/2014/main" id="{EEC437A7-E8BA-4249-9E7C-F17265ADE265}"/>
                </a:ext>
              </a:extLst>
            </p:cNvPr>
            <p:cNvSpPr/>
            <p:nvPr/>
          </p:nvSpPr>
          <p:spPr>
            <a:xfrm>
              <a:off x="2487168" y="4041648"/>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D1</a:t>
              </a:r>
            </a:p>
          </p:txBody>
        </p:sp>
        <p:sp>
          <p:nvSpPr>
            <p:cNvPr id="164" name="Rectangle 6161">
              <a:extLst>
                <a:ext uri="{FF2B5EF4-FFF2-40B4-BE49-F238E27FC236}">
                  <a16:creationId xmlns:a16="http://schemas.microsoft.com/office/drawing/2014/main" id="{2BFCB928-4B9E-4521-8F9B-0EB079BA983C}"/>
                </a:ext>
              </a:extLst>
            </p:cNvPr>
            <p:cNvSpPr/>
            <p:nvPr/>
          </p:nvSpPr>
          <p:spPr>
            <a:xfrm>
              <a:off x="2743200" y="4041648"/>
              <a:ext cx="804671" cy="146304"/>
            </a:xfrm>
            <a:prstGeom prst="rect">
              <a:avLst/>
            </a:prstGeom>
            <a:solidFill>
              <a:srgbClr val="F2F2F2"/>
            </a:solidFill>
            <a:ln w="635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sz="2400"/>
            </a:p>
          </p:txBody>
        </p:sp>
        <p:sp>
          <p:nvSpPr>
            <p:cNvPr id="204" name="Rectangle 6162">
              <a:extLst>
                <a:ext uri="{FF2B5EF4-FFF2-40B4-BE49-F238E27FC236}">
                  <a16:creationId xmlns:a16="http://schemas.microsoft.com/office/drawing/2014/main" id="{D9DDD90B-9B09-417D-A222-FDB7E729E36C}"/>
                </a:ext>
              </a:extLst>
            </p:cNvPr>
            <p:cNvSpPr/>
            <p:nvPr/>
          </p:nvSpPr>
          <p:spPr>
            <a:xfrm>
              <a:off x="2487168" y="4215384"/>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D2</a:t>
              </a:r>
            </a:p>
          </p:txBody>
        </p:sp>
        <p:sp>
          <p:nvSpPr>
            <p:cNvPr id="205" name="Rectangle 6163">
              <a:extLst>
                <a:ext uri="{FF2B5EF4-FFF2-40B4-BE49-F238E27FC236}">
                  <a16:creationId xmlns:a16="http://schemas.microsoft.com/office/drawing/2014/main" id="{4D7FE4C2-F14F-4AF0-8A9A-B5F8C6DF1F11}"/>
                </a:ext>
              </a:extLst>
            </p:cNvPr>
            <p:cNvSpPr/>
            <p:nvPr/>
          </p:nvSpPr>
          <p:spPr>
            <a:xfrm>
              <a:off x="2743200" y="4215384"/>
              <a:ext cx="804671" cy="146304"/>
            </a:xfrm>
            <a:prstGeom prst="rect">
              <a:avLst/>
            </a:prstGeom>
            <a:solidFill>
              <a:srgbClr val="F2F2F2"/>
            </a:solidFill>
            <a:ln w="635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sz="2400"/>
            </a:p>
          </p:txBody>
        </p:sp>
        <p:sp>
          <p:nvSpPr>
            <p:cNvPr id="240" name="Rectangle 6164">
              <a:extLst>
                <a:ext uri="{FF2B5EF4-FFF2-40B4-BE49-F238E27FC236}">
                  <a16:creationId xmlns:a16="http://schemas.microsoft.com/office/drawing/2014/main" id="{B44BACBA-DF71-4008-95E0-2CDFAC3F9A21}"/>
                </a:ext>
              </a:extLst>
            </p:cNvPr>
            <p:cNvSpPr/>
            <p:nvPr/>
          </p:nvSpPr>
          <p:spPr>
            <a:xfrm>
              <a:off x="2487168" y="4389120"/>
              <a:ext cx="1060704" cy="146304"/>
            </a:xfrm>
            <a:prstGeom prst="rect">
              <a:avLst/>
            </a:prstGeom>
            <a:solidFill>
              <a:srgbClr val="2E75B6"/>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FFFFFF"/>
                  </a:solidFill>
                  <a:latin typeface="맑은 고딕"/>
                  <a:ea typeface="맑은 고딕"/>
                </a:rPr>
                <a:t>P3 (긴 프롬프트)</a:t>
              </a:r>
            </a:p>
          </p:txBody>
        </p:sp>
        <p:sp>
          <p:nvSpPr>
            <p:cNvPr id="273" name="Rectangle 6165">
              <a:extLst>
                <a:ext uri="{FF2B5EF4-FFF2-40B4-BE49-F238E27FC236}">
                  <a16:creationId xmlns:a16="http://schemas.microsoft.com/office/drawing/2014/main" id="{08BAC2FC-8327-4996-A348-B641F1D9FD62}"/>
                </a:ext>
              </a:extLst>
            </p:cNvPr>
            <p:cNvSpPr/>
            <p:nvPr/>
          </p:nvSpPr>
          <p:spPr>
            <a:xfrm>
              <a:off x="3621024" y="4041648"/>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D1</a:t>
              </a:r>
            </a:p>
          </p:txBody>
        </p:sp>
        <p:sp>
          <p:nvSpPr>
            <p:cNvPr id="274" name="Rectangle 6166">
              <a:extLst>
                <a:ext uri="{FF2B5EF4-FFF2-40B4-BE49-F238E27FC236}">
                  <a16:creationId xmlns:a16="http://schemas.microsoft.com/office/drawing/2014/main" id="{1AE420FD-892B-45C1-A2B1-32BBB5D1773D}"/>
                </a:ext>
              </a:extLst>
            </p:cNvPr>
            <p:cNvSpPr/>
            <p:nvPr/>
          </p:nvSpPr>
          <p:spPr>
            <a:xfrm>
              <a:off x="3621024" y="4215384"/>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D2</a:t>
              </a:r>
            </a:p>
          </p:txBody>
        </p:sp>
        <p:sp>
          <p:nvSpPr>
            <p:cNvPr id="275" name="Rectangle 6167">
              <a:extLst>
                <a:ext uri="{FF2B5EF4-FFF2-40B4-BE49-F238E27FC236}">
                  <a16:creationId xmlns:a16="http://schemas.microsoft.com/office/drawing/2014/main" id="{2990D454-12DA-4A42-9CF3-AC728D56B8DE}"/>
                </a:ext>
              </a:extLst>
            </p:cNvPr>
            <p:cNvSpPr/>
            <p:nvPr/>
          </p:nvSpPr>
          <p:spPr>
            <a:xfrm>
              <a:off x="3621024" y="4389120"/>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D3</a:t>
              </a:r>
            </a:p>
          </p:txBody>
        </p:sp>
        <p:sp>
          <p:nvSpPr>
            <p:cNvPr id="276" name="Rectangle 6168">
              <a:extLst>
                <a:ext uri="{FF2B5EF4-FFF2-40B4-BE49-F238E27FC236}">
                  <a16:creationId xmlns:a16="http://schemas.microsoft.com/office/drawing/2014/main" id="{27EDFEEA-A838-4303-B208-0FA0416B4C67}"/>
                </a:ext>
              </a:extLst>
            </p:cNvPr>
            <p:cNvSpPr/>
            <p:nvPr/>
          </p:nvSpPr>
          <p:spPr>
            <a:xfrm>
              <a:off x="3941063" y="4041648"/>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D1</a:t>
              </a:r>
            </a:p>
          </p:txBody>
        </p:sp>
        <p:sp>
          <p:nvSpPr>
            <p:cNvPr id="277" name="Rectangle 6169">
              <a:extLst>
                <a:ext uri="{FF2B5EF4-FFF2-40B4-BE49-F238E27FC236}">
                  <a16:creationId xmlns:a16="http://schemas.microsoft.com/office/drawing/2014/main" id="{8A4641AF-C7A1-4DF4-B54B-947039174740}"/>
                </a:ext>
              </a:extLst>
            </p:cNvPr>
            <p:cNvSpPr/>
            <p:nvPr/>
          </p:nvSpPr>
          <p:spPr>
            <a:xfrm>
              <a:off x="4197096" y="4041648"/>
              <a:ext cx="804671" cy="146304"/>
            </a:xfrm>
            <a:prstGeom prst="rect">
              <a:avLst/>
            </a:prstGeom>
            <a:solidFill>
              <a:srgbClr val="F2F2F2"/>
            </a:solidFill>
            <a:ln w="635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sz="2400"/>
            </a:p>
          </p:txBody>
        </p:sp>
        <p:sp>
          <p:nvSpPr>
            <p:cNvPr id="278" name="Rectangle 6170">
              <a:extLst>
                <a:ext uri="{FF2B5EF4-FFF2-40B4-BE49-F238E27FC236}">
                  <a16:creationId xmlns:a16="http://schemas.microsoft.com/office/drawing/2014/main" id="{86651360-077B-4956-96B9-92C60C6B1719}"/>
                </a:ext>
              </a:extLst>
            </p:cNvPr>
            <p:cNvSpPr/>
            <p:nvPr/>
          </p:nvSpPr>
          <p:spPr>
            <a:xfrm>
              <a:off x="3941063" y="4215384"/>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D2</a:t>
              </a:r>
            </a:p>
          </p:txBody>
        </p:sp>
        <p:sp>
          <p:nvSpPr>
            <p:cNvPr id="279" name="Rectangle 6171">
              <a:extLst>
                <a:ext uri="{FF2B5EF4-FFF2-40B4-BE49-F238E27FC236}">
                  <a16:creationId xmlns:a16="http://schemas.microsoft.com/office/drawing/2014/main" id="{7D3942C4-82FB-4934-8FCB-4AB9DF48D245}"/>
                </a:ext>
              </a:extLst>
            </p:cNvPr>
            <p:cNvSpPr/>
            <p:nvPr/>
          </p:nvSpPr>
          <p:spPr>
            <a:xfrm>
              <a:off x="4197096" y="4215384"/>
              <a:ext cx="804671" cy="146304"/>
            </a:xfrm>
            <a:prstGeom prst="rect">
              <a:avLst/>
            </a:prstGeom>
            <a:solidFill>
              <a:srgbClr val="F2F2F2"/>
            </a:solidFill>
            <a:ln w="635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sz="2400"/>
            </a:p>
          </p:txBody>
        </p:sp>
        <p:sp>
          <p:nvSpPr>
            <p:cNvPr id="280" name="Rectangle 6172">
              <a:extLst>
                <a:ext uri="{FF2B5EF4-FFF2-40B4-BE49-F238E27FC236}">
                  <a16:creationId xmlns:a16="http://schemas.microsoft.com/office/drawing/2014/main" id="{D501D629-6B33-438F-B52B-971D7815A36C}"/>
                </a:ext>
              </a:extLst>
            </p:cNvPr>
            <p:cNvSpPr/>
            <p:nvPr/>
          </p:nvSpPr>
          <p:spPr>
            <a:xfrm>
              <a:off x="3941063" y="4389120"/>
              <a:ext cx="246888" cy="146304"/>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C55A11"/>
                  </a:solidFill>
                  <a:latin typeface="맑은 고딕"/>
                  <a:ea typeface="맑은 고딕"/>
                </a:rPr>
                <a:t>D3</a:t>
              </a:r>
            </a:p>
          </p:txBody>
        </p:sp>
        <p:sp>
          <p:nvSpPr>
            <p:cNvPr id="281" name="Rectangle 6173">
              <a:extLst>
                <a:ext uri="{FF2B5EF4-FFF2-40B4-BE49-F238E27FC236}">
                  <a16:creationId xmlns:a16="http://schemas.microsoft.com/office/drawing/2014/main" id="{7AB6576A-506F-46EB-9A2D-811BBDCEEC2A}"/>
                </a:ext>
              </a:extLst>
            </p:cNvPr>
            <p:cNvSpPr/>
            <p:nvPr/>
          </p:nvSpPr>
          <p:spPr>
            <a:xfrm>
              <a:off x="4197096" y="4389120"/>
              <a:ext cx="804671" cy="146304"/>
            </a:xfrm>
            <a:prstGeom prst="rect">
              <a:avLst/>
            </a:prstGeom>
            <a:solidFill>
              <a:srgbClr val="F2F2F2"/>
            </a:solidFill>
            <a:ln w="635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sz="2400"/>
            </a:p>
          </p:txBody>
        </p:sp>
        <p:sp>
          <p:nvSpPr>
            <p:cNvPr id="282" name="Rectangle 6174">
              <a:extLst>
                <a:ext uri="{FF2B5EF4-FFF2-40B4-BE49-F238E27FC236}">
                  <a16:creationId xmlns:a16="http://schemas.microsoft.com/office/drawing/2014/main" id="{167FCFCD-3172-4654-AFED-F40CFC715162}"/>
                </a:ext>
              </a:extLst>
            </p:cNvPr>
            <p:cNvSpPr/>
            <p:nvPr/>
          </p:nvSpPr>
          <p:spPr>
            <a:xfrm>
              <a:off x="3941063" y="4562856"/>
              <a:ext cx="1060704" cy="146304"/>
            </a:xfrm>
            <a:prstGeom prst="rect">
              <a:avLst/>
            </a:prstGeom>
            <a:solidFill>
              <a:srgbClr val="2E75B6"/>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FFFFFF"/>
                  </a:solidFill>
                  <a:latin typeface="맑은 고딕"/>
                  <a:ea typeface="맑은 고딕"/>
                </a:rPr>
                <a:t>P4 (긴 프롬프트)</a:t>
              </a:r>
            </a:p>
          </p:txBody>
        </p:sp>
        <p:cxnSp>
          <p:nvCxnSpPr>
            <p:cNvPr id="283" name="Connector 6175">
              <a:extLst>
                <a:ext uri="{FF2B5EF4-FFF2-40B4-BE49-F238E27FC236}">
                  <a16:creationId xmlns:a16="http://schemas.microsoft.com/office/drawing/2014/main" id="{70C43492-E8BB-4E0B-B41E-1AD3157DEDDB}"/>
                </a:ext>
              </a:extLst>
            </p:cNvPr>
            <p:cNvCxnSpPr/>
            <p:nvPr/>
          </p:nvCxnSpPr>
          <p:spPr>
            <a:xfrm>
              <a:off x="2450592" y="4014215"/>
              <a:ext cx="0" cy="722377"/>
            </a:xfrm>
            <a:prstGeom prst="line">
              <a:avLst/>
            </a:prstGeom>
            <a:ln w="6350">
              <a:solidFill>
                <a:srgbClr val="A6A6A6"/>
              </a:solidFill>
              <a:prstDash val="dash"/>
            </a:ln>
          </p:spPr>
          <p:style>
            <a:lnRef idx="2">
              <a:schemeClr val="accent1"/>
            </a:lnRef>
            <a:fillRef idx="0">
              <a:schemeClr val="accent1"/>
            </a:fillRef>
            <a:effectRef idx="1">
              <a:schemeClr val="accent1"/>
            </a:effectRef>
            <a:fontRef idx="minor">
              <a:schemeClr val="tx1"/>
            </a:fontRef>
          </p:style>
        </p:cxnSp>
        <p:cxnSp>
          <p:nvCxnSpPr>
            <p:cNvPr id="284" name="Connector 6176">
              <a:extLst>
                <a:ext uri="{FF2B5EF4-FFF2-40B4-BE49-F238E27FC236}">
                  <a16:creationId xmlns:a16="http://schemas.microsoft.com/office/drawing/2014/main" id="{1A11478A-047E-4A62-8FA5-3F5DB15F43EF}"/>
                </a:ext>
              </a:extLst>
            </p:cNvPr>
            <p:cNvCxnSpPr/>
            <p:nvPr/>
          </p:nvCxnSpPr>
          <p:spPr>
            <a:xfrm>
              <a:off x="3584448" y="4014215"/>
              <a:ext cx="0" cy="722377"/>
            </a:xfrm>
            <a:prstGeom prst="line">
              <a:avLst/>
            </a:prstGeom>
            <a:ln w="6350">
              <a:solidFill>
                <a:srgbClr val="A6A6A6"/>
              </a:solidFill>
              <a:prstDash val="dash"/>
            </a:ln>
          </p:spPr>
          <p:style>
            <a:lnRef idx="2">
              <a:schemeClr val="accent1"/>
            </a:lnRef>
            <a:fillRef idx="0">
              <a:schemeClr val="accent1"/>
            </a:fillRef>
            <a:effectRef idx="1">
              <a:schemeClr val="accent1"/>
            </a:effectRef>
            <a:fontRef idx="minor">
              <a:schemeClr val="tx1"/>
            </a:fontRef>
          </p:style>
        </p:cxnSp>
        <p:cxnSp>
          <p:nvCxnSpPr>
            <p:cNvPr id="285" name="Connector 6177">
              <a:extLst>
                <a:ext uri="{FF2B5EF4-FFF2-40B4-BE49-F238E27FC236}">
                  <a16:creationId xmlns:a16="http://schemas.microsoft.com/office/drawing/2014/main" id="{C3C3B8FC-1C22-4708-840B-4D778CF7E30E}"/>
                </a:ext>
              </a:extLst>
            </p:cNvPr>
            <p:cNvCxnSpPr/>
            <p:nvPr/>
          </p:nvCxnSpPr>
          <p:spPr>
            <a:xfrm>
              <a:off x="3904487" y="4014215"/>
              <a:ext cx="0" cy="722377"/>
            </a:xfrm>
            <a:prstGeom prst="line">
              <a:avLst/>
            </a:prstGeom>
            <a:ln w="6350">
              <a:solidFill>
                <a:srgbClr val="A6A6A6"/>
              </a:solidFill>
              <a:prstDash val="dash"/>
            </a:ln>
          </p:spPr>
          <p:style>
            <a:lnRef idx="2">
              <a:schemeClr val="accent1"/>
            </a:lnRef>
            <a:fillRef idx="0">
              <a:schemeClr val="accent1"/>
            </a:fillRef>
            <a:effectRef idx="1">
              <a:schemeClr val="accent1"/>
            </a:effectRef>
            <a:fontRef idx="minor">
              <a:schemeClr val="tx1"/>
            </a:fontRef>
          </p:style>
        </p:cxnSp>
        <p:cxnSp>
          <p:nvCxnSpPr>
            <p:cNvPr id="286" name="Connector 6178">
              <a:extLst>
                <a:ext uri="{FF2B5EF4-FFF2-40B4-BE49-F238E27FC236}">
                  <a16:creationId xmlns:a16="http://schemas.microsoft.com/office/drawing/2014/main" id="{D3C3F233-D8E6-4760-8C29-11C141BA7257}"/>
                </a:ext>
              </a:extLst>
            </p:cNvPr>
            <p:cNvCxnSpPr/>
            <p:nvPr/>
          </p:nvCxnSpPr>
          <p:spPr>
            <a:xfrm>
              <a:off x="5038344" y="4014215"/>
              <a:ext cx="0" cy="722377"/>
            </a:xfrm>
            <a:prstGeom prst="line">
              <a:avLst/>
            </a:prstGeom>
            <a:ln w="6350">
              <a:solidFill>
                <a:srgbClr val="A6A6A6"/>
              </a:solidFill>
              <a:prstDash val="dash"/>
            </a:ln>
          </p:spPr>
          <p:style>
            <a:lnRef idx="2">
              <a:schemeClr val="accent1"/>
            </a:lnRef>
            <a:fillRef idx="0">
              <a:schemeClr val="accent1"/>
            </a:fillRef>
            <a:effectRef idx="1">
              <a:schemeClr val="accent1"/>
            </a:effectRef>
            <a:fontRef idx="minor">
              <a:schemeClr val="tx1"/>
            </a:fontRef>
          </p:style>
        </p:cxnSp>
        <p:cxnSp>
          <p:nvCxnSpPr>
            <p:cNvPr id="287" name="Connector 6179">
              <a:extLst>
                <a:ext uri="{FF2B5EF4-FFF2-40B4-BE49-F238E27FC236}">
                  <a16:creationId xmlns:a16="http://schemas.microsoft.com/office/drawing/2014/main" id="{19063568-B70A-49AE-BB82-252280050E05}"/>
                </a:ext>
              </a:extLst>
            </p:cNvPr>
            <p:cNvCxnSpPr/>
            <p:nvPr/>
          </p:nvCxnSpPr>
          <p:spPr>
            <a:xfrm>
              <a:off x="4845242" y="4931793"/>
              <a:ext cx="237744" cy="0"/>
            </a:xfrm>
            <a:prstGeom prst="line">
              <a:avLst/>
            </a:prstGeom>
            <a:ln w="12700">
              <a:solidFill>
                <a:srgbClr val="7F7F7F"/>
              </a:solidFill>
              <a:tailEnd type="triangle"/>
            </a:ln>
          </p:spPr>
          <p:style>
            <a:lnRef idx="2">
              <a:schemeClr val="accent1"/>
            </a:lnRef>
            <a:fillRef idx="0">
              <a:schemeClr val="accent1"/>
            </a:fillRef>
            <a:effectRef idx="1">
              <a:schemeClr val="accent1"/>
            </a:effectRef>
            <a:fontRef idx="minor">
              <a:schemeClr val="tx1"/>
            </a:fontRef>
          </p:style>
        </p:cxnSp>
        <p:sp>
          <p:nvSpPr>
            <p:cNvPr id="288" name="Rectangle 6180">
              <a:extLst>
                <a:ext uri="{FF2B5EF4-FFF2-40B4-BE49-F238E27FC236}">
                  <a16:creationId xmlns:a16="http://schemas.microsoft.com/office/drawing/2014/main" id="{C03EBB96-B1CC-4189-9C82-F150FBA31156}"/>
                </a:ext>
              </a:extLst>
            </p:cNvPr>
            <p:cNvSpPr/>
            <p:nvPr/>
          </p:nvSpPr>
          <p:spPr>
            <a:xfrm>
              <a:off x="4764423" y="4927052"/>
              <a:ext cx="365760"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dirty="0" err="1">
                  <a:solidFill>
                    <a:srgbClr val="404040"/>
                  </a:solidFill>
                  <a:latin typeface="맑은 고딕"/>
                  <a:ea typeface="맑은 고딕"/>
                </a:rPr>
                <a:t>시간</a:t>
              </a:r>
              <a:endParaRPr sz="800" b="0" dirty="0">
                <a:solidFill>
                  <a:srgbClr val="404040"/>
                </a:solidFill>
                <a:latin typeface="맑은 고딕"/>
                <a:ea typeface="맑은 고딕"/>
              </a:endParaRPr>
            </a:p>
          </p:txBody>
        </p:sp>
        <p:sp>
          <p:nvSpPr>
            <p:cNvPr id="289" name="Rectangle 6181">
              <a:extLst>
                <a:ext uri="{FF2B5EF4-FFF2-40B4-BE49-F238E27FC236}">
                  <a16:creationId xmlns:a16="http://schemas.microsoft.com/office/drawing/2014/main" id="{52A623D5-B822-4941-BD6E-9F1A62BAC1CF}"/>
                </a:ext>
              </a:extLst>
            </p:cNvPr>
            <p:cNvSpPr/>
            <p:nvPr/>
          </p:nvSpPr>
          <p:spPr>
            <a:xfrm>
              <a:off x="2286000" y="4745736"/>
              <a:ext cx="1463040" cy="1463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C00000"/>
                  </a:solidFill>
                  <a:latin typeface="맑은 고딕"/>
                  <a:ea typeface="맑은 고딕"/>
                </a:rPr>
                <a:t>Prefill이 iteration 시간 지배</a:t>
              </a:r>
            </a:p>
          </p:txBody>
        </p:sp>
        <p:sp>
          <p:nvSpPr>
            <p:cNvPr id="290" name="Rectangle 6182">
              <a:extLst>
                <a:ext uri="{FF2B5EF4-FFF2-40B4-BE49-F238E27FC236}">
                  <a16:creationId xmlns:a16="http://schemas.microsoft.com/office/drawing/2014/main" id="{F0120EE9-A51E-4361-9834-0B42F814F1B6}"/>
                </a:ext>
              </a:extLst>
            </p:cNvPr>
            <p:cNvSpPr/>
            <p:nvPr/>
          </p:nvSpPr>
          <p:spPr>
            <a:xfrm>
              <a:off x="3739896" y="4745736"/>
              <a:ext cx="1463040" cy="1463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dirty="0" err="1">
                  <a:solidFill>
                    <a:srgbClr val="C00000"/>
                  </a:solidFill>
                  <a:latin typeface="맑은 고딕"/>
                  <a:ea typeface="맑은 고딕"/>
                </a:rPr>
                <a:t>Decode도</a:t>
              </a:r>
              <a:r>
                <a:rPr sz="800" b="1" dirty="0">
                  <a:solidFill>
                    <a:srgbClr val="C00000"/>
                  </a:solidFill>
                  <a:latin typeface="맑은 고딕"/>
                  <a:ea typeface="맑은 고딕"/>
                </a:rPr>
                <a:t> </a:t>
              </a:r>
              <a:r>
                <a:rPr sz="800" b="1" dirty="0" err="1">
                  <a:solidFill>
                    <a:srgbClr val="C00000"/>
                  </a:solidFill>
                  <a:latin typeface="맑은 고딕"/>
                  <a:ea typeface="맑은 고딕"/>
                </a:rPr>
                <a:t>함께</a:t>
              </a:r>
              <a:r>
                <a:rPr sz="800" b="1" dirty="0">
                  <a:solidFill>
                    <a:srgbClr val="C00000"/>
                  </a:solidFill>
                  <a:latin typeface="맑은 고딕"/>
                  <a:ea typeface="맑은 고딕"/>
                </a:rPr>
                <a:t> </a:t>
              </a:r>
              <a:r>
                <a:rPr sz="800" b="1" dirty="0" err="1">
                  <a:solidFill>
                    <a:srgbClr val="C00000"/>
                  </a:solidFill>
                  <a:latin typeface="맑은 고딕"/>
                  <a:ea typeface="맑은 고딕"/>
                </a:rPr>
                <a:t>대기</a:t>
              </a:r>
              <a:r>
                <a:rPr sz="800" b="1" dirty="0">
                  <a:solidFill>
                    <a:srgbClr val="C00000"/>
                  </a:solidFill>
                  <a:latin typeface="맑은 고딕"/>
                  <a:ea typeface="맑은 고딕"/>
                </a:rPr>
                <a:t> (TPOT↑)</a:t>
              </a:r>
            </a:p>
          </p:txBody>
        </p:sp>
      </p:grpSp>
    </p:spTree>
    <p:extLst>
      <p:ext uri="{BB962C8B-B14F-4D97-AF65-F5344CB8AC3E}">
        <p14:creationId xmlns:p14="http://schemas.microsoft.com/office/powerpoint/2010/main" val="1421452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DP2. </a:t>
            </a:r>
            <a:r>
              <a:rPr lang="ko-KR" altLang="en-US" dirty="0"/>
              <a:t>이기종 메모리 환경의 </a:t>
            </a:r>
            <a:r>
              <a:rPr lang="en-US" altLang="ko-KR" dirty="0"/>
              <a:t>Prefill </a:t>
            </a:r>
            <a:r>
              <a:rPr lang="ko-KR" altLang="en-US" dirty="0"/>
              <a:t>실행 위치 결정 구조 </a:t>
            </a:r>
            <a:r>
              <a:rPr lang="en-US" altLang="ko-KR" dirty="0"/>
              <a:t>- 배경</a:t>
            </a: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13</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13" name="DP2 9013"/>
          <p:cNvSpPr/>
          <p:nvPr/>
        </p:nvSpPr>
        <p:spPr>
          <a:xfrm>
            <a:off x="421320" y="1901952"/>
            <a:ext cx="256032" cy="256032"/>
          </a:xfrm>
          <a:prstGeom prst="rect">
            <a:avLst/>
          </a:prstGeom>
          <a:noFill/>
          <a:ln>
            <a:noFill/>
          </a:ln>
        </p:spPr>
        <p:txBody>
          <a:bodyPr wrap="square" lIns="9144" tIns="7315" rIns="9144" bIns="7315" anchor="ctr">
            <a:normAutofit/>
          </a:bodyPr>
          <a:lstStyle/>
          <a:p>
            <a:pPr algn="l">
              <a:lnSpc>
                <a:spcPct val="90000"/>
              </a:lnSpc>
            </a:pP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79" name="Text 22"/>
          <p:cNvSpPr/>
          <p:nvPr/>
        </p:nvSpPr>
        <p:spPr>
          <a:xfrm>
            <a:off x="359582" y="670519"/>
            <a:ext cx="11687638" cy="897781"/>
          </a:xfrm>
          <a:prstGeom prst="rect">
            <a:avLst/>
          </a:prstGeom>
          <a:noFill/>
          <a:ln/>
        </p:spPr>
        <p:txBody>
          <a:bodyPr wrap="square" lIns="0" tIns="0" rIns="0" bIns="0" rtlCol="0" anchor="t"/>
          <a:lstStyle/>
          <a:p>
            <a:pPr marL="285750" indent="-285750">
              <a:lnSpc>
                <a:spcPct val="150000"/>
              </a:lnSpc>
              <a:buFontTx/>
              <a:buChar char="-"/>
            </a:pPr>
            <a:r>
              <a:rPr lang="ko-KR" altLang="en-US" sz="1200" dirty="0">
                <a:solidFill>
                  <a:srgbClr val="404040"/>
                </a:solidFill>
                <a:latin typeface="맑은 고딕" panose="020B0503020000020004" pitchFamily="50" charset="-127"/>
              </a:rPr>
              <a:t>이기종 메모리 환경에서 </a:t>
            </a:r>
            <a:r>
              <a:rPr lang="en-US" altLang="ko-KR" sz="1200" dirty="0">
                <a:solidFill>
                  <a:srgbClr val="404040"/>
                </a:solidFill>
                <a:latin typeface="맑은 고딕" panose="020B0503020000020004" pitchFamily="50" charset="-127"/>
              </a:rPr>
              <a:t>KV </a:t>
            </a:r>
            <a:r>
              <a:rPr lang="ko-KR" altLang="en-US" sz="1200" dirty="0">
                <a:solidFill>
                  <a:srgbClr val="404040"/>
                </a:solidFill>
                <a:latin typeface="맑은 고딕" panose="020B0503020000020004" pitchFamily="50" charset="-127"/>
              </a:rPr>
              <a:t>캐시가 배치될 수 있는 </a:t>
            </a:r>
            <a:r>
              <a:rPr lang="en-US" altLang="ko-KR" sz="1200" dirty="0">
                <a:solidFill>
                  <a:srgbClr val="404040"/>
                </a:solidFill>
                <a:latin typeface="맑은 고딕" panose="020B0503020000020004" pitchFamily="50" charset="-127"/>
              </a:rPr>
              <a:t>Memory Tier</a:t>
            </a:r>
            <a:r>
              <a:rPr lang="ko-KR" altLang="en-US" sz="1200" dirty="0">
                <a:solidFill>
                  <a:srgbClr val="404040"/>
                </a:solidFill>
                <a:latin typeface="맑은 고딕" panose="020B0503020000020004" pitchFamily="50" charset="-127"/>
              </a:rPr>
              <a:t>는 다양해짐</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ko-KR" altLang="en-US" sz="1200" dirty="0">
                <a:solidFill>
                  <a:srgbClr val="404040"/>
                </a:solidFill>
                <a:latin typeface="맑은 고딕" panose="020B0503020000020004" pitchFamily="50" charset="-127"/>
              </a:rPr>
              <a:t>기존의 </a:t>
            </a:r>
            <a:r>
              <a:rPr lang="en-US" altLang="ko-KR" sz="1200" dirty="0">
                <a:solidFill>
                  <a:srgbClr val="404040"/>
                </a:solidFill>
                <a:latin typeface="맑은 고딕" panose="020B0503020000020004" pitchFamily="50" charset="-127"/>
              </a:rPr>
              <a:t>Prefill-Decode </a:t>
            </a:r>
            <a:r>
              <a:rPr lang="ko-KR" altLang="en-US" sz="1200" dirty="0">
                <a:solidFill>
                  <a:srgbClr val="404040"/>
                </a:solidFill>
                <a:latin typeface="맑은 고딕" panose="020B0503020000020004" pitchFamily="50" charset="-127"/>
              </a:rPr>
              <a:t>분리 실행 구조는 여러 </a:t>
            </a:r>
            <a:r>
              <a:rPr lang="en-US" altLang="ko-KR" sz="1200" dirty="0">
                <a:solidFill>
                  <a:srgbClr val="404040"/>
                </a:solidFill>
                <a:latin typeface="맑은 고딕" panose="020B0503020000020004" pitchFamily="50" charset="-127"/>
              </a:rPr>
              <a:t>Memory Tier</a:t>
            </a:r>
            <a:r>
              <a:rPr lang="ko-KR" altLang="en-US" sz="1200" dirty="0">
                <a:solidFill>
                  <a:srgbClr val="404040"/>
                </a:solidFill>
                <a:latin typeface="맑은 고딕" panose="020B0503020000020004" pitchFamily="50" charset="-127"/>
              </a:rPr>
              <a:t>간의 </a:t>
            </a:r>
            <a:r>
              <a:rPr lang="en-US" altLang="ko-KR" sz="1200" dirty="0">
                <a:solidFill>
                  <a:srgbClr val="404040"/>
                </a:solidFill>
                <a:latin typeface="맑은 고딕" panose="020B0503020000020004" pitchFamily="50" charset="-127"/>
              </a:rPr>
              <a:t>KV </a:t>
            </a:r>
            <a:r>
              <a:rPr lang="ko-KR" altLang="en-US" sz="1200" dirty="0">
                <a:solidFill>
                  <a:srgbClr val="404040"/>
                </a:solidFill>
                <a:latin typeface="맑은 고딕" panose="020B0503020000020004" pitchFamily="50" charset="-127"/>
              </a:rPr>
              <a:t>캐시 이동 비용을</a:t>
            </a:r>
            <a:r>
              <a:rPr lang="en-US" altLang="ko-KR" sz="1200" dirty="0">
                <a:solidFill>
                  <a:srgbClr val="404040"/>
                </a:solidFill>
                <a:latin typeface="맑은 고딕" panose="020B0503020000020004" pitchFamily="50" charset="-127"/>
              </a:rPr>
              <a:t> </a:t>
            </a:r>
            <a:r>
              <a:rPr lang="ko-KR" altLang="en-US" sz="1200" dirty="0">
                <a:solidFill>
                  <a:srgbClr val="404040"/>
                </a:solidFill>
                <a:latin typeface="맑은 고딕" panose="020B0503020000020004" pitchFamily="50" charset="-127"/>
              </a:rPr>
              <a:t>고려하지 않음</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ko-KR" altLang="en-US" sz="1200" dirty="0">
                <a:solidFill>
                  <a:srgbClr val="404040"/>
                </a:solidFill>
                <a:latin typeface="맑은 고딕" panose="020B0503020000020004" pitchFamily="50" charset="-127"/>
              </a:rPr>
              <a:t>워크로드</a:t>
            </a:r>
            <a:r>
              <a:rPr lang="en-US" altLang="ko-KR" sz="1200" dirty="0">
                <a:solidFill>
                  <a:srgbClr val="404040"/>
                </a:solidFill>
                <a:latin typeface="맑은 고딕" panose="020B0503020000020004" pitchFamily="50" charset="-127"/>
              </a:rPr>
              <a:t>, KV </a:t>
            </a:r>
            <a:r>
              <a:rPr lang="ko-KR" altLang="en-US" sz="1200" dirty="0">
                <a:solidFill>
                  <a:srgbClr val="404040"/>
                </a:solidFill>
                <a:latin typeface="맑은 고딕" panose="020B0503020000020004" pitchFamily="50" charset="-127"/>
              </a:rPr>
              <a:t>배치 및 </a:t>
            </a:r>
            <a:r>
              <a:rPr lang="en-US" altLang="ko-KR" sz="1200" dirty="0">
                <a:solidFill>
                  <a:srgbClr val="404040"/>
                </a:solidFill>
                <a:latin typeface="맑은 고딕" panose="020B0503020000020004" pitchFamily="50" charset="-127"/>
              </a:rPr>
              <a:t>Runtime </a:t>
            </a:r>
            <a:r>
              <a:rPr lang="ko-KR" altLang="en-US" sz="1200" dirty="0">
                <a:solidFill>
                  <a:srgbClr val="404040"/>
                </a:solidFill>
                <a:latin typeface="맑은 고딕" panose="020B0503020000020004" pitchFamily="50" charset="-127"/>
              </a:rPr>
              <a:t>상태 등을 고려하여 다음 </a:t>
            </a:r>
            <a:r>
              <a:rPr lang="en-US" altLang="ko-KR" sz="1200" dirty="0">
                <a:solidFill>
                  <a:srgbClr val="404040"/>
                </a:solidFill>
                <a:latin typeface="맑은 고딕" panose="020B0503020000020004" pitchFamily="50" charset="-127"/>
              </a:rPr>
              <a:t>Prefill</a:t>
            </a:r>
            <a:r>
              <a:rPr lang="ko-KR" altLang="en-US" sz="1200" dirty="0">
                <a:solidFill>
                  <a:srgbClr val="404040"/>
                </a:solidFill>
                <a:latin typeface="맑은 고딕" panose="020B0503020000020004" pitchFamily="50" charset="-127"/>
              </a:rPr>
              <a:t>을 어디에서 실행하는가에 따라 성능이 달라질 수 있음</a:t>
            </a:r>
            <a:endParaRPr lang="en-US" altLang="ko-KR" sz="1200" dirty="0"/>
          </a:p>
        </p:txBody>
      </p:sp>
      <p:sp>
        <p:nvSpPr>
          <p:cNvPr id="166" name="Text 22"/>
          <p:cNvSpPr/>
          <p:nvPr/>
        </p:nvSpPr>
        <p:spPr>
          <a:xfrm>
            <a:off x="383682" y="6029277"/>
            <a:ext cx="11312059" cy="548567"/>
          </a:xfrm>
          <a:prstGeom prst="rect">
            <a:avLst/>
          </a:prstGeom>
          <a:noFill/>
          <a:ln/>
        </p:spPr>
        <p:txBody>
          <a:bodyPr wrap="square" lIns="0" tIns="0" rIns="0" bIns="0" rtlCol="0" anchor="t"/>
          <a:lstStyle/>
          <a:p>
            <a:pPr>
              <a:lnSpc>
                <a:spcPct val="125000"/>
              </a:lnSpc>
            </a:pPr>
            <a:r>
              <a:rPr lang="ko-KR" altLang="en-US" sz="1200" b="1" dirty="0">
                <a:latin typeface="맑은 고딕" panose="020B0503020000020004" pitchFamily="50" charset="-127"/>
              </a:rPr>
              <a:t>설계 쟁점 </a:t>
            </a:r>
            <a:r>
              <a:rPr lang="en-US" altLang="ko-KR" sz="1200" b="1" dirty="0">
                <a:latin typeface="맑은 고딕" panose="020B0503020000020004" pitchFamily="50" charset="-127"/>
              </a:rPr>
              <a:t>1. </a:t>
            </a:r>
            <a:r>
              <a:rPr lang="ko-KR" altLang="en-US" sz="1200" dirty="0">
                <a:latin typeface="맑은 고딕" panose="020B0503020000020004" pitchFamily="50" charset="-127"/>
              </a:rPr>
              <a:t>메모리 이동 및 연산 비용을 고려한 다음 연산 실행 노드 결정을 통해 </a:t>
            </a:r>
            <a:r>
              <a:rPr lang="ko-KR" altLang="en-US" sz="1200" b="1" dirty="0">
                <a:solidFill>
                  <a:srgbClr val="0000FF"/>
                </a:solidFill>
                <a:latin typeface="맑은 고딕" panose="020B0503020000020004" pitchFamily="50" charset="-127"/>
              </a:rPr>
              <a:t>추론 성능 최적화</a:t>
            </a:r>
            <a:endParaRPr lang="en-US" altLang="ko-KR" sz="1200" dirty="0">
              <a:latin typeface="맑은 고딕" panose="020B0503020000020004" pitchFamily="50" charset="-127"/>
            </a:endParaRPr>
          </a:p>
          <a:p>
            <a:pPr>
              <a:lnSpc>
                <a:spcPct val="125000"/>
              </a:lnSpc>
            </a:pPr>
            <a:r>
              <a:rPr lang="ko-KR" altLang="en-US" sz="1200" b="1" dirty="0">
                <a:latin typeface="맑은 고딕" panose="020B0503020000020004" pitchFamily="50" charset="-127"/>
              </a:rPr>
              <a:t>설계 쟁점 </a:t>
            </a:r>
            <a:r>
              <a:rPr lang="en-US" altLang="ko-KR" sz="1200" b="1" dirty="0">
                <a:latin typeface="맑은 고딕" panose="020B0503020000020004" pitchFamily="50" charset="-127"/>
              </a:rPr>
              <a:t>2. </a:t>
            </a:r>
            <a:r>
              <a:rPr lang="ko-KR" altLang="en-US" sz="1200" dirty="0">
                <a:latin typeface="맑은 고딕" panose="020B0503020000020004" pitchFamily="50" charset="-127"/>
              </a:rPr>
              <a:t>신규 메모리 및 </a:t>
            </a:r>
            <a:r>
              <a:rPr lang="en-US" altLang="ko-KR" sz="1200" dirty="0">
                <a:latin typeface="맑은 고딕" panose="020B0503020000020004" pitchFamily="50" charset="-127"/>
              </a:rPr>
              <a:t>Cost </a:t>
            </a:r>
            <a:r>
              <a:rPr lang="ko-KR" altLang="en-US" sz="1200" dirty="0">
                <a:latin typeface="맑은 고딕" panose="020B0503020000020004" pitchFamily="50" charset="-127"/>
              </a:rPr>
              <a:t>모델 확장 시 </a:t>
            </a:r>
            <a:r>
              <a:rPr lang="ko-KR" altLang="en-US" sz="1200" b="1" dirty="0">
                <a:solidFill>
                  <a:srgbClr val="0000FF"/>
                </a:solidFill>
                <a:latin typeface="맑은 고딕" panose="020B0503020000020004" pitchFamily="50" charset="-127"/>
              </a:rPr>
              <a:t>기존 구조 변경 최소화</a:t>
            </a:r>
            <a:endParaRPr lang="en-US" altLang="ko-KR" sz="1200" dirty="0">
              <a:latin typeface="맑은 고딕" panose="020B0503020000020004" pitchFamily="50" charset="-127"/>
            </a:endParaRPr>
          </a:p>
          <a:p>
            <a:pPr marL="228600" indent="-228600">
              <a:lnSpc>
                <a:spcPct val="125000"/>
              </a:lnSpc>
              <a:buAutoNum type="arabicPeriod"/>
            </a:pPr>
            <a:endParaRPr lang="en-US" altLang="ko-KR" sz="1200" dirty="0"/>
          </a:p>
        </p:txBody>
      </p:sp>
      <p:grpSp>
        <p:nvGrpSpPr>
          <p:cNvPr id="2" name="그룹 1">
            <a:extLst>
              <a:ext uri="{FF2B5EF4-FFF2-40B4-BE49-F238E27FC236}">
                <a16:creationId xmlns:a16="http://schemas.microsoft.com/office/drawing/2014/main" id="{D8454C29-B532-49FE-99CE-60D79E51A037}"/>
              </a:ext>
            </a:extLst>
          </p:cNvPr>
          <p:cNvGrpSpPr/>
          <p:nvPr/>
        </p:nvGrpSpPr>
        <p:grpSpPr>
          <a:xfrm>
            <a:off x="6167674" y="1608313"/>
            <a:ext cx="5533854" cy="3803530"/>
            <a:chOff x="6167674" y="2324995"/>
            <a:chExt cx="5533854" cy="3086847"/>
          </a:xfrm>
        </p:grpSpPr>
        <p:sp>
          <p:nvSpPr>
            <p:cNvPr id="242" name="직사각형 241">
              <a:extLst>
                <a:ext uri="{FF2B5EF4-FFF2-40B4-BE49-F238E27FC236}">
                  <a16:creationId xmlns:a16="http://schemas.microsoft.com/office/drawing/2014/main" id="{E3784E02-153A-49F1-A2CD-CE4252048DE7}"/>
                </a:ext>
              </a:extLst>
            </p:cNvPr>
            <p:cNvSpPr/>
            <p:nvPr/>
          </p:nvSpPr>
          <p:spPr>
            <a:xfrm>
              <a:off x="6167674" y="2460335"/>
              <a:ext cx="5533854" cy="295150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3" name="모서리가 둥근 직사각형 217">
              <a:extLst>
                <a:ext uri="{FF2B5EF4-FFF2-40B4-BE49-F238E27FC236}">
                  <a16:creationId xmlns:a16="http://schemas.microsoft.com/office/drawing/2014/main" id="{63A3E9B0-7066-45A1-BE5D-E8DD4EAEDB03}"/>
                </a:ext>
              </a:extLst>
            </p:cNvPr>
            <p:cNvSpPr/>
            <p:nvPr/>
          </p:nvSpPr>
          <p:spPr>
            <a:xfrm>
              <a:off x="6463335" y="2324995"/>
              <a:ext cx="4990654" cy="285015"/>
            </a:xfrm>
            <a:prstGeom prst="round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To-Be: KV</a:t>
              </a:r>
              <a:r>
                <a:rPr lang="ko-KR" altLang="en-US" sz="1100" b="1" dirty="0"/>
                <a:t> 위치</a:t>
              </a:r>
              <a:r>
                <a:rPr lang="en-US" altLang="ko-KR" sz="1100" b="1" dirty="0"/>
                <a:t>, </a:t>
              </a:r>
              <a:r>
                <a:rPr lang="ko-KR" altLang="en-US" sz="1100" b="1" dirty="0"/>
                <a:t>워크로드</a:t>
              </a:r>
              <a:r>
                <a:rPr lang="en-US" altLang="ko-KR" sz="1100" b="1" dirty="0"/>
                <a:t>, </a:t>
              </a:r>
              <a:r>
                <a:rPr lang="ko-KR" altLang="en-US" sz="1100" b="1" dirty="0"/>
                <a:t>자원 상태 등을 고려한 </a:t>
              </a:r>
              <a:r>
                <a:rPr lang="en-US" altLang="ko-KR" sz="1100" b="1" dirty="0"/>
                <a:t>Prefill-Decode</a:t>
              </a:r>
              <a:r>
                <a:rPr lang="ko-KR" altLang="en-US" sz="1100" b="1" dirty="0"/>
                <a:t> 실행 구조</a:t>
              </a:r>
            </a:p>
          </p:txBody>
        </p:sp>
      </p:grpSp>
      <p:sp>
        <p:nvSpPr>
          <p:cNvPr id="244" name="DP2 9060">
            <a:extLst>
              <a:ext uri="{FF2B5EF4-FFF2-40B4-BE49-F238E27FC236}">
                <a16:creationId xmlns:a16="http://schemas.microsoft.com/office/drawing/2014/main" id="{EECDFEB7-7302-4965-B64A-4FA0853A126C}"/>
              </a:ext>
            </a:extLst>
          </p:cNvPr>
          <p:cNvSpPr/>
          <p:nvPr/>
        </p:nvSpPr>
        <p:spPr>
          <a:xfrm>
            <a:off x="5631940" y="3331478"/>
            <a:ext cx="438912" cy="457200"/>
          </a:xfrm>
          <a:prstGeom prst="rightArrow">
            <a:avLst/>
          </a:prstGeom>
          <a:solidFill>
            <a:srgbClr val="FFD966"/>
          </a:solidFill>
          <a:ln>
            <a:noFill/>
          </a:ln>
        </p:spPr>
        <p:txBody>
          <a:bodyPr wrap="square" lIns="27432" tIns="7315" rIns="27432" bIns="7315" anchor="ctr">
            <a:normAutofit fontScale="92500" lnSpcReduction="20000"/>
          </a:bodyPr>
          <a:lstStyle/>
          <a:p>
            <a:endParaRPr lang="ko-KR" altLang="en-US"/>
          </a:p>
        </p:txBody>
      </p:sp>
      <p:grpSp>
        <p:nvGrpSpPr>
          <p:cNvPr id="291" name="그룹 290">
            <a:extLst>
              <a:ext uri="{FF2B5EF4-FFF2-40B4-BE49-F238E27FC236}">
                <a16:creationId xmlns:a16="http://schemas.microsoft.com/office/drawing/2014/main" id="{6A78737F-A253-4CE8-B9A2-72B91FF65732}"/>
              </a:ext>
            </a:extLst>
          </p:cNvPr>
          <p:cNvGrpSpPr/>
          <p:nvPr/>
        </p:nvGrpSpPr>
        <p:grpSpPr>
          <a:xfrm>
            <a:off x="347472" y="1624275"/>
            <a:ext cx="5119877" cy="3787568"/>
            <a:chOff x="99695" y="3138920"/>
            <a:chExt cx="5315187" cy="3447912"/>
          </a:xfrm>
        </p:grpSpPr>
        <p:sp>
          <p:nvSpPr>
            <p:cNvPr id="350" name="직사각형 349">
              <a:extLst>
                <a:ext uri="{FF2B5EF4-FFF2-40B4-BE49-F238E27FC236}">
                  <a16:creationId xmlns:a16="http://schemas.microsoft.com/office/drawing/2014/main" id="{14E0C7FA-AF01-4522-B324-5D5122403813}"/>
                </a:ext>
              </a:extLst>
            </p:cNvPr>
            <p:cNvSpPr/>
            <p:nvPr/>
          </p:nvSpPr>
          <p:spPr>
            <a:xfrm>
              <a:off x="99695" y="3276197"/>
              <a:ext cx="5315187" cy="3310635"/>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1" name="모서리가 둥근 직사각형 212">
              <a:extLst>
                <a:ext uri="{FF2B5EF4-FFF2-40B4-BE49-F238E27FC236}">
                  <a16:creationId xmlns:a16="http://schemas.microsoft.com/office/drawing/2014/main" id="{1104C980-3417-4022-8A1E-A71193CA465E}"/>
                </a:ext>
              </a:extLst>
            </p:cNvPr>
            <p:cNvSpPr/>
            <p:nvPr/>
          </p:nvSpPr>
          <p:spPr>
            <a:xfrm>
              <a:off x="760121" y="3138920"/>
              <a:ext cx="4046740" cy="290631"/>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As-Is:</a:t>
              </a:r>
              <a:r>
                <a:rPr lang="ko-KR" altLang="en-US" sz="1100" b="1" dirty="0"/>
                <a:t> 기존 </a:t>
              </a:r>
              <a:r>
                <a:rPr lang="en-US" altLang="ko-KR" sz="1100" b="1" dirty="0"/>
                <a:t>Prefill-Decode </a:t>
              </a:r>
              <a:r>
                <a:rPr lang="ko-KR" altLang="en-US" sz="1100" b="1" dirty="0"/>
                <a:t>분리 실행 구조</a:t>
              </a:r>
            </a:p>
          </p:txBody>
        </p:sp>
      </p:grpSp>
      <p:sp>
        <p:nvSpPr>
          <p:cNvPr id="87" name="DP2 9014">
            <a:extLst>
              <a:ext uri="{FF2B5EF4-FFF2-40B4-BE49-F238E27FC236}">
                <a16:creationId xmlns:a16="http://schemas.microsoft.com/office/drawing/2014/main" id="{BAB6A9C5-DE6C-4B40-9E12-B57562177C2D}"/>
              </a:ext>
            </a:extLst>
          </p:cNvPr>
          <p:cNvSpPr/>
          <p:nvPr/>
        </p:nvSpPr>
        <p:spPr>
          <a:xfrm>
            <a:off x="665581" y="5665175"/>
            <a:ext cx="9603535" cy="256032"/>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워크로드</a:t>
            </a:r>
            <a:r>
              <a:rPr lang="en-US" altLang="ko-KR"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KV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배치 및 </a:t>
            </a:r>
            <a:r>
              <a:rPr lang="en-US" altLang="ko-KR"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Runtime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상태 등을 </a:t>
            </a:r>
            <a:r>
              <a:rPr lang="ko-KR" altLang="en-US"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고려한 </a:t>
            </a:r>
            <a:r>
              <a:rPr lang="en-US" altLang="ko-KR" sz="1200" b="1" dirty="0">
                <a:solidFill>
                  <a:srgbClr val="0066FF"/>
                </a:solidFill>
                <a:latin typeface="맑은 고딕" panose="020B0503020000020004" pitchFamily="50" charset="-127"/>
                <a:sym typeface="Wingdings" panose="05000000000000000000" pitchFamily="2" charset="2"/>
              </a:rPr>
              <a:t>Cost </a:t>
            </a:r>
            <a:r>
              <a:rPr lang="ko-KR" altLang="en-US" sz="1200" b="1" dirty="0">
                <a:solidFill>
                  <a:srgbClr val="0066FF"/>
                </a:solidFill>
                <a:latin typeface="맑은 고딕" panose="020B0503020000020004" pitchFamily="50" charset="-127"/>
                <a:sym typeface="Wingdings" panose="05000000000000000000" pitchFamily="2" charset="2"/>
              </a:rPr>
              <a:t>기반의 </a:t>
            </a:r>
            <a:r>
              <a:rPr lang="en-US" altLang="ko-KR" sz="1200" b="1" dirty="0">
                <a:solidFill>
                  <a:srgbClr val="0066FF"/>
                </a:solidFill>
                <a:latin typeface="맑은 고딕" panose="020B0503020000020004" pitchFamily="50" charset="-127"/>
                <a:sym typeface="Wingdings" panose="05000000000000000000" pitchFamily="2" charset="2"/>
              </a:rPr>
              <a:t>Prefill</a:t>
            </a:r>
            <a:r>
              <a:rPr lang="ko-KR" altLang="en-US" sz="1200" b="1" dirty="0">
                <a:solidFill>
                  <a:srgbClr val="0066FF"/>
                </a:solidFill>
                <a:latin typeface="맑은 고딕" panose="020B0503020000020004" pitchFamily="50" charset="-127"/>
                <a:sym typeface="Wingdings" panose="05000000000000000000" pitchFamily="2" charset="2"/>
              </a:rPr>
              <a:t> 실행 위치를 동적으로 결정하는 구조 설계 필요</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88" name="오른쪽 화살표 39">
            <a:extLst>
              <a:ext uri="{FF2B5EF4-FFF2-40B4-BE49-F238E27FC236}">
                <a16:creationId xmlns:a16="http://schemas.microsoft.com/office/drawing/2014/main" id="{0C02C4F3-EB01-4664-B739-CF69604C5390}"/>
              </a:ext>
            </a:extLst>
          </p:cNvPr>
          <p:cNvSpPr/>
          <p:nvPr/>
        </p:nvSpPr>
        <p:spPr>
          <a:xfrm>
            <a:off x="284845" y="5625163"/>
            <a:ext cx="412417" cy="2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38" name="Rounded Rectangle 9037"/>
          <p:cNvSpPr/>
          <p:nvPr/>
        </p:nvSpPr>
        <p:spPr>
          <a:xfrm>
            <a:off x="1993392" y="2270760"/>
            <a:ext cx="1508760" cy="219456"/>
          </a:xfrm>
          <a:prstGeom prst="roundRect">
            <a:avLst>
              <a:gd name="adj" fmla="val 50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dirty="0">
                <a:solidFill>
                  <a:srgbClr val="000000"/>
                </a:solidFill>
                <a:latin typeface="맑은 고딕"/>
                <a:ea typeface="맑은 고딕"/>
              </a:rPr>
              <a:t>Request (Turn N)</a:t>
            </a:r>
          </a:p>
        </p:txBody>
      </p:sp>
      <p:cxnSp>
        <p:nvCxnSpPr>
          <p:cNvPr id="9039" name="Connector 9038"/>
          <p:cNvCxnSpPr>
            <a:cxnSpLocks/>
          </p:cNvCxnSpPr>
          <p:nvPr/>
        </p:nvCxnSpPr>
        <p:spPr>
          <a:xfrm>
            <a:off x="2743200" y="2490216"/>
            <a:ext cx="0" cy="9144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40" name="Rectangle 9039"/>
          <p:cNvSpPr/>
          <p:nvPr/>
        </p:nvSpPr>
        <p:spPr>
          <a:xfrm>
            <a:off x="1536192" y="2581656"/>
            <a:ext cx="2423160" cy="329184"/>
          </a:xfrm>
          <a:prstGeom prst="rect">
            <a:avLst/>
          </a:prstGeom>
          <a:solidFill>
            <a:srgbClr val="F0F1F3"/>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dirty="0">
                <a:solidFill>
                  <a:srgbClr val="000000"/>
                </a:solidFill>
                <a:latin typeface="맑은 고딕"/>
                <a:ea typeface="맑은 고딕"/>
              </a:rPr>
              <a:t>Request Scheduler / Router</a:t>
            </a:r>
          </a:p>
        </p:txBody>
      </p:sp>
      <p:sp>
        <p:nvSpPr>
          <p:cNvPr id="9041" name="Rectangle 9040"/>
          <p:cNvSpPr/>
          <p:nvPr/>
        </p:nvSpPr>
        <p:spPr>
          <a:xfrm>
            <a:off x="566928" y="3071276"/>
            <a:ext cx="1463040" cy="465513"/>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42" name="Rectangle 9041"/>
          <p:cNvSpPr/>
          <p:nvPr/>
        </p:nvSpPr>
        <p:spPr>
          <a:xfrm>
            <a:off x="566928" y="3066288"/>
            <a:ext cx="1463040"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2E75B6"/>
                </a:solidFill>
                <a:latin typeface="맑은 고딕"/>
                <a:ea typeface="맑은 고딕"/>
              </a:rPr>
              <a:t>Prefill Node (P)</a:t>
            </a:r>
          </a:p>
        </p:txBody>
      </p:sp>
      <p:sp>
        <p:nvSpPr>
          <p:cNvPr id="9043" name="Rectangle 9042"/>
          <p:cNvSpPr/>
          <p:nvPr/>
        </p:nvSpPr>
        <p:spPr>
          <a:xfrm>
            <a:off x="676656" y="3276600"/>
            <a:ext cx="1243584" cy="219456"/>
          </a:xfrm>
          <a:prstGeom prst="rect">
            <a:avLst/>
          </a:prstGeom>
          <a:solidFill>
            <a:srgbClr val="FFFFFF"/>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en-US" sz="700" dirty="0">
                <a:solidFill>
                  <a:srgbClr val="000000"/>
                </a:solidFill>
                <a:latin typeface="맑은 고딕"/>
                <a:ea typeface="맑은 고딕"/>
              </a:rPr>
              <a:t>Input</a:t>
            </a:r>
            <a:r>
              <a:rPr lang="ko-KR" altLang="en-US" sz="700" dirty="0">
                <a:solidFill>
                  <a:srgbClr val="000000"/>
                </a:solidFill>
                <a:latin typeface="맑은 고딕"/>
                <a:ea typeface="맑은 고딕"/>
              </a:rPr>
              <a:t> </a:t>
            </a:r>
            <a:r>
              <a:rPr lang="en-US" altLang="ko-KR" sz="700" dirty="0">
                <a:solidFill>
                  <a:srgbClr val="000000"/>
                </a:solidFill>
                <a:latin typeface="맑은 고딕"/>
                <a:ea typeface="맑은 고딕"/>
              </a:rPr>
              <a:t>Prompt</a:t>
            </a:r>
            <a:r>
              <a:rPr lang="ko-KR" altLang="en-US" sz="700" dirty="0">
                <a:solidFill>
                  <a:srgbClr val="000000"/>
                </a:solidFill>
                <a:latin typeface="맑은 고딕"/>
                <a:ea typeface="맑은 고딕"/>
              </a:rPr>
              <a:t>의 </a:t>
            </a:r>
            <a:r>
              <a:rPr sz="700" b="0" dirty="0">
                <a:solidFill>
                  <a:srgbClr val="000000"/>
                </a:solidFill>
                <a:latin typeface="맑은 고딕"/>
                <a:ea typeface="맑은 고딕"/>
              </a:rPr>
              <a:t>KV </a:t>
            </a:r>
            <a:r>
              <a:rPr sz="700" b="0" dirty="0" err="1">
                <a:solidFill>
                  <a:srgbClr val="000000"/>
                </a:solidFill>
                <a:latin typeface="맑은 고딕"/>
                <a:ea typeface="맑은 고딕"/>
              </a:rPr>
              <a:t>생성</a:t>
            </a:r>
            <a:endParaRPr sz="700" b="0" dirty="0">
              <a:solidFill>
                <a:srgbClr val="000000"/>
              </a:solidFill>
              <a:latin typeface="맑은 고딕"/>
              <a:ea typeface="맑은 고딕"/>
            </a:endParaRPr>
          </a:p>
        </p:txBody>
      </p:sp>
      <p:sp>
        <p:nvSpPr>
          <p:cNvPr id="9044" name="Rectangle 9043"/>
          <p:cNvSpPr/>
          <p:nvPr/>
        </p:nvSpPr>
        <p:spPr>
          <a:xfrm>
            <a:off x="3456432" y="3071276"/>
            <a:ext cx="1463040" cy="465513"/>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45" name="Rectangle 9044"/>
          <p:cNvSpPr/>
          <p:nvPr/>
        </p:nvSpPr>
        <p:spPr>
          <a:xfrm>
            <a:off x="3456432" y="3066288"/>
            <a:ext cx="1463040"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C55A11"/>
                </a:solidFill>
                <a:latin typeface="맑은 고딕"/>
                <a:ea typeface="맑은 고딕"/>
              </a:rPr>
              <a:t>Decode Node (D)</a:t>
            </a:r>
          </a:p>
        </p:txBody>
      </p:sp>
      <p:sp>
        <p:nvSpPr>
          <p:cNvPr id="9046" name="Rectangle 9045"/>
          <p:cNvSpPr/>
          <p:nvPr/>
        </p:nvSpPr>
        <p:spPr>
          <a:xfrm>
            <a:off x="3566160" y="3276600"/>
            <a:ext cx="1243584" cy="219456"/>
          </a:xfrm>
          <a:prstGeom prst="rect">
            <a:avLst/>
          </a:prstGeom>
          <a:solidFill>
            <a:srgbClr val="FFFFFF"/>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en-US" altLang="ko-KR" sz="700" dirty="0">
                <a:solidFill>
                  <a:srgbClr val="000000"/>
                </a:solidFill>
                <a:latin typeface="맑은 고딕"/>
                <a:ea typeface="맑은 고딕"/>
              </a:rPr>
              <a:t>Output</a:t>
            </a:r>
            <a:r>
              <a:rPr lang="ko-KR" altLang="en-US" sz="700" dirty="0">
                <a:solidFill>
                  <a:srgbClr val="000000"/>
                </a:solidFill>
                <a:latin typeface="맑은 고딕"/>
                <a:ea typeface="맑은 고딕"/>
              </a:rPr>
              <a:t>의 </a:t>
            </a:r>
            <a:r>
              <a:rPr lang="en-US" altLang="ko-KR" sz="700" b="0" dirty="0">
                <a:solidFill>
                  <a:srgbClr val="000000"/>
                </a:solidFill>
                <a:latin typeface="맑은 고딕"/>
                <a:ea typeface="맑은 고딕"/>
              </a:rPr>
              <a:t>KV </a:t>
            </a:r>
            <a:r>
              <a:rPr lang="ko-KR" altLang="en-US" sz="700" b="0" dirty="0">
                <a:solidFill>
                  <a:srgbClr val="000000"/>
                </a:solidFill>
                <a:latin typeface="맑은 고딕"/>
                <a:ea typeface="맑은 고딕"/>
              </a:rPr>
              <a:t>누적</a:t>
            </a:r>
          </a:p>
        </p:txBody>
      </p:sp>
      <p:cxnSp>
        <p:nvCxnSpPr>
          <p:cNvPr id="9047" name="Connector 9046"/>
          <p:cNvCxnSpPr>
            <a:cxnSpLocks/>
          </p:cNvCxnSpPr>
          <p:nvPr/>
        </p:nvCxnSpPr>
        <p:spPr>
          <a:xfrm flipH="1">
            <a:off x="1298448" y="2910840"/>
            <a:ext cx="713232" cy="13716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48" name="Connector 9047"/>
          <p:cNvCxnSpPr>
            <a:cxnSpLocks/>
          </p:cNvCxnSpPr>
          <p:nvPr/>
        </p:nvCxnSpPr>
        <p:spPr>
          <a:xfrm>
            <a:off x="3474720" y="2910840"/>
            <a:ext cx="713232" cy="13716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49" name="Connector 9048"/>
          <p:cNvCxnSpPr>
            <a:cxnSpLocks/>
          </p:cNvCxnSpPr>
          <p:nvPr/>
        </p:nvCxnSpPr>
        <p:spPr>
          <a:xfrm>
            <a:off x="2029968" y="3176016"/>
            <a:ext cx="1426464" cy="0"/>
          </a:xfrm>
          <a:prstGeom prst="line">
            <a:avLst/>
          </a:prstGeom>
          <a:ln w="15875">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0" name="Rectangle 9049"/>
          <p:cNvSpPr/>
          <p:nvPr/>
        </p:nvSpPr>
        <p:spPr>
          <a:xfrm>
            <a:off x="2029968" y="2974848"/>
            <a:ext cx="1426464"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dirty="0">
                <a:solidFill>
                  <a:srgbClr val="2E75B6"/>
                </a:solidFill>
                <a:latin typeface="맑은 고딕"/>
                <a:ea typeface="맑은 고딕"/>
              </a:rPr>
              <a:t>KV </a:t>
            </a:r>
            <a:r>
              <a:rPr sz="650" b="0" dirty="0" err="1">
                <a:solidFill>
                  <a:srgbClr val="2E75B6"/>
                </a:solidFill>
                <a:latin typeface="맑은 고딕"/>
                <a:ea typeface="맑은 고딕"/>
              </a:rPr>
              <a:t>전송</a:t>
            </a:r>
            <a:r>
              <a:rPr sz="650" b="0" dirty="0">
                <a:solidFill>
                  <a:srgbClr val="2E75B6"/>
                </a:solidFill>
                <a:latin typeface="맑은 고딕"/>
                <a:ea typeface="맑은 고딕"/>
              </a:rPr>
              <a:t> (</a:t>
            </a:r>
            <a:r>
              <a:rPr lang="en-US" sz="650" dirty="0">
                <a:solidFill>
                  <a:srgbClr val="2E75B6"/>
                </a:solidFill>
                <a:latin typeface="맑은 고딕"/>
                <a:ea typeface="맑은 고딕"/>
              </a:rPr>
              <a:t>N-</a:t>
            </a:r>
            <a:r>
              <a:rPr lang="en-US" sz="650" dirty="0" err="1">
                <a:solidFill>
                  <a:srgbClr val="2E75B6"/>
                </a:solidFill>
                <a:latin typeface="맑은 고딕"/>
                <a:ea typeface="맑은 고딕"/>
              </a:rPr>
              <a:t>th</a:t>
            </a:r>
            <a:r>
              <a:rPr lang="en-US" sz="650" dirty="0">
                <a:solidFill>
                  <a:srgbClr val="2E75B6"/>
                </a:solidFill>
                <a:latin typeface="맑은 고딕"/>
                <a:ea typeface="맑은 고딕"/>
              </a:rPr>
              <a:t> Turn</a:t>
            </a:r>
            <a:r>
              <a:rPr sz="650" b="0" dirty="0">
                <a:solidFill>
                  <a:srgbClr val="2E75B6"/>
                </a:solidFill>
                <a:latin typeface="맑은 고딕"/>
                <a:ea typeface="맑은 고딕"/>
              </a:rPr>
              <a:t>)</a:t>
            </a:r>
          </a:p>
        </p:txBody>
      </p:sp>
      <p:cxnSp>
        <p:nvCxnSpPr>
          <p:cNvPr id="9051" name="Connector 9050"/>
          <p:cNvCxnSpPr>
            <a:cxnSpLocks/>
          </p:cNvCxnSpPr>
          <p:nvPr/>
        </p:nvCxnSpPr>
        <p:spPr>
          <a:xfrm flipH="1">
            <a:off x="2029968" y="3413760"/>
            <a:ext cx="1426464" cy="0"/>
          </a:xfrm>
          <a:prstGeom prst="line">
            <a:avLst/>
          </a:prstGeom>
          <a:ln w="15875">
            <a:solidFill>
              <a:srgbClr val="C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52" name="Rectangle 9051"/>
          <p:cNvSpPr/>
          <p:nvPr/>
        </p:nvSpPr>
        <p:spPr>
          <a:xfrm>
            <a:off x="2029968" y="3413760"/>
            <a:ext cx="1426464"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1" dirty="0">
                <a:solidFill>
                  <a:srgbClr val="C00000"/>
                </a:solidFill>
                <a:latin typeface="맑은 고딕"/>
                <a:ea typeface="맑은 고딕"/>
              </a:rPr>
              <a:t>KV </a:t>
            </a:r>
            <a:r>
              <a:rPr sz="650" b="1" dirty="0" err="1">
                <a:solidFill>
                  <a:srgbClr val="C00000"/>
                </a:solidFill>
                <a:latin typeface="맑은 고딕"/>
                <a:ea typeface="맑은 고딕"/>
              </a:rPr>
              <a:t>전송</a:t>
            </a:r>
            <a:r>
              <a:rPr sz="650" b="1" dirty="0">
                <a:solidFill>
                  <a:srgbClr val="C00000"/>
                </a:solidFill>
                <a:latin typeface="맑은 고딕"/>
                <a:ea typeface="맑은 고딕"/>
              </a:rPr>
              <a:t> (</a:t>
            </a:r>
            <a:r>
              <a:rPr lang="en-US" sz="650" b="1" dirty="0">
                <a:solidFill>
                  <a:srgbClr val="C00000"/>
                </a:solidFill>
                <a:latin typeface="맑은 고딕"/>
                <a:ea typeface="맑은 고딕"/>
              </a:rPr>
              <a:t>N+1-th Turn</a:t>
            </a:r>
            <a:r>
              <a:rPr sz="650" b="1" dirty="0">
                <a:solidFill>
                  <a:srgbClr val="C00000"/>
                </a:solidFill>
                <a:latin typeface="맑은 고딕"/>
                <a:ea typeface="맑은 고딕"/>
              </a:rPr>
              <a:t>)</a:t>
            </a:r>
          </a:p>
        </p:txBody>
      </p:sp>
      <p:sp>
        <p:nvSpPr>
          <p:cNvPr id="9054" name="Rectangle 9053"/>
          <p:cNvSpPr/>
          <p:nvPr/>
        </p:nvSpPr>
        <p:spPr>
          <a:xfrm>
            <a:off x="900684" y="5457562"/>
            <a:ext cx="4297680"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595959"/>
                </a:solidFill>
                <a:latin typeface="맑은 고딕"/>
                <a:ea typeface="맑은 고딕"/>
              </a:rPr>
              <a:t>Host DRAM · CXL Memory · SSD 등 KV 저장 Tier</a:t>
            </a:r>
            <a:r>
              <a:rPr sz="650" b="1">
                <a:solidFill>
                  <a:srgbClr val="C00000"/>
                </a:solidFill>
                <a:latin typeface="맑은 고딕"/>
                <a:ea typeface="맑은 고딕"/>
              </a:rPr>
              <a:t>  →  실행 위치 결정에 미반영</a:t>
            </a:r>
          </a:p>
        </p:txBody>
      </p:sp>
      <p:sp>
        <p:nvSpPr>
          <p:cNvPr id="9055" name="Rounded Rectangle 9054"/>
          <p:cNvSpPr/>
          <p:nvPr/>
        </p:nvSpPr>
        <p:spPr>
          <a:xfrm>
            <a:off x="7635240" y="2075688"/>
            <a:ext cx="2606040" cy="228600"/>
          </a:xfrm>
          <a:prstGeom prst="roundRect">
            <a:avLst>
              <a:gd name="adj" fmla="val 50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750" b="0">
                <a:solidFill>
                  <a:srgbClr val="000000"/>
                </a:solidFill>
                <a:latin typeface="맑은 고딕"/>
                <a:ea typeface="맑은 고딕"/>
              </a:rPr>
              <a:t>Request (Turn N: 신규 입력 / Tool 결과)</a:t>
            </a:r>
          </a:p>
        </p:txBody>
      </p:sp>
      <p:cxnSp>
        <p:nvCxnSpPr>
          <p:cNvPr id="9056" name="Connector 9055"/>
          <p:cNvCxnSpPr/>
          <p:nvPr/>
        </p:nvCxnSpPr>
        <p:spPr>
          <a:xfrm>
            <a:off x="8942832" y="2304288"/>
            <a:ext cx="0" cy="73152"/>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7" name="Rectangle 9056"/>
          <p:cNvSpPr/>
          <p:nvPr/>
        </p:nvSpPr>
        <p:spPr>
          <a:xfrm>
            <a:off x="8028431" y="2377440"/>
            <a:ext cx="1828800" cy="237744"/>
          </a:xfrm>
          <a:prstGeom prst="rect">
            <a:avLst/>
          </a:prstGeom>
          <a:solidFill>
            <a:srgbClr val="F0F1F3"/>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000000"/>
                </a:solidFill>
                <a:latin typeface="맑은 고딕"/>
                <a:ea typeface="맑은 고딕"/>
              </a:rPr>
              <a:t>Request Scheduler</a:t>
            </a:r>
          </a:p>
        </p:txBody>
      </p:sp>
      <p:cxnSp>
        <p:nvCxnSpPr>
          <p:cNvPr id="9058" name="Connector 9057"/>
          <p:cNvCxnSpPr/>
          <p:nvPr/>
        </p:nvCxnSpPr>
        <p:spPr>
          <a:xfrm>
            <a:off x="8942832" y="2615184"/>
            <a:ext cx="0" cy="100584"/>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9" name="Rectangle 9058"/>
          <p:cNvSpPr/>
          <p:nvPr/>
        </p:nvSpPr>
        <p:spPr>
          <a:xfrm>
            <a:off x="6537960" y="2715768"/>
            <a:ext cx="5029200" cy="137160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60" name="Rectangle 9059"/>
          <p:cNvSpPr/>
          <p:nvPr/>
        </p:nvSpPr>
        <p:spPr>
          <a:xfrm>
            <a:off x="6537960" y="2715768"/>
            <a:ext cx="5029200" cy="219456"/>
          </a:xfrm>
          <a:prstGeom prst="rect">
            <a:avLst/>
          </a:prstGeom>
          <a:solidFill>
            <a:srgbClr val="2E75B6"/>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dirty="0">
                <a:solidFill>
                  <a:srgbClr val="FFFFFF"/>
                </a:solidFill>
                <a:latin typeface="맑은 고딕"/>
                <a:ea typeface="맑은 고딕"/>
              </a:rPr>
              <a:t>Prefill Execution Planner  —  Cost </a:t>
            </a:r>
            <a:r>
              <a:rPr sz="900" b="1" dirty="0" err="1">
                <a:solidFill>
                  <a:srgbClr val="FFFFFF"/>
                </a:solidFill>
                <a:latin typeface="맑은 고딕"/>
                <a:ea typeface="맑은 고딕"/>
              </a:rPr>
              <a:t>기반</a:t>
            </a:r>
            <a:r>
              <a:rPr sz="900" b="1" dirty="0">
                <a:solidFill>
                  <a:srgbClr val="FFFFFF"/>
                </a:solidFill>
                <a:latin typeface="맑은 고딕"/>
                <a:ea typeface="맑은 고딕"/>
              </a:rPr>
              <a:t> Prefill </a:t>
            </a:r>
            <a:r>
              <a:rPr sz="900" b="1" dirty="0" err="1">
                <a:solidFill>
                  <a:srgbClr val="FFFFFF"/>
                </a:solidFill>
                <a:latin typeface="맑은 고딕"/>
                <a:ea typeface="맑은 고딕"/>
              </a:rPr>
              <a:t>실행</a:t>
            </a:r>
            <a:r>
              <a:rPr sz="900" b="1" dirty="0">
                <a:solidFill>
                  <a:srgbClr val="FFFFFF"/>
                </a:solidFill>
                <a:latin typeface="맑은 고딕"/>
                <a:ea typeface="맑은 고딕"/>
              </a:rPr>
              <a:t> </a:t>
            </a:r>
            <a:r>
              <a:rPr sz="900" b="1" dirty="0" err="1">
                <a:solidFill>
                  <a:srgbClr val="FFFFFF"/>
                </a:solidFill>
                <a:latin typeface="맑은 고딕"/>
                <a:ea typeface="맑은 고딕"/>
              </a:rPr>
              <a:t>위치</a:t>
            </a:r>
            <a:r>
              <a:rPr sz="900" b="1" dirty="0">
                <a:solidFill>
                  <a:srgbClr val="FFFFFF"/>
                </a:solidFill>
                <a:latin typeface="맑은 고딕"/>
                <a:ea typeface="맑은 고딕"/>
              </a:rPr>
              <a:t> </a:t>
            </a:r>
            <a:r>
              <a:rPr sz="900" b="1" dirty="0" err="1">
                <a:solidFill>
                  <a:srgbClr val="FFFFFF"/>
                </a:solidFill>
                <a:latin typeface="맑은 고딕"/>
                <a:ea typeface="맑은 고딕"/>
              </a:rPr>
              <a:t>결정</a:t>
            </a:r>
            <a:endParaRPr sz="900" b="1" dirty="0">
              <a:solidFill>
                <a:srgbClr val="FFFFFF"/>
              </a:solidFill>
              <a:latin typeface="맑은 고딕"/>
              <a:ea typeface="맑은 고딕"/>
            </a:endParaRPr>
          </a:p>
        </p:txBody>
      </p:sp>
      <p:sp>
        <p:nvSpPr>
          <p:cNvPr id="9061" name="Rectangle 9060"/>
          <p:cNvSpPr/>
          <p:nvPr/>
        </p:nvSpPr>
        <p:spPr>
          <a:xfrm>
            <a:off x="6647688" y="3017520"/>
            <a:ext cx="1371600" cy="457200"/>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dirty="0">
                <a:solidFill>
                  <a:srgbClr val="000000"/>
                </a:solidFill>
                <a:latin typeface="맑은 고딕"/>
                <a:ea typeface="맑은 고딕"/>
              </a:rPr>
              <a:t>KV State Monitor</a:t>
            </a:r>
          </a:p>
          <a:p>
            <a:pPr algn="ctr"/>
            <a:r>
              <a:rPr sz="650" b="0" dirty="0">
                <a:solidFill>
                  <a:srgbClr val="404040"/>
                </a:solidFill>
                <a:latin typeface="맑은 고딕"/>
                <a:ea typeface="맑은 고딕"/>
              </a:rPr>
              <a:t>KV </a:t>
            </a:r>
            <a:r>
              <a:rPr sz="650" b="0" dirty="0" err="1">
                <a:solidFill>
                  <a:srgbClr val="404040"/>
                </a:solidFill>
                <a:latin typeface="맑은 고딕"/>
                <a:ea typeface="맑은 고딕"/>
              </a:rPr>
              <a:t>위치</a:t>
            </a:r>
            <a:r>
              <a:rPr sz="650" b="0" dirty="0">
                <a:solidFill>
                  <a:srgbClr val="404040"/>
                </a:solidFill>
                <a:latin typeface="맑은 고딕"/>
                <a:ea typeface="맑은 고딕"/>
              </a:rPr>
              <a:t> · Tier · </a:t>
            </a:r>
            <a:r>
              <a:rPr sz="650" b="0" dirty="0" err="1">
                <a:solidFill>
                  <a:srgbClr val="404040"/>
                </a:solidFill>
                <a:latin typeface="맑은 고딕"/>
                <a:ea typeface="맑은 고딕"/>
              </a:rPr>
              <a:t>크기</a:t>
            </a:r>
            <a:endParaRPr sz="650" b="0" dirty="0">
              <a:solidFill>
                <a:srgbClr val="404040"/>
              </a:solidFill>
              <a:latin typeface="맑은 고딕"/>
              <a:ea typeface="맑은 고딕"/>
            </a:endParaRPr>
          </a:p>
        </p:txBody>
      </p:sp>
      <p:sp>
        <p:nvSpPr>
          <p:cNvPr id="9062" name="Rectangle 9061"/>
          <p:cNvSpPr/>
          <p:nvPr/>
        </p:nvSpPr>
        <p:spPr>
          <a:xfrm>
            <a:off x="6647688" y="3547872"/>
            <a:ext cx="1371600" cy="457200"/>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dirty="0">
                <a:solidFill>
                  <a:srgbClr val="000000"/>
                </a:solidFill>
                <a:latin typeface="맑은 고딕"/>
                <a:ea typeface="맑은 고딕"/>
              </a:rPr>
              <a:t>Resource State Monitor</a:t>
            </a:r>
          </a:p>
          <a:p>
            <a:pPr algn="ctr"/>
            <a:r>
              <a:rPr sz="650" b="0" dirty="0" err="1">
                <a:solidFill>
                  <a:srgbClr val="404040"/>
                </a:solidFill>
                <a:latin typeface="맑은 고딕"/>
                <a:ea typeface="맑은 고딕"/>
              </a:rPr>
              <a:t>노드</a:t>
            </a:r>
            <a:r>
              <a:rPr sz="650" b="0" dirty="0">
                <a:solidFill>
                  <a:srgbClr val="404040"/>
                </a:solidFill>
                <a:latin typeface="맑은 고딕"/>
                <a:ea typeface="맑은 고딕"/>
              </a:rPr>
              <a:t> </a:t>
            </a:r>
            <a:r>
              <a:rPr sz="650" b="0" dirty="0" err="1">
                <a:solidFill>
                  <a:srgbClr val="404040"/>
                </a:solidFill>
                <a:latin typeface="맑은 고딕"/>
                <a:ea typeface="맑은 고딕"/>
              </a:rPr>
              <a:t>부하</a:t>
            </a:r>
            <a:r>
              <a:rPr sz="650" b="0" dirty="0">
                <a:solidFill>
                  <a:srgbClr val="404040"/>
                </a:solidFill>
                <a:latin typeface="맑은 고딕"/>
                <a:ea typeface="맑은 고딕"/>
              </a:rPr>
              <a:t> · Queue · </a:t>
            </a:r>
            <a:r>
              <a:rPr sz="650" b="0" dirty="0" err="1">
                <a:solidFill>
                  <a:srgbClr val="404040"/>
                </a:solidFill>
                <a:latin typeface="맑은 고딕"/>
                <a:ea typeface="맑은 고딕"/>
              </a:rPr>
              <a:t>간섭</a:t>
            </a:r>
            <a:endParaRPr sz="650" b="0" dirty="0">
              <a:solidFill>
                <a:srgbClr val="404040"/>
              </a:solidFill>
              <a:latin typeface="맑은 고딕"/>
              <a:ea typeface="맑은 고딕"/>
            </a:endParaRPr>
          </a:p>
        </p:txBody>
      </p:sp>
      <p:cxnSp>
        <p:nvCxnSpPr>
          <p:cNvPr id="9063" name="Connector 9062"/>
          <p:cNvCxnSpPr/>
          <p:nvPr/>
        </p:nvCxnSpPr>
        <p:spPr>
          <a:xfrm>
            <a:off x="8019288" y="3246120"/>
            <a:ext cx="164591" cy="155448"/>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4" name="Connector 9063"/>
          <p:cNvCxnSpPr/>
          <p:nvPr/>
        </p:nvCxnSpPr>
        <p:spPr>
          <a:xfrm flipV="1">
            <a:off x="8019288" y="3639312"/>
            <a:ext cx="164591" cy="13716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5" name="Rectangle 9064"/>
          <p:cNvSpPr/>
          <p:nvPr/>
        </p:nvSpPr>
        <p:spPr>
          <a:xfrm>
            <a:off x="8183879" y="3017520"/>
            <a:ext cx="1965960" cy="987552"/>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1000" b="1" dirty="0">
                <a:solidFill>
                  <a:srgbClr val="000000"/>
                </a:solidFill>
                <a:latin typeface="맑은 고딕"/>
                <a:ea typeface="맑은 고딕"/>
              </a:rPr>
              <a:t>Cost Evaluator</a:t>
            </a:r>
            <a:endParaRPr lang="ko-KR" altLang="en-US" sz="1000" b="1" dirty="0">
              <a:solidFill>
                <a:srgbClr val="000000"/>
              </a:solidFill>
              <a:latin typeface="맑은 고딕"/>
              <a:ea typeface="맑은 고딕"/>
            </a:endParaRPr>
          </a:p>
          <a:p>
            <a:pPr algn="ctr"/>
            <a:r>
              <a:rPr lang="ko-KR" altLang="en-US" sz="650" b="0" dirty="0">
                <a:solidFill>
                  <a:srgbClr val="000000"/>
                </a:solidFill>
                <a:latin typeface="맑은 고딕"/>
                <a:ea typeface="맑은 고딕"/>
              </a:rPr>
              <a:t>후보 </a:t>
            </a:r>
            <a:r>
              <a:rPr lang="en-US" sz="650" b="0" dirty="0">
                <a:solidFill>
                  <a:srgbClr val="000000"/>
                </a:solidFill>
                <a:latin typeface="맑은 고딕"/>
                <a:ea typeface="맑은 고딕"/>
              </a:rPr>
              <a:t>n ∈ {P, D, …} </a:t>
            </a:r>
            <a:r>
              <a:rPr lang="ko-KR" altLang="en-US" sz="650" b="0" dirty="0">
                <a:solidFill>
                  <a:srgbClr val="000000"/>
                </a:solidFill>
                <a:latin typeface="맑은 고딕"/>
                <a:ea typeface="맑은 고딕"/>
              </a:rPr>
              <a:t>별</a:t>
            </a:r>
          </a:p>
          <a:p>
            <a:pPr algn="ctr"/>
            <a:r>
              <a:rPr lang="en-US" sz="650" b="0" dirty="0">
                <a:solidFill>
                  <a:srgbClr val="000000"/>
                </a:solidFill>
                <a:latin typeface="맑은 고딕"/>
                <a:ea typeface="맑은 고딕"/>
              </a:rPr>
              <a:t>Cost(n) = </a:t>
            </a:r>
            <a:r>
              <a:rPr lang="en-US" sz="650" b="0" dirty="0" err="1">
                <a:solidFill>
                  <a:srgbClr val="000000"/>
                </a:solidFill>
                <a:latin typeface="맑은 고딕"/>
                <a:ea typeface="맑은 고딕"/>
              </a:rPr>
              <a:t>T</a:t>
            </a:r>
            <a:r>
              <a:rPr lang="en-US" sz="550" b="0" dirty="0" err="1">
                <a:solidFill>
                  <a:srgbClr val="000000"/>
                </a:solidFill>
                <a:latin typeface="맑은 고딕"/>
                <a:ea typeface="맑은 고딕"/>
              </a:rPr>
              <a:t>move</a:t>
            </a:r>
            <a:r>
              <a:rPr lang="en-US" sz="650" b="0" dirty="0">
                <a:solidFill>
                  <a:srgbClr val="000000"/>
                </a:solidFill>
                <a:latin typeface="맑은 고딕"/>
                <a:ea typeface="맑은 고딕"/>
              </a:rPr>
              <a:t>(KV </a:t>
            </a:r>
            <a:r>
              <a:rPr lang="en-US" sz="650" b="0" dirty="0" err="1">
                <a:solidFill>
                  <a:srgbClr val="000000"/>
                </a:solidFill>
                <a:latin typeface="맑은 고딕"/>
                <a:ea typeface="맑은 고딕"/>
              </a:rPr>
              <a:t>Tier→n</a:t>
            </a:r>
            <a:r>
              <a:rPr lang="en-US" sz="650" b="0" dirty="0">
                <a:solidFill>
                  <a:srgbClr val="000000"/>
                </a:solidFill>
                <a:latin typeface="맑은 고딕"/>
                <a:ea typeface="맑은 고딕"/>
              </a:rPr>
              <a:t>)</a:t>
            </a:r>
          </a:p>
          <a:p>
            <a:pPr algn="ctr"/>
            <a:r>
              <a:rPr lang="en-US" sz="650" b="0" dirty="0">
                <a:solidFill>
                  <a:srgbClr val="000000"/>
                </a:solidFill>
                <a:latin typeface="맑은 고딕"/>
                <a:ea typeface="맑은 고딕"/>
              </a:rPr>
              <a:t>+ </a:t>
            </a:r>
            <a:r>
              <a:rPr lang="en-US" sz="650" b="0" dirty="0" err="1">
                <a:solidFill>
                  <a:srgbClr val="000000"/>
                </a:solidFill>
                <a:latin typeface="맑은 고딕"/>
                <a:ea typeface="맑은 고딕"/>
              </a:rPr>
              <a:t>T</a:t>
            </a:r>
            <a:r>
              <a:rPr lang="en-US" sz="550" b="0" dirty="0" err="1">
                <a:solidFill>
                  <a:srgbClr val="000000"/>
                </a:solidFill>
                <a:latin typeface="맑은 고딕"/>
                <a:ea typeface="맑은 고딕"/>
              </a:rPr>
              <a:t>prefill</a:t>
            </a:r>
            <a:r>
              <a:rPr lang="en-US" sz="650" b="0" dirty="0">
                <a:solidFill>
                  <a:srgbClr val="000000"/>
                </a:solidFill>
                <a:latin typeface="맑은 고딕"/>
                <a:ea typeface="맑은 고딕"/>
              </a:rPr>
              <a:t>(n) + </a:t>
            </a:r>
            <a:r>
              <a:rPr lang="en-US" sz="650" b="0" dirty="0" err="1">
                <a:solidFill>
                  <a:srgbClr val="000000"/>
                </a:solidFill>
                <a:latin typeface="맑은 고딕"/>
                <a:ea typeface="맑은 고딕"/>
              </a:rPr>
              <a:t>T</a:t>
            </a:r>
            <a:r>
              <a:rPr lang="en-US" sz="550" b="0" dirty="0" err="1">
                <a:solidFill>
                  <a:srgbClr val="000000"/>
                </a:solidFill>
                <a:latin typeface="맑은 고딕"/>
                <a:ea typeface="맑은 고딕"/>
              </a:rPr>
              <a:t>queue</a:t>
            </a:r>
            <a:r>
              <a:rPr lang="en-US" sz="550" b="0" dirty="0">
                <a:solidFill>
                  <a:srgbClr val="000000"/>
                </a:solidFill>
                <a:latin typeface="맑은 고딕"/>
                <a:ea typeface="맑은 고딕"/>
              </a:rPr>
              <a:t>/</a:t>
            </a:r>
            <a:r>
              <a:rPr lang="ko-KR" altLang="en-US" sz="550" b="0" dirty="0">
                <a:solidFill>
                  <a:srgbClr val="000000"/>
                </a:solidFill>
                <a:latin typeface="맑은 고딕"/>
                <a:ea typeface="맑은 고딕"/>
              </a:rPr>
              <a:t>간섭</a:t>
            </a:r>
            <a:r>
              <a:rPr lang="en-US" altLang="ko-KR" sz="650" b="0" dirty="0">
                <a:solidFill>
                  <a:srgbClr val="000000"/>
                </a:solidFill>
                <a:latin typeface="맑은 고딕"/>
                <a:ea typeface="맑은 고딕"/>
              </a:rPr>
              <a:t>(</a:t>
            </a:r>
            <a:r>
              <a:rPr lang="en-US" sz="650" b="0" dirty="0">
                <a:solidFill>
                  <a:srgbClr val="000000"/>
                </a:solidFill>
                <a:latin typeface="맑은 고딕"/>
                <a:ea typeface="맑은 고딕"/>
              </a:rPr>
              <a:t>n)</a:t>
            </a:r>
          </a:p>
          <a:p>
            <a:pPr algn="ctr"/>
            <a:r>
              <a:rPr lang="en-US" sz="650" b="1" dirty="0">
                <a:solidFill>
                  <a:srgbClr val="2E75B6"/>
                </a:solidFill>
                <a:latin typeface="맑은 고딕"/>
                <a:ea typeface="맑은 고딕"/>
              </a:rPr>
              <a:t>→ </a:t>
            </a:r>
            <a:r>
              <a:rPr lang="en-US" sz="650" b="1" dirty="0" err="1">
                <a:solidFill>
                  <a:srgbClr val="2E75B6"/>
                </a:solidFill>
                <a:latin typeface="맑은 고딕"/>
                <a:ea typeface="맑은 고딕"/>
              </a:rPr>
              <a:t>argmin</a:t>
            </a:r>
            <a:r>
              <a:rPr lang="en-US" sz="650" b="1" dirty="0">
                <a:solidFill>
                  <a:srgbClr val="2E75B6"/>
                </a:solidFill>
                <a:latin typeface="맑은 고딕"/>
                <a:ea typeface="맑은 고딕"/>
              </a:rPr>
              <a:t> Cost </a:t>
            </a:r>
            <a:r>
              <a:rPr lang="ko-KR" altLang="en-US" sz="650" b="1" dirty="0">
                <a:solidFill>
                  <a:srgbClr val="2E75B6"/>
                </a:solidFill>
                <a:latin typeface="맑은 고딕"/>
                <a:ea typeface="맑은 고딕"/>
              </a:rPr>
              <a:t>노드 선택</a:t>
            </a:r>
          </a:p>
        </p:txBody>
      </p:sp>
      <p:sp>
        <p:nvSpPr>
          <p:cNvPr id="9066" name="Rectangle 9065"/>
          <p:cNvSpPr/>
          <p:nvPr/>
        </p:nvSpPr>
        <p:spPr>
          <a:xfrm>
            <a:off x="10287000" y="3017520"/>
            <a:ext cx="1188720" cy="987552"/>
          </a:xfrm>
          <a:prstGeom prst="rect">
            <a:avLst/>
          </a:prstGeom>
          <a:solidFill>
            <a:srgbClr val="FFFFFF"/>
          </a:solidFill>
          <a:ln w="9525">
            <a:solidFill>
              <a:srgbClr val="548235"/>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dirty="0">
                <a:solidFill>
                  <a:srgbClr val="548235"/>
                </a:solidFill>
                <a:latin typeface="맑은 고딕"/>
                <a:ea typeface="맑은 고딕"/>
              </a:rPr>
              <a:t>Pluggable</a:t>
            </a:r>
          </a:p>
          <a:p>
            <a:pPr algn="ctr"/>
            <a:r>
              <a:rPr sz="900" b="1" dirty="0">
                <a:solidFill>
                  <a:srgbClr val="548235"/>
                </a:solidFill>
                <a:latin typeface="맑은 고딕"/>
                <a:ea typeface="맑은 고딕"/>
              </a:rPr>
              <a:t>Cost Model /</a:t>
            </a:r>
          </a:p>
          <a:p>
            <a:pPr algn="ctr"/>
            <a:r>
              <a:rPr sz="900" b="1" dirty="0">
                <a:solidFill>
                  <a:srgbClr val="548235"/>
                </a:solidFill>
                <a:latin typeface="맑은 고딕"/>
                <a:ea typeface="맑은 고딕"/>
              </a:rPr>
              <a:t>Memory Tier I/F</a:t>
            </a:r>
          </a:p>
          <a:p>
            <a:pPr algn="ctr"/>
            <a:r>
              <a:rPr lang="ko-KR" altLang="en-US" sz="620" b="0" dirty="0">
                <a:solidFill>
                  <a:srgbClr val="548235"/>
                </a:solidFill>
                <a:latin typeface="맑은 고딕"/>
                <a:ea typeface="맑은 고딕"/>
              </a:rPr>
              <a:t>신규 메모리</a:t>
            </a:r>
            <a:r>
              <a:rPr lang="en-US" altLang="ko-KR" sz="620" b="0" dirty="0">
                <a:solidFill>
                  <a:srgbClr val="548235"/>
                </a:solidFill>
                <a:latin typeface="맑은 고딕"/>
                <a:ea typeface="맑은 고딕"/>
              </a:rPr>
              <a:t>·Cost</a:t>
            </a:r>
            <a:r>
              <a:rPr lang="ko-KR" altLang="en-US" sz="620" b="0" dirty="0">
                <a:solidFill>
                  <a:srgbClr val="548235"/>
                </a:solidFill>
                <a:latin typeface="맑은 고딕"/>
                <a:ea typeface="맑은 고딕"/>
              </a:rPr>
              <a:t> 모델</a:t>
            </a:r>
          </a:p>
          <a:p>
            <a:pPr algn="ctr"/>
            <a:r>
              <a:rPr lang="ko-KR" altLang="en-US" sz="620" b="0" dirty="0">
                <a:solidFill>
                  <a:srgbClr val="548235"/>
                </a:solidFill>
                <a:latin typeface="맑은 고딕"/>
                <a:ea typeface="맑은 고딕"/>
              </a:rPr>
              <a:t>확장 시 구조 변경 최소화</a:t>
            </a:r>
          </a:p>
        </p:txBody>
      </p:sp>
      <p:cxnSp>
        <p:nvCxnSpPr>
          <p:cNvPr id="9067" name="Connector 9066"/>
          <p:cNvCxnSpPr/>
          <p:nvPr/>
        </p:nvCxnSpPr>
        <p:spPr>
          <a:xfrm flipH="1">
            <a:off x="10149840" y="3511296"/>
            <a:ext cx="137160" cy="0"/>
          </a:xfrm>
          <a:prstGeom prst="line">
            <a:avLst/>
          </a:prstGeom>
          <a:ln w="12700">
            <a:solidFill>
              <a:srgbClr val="54823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68" name="Rectangle 9067"/>
          <p:cNvSpPr/>
          <p:nvPr/>
        </p:nvSpPr>
        <p:spPr>
          <a:xfrm>
            <a:off x="6812280" y="2377440"/>
            <a:ext cx="9144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595959"/>
                </a:solidFill>
                <a:latin typeface="맑은 고딕"/>
                <a:ea typeface="맑은 고딕"/>
              </a:rPr>
              <a:t>워크로드 정보</a:t>
            </a:r>
          </a:p>
        </p:txBody>
      </p:sp>
      <p:cxnSp>
        <p:nvCxnSpPr>
          <p:cNvPr id="9069" name="Connector 9068"/>
          <p:cNvCxnSpPr/>
          <p:nvPr/>
        </p:nvCxnSpPr>
        <p:spPr>
          <a:xfrm flipH="1">
            <a:off x="7790688" y="2496312"/>
            <a:ext cx="237743"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9070" name="Connector 9069"/>
          <p:cNvCxnSpPr/>
          <p:nvPr/>
        </p:nvCxnSpPr>
        <p:spPr>
          <a:xfrm>
            <a:off x="7790688" y="2496312"/>
            <a:ext cx="0" cy="24688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9071" name="Connector 9070"/>
          <p:cNvCxnSpPr/>
          <p:nvPr/>
        </p:nvCxnSpPr>
        <p:spPr>
          <a:xfrm>
            <a:off x="8942832" y="4087368"/>
            <a:ext cx="0" cy="73152"/>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2" name="Rectangle 9071"/>
          <p:cNvSpPr/>
          <p:nvPr/>
        </p:nvSpPr>
        <p:spPr>
          <a:xfrm>
            <a:off x="8028431" y="4160520"/>
            <a:ext cx="1828800" cy="237744"/>
          </a:xfrm>
          <a:prstGeom prst="rect">
            <a:avLst/>
          </a:prstGeom>
          <a:solidFill>
            <a:srgbClr val="F0F1F3"/>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000000"/>
                </a:solidFill>
                <a:latin typeface="맑은 고딕"/>
                <a:ea typeface="맑은 고딕"/>
              </a:rPr>
              <a:t>Execution Router</a:t>
            </a:r>
          </a:p>
        </p:txBody>
      </p:sp>
      <p:sp>
        <p:nvSpPr>
          <p:cNvPr id="9073" name="Rectangle 9072"/>
          <p:cNvSpPr/>
          <p:nvPr/>
        </p:nvSpPr>
        <p:spPr>
          <a:xfrm>
            <a:off x="6675120" y="4572000"/>
            <a:ext cx="1508760" cy="475488"/>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74" name="Rectangle 9073"/>
          <p:cNvSpPr/>
          <p:nvPr/>
        </p:nvSpPr>
        <p:spPr>
          <a:xfrm>
            <a:off x="6675120" y="4590288"/>
            <a:ext cx="1508760"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750" b="1" dirty="0">
                <a:solidFill>
                  <a:srgbClr val="2E75B6"/>
                </a:solidFill>
                <a:latin typeface="맑은 고딕"/>
                <a:ea typeface="맑은 고딕"/>
              </a:rPr>
              <a:t>Prefill</a:t>
            </a:r>
            <a:r>
              <a:rPr lang="en-US" sz="750" b="1" dirty="0">
                <a:solidFill>
                  <a:srgbClr val="2E75B6"/>
                </a:solidFill>
                <a:latin typeface="맑은 고딕"/>
                <a:ea typeface="맑은 고딕"/>
              </a:rPr>
              <a:t>-centric </a:t>
            </a:r>
            <a:r>
              <a:rPr sz="750" b="1" dirty="0">
                <a:solidFill>
                  <a:srgbClr val="2E75B6"/>
                </a:solidFill>
                <a:latin typeface="맑은 고딕"/>
                <a:ea typeface="맑은 고딕"/>
              </a:rPr>
              <a:t>Node</a:t>
            </a:r>
          </a:p>
        </p:txBody>
      </p:sp>
      <p:sp>
        <p:nvSpPr>
          <p:cNvPr id="9075" name="Rectangle 9074"/>
          <p:cNvSpPr/>
          <p:nvPr/>
        </p:nvSpPr>
        <p:spPr>
          <a:xfrm>
            <a:off x="6766559" y="4791456"/>
            <a:ext cx="1325880" cy="201168"/>
          </a:xfrm>
          <a:prstGeom prst="rect">
            <a:avLst/>
          </a:prstGeom>
          <a:solidFill>
            <a:srgbClr val="FFFFFF"/>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000000"/>
                </a:solidFill>
                <a:latin typeface="맑은 고딕"/>
                <a:ea typeface="맑은 고딕"/>
              </a:rPr>
              <a:t>HBM / DRAM</a:t>
            </a:r>
          </a:p>
        </p:txBody>
      </p:sp>
      <p:sp>
        <p:nvSpPr>
          <p:cNvPr id="9076" name="Rectangle 9075"/>
          <p:cNvSpPr/>
          <p:nvPr/>
        </p:nvSpPr>
        <p:spPr>
          <a:xfrm>
            <a:off x="8458200" y="4572000"/>
            <a:ext cx="1508760" cy="475488"/>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77" name="Rectangle 9076"/>
          <p:cNvSpPr/>
          <p:nvPr/>
        </p:nvSpPr>
        <p:spPr>
          <a:xfrm>
            <a:off x="8458200" y="4590288"/>
            <a:ext cx="1508760"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750" b="1" dirty="0">
                <a:solidFill>
                  <a:srgbClr val="C55A11"/>
                </a:solidFill>
                <a:latin typeface="맑은 고딕"/>
                <a:ea typeface="맑은 고딕"/>
              </a:rPr>
              <a:t>Decode</a:t>
            </a:r>
            <a:r>
              <a:rPr lang="en-US" sz="750" b="1" dirty="0">
                <a:solidFill>
                  <a:srgbClr val="C55A11"/>
                </a:solidFill>
                <a:latin typeface="맑은 고딕"/>
                <a:ea typeface="맑은 고딕"/>
              </a:rPr>
              <a:t>-centric</a:t>
            </a:r>
            <a:r>
              <a:rPr sz="750" b="1" dirty="0">
                <a:solidFill>
                  <a:srgbClr val="C55A11"/>
                </a:solidFill>
                <a:latin typeface="맑은 고딕"/>
                <a:ea typeface="맑은 고딕"/>
              </a:rPr>
              <a:t> Node</a:t>
            </a:r>
          </a:p>
        </p:txBody>
      </p:sp>
      <p:sp>
        <p:nvSpPr>
          <p:cNvPr id="9078" name="Rectangle 9077"/>
          <p:cNvSpPr/>
          <p:nvPr/>
        </p:nvSpPr>
        <p:spPr>
          <a:xfrm>
            <a:off x="8549640" y="4791456"/>
            <a:ext cx="1325880" cy="201168"/>
          </a:xfrm>
          <a:prstGeom prst="rect">
            <a:avLst/>
          </a:prstGeom>
          <a:solidFill>
            <a:srgbClr val="FFFFFF"/>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000000"/>
                </a:solidFill>
                <a:latin typeface="맑은 고딕"/>
                <a:ea typeface="맑은 고딕"/>
              </a:rPr>
              <a:t>HBM / DRAM</a:t>
            </a:r>
          </a:p>
        </p:txBody>
      </p:sp>
      <p:sp>
        <p:nvSpPr>
          <p:cNvPr id="9079" name="Rectangle 9078"/>
          <p:cNvSpPr/>
          <p:nvPr/>
        </p:nvSpPr>
        <p:spPr>
          <a:xfrm>
            <a:off x="10241280" y="4572000"/>
            <a:ext cx="1280160" cy="475488"/>
          </a:xfrm>
          <a:prstGeom prst="rect">
            <a:avLst/>
          </a:prstGeom>
          <a:solidFill>
            <a:srgbClr val="E2F0D9"/>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80" name="Rectangle 9079"/>
          <p:cNvSpPr/>
          <p:nvPr/>
        </p:nvSpPr>
        <p:spPr>
          <a:xfrm>
            <a:off x="10241280" y="4590288"/>
            <a:ext cx="1280160"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750" b="1">
                <a:solidFill>
                  <a:srgbClr val="548235"/>
                </a:solidFill>
                <a:latin typeface="맑은 고딕"/>
                <a:ea typeface="맑은 고딕"/>
              </a:rPr>
              <a:t>Memory Pool</a:t>
            </a:r>
          </a:p>
        </p:txBody>
      </p:sp>
      <p:sp>
        <p:nvSpPr>
          <p:cNvPr id="9081" name="Rectangle 9080"/>
          <p:cNvSpPr/>
          <p:nvPr/>
        </p:nvSpPr>
        <p:spPr>
          <a:xfrm>
            <a:off x="10332719" y="4791456"/>
            <a:ext cx="1097280" cy="201168"/>
          </a:xfrm>
          <a:prstGeom prst="rect">
            <a:avLst/>
          </a:prstGeom>
          <a:solidFill>
            <a:srgbClr val="FFFFFF"/>
          </a:solidFill>
          <a:ln w="6350">
            <a:solidFill>
              <a:srgbClr val="548235"/>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000000"/>
                </a:solidFill>
                <a:latin typeface="맑은 고딕"/>
                <a:ea typeface="맑은 고딕"/>
              </a:rPr>
              <a:t>CXL · SSD</a:t>
            </a:r>
          </a:p>
        </p:txBody>
      </p:sp>
      <p:cxnSp>
        <p:nvCxnSpPr>
          <p:cNvPr id="9082" name="Connector 9081"/>
          <p:cNvCxnSpPr>
            <a:cxnSpLocks/>
            <a:stCxn id="9072" idx="2"/>
          </p:cNvCxnSpPr>
          <p:nvPr/>
        </p:nvCxnSpPr>
        <p:spPr>
          <a:xfrm flipH="1">
            <a:off x="7424927" y="4398264"/>
            <a:ext cx="1517904" cy="173736"/>
          </a:xfrm>
          <a:prstGeom prst="line">
            <a:avLst/>
          </a:prstGeom>
          <a:ln w="15875">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83" name="Connector 9082"/>
          <p:cNvCxnSpPr>
            <a:cxnSpLocks/>
            <a:stCxn id="9072" idx="2"/>
          </p:cNvCxnSpPr>
          <p:nvPr/>
        </p:nvCxnSpPr>
        <p:spPr>
          <a:xfrm>
            <a:off x="8942831" y="4398264"/>
            <a:ext cx="274321" cy="173736"/>
          </a:xfrm>
          <a:prstGeom prst="line">
            <a:avLst/>
          </a:prstGeom>
          <a:ln w="15875">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86" name="Connector 9085"/>
          <p:cNvCxnSpPr/>
          <p:nvPr/>
        </p:nvCxnSpPr>
        <p:spPr>
          <a:xfrm>
            <a:off x="8183879" y="4809744"/>
            <a:ext cx="274321" cy="0"/>
          </a:xfrm>
          <a:prstGeom prst="line">
            <a:avLst/>
          </a:prstGeom>
          <a:ln w="12700">
            <a:solidFill>
              <a:srgbClr val="7F7F7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087" name="Connector 9086"/>
          <p:cNvCxnSpPr/>
          <p:nvPr/>
        </p:nvCxnSpPr>
        <p:spPr>
          <a:xfrm>
            <a:off x="9966960" y="4809744"/>
            <a:ext cx="274320" cy="0"/>
          </a:xfrm>
          <a:prstGeom prst="line">
            <a:avLst/>
          </a:prstGeom>
          <a:ln w="12700">
            <a:solidFill>
              <a:srgbClr val="7F7F7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088" name="Connector 9087"/>
          <p:cNvCxnSpPr/>
          <p:nvPr/>
        </p:nvCxnSpPr>
        <p:spPr>
          <a:xfrm flipH="1">
            <a:off x="6400800" y="4937760"/>
            <a:ext cx="274320" cy="0"/>
          </a:xfrm>
          <a:prstGeom prst="line">
            <a:avLst/>
          </a:prstGeom>
          <a:ln w="12700">
            <a:solidFill>
              <a:srgbClr val="7F7F7F"/>
            </a:solidFill>
            <a:prstDash val="dash"/>
          </a:ln>
        </p:spPr>
        <p:style>
          <a:lnRef idx="2">
            <a:schemeClr val="accent1"/>
          </a:lnRef>
          <a:fillRef idx="0">
            <a:schemeClr val="accent1"/>
          </a:fillRef>
          <a:effectRef idx="1">
            <a:schemeClr val="accent1"/>
          </a:effectRef>
          <a:fontRef idx="minor">
            <a:schemeClr val="tx1"/>
          </a:fontRef>
        </p:style>
      </p:cxnSp>
      <p:cxnSp>
        <p:nvCxnSpPr>
          <p:cNvPr id="9089" name="Connector 9088"/>
          <p:cNvCxnSpPr/>
          <p:nvPr/>
        </p:nvCxnSpPr>
        <p:spPr>
          <a:xfrm flipV="1">
            <a:off x="6400800" y="3246120"/>
            <a:ext cx="0" cy="1691640"/>
          </a:xfrm>
          <a:prstGeom prst="line">
            <a:avLst/>
          </a:prstGeom>
          <a:ln w="12700">
            <a:solidFill>
              <a:srgbClr val="7F7F7F"/>
            </a:solidFill>
            <a:prstDash val="dash"/>
          </a:ln>
        </p:spPr>
        <p:style>
          <a:lnRef idx="2">
            <a:schemeClr val="accent1"/>
          </a:lnRef>
          <a:fillRef idx="0">
            <a:schemeClr val="accent1"/>
          </a:fillRef>
          <a:effectRef idx="1">
            <a:schemeClr val="accent1"/>
          </a:effectRef>
          <a:fontRef idx="minor">
            <a:schemeClr val="tx1"/>
          </a:fontRef>
        </p:style>
      </p:cxnSp>
      <p:cxnSp>
        <p:nvCxnSpPr>
          <p:cNvPr id="9090" name="Connector 9089"/>
          <p:cNvCxnSpPr/>
          <p:nvPr/>
        </p:nvCxnSpPr>
        <p:spPr>
          <a:xfrm>
            <a:off x="6400800" y="3246120"/>
            <a:ext cx="246888" cy="0"/>
          </a:xfrm>
          <a:prstGeom prst="line">
            <a:avLst/>
          </a:prstGeom>
          <a:ln w="12700">
            <a:solidFill>
              <a:srgbClr val="7F7F7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9091" name="Connector 9090"/>
          <p:cNvCxnSpPr/>
          <p:nvPr/>
        </p:nvCxnSpPr>
        <p:spPr>
          <a:xfrm>
            <a:off x="6400800" y="3776472"/>
            <a:ext cx="246888" cy="0"/>
          </a:xfrm>
          <a:prstGeom prst="line">
            <a:avLst/>
          </a:prstGeom>
          <a:ln w="12700">
            <a:solidFill>
              <a:srgbClr val="7F7F7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92" name="Rectangle 9091"/>
          <p:cNvSpPr/>
          <p:nvPr/>
        </p:nvSpPr>
        <p:spPr>
          <a:xfrm>
            <a:off x="6400800" y="5102352"/>
            <a:ext cx="5120640" cy="237744"/>
          </a:xfrm>
          <a:prstGeom prst="rect">
            <a:avLst/>
          </a:prstGeom>
          <a:solidFill>
            <a:srgbClr val="FFFFFF"/>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93" name="Rectangle 9092"/>
          <p:cNvSpPr/>
          <p:nvPr/>
        </p:nvSpPr>
        <p:spPr>
          <a:xfrm>
            <a:off x="6446520" y="5102352"/>
            <a:ext cx="50292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30" b="0">
                <a:solidFill>
                  <a:srgbClr val="595959"/>
                </a:solidFill>
                <a:latin typeface="맑은 고딕"/>
                <a:ea typeface="맑은 고딕"/>
              </a:rPr>
              <a:t>점선: KV 위치·노드 상태 수집 (Monitor)   </a:t>
            </a:r>
            <a:r>
              <a:rPr sz="630" b="1">
                <a:solidFill>
                  <a:srgbClr val="2E75B6"/>
                </a:solidFill>
                <a:latin typeface="맑은 고딕"/>
                <a:ea typeface="맑은 고딕"/>
              </a:rPr>
              <a:t>매 Turn 이동 비용 vs 연산/간섭 비용을 비교해 실행 위치 동적 결정</a:t>
            </a:r>
          </a:p>
        </p:txBody>
      </p:sp>
      <p:sp>
        <p:nvSpPr>
          <p:cNvPr id="106" name="Rectangle 9049">
            <a:extLst>
              <a:ext uri="{FF2B5EF4-FFF2-40B4-BE49-F238E27FC236}">
                <a16:creationId xmlns:a16="http://schemas.microsoft.com/office/drawing/2014/main" id="{24AB32EA-46C2-4BE3-AE82-9502480B74DB}"/>
              </a:ext>
            </a:extLst>
          </p:cNvPr>
          <p:cNvSpPr/>
          <p:nvPr/>
        </p:nvSpPr>
        <p:spPr>
          <a:xfrm>
            <a:off x="1170432" y="2827715"/>
            <a:ext cx="412397"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en-US" sz="650" dirty="0">
                <a:solidFill>
                  <a:srgbClr val="FF0000"/>
                </a:solidFill>
                <a:latin typeface="맑은 고딕"/>
                <a:ea typeface="맑은 고딕"/>
              </a:rPr>
              <a:t>Prefill</a:t>
            </a:r>
            <a:endParaRPr sz="650" b="0" dirty="0">
              <a:solidFill>
                <a:srgbClr val="FF0000"/>
              </a:solidFill>
              <a:latin typeface="맑은 고딕"/>
              <a:ea typeface="맑은 고딕"/>
            </a:endParaRPr>
          </a:p>
        </p:txBody>
      </p:sp>
      <p:sp>
        <p:nvSpPr>
          <p:cNvPr id="107" name="Rectangle 9049">
            <a:extLst>
              <a:ext uri="{FF2B5EF4-FFF2-40B4-BE49-F238E27FC236}">
                <a16:creationId xmlns:a16="http://schemas.microsoft.com/office/drawing/2014/main" id="{6490E1FA-A347-415B-A5EF-AE633B6E48A6}"/>
              </a:ext>
            </a:extLst>
          </p:cNvPr>
          <p:cNvSpPr/>
          <p:nvPr/>
        </p:nvSpPr>
        <p:spPr>
          <a:xfrm>
            <a:off x="3945177" y="2827715"/>
            <a:ext cx="412397"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en-US" sz="650" dirty="0">
                <a:solidFill>
                  <a:srgbClr val="FF0000"/>
                </a:solidFill>
                <a:latin typeface="맑은 고딕"/>
                <a:ea typeface="맑은 고딕"/>
              </a:rPr>
              <a:t>Decode</a:t>
            </a:r>
            <a:endParaRPr sz="650" b="0" dirty="0">
              <a:solidFill>
                <a:srgbClr val="FF0000"/>
              </a:solidFill>
              <a:latin typeface="맑은 고딕"/>
              <a:ea typeface="맑은 고딕"/>
            </a:endParaRPr>
          </a:p>
        </p:txBody>
      </p:sp>
      <p:sp>
        <p:nvSpPr>
          <p:cNvPr id="108" name="Rectangle 9049">
            <a:extLst>
              <a:ext uri="{FF2B5EF4-FFF2-40B4-BE49-F238E27FC236}">
                <a16:creationId xmlns:a16="http://schemas.microsoft.com/office/drawing/2014/main" id="{984AD03E-E3D5-4FFA-9E24-34730A8C0327}"/>
              </a:ext>
            </a:extLst>
          </p:cNvPr>
          <p:cNvSpPr/>
          <p:nvPr/>
        </p:nvSpPr>
        <p:spPr>
          <a:xfrm>
            <a:off x="7260337" y="4379976"/>
            <a:ext cx="649222"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en-US" sz="650" dirty="0">
                <a:solidFill>
                  <a:srgbClr val="FF0000"/>
                </a:solidFill>
                <a:latin typeface="맑은 고딕"/>
                <a:ea typeface="맑은 고딕"/>
              </a:rPr>
              <a:t>Prefill/Decode</a:t>
            </a:r>
            <a:endParaRPr sz="650" b="0" dirty="0">
              <a:solidFill>
                <a:srgbClr val="FF0000"/>
              </a:solidFill>
              <a:latin typeface="맑은 고딕"/>
              <a:ea typeface="맑은 고딕"/>
            </a:endParaRPr>
          </a:p>
        </p:txBody>
      </p:sp>
      <p:sp>
        <p:nvSpPr>
          <p:cNvPr id="109" name="Rectangle 9049">
            <a:extLst>
              <a:ext uri="{FF2B5EF4-FFF2-40B4-BE49-F238E27FC236}">
                <a16:creationId xmlns:a16="http://schemas.microsoft.com/office/drawing/2014/main" id="{D91ECC5E-AED1-4F3E-BE6D-203AAF4EF601}"/>
              </a:ext>
            </a:extLst>
          </p:cNvPr>
          <p:cNvSpPr/>
          <p:nvPr/>
        </p:nvSpPr>
        <p:spPr>
          <a:xfrm>
            <a:off x="9303913" y="4379976"/>
            <a:ext cx="649222"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en-US" sz="650" dirty="0">
                <a:solidFill>
                  <a:srgbClr val="FF0000"/>
                </a:solidFill>
                <a:latin typeface="맑은 고딕"/>
                <a:ea typeface="맑은 고딕"/>
              </a:rPr>
              <a:t>Prefill/Decode</a:t>
            </a:r>
            <a:endParaRPr sz="650" b="0" dirty="0">
              <a:solidFill>
                <a:srgbClr val="FF0000"/>
              </a:solidFill>
              <a:latin typeface="맑은 고딕"/>
              <a:ea typeface="맑은 고딕"/>
            </a:endParaRPr>
          </a:p>
        </p:txBody>
      </p:sp>
      <p:sp>
        <p:nvSpPr>
          <p:cNvPr id="135" name="Rectangle 9036">
            <a:extLst>
              <a:ext uri="{FF2B5EF4-FFF2-40B4-BE49-F238E27FC236}">
                <a16:creationId xmlns:a16="http://schemas.microsoft.com/office/drawing/2014/main" id="{83F7E8CB-D64F-4EA7-8588-A99671ADF46B}"/>
              </a:ext>
            </a:extLst>
          </p:cNvPr>
          <p:cNvSpPr/>
          <p:nvPr/>
        </p:nvSpPr>
        <p:spPr>
          <a:xfrm>
            <a:off x="530352" y="2013010"/>
            <a:ext cx="3657600"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850" b="1" dirty="0">
                <a:solidFill>
                  <a:srgbClr val="262626"/>
                </a:solidFill>
                <a:latin typeface="맑은 고딕"/>
                <a:ea typeface="맑은 고딕"/>
              </a:rPr>
              <a:t>① </a:t>
            </a:r>
            <a:r>
              <a:rPr sz="850" b="1" dirty="0" err="1">
                <a:solidFill>
                  <a:srgbClr val="262626"/>
                </a:solidFill>
                <a:latin typeface="맑은 고딕"/>
                <a:ea typeface="맑은 고딕"/>
              </a:rPr>
              <a:t>기존</a:t>
            </a:r>
            <a:r>
              <a:rPr sz="850" b="1" dirty="0">
                <a:solidFill>
                  <a:srgbClr val="262626"/>
                </a:solidFill>
                <a:latin typeface="맑은 고딕"/>
                <a:ea typeface="맑은 고딕"/>
              </a:rPr>
              <a:t> P/D </a:t>
            </a:r>
            <a:r>
              <a:rPr sz="850" b="1" dirty="0" err="1">
                <a:solidFill>
                  <a:srgbClr val="262626"/>
                </a:solidFill>
                <a:latin typeface="맑은 고딕"/>
                <a:ea typeface="맑은 고딕"/>
              </a:rPr>
              <a:t>분리</a:t>
            </a:r>
            <a:r>
              <a:rPr sz="850" b="1" dirty="0">
                <a:solidFill>
                  <a:srgbClr val="262626"/>
                </a:solidFill>
                <a:latin typeface="맑은 고딕"/>
                <a:ea typeface="맑은 고딕"/>
              </a:rPr>
              <a:t> </a:t>
            </a:r>
            <a:r>
              <a:rPr sz="850" b="1" dirty="0" err="1">
                <a:solidFill>
                  <a:srgbClr val="262626"/>
                </a:solidFill>
                <a:latin typeface="맑은 고딕"/>
                <a:ea typeface="맑은 고딕"/>
              </a:rPr>
              <a:t>실행</a:t>
            </a:r>
            <a:r>
              <a:rPr sz="850" b="1" dirty="0">
                <a:solidFill>
                  <a:srgbClr val="262626"/>
                </a:solidFill>
                <a:latin typeface="맑은 고딕"/>
                <a:ea typeface="맑은 고딕"/>
              </a:rPr>
              <a:t>: </a:t>
            </a:r>
            <a:r>
              <a:rPr sz="850" b="1" dirty="0" err="1">
                <a:solidFill>
                  <a:srgbClr val="262626"/>
                </a:solidFill>
                <a:latin typeface="맑은 고딕"/>
                <a:ea typeface="맑은 고딕"/>
              </a:rPr>
              <a:t>단계별</a:t>
            </a:r>
            <a:r>
              <a:rPr sz="850" b="1" dirty="0">
                <a:solidFill>
                  <a:srgbClr val="262626"/>
                </a:solidFill>
                <a:latin typeface="맑은 고딕"/>
                <a:ea typeface="맑은 고딕"/>
              </a:rPr>
              <a:t> </a:t>
            </a:r>
            <a:r>
              <a:rPr sz="850" b="1" dirty="0" err="1">
                <a:solidFill>
                  <a:srgbClr val="262626"/>
                </a:solidFill>
                <a:latin typeface="맑은 고딕"/>
                <a:ea typeface="맑은 고딕"/>
              </a:rPr>
              <a:t>전용</a:t>
            </a:r>
            <a:r>
              <a:rPr sz="850" b="1" dirty="0">
                <a:solidFill>
                  <a:srgbClr val="262626"/>
                </a:solidFill>
                <a:latin typeface="맑은 고딕"/>
                <a:ea typeface="맑은 고딕"/>
              </a:rPr>
              <a:t> </a:t>
            </a:r>
            <a:r>
              <a:rPr sz="850" b="1" dirty="0" err="1">
                <a:solidFill>
                  <a:srgbClr val="262626"/>
                </a:solidFill>
                <a:latin typeface="맑은 고딕"/>
                <a:ea typeface="맑은 고딕"/>
              </a:rPr>
              <a:t>노드</a:t>
            </a:r>
            <a:r>
              <a:rPr sz="850" b="1" dirty="0">
                <a:solidFill>
                  <a:srgbClr val="262626"/>
                </a:solidFill>
                <a:latin typeface="맑은 고딕"/>
                <a:ea typeface="맑은 고딕"/>
              </a:rPr>
              <a:t> + </a:t>
            </a:r>
            <a:r>
              <a:rPr sz="850" b="1" dirty="0" err="1">
                <a:solidFill>
                  <a:srgbClr val="262626"/>
                </a:solidFill>
                <a:latin typeface="맑은 고딕"/>
                <a:ea typeface="맑은 고딕"/>
              </a:rPr>
              <a:t>고정</a:t>
            </a:r>
            <a:r>
              <a:rPr sz="850" b="1" dirty="0">
                <a:solidFill>
                  <a:srgbClr val="262626"/>
                </a:solidFill>
                <a:latin typeface="맑은 고딕"/>
                <a:ea typeface="맑은 고딕"/>
              </a:rPr>
              <a:t> </a:t>
            </a:r>
            <a:r>
              <a:rPr sz="850" b="1" dirty="0" err="1">
                <a:solidFill>
                  <a:srgbClr val="262626"/>
                </a:solidFill>
                <a:latin typeface="맑은 고딕"/>
                <a:ea typeface="맑은 고딕"/>
              </a:rPr>
              <a:t>규칙</a:t>
            </a:r>
            <a:endParaRPr sz="850" b="1" dirty="0">
              <a:solidFill>
                <a:srgbClr val="262626"/>
              </a:solidFill>
              <a:latin typeface="맑은 고딕"/>
              <a:ea typeface="맑은 고딕"/>
            </a:endParaRPr>
          </a:p>
        </p:txBody>
      </p:sp>
      <p:sp>
        <p:nvSpPr>
          <p:cNvPr id="159" name="Rectangle 9093">
            <a:extLst>
              <a:ext uri="{FF2B5EF4-FFF2-40B4-BE49-F238E27FC236}">
                <a16:creationId xmlns:a16="http://schemas.microsoft.com/office/drawing/2014/main" id="{EDC28825-F82B-4E41-87C3-44B0E82D3575}"/>
              </a:ext>
            </a:extLst>
          </p:cNvPr>
          <p:cNvSpPr/>
          <p:nvPr/>
        </p:nvSpPr>
        <p:spPr>
          <a:xfrm>
            <a:off x="530352" y="3753626"/>
            <a:ext cx="4846320"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819" b="1" dirty="0">
                <a:solidFill>
                  <a:srgbClr val="262626"/>
                </a:solidFill>
                <a:latin typeface="맑은 고딕"/>
                <a:ea typeface="맑은 고딕"/>
              </a:rPr>
              <a:t>② </a:t>
            </a:r>
            <a:r>
              <a:rPr sz="819" b="1" dirty="0" err="1">
                <a:solidFill>
                  <a:srgbClr val="262626"/>
                </a:solidFill>
                <a:latin typeface="맑은 고딕"/>
                <a:ea typeface="맑은 고딕"/>
              </a:rPr>
              <a:t>분리의</a:t>
            </a:r>
            <a:r>
              <a:rPr sz="819" b="1" dirty="0">
                <a:solidFill>
                  <a:srgbClr val="262626"/>
                </a:solidFill>
                <a:latin typeface="맑은 고딕"/>
                <a:ea typeface="맑은 고딕"/>
              </a:rPr>
              <a:t> </a:t>
            </a:r>
            <a:r>
              <a:rPr sz="819" b="1" dirty="0" err="1">
                <a:solidFill>
                  <a:srgbClr val="262626"/>
                </a:solidFill>
                <a:latin typeface="맑은 고딕"/>
                <a:ea typeface="맑은 고딕"/>
              </a:rPr>
              <a:t>대가</a:t>
            </a:r>
            <a:r>
              <a:rPr sz="819" b="1" dirty="0">
                <a:solidFill>
                  <a:srgbClr val="262626"/>
                </a:solidFill>
                <a:latin typeface="맑은 고딕"/>
                <a:ea typeface="맑은 고딕"/>
              </a:rPr>
              <a:t>: </a:t>
            </a:r>
            <a:r>
              <a:rPr sz="819" b="1" dirty="0" err="1">
                <a:solidFill>
                  <a:srgbClr val="262626"/>
                </a:solidFill>
                <a:latin typeface="맑은 고딕"/>
                <a:ea typeface="맑은 고딕"/>
              </a:rPr>
              <a:t>Turn마다</a:t>
            </a:r>
            <a:r>
              <a:rPr sz="819" b="1" dirty="0">
                <a:solidFill>
                  <a:srgbClr val="262626"/>
                </a:solidFill>
                <a:latin typeface="맑은 고딕"/>
                <a:ea typeface="맑은 고딕"/>
              </a:rPr>
              <a:t> P↔D </a:t>
            </a:r>
            <a:r>
              <a:rPr sz="819" b="1" dirty="0" err="1">
                <a:solidFill>
                  <a:srgbClr val="262626"/>
                </a:solidFill>
                <a:latin typeface="맑은 고딕"/>
                <a:ea typeface="맑은 고딕"/>
              </a:rPr>
              <a:t>사이</a:t>
            </a:r>
            <a:r>
              <a:rPr sz="819" b="1" dirty="0">
                <a:solidFill>
                  <a:srgbClr val="262626"/>
                </a:solidFill>
                <a:latin typeface="맑은 고딕"/>
                <a:ea typeface="맑은 고딕"/>
              </a:rPr>
              <a:t> KV </a:t>
            </a:r>
            <a:r>
              <a:rPr sz="819" b="1" dirty="0" err="1">
                <a:solidFill>
                  <a:srgbClr val="262626"/>
                </a:solidFill>
                <a:latin typeface="맑은 고딕"/>
                <a:ea typeface="맑은 고딕"/>
              </a:rPr>
              <a:t>왕복</a:t>
            </a:r>
            <a:r>
              <a:rPr sz="819" b="1" dirty="0">
                <a:solidFill>
                  <a:srgbClr val="262626"/>
                </a:solidFill>
                <a:latin typeface="맑은 고딕"/>
                <a:ea typeface="맑은 고딕"/>
              </a:rPr>
              <a:t> </a:t>
            </a:r>
            <a:r>
              <a:rPr sz="819" b="1" dirty="0" err="1">
                <a:solidFill>
                  <a:srgbClr val="262626"/>
                </a:solidFill>
                <a:latin typeface="맑은 고딕"/>
                <a:ea typeface="맑은 고딕"/>
              </a:rPr>
              <a:t>전송</a:t>
            </a:r>
            <a:r>
              <a:rPr sz="819" b="1" dirty="0">
                <a:solidFill>
                  <a:srgbClr val="262626"/>
                </a:solidFill>
                <a:latin typeface="맑은 고딕"/>
                <a:ea typeface="맑은 고딕"/>
              </a:rPr>
              <a:t> → </a:t>
            </a:r>
            <a:r>
              <a:rPr sz="819" b="1" dirty="0" err="1">
                <a:solidFill>
                  <a:srgbClr val="262626"/>
                </a:solidFill>
                <a:latin typeface="맑은 고딕"/>
                <a:ea typeface="맑은 고딕"/>
              </a:rPr>
              <a:t>Turn이</a:t>
            </a:r>
            <a:r>
              <a:rPr sz="819" b="1" dirty="0">
                <a:solidFill>
                  <a:srgbClr val="262626"/>
                </a:solidFill>
                <a:latin typeface="맑은 고딕"/>
                <a:ea typeface="맑은 고딕"/>
              </a:rPr>
              <a:t> </a:t>
            </a:r>
            <a:r>
              <a:rPr sz="819" b="1" dirty="0" err="1">
                <a:solidFill>
                  <a:srgbClr val="262626"/>
                </a:solidFill>
                <a:latin typeface="맑은 고딕"/>
                <a:ea typeface="맑은 고딕"/>
              </a:rPr>
              <a:t>늘수록</a:t>
            </a:r>
            <a:r>
              <a:rPr sz="819" b="1" dirty="0">
                <a:solidFill>
                  <a:srgbClr val="262626"/>
                </a:solidFill>
                <a:latin typeface="맑은 고딕"/>
                <a:ea typeface="맑은 고딕"/>
              </a:rPr>
              <a:t> </a:t>
            </a:r>
            <a:r>
              <a:rPr sz="819" b="1" dirty="0" err="1">
                <a:solidFill>
                  <a:srgbClr val="262626"/>
                </a:solidFill>
                <a:latin typeface="맑은 고딕"/>
                <a:ea typeface="맑은 고딕"/>
              </a:rPr>
              <a:t>비용</a:t>
            </a:r>
            <a:r>
              <a:rPr sz="819" b="1" dirty="0">
                <a:solidFill>
                  <a:srgbClr val="262626"/>
                </a:solidFill>
                <a:latin typeface="맑은 고딕"/>
                <a:ea typeface="맑은 고딕"/>
              </a:rPr>
              <a:t> </a:t>
            </a:r>
            <a:r>
              <a:rPr sz="819" b="1" dirty="0" err="1">
                <a:solidFill>
                  <a:srgbClr val="262626"/>
                </a:solidFill>
                <a:latin typeface="맑은 고딕"/>
                <a:ea typeface="맑은 고딕"/>
              </a:rPr>
              <a:t>누적</a:t>
            </a:r>
            <a:endParaRPr sz="819" b="1" dirty="0">
              <a:solidFill>
                <a:srgbClr val="262626"/>
              </a:solidFill>
              <a:latin typeface="맑은 고딕"/>
              <a:ea typeface="맑은 고딕"/>
            </a:endParaRPr>
          </a:p>
        </p:txBody>
      </p:sp>
      <p:grpSp>
        <p:nvGrpSpPr>
          <p:cNvPr id="12" name="그룹 11">
            <a:extLst>
              <a:ext uri="{FF2B5EF4-FFF2-40B4-BE49-F238E27FC236}">
                <a16:creationId xmlns:a16="http://schemas.microsoft.com/office/drawing/2014/main" id="{67006970-D8FE-4368-8E9E-448048FC8FC8}"/>
              </a:ext>
            </a:extLst>
          </p:cNvPr>
          <p:cNvGrpSpPr/>
          <p:nvPr/>
        </p:nvGrpSpPr>
        <p:grpSpPr>
          <a:xfrm>
            <a:off x="431143" y="3953647"/>
            <a:ext cx="4634118" cy="1362799"/>
            <a:chOff x="384048" y="4000208"/>
            <a:chExt cx="3904488" cy="1207008"/>
          </a:xfrm>
        </p:grpSpPr>
        <p:sp>
          <p:nvSpPr>
            <p:cNvPr id="160" name="Rectangle 9094">
              <a:extLst>
                <a:ext uri="{FF2B5EF4-FFF2-40B4-BE49-F238E27FC236}">
                  <a16:creationId xmlns:a16="http://schemas.microsoft.com/office/drawing/2014/main" id="{CC10489B-5A0C-4696-9282-23880C16D030}"/>
                </a:ext>
              </a:extLst>
            </p:cNvPr>
            <p:cNvSpPr/>
            <p:nvPr/>
          </p:nvSpPr>
          <p:spPr>
            <a:xfrm>
              <a:off x="859536" y="4183088"/>
              <a:ext cx="3200400" cy="1645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161" name="Rectangle 9095">
              <a:extLst>
                <a:ext uri="{FF2B5EF4-FFF2-40B4-BE49-F238E27FC236}">
                  <a16:creationId xmlns:a16="http://schemas.microsoft.com/office/drawing/2014/main" id="{0F68933E-90ED-4B38-9EEC-1A4FC7552700}"/>
                </a:ext>
              </a:extLst>
            </p:cNvPr>
            <p:cNvSpPr/>
            <p:nvPr/>
          </p:nvSpPr>
          <p:spPr>
            <a:xfrm>
              <a:off x="859536" y="4475696"/>
              <a:ext cx="3200400" cy="1645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162" name="Rectangle 9096">
              <a:extLst>
                <a:ext uri="{FF2B5EF4-FFF2-40B4-BE49-F238E27FC236}">
                  <a16:creationId xmlns:a16="http://schemas.microsoft.com/office/drawing/2014/main" id="{1147A97B-6AC2-4CA7-93B7-5BAEE9CA6DF2}"/>
                </a:ext>
              </a:extLst>
            </p:cNvPr>
            <p:cNvSpPr/>
            <p:nvPr/>
          </p:nvSpPr>
          <p:spPr>
            <a:xfrm>
              <a:off x="457200" y="4183088"/>
              <a:ext cx="384048"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r"/>
              <a:r>
                <a:rPr sz="800" b="1">
                  <a:solidFill>
                    <a:srgbClr val="2E75B6"/>
                  </a:solidFill>
                  <a:latin typeface="맑은 고딕"/>
                  <a:ea typeface="맑은 고딕"/>
                </a:rPr>
                <a:t>P</a:t>
              </a:r>
            </a:p>
          </p:txBody>
        </p:sp>
        <p:sp>
          <p:nvSpPr>
            <p:cNvPr id="163" name="Rectangle 9097">
              <a:extLst>
                <a:ext uri="{FF2B5EF4-FFF2-40B4-BE49-F238E27FC236}">
                  <a16:creationId xmlns:a16="http://schemas.microsoft.com/office/drawing/2014/main" id="{CEFCE80E-D439-4100-B68E-A784FFE389A7}"/>
                </a:ext>
              </a:extLst>
            </p:cNvPr>
            <p:cNvSpPr/>
            <p:nvPr/>
          </p:nvSpPr>
          <p:spPr>
            <a:xfrm>
              <a:off x="457200" y="4475696"/>
              <a:ext cx="384048"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r"/>
              <a:r>
                <a:rPr sz="800" b="1">
                  <a:solidFill>
                    <a:srgbClr val="C55A11"/>
                  </a:solidFill>
                  <a:latin typeface="맑은 고딕"/>
                  <a:ea typeface="맑은 고딕"/>
                </a:rPr>
                <a:t>D</a:t>
              </a:r>
            </a:p>
          </p:txBody>
        </p:sp>
        <p:sp>
          <p:nvSpPr>
            <p:cNvPr id="164" name="Rectangle 9098">
              <a:extLst>
                <a:ext uri="{FF2B5EF4-FFF2-40B4-BE49-F238E27FC236}">
                  <a16:creationId xmlns:a16="http://schemas.microsoft.com/office/drawing/2014/main" id="{1CDEDA28-A62B-4ED0-B58C-25A9F48831E6}"/>
                </a:ext>
              </a:extLst>
            </p:cNvPr>
            <p:cNvSpPr/>
            <p:nvPr/>
          </p:nvSpPr>
          <p:spPr>
            <a:xfrm>
              <a:off x="896112" y="4000208"/>
              <a:ext cx="822960"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650" b="1">
                  <a:solidFill>
                    <a:srgbClr val="404040"/>
                  </a:solidFill>
                  <a:latin typeface="맑은 고딕"/>
                  <a:ea typeface="맑은 고딕"/>
                </a:rPr>
                <a:t>Turn 1</a:t>
              </a:r>
            </a:p>
          </p:txBody>
        </p:sp>
        <p:sp>
          <p:nvSpPr>
            <p:cNvPr id="165" name="Rectangle 9099">
              <a:extLst>
                <a:ext uri="{FF2B5EF4-FFF2-40B4-BE49-F238E27FC236}">
                  <a16:creationId xmlns:a16="http://schemas.microsoft.com/office/drawing/2014/main" id="{8A8D1464-A4F8-4ABF-9AE7-85DAB2FF853F}"/>
                </a:ext>
              </a:extLst>
            </p:cNvPr>
            <p:cNvSpPr/>
            <p:nvPr/>
          </p:nvSpPr>
          <p:spPr>
            <a:xfrm>
              <a:off x="896112" y="4183088"/>
              <a:ext cx="365760" cy="164592"/>
            </a:xfrm>
            <a:prstGeom prst="rect">
              <a:avLst/>
            </a:prstGeom>
            <a:solidFill>
              <a:srgbClr val="2E75B6"/>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550" b="1">
                  <a:solidFill>
                    <a:srgbClr val="FFFFFF"/>
                  </a:solidFill>
                  <a:latin typeface="맑은 고딕"/>
                  <a:ea typeface="맑은 고딕"/>
                </a:rPr>
                <a:t>Prefill</a:t>
              </a:r>
            </a:p>
          </p:txBody>
        </p:sp>
        <p:cxnSp>
          <p:nvCxnSpPr>
            <p:cNvPr id="167" name="Connector 9100">
              <a:extLst>
                <a:ext uri="{FF2B5EF4-FFF2-40B4-BE49-F238E27FC236}">
                  <a16:creationId xmlns:a16="http://schemas.microsoft.com/office/drawing/2014/main" id="{0E8291C3-1819-4BB0-8F7B-344242B1E99D}"/>
                </a:ext>
              </a:extLst>
            </p:cNvPr>
            <p:cNvCxnSpPr/>
            <p:nvPr/>
          </p:nvCxnSpPr>
          <p:spPr>
            <a:xfrm>
              <a:off x="1261872" y="4347680"/>
              <a:ext cx="109728" cy="128016"/>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68" name="Rectangle 9101">
              <a:extLst>
                <a:ext uri="{FF2B5EF4-FFF2-40B4-BE49-F238E27FC236}">
                  <a16:creationId xmlns:a16="http://schemas.microsoft.com/office/drawing/2014/main" id="{7EA791E2-0973-4F27-80EB-8D118C005BEF}"/>
                </a:ext>
              </a:extLst>
            </p:cNvPr>
            <p:cNvSpPr/>
            <p:nvPr/>
          </p:nvSpPr>
          <p:spPr>
            <a:xfrm>
              <a:off x="1371600" y="4475696"/>
              <a:ext cx="384048" cy="164592"/>
            </a:xfrm>
            <a:prstGeom prst="rect">
              <a:avLst/>
            </a:prstGeom>
            <a:solidFill>
              <a:srgbClr val="C55A11"/>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550" b="1">
                  <a:solidFill>
                    <a:srgbClr val="FFFFFF"/>
                  </a:solidFill>
                  <a:latin typeface="맑은 고딕"/>
                  <a:ea typeface="맑은 고딕"/>
                </a:rPr>
                <a:t>Decode</a:t>
              </a:r>
            </a:p>
          </p:txBody>
        </p:sp>
        <p:cxnSp>
          <p:nvCxnSpPr>
            <p:cNvPr id="169" name="Connector 9102">
              <a:extLst>
                <a:ext uri="{FF2B5EF4-FFF2-40B4-BE49-F238E27FC236}">
                  <a16:creationId xmlns:a16="http://schemas.microsoft.com/office/drawing/2014/main" id="{8027F6E8-3B53-47C8-BE64-0F7249A2B9B4}"/>
                </a:ext>
              </a:extLst>
            </p:cNvPr>
            <p:cNvCxnSpPr/>
            <p:nvPr/>
          </p:nvCxnSpPr>
          <p:spPr>
            <a:xfrm flipV="1">
              <a:off x="1755648" y="4347680"/>
              <a:ext cx="173736" cy="128016"/>
            </a:xfrm>
            <a:prstGeom prst="line">
              <a:avLst/>
            </a:prstGeom>
            <a:ln w="19050">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70" name="Rectangle 9103">
              <a:extLst>
                <a:ext uri="{FF2B5EF4-FFF2-40B4-BE49-F238E27FC236}">
                  <a16:creationId xmlns:a16="http://schemas.microsoft.com/office/drawing/2014/main" id="{749A7C7A-3EB5-4E7F-A799-2F8EDE831E66}"/>
                </a:ext>
              </a:extLst>
            </p:cNvPr>
            <p:cNvSpPr/>
            <p:nvPr/>
          </p:nvSpPr>
          <p:spPr>
            <a:xfrm>
              <a:off x="1929384" y="4000208"/>
              <a:ext cx="822960"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650" b="1">
                  <a:solidFill>
                    <a:srgbClr val="404040"/>
                  </a:solidFill>
                  <a:latin typeface="맑은 고딕"/>
                  <a:ea typeface="맑은 고딕"/>
                </a:rPr>
                <a:t>Turn 2</a:t>
              </a:r>
            </a:p>
          </p:txBody>
        </p:sp>
        <p:sp>
          <p:nvSpPr>
            <p:cNvPr id="171" name="Rectangle 9104">
              <a:extLst>
                <a:ext uri="{FF2B5EF4-FFF2-40B4-BE49-F238E27FC236}">
                  <a16:creationId xmlns:a16="http://schemas.microsoft.com/office/drawing/2014/main" id="{5C4D96B7-4025-42DE-80A2-B02807EE9F6A}"/>
                </a:ext>
              </a:extLst>
            </p:cNvPr>
            <p:cNvSpPr/>
            <p:nvPr/>
          </p:nvSpPr>
          <p:spPr>
            <a:xfrm>
              <a:off x="1929384" y="4183088"/>
              <a:ext cx="365760" cy="164592"/>
            </a:xfrm>
            <a:prstGeom prst="rect">
              <a:avLst/>
            </a:prstGeom>
            <a:solidFill>
              <a:srgbClr val="2E75B6"/>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550" b="1">
                  <a:solidFill>
                    <a:srgbClr val="FFFFFF"/>
                  </a:solidFill>
                  <a:latin typeface="맑은 고딕"/>
                  <a:ea typeface="맑은 고딕"/>
                </a:rPr>
                <a:t>Prefill</a:t>
              </a:r>
            </a:p>
          </p:txBody>
        </p:sp>
        <p:cxnSp>
          <p:nvCxnSpPr>
            <p:cNvPr id="172" name="Connector 9105">
              <a:extLst>
                <a:ext uri="{FF2B5EF4-FFF2-40B4-BE49-F238E27FC236}">
                  <a16:creationId xmlns:a16="http://schemas.microsoft.com/office/drawing/2014/main" id="{7B72B064-6608-413A-89C0-A7F4A929CA8B}"/>
                </a:ext>
              </a:extLst>
            </p:cNvPr>
            <p:cNvCxnSpPr/>
            <p:nvPr/>
          </p:nvCxnSpPr>
          <p:spPr>
            <a:xfrm>
              <a:off x="2295144" y="4347680"/>
              <a:ext cx="109728" cy="128016"/>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73" name="Rectangle 9106">
              <a:extLst>
                <a:ext uri="{FF2B5EF4-FFF2-40B4-BE49-F238E27FC236}">
                  <a16:creationId xmlns:a16="http://schemas.microsoft.com/office/drawing/2014/main" id="{C3BBDE95-8353-4335-8A36-F48999229C5C}"/>
                </a:ext>
              </a:extLst>
            </p:cNvPr>
            <p:cNvSpPr/>
            <p:nvPr/>
          </p:nvSpPr>
          <p:spPr>
            <a:xfrm>
              <a:off x="2404872" y="4475696"/>
              <a:ext cx="384048" cy="164592"/>
            </a:xfrm>
            <a:prstGeom prst="rect">
              <a:avLst/>
            </a:prstGeom>
            <a:solidFill>
              <a:srgbClr val="C55A11"/>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550" b="1">
                  <a:solidFill>
                    <a:srgbClr val="FFFFFF"/>
                  </a:solidFill>
                  <a:latin typeface="맑은 고딕"/>
                  <a:ea typeface="맑은 고딕"/>
                </a:rPr>
                <a:t>Decode</a:t>
              </a:r>
            </a:p>
          </p:txBody>
        </p:sp>
        <p:cxnSp>
          <p:nvCxnSpPr>
            <p:cNvPr id="174" name="Connector 9107">
              <a:extLst>
                <a:ext uri="{FF2B5EF4-FFF2-40B4-BE49-F238E27FC236}">
                  <a16:creationId xmlns:a16="http://schemas.microsoft.com/office/drawing/2014/main" id="{E6224BB4-2573-49C8-977D-F135C79475C2}"/>
                </a:ext>
              </a:extLst>
            </p:cNvPr>
            <p:cNvCxnSpPr/>
            <p:nvPr/>
          </p:nvCxnSpPr>
          <p:spPr>
            <a:xfrm flipV="1">
              <a:off x="2788920" y="4347680"/>
              <a:ext cx="173736" cy="128016"/>
            </a:xfrm>
            <a:prstGeom prst="line">
              <a:avLst/>
            </a:prstGeom>
            <a:ln w="19050">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75" name="Rectangle 9108">
              <a:extLst>
                <a:ext uri="{FF2B5EF4-FFF2-40B4-BE49-F238E27FC236}">
                  <a16:creationId xmlns:a16="http://schemas.microsoft.com/office/drawing/2014/main" id="{44CDC3FA-52AA-4728-9BAA-4D8BA771FA7E}"/>
                </a:ext>
              </a:extLst>
            </p:cNvPr>
            <p:cNvSpPr/>
            <p:nvPr/>
          </p:nvSpPr>
          <p:spPr>
            <a:xfrm>
              <a:off x="2962656" y="4000208"/>
              <a:ext cx="822960"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650" b="1">
                  <a:solidFill>
                    <a:srgbClr val="404040"/>
                  </a:solidFill>
                  <a:latin typeface="맑은 고딕"/>
                  <a:ea typeface="맑은 고딕"/>
                </a:rPr>
                <a:t>Turn 3</a:t>
              </a:r>
            </a:p>
          </p:txBody>
        </p:sp>
        <p:sp>
          <p:nvSpPr>
            <p:cNvPr id="176" name="Rectangle 9109">
              <a:extLst>
                <a:ext uri="{FF2B5EF4-FFF2-40B4-BE49-F238E27FC236}">
                  <a16:creationId xmlns:a16="http://schemas.microsoft.com/office/drawing/2014/main" id="{BE401744-473D-4D13-B846-042221E760FA}"/>
                </a:ext>
              </a:extLst>
            </p:cNvPr>
            <p:cNvSpPr/>
            <p:nvPr/>
          </p:nvSpPr>
          <p:spPr>
            <a:xfrm>
              <a:off x="2962656" y="4183088"/>
              <a:ext cx="365760" cy="164592"/>
            </a:xfrm>
            <a:prstGeom prst="rect">
              <a:avLst/>
            </a:prstGeom>
            <a:solidFill>
              <a:srgbClr val="2E75B6"/>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550" b="1">
                  <a:solidFill>
                    <a:srgbClr val="FFFFFF"/>
                  </a:solidFill>
                  <a:latin typeface="맑은 고딕"/>
                  <a:ea typeface="맑은 고딕"/>
                </a:rPr>
                <a:t>Prefill</a:t>
              </a:r>
            </a:p>
          </p:txBody>
        </p:sp>
        <p:cxnSp>
          <p:nvCxnSpPr>
            <p:cNvPr id="177" name="Connector 9110">
              <a:extLst>
                <a:ext uri="{FF2B5EF4-FFF2-40B4-BE49-F238E27FC236}">
                  <a16:creationId xmlns:a16="http://schemas.microsoft.com/office/drawing/2014/main" id="{450EDE42-F269-4CF9-8706-C25382F28C87}"/>
                </a:ext>
              </a:extLst>
            </p:cNvPr>
            <p:cNvCxnSpPr/>
            <p:nvPr/>
          </p:nvCxnSpPr>
          <p:spPr>
            <a:xfrm>
              <a:off x="3328415" y="4347680"/>
              <a:ext cx="109729" cy="128016"/>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78" name="Rectangle 9111">
              <a:extLst>
                <a:ext uri="{FF2B5EF4-FFF2-40B4-BE49-F238E27FC236}">
                  <a16:creationId xmlns:a16="http://schemas.microsoft.com/office/drawing/2014/main" id="{40C355EE-606E-4C02-BE92-E6A5CCBF1B69}"/>
                </a:ext>
              </a:extLst>
            </p:cNvPr>
            <p:cNvSpPr/>
            <p:nvPr/>
          </p:nvSpPr>
          <p:spPr>
            <a:xfrm>
              <a:off x="3438144" y="4475696"/>
              <a:ext cx="384048" cy="164592"/>
            </a:xfrm>
            <a:prstGeom prst="rect">
              <a:avLst/>
            </a:prstGeom>
            <a:solidFill>
              <a:srgbClr val="C55A11"/>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550" b="1">
                  <a:solidFill>
                    <a:srgbClr val="FFFFFF"/>
                  </a:solidFill>
                  <a:latin typeface="맑은 고딕"/>
                  <a:ea typeface="맑은 고딕"/>
                </a:rPr>
                <a:t>Decode</a:t>
              </a:r>
            </a:p>
          </p:txBody>
        </p:sp>
        <p:cxnSp>
          <p:nvCxnSpPr>
            <p:cNvPr id="179" name="Connector 9112">
              <a:extLst>
                <a:ext uri="{FF2B5EF4-FFF2-40B4-BE49-F238E27FC236}">
                  <a16:creationId xmlns:a16="http://schemas.microsoft.com/office/drawing/2014/main" id="{F9458609-EC4F-4B26-8CD9-E92A6311738D}"/>
                </a:ext>
              </a:extLst>
            </p:cNvPr>
            <p:cNvCxnSpPr/>
            <p:nvPr/>
          </p:nvCxnSpPr>
          <p:spPr>
            <a:xfrm flipV="1">
              <a:off x="3822191" y="4347680"/>
              <a:ext cx="128017" cy="128016"/>
            </a:xfrm>
            <a:prstGeom prst="line">
              <a:avLst/>
            </a:prstGeom>
            <a:ln w="19050">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0" name="Rectangle 9113">
              <a:extLst>
                <a:ext uri="{FF2B5EF4-FFF2-40B4-BE49-F238E27FC236}">
                  <a16:creationId xmlns:a16="http://schemas.microsoft.com/office/drawing/2014/main" id="{3091194A-9B3F-44AB-B533-33F35DDFBF01}"/>
                </a:ext>
              </a:extLst>
            </p:cNvPr>
            <p:cNvSpPr/>
            <p:nvPr/>
          </p:nvSpPr>
          <p:spPr>
            <a:xfrm>
              <a:off x="3941063" y="4183088"/>
              <a:ext cx="274320"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1">
                  <a:solidFill>
                    <a:srgbClr val="7F7F7F"/>
                  </a:solidFill>
                  <a:latin typeface="맑은 고딕"/>
                  <a:ea typeface="맑은 고딕"/>
                </a:rPr>
                <a:t>…</a:t>
              </a:r>
            </a:p>
          </p:txBody>
        </p:sp>
        <p:sp>
          <p:nvSpPr>
            <p:cNvPr id="181" name="Rectangle 9114">
              <a:extLst>
                <a:ext uri="{FF2B5EF4-FFF2-40B4-BE49-F238E27FC236}">
                  <a16:creationId xmlns:a16="http://schemas.microsoft.com/office/drawing/2014/main" id="{4D8D52B3-BFE2-4384-BD2B-B00A262F6441}"/>
                </a:ext>
              </a:extLst>
            </p:cNvPr>
            <p:cNvSpPr/>
            <p:nvPr/>
          </p:nvSpPr>
          <p:spPr>
            <a:xfrm>
              <a:off x="3648456" y="4000208"/>
              <a:ext cx="640080" cy="164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182" name="Rectangle 9115">
              <a:extLst>
                <a:ext uri="{FF2B5EF4-FFF2-40B4-BE49-F238E27FC236}">
                  <a16:creationId xmlns:a16="http://schemas.microsoft.com/office/drawing/2014/main" id="{CAF9C5FB-D647-47D4-B616-E8CC27C44844}"/>
                </a:ext>
              </a:extLst>
            </p:cNvPr>
            <p:cNvSpPr/>
            <p:nvPr/>
          </p:nvSpPr>
          <p:spPr>
            <a:xfrm>
              <a:off x="896112" y="5010620"/>
              <a:ext cx="987551" cy="50292"/>
            </a:xfrm>
            <a:prstGeom prst="rect">
              <a:avLst/>
            </a:prstGeom>
            <a:solidFill>
              <a:srgbClr val="F4B6B6"/>
            </a:solidFill>
            <a:ln w="63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183" name="Rectangle 9116">
              <a:extLst>
                <a:ext uri="{FF2B5EF4-FFF2-40B4-BE49-F238E27FC236}">
                  <a16:creationId xmlns:a16="http://schemas.microsoft.com/office/drawing/2014/main" id="{74054A5D-A1D1-46C4-A7C5-4462CD3A5CF3}"/>
                </a:ext>
              </a:extLst>
            </p:cNvPr>
            <p:cNvSpPr/>
            <p:nvPr/>
          </p:nvSpPr>
          <p:spPr>
            <a:xfrm>
              <a:off x="896112" y="4873460"/>
              <a:ext cx="987551" cy="137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00" b="1">
                  <a:solidFill>
                    <a:srgbClr val="C00000"/>
                  </a:solidFill>
                  <a:latin typeface="맑은 고딕"/>
                  <a:ea typeface="맑은 고딕"/>
                </a:rPr>
                <a:t>누적 1회</a:t>
              </a:r>
            </a:p>
          </p:txBody>
        </p:sp>
        <p:sp>
          <p:nvSpPr>
            <p:cNvPr id="184" name="Rectangle 9117">
              <a:extLst>
                <a:ext uri="{FF2B5EF4-FFF2-40B4-BE49-F238E27FC236}">
                  <a16:creationId xmlns:a16="http://schemas.microsoft.com/office/drawing/2014/main" id="{73B6A22B-5C2F-4000-B547-4E36ECF65BC6}"/>
                </a:ext>
              </a:extLst>
            </p:cNvPr>
            <p:cNvSpPr/>
            <p:nvPr/>
          </p:nvSpPr>
          <p:spPr>
            <a:xfrm>
              <a:off x="1929384" y="4910036"/>
              <a:ext cx="987551" cy="150876"/>
            </a:xfrm>
            <a:prstGeom prst="rect">
              <a:avLst/>
            </a:prstGeom>
            <a:solidFill>
              <a:srgbClr val="F4B6B6"/>
            </a:solidFill>
            <a:ln w="63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185" name="Rectangle 9118">
              <a:extLst>
                <a:ext uri="{FF2B5EF4-FFF2-40B4-BE49-F238E27FC236}">
                  <a16:creationId xmlns:a16="http://schemas.microsoft.com/office/drawing/2014/main" id="{13C2CBC1-9E42-4E82-BC46-A87EAAB01069}"/>
                </a:ext>
              </a:extLst>
            </p:cNvPr>
            <p:cNvSpPr/>
            <p:nvPr/>
          </p:nvSpPr>
          <p:spPr>
            <a:xfrm>
              <a:off x="1929384" y="4772876"/>
              <a:ext cx="987551" cy="137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00" b="1">
                  <a:solidFill>
                    <a:srgbClr val="C00000"/>
                  </a:solidFill>
                  <a:latin typeface="맑은 고딕"/>
                  <a:ea typeface="맑은 고딕"/>
                </a:rPr>
                <a:t>누적 3회</a:t>
              </a:r>
            </a:p>
          </p:txBody>
        </p:sp>
        <p:sp>
          <p:nvSpPr>
            <p:cNvPr id="186" name="Rectangle 9119">
              <a:extLst>
                <a:ext uri="{FF2B5EF4-FFF2-40B4-BE49-F238E27FC236}">
                  <a16:creationId xmlns:a16="http://schemas.microsoft.com/office/drawing/2014/main" id="{3473FBB2-3456-4063-B92D-A5D17DA1A4B1}"/>
                </a:ext>
              </a:extLst>
            </p:cNvPr>
            <p:cNvSpPr/>
            <p:nvPr/>
          </p:nvSpPr>
          <p:spPr>
            <a:xfrm>
              <a:off x="2962656" y="4809452"/>
              <a:ext cx="987551" cy="251460"/>
            </a:xfrm>
            <a:prstGeom prst="rect">
              <a:avLst/>
            </a:prstGeom>
            <a:solidFill>
              <a:srgbClr val="F4B6B6"/>
            </a:solidFill>
            <a:ln w="63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187" name="Rectangle 9120">
              <a:extLst>
                <a:ext uri="{FF2B5EF4-FFF2-40B4-BE49-F238E27FC236}">
                  <a16:creationId xmlns:a16="http://schemas.microsoft.com/office/drawing/2014/main" id="{99604C09-2A66-4C1F-8283-01C30BDC7EBF}"/>
                </a:ext>
              </a:extLst>
            </p:cNvPr>
            <p:cNvSpPr/>
            <p:nvPr/>
          </p:nvSpPr>
          <p:spPr>
            <a:xfrm>
              <a:off x="2962656" y="4672291"/>
              <a:ext cx="987551" cy="137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00" b="1">
                  <a:solidFill>
                    <a:srgbClr val="C00000"/>
                  </a:solidFill>
                  <a:latin typeface="맑은 고딕"/>
                  <a:ea typeface="맑은 고딕"/>
                </a:rPr>
                <a:t>누적 5회</a:t>
              </a:r>
            </a:p>
          </p:txBody>
        </p:sp>
        <p:sp>
          <p:nvSpPr>
            <p:cNvPr id="188" name="Rectangle 9121">
              <a:extLst>
                <a:ext uri="{FF2B5EF4-FFF2-40B4-BE49-F238E27FC236}">
                  <a16:creationId xmlns:a16="http://schemas.microsoft.com/office/drawing/2014/main" id="{330F0E49-5634-4152-83F3-68D96A575B3D}"/>
                </a:ext>
              </a:extLst>
            </p:cNvPr>
            <p:cNvSpPr/>
            <p:nvPr/>
          </p:nvSpPr>
          <p:spPr>
            <a:xfrm>
              <a:off x="384048" y="4750016"/>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r"/>
              <a:r>
                <a:rPr sz="620" b="1">
                  <a:solidFill>
                    <a:srgbClr val="C00000"/>
                  </a:solidFill>
                  <a:latin typeface="맑은 고딕"/>
                  <a:ea typeface="맑은 고딕"/>
                </a:rPr>
                <a:t>누적</a:t>
              </a:r>
            </a:p>
            <a:p>
              <a:pPr algn="r"/>
              <a:r>
                <a:rPr sz="620" b="1">
                  <a:solidFill>
                    <a:srgbClr val="C00000"/>
                  </a:solidFill>
                  <a:latin typeface="맑은 고딕"/>
                  <a:ea typeface="맑은 고딕"/>
                </a:rPr>
                <a:t>전송</a:t>
              </a:r>
            </a:p>
          </p:txBody>
        </p:sp>
        <p:cxnSp>
          <p:nvCxnSpPr>
            <p:cNvPr id="189" name="Connector 9122">
              <a:extLst>
                <a:ext uri="{FF2B5EF4-FFF2-40B4-BE49-F238E27FC236}">
                  <a16:creationId xmlns:a16="http://schemas.microsoft.com/office/drawing/2014/main" id="{3AFE2A9E-6539-4D6B-B851-56DB87D67A11}"/>
                </a:ext>
              </a:extLst>
            </p:cNvPr>
            <p:cNvCxnSpPr/>
            <p:nvPr/>
          </p:nvCxnSpPr>
          <p:spPr>
            <a:xfrm>
              <a:off x="859536" y="5060912"/>
              <a:ext cx="3273551" cy="0"/>
            </a:xfrm>
            <a:prstGeom prst="line">
              <a:avLst/>
            </a:prstGeom>
            <a:ln w="9525">
              <a:solidFill>
                <a:srgbClr val="7F7F7F"/>
              </a:solidFill>
              <a:tailEnd type="triangle"/>
            </a:ln>
          </p:spPr>
          <p:style>
            <a:lnRef idx="2">
              <a:schemeClr val="accent1"/>
            </a:lnRef>
            <a:fillRef idx="0">
              <a:schemeClr val="accent1"/>
            </a:fillRef>
            <a:effectRef idx="1">
              <a:schemeClr val="accent1"/>
            </a:effectRef>
            <a:fontRef idx="minor">
              <a:schemeClr val="tx1"/>
            </a:fontRef>
          </p:style>
        </p:cxnSp>
        <p:cxnSp>
          <p:nvCxnSpPr>
            <p:cNvPr id="190" name="Connector 9123">
              <a:extLst>
                <a:ext uri="{FF2B5EF4-FFF2-40B4-BE49-F238E27FC236}">
                  <a16:creationId xmlns:a16="http://schemas.microsoft.com/office/drawing/2014/main" id="{7F727C80-7E1D-4DE0-A9D7-2E6A299B3CAC}"/>
                </a:ext>
              </a:extLst>
            </p:cNvPr>
            <p:cNvCxnSpPr/>
            <p:nvPr/>
          </p:nvCxnSpPr>
          <p:spPr>
            <a:xfrm>
              <a:off x="896112" y="5134064"/>
              <a:ext cx="201168" cy="0"/>
            </a:xfrm>
            <a:prstGeom prst="line">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91" name="Rectangle 9124">
              <a:extLst>
                <a:ext uri="{FF2B5EF4-FFF2-40B4-BE49-F238E27FC236}">
                  <a16:creationId xmlns:a16="http://schemas.microsoft.com/office/drawing/2014/main" id="{6FCA7085-B33F-4F4D-9327-B72D484DED74}"/>
                </a:ext>
              </a:extLst>
            </p:cNvPr>
            <p:cNvSpPr/>
            <p:nvPr/>
          </p:nvSpPr>
          <p:spPr>
            <a:xfrm>
              <a:off x="1124712" y="5060912"/>
              <a:ext cx="685800" cy="1463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600" b="0">
                  <a:solidFill>
                    <a:srgbClr val="404040"/>
                  </a:solidFill>
                  <a:latin typeface="맑은 고딕"/>
                  <a:ea typeface="맑은 고딕"/>
                </a:rPr>
                <a:t>P→D 전송</a:t>
              </a:r>
            </a:p>
          </p:txBody>
        </p:sp>
        <p:cxnSp>
          <p:nvCxnSpPr>
            <p:cNvPr id="192" name="Connector 9125">
              <a:extLst>
                <a:ext uri="{FF2B5EF4-FFF2-40B4-BE49-F238E27FC236}">
                  <a16:creationId xmlns:a16="http://schemas.microsoft.com/office/drawing/2014/main" id="{8D817333-9560-4336-989B-3445301E3DE8}"/>
                </a:ext>
              </a:extLst>
            </p:cNvPr>
            <p:cNvCxnSpPr/>
            <p:nvPr/>
          </p:nvCxnSpPr>
          <p:spPr>
            <a:xfrm>
              <a:off x="1810512" y="5134064"/>
              <a:ext cx="201168" cy="0"/>
            </a:xfrm>
            <a:prstGeom prst="line">
              <a:avLst/>
            </a:prstGeom>
            <a:ln w="19050">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3" name="Rectangle 9126">
              <a:extLst>
                <a:ext uri="{FF2B5EF4-FFF2-40B4-BE49-F238E27FC236}">
                  <a16:creationId xmlns:a16="http://schemas.microsoft.com/office/drawing/2014/main" id="{2203517C-71AB-44B5-B672-AB598B279E97}"/>
                </a:ext>
              </a:extLst>
            </p:cNvPr>
            <p:cNvSpPr/>
            <p:nvPr/>
          </p:nvSpPr>
          <p:spPr>
            <a:xfrm>
              <a:off x="2039112" y="5060912"/>
              <a:ext cx="1463040" cy="1463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l"/>
              <a:r>
                <a:rPr sz="600" b="0">
                  <a:solidFill>
                    <a:srgbClr val="404040"/>
                  </a:solidFill>
                  <a:latin typeface="맑은 고딕"/>
                  <a:ea typeface="맑은 고딕"/>
                </a:rPr>
                <a:t>D→P 전송 (다음 Turn용)</a:t>
              </a:r>
            </a:p>
          </p:txBody>
        </p:sp>
      </p:grpSp>
    </p:spTree>
    <p:extLst>
      <p:ext uri="{BB962C8B-B14F-4D97-AF65-F5344CB8AC3E}">
        <p14:creationId xmlns:p14="http://schemas.microsoft.com/office/powerpoint/2010/main" val="3911217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49035" y="1044054"/>
          <a:ext cx="11747501" cy="5788714"/>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4201716">
                  <a:extLst>
                    <a:ext uri="{9D8B030D-6E8A-4147-A177-3AD203B41FA5}">
                      <a16:colId xmlns:a16="http://schemas.microsoft.com/office/drawing/2014/main" val="5654497"/>
                    </a:ext>
                  </a:extLst>
                </a:gridCol>
                <a:gridCol w="1234338">
                  <a:extLst>
                    <a:ext uri="{9D8B030D-6E8A-4147-A177-3AD203B41FA5}">
                      <a16:colId xmlns:a16="http://schemas.microsoft.com/office/drawing/2014/main" val="2953438935"/>
                    </a:ext>
                  </a:extLst>
                </a:gridCol>
                <a:gridCol w="4325508">
                  <a:extLst>
                    <a:ext uri="{9D8B030D-6E8A-4147-A177-3AD203B41FA5}">
                      <a16:colId xmlns:a16="http://schemas.microsoft.com/office/drawing/2014/main" val="3070054508"/>
                    </a:ext>
                  </a:extLst>
                </a:gridCol>
                <a:gridCol w="1110546">
                  <a:extLst>
                    <a:ext uri="{9D8B030D-6E8A-4147-A177-3AD203B41FA5}">
                      <a16:colId xmlns:a16="http://schemas.microsoft.com/office/drawing/2014/main" val="3101495520"/>
                    </a:ext>
                  </a:extLst>
                </a:gridCol>
              </a:tblGrid>
              <a:tr h="321759">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strike="noStrike" dirty="0"/>
                        <a:t>(1</a:t>
                      </a:r>
                      <a:r>
                        <a:rPr lang="ko-KR" altLang="en-US" sz="1200" b="1" strike="noStrike" dirty="0"/>
                        <a:t>안</a:t>
                      </a:r>
                      <a:r>
                        <a:rPr lang="en-US" altLang="ko-KR" sz="1200" b="1" strike="noStrike" dirty="0"/>
                        <a:t>) </a:t>
                      </a:r>
                      <a:r>
                        <a:rPr lang="ko-KR" altLang="en-US" sz="1200" b="1" strike="noStrike" dirty="0"/>
                        <a:t>스케줄링 시점 결정 구조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algn="l" latinLnBrk="1"/>
                      <a:r>
                        <a:rPr lang="en-US" altLang="ko-KR" sz="1200" b="1" strike="noStrike" dirty="0"/>
                        <a:t>(2</a:t>
                      </a:r>
                      <a:r>
                        <a:rPr lang="ko-KR" altLang="en-US" sz="1200" b="1" strike="noStrike" dirty="0"/>
                        <a:t>안</a:t>
                      </a:r>
                      <a:r>
                        <a:rPr lang="en-US" altLang="ko-KR" sz="1200" b="1" strike="noStrike" dirty="0"/>
                        <a:t>)</a:t>
                      </a:r>
                      <a:r>
                        <a:rPr lang="en-US" altLang="ko-KR" sz="1200" b="1" strike="noStrike" baseline="0" dirty="0"/>
                        <a:t> </a:t>
                      </a:r>
                      <a:r>
                        <a:rPr lang="ko-KR" altLang="en-US" sz="1200" b="1" strike="noStrike" baseline="0" dirty="0"/>
                        <a:t>사전 계획 결정 구조</a:t>
                      </a:r>
                      <a:endParaRPr lang="ko-KR" altLang="en-US" sz="1200" b="1" strike="noStrike"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272395">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ko-KR" altLang="en-US" sz="105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ko-KR" altLang="en-US" sz="1200" b="1" dirty="0">
                        <a:solidFill>
                          <a:srgbClr val="0033CC"/>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374073">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최신 </a:t>
                      </a:r>
                      <a:r>
                        <a:rPr lang="en-US" altLang="ko-KR" sz="1200" strike="noStrike" kern="1200" baseline="0" dirty="0">
                          <a:solidFill>
                            <a:schemeClr val="tx1"/>
                          </a:solidFill>
                          <a:effectLst/>
                          <a:latin typeface="+mn-lt"/>
                          <a:ea typeface="+mn-ea"/>
                          <a:cs typeface="+mn-cs"/>
                        </a:rPr>
                        <a:t>Resource </a:t>
                      </a:r>
                      <a:r>
                        <a:rPr lang="ko-KR" altLang="en-US" sz="1200" strike="noStrike" kern="1200" baseline="0" dirty="0">
                          <a:solidFill>
                            <a:schemeClr val="tx1"/>
                          </a:solidFill>
                          <a:effectLst/>
                          <a:latin typeface="+mn-lt"/>
                          <a:ea typeface="+mn-ea"/>
                          <a:cs typeface="+mn-cs"/>
                        </a:rPr>
                        <a:t>상태와 실제 </a:t>
                      </a:r>
                      <a:r>
                        <a:rPr lang="en-US" altLang="ko-KR" sz="1200" strike="noStrike" kern="1200" baseline="0" dirty="0">
                          <a:solidFill>
                            <a:schemeClr val="tx1"/>
                          </a:solidFill>
                          <a:effectLst/>
                          <a:latin typeface="+mn-lt"/>
                          <a:ea typeface="+mn-ea"/>
                          <a:cs typeface="+mn-cs"/>
                        </a:rPr>
                        <a:t>batch </a:t>
                      </a:r>
                      <a:r>
                        <a:rPr lang="ko-KR" altLang="en-US" sz="1200" strike="noStrike" kern="1200" baseline="0" dirty="0">
                          <a:solidFill>
                            <a:schemeClr val="tx1"/>
                          </a:solidFill>
                          <a:effectLst/>
                          <a:latin typeface="+mn-lt"/>
                          <a:ea typeface="+mn-ea"/>
                          <a:cs typeface="+mn-cs"/>
                        </a:rPr>
                        <a:t>반영</a:t>
                      </a:r>
                      <a:endParaRPr lang="en-US" altLang="ko-KR" sz="1200" strike="noStrike" kern="1200" baseline="0" dirty="0">
                        <a:solidFill>
                          <a:schemeClr val="tx1"/>
                        </a:solidFill>
                        <a:effectLst/>
                        <a:latin typeface="+mn-lt"/>
                        <a:ea typeface="+mn-ea"/>
                        <a:cs typeface="+mn-cs"/>
                      </a:endParaRPr>
                    </a:p>
                    <a:p>
                      <a:pPr marL="228600" indent="-228600" algn="l" defTabSz="914400" rtl="0" eaLnBrk="1" latinLnBrk="1" hangingPunct="1">
                        <a:lnSpc>
                          <a:spcPct val="100000"/>
                        </a:lnSpc>
                        <a:spcAft>
                          <a:spcPts val="0"/>
                        </a:spcAft>
                        <a:buFont typeface="Wingdings" panose="05000000000000000000" pitchFamily="2" charset="2"/>
                        <a:buChar char="§"/>
                      </a:pPr>
                      <a:r>
                        <a:rPr lang="en-US" altLang="ko-KR" sz="1200" strike="noStrike" kern="1200" baseline="0" dirty="0">
                          <a:solidFill>
                            <a:schemeClr val="tx1"/>
                          </a:solidFill>
                          <a:effectLst/>
                          <a:latin typeface="+mn-lt"/>
                          <a:ea typeface="+mn-ea"/>
                          <a:cs typeface="+mn-cs"/>
                        </a:rPr>
                        <a:t>Queue </a:t>
                      </a:r>
                      <a:r>
                        <a:rPr lang="ko-KR" altLang="en-US" sz="1200" strike="noStrike" kern="1200" baseline="0" dirty="0">
                          <a:solidFill>
                            <a:schemeClr val="tx1"/>
                          </a:solidFill>
                          <a:effectLst/>
                          <a:latin typeface="+mn-lt"/>
                          <a:ea typeface="+mn-ea"/>
                          <a:cs typeface="+mn-cs"/>
                        </a:rPr>
                        <a:t>시간</a:t>
                      </a:r>
                      <a:r>
                        <a:rPr lang="en-US" altLang="ko-KR" sz="1200" strike="noStrike" kern="1200" baseline="0" dirty="0">
                          <a:solidFill>
                            <a:schemeClr val="tx1"/>
                          </a:solidFill>
                          <a:effectLst/>
                          <a:latin typeface="+mn-lt"/>
                          <a:ea typeface="+mn-ea"/>
                          <a:cs typeface="+mn-cs"/>
                        </a:rPr>
                        <a:t>, </a:t>
                      </a:r>
                      <a:r>
                        <a:rPr lang="ko-KR" altLang="en-US" sz="1200" strike="noStrike" kern="1200" baseline="0" dirty="0">
                          <a:solidFill>
                            <a:schemeClr val="tx1"/>
                          </a:solidFill>
                          <a:effectLst/>
                          <a:latin typeface="+mn-lt"/>
                          <a:ea typeface="+mn-ea"/>
                          <a:cs typeface="+mn-cs"/>
                        </a:rPr>
                        <a:t>데이터 이동 시간 </a:t>
                      </a:r>
                      <a:r>
                        <a:rPr lang="en-US" altLang="ko-KR" sz="1200" strike="noStrike" kern="1200" baseline="0" dirty="0">
                          <a:solidFill>
                            <a:schemeClr val="tx1"/>
                          </a:solidFill>
                          <a:effectLst/>
                          <a:latin typeface="+mn-lt"/>
                          <a:ea typeface="+mn-ea"/>
                          <a:cs typeface="+mn-cs"/>
                        </a:rPr>
                        <a:t>(TTFT </a:t>
                      </a:r>
                      <a:r>
                        <a:rPr lang="ko-KR" altLang="en-US" sz="1200" strike="noStrike" kern="1200" baseline="0" dirty="0">
                          <a:solidFill>
                            <a:schemeClr val="tx1"/>
                          </a:solidFill>
                          <a:effectLst/>
                          <a:latin typeface="+mn-lt"/>
                          <a:ea typeface="+mn-ea"/>
                          <a:cs typeface="+mn-cs"/>
                        </a:rPr>
                        <a:t>포함</a:t>
                      </a:r>
                      <a:r>
                        <a:rPr lang="en-US" altLang="ko-KR" sz="1200" strike="noStrike" kern="1200" baseline="0" dirty="0">
                          <a:solidFill>
                            <a:schemeClr val="tx1"/>
                          </a:solidFill>
                          <a:effectLst/>
                          <a:latin typeface="+mn-lt"/>
                          <a:ea typeface="+mn-ea"/>
                          <a:cs typeface="+mn-cs"/>
                        </a:rPr>
                        <a:t>) </a:t>
                      </a:r>
                      <a:r>
                        <a:rPr lang="ko-KR" altLang="en-US" sz="1200" strike="noStrike" kern="1200" baseline="0" dirty="0">
                          <a:solidFill>
                            <a:schemeClr val="tx1"/>
                          </a:solidFill>
                          <a:effectLst/>
                          <a:latin typeface="+mn-lt"/>
                          <a:ea typeface="+mn-ea"/>
                          <a:cs typeface="+mn-cs"/>
                        </a:rPr>
                        <a:t>절감 가능</a:t>
                      </a:r>
                      <a:endParaRPr lang="en-US" altLang="ko-KR" sz="1200" strike="noStrike" kern="1200" baseline="0" dirty="0">
                        <a:solidFill>
                          <a:schemeClr val="tx1"/>
                        </a:solidFill>
                        <a:effectLst/>
                        <a:latin typeface="+mn-lt"/>
                        <a:ea typeface="+mn-ea"/>
                        <a:cs typeface="+mn-cs"/>
                      </a:endParaRPr>
                    </a:p>
                    <a:p>
                      <a:pPr marL="228600" indent="-228600" algn="l" defTabSz="914400" rtl="0" eaLnBrk="1" latinLnBrk="1" hangingPunct="1">
                        <a:lnSpc>
                          <a:spcPct val="100000"/>
                        </a:lnSpc>
                        <a:spcAft>
                          <a:spcPts val="0"/>
                        </a:spcAft>
                        <a:buFont typeface="Wingdings" panose="05000000000000000000" pitchFamily="2" charset="2"/>
                        <a:buChar char="§"/>
                      </a:pPr>
                      <a:r>
                        <a:rPr lang="en-US" altLang="ko-KR" sz="1200" strike="noStrike" kern="1200" baseline="0" dirty="0">
                          <a:solidFill>
                            <a:schemeClr val="tx1"/>
                          </a:solidFill>
                          <a:effectLst/>
                          <a:latin typeface="+mn-lt"/>
                          <a:ea typeface="+mn-ea"/>
                          <a:cs typeface="+mn-cs"/>
                        </a:rPr>
                        <a:t>Latest load</a:t>
                      </a:r>
                      <a:r>
                        <a:rPr lang="ko-KR" altLang="en-US" sz="1200" strike="noStrike" kern="1200" baseline="0" dirty="0">
                          <a:solidFill>
                            <a:schemeClr val="tx1"/>
                          </a:solidFill>
                          <a:effectLst/>
                          <a:latin typeface="+mn-lt"/>
                          <a:ea typeface="+mn-ea"/>
                          <a:cs typeface="+mn-cs"/>
                        </a:rPr>
                        <a:t>를 반영하여 </a:t>
                      </a:r>
                      <a:r>
                        <a:rPr lang="en-US" altLang="ko-KR" sz="1200" strike="noStrike" kern="1200" baseline="0" dirty="0">
                          <a:solidFill>
                            <a:schemeClr val="tx1"/>
                          </a:solidFill>
                          <a:effectLst/>
                          <a:latin typeface="+mn-lt"/>
                          <a:ea typeface="+mn-ea"/>
                          <a:cs typeface="+mn-cs"/>
                        </a:rPr>
                        <a:t>Resource utilization </a:t>
                      </a:r>
                      <a:r>
                        <a:rPr lang="ko-KR" altLang="en-US" sz="1200" strike="noStrike" kern="1200" baseline="0" dirty="0">
                          <a:solidFill>
                            <a:schemeClr val="tx1"/>
                          </a:solidFill>
                          <a:effectLst/>
                          <a:latin typeface="+mn-lt"/>
                          <a:ea typeface="+mn-ea"/>
                          <a:cs typeface="+mn-cs"/>
                        </a:rPr>
                        <a:t>유리</a:t>
                      </a:r>
                      <a:endParaRPr lang="en-US" altLang="ko-KR" sz="1200" strike="noStrike" kern="1200" baseline="0" dirty="0">
                        <a:solidFill>
                          <a:schemeClr val="tx1"/>
                        </a:solidFill>
                        <a:effectLst/>
                        <a:latin typeface="+mn-lt"/>
                        <a:ea typeface="+mn-ea"/>
                        <a:cs typeface="+mn-cs"/>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dirty="0">
                          <a:solidFill>
                            <a:schemeClr val="tx1"/>
                          </a:solidFill>
                          <a:effectLst/>
                        </a:rPr>
                        <a:t>Prefill </a:t>
                      </a:r>
                      <a:r>
                        <a:rPr lang="ko-KR" altLang="en-US" sz="1200" strike="noStrike" dirty="0">
                          <a:solidFill>
                            <a:schemeClr val="tx1"/>
                          </a:solidFill>
                          <a:effectLst/>
                        </a:rPr>
                        <a:t>연산 위치를 위한 계산을 </a:t>
                      </a:r>
                      <a:r>
                        <a:rPr lang="en-US" altLang="ko-KR" sz="1200" strike="noStrike" dirty="0">
                          <a:solidFill>
                            <a:schemeClr val="tx1"/>
                          </a:solidFill>
                          <a:effectLst/>
                        </a:rPr>
                        <a:t>critical path </a:t>
                      </a:r>
                      <a:r>
                        <a:rPr lang="ko-KR" altLang="en-US" sz="1200" strike="noStrike" dirty="0">
                          <a:solidFill>
                            <a:schemeClr val="tx1"/>
                          </a:solidFill>
                          <a:effectLst/>
                        </a:rPr>
                        <a:t>밖으로 분리</a:t>
                      </a:r>
                      <a:endParaRPr lang="en-US" altLang="ko-KR" sz="1200" strike="noStrike"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dirty="0">
                          <a:solidFill>
                            <a:schemeClr val="tx1"/>
                          </a:solidFill>
                          <a:effectLst/>
                        </a:rPr>
                        <a:t>Prefill</a:t>
                      </a:r>
                      <a:r>
                        <a:rPr lang="en-US" altLang="ko-KR" sz="1200" strike="noStrike" baseline="0" dirty="0">
                          <a:solidFill>
                            <a:schemeClr val="tx1"/>
                          </a:solidFill>
                          <a:effectLst/>
                        </a:rPr>
                        <a:t> </a:t>
                      </a:r>
                      <a:r>
                        <a:rPr lang="ko-KR" altLang="en-US" sz="1200" strike="noStrike" baseline="0" dirty="0">
                          <a:solidFill>
                            <a:schemeClr val="tx1"/>
                          </a:solidFill>
                          <a:effectLst/>
                        </a:rPr>
                        <a:t>연산 가능 자원 증가 및 </a:t>
                      </a:r>
                      <a:r>
                        <a:rPr lang="en-US" altLang="ko-KR" sz="1200" strike="noStrike" baseline="0" dirty="0">
                          <a:solidFill>
                            <a:schemeClr val="tx1"/>
                          </a:solidFill>
                          <a:effectLst/>
                        </a:rPr>
                        <a:t>Cost </a:t>
                      </a:r>
                      <a:r>
                        <a:rPr lang="ko-KR" altLang="en-US" sz="1200" strike="noStrike" baseline="0" dirty="0">
                          <a:solidFill>
                            <a:schemeClr val="tx1"/>
                          </a:solidFill>
                          <a:effectLst/>
                        </a:rPr>
                        <a:t>계산 복잡도 증가 시 유리</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Scheduler critical path</a:t>
                      </a:r>
                      <a:r>
                        <a:rPr lang="ko-KR" altLang="en-US" sz="1200" strike="noStrike" baseline="0" dirty="0">
                          <a:solidFill>
                            <a:schemeClr val="tx1"/>
                          </a:solidFill>
                          <a:effectLst/>
                        </a:rPr>
                        <a:t>에 </a:t>
                      </a:r>
                      <a:r>
                        <a:rPr lang="en-US" altLang="ko-KR" sz="1200" strike="noStrike" baseline="0" dirty="0">
                          <a:solidFill>
                            <a:schemeClr val="tx1"/>
                          </a:solidFill>
                          <a:effectLst/>
                        </a:rPr>
                        <a:t>Cost </a:t>
                      </a:r>
                      <a:r>
                        <a:rPr lang="ko-KR" altLang="en-US" sz="1200" strike="noStrike" baseline="0" dirty="0">
                          <a:solidFill>
                            <a:schemeClr val="tx1"/>
                          </a:solidFill>
                          <a:effectLst/>
                        </a:rPr>
                        <a:t>계산 포함</a:t>
                      </a:r>
                      <a:endParaRPr lang="en-US" altLang="ko-KR" sz="1200" strike="noStrike" baseline="0"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Prefill </a:t>
                      </a:r>
                      <a:r>
                        <a:rPr lang="ko-KR" altLang="en-US" sz="1200" strike="noStrike" baseline="0" dirty="0">
                          <a:solidFill>
                            <a:schemeClr val="tx1"/>
                          </a:solidFill>
                          <a:effectLst/>
                        </a:rPr>
                        <a:t>연산 가능 자원 증가 및 </a:t>
                      </a:r>
                      <a:r>
                        <a:rPr lang="en-US" altLang="ko-KR" sz="1200" strike="noStrike" baseline="0" dirty="0">
                          <a:solidFill>
                            <a:schemeClr val="tx1"/>
                          </a:solidFill>
                          <a:effectLst/>
                        </a:rPr>
                        <a:t>Cost </a:t>
                      </a:r>
                      <a:r>
                        <a:rPr lang="ko-KR" altLang="en-US" sz="1200" strike="noStrike" baseline="0" dirty="0">
                          <a:solidFill>
                            <a:schemeClr val="tx1"/>
                          </a:solidFill>
                          <a:effectLst/>
                        </a:rPr>
                        <a:t>계산 복잡도 증가 시 처리량 저하</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계획 시점과 실행 시점 상태 차이로</a:t>
                      </a:r>
                      <a:r>
                        <a:rPr lang="en-US" altLang="ko-KR" sz="1200" strike="noStrike" baseline="0" dirty="0">
                          <a:solidFill>
                            <a:schemeClr val="tx1"/>
                          </a:solidFill>
                          <a:effectLst/>
                        </a:rPr>
                        <a:t> validation/re-planning overhead </a:t>
                      </a:r>
                      <a:r>
                        <a:rPr lang="ko-KR" altLang="en-US" sz="1200" strike="noStrike" baseline="0" dirty="0">
                          <a:solidFill>
                            <a:schemeClr val="tx1"/>
                          </a:solidFill>
                          <a:effectLst/>
                        </a:rPr>
                        <a:t>및 </a:t>
                      </a:r>
                      <a:r>
                        <a:rPr lang="en-US" altLang="ko-KR" sz="1200" strike="noStrike" baseline="0" dirty="0" err="1">
                          <a:solidFill>
                            <a:schemeClr val="tx1"/>
                          </a:solidFill>
                          <a:effectLst/>
                        </a:rPr>
                        <a:t>mis</a:t>
                      </a:r>
                      <a:r>
                        <a:rPr lang="en-US" altLang="ko-KR" sz="1200" strike="noStrike" baseline="0" dirty="0">
                          <a:solidFill>
                            <a:schemeClr val="tx1"/>
                          </a:solidFill>
                          <a:effectLst/>
                        </a:rPr>
                        <a:t>-selection </a:t>
                      </a:r>
                      <a:r>
                        <a:rPr lang="ko-KR" altLang="en-US" sz="1200" strike="noStrike" baseline="0" dirty="0">
                          <a:solidFill>
                            <a:schemeClr val="tx1"/>
                          </a:solidFill>
                          <a:effectLst/>
                        </a:rPr>
                        <a:t>가능</a:t>
                      </a:r>
                      <a:endParaRPr lang="en-US" altLang="ko-KR" sz="1200" strike="noStrike" baseline="0" dirty="0">
                        <a:solidFill>
                          <a:schemeClr val="tx1"/>
                        </a:solidFill>
                        <a:effectLst/>
                      </a:endParaRPr>
                    </a:p>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데이터 이동 시간</a:t>
                      </a:r>
                      <a:r>
                        <a:rPr lang="en-US" altLang="ko-KR" sz="1200" strike="noStrike" baseline="0" dirty="0">
                          <a:solidFill>
                            <a:schemeClr val="tx1"/>
                          </a:solidFill>
                          <a:effectLst/>
                        </a:rPr>
                        <a:t> </a:t>
                      </a:r>
                      <a:r>
                        <a:rPr lang="ko-KR" altLang="en-US" sz="1200" strike="noStrike" baseline="0" dirty="0">
                          <a:solidFill>
                            <a:schemeClr val="tx1"/>
                          </a:solidFill>
                          <a:effectLst/>
                        </a:rPr>
                        <a:t>증가 가능</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630306">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en-US" altLang="ko-KR" sz="1050" b="0" strike="noStrike" dirty="0">
                          <a:solidFill>
                            <a:schemeClr val="tx1"/>
                          </a:solidFill>
                        </a:rPr>
                        <a:t>(throughput) </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en-US" altLang="ko-KR" sz="1050" b="0" strike="noStrike" dirty="0">
                          <a:solidFill>
                            <a:schemeClr val="tx1"/>
                          </a:solidFill>
                        </a:rPr>
                        <a:t>(latency – TTFT) </a:t>
                      </a:r>
                      <a:r>
                        <a:rPr lang="en-US" altLang="ko-KR" sz="700" b="0" strike="noStrike" dirty="0">
                          <a:solidFill>
                            <a:schemeClr val="tx1"/>
                          </a:solidFill>
                        </a:rPr>
                        <a:t>– </a:t>
                      </a:r>
                      <a:r>
                        <a:rPr lang="ko-KR" altLang="en-US" sz="700" b="0" strike="noStrike" dirty="0">
                          <a:solidFill>
                            <a:schemeClr val="tx1"/>
                          </a:solidFill>
                        </a:rPr>
                        <a:t>큐</a:t>
                      </a:r>
                      <a:r>
                        <a:rPr lang="en-US" altLang="ko-KR" sz="700" b="0" strike="noStrike" dirty="0">
                          <a:solidFill>
                            <a:schemeClr val="tx1"/>
                          </a:solidFill>
                        </a:rPr>
                        <a:t>, </a:t>
                      </a:r>
                      <a:r>
                        <a:rPr lang="ko-KR" altLang="en-US" sz="700" b="0" strike="noStrike" dirty="0">
                          <a:solidFill>
                            <a:schemeClr val="tx1"/>
                          </a:solidFill>
                        </a:rPr>
                        <a:t>데이터 이동시간 절감 </a:t>
                      </a:r>
                      <a:r>
                        <a:rPr lang="en-US" altLang="ko-KR" sz="700" b="0" strike="noStrike" dirty="0">
                          <a:solidFill>
                            <a:schemeClr val="tx1"/>
                          </a:solidFill>
                        </a:rPr>
                        <a:t>&gt; </a:t>
                      </a:r>
                      <a:r>
                        <a:rPr lang="ko-KR" altLang="en-US" sz="700" b="0" strike="noStrike" dirty="0">
                          <a:solidFill>
                            <a:schemeClr val="tx1"/>
                          </a:solidFill>
                        </a:rPr>
                        <a:t>결정 시간 증가</a:t>
                      </a:r>
                      <a:endParaRPr lang="en-US" altLang="ko-KR" sz="1200" b="0" strike="noStrike" dirty="0">
                        <a:solidFill>
                          <a:schemeClr val="tx1"/>
                        </a:solidFill>
                      </a:endParaRP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 </a:t>
                      </a:r>
                      <a:r>
                        <a:rPr lang="en-US" altLang="ko-KR" sz="700" b="0" strike="noStrike" dirty="0">
                          <a:solidFill>
                            <a:schemeClr val="tx1"/>
                          </a:solidFill>
                        </a:rPr>
                        <a:t>–</a:t>
                      </a:r>
                      <a:r>
                        <a:rPr lang="en-US" altLang="ko-KR" sz="700" b="0" strike="noStrike" baseline="0" dirty="0">
                          <a:solidFill>
                            <a:schemeClr val="tx1"/>
                          </a:solidFill>
                        </a:rPr>
                        <a:t> latest load </a:t>
                      </a:r>
                      <a:r>
                        <a:rPr lang="ko-KR" altLang="en-US" sz="700" b="0" strike="noStrike" baseline="0" dirty="0">
                          <a:solidFill>
                            <a:schemeClr val="tx1"/>
                          </a:solidFill>
                        </a:rPr>
                        <a:t>반영</a:t>
                      </a:r>
                      <a:endParaRPr lang="en-US" altLang="ko-KR" sz="700" b="0" strike="noStrike" dirty="0">
                        <a:solidFill>
                          <a:schemeClr val="tx1"/>
                        </a:solidFill>
                      </a:endParaRP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Scalability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en-US" altLang="ko-KR" sz="1050" b="0" strike="noStrike" dirty="0">
                          <a:solidFill>
                            <a:schemeClr val="tx1"/>
                          </a:solidFill>
                        </a:rPr>
                        <a:t>(throughput)</a:t>
                      </a:r>
                      <a:r>
                        <a:rPr lang="en-US" altLang="ko-KR" sz="1200" b="0" strike="noStrike" dirty="0">
                          <a:solidFill>
                            <a:schemeClr val="tx1"/>
                          </a:solidFill>
                        </a:rPr>
                        <a:t> </a:t>
                      </a:r>
                      <a:r>
                        <a:rPr lang="en-US" altLang="ko-KR" sz="700" b="0" strike="noStrike" dirty="0">
                          <a:solidFill>
                            <a:schemeClr val="tx1"/>
                          </a:solidFill>
                        </a:rPr>
                        <a:t>– critical path </a:t>
                      </a:r>
                      <a:r>
                        <a:rPr lang="ko-KR" altLang="en-US" sz="700" b="0" strike="noStrike" dirty="0">
                          <a:solidFill>
                            <a:schemeClr val="tx1"/>
                          </a:solidFill>
                        </a:rPr>
                        <a:t>밖에서</a:t>
                      </a:r>
                      <a:r>
                        <a:rPr lang="ko-KR" altLang="en-US" sz="700" b="0" strike="noStrike" baseline="0" dirty="0">
                          <a:solidFill>
                            <a:schemeClr val="tx1"/>
                          </a:solidFill>
                        </a:rPr>
                        <a:t> </a:t>
                      </a:r>
                      <a:r>
                        <a:rPr lang="en-US" altLang="ko-KR" sz="700" b="0" strike="noStrike" baseline="0" dirty="0">
                          <a:solidFill>
                            <a:schemeClr val="tx1"/>
                          </a:solidFill>
                        </a:rPr>
                        <a:t>Cost </a:t>
                      </a:r>
                      <a:r>
                        <a:rPr lang="ko-KR" altLang="en-US" sz="700" b="0" strike="noStrike" baseline="0" dirty="0">
                          <a:solidFill>
                            <a:schemeClr val="tx1"/>
                          </a:solidFill>
                        </a:rPr>
                        <a:t>계산</a:t>
                      </a:r>
                      <a:endParaRPr lang="en-US" altLang="ko-KR" sz="700" b="0" strike="noStrike" dirty="0">
                        <a:solidFill>
                          <a:schemeClr val="tx1"/>
                        </a:solidFill>
                      </a:endParaRP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en-US" altLang="ko-KR" sz="1050" b="0" strike="noStrike" dirty="0">
                          <a:solidFill>
                            <a:schemeClr val="tx1"/>
                          </a:solidFill>
                        </a:rPr>
                        <a:t>(latency – TTFT)</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b="0" strike="noStrike" dirty="0">
                          <a:solidFill>
                            <a:schemeClr val="tx1"/>
                          </a:solidFill>
                        </a:rPr>
                        <a:t>Resource Utilization </a:t>
                      </a:r>
                      <a:r>
                        <a:rPr lang="en-US" altLang="ko-KR" sz="800" b="0" strike="noStrike" dirty="0">
                          <a:solidFill>
                            <a:schemeClr val="tx1"/>
                          </a:solidFill>
                        </a:rPr>
                        <a:t>–</a:t>
                      </a:r>
                      <a:r>
                        <a:rPr lang="en-US" altLang="ko-KR" sz="800" b="0" strike="noStrike" baseline="0" dirty="0">
                          <a:solidFill>
                            <a:schemeClr val="tx1"/>
                          </a:solidFill>
                        </a:rPr>
                        <a:t> stale plan/herding </a:t>
                      </a:r>
                      <a:r>
                        <a:rPr lang="ko-KR" altLang="en-US" sz="800" b="0" strike="noStrike" baseline="0" dirty="0">
                          <a:solidFill>
                            <a:schemeClr val="tx1"/>
                          </a:solidFill>
                        </a:rPr>
                        <a:t>으로 </a:t>
                      </a:r>
                      <a:r>
                        <a:rPr lang="en-US" altLang="ko-KR" sz="800" b="0" strike="noStrike" baseline="0" dirty="0">
                          <a:solidFill>
                            <a:schemeClr val="tx1"/>
                          </a:solidFill>
                        </a:rPr>
                        <a:t>load imbalance</a:t>
                      </a:r>
                      <a:endParaRPr lang="en-US" altLang="ko-KR" sz="1200" b="0" strike="noStrike" dirty="0">
                        <a:solidFill>
                          <a:schemeClr val="tx1"/>
                        </a:solidFill>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b="0" strike="noStrike" dirty="0">
                          <a:solidFill>
                            <a:schemeClr val="tx1"/>
                          </a:solidFill>
                        </a:rPr>
                        <a:t>Modifiability </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b="0" strike="noStrike" dirty="0">
                          <a:solidFill>
                            <a:schemeClr val="tx1"/>
                          </a:solidFill>
                        </a:rPr>
                        <a:t>Scalability </a:t>
                      </a:r>
                      <a:r>
                        <a:rPr kumimoji="0" lang="en-US" altLang="ko-KR" sz="1200" b="0" i="0" u="none" strike="noStrike" kern="1200" cap="none" spc="0" normalizeH="0" baseline="0" noProof="0" dirty="0">
                          <a:ln>
                            <a:noFill/>
                          </a:ln>
                          <a:solidFill>
                            <a:prstClr val="black"/>
                          </a:solidFill>
                          <a:effectLst/>
                          <a:uLnTx/>
                          <a:uFillTx/>
                          <a:latin typeface="+mn-lt"/>
                          <a:ea typeface="+mn-ea"/>
                          <a:cs typeface="+mn-cs"/>
                        </a:rPr>
                        <a:t>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strike="noStrike" dirty="0">
                          <a:solidFill>
                            <a:schemeClr val="tx1"/>
                          </a:solidFill>
                          <a:latin typeface="맑은 고딕" panose="020B0503020000020004" pitchFamily="50" charset="-127"/>
                          <a:ea typeface="+mn-ea"/>
                        </a:rPr>
                        <a:t>●●●</a:t>
                      </a:r>
                      <a:endParaRPr lang="en-US" altLang="ko-KR" sz="1200" strike="noStrike" dirty="0">
                        <a:solidFill>
                          <a:schemeClr val="tx1"/>
                        </a:solidFill>
                        <a:latin typeface="맑은 고딕" panose="020B0503020000020004" pitchFamily="50" charset="-127"/>
                        <a:ea typeface="+mn-ea"/>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3" name="제목 2"/>
          <p:cNvSpPr>
            <a:spLocks noGrp="1"/>
          </p:cNvSpPr>
          <p:nvPr>
            <p:ph type="title"/>
          </p:nvPr>
        </p:nvSpPr>
        <p:spPr>
          <a:xfrm>
            <a:off x="234949" y="137379"/>
            <a:ext cx="7631530" cy="365125"/>
          </a:xfrm>
        </p:spPr>
        <p:txBody>
          <a:bodyPr/>
          <a:lstStyle/>
          <a:p>
            <a:r>
              <a:rPr lang="en-US" altLang="ko-KR" dirty="0"/>
              <a:t>DP2. </a:t>
            </a:r>
            <a:r>
              <a:rPr lang="ko-KR" altLang="en-US" dirty="0"/>
              <a:t>이기종 메모리 환경의 </a:t>
            </a:r>
            <a:r>
              <a:rPr lang="en-US" altLang="ko-KR" dirty="0"/>
              <a:t>Prefill </a:t>
            </a:r>
            <a:r>
              <a:rPr lang="ko-KR" altLang="en-US" dirty="0"/>
              <a:t>실행 위치 결정 구조 </a:t>
            </a:r>
            <a:r>
              <a:rPr lang="en-US" altLang="ko-KR" dirty="0"/>
              <a:t>- </a:t>
            </a:r>
            <a:r>
              <a:rPr lang="ko-KR" altLang="en-US" dirty="0"/>
              <a:t>설계</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r>
              <a:rPr lang="ko-KR" altLang="en-US" sz="1400" b="1" dirty="0">
                <a:solidFill>
                  <a:schemeClr val="bg1"/>
                </a:solidFill>
              </a:rPr>
              <a:t>연산 가능 메모리 후보에 대해 </a:t>
            </a:r>
            <a:r>
              <a:rPr lang="en-US" altLang="ko-KR" sz="1400" b="1" dirty="0">
                <a:solidFill>
                  <a:schemeClr val="bg1"/>
                </a:solidFill>
              </a:rPr>
              <a:t>Prefill </a:t>
            </a:r>
            <a:r>
              <a:rPr lang="ko-KR" altLang="en-US" sz="1400" b="1" dirty="0">
                <a:solidFill>
                  <a:schemeClr val="bg1"/>
                </a:solidFill>
              </a:rPr>
              <a:t>실행 </a:t>
            </a:r>
            <a:r>
              <a:rPr lang="en-US" altLang="ko-KR" sz="1400" b="1" dirty="0">
                <a:solidFill>
                  <a:schemeClr val="bg1"/>
                </a:solidFill>
              </a:rPr>
              <a:t>Cost</a:t>
            </a:r>
            <a:r>
              <a:rPr lang="ko-KR" altLang="en-US" sz="1400" b="1" dirty="0">
                <a:solidFill>
                  <a:schemeClr val="bg1"/>
                </a:solidFill>
              </a:rPr>
              <a:t>를 계산하고 연산 위치를 결정하는 구조</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88657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9673910"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a:t>
            </a:r>
            <a:endParaRPr lang="ko-KR" altLang="en-US" sz="900" b="1" dirty="0">
              <a:latin typeface="맑은 고딕" panose="020B0503020000020004" pitchFamily="50" charset="-127"/>
              <a:ea typeface="맑은 고딕" panose="020B0503020000020004" pitchFamily="50" charset="-127"/>
            </a:endParaRPr>
          </a:p>
        </p:txBody>
      </p:sp>
      <p:sp>
        <p:nvSpPr>
          <p:cNvPr id="32" name="모서리가 둥근 직사각형 31"/>
          <p:cNvSpPr/>
          <p:nvPr/>
        </p:nvSpPr>
        <p:spPr>
          <a:xfrm>
            <a:off x="11187937"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rPr>
              <a:t>C2</a:t>
            </a:r>
            <a:endParaRPr lang="ko-KR" altLang="en-US" sz="900" b="1" dirty="0">
              <a:latin typeface="맑은 고딕" panose="020B0503020000020004" pitchFamily="50" charset="-127"/>
            </a:endParaRPr>
          </a:p>
        </p:txBody>
      </p:sp>
      <p:sp>
        <p:nvSpPr>
          <p:cNvPr id="38" name="모서리가 둥근 직사각형 37"/>
          <p:cNvSpPr/>
          <p:nvPr/>
        </p:nvSpPr>
        <p:spPr>
          <a:xfrm>
            <a:off x="8062711"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0453490"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14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11250" y="1397380"/>
            <a:ext cx="5422899" cy="261610"/>
          </a:xfrm>
          <a:prstGeom prst="rect">
            <a:avLst/>
          </a:prstGeom>
          <a:noFill/>
        </p:spPr>
        <p:txBody>
          <a:bodyPr wrap="square" rtlCol="0">
            <a:spAutoFit/>
          </a:bodyPr>
          <a:lstStyle/>
          <a:p>
            <a:r>
              <a:rPr lang="en-US" altLang="ko-KR" sz="1100" dirty="0"/>
              <a:t>“</a:t>
            </a:r>
            <a:r>
              <a:rPr lang="ko-KR" altLang="en-US" sz="1100" dirty="0"/>
              <a:t>스케줄링하는 시점에 </a:t>
            </a:r>
            <a:r>
              <a:rPr lang="en-US" altLang="ko-KR" sz="1100" dirty="0"/>
              <a:t>Cost</a:t>
            </a:r>
            <a:r>
              <a:rPr lang="ko-KR" altLang="en-US" sz="1100" dirty="0"/>
              <a:t>를 계산하여 </a:t>
            </a:r>
            <a:r>
              <a:rPr lang="en-US" altLang="ko-KR" sz="1100" dirty="0"/>
              <a:t>Prefill </a:t>
            </a:r>
            <a:r>
              <a:rPr lang="ko-KR" altLang="en-US" sz="1100" dirty="0"/>
              <a:t>실행 위치 결정 </a:t>
            </a:r>
            <a:r>
              <a:rPr lang="en-US" altLang="ko-KR" sz="1100" dirty="0"/>
              <a:t>”</a:t>
            </a:r>
            <a:endParaRPr lang="ko-KR" altLang="en-US" sz="1100" dirty="0"/>
          </a:p>
        </p:txBody>
      </p:sp>
      <p:sp>
        <p:nvSpPr>
          <p:cNvPr id="106" name="TextBox 105"/>
          <p:cNvSpPr txBox="1"/>
          <p:nvPr/>
        </p:nvSpPr>
        <p:spPr>
          <a:xfrm>
            <a:off x="6534149" y="1383052"/>
            <a:ext cx="5448301" cy="261610"/>
          </a:xfrm>
          <a:prstGeom prst="rect">
            <a:avLst/>
          </a:prstGeom>
          <a:noFill/>
        </p:spPr>
        <p:txBody>
          <a:bodyPr wrap="square" rtlCol="0">
            <a:spAutoFit/>
          </a:bodyPr>
          <a:lstStyle/>
          <a:p>
            <a:r>
              <a:rPr lang="en-US" altLang="ko-KR" sz="1100" dirty="0"/>
              <a:t>“Request</a:t>
            </a:r>
            <a:r>
              <a:rPr lang="ko-KR" altLang="en-US" sz="1100" dirty="0"/>
              <a:t>가 </a:t>
            </a:r>
            <a:r>
              <a:rPr lang="en-US" altLang="ko-KR" sz="1100" dirty="0"/>
              <a:t>waiting </a:t>
            </a:r>
            <a:r>
              <a:rPr lang="ko-KR" altLang="en-US" sz="1100" dirty="0"/>
              <a:t>상태에 있을 때 </a:t>
            </a:r>
            <a:r>
              <a:rPr lang="en-US" altLang="ko-KR" sz="1100" dirty="0"/>
              <a:t>Cost</a:t>
            </a:r>
            <a:r>
              <a:rPr lang="ko-KR" altLang="en-US" sz="1100" dirty="0"/>
              <a:t>를 미리 계산하여 </a:t>
            </a:r>
            <a:r>
              <a:rPr lang="en-US" altLang="ko-KR" sz="1100" dirty="0"/>
              <a:t>Prefill </a:t>
            </a:r>
            <a:r>
              <a:rPr lang="ko-KR" altLang="en-US" sz="1100" dirty="0"/>
              <a:t>위치 결정</a:t>
            </a:r>
            <a:r>
              <a:rPr lang="en-US" altLang="ko-KR" sz="1100" dirty="0"/>
              <a:t>”</a:t>
            </a:r>
            <a:endParaRPr lang="ko-KR" altLang="en-US" sz="1100" dirty="0"/>
          </a:p>
        </p:txBody>
      </p:sp>
      <p:sp>
        <p:nvSpPr>
          <p:cNvPr id="103" name="Shape 56">
            <a:extLst>
              <a:ext uri="{FF2B5EF4-FFF2-40B4-BE49-F238E27FC236}">
                <a16:creationId xmlns:a16="http://schemas.microsoft.com/office/drawing/2014/main" id="{33C7046D-072B-4A63-B8E3-E6FE269F4E83}"/>
              </a:ext>
            </a:extLst>
          </p:cNvPr>
          <p:cNvSpPr/>
          <p:nvPr/>
        </p:nvSpPr>
        <p:spPr>
          <a:xfrm>
            <a:off x="3872267" y="5221476"/>
            <a:ext cx="0" cy="0"/>
          </a:xfrm>
          <a:prstGeom prst="line">
            <a:avLst/>
          </a:prstGeom>
          <a:noFill/>
          <a:ln w="16510">
            <a:solidFill>
              <a:srgbClr val="4D7EA8"/>
            </a:solidFill>
            <a:prstDash val="solid"/>
            <a:headEnd type="none"/>
            <a:tailEnd type="none"/>
          </a:ln>
        </p:spPr>
      </p:sp>
      <p:grpSp>
        <p:nvGrpSpPr>
          <p:cNvPr id="79" name="그룹 78">
            <a:extLst>
              <a:ext uri="{FF2B5EF4-FFF2-40B4-BE49-F238E27FC236}">
                <a16:creationId xmlns:a16="http://schemas.microsoft.com/office/drawing/2014/main" id="{720FB538-39AD-4DFE-A22C-165BAB71ACE9}"/>
              </a:ext>
            </a:extLst>
          </p:cNvPr>
          <p:cNvGrpSpPr/>
          <p:nvPr/>
        </p:nvGrpSpPr>
        <p:grpSpPr>
          <a:xfrm>
            <a:off x="1769157" y="1653568"/>
            <a:ext cx="3850923" cy="2840274"/>
            <a:chOff x="2540917" y="1891482"/>
            <a:chExt cx="3850923" cy="2840274"/>
          </a:xfrm>
        </p:grpSpPr>
        <p:sp>
          <p:nvSpPr>
            <p:cNvPr id="112" name="Shape 31">
              <a:extLst>
                <a:ext uri="{FF2B5EF4-FFF2-40B4-BE49-F238E27FC236}">
                  <a16:creationId xmlns:a16="http://schemas.microsoft.com/office/drawing/2014/main" id="{823D7D32-6771-4AA4-9581-77C6BEA03C53}"/>
                </a:ext>
              </a:extLst>
            </p:cNvPr>
            <p:cNvSpPr/>
            <p:nvPr/>
          </p:nvSpPr>
          <p:spPr>
            <a:xfrm>
              <a:off x="3721280" y="1891482"/>
              <a:ext cx="1411795" cy="292607"/>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Request Scheduler</a:t>
              </a:r>
              <a:endParaRPr lang="ko-KR" altLang="en-US" sz="1000" dirty="0">
                <a:solidFill>
                  <a:srgbClr val="1A1A1A"/>
                </a:solidFill>
                <a:latin typeface="Malgun Gothic" pitchFamily="34" charset="0"/>
                <a:ea typeface="Malgun Gothic" pitchFamily="34" charset="-122"/>
              </a:endParaRPr>
            </a:p>
          </p:txBody>
        </p:sp>
        <p:grpSp>
          <p:nvGrpSpPr>
            <p:cNvPr id="16" name="그룹 15">
              <a:extLst>
                <a:ext uri="{FF2B5EF4-FFF2-40B4-BE49-F238E27FC236}">
                  <a16:creationId xmlns:a16="http://schemas.microsoft.com/office/drawing/2014/main" id="{123D65B1-2DBC-45BA-89D9-DF8AE2802551}"/>
                </a:ext>
              </a:extLst>
            </p:cNvPr>
            <p:cNvGrpSpPr/>
            <p:nvPr/>
          </p:nvGrpSpPr>
          <p:grpSpPr>
            <a:xfrm>
              <a:off x="3012045" y="2342737"/>
              <a:ext cx="2830275" cy="1425805"/>
              <a:chOff x="1371273" y="2785393"/>
              <a:chExt cx="2572977" cy="1178351"/>
            </a:xfrm>
          </p:grpSpPr>
          <p:grpSp>
            <p:nvGrpSpPr>
              <p:cNvPr id="114" name="그룹 113">
                <a:extLst>
                  <a:ext uri="{FF2B5EF4-FFF2-40B4-BE49-F238E27FC236}">
                    <a16:creationId xmlns:a16="http://schemas.microsoft.com/office/drawing/2014/main" id="{55E86E1C-7256-4E05-BD39-53AA3DC3041A}"/>
                  </a:ext>
                </a:extLst>
              </p:cNvPr>
              <p:cNvGrpSpPr/>
              <p:nvPr/>
            </p:nvGrpSpPr>
            <p:grpSpPr>
              <a:xfrm>
                <a:off x="1371281" y="2985575"/>
                <a:ext cx="2572969" cy="978169"/>
                <a:chOff x="2866277" y="1960495"/>
                <a:chExt cx="1933110" cy="978169"/>
              </a:xfrm>
            </p:grpSpPr>
            <p:sp>
              <p:nvSpPr>
                <p:cNvPr id="115" name="Shape 39">
                  <a:extLst>
                    <a:ext uri="{FF2B5EF4-FFF2-40B4-BE49-F238E27FC236}">
                      <a16:creationId xmlns:a16="http://schemas.microsoft.com/office/drawing/2014/main" id="{6868F6CD-24B6-42CB-9385-562D6F007FDF}"/>
                    </a:ext>
                  </a:extLst>
                </p:cNvPr>
                <p:cNvSpPr/>
                <p:nvPr/>
              </p:nvSpPr>
              <p:spPr>
                <a:xfrm>
                  <a:off x="2866277" y="1960495"/>
                  <a:ext cx="1933110" cy="978169"/>
                </a:xfrm>
                <a:prstGeom prst="rect">
                  <a:avLst/>
                </a:prstGeom>
                <a:solidFill>
                  <a:srgbClr val="D9EAF7">
                    <a:alpha val="98000"/>
                  </a:srgbClr>
                </a:solidFill>
                <a:ln w="15240">
                  <a:solidFill>
                    <a:srgbClr val="2F75B5"/>
                  </a:solidFill>
                  <a:prstDash val="solid"/>
                </a:ln>
              </p:spPr>
            </p:sp>
            <p:sp>
              <p:nvSpPr>
                <p:cNvPr id="116" name="Shape 39">
                  <a:extLst>
                    <a:ext uri="{FF2B5EF4-FFF2-40B4-BE49-F238E27FC236}">
                      <a16:creationId xmlns:a16="http://schemas.microsoft.com/office/drawing/2014/main" id="{F7D82DE9-0B6E-4CB1-A5F0-9E4D7591B816}"/>
                    </a:ext>
                  </a:extLst>
                </p:cNvPr>
                <p:cNvSpPr/>
                <p:nvPr/>
              </p:nvSpPr>
              <p:spPr>
                <a:xfrm>
                  <a:off x="3300960" y="2609060"/>
                  <a:ext cx="1044935" cy="231426"/>
                </a:xfrm>
                <a:prstGeom prst="rect">
                  <a:avLst/>
                </a:prstGeom>
                <a:solidFill>
                  <a:srgbClr val="FFFFFF"/>
                </a:solidFill>
                <a:ln w="12700">
                  <a:solidFill>
                    <a:srgbClr val="4D7EA8"/>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Cost Evaluator</a:t>
                  </a:r>
                </a:p>
              </p:txBody>
            </p:sp>
            <p:sp>
              <p:nvSpPr>
                <p:cNvPr id="117" name="Shape 37">
                  <a:extLst>
                    <a:ext uri="{FF2B5EF4-FFF2-40B4-BE49-F238E27FC236}">
                      <a16:creationId xmlns:a16="http://schemas.microsoft.com/office/drawing/2014/main" id="{306B7634-9A5E-4F0E-A947-927E7282352F}"/>
                    </a:ext>
                  </a:extLst>
                </p:cNvPr>
                <p:cNvSpPr/>
                <p:nvPr/>
              </p:nvSpPr>
              <p:spPr>
                <a:xfrm>
                  <a:off x="3924097" y="2058739"/>
                  <a:ext cx="784060" cy="270187"/>
                </a:xfrm>
                <a:prstGeom prst="rect">
                  <a:avLst/>
                </a:prstGeom>
                <a:solidFill>
                  <a:srgbClr val="FFFFFF"/>
                </a:solidFill>
                <a:ln w="12700">
                  <a:solidFill>
                    <a:srgbClr val="4D7EA8"/>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rPr>
                    <a:t>Resource State</a:t>
                  </a:r>
                </a:p>
                <a:p>
                  <a:pPr algn="ctr"/>
                  <a:r>
                    <a:rPr lang="en-US" altLang="ko-KR" sz="1000" b="1" dirty="0">
                      <a:solidFill>
                        <a:srgbClr val="1A1A1A"/>
                      </a:solidFill>
                      <a:latin typeface="Malgun Gothic" pitchFamily="34" charset="0"/>
                      <a:ea typeface="Malgun Gothic" pitchFamily="34" charset="-122"/>
                    </a:rPr>
                    <a:t>Monitor</a:t>
                  </a:r>
                  <a:endParaRPr kumimoji="0" lang="en-US" altLang="ko-KR" sz="10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endParaRPr>
                </a:p>
              </p:txBody>
            </p:sp>
            <p:cxnSp>
              <p:nvCxnSpPr>
                <p:cNvPr id="118" name="직선 화살표 연결선 185">
                  <a:extLst>
                    <a:ext uri="{FF2B5EF4-FFF2-40B4-BE49-F238E27FC236}">
                      <a16:creationId xmlns:a16="http://schemas.microsoft.com/office/drawing/2014/main" id="{63055888-A989-4681-8232-E5AD42EA4D88}"/>
                    </a:ext>
                  </a:extLst>
                </p:cNvPr>
                <p:cNvCxnSpPr>
                  <a:cxnSpLocks/>
                  <a:stCxn id="116" idx="0"/>
                  <a:endCxn id="117" idx="2"/>
                </p:cNvCxnSpPr>
                <p:nvPr/>
              </p:nvCxnSpPr>
              <p:spPr>
                <a:xfrm rot="5400000" flipH="1" flipV="1">
                  <a:off x="3929710" y="2222643"/>
                  <a:ext cx="280134" cy="492699"/>
                </a:xfrm>
                <a:prstGeom prst="bentConnector3">
                  <a:avLst>
                    <a:gd name="adj1" fmla="val 50000"/>
                  </a:avLst>
                </a:prstGeom>
                <a:noFill/>
                <a:ln w="11430">
                  <a:solidFill>
                    <a:schemeClr val="accent1"/>
                  </a:solidFill>
                  <a:prstDash val="solid"/>
                  <a:headEnd type="triangle" w="med" len="med"/>
                  <a:tailEnd type="none" w="med" len="med"/>
                </a:ln>
              </p:spPr>
            </p:cxnSp>
            <p:sp>
              <p:nvSpPr>
                <p:cNvPr id="71" name="Shape 37">
                  <a:extLst>
                    <a:ext uri="{FF2B5EF4-FFF2-40B4-BE49-F238E27FC236}">
                      <a16:creationId xmlns:a16="http://schemas.microsoft.com/office/drawing/2014/main" id="{306B7634-9A5E-4F0E-A947-927E7282352F}"/>
                    </a:ext>
                  </a:extLst>
                </p:cNvPr>
                <p:cNvSpPr/>
                <p:nvPr/>
              </p:nvSpPr>
              <p:spPr>
                <a:xfrm>
                  <a:off x="3039367" y="2058739"/>
                  <a:ext cx="784060" cy="270187"/>
                </a:xfrm>
                <a:prstGeom prst="rect">
                  <a:avLst/>
                </a:prstGeom>
                <a:solidFill>
                  <a:srgbClr val="FFFFFF"/>
                </a:solidFill>
                <a:ln w="12700">
                  <a:solidFill>
                    <a:srgbClr val="4D7EA8"/>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rPr>
                    <a:t>KV State</a:t>
                  </a:r>
                </a:p>
                <a:p>
                  <a:pPr algn="ctr"/>
                  <a:r>
                    <a:rPr lang="en-US" altLang="ko-KR" sz="1000" b="1" dirty="0">
                      <a:solidFill>
                        <a:srgbClr val="1A1A1A"/>
                      </a:solidFill>
                      <a:latin typeface="Malgun Gothic" pitchFamily="34" charset="0"/>
                      <a:ea typeface="Malgun Gothic" pitchFamily="34" charset="-122"/>
                    </a:rPr>
                    <a:t>Monitor</a:t>
                  </a:r>
                  <a:endParaRPr kumimoji="0" lang="en-US" altLang="ko-KR" sz="10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endParaRPr>
                </a:p>
              </p:txBody>
            </p:sp>
          </p:grpSp>
          <p:sp>
            <p:nvSpPr>
              <p:cNvPr id="119" name="Shape 40">
                <a:extLst>
                  <a:ext uri="{FF2B5EF4-FFF2-40B4-BE49-F238E27FC236}">
                    <a16:creationId xmlns:a16="http://schemas.microsoft.com/office/drawing/2014/main" id="{23DF7C3D-B06F-4B81-8EBA-A450F264EFE2}"/>
                  </a:ext>
                </a:extLst>
              </p:cNvPr>
              <p:cNvSpPr/>
              <p:nvPr/>
            </p:nvSpPr>
            <p:spPr>
              <a:xfrm>
                <a:off x="1371273" y="2785393"/>
                <a:ext cx="2572975" cy="200098"/>
              </a:xfrm>
              <a:prstGeom prst="rect">
                <a:avLst/>
              </a:prstGeom>
              <a:solidFill>
                <a:srgbClr val="2F75B5">
                  <a:alpha val="92000"/>
                </a:srgbClr>
              </a:solidFill>
              <a:ln w="12700">
                <a:solidFill>
                  <a:srgbClr val="2F75B5"/>
                </a:solidFill>
                <a:prstDash val="solid"/>
              </a:ln>
            </p:spPr>
            <p:txBody>
              <a:bodyPr anchor="ctr"/>
              <a:lstStyle/>
              <a:p>
                <a:pPr algn="ctr"/>
                <a:r>
                  <a:rPr lang="en-US" altLang="ko-KR" sz="1000" b="1" dirty="0">
                    <a:solidFill>
                      <a:schemeClr val="bg1"/>
                    </a:solidFill>
                  </a:rPr>
                  <a:t>Prefill Execution Planner</a:t>
                </a:r>
                <a:endParaRPr lang="ko-KR" altLang="en-US" sz="1000" b="1" dirty="0">
                  <a:solidFill>
                    <a:schemeClr val="bg1"/>
                  </a:solidFill>
                </a:endParaRPr>
              </a:p>
            </p:txBody>
          </p:sp>
        </p:grpSp>
        <p:sp>
          <p:nvSpPr>
            <p:cNvPr id="120" name="Shape 31">
              <a:extLst>
                <a:ext uri="{FF2B5EF4-FFF2-40B4-BE49-F238E27FC236}">
                  <a16:creationId xmlns:a16="http://schemas.microsoft.com/office/drawing/2014/main" id="{823D7D32-6771-4AA4-9581-77C6BEA03C53}"/>
                </a:ext>
              </a:extLst>
            </p:cNvPr>
            <p:cNvSpPr/>
            <p:nvPr/>
          </p:nvSpPr>
          <p:spPr>
            <a:xfrm>
              <a:off x="3672697" y="3905530"/>
              <a:ext cx="1508969" cy="292295"/>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Execution Router</a:t>
              </a:r>
              <a:endParaRPr lang="ko-KR" altLang="en-US" sz="1000" dirty="0">
                <a:solidFill>
                  <a:srgbClr val="1A1A1A"/>
                </a:solidFill>
                <a:latin typeface="Malgun Gothic" pitchFamily="34" charset="0"/>
                <a:ea typeface="Malgun Gothic" pitchFamily="34" charset="-122"/>
              </a:endParaRPr>
            </a:p>
          </p:txBody>
        </p:sp>
        <p:cxnSp>
          <p:nvCxnSpPr>
            <p:cNvPr id="193" name="직선 화살표 연결선 185">
              <a:extLst>
                <a:ext uri="{FF2B5EF4-FFF2-40B4-BE49-F238E27FC236}">
                  <a16:creationId xmlns:a16="http://schemas.microsoft.com/office/drawing/2014/main" id="{D76D373A-AD73-4958-8644-743AF962871F}"/>
                </a:ext>
              </a:extLst>
            </p:cNvPr>
            <p:cNvCxnSpPr>
              <a:cxnSpLocks/>
              <a:stCxn id="112" idx="2"/>
              <a:endCxn id="119" idx="0"/>
            </p:cNvCxnSpPr>
            <p:nvPr/>
          </p:nvCxnSpPr>
          <p:spPr>
            <a:xfrm>
              <a:off x="4427178" y="2184089"/>
              <a:ext cx="4" cy="158648"/>
            </a:xfrm>
            <a:prstGeom prst="straightConnector1">
              <a:avLst/>
            </a:prstGeom>
            <a:noFill/>
            <a:ln w="11430">
              <a:solidFill>
                <a:srgbClr val="888C91"/>
              </a:solidFill>
              <a:prstDash val="solid"/>
              <a:headEnd type="none"/>
              <a:tailEnd type="triangle"/>
            </a:ln>
          </p:spPr>
        </p:cxnSp>
        <p:cxnSp>
          <p:nvCxnSpPr>
            <p:cNvPr id="197" name="직선 화살표 연결선 185">
              <a:extLst>
                <a:ext uri="{FF2B5EF4-FFF2-40B4-BE49-F238E27FC236}">
                  <a16:creationId xmlns:a16="http://schemas.microsoft.com/office/drawing/2014/main" id="{D76D373A-AD73-4958-8644-743AF962871F}"/>
                </a:ext>
              </a:extLst>
            </p:cNvPr>
            <p:cNvCxnSpPr>
              <a:cxnSpLocks/>
              <a:stCxn id="115" idx="2"/>
              <a:endCxn id="120" idx="0"/>
            </p:cNvCxnSpPr>
            <p:nvPr/>
          </p:nvCxnSpPr>
          <p:spPr>
            <a:xfrm flipH="1">
              <a:off x="4427182" y="3768542"/>
              <a:ext cx="4" cy="136988"/>
            </a:xfrm>
            <a:prstGeom prst="straightConnector1">
              <a:avLst/>
            </a:prstGeom>
            <a:noFill/>
            <a:ln w="11430">
              <a:solidFill>
                <a:srgbClr val="888C91"/>
              </a:solidFill>
              <a:prstDash val="solid"/>
              <a:headEnd type="none"/>
              <a:tailEnd type="triangle"/>
            </a:ln>
          </p:spPr>
        </p:cxnSp>
        <p:cxnSp>
          <p:nvCxnSpPr>
            <p:cNvPr id="123" name="직선 화살표 연결선 185">
              <a:extLst>
                <a:ext uri="{FF2B5EF4-FFF2-40B4-BE49-F238E27FC236}">
                  <a16:creationId xmlns:a16="http://schemas.microsoft.com/office/drawing/2014/main" id="{D76D373A-AD73-4958-8644-743AF962871F}"/>
                </a:ext>
              </a:extLst>
            </p:cNvPr>
            <p:cNvCxnSpPr>
              <a:cxnSpLocks/>
              <a:stCxn id="120" idx="2"/>
              <a:endCxn id="124" idx="0"/>
            </p:cNvCxnSpPr>
            <p:nvPr/>
          </p:nvCxnSpPr>
          <p:spPr>
            <a:xfrm flipH="1">
              <a:off x="4427177" y="4197825"/>
              <a:ext cx="5" cy="292365"/>
            </a:xfrm>
            <a:prstGeom prst="straightConnector1">
              <a:avLst/>
            </a:prstGeom>
            <a:noFill/>
            <a:ln w="11430">
              <a:solidFill>
                <a:srgbClr val="888C91"/>
              </a:solidFill>
              <a:prstDash val="solid"/>
              <a:headEnd type="none"/>
              <a:tailEnd type="triangle"/>
            </a:ln>
          </p:spPr>
        </p:cxnSp>
        <p:sp>
          <p:nvSpPr>
            <p:cNvPr id="124" name="Shape 31">
              <a:extLst>
                <a:ext uri="{FF2B5EF4-FFF2-40B4-BE49-F238E27FC236}">
                  <a16:creationId xmlns:a16="http://schemas.microsoft.com/office/drawing/2014/main" id="{823D7D32-6771-4AA4-9581-77C6BEA03C53}"/>
                </a:ext>
              </a:extLst>
            </p:cNvPr>
            <p:cNvSpPr/>
            <p:nvPr/>
          </p:nvSpPr>
          <p:spPr>
            <a:xfrm>
              <a:off x="3844564" y="4490190"/>
              <a:ext cx="1165225" cy="24156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Prefill Node</a:t>
              </a:r>
              <a:endParaRPr lang="ko-KR" altLang="en-US" sz="1000" dirty="0">
                <a:solidFill>
                  <a:srgbClr val="1A1A1A"/>
                </a:solidFill>
                <a:latin typeface="Malgun Gothic" pitchFamily="34" charset="0"/>
                <a:ea typeface="Malgun Gothic" pitchFamily="34" charset="-122"/>
              </a:endParaRPr>
            </a:p>
          </p:txBody>
        </p:sp>
        <p:sp>
          <p:nvSpPr>
            <p:cNvPr id="125" name="Shape 31">
              <a:extLst>
                <a:ext uri="{FF2B5EF4-FFF2-40B4-BE49-F238E27FC236}">
                  <a16:creationId xmlns:a16="http://schemas.microsoft.com/office/drawing/2014/main" id="{823D7D32-6771-4AA4-9581-77C6BEA03C53}"/>
                </a:ext>
              </a:extLst>
            </p:cNvPr>
            <p:cNvSpPr/>
            <p:nvPr/>
          </p:nvSpPr>
          <p:spPr>
            <a:xfrm>
              <a:off x="2540917" y="4490190"/>
              <a:ext cx="1165225" cy="24156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Prefill Node</a:t>
              </a:r>
              <a:endParaRPr lang="ko-KR" altLang="en-US" sz="1000" dirty="0">
                <a:solidFill>
                  <a:srgbClr val="1A1A1A"/>
                </a:solidFill>
                <a:latin typeface="Malgun Gothic" pitchFamily="34" charset="0"/>
                <a:ea typeface="Malgun Gothic" pitchFamily="34" charset="-122"/>
              </a:endParaRPr>
            </a:p>
          </p:txBody>
        </p:sp>
        <p:sp>
          <p:nvSpPr>
            <p:cNvPr id="126" name="Shape 31">
              <a:extLst>
                <a:ext uri="{FF2B5EF4-FFF2-40B4-BE49-F238E27FC236}">
                  <a16:creationId xmlns:a16="http://schemas.microsoft.com/office/drawing/2014/main" id="{823D7D32-6771-4AA4-9581-77C6BEA03C53}"/>
                </a:ext>
              </a:extLst>
            </p:cNvPr>
            <p:cNvSpPr/>
            <p:nvPr/>
          </p:nvSpPr>
          <p:spPr>
            <a:xfrm>
              <a:off x="5226615" y="4490190"/>
              <a:ext cx="1165225" cy="24156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Decode Node</a:t>
              </a:r>
              <a:endParaRPr lang="ko-KR" altLang="en-US" sz="1000" dirty="0">
                <a:solidFill>
                  <a:srgbClr val="1A1A1A"/>
                </a:solidFill>
                <a:latin typeface="Malgun Gothic" pitchFamily="34" charset="0"/>
                <a:ea typeface="Malgun Gothic" pitchFamily="34" charset="-122"/>
              </a:endParaRPr>
            </a:p>
          </p:txBody>
        </p:sp>
        <p:cxnSp>
          <p:nvCxnSpPr>
            <p:cNvPr id="128" name="직선 화살표 연결선 185">
              <a:extLst>
                <a:ext uri="{FF2B5EF4-FFF2-40B4-BE49-F238E27FC236}">
                  <a16:creationId xmlns:a16="http://schemas.microsoft.com/office/drawing/2014/main" id="{D76D373A-AD73-4958-8644-743AF962871F}"/>
                </a:ext>
              </a:extLst>
            </p:cNvPr>
            <p:cNvCxnSpPr>
              <a:cxnSpLocks/>
              <a:stCxn id="120" idx="2"/>
              <a:endCxn id="125" idx="0"/>
            </p:cNvCxnSpPr>
            <p:nvPr/>
          </p:nvCxnSpPr>
          <p:spPr>
            <a:xfrm rot="5400000">
              <a:off x="3629174" y="3692181"/>
              <a:ext cx="292365" cy="1303652"/>
            </a:xfrm>
            <a:prstGeom prst="bentConnector3">
              <a:avLst>
                <a:gd name="adj1" fmla="val 50000"/>
              </a:avLst>
            </a:prstGeom>
            <a:noFill/>
            <a:ln w="11430">
              <a:solidFill>
                <a:srgbClr val="888C91"/>
              </a:solidFill>
              <a:prstDash val="solid"/>
              <a:headEnd type="none"/>
              <a:tailEnd type="triangle"/>
            </a:ln>
          </p:spPr>
        </p:cxnSp>
        <p:cxnSp>
          <p:nvCxnSpPr>
            <p:cNvPr id="133" name="직선 화살표 연결선 185">
              <a:extLst>
                <a:ext uri="{FF2B5EF4-FFF2-40B4-BE49-F238E27FC236}">
                  <a16:creationId xmlns:a16="http://schemas.microsoft.com/office/drawing/2014/main" id="{D76D373A-AD73-4958-8644-743AF962871F}"/>
                </a:ext>
              </a:extLst>
            </p:cNvPr>
            <p:cNvCxnSpPr>
              <a:cxnSpLocks/>
              <a:stCxn id="120" idx="2"/>
              <a:endCxn id="126" idx="0"/>
            </p:cNvCxnSpPr>
            <p:nvPr/>
          </p:nvCxnSpPr>
          <p:spPr>
            <a:xfrm rot="16200000" flipH="1">
              <a:off x="4972023" y="3652984"/>
              <a:ext cx="292365" cy="1382046"/>
            </a:xfrm>
            <a:prstGeom prst="bentConnector3">
              <a:avLst>
                <a:gd name="adj1" fmla="val 50000"/>
              </a:avLst>
            </a:prstGeom>
            <a:noFill/>
            <a:ln w="11430">
              <a:solidFill>
                <a:srgbClr val="888C91"/>
              </a:solidFill>
              <a:prstDash val="solid"/>
              <a:headEnd type="none"/>
              <a:tailEnd type="triangle"/>
            </a:ln>
          </p:spPr>
        </p:cxnSp>
      </p:grpSp>
      <p:sp>
        <p:nvSpPr>
          <p:cNvPr id="122" name="Shape 31">
            <a:extLst>
              <a:ext uri="{FF2B5EF4-FFF2-40B4-BE49-F238E27FC236}">
                <a16:creationId xmlns:a16="http://schemas.microsoft.com/office/drawing/2014/main" id="{2CB8AAFC-DFAB-4056-A6EA-BB95D28E11E9}"/>
              </a:ext>
            </a:extLst>
          </p:cNvPr>
          <p:cNvSpPr/>
          <p:nvPr/>
        </p:nvSpPr>
        <p:spPr>
          <a:xfrm>
            <a:off x="7168437" y="1818035"/>
            <a:ext cx="1332516" cy="292607"/>
          </a:xfrm>
          <a:prstGeom prst="roundRect">
            <a:avLst>
              <a:gd name="adj" fmla="val 37674"/>
            </a:avLst>
          </a:prstGeom>
          <a:solidFill>
            <a:srgbClr val="F0F1F3"/>
          </a:solidFill>
          <a:ln w="12700">
            <a:solidFill>
              <a:srgbClr val="888C91"/>
            </a:solidFill>
            <a:prstDash val="solid"/>
          </a:ln>
        </p:spPr>
        <p:txBody>
          <a:bodyPr anchor="ctr"/>
          <a:lstStyle/>
          <a:p>
            <a:pPr algn="ctr" latinLnBrk="0"/>
            <a:r>
              <a:rPr lang="en-US" altLang="ko-KR" sz="1000" dirty="0">
                <a:solidFill>
                  <a:srgbClr val="1A1A1A"/>
                </a:solidFill>
                <a:latin typeface="Malgun Gothic" pitchFamily="34" charset="0"/>
                <a:ea typeface="Malgun Gothic" pitchFamily="34" charset="-122"/>
              </a:rPr>
              <a:t>Request  Arrival/</a:t>
            </a:r>
          </a:p>
          <a:p>
            <a:pPr algn="ctr" latinLnBrk="0"/>
            <a:r>
              <a:rPr lang="en-US" altLang="ko-KR" sz="1000" dirty="0">
                <a:solidFill>
                  <a:srgbClr val="1A1A1A"/>
                </a:solidFill>
                <a:latin typeface="Malgun Gothic" pitchFamily="34" charset="0"/>
                <a:ea typeface="Malgun Gothic" pitchFamily="34" charset="-122"/>
              </a:rPr>
              <a:t>Waiting Queue</a:t>
            </a:r>
            <a:endParaRPr lang="ko-KR" altLang="en-US" sz="1000" dirty="0">
              <a:solidFill>
                <a:srgbClr val="1A1A1A"/>
              </a:solidFill>
              <a:latin typeface="Malgun Gothic" pitchFamily="34" charset="0"/>
              <a:ea typeface="Malgun Gothic" pitchFamily="34" charset="-122"/>
            </a:endParaRPr>
          </a:p>
        </p:txBody>
      </p:sp>
      <p:sp>
        <p:nvSpPr>
          <p:cNvPr id="6" name="원통 5"/>
          <p:cNvSpPr/>
          <p:nvPr/>
        </p:nvSpPr>
        <p:spPr>
          <a:xfrm>
            <a:off x="7377470" y="4022512"/>
            <a:ext cx="914450" cy="301105"/>
          </a:xfrm>
          <a:prstGeom prst="can">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Plan Cache</a:t>
            </a:r>
            <a:endParaRPr lang="ko-KR" altLang="en-US" sz="1000" b="1" dirty="0">
              <a:solidFill>
                <a:srgbClr val="1A1A1A"/>
              </a:solidFill>
              <a:latin typeface="Malgun Gothic" pitchFamily="34" charset="0"/>
              <a:ea typeface="Malgun Gothic" pitchFamily="34" charset="-122"/>
              <a:cs typeface="Malgun Gothic" pitchFamily="34" charset="-120"/>
            </a:endParaRPr>
          </a:p>
        </p:txBody>
      </p:sp>
      <p:cxnSp>
        <p:nvCxnSpPr>
          <p:cNvPr id="164" name="직선 화살표 연결선 185">
            <a:extLst>
              <a:ext uri="{FF2B5EF4-FFF2-40B4-BE49-F238E27FC236}">
                <a16:creationId xmlns:a16="http://schemas.microsoft.com/office/drawing/2014/main" id="{D76D373A-AD73-4958-8644-743AF962871F}"/>
              </a:ext>
            </a:extLst>
          </p:cNvPr>
          <p:cNvCxnSpPr>
            <a:cxnSpLocks/>
            <a:stCxn id="156" idx="2"/>
            <a:endCxn id="6" idx="1"/>
          </p:cNvCxnSpPr>
          <p:nvPr/>
        </p:nvCxnSpPr>
        <p:spPr>
          <a:xfrm flipH="1">
            <a:off x="7834695" y="3748062"/>
            <a:ext cx="127" cy="274450"/>
          </a:xfrm>
          <a:prstGeom prst="straightConnector1">
            <a:avLst/>
          </a:prstGeom>
          <a:noFill/>
          <a:ln w="12700">
            <a:solidFill>
              <a:srgbClr val="C76E31"/>
            </a:solidFill>
            <a:prstDash val="solid"/>
            <a:headEnd type="none" w="med" len="med"/>
            <a:tailEnd type="triangle" w="med" len="med"/>
          </a:ln>
        </p:spPr>
      </p:cxnSp>
      <p:sp>
        <p:nvSpPr>
          <p:cNvPr id="166" name="직사각형 165">
            <a:extLst>
              <a:ext uri="{FF2B5EF4-FFF2-40B4-BE49-F238E27FC236}">
                <a16:creationId xmlns:a16="http://schemas.microsoft.com/office/drawing/2014/main" id="{1F732118-666E-4542-8530-F6AD2A384259}"/>
              </a:ext>
            </a:extLst>
          </p:cNvPr>
          <p:cNvSpPr/>
          <p:nvPr/>
        </p:nvSpPr>
        <p:spPr>
          <a:xfrm>
            <a:off x="6827002" y="3762641"/>
            <a:ext cx="991013" cy="224346"/>
          </a:xfrm>
          <a:prstGeom prst="rect">
            <a:avLst/>
          </a:prstGeom>
          <a:noFill/>
          <a:ln w="12700">
            <a:noFill/>
            <a:prstDash val="dash"/>
          </a:ln>
        </p:spPr>
        <p:txBody>
          <a:bodyPr rtlCol="0" anchor="ctr"/>
          <a:lstStyle/>
          <a:p>
            <a:pPr algn="ctr"/>
            <a:r>
              <a:rPr lang="en-US" altLang="ko-KR" sz="900" dirty="0">
                <a:solidFill>
                  <a:schemeClr val="bg1">
                    <a:lumMod val="50000"/>
                  </a:schemeClr>
                </a:solidFill>
              </a:rPr>
              <a:t>Execution Plan</a:t>
            </a:r>
          </a:p>
        </p:txBody>
      </p:sp>
      <p:cxnSp>
        <p:nvCxnSpPr>
          <p:cNvPr id="190" name="직선 화살표 연결선 185">
            <a:extLst>
              <a:ext uri="{FF2B5EF4-FFF2-40B4-BE49-F238E27FC236}">
                <a16:creationId xmlns:a16="http://schemas.microsoft.com/office/drawing/2014/main" id="{D76D373A-AD73-4958-8644-743AF962871F}"/>
              </a:ext>
            </a:extLst>
          </p:cNvPr>
          <p:cNvCxnSpPr>
            <a:cxnSpLocks/>
            <a:stCxn id="6" idx="4"/>
            <a:endCxn id="187" idx="1"/>
          </p:cNvCxnSpPr>
          <p:nvPr/>
        </p:nvCxnSpPr>
        <p:spPr>
          <a:xfrm flipV="1">
            <a:off x="8291920" y="2618601"/>
            <a:ext cx="2030576" cy="1554464"/>
          </a:xfrm>
          <a:prstGeom prst="bentConnector3">
            <a:avLst>
              <a:gd name="adj1" fmla="val 60539"/>
            </a:avLst>
          </a:prstGeom>
          <a:noFill/>
          <a:ln w="12700">
            <a:solidFill>
              <a:srgbClr val="C76E31"/>
            </a:solidFill>
            <a:prstDash val="dash"/>
            <a:headEnd type="none" w="med" len="med"/>
            <a:tailEnd type="triangle" w="med" len="med"/>
          </a:ln>
        </p:spPr>
      </p:cxnSp>
      <p:sp>
        <p:nvSpPr>
          <p:cNvPr id="201" name="직사각형 200">
            <a:extLst>
              <a:ext uri="{FF2B5EF4-FFF2-40B4-BE49-F238E27FC236}">
                <a16:creationId xmlns:a16="http://schemas.microsoft.com/office/drawing/2014/main" id="{1F732118-666E-4542-8530-F6AD2A384259}"/>
              </a:ext>
            </a:extLst>
          </p:cNvPr>
          <p:cNvSpPr/>
          <p:nvPr/>
        </p:nvSpPr>
        <p:spPr>
          <a:xfrm>
            <a:off x="9296709" y="2366783"/>
            <a:ext cx="1104499" cy="271459"/>
          </a:xfrm>
          <a:prstGeom prst="rect">
            <a:avLst/>
          </a:prstGeom>
          <a:noFill/>
          <a:ln w="12700">
            <a:noFill/>
            <a:prstDash val="dash"/>
          </a:ln>
        </p:spPr>
        <p:txBody>
          <a:bodyPr rtlCol="0" anchor="ctr"/>
          <a:lstStyle/>
          <a:p>
            <a:pPr algn="ctr"/>
            <a:r>
              <a:rPr lang="en-US" altLang="ko-KR" sz="900" dirty="0" err="1">
                <a:solidFill>
                  <a:schemeClr val="bg1">
                    <a:lumMod val="50000"/>
                  </a:schemeClr>
                </a:solidFill>
              </a:rPr>
              <a:t>Aysnc</a:t>
            </a:r>
            <a:r>
              <a:rPr lang="en-US" altLang="ko-KR" sz="900" dirty="0">
                <a:solidFill>
                  <a:schemeClr val="bg1">
                    <a:lumMod val="50000"/>
                  </a:schemeClr>
                </a:solidFill>
              </a:rPr>
              <a:t> planning</a:t>
            </a:r>
          </a:p>
        </p:txBody>
      </p:sp>
      <p:cxnSp>
        <p:nvCxnSpPr>
          <p:cNvPr id="203" name="직선 화살표 연결선 185">
            <a:extLst>
              <a:ext uri="{FF2B5EF4-FFF2-40B4-BE49-F238E27FC236}">
                <a16:creationId xmlns:a16="http://schemas.microsoft.com/office/drawing/2014/main" id="{D76D373A-AD73-4958-8644-743AF962871F}"/>
              </a:ext>
            </a:extLst>
          </p:cNvPr>
          <p:cNvCxnSpPr>
            <a:cxnSpLocks/>
            <a:stCxn id="186" idx="2"/>
            <a:endCxn id="187" idx="0"/>
          </p:cNvCxnSpPr>
          <p:nvPr/>
        </p:nvCxnSpPr>
        <p:spPr>
          <a:xfrm>
            <a:off x="10804634" y="2230344"/>
            <a:ext cx="0" cy="241953"/>
          </a:xfrm>
          <a:prstGeom prst="straightConnector1">
            <a:avLst/>
          </a:prstGeom>
          <a:noFill/>
          <a:ln w="11430">
            <a:solidFill>
              <a:srgbClr val="888C91"/>
            </a:solidFill>
            <a:prstDash val="solid"/>
            <a:headEnd type="none"/>
            <a:tailEnd type="triangle"/>
          </a:ln>
        </p:spPr>
      </p:cxnSp>
      <p:sp>
        <p:nvSpPr>
          <p:cNvPr id="226" name="직사각형 225">
            <a:extLst>
              <a:ext uri="{FF2B5EF4-FFF2-40B4-BE49-F238E27FC236}">
                <a16:creationId xmlns:a16="http://schemas.microsoft.com/office/drawing/2014/main" id="{1F732118-666E-4542-8530-F6AD2A384259}"/>
              </a:ext>
            </a:extLst>
          </p:cNvPr>
          <p:cNvSpPr/>
          <p:nvPr/>
        </p:nvSpPr>
        <p:spPr>
          <a:xfrm>
            <a:off x="6913623" y="4354284"/>
            <a:ext cx="2152357" cy="271459"/>
          </a:xfrm>
          <a:prstGeom prst="rect">
            <a:avLst/>
          </a:prstGeom>
          <a:noFill/>
          <a:ln w="12700">
            <a:noFill/>
            <a:prstDash val="dash"/>
          </a:ln>
        </p:spPr>
        <p:txBody>
          <a:bodyPr rtlCol="0" anchor="ctr"/>
          <a:lstStyle/>
          <a:p>
            <a:pPr algn="ctr"/>
            <a:r>
              <a:rPr lang="en-US" altLang="ko-KR" sz="900" dirty="0">
                <a:solidFill>
                  <a:schemeClr val="bg1">
                    <a:lumMod val="50000"/>
                  </a:schemeClr>
                </a:solidFill>
              </a:rPr>
              <a:t>Planning</a:t>
            </a:r>
            <a:r>
              <a:rPr lang="ko-KR" altLang="en-US" sz="900" dirty="0">
                <a:solidFill>
                  <a:schemeClr val="bg1">
                    <a:lumMod val="50000"/>
                  </a:schemeClr>
                </a:solidFill>
              </a:rPr>
              <a:t>은 </a:t>
            </a:r>
            <a:r>
              <a:rPr lang="en-US" altLang="ko-KR" sz="900" dirty="0">
                <a:solidFill>
                  <a:schemeClr val="bg1">
                    <a:lumMod val="50000"/>
                  </a:schemeClr>
                </a:solidFill>
              </a:rPr>
              <a:t>Critical path </a:t>
            </a:r>
            <a:r>
              <a:rPr lang="ko-KR" altLang="en-US" sz="900" dirty="0">
                <a:solidFill>
                  <a:schemeClr val="bg1">
                    <a:lumMod val="50000"/>
                  </a:schemeClr>
                </a:solidFill>
              </a:rPr>
              <a:t>밖에서 수행</a:t>
            </a:r>
            <a:endParaRPr lang="en-US" altLang="ko-KR" sz="900" dirty="0">
              <a:solidFill>
                <a:schemeClr val="bg1">
                  <a:lumMod val="50000"/>
                </a:schemeClr>
              </a:solidFill>
            </a:endParaRPr>
          </a:p>
        </p:txBody>
      </p:sp>
      <p:grpSp>
        <p:nvGrpSpPr>
          <p:cNvPr id="56" name="그룹 55">
            <a:extLst>
              <a:ext uri="{FF2B5EF4-FFF2-40B4-BE49-F238E27FC236}">
                <a16:creationId xmlns:a16="http://schemas.microsoft.com/office/drawing/2014/main" id="{1F768021-5962-4FEE-86A6-9A65D654BAE1}"/>
              </a:ext>
            </a:extLst>
          </p:cNvPr>
          <p:cNvGrpSpPr/>
          <p:nvPr/>
        </p:nvGrpSpPr>
        <p:grpSpPr>
          <a:xfrm>
            <a:off x="10098736" y="1964338"/>
            <a:ext cx="1411795" cy="1928766"/>
            <a:chOff x="13094537" y="2120843"/>
            <a:chExt cx="1411795" cy="1928766"/>
          </a:xfrm>
        </p:grpSpPr>
        <p:sp>
          <p:nvSpPr>
            <p:cNvPr id="186" name="Shape 31">
              <a:extLst>
                <a:ext uri="{FF2B5EF4-FFF2-40B4-BE49-F238E27FC236}">
                  <a16:creationId xmlns:a16="http://schemas.microsoft.com/office/drawing/2014/main" id="{2CB8AAFC-DFAB-4056-A6EA-BB95D28E11E9}"/>
                </a:ext>
              </a:extLst>
            </p:cNvPr>
            <p:cNvSpPr/>
            <p:nvPr/>
          </p:nvSpPr>
          <p:spPr>
            <a:xfrm>
              <a:off x="13094537" y="2120843"/>
              <a:ext cx="1411795" cy="26600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Request Scheduler</a:t>
              </a:r>
              <a:endParaRPr lang="ko-KR" altLang="en-US" sz="1000" dirty="0">
                <a:solidFill>
                  <a:srgbClr val="1A1A1A"/>
                </a:solidFill>
                <a:latin typeface="Malgun Gothic" pitchFamily="34" charset="0"/>
                <a:ea typeface="Malgun Gothic" pitchFamily="34" charset="-122"/>
              </a:endParaRPr>
            </a:p>
          </p:txBody>
        </p:sp>
        <p:sp>
          <p:nvSpPr>
            <p:cNvPr id="187" name="Shape 31">
              <a:extLst>
                <a:ext uri="{FF2B5EF4-FFF2-40B4-BE49-F238E27FC236}">
                  <a16:creationId xmlns:a16="http://schemas.microsoft.com/office/drawing/2014/main" id="{2CB8AAFC-DFAB-4056-A6EA-BB95D28E11E9}"/>
                </a:ext>
              </a:extLst>
            </p:cNvPr>
            <p:cNvSpPr/>
            <p:nvPr/>
          </p:nvSpPr>
          <p:spPr>
            <a:xfrm>
              <a:off x="13318297" y="2628802"/>
              <a:ext cx="964275" cy="292607"/>
            </a:xfrm>
            <a:prstGeom prst="rect">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Plan Lookup</a:t>
              </a:r>
              <a:endParaRPr lang="ko-KR" altLang="en-US" sz="1000" b="1" dirty="0">
                <a:solidFill>
                  <a:srgbClr val="1A1A1A"/>
                </a:solidFill>
                <a:latin typeface="Malgun Gothic" pitchFamily="34" charset="0"/>
                <a:ea typeface="Malgun Gothic" pitchFamily="34" charset="-122"/>
                <a:cs typeface="Malgun Gothic" pitchFamily="34" charset="-120"/>
              </a:endParaRPr>
            </a:p>
          </p:txBody>
        </p:sp>
        <p:sp>
          <p:nvSpPr>
            <p:cNvPr id="188" name="Shape 31">
              <a:extLst>
                <a:ext uri="{FF2B5EF4-FFF2-40B4-BE49-F238E27FC236}">
                  <a16:creationId xmlns:a16="http://schemas.microsoft.com/office/drawing/2014/main" id="{2CB8AAFC-DFAB-4056-A6EA-BB95D28E11E9}"/>
                </a:ext>
              </a:extLst>
            </p:cNvPr>
            <p:cNvSpPr/>
            <p:nvPr/>
          </p:nvSpPr>
          <p:spPr>
            <a:xfrm>
              <a:off x="13158709" y="3783603"/>
              <a:ext cx="1283450" cy="26600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Execution Router</a:t>
              </a:r>
              <a:endParaRPr lang="ko-KR" altLang="en-US" sz="1000" dirty="0">
                <a:solidFill>
                  <a:srgbClr val="1A1A1A"/>
                </a:solidFill>
                <a:latin typeface="Malgun Gothic" pitchFamily="34" charset="0"/>
                <a:ea typeface="Malgun Gothic" pitchFamily="34" charset="-122"/>
              </a:endParaRPr>
            </a:p>
          </p:txBody>
        </p:sp>
        <p:sp>
          <p:nvSpPr>
            <p:cNvPr id="241" name="Shape 31">
              <a:extLst>
                <a:ext uri="{FF2B5EF4-FFF2-40B4-BE49-F238E27FC236}">
                  <a16:creationId xmlns:a16="http://schemas.microsoft.com/office/drawing/2014/main" id="{2CB8AAFC-DFAB-4056-A6EA-BB95D28E11E9}"/>
                </a:ext>
              </a:extLst>
            </p:cNvPr>
            <p:cNvSpPr/>
            <p:nvPr/>
          </p:nvSpPr>
          <p:spPr>
            <a:xfrm>
              <a:off x="13270083" y="3242701"/>
              <a:ext cx="1060703" cy="266006"/>
            </a:xfrm>
            <a:prstGeom prst="rect">
              <a:avLst/>
            </a:prstGeom>
            <a:solidFill>
              <a:srgbClr val="FFFFFF"/>
            </a:solidFill>
            <a:ln w="12700">
              <a:solidFill>
                <a:srgbClr val="C76E31"/>
              </a:solidFill>
              <a:prstDash val="solid"/>
            </a:ln>
          </p:spPr>
          <p:txBody>
            <a:bodyPr anchor="ctr"/>
            <a:lstStyle/>
            <a:p>
              <a:pPr algn="ctr"/>
              <a:r>
                <a:rPr lang="en-US" altLang="ko-KR" sz="1000" b="1">
                  <a:solidFill>
                    <a:srgbClr val="1A1A1A"/>
                  </a:solidFill>
                  <a:latin typeface="Malgun Gothic" pitchFamily="34" charset="0"/>
                  <a:ea typeface="Malgun Gothic" pitchFamily="34" charset="-122"/>
                </a:rPr>
                <a:t>Late </a:t>
              </a:r>
              <a:r>
                <a:rPr lang="en-US" altLang="ko-KR" sz="1000" b="1" dirty="0">
                  <a:solidFill>
                    <a:srgbClr val="1A1A1A"/>
                  </a:solidFill>
                  <a:latin typeface="Malgun Gothic" pitchFamily="34" charset="0"/>
                  <a:ea typeface="Malgun Gothic" pitchFamily="34" charset="-122"/>
                </a:rPr>
                <a:t>Validator</a:t>
              </a:r>
              <a:endParaRPr lang="ko-KR" altLang="en-US" sz="1000" b="1" dirty="0">
                <a:solidFill>
                  <a:srgbClr val="1A1A1A"/>
                </a:solidFill>
                <a:latin typeface="Malgun Gothic" pitchFamily="34" charset="0"/>
                <a:ea typeface="Malgun Gothic" pitchFamily="34" charset="-122"/>
              </a:endParaRPr>
            </a:p>
          </p:txBody>
        </p:sp>
      </p:grpSp>
      <p:cxnSp>
        <p:nvCxnSpPr>
          <p:cNvPr id="246" name="직선 화살표 연결선 185">
            <a:extLst>
              <a:ext uri="{FF2B5EF4-FFF2-40B4-BE49-F238E27FC236}">
                <a16:creationId xmlns:a16="http://schemas.microsoft.com/office/drawing/2014/main" id="{D76D373A-AD73-4958-8644-743AF962871F}"/>
              </a:ext>
            </a:extLst>
          </p:cNvPr>
          <p:cNvCxnSpPr>
            <a:cxnSpLocks/>
            <a:stCxn id="241" idx="2"/>
            <a:endCxn id="188" idx="0"/>
          </p:cNvCxnSpPr>
          <p:nvPr/>
        </p:nvCxnSpPr>
        <p:spPr>
          <a:xfrm flipH="1">
            <a:off x="10804633" y="3352202"/>
            <a:ext cx="1" cy="274896"/>
          </a:xfrm>
          <a:prstGeom prst="straightConnector1">
            <a:avLst/>
          </a:prstGeom>
          <a:noFill/>
          <a:ln w="11430">
            <a:solidFill>
              <a:srgbClr val="888C91"/>
            </a:solidFill>
            <a:prstDash val="solid"/>
            <a:headEnd type="none"/>
            <a:tailEnd type="triangle"/>
          </a:ln>
        </p:spPr>
      </p:cxnSp>
      <p:cxnSp>
        <p:nvCxnSpPr>
          <p:cNvPr id="100" name="직선 화살표 연결선 185">
            <a:extLst>
              <a:ext uri="{FF2B5EF4-FFF2-40B4-BE49-F238E27FC236}">
                <a16:creationId xmlns:a16="http://schemas.microsoft.com/office/drawing/2014/main" id="{56498C45-0D93-4C3F-B12A-A34B786B2E88}"/>
              </a:ext>
            </a:extLst>
          </p:cNvPr>
          <p:cNvCxnSpPr>
            <a:cxnSpLocks/>
            <a:stCxn id="187" idx="2"/>
            <a:endCxn id="241" idx="0"/>
          </p:cNvCxnSpPr>
          <p:nvPr/>
        </p:nvCxnSpPr>
        <p:spPr>
          <a:xfrm>
            <a:off x="10804634" y="2764904"/>
            <a:ext cx="0" cy="321292"/>
          </a:xfrm>
          <a:prstGeom prst="straightConnector1">
            <a:avLst/>
          </a:prstGeom>
          <a:noFill/>
          <a:ln w="11430">
            <a:solidFill>
              <a:srgbClr val="888C91"/>
            </a:solidFill>
            <a:prstDash val="solid"/>
            <a:headEnd type="none"/>
            <a:tailEnd type="triangle"/>
          </a:ln>
        </p:spPr>
      </p:cxnSp>
      <p:cxnSp>
        <p:nvCxnSpPr>
          <p:cNvPr id="72" name="직선 화살표 연결선 185">
            <a:extLst>
              <a:ext uri="{FF2B5EF4-FFF2-40B4-BE49-F238E27FC236}">
                <a16:creationId xmlns:a16="http://schemas.microsoft.com/office/drawing/2014/main" id="{63055888-A989-4681-8232-E5AD42EA4D88}"/>
              </a:ext>
            </a:extLst>
          </p:cNvPr>
          <p:cNvCxnSpPr>
            <a:cxnSpLocks/>
            <a:stCxn id="116" idx="0"/>
            <a:endCxn id="71" idx="2"/>
          </p:cNvCxnSpPr>
          <p:nvPr/>
        </p:nvCxnSpPr>
        <p:spPr>
          <a:xfrm rot="16200000" flipV="1">
            <a:off x="3185192" y="2675340"/>
            <a:ext cx="338963" cy="573972"/>
          </a:xfrm>
          <a:prstGeom prst="bentConnector3">
            <a:avLst>
              <a:gd name="adj1" fmla="val 50000"/>
            </a:avLst>
          </a:prstGeom>
          <a:noFill/>
          <a:ln w="11430">
            <a:solidFill>
              <a:schemeClr val="accent1"/>
            </a:solidFill>
            <a:prstDash val="solid"/>
            <a:headEnd type="triangle" w="med" len="med"/>
            <a:tailEnd type="none" w="med" len="med"/>
          </a:ln>
        </p:spPr>
      </p:cxnSp>
      <p:grpSp>
        <p:nvGrpSpPr>
          <p:cNvPr id="35" name="그룹 34"/>
          <p:cNvGrpSpPr/>
          <p:nvPr/>
        </p:nvGrpSpPr>
        <p:grpSpPr>
          <a:xfrm>
            <a:off x="6665290" y="2342177"/>
            <a:ext cx="2341529" cy="1405885"/>
            <a:chOff x="6670800" y="2204623"/>
            <a:chExt cx="2575682" cy="1405885"/>
          </a:xfrm>
        </p:grpSpPr>
        <p:sp>
          <p:nvSpPr>
            <p:cNvPr id="156" name="Shape 39">
              <a:extLst>
                <a:ext uri="{FF2B5EF4-FFF2-40B4-BE49-F238E27FC236}">
                  <a16:creationId xmlns:a16="http://schemas.microsoft.com/office/drawing/2014/main" id="{6868F6CD-24B6-42CB-9385-562D6F007FDF}"/>
                </a:ext>
              </a:extLst>
            </p:cNvPr>
            <p:cNvSpPr/>
            <p:nvPr/>
          </p:nvSpPr>
          <p:spPr>
            <a:xfrm>
              <a:off x="6670800" y="2453287"/>
              <a:ext cx="2572970" cy="1157221"/>
            </a:xfrm>
            <a:prstGeom prst="rect">
              <a:avLst/>
            </a:prstGeom>
            <a:solidFill>
              <a:srgbClr val="FCE4D6">
                <a:alpha val="98000"/>
              </a:srgbClr>
            </a:solidFill>
            <a:ln w="15240">
              <a:solidFill>
                <a:srgbClr val="C65911"/>
              </a:solidFill>
              <a:prstDash val="solid"/>
            </a:ln>
          </p:spPr>
        </p:sp>
        <p:sp>
          <p:nvSpPr>
            <p:cNvPr id="162" name="Shape 40">
              <a:extLst>
                <a:ext uri="{FF2B5EF4-FFF2-40B4-BE49-F238E27FC236}">
                  <a16:creationId xmlns:a16="http://schemas.microsoft.com/office/drawing/2014/main" id="{23DF7C3D-B06F-4B81-8EBA-A450F264EFE2}"/>
                </a:ext>
              </a:extLst>
            </p:cNvPr>
            <p:cNvSpPr/>
            <p:nvPr/>
          </p:nvSpPr>
          <p:spPr>
            <a:xfrm>
              <a:off x="6670800" y="2204623"/>
              <a:ext cx="2575682" cy="250430"/>
            </a:xfrm>
            <a:prstGeom prst="rect">
              <a:avLst/>
            </a:prstGeom>
            <a:solidFill>
              <a:srgbClr val="C65911">
                <a:alpha val="92000"/>
              </a:srgbClr>
            </a:solidFill>
            <a:ln w="12700">
              <a:solidFill>
                <a:srgbClr val="C65911"/>
              </a:solidFill>
              <a:prstDash val="solid"/>
            </a:ln>
          </p:spPr>
          <p:txBody>
            <a:bodyPr anchor="ctr"/>
            <a:lstStyle/>
            <a:p>
              <a:pPr algn="ctr"/>
              <a:r>
                <a:rPr lang="en-US" altLang="ko-KR" sz="1000" b="1" dirty="0">
                  <a:solidFill>
                    <a:schemeClr val="bg1"/>
                  </a:solidFill>
                </a:rPr>
                <a:t>Prefill Execution Planner</a:t>
              </a:r>
              <a:endParaRPr lang="ko-KR" altLang="en-US" sz="1000" b="1" dirty="0">
                <a:solidFill>
                  <a:schemeClr val="bg1"/>
                </a:solidFill>
              </a:endParaRPr>
            </a:p>
          </p:txBody>
        </p:sp>
        <p:sp>
          <p:nvSpPr>
            <p:cNvPr id="80" name="Shape 39">
              <a:extLst>
                <a:ext uri="{FF2B5EF4-FFF2-40B4-BE49-F238E27FC236}">
                  <a16:creationId xmlns:a16="http://schemas.microsoft.com/office/drawing/2014/main" id="{F7D82DE9-0B6E-4CB1-A5F0-9E4D7591B816}"/>
                </a:ext>
              </a:extLst>
            </p:cNvPr>
            <p:cNvSpPr/>
            <p:nvPr/>
          </p:nvSpPr>
          <p:spPr>
            <a:xfrm>
              <a:off x="7247100" y="3265513"/>
              <a:ext cx="1529889" cy="280025"/>
            </a:xfrm>
            <a:prstGeom prst="rect">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Cost Evaluator</a:t>
              </a:r>
            </a:p>
          </p:txBody>
        </p:sp>
        <p:sp>
          <p:nvSpPr>
            <p:cNvPr id="82" name="Shape 37">
              <a:extLst>
                <a:ext uri="{FF2B5EF4-FFF2-40B4-BE49-F238E27FC236}">
                  <a16:creationId xmlns:a16="http://schemas.microsoft.com/office/drawing/2014/main" id="{306B7634-9A5E-4F0E-A947-927E7282352F}"/>
                </a:ext>
              </a:extLst>
            </p:cNvPr>
            <p:cNvSpPr/>
            <p:nvPr/>
          </p:nvSpPr>
          <p:spPr>
            <a:xfrm>
              <a:off x="7923536" y="2574326"/>
              <a:ext cx="1262735" cy="359619"/>
            </a:xfrm>
            <a:prstGeom prst="rect">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Resource State</a:t>
              </a:r>
            </a:p>
            <a:p>
              <a:pPr algn="ctr"/>
              <a:r>
                <a:rPr lang="en-US" altLang="ko-KR" sz="1000" b="1" dirty="0">
                  <a:solidFill>
                    <a:srgbClr val="1A1A1A"/>
                  </a:solidFill>
                  <a:latin typeface="Malgun Gothic" pitchFamily="34" charset="0"/>
                  <a:ea typeface="Malgun Gothic" pitchFamily="34" charset="-122"/>
                  <a:cs typeface="Malgun Gothic" pitchFamily="34" charset="-120"/>
                </a:rPr>
                <a:t>Monitor</a:t>
              </a:r>
            </a:p>
          </p:txBody>
        </p:sp>
        <p:sp>
          <p:nvSpPr>
            <p:cNvPr id="83" name="Shape 37">
              <a:extLst>
                <a:ext uri="{FF2B5EF4-FFF2-40B4-BE49-F238E27FC236}">
                  <a16:creationId xmlns:a16="http://schemas.microsoft.com/office/drawing/2014/main" id="{306B7634-9A5E-4F0E-A947-927E7282352F}"/>
                </a:ext>
              </a:extLst>
            </p:cNvPr>
            <p:cNvSpPr/>
            <p:nvPr/>
          </p:nvSpPr>
          <p:spPr>
            <a:xfrm>
              <a:off x="6770378" y="2574326"/>
              <a:ext cx="1043584" cy="359619"/>
            </a:xfrm>
            <a:prstGeom prst="rect">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KV State</a:t>
              </a:r>
            </a:p>
            <a:p>
              <a:pPr algn="ctr"/>
              <a:r>
                <a:rPr lang="en-US" altLang="ko-KR" sz="1000" b="1" dirty="0">
                  <a:solidFill>
                    <a:srgbClr val="1A1A1A"/>
                  </a:solidFill>
                  <a:latin typeface="Malgun Gothic" pitchFamily="34" charset="0"/>
                  <a:ea typeface="Malgun Gothic" pitchFamily="34" charset="-122"/>
                  <a:cs typeface="Malgun Gothic" pitchFamily="34" charset="-120"/>
                </a:rPr>
                <a:t>Monitor</a:t>
              </a:r>
            </a:p>
          </p:txBody>
        </p:sp>
        <p:cxnSp>
          <p:nvCxnSpPr>
            <p:cNvPr id="85" name="직선 화살표 연결선 185">
              <a:extLst>
                <a:ext uri="{FF2B5EF4-FFF2-40B4-BE49-F238E27FC236}">
                  <a16:creationId xmlns:a16="http://schemas.microsoft.com/office/drawing/2014/main" id="{D76D373A-AD73-4958-8644-743AF962871F}"/>
                </a:ext>
              </a:extLst>
            </p:cNvPr>
            <p:cNvCxnSpPr>
              <a:cxnSpLocks/>
              <a:stCxn id="82" idx="2"/>
              <a:endCxn id="80" idx="0"/>
            </p:cNvCxnSpPr>
            <p:nvPr/>
          </p:nvCxnSpPr>
          <p:spPr>
            <a:xfrm rot="5400000">
              <a:off x="8117691" y="2828300"/>
              <a:ext cx="331568" cy="542860"/>
            </a:xfrm>
            <a:prstGeom prst="bentConnector3">
              <a:avLst>
                <a:gd name="adj1" fmla="val 50000"/>
              </a:avLst>
            </a:prstGeom>
            <a:noFill/>
            <a:ln w="12700">
              <a:solidFill>
                <a:srgbClr val="C76E31"/>
              </a:solidFill>
              <a:prstDash val="solid"/>
              <a:headEnd type="none" w="med" len="med"/>
              <a:tailEnd type="triangle" w="med" len="med"/>
            </a:ln>
          </p:spPr>
        </p:cxnSp>
        <p:cxnSp>
          <p:nvCxnSpPr>
            <p:cNvPr id="86" name="직선 화살표 연결선 185">
              <a:extLst>
                <a:ext uri="{FF2B5EF4-FFF2-40B4-BE49-F238E27FC236}">
                  <a16:creationId xmlns:a16="http://schemas.microsoft.com/office/drawing/2014/main" id="{D76D373A-AD73-4958-8644-743AF962871F}"/>
                </a:ext>
              </a:extLst>
            </p:cNvPr>
            <p:cNvCxnSpPr>
              <a:cxnSpLocks/>
              <a:stCxn id="83" idx="2"/>
              <a:endCxn id="80" idx="0"/>
            </p:cNvCxnSpPr>
            <p:nvPr/>
          </p:nvCxnSpPr>
          <p:spPr>
            <a:xfrm rot="16200000" flipH="1">
              <a:off x="7486323" y="2739791"/>
              <a:ext cx="331568" cy="719874"/>
            </a:xfrm>
            <a:prstGeom prst="bentConnector3">
              <a:avLst>
                <a:gd name="adj1" fmla="val 50000"/>
              </a:avLst>
            </a:prstGeom>
            <a:noFill/>
            <a:ln w="12700">
              <a:solidFill>
                <a:srgbClr val="C76E31"/>
              </a:solidFill>
              <a:prstDash val="solid"/>
              <a:headEnd type="none" w="med" len="med"/>
              <a:tailEnd type="triangle" w="med" len="med"/>
            </a:ln>
          </p:spPr>
        </p:cxnSp>
      </p:grpSp>
      <p:cxnSp>
        <p:nvCxnSpPr>
          <p:cNvPr id="99" name="직선 화살표 연결선 185">
            <a:extLst>
              <a:ext uri="{FF2B5EF4-FFF2-40B4-BE49-F238E27FC236}">
                <a16:creationId xmlns:a16="http://schemas.microsoft.com/office/drawing/2014/main" id="{D76D373A-AD73-4958-8644-743AF962871F}"/>
              </a:ext>
            </a:extLst>
          </p:cNvPr>
          <p:cNvCxnSpPr>
            <a:cxnSpLocks/>
            <a:stCxn id="241" idx="1"/>
            <a:endCxn id="162" idx="3"/>
          </p:cNvCxnSpPr>
          <p:nvPr/>
        </p:nvCxnSpPr>
        <p:spPr>
          <a:xfrm rot="10800000">
            <a:off x="9006820" y="2467393"/>
            <a:ext cx="1267463" cy="751807"/>
          </a:xfrm>
          <a:prstGeom prst="bentConnector3">
            <a:avLst>
              <a:gd name="adj1" fmla="val 79165"/>
            </a:avLst>
          </a:prstGeom>
          <a:noFill/>
          <a:ln w="12700">
            <a:solidFill>
              <a:srgbClr val="C76E31"/>
            </a:solidFill>
            <a:prstDash val="dash"/>
            <a:headEnd type="none" w="med" len="med"/>
            <a:tailEnd type="triangle" w="med" len="med"/>
          </a:ln>
        </p:spPr>
      </p:cxnSp>
      <p:sp>
        <p:nvSpPr>
          <p:cNvPr id="137" name="Shape 31">
            <a:extLst>
              <a:ext uri="{FF2B5EF4-FFF2-40B4-BE49-F238E27FC236}">
                <a16:creationId xmlns:a16="http://schemas.microsoft.com/office/drawing/2014/main" id="{823D7D32-6771-4AA4-9581-77C6BEA03C53}"/>
              </a:ext>
            </a:extLst>
          </p:cNvPr>
          <p:cNvSpPr/>
          <p:nvPr/>
        </p:nvSpPr>
        <p:spPr>
          <a:xfrm>
            <a:off x="10406704" y="4226437"/>
            <a:ext cx="657739" cy="353678"/>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Prefill Node</a:t>
            </a:r>
            <a:endParaRPr lang="ko-KR" altLang="en-US" sz="1000" dirty="0">
              <a:solidFill>
                <a:srgbClr val="1A1A1A"/>
              </a:solidFill>
              <a:latin typeface="Malgun Gothic" pitchFamily="34" charset="0"/>
              <a:ea typeface="Malgun Gothic" pitchFamily="34" charset="-122"/>
            </a:endParaRPr>
          </a:p>
        </p:txBody>
      </p:sp>
      <p:sp>
        <p:nvSpPr>
          <p:cNvPr id="138" name="Shape 31">
            <a:extLst>
              <a:ext uri="{FF2B5EF4-FFF2-40B4-BE49-F238E27FC236}">
                <a16:creationId xmlns:a16="http://schemas.microsoft.com/office/drawing/2014/main" id="{823D7D32-6771-4AA4-9581-77C6BEA03C53}"/>
              </a:ext>
            </a:extLst>
          </p:cNvPr>
          <p:cNvSpPr/>
          <p:nvPr/>
        </p:nvSpPr>
        <p:spPr>
          <a:xfrm>
            <a:off x="9645372" y="4226437"/>
            <a:ext cx="657739" cy="353678"/>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Prefill Node</a:t>
            </a:r>
            <a:endParaRPr lang="ko-KR" altLang="en-US" sz="1000" dirty="0">
              <a:solidFill>
                <a:srgbClr val="1A1A1A"/>
              </a:solidFill>
              <a:latin typeface="Malgun Gothic" pitchFamily="34" charset="0"/>
              <a:ea typeface="Malgun Gothic" pitchFamily="34" charset="-122"/>
            </a:endParaRPr>
          </a:p>
        </p:txBody>
      </p:sp>
      <p:sp>
        <p:nvSpPr>
          <p:cNvPr id="139" name="Shape 31">
            <a:extLst>
              <a:ext uri="{FF2B5EF4-FFF2-40B4-BE49-F238E27FC236}">
                <a16:creationId xmlns:a16="http://schemas.microsoft.com/office/drawing/2014/main" id="{823D7D32-6771-4AA4-9581-77C6BEA03C53}"/>
              </a:ext>
            </a:extLst>
          </p:cNvPr>
          <p:cNvSpPr/>
          <p:nvPr/>
        </p:nvSpPr>
        <p:spPr>
          <a:xfrm>
            <a:off x="11187529" y="4226437"/>
            <a:ext cx="657739" cy="353678"/>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Decode Node</a:t>
            </a:r>
            <a:endParaRPr lang="ko-KR" altLang="en-US" sz="1000" dirty="0">
              <a:solidFill>
                <a:srgbClr val="1A1A1A"/>
              </a:solidFill>
              <a:latin typeface="Malgun Gothic" pitchFamily="34" charset="0"/>
              <a:ea typeface="Malgun Gothic" pitchFamily="34" charset="-122"/>
            </a:endParaRPr>
          </a:p>
        </p:txBody>
      </p:sp>
      <p:cxnSp>
        <p:nvCxnSpPr>
          <p:cNvPr id="140" name="직선 화살표 연결선 185">
            <a:extLst>
              <a:ext uri="{FF2B5EF4-FFF2-40B4-BE49-F238E27FC236}">
                <a16:creationId xmlns:a16="http://schemas.microsoft.com/office/drawing/2014/main" id="{D76D373A-AD73-4958-8644-743AF962871F}"/>
              </a:ext>
            </a:extLst>
          </p:cNvPr>
          <p:cNvCxnSpPr>
            <a:cxnSpLocks/>
            <a:stCxn id="188" idx="2"/>
            <a:endCxn id="138" idx="0"/>
          </p:cNvCxnSpPr>
          <p:nvPr/>
        </p:nvCxnSpPr>
        <p:spPr>
          <a:xfrm rot="5400000">
            <a:off x="10222772" y="3644575"/>
            <a:ext cx="333333" cy="830391"/>
          </a:xfrm>
          <a:prstGeom prst="bentConnector3">
            <a:avLst>
              <a:gd name="adj1" fmla="val 50000"/>
            </a:avLst>
          </a:prstGeom>
          <a:noFill/>
          <a:ln w="11430">
            <a:solidFill>
              <a:srgbClr val="888C91"/>
            </a:solidFill>
            <a:prstDash val="solid"/>
            <a:headEnd type="none"/>
            <a:tailEnd type="triangle"/>
          </a:ln>
        </p:spPr>
      </p:cxnSp>
      <p:cxnSp>
        <p:nvCxnSpPr>
          <p:cNvPr id="141" name="직선 화살표 연결선 185">
            <a:extLst>
              <a:ext uri="{FF2B5EF4-FFF2-40B4-BE49-F238E27FC236}">
                <a16:creationId xmlns:a16="http://schemas.microsoft.com/office/drawing/2014/main" id="{D76D373A-AD73-4958-8644-743AF962871F}"/>
              </a:ext>
            </a:extLst>
          </p:cNvPr>
          <p:cNvCxnSpPr>
            <a:cxnSpLocks/>
            <a:stCxn id="188" idx="2"/>
            <a:endCxn id="139" idx="0"/>
          </p:cNvCxnSpPr>
          <p:nvPr/>
        </p:nvCxnSpPr>
        <p:spPr>
          <a:xfrm rot="16200000" flipH="1">
            <a:off x="10993850" y="3703887"/>
            <a:ext cx="333333" cy="711766"/>
          </a:xfrm>
          <a:prstGeom prst="bentConnector3">
            <a:avLst>
              <a:gd name="adj1" fmla="val 50000"/>
            </a:avLst>
          </a:prstGeom>
          <a:noFill/>
          <a:ln w="11430">
            <a:solidFill>
              <a:srgbClr val="888C91"/>
            </a:solidFill>
            <a:prstDash val="solid"/>
            <a:headEnd type="none"/>
            <a:tailEnd type="triangle"/>
          </a:ln>
        </p:spPr>
      </p:cxnSp>
      <p:cxnSp>
        <p:nvCxnSpPr>
          <p:cNvPr id="148" name="직선 화살표 연결선 185">
            <a:extLst>
              <a:ext uri="{FF2B5EF4-FFF2-40B4-BE49-F238E27FC236}">
                <a16:creationId xmlns:a16="http://schemas.microsoft.com/office/drawing/2014/main" id="{D76D373A-AD73-4958-8644-743AF962871F}"/>
              </a:ext>
            </a:extLst>
          </p:cNvPr>
          <p:cNvCxnSpPr>
            <a:cxnSpLocks/>
            <a:stCxn id="188" idx="2"/>
            <a:endCxn id="137" idx="0"/>
          </p:cNvCxnSpPr>
          <p:nvPr/>
        </p:nvCxnSpPr>
        <p:spPr>
          <a:xfrm rot="5400000">
            <a:off x="10603438" y="4025241"/>
            <a:ext cx="333333" cy="69059"/>
          </a:xfrm>
          <a:prstGeom prst="bentConnector3">
            <a:avLst>
              <a:gd name="adj1" fmla="val 50000"/>
            </a:avLst>
          </a:prstGeom>
          <a:noFill/>
          <a:ln w="11430">
            <a:solidFill>
              <a:srgbClr val="888C91"/>
            </a:solidFill>
            <a:prstDash val="solid"/>
            <a:headEnd type="none"/>
            <a:tailEnd type="triangle"/>
          </a:ln>
        </p:spPr>
      </p:cxnSp>
      <p:cxnSp>
        <p:nvCxnSpPr>
          <p:cNvPr id="163" name="직선 화살표 연결선 185">
            <a:extLst>
              <a:ext uri="{FF2B5EF4-FFF2-40B4-BE49-F238E27FC236}">
                <a16:creationId xmlns:a16="http://schemas.microsoft.com/office/drawing/2014/main" id="{D76D373A-AD73-4958-8644-743AF962871F}"/>
              </a:ext>
            </a:extLst>
          </p:cNvPr>
          <p:cNvCxnSpPr>
            <a:cxnSpLocks/>
            <a:stCxn id="122" idx="2"/>
            <a:endCxn id="162" idx="0"/>
          </p:cNvCxnSpPr>
          <p:nvPr/>
        </p:nvCxnSpPr>
        <p:spPr>
          <a:xfrm>
            <a:off x="7834695" y="2110642"/>
            <a:ext cx="1360" cy="231535"/>
          </a:xfrm>
          <a:prstGeom prst="straightConnector1">
            <a:avLst/>
          </a:prstGeom>
          <a:noFill/>
          <a:ln w="11430">
            <a:solidFill>
              <a:srgbClr val="888C91"/>
            </a:solidFill>
            <a:prstDash val="solid"/>
            <a:headEnd type="none"/>
            <a:tailEnd type="triangle"/>
          </a:ln>
        </p:spPr>
      </p:cxnSp>
    </p:spTree>
    <p:extLst>
      <p:ext uri="{BB962C8B-B14F-4D97-AF65-F5344CB8AC3E}">
        <p14:creationId xmlns:p14="http://schemas.microsoft.com/office/powerpoint/2010/main" val="1270737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a:xfrm>
            <a:off x="563880" y="1318260"/>
            <a:ext cx="11117580" cy="48387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ko-KR" sz="16600" b="1" dirty="0"/>
              <a:t>DP3</a:t>
            </a:r>
            <a:endParaRPr lang="ko-KR" altLang="en-US" sz="16600" b="1" dirty="0"/>
          </a:p>
        </p:txBody>
      </p:sp>
    </p:spTree>
    <p:extLst>
      <p:ext uri="{BB962C8B-B14F-4D97-AF65-F5344CB8AC3E}">
        <p14:creationId xmlns:p14="http://schemas.microsoft.com/office/powerpoint/2010/main" val="4219947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DP3. Long Context</a:t>
            </a:r>
            <a:r>
              <a:rPr lang="ko-KR" altLang="en-US" dirty="0"/>
              <a:t>를 위한 </a:t>
            </a:r>
            <a:r>
              <a:rPr lang="en-US" altLang="ko-KR" dirty="0"/>
              <a:t>KV </a:t>
            </a:r>
            <a:r>
              <a:rPr lang="ko-KR" altLang="en-US" dirty="0"/>
              <a:t>캐시 압축 및 재사용 구조 </a:t>
            </a:r>
            <a:r>
              <a:rPr lang="en-US" altLang="ko-KR" dirty="0"/>
              <a:t>– </a:t>
            </a:r>
            <a:r>
              <a:rPr lang="ko-KR" altLang="en-US" dirty="0"/>
              <a:t>배경 </a:t>
            </a:r>
            <a:endParaRPr lang="en-US" altLang="ko-KR" dirty="0"/>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16</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01" name="DP2 9001"/>
          <p:cNvSpPr/>
          <p:nvPr/>
        </p:nvSpPr>
        <p:spPr>
          <a:xfrm>
            <a:off x="347472" y="629107"/>
            <a:ext cx="1179576" cy="301752"/>
          </a:xfrm>
          <a:prstGeom prst="roundRect">
            <a:avLst/>
          </a:prstGeom>
          <a:solidFill>
            <a:srgbClr val="A8C6E8"/>
          </a:solidFill>
          <a:ln w="9525">
            <a:solidFill>
              <a:srgbClr val="2E75B6"/>
            </a:solidFill>
            <a:prstDash val="solid"/>
          </a:ln>
        </p:spPr>
        <p:txBody>
          <a:bodyPr wrap="square" lIns="27432" tIns="7315" rIns="27432" bIns="7315" anchor="ctr">
            <a:normAutofit/>
          </a:bodyPr>
          <a:lstStyle/>
          <a:p>
            <a:pPr algn="ctr">
              <a:lnSpc>
                <a:spcPct val="90000"/>
              </a:lnSpc>
            </a:pPr>
            <a:r>
              <a:rPr lang="ko-KR" altLang="en-US" sz="1150" b="1" i="0" dirty="0">
                <a:solidFill>
                  <a:srgbClr val="1F3864"/>
                </a:solidFill>
                <a:latin typeface="맑은 고딕" panose="020B0503020000020004" pitchFamily="50" charset="-127"/>
                <a:ea typeface="맑은 고딕" panose="020B0503020000020004" pitchFamily="50" charset="-127"/>
              </a:rPr>
              <a:t>문제 정의</a:t>
            </a:r>
          </a:p>
        </p:txBody>
      </p:sp>
      <p:sp>
        <p:nvSpPr>
          <p:cNvPr id="9013" name="DP2 9013"/>
          <p:cNvSpPr/>
          <p:nvPr/>
        </p:nvSpPr>
        <p:spPr>
          <a:xfrm>
            <a:off x="421320" y="1901952"/>
            <a:ext cx="256032" cy="256032"/>
          </a:xfrm>
          <a:prstGeom prst="rect">
            <a:avLst/>
          </a:prstGeom>
          <a:noFill/>
          <a:ln>
            <a:noFill/>
          </a:ln>
        </p:spPr>
        <p:txBody>
          <a:bodyPr wrap="square" lIns="9144" tIns="7315" rIns="9144" bIns="7315" anchor="ctr">
            <a:normAutofit/>
          </a:bodyPr>
          <a:lstStyle/>
          <a:p>
            <a:pPr algn="l">
              <a:lnSpc>
                <a:spcPct val="90000"/>
              </a:lnSpc>
            </a:pP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9014" name="DP2 9014"/>
          <p:cNvSpPr/>
          <p:nvPr/>
        </p:nvSpPr>
        <p:spPr>
          <a:xfrm>
            <a:off x="347472" y="2218210"/>
            <a:ext cx="9603535" cy="256032"/>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워크로드</a:t>
            </a:r>
            <a:r>
              <a:rPr lang="en-US" altLang="ko-KR"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KV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배치 및 </a:t>
            </a:r>
            <a:r>
              <a:rPr lang="en-US" altLang="ko-KR"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Runtime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상태 등을 </a:t>
            </a:r>
            <a:r>
              <a:rPr lang="ko-KR" altLang="en-US"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고려한 </a:t>
            </a:r>
            <a:r>
              <a:rPr lang="en-US" altLang="ko-KR" sz="1200" b="1" dirty="0">
                <a:solidFill>
                  <a:srgbClr val="0066FF"/>
                </a:solidFill>
                <a:latin typeface="맑은 고딕" panose="020B0503020000020004" pitchFamily="50" charset="-127"/>
                <a:sym typeface="Wingdings" panose="05000000000000000000" pitchFamily="2" charset="2"/>
              </a:rPr>
              <a:t>Cost </a:t>
            </a:r>
            <a:r>
              <a:rPr lang="ko-KR" altLang="en-US" sz="1200" b="1" dirty="0">
                <a:solidFill>
                  <a:srgbClr val="0066FF"/>
                </a:solidFill>
                <a:latin typeface="맑은 고딕" panose="020B0503020000020004" pitchFamily="50" charset="-127"/>
                <a:sym typeface="Wingdings" panose="05000000000000000000" pitchFamily="2" charset="2"/>
              </a:rPr>
              <a:t>기반의 </a:t>
            </a:r>
            <a:r>
              <a:rPr lang="en-US" altLang="ko-KR" sz="1200" b="1" dirty="0">
                <a:solidFill>
                  <a:srgbClr val="0066FF"/>
                </a:solidFill>
                <a:latin typeface="맑은 고딕" panose="020B0503020000020004" pitchFamily="50" charset="-127"/>
                <a:sym typeface="Wingdings" panose="05000000000000000000" pitchFamily="2" charset="2"/>
              </a:rPr>
              <a:t>Prefill</a:t>
            </a:r>
            <a:r>
              <a:rPr lang="ko-KR" altLang="en-US" sz="1200" b="1" dirty="0">
                <a:solidFill>
                  <a:srgbClr val="0066FF"/>
                </a:solidFill>
                <a:latin typeface="맑은 고딕" panose="020B0503020000020004" pitchFamily="50" charset="-127"/>
                <a:sym typeface="Wingdings" panose="05000000000000000000" pitchFamily="2" charset="2"/>
              </a:rPr>
              <a:t> 실행 위치를 동적으로 결정하는 구조 설계 필요</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9061" name="DP2 9061"/>
          <p:cNvSpPr/>
          <p:nvPr/>
        </p:nvSpPr>
        <p:spPr>
          <a:xfrm>
            <a:off x="347472" y="5667299"/>
            <a:ext cx="1179576" cy="301752"/>
          </a:xfrm>
          <a:prstGeom prst="roundRect">
            <a:avLst/>
          </a:prstGeom>
          <a:solidFill>
            <a:srgbClr val="FFD966"/>
          </a:solidFill>
          <a:ln w="9525">
            <a:solidFill>
              <a:srgbClr val="BF8F00"/>
            </a:solidFill>
            <a:prstDash val="solid"/>
          </a:ln>
        </p:spPr>
        <p:txBody>
          <a:bodyPr wrap="square" lIns="27432" tIns="7315" rIns="27432" bIns="7315" anchor="ctr">
            <a:normAutofit/>
          </a:bodyPr>
          <a:lstStyle/>
          <a:p>
            <a:pPr algn="ctr">
              <a:lnSpc>
                <a:spcPct val="90000"/>
              </a:lnSpc>
            </a:pPr>
            <a:r>
              <a:rPr lang="ko-KR" altLang="en-US" sz="1150" b="1" i="0" dirty="0">
                <a:solidFill>
                  <a:srgbClr val="1F3864"/>
                </a:solidFill>
                <a:latin typeface="맑은 고딕" panose="020B0503020000020004" pitchFamily="50" charset="-127"/>
                <a:ea typeface="맑은 고딕" panose="020B0503020000020004" pitchFamily="50" charset="-127"/>
              </a:rPr>
              <a:t>설계 쟁점</a:t>
            </a:r>
          </a:p>
        </p:txBody>
      </p:sp>
      <p:sp>
        <p:nvSpPr>
          <p:cNvPr id="79" name="Text 22"/>
          <p:cNvSpPr/>
          <p:nvPr/>
        </p:nvSpPr>
        <p:spPr>
          <a:xfrm>
            <a:off x="359582" y="1016673"/>
            <a:ext cx="11687638" cy="894644"/>
          </a:xfrm>
          <a:prstGeom prst="rect">
            <a:avLst/>
          </a:prstGeom>
          <a:noFill/>
          <a:ln/>
        </p:spPr>
        <p:txBody>
          <a:bodyPr wrap="square" lIns="0" tIns="0" rIns="0" bIns="0" rtlCol="0" anchor="t"/>
          <a:lstStyle/>
          <a:p>
            <a:pPr marL="285750" indent="-285750">
              <a:lnSpc>
                <a:spcPct val="150000"/>
              </a:lnSpc>
              <a:buFontTx/>
              <a:buChar char="-"/>
            </a:pPr>
            <a:r>
              <a:rPr lang="en-US" altLang="ko-KR" sz="1200" dirty="0">
                <a:solidFill>
                  <a:srgbClr val="404040"/>
                </a:solidFill>
                <a:latin typeface="맑은 고딕" panose="020B0503020000020004" pitchFamily="50" charset="-127"/>
              </a:rPr>
              <a:t>Agent</a:t>
            </a:r>
            <a:r>
              <a:rPr lang="ko-KR" altLang="en-US" sz="1200" dirty="0">
                <a:solidFill>
                  <a:srgbClr val="404040"/>
                </a:solidFill>
                <a:latin typeface="맑은 고딕" panose="020B0503020000020004" pitchFamily="50" charset="-127"/>
              </a:rPr>
              <a:t>의 </a:t>
            </a:r>
            <a:r>
              <a:rPr lang="en-US" altLang="ko-KR" sz="1200" dirty="0">
                <a:solidFill>
                  <a:srgbClr val="404040"/>
                </a:solidFill>
                <a:latin typeface="맑은 고딕" panose="020B0503020000020004" pitchFamily="50" charset="-127"/>
              </a:rPr>
              <a:t>Reasoning </a:t>
            </a:r>
            <a:r>
              <a:rPr lang="ko-KR" altLang="en-US" sz="1200" dirty="0">
                <a:solidFill>
                  <a:srgbClr val="404040"/>
                </a:solidFill>
                <a:latin typeface="맑은 고딕" panose="020B0503020000020004" pitchFamily="50" charset="-127"/>
              </a:rPr>
              <a:t>및 </a:t>
            </a:r>
            <a:r>
              <a:rPr lang="en-US" altLang="ko-KR" sz="1200" dirty="0">
                <a:solidFill>
                  <a:srgbClr val="404040"/>
                </a:solidFill>
                <a:latin typeface="맑은 고딕" panose="020B0503020000020004" pitchFamily="50" charset="-127"/>
              </a:rPr>
              <a:t>Tool </a:t>
            </a:r>
            <a:r>
              <a:rPr lang="ko-KR" altLang="en-US" sz="1200" dirty="0">
                <a:solidFill>
                  <a:srgbClr val="404040"/>
                </a:solidFill>
                <a:latin typeface="맑은 고딕" panose="020B0503020000020004" pitchFamily="50" charset="-127"/>
              </a:rPr>
              <a:t>호출 반복에 따른 </a:t>
            </a:r>
            <a:r>
              <a:rPr lang="en-US" altLang="ko-KR" sz="1200" dirty="0">
                <a:solidFill>
                  <a:srgbClr val="404040"/>
                </a:solidFill>
                <a:latin typeface="맑은 고딕" panose="020B0503020000020004" pitchFamily="50" charset="-127"/>
              </a:rPr>
              <a:t>Context </a:t>
            </a:r>
            <a:r>
              <a:rPr lang="ko-KR" altLang="en-US" sz="1200" dirty="0">
                <a:solidFill>
                  <a:srgbClr val="404040"/>
                </a:solidFill>
                <a:latin typeface="맑은 고딕" panose="020B0503020000020004" pitchFamily="50" charset="-127"/>
              </a:rPr>
              <a:t>누적 증가 </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en-US" altLang="ko-KR" sz="1200" dirty="0">
                <a:solidFill>
                  <a:srgbClr val="404040"/>
                </a:solidFill>
                <a:latin typeface="맑은 고딕" panose="020B0503020000020004" pitchFamily="50" charset="-127"/>
              </a:rPr>
              <a:t>Long Context </a:t>
            </a:r>
            <a:r>
              <a:rPr lang="ko-KR" altLang="en-US" sz="1200" dirty="0">
                <a:solidFill>
                  <a:srgbClr val="404040"/>
                </a:solidFill>
                <a:latin typeface="맑은 고딕" panose="020B0503020000020004" pitchFamily="50" charset="-127"/>
              </a:rPr>
              <a:t>환경에서는 </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ko-KR" altLang="en-US" sz="1200" dirty="0">
                <a:solidFill>
                  <a:srgbClr val="404040"/>
                </a:solidFill>
                <a:latin typeface="맑은 고딕" panose="020B0503020000020004" pitchFamily="50" charset="-127"/>
              </a:rPr>
              <a:t>기존의 </a:t>
            </a:r>
            <a:r>
              <a:rPr lang="en-US" altLang="ko-KR" sz="1200" dirty="0">
                <a:solidFill>
                  <a:srgbClr val="404040"/>
                </a:solidFill>
                <a:latin typeface="맑은 고딕" panose="020B0503020000020004" pitchFamily="50" charset="-127"/>
              </a:rPr>
              <a:t>Prefill-Decode </a:t>
            </a:r>
            <a:r>
              <a:rPr lang="ko-KR" altLang="en-US" sz="1200" dirty="0">
                <a:solidFill>
                  <a:srgbClr val="404040"/>
                </a:solidFill>
                <a:latin typeface="맑은 고딕" panose="020B0503020000020004" pitchFamily="50" charset="-127"/>
              </a:rPr>
              <a:t>분리 실행 구조는 여러 </a:t>
            </a:r>
            <a:r>
              <a:rPr lang="en-US" altLang="ko-KR" sz="1200" dirty="0">
                <a:solidFill>
                  <a:srgbClr val="404040"/>
                </a:solidFill>
                <a:latin typeface="맑은 고딕" panose="020B0503020000020004" pitchFamily="50" charset="-127"/>
              </a:rPr>
              <a:t>Memory Tier</a:t>
            </a:r>
            <a:r>
              <a:rPr lang="ko-KR" altLang="en-US" sz="1200" dirty="0">
                <a:solidFill>
                  <a:srgbClr val="404040"/>
                </a:solidFill>
                <a:latin typeface="맑은 고딕" panose="020B0503020000020004" pitchFamily="50" charset="-127"/>
              </a:rPr>
              <a:t>의 데이터 접근</a:t>
            </a:r>
            <a:r>
              <a:rPr lang="en-US" altLang="ko-KR" sz="1200" dirty="0">
                <a:solidFill>
                  <a:srgbClr val="404040"/>
                </a:solidFill>
                <a:latin typeface="맑은 고딕" panose="020B0503020000020004" pitchFamily="50" charset="-127"/>
              </a:rPr>
              <a:t>·</a:t>
            </a:r>
            <a:r>
              <a:rPr lang="ko-KR" altLang="en-US" sz="1200" dirty="0">
                <a:solidFill>
                  <a:srgbClr val="404040"/>
                </a:solidFill>
                <a:latin typeface="맑은 고딕" panose="020B0503020000020004" pitchFamily="50" charset="-127"/>
              </a:rPr>
              <a:t>이동 비용이 고려되지 않음</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ko-KR" altLang="en-US" sz="1200" dirty="0">
                <a:solidFill>
                  <a:srgbClr val="404040"/>
                </a:solidFill>
                <a:latin typeface="맑은 고딕" panose="020B0503020000020004" pitchFamily="50" charset="-127"/>
              </a:rPr>
              <a:t>워크로드</a:t>
            </a:r>
            <a:r>
              <a:rPr lang="en-US" altLang="ko-KR" sz="1200" dirty="0">
                <a:solidFill>
                  <a:srgbClr val="404040"/>
                </a:solidFill>
                <a:latin typeface="맑은 고딕" panose="020B0503020000020004" pitchFamily="50" charset="-127"/>
              </a:rPr>
              <a:t>, KV </a:t>
            </a:r>
            <a:r>
              <a:rPr lang="ko-KR" altLang="en-US" sz="1200" dirty="0">
                <a:solidFill>
                  <a:srgbClr val="404040"/>
                </a:solidFill>
                <a:latin typeface="맑은 고딕" panose="020B0503020000020004" pitchFamily="50" charset="-127"/>
              </a:rPr>
              <a:t>배치 및 </a:t>
            </a:r>
            <a:r>
              <a:rPr lang="en-US" altLang="ko-KR" sz="1200" dirty="0">
                <a:solidFill>
                  <a:srgbClr val="404040"/>
                </a:solidFill>
                <a:latin typeface="맑은 고딕" panose="020B0503020000020004" pitchFamily="50" charset="-127"/>
              </a:rPr>
              <a:t>Runtime </a:t>
            </a:r>
            <a:r>
              <a:rPr lang="ko-KR" altLang="en-US" sz="1200" dirty="0">
                <a:solidFill>
                  <a:srgbClr val="404040"/>
                </a:solidFill>
                <a:latin typeface="맑은 고딕" panose="020B0503020000020004" pitchFamily="50" charset="-127"/>
              </a:rPr>
              <a:t>상태 등을 고려하여 다음 </a:t>
            </a:r>
            <a:r>
              <a:rPr lang="en-US" altLang="ko-KR" sz="1200" dirty="0">
                <a:solidFill>
                  <a:srgbClr val="404040"/>
                </a:solidFill>
                <a:latin typeface="맑은 고딕" panose="020B0503020000020004" pitchFamily="50" charset="-127"/>
              </a:rPr>
              <a:t>Prefill</a:t>
            </a:r>
            <a:r>
              <a:rPr lang="ko-KR" altLang="en-US" sz="1200" dirty="0">
                <a:solidFill>
                  <a:srgbClr val="404040"/>
                </a:solidFill>
                <a:latin typeface="맑은 고딕" panose="020B0503020000020004" pitchFamily="50" charset="-127"/>
              </a:rPr>
              <a:t>을 어디에서 실행하는가에 따라 성능이 달라질 수 있음</a:t>
            </a:r>
            <a:endParaRPr lang="en-US" altLang="ko-KR" sz="1200" dirty="0"/>
          </a:p>
        </p:txBody>
      </p:sp>
      <p:sp>
        <p:nvSpPr>
          <p:cNvPr id="166" name="Text 22"/>
          <p:cNvSpPr/>
          <p:nvPr/>
        </p:nvSpPr>
        <p:spPr>
          <a:xfrm>
            <a:off x="383682" y="6029277"/>
            <a:ext cx="11312059" cy="548567"/>
          </a:xfrm>
          <a:prstGeom prst="rect">
            <a:avLst/>
          </a:prstGeom>
          <a:noFill/>
          <a:ln/>
        </p:spPr>
        <p:txBody>
          <a:bodyPr wrap="square" lIns="0" tIns="0" rIns="0" bIns="0" rtlCol="0" anchor="t"/>
          <a:lstStyle/>
          <a:p>
            <a:pPr marL="228600" indent="-228600">
              <a:lnSpc>
                <a:spcPct val="125000"/>
              </a:lnSpc>
              <a:buAutoNum type="arabicPeriod"/>
            </a:pPr>
            <a:r>
              <a:rPr lang="ko-KR" altLang="en-US" sz="1200" dirty="0">
                <a:latin typeface="맑은 고딕" panose="020B0503020000020004" pitchFamily="50" charset="-127"/>
              </a:rPr>
              <a:t>이기종 메모리 환경에서 </a:t>
            </a:r>
            <a:r>
              <a:rPr lang="en-US" altLang="ko-KR" sz="1200" b="1" dirty="0">
                <a:solidFill>
                  <a:srgbClr val="0000FF"/>
                </a:solidFill>
                <a:latin typeface="맑은 고딕" panose="020B0503020000020004" pitchFamily="50" charset="-127"/>
              </a:rPr>
              <a:t>Agent </a:t>
            </a:r>
            <a:r>
              <a:rPr lang="ko-KR" altLang="en-US" sz="1200" b="1" dirty="0">
                <a:solidFill>
                  <a:srgbClr val="0000FF"/>
                </a:solidFill>
                <a:latin typeface="맑은 고딕" panose="020B0503020000020004" pitchFamily="50" charset="-127"/>
              </a:rPr>
              <a:t>성능 최적화</a:t>
            </a:r>
            <a:r>
              <a:rPr lang="ko-KR" altLang="en-US" sz="1200" dirty="0">
                <a:latin typeface="맑은 고딕" panose="020B0503020000020004" pitchFamily="50" charset="-127"/>
              </a:rPr>
              <a:t>를 위한 구조 설계 </a:t>
            </a:r>
            <a:endParaRPr lang="en-US" altLang="ko-KR" sz="1200" dirty="0">
              <a:latin typeface="맑은 고딕" panose="020B0503020000020004" pitchFamily="50" charset="-127"/>
            </a:endParaRPr>
          </a:p>
          <a:p>
            <a:pPr marL="228600" indent="-228600">
              <a:lnSpc>
                <a:spcPct val="125000"/>
              </a:lnSpc>
              <a:buAutoNum type="arabicPeriod"/>
            </a:pPr>
            <a:r>
              <a:rPr lang="ko-KR" altLang="en-US" sz="1200" b="1" dirty="0">
                <a:solidFill>
                  <a:schemeClr val="accent2"/>
                </a:solidFill>
                <a:latin typeface="맑은 고딕" panose="020B0503020000020004" pitchFamily="50" charset="-127"/>
              </a:rPr>
              <a:t>신규 메모리 및 </a:t>
            </a:r>
            <a:r>
              <a:rPr lang="en-US" altLang="ko-KR" sz="1200" b="1" dirty="0">
                <a:solidFill>
                  <a:schemeClr val="accent2"/>
                </a:solidFill>
                <a:latin typeface="맑은 고딕" panose="020B0503020000020004" pitchFamily="50" charset="-127"/>
              </a:rPr>
              <a:t>Cost </a:t>
            </a:r>
            <a:r>
              <a:rPr lang="ko-KR" altLang="en-US" sz="1200" b="1" dirty="0">
                <a:solidFill>
                  <a:schemeClr val="accent2"/>
                </a:solidFill>
                <a:latin typeface="맑은 고딕" panose="020B0503020000020004" pitchFamily="50" charset="-127"/>
              </a:rPr>
              <a:t>모델 확장</a:t>
            </a:r>
            <a:r>
              <a:rPr lang="ko-KR" altLang="en-US" sz="1200" dirty="0">
                <a:latin typeface="맑은 고딕" panose="020B0503020000020004" pitchFamily="50" charset="-127"/>
              </a:rPr>
              <a:t> 시 </a:t>
            </a:r>
            <a:r>
              <a:rPr lang="ko-KR" altLang="en-US" sz="1200" b="1" dirty="0">
                <a:solidFill>
                  <a:srgbClr val="0000FF"/>
                </a:solidFill>
                <a:latin typeface="맑은 고딕" panose="020B0503020000020004" pitchFamily="50" charset="-127"/>
              </a:rPr>
              <a:t>기존 구조 변경을 최소화</a:t>
            </a:r>
            <a:r>
              <a:rPr lang="ko-KR" altLang="en-US" sz="1200" dirty="0">
                <a:latin typeface="맑은 고딕" panose="020B0503020000020004" pitchFamily="50" charset="-127"/>
              </a:rPr>
              <a:t>하는 구조 설계</a:t>
            </a:r>
            <a:endParaRPr lang="en-US" altLang="ko-KR" sz="1200" dirty="0">
              <a:latin typeface="맑은 고딕" panose="020B0503020000020004" pitchFamily="50" charset="-127"/>
            </a:endParaRPr>
          </a:p>
          <a:p>
            <a:pPr marL="228600" indent="-228600">
              <a:lnSpc>
                <a:spcPct val="125000"/>
              </a:lnSpc>
              <a:buAutoNum type="arabicPeriod"/>
            </a:pPr>
            <a:endParaRPr lang="en-US" altLang="ko-KR" sz="1200" dirty="0"/>
          </a:p>
        </p:txBody>
      </p:sp>
    </p:spTree>
    <p:extLst>
      <p:ext uri="{BB962C8B-B14F-4D97-AF65-F5344CB8AC3E}">
        <p14:creationId xmlns:p14="http://schemas.microsoft.com/office/powerpoint/2010/main" val="1143087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34949" y="1032440"/>
          <a:ext cx="11747501" cy="5380480"/>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4382236">
                  <a:extLst>
                    <a:ext uri="{9D8B030D-6E8A-4147-A177-3AD203B41FA5}">
                      <a16:colId xmlns:a16="http://schemas.microsoft.com/office/drawing/2014/main" val="5654497"/>
                    </a:ext>
                  </a:extLst>
                </a:gridCol>
                <a:gridCol w="1053818">
                  <a:extLst>
                    <a:ext uri="{9D8B030D-6E8A-4147-A177-3AD203B41FA5}">
                      <a16:colId xmlns:a16="http://schemas.microsoft.com/office/drawing/2014/main" val="4114062400"/>
                    </a:ext>
                  </a:extLst>
                </a:gridCol>
                <a:gridCol w="4488188">
                  <a:extLst>
                    <a:ext uri="{9D8B030D-6E8A-4147-A177-3AD203B41FA5}">
                      <a16:colId xmlns:a16="http://schemas.microsoft.com/office/drawing/2014/main" val="3070054508"/>
                    </a:ext>
                  </a:extLst>
                </a:gridCol>
                <a:gridCol w="947866">
                  <a:extLst>
                    <a:ext uri="{9D8B030D-6E8A-4147-A177-3AD203B41FA5}">
                      <a16:colId xmlns:a16="http://schemas.microsoft.com/office/drawing/2014/main" val="2026705357"/>
                    </a:ext>
                  </a:extLst>
                </a:gridCol>
              </a:tblGrid>
              <a:tr h="358421">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t>(1</a:t>
                      </a:r>
                      <a:r>
                        <a:rPr lang="ko-KR" altLang="en-US" sz="1200" b="1" dirty="0"/>
                        <a:t>안</a:t>
                      </a:r>
                      <a:r>
                        <a:rPr lang="en-US" altLang="ko-KR" sz="1200" b="1" dirty="0"/>
                        <a:t>) </a:t>
                      </a:r>
                      <a:r>
                        <a:rPr lang="ko-KR" altLang="en-US" sz="1200" b="1" dirty="0"/>
                        <a:t>사용자 </a:t>
                      </a:r>
                      <a:r>
                        <a:rPr lang="en-US" altLang="ko-KR" sz="1200" b="1" dirty="0"/>
                        <a:t>Query </a:t>
                      </a:r>
                      <a:r>
                        <a:rPr lang="en-US" altLang="ko-KR" sz="1200" b="1" baseline="0" dirty="0"/>
                        <a:t>Agnostic </a:t>
                      </a:r>
                      <a:r>
                        <a:rPr lang="ko-KR" altLang="en-US" sz="1200" b="1" baseline="0" dirty="0"/>
                        <a:t>압축 및 재사용 구조 </a:t>
                      </a:r>
                      <a:r>
                        <a:rPr lang="en-US" altLang="ko-KR" sz="1200" b="1" baseline="0" dirty="0"/>
                        <a:t>(Offline)</a:t>
                      </a:r>
                      <a:r>
                        <a:rPr lang="ko-KR" altLang="en-US" sz="1200" b="1" baseline="0" dirty="0"/>
                        <a:t> </a:t>
                      </a:r>
                      <a:endParaRPr lang="ko-KR" altLang="en-US" sz="1200" b="1"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t>(2</a:t>
                      </a:r>
                      <a:r>
                        <a:rPr lang="ko-KR" altLang="en-US" sz="1200" b="1" dirty="0"/>
                        <a:t>안</a:t>
                      </a:r>
                      <a:r>
                        <a:rPr lang="en-US" altLang="ko-KR" sz="1200" b="1" dirty="0"/>
                        <a:t>) </a:t>
                      </a:r>
                      <a:r>
                        <a:rPr lang="ko-KR" altLang="en-US" sz="1200" b="1" dirty="0"/>
                        <a:t>사용자 </a:t>
                      </a:r>
                      <a:r>
                        <a:rPr lang="en-US" altLang="ko-KR" sz="1200" b="1" dirty="0"/>
                        <a:t>Query Aware</a:t>
                      </a:r>
                      <a:r>
                        <a:rPr lang="en-US" altLang="ko-KR" sz="1200" b="1" baseline="0" dirty="0"/>
                        <a:t> </a:t>
                      </a:r>
                      <a:r>
                        <a:rPr lang="ko-KR" altLang="en-US" sz="1200" b="1" baseline="0" dirty="0"/>
                        <a:t>압축 및 재사용 구조 </a:t>
                      </a:r>
                      <a:r>
                        <a:rPr lang="en-US" altLang="ko-KR" sz="1200" b="1" baseline="0" dirty="0"/>
                        <a:t>(Online)</a:t>
                      </a:r>
                      <a:endParaRPr lang="en-US" altLang="ko-KR" sz="1200" b="1"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460539">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b="1"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en-US" altLang="ko-KR" sz="120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474014">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사전에 압축을 진행하는 것으로 </a:t>
                      </a:r>
                      <a:r>
                        <a:rPr lang="en-US" altLang="ko-KR" sz="1200" strike="noStrike" kern="1200" baseline="0" dirty="0">
                          <a:solidFill>
                            <a:schemeClr val="tx1"/>
                          </a:solidFill>
                          <a:effectLst/>
                          <a:latin typeface="+mn-lt"/>
                          <a:ea typeface="+mn-ea"/>
                          <a:cs typeface="+mn-cs"/>
                        </a:rPr>
                        <a:t>TTFT </a:t>
                      </a:r>
                      <a:r>
                        <a:rPr lang="ko-KR" altLang="en-US" sz="1200" strike="noStrike" kern="1200" baseline="0" dirty="0" err="1">
                          <a:solidFill>
                            <a:schemeClr val="tx1"/>
                          </a:solidFill>
                          <a:effectLst/>
                          <a:latin typeface="+mn-lt"/>
                          <a:ea typeface="+mn-ea"/>
                          <a:cs typeface="+mn-cs"/>
                        </a:rPr>
                        <a:t>절감률</a:t>
                      </a:r>
                      <a:r>
                        <a:rPr lang="ko-KR" altLang="en-US" sz="1200" strike="noStrike" kern="1200" baseline="0" dirty="0">
                          <a:solidFill>
                            <a:schemeClr val="tx1"/>
                          </a:solidFill>
                          <a:effectLst/>
                          <a:latin typeface="+mn-lt"/>
                          <a:ea typeface="+mn-ea"/>
                          <a:cs typeface="+mn-cs"/>
                        </a:rPr>
                        <a:t> 높음</a:t>
                      </a:r>
                      <a:endParaRPr lang="en-US" altLang="ko-KR" sz="1200" strike="noStrike" kern="1200" baseline="0" dirty="0">
                        <a:solidFill>
                          <a:schemeClr val="tx1"/>
                        </a:solidFill>
                        <a:effectLst/>
                        <a:latin typeface="+mn-lt"/>
                        <a:ea typeface="+mn-ea"/>
                        <a:cs typeface="+mn-cs"/>
                      </a:endParaRPr>
                    </a:p>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사전 압축된 </a:t>
                      </a:r>
                      <a:r>
                        <a:rPr lang="en-US" altLang="ko-KR" sz="1200" strike="noStrike" kern="1200" baseline="0" dirty="0">
                          <a:solidFill>
                            <a:schemeClr val="tx1"/>
                          </a:solidFill>
                          <a:effectLst/>
                          <a:latin typeface="+mn-lt"/>
                          <a:ea typeface="+mn-ea"/>
                          <a:cs typeface="+mn-cs"/>
                        </a:rPr>
                        <a:t>KV </a:t>
                      </a:r>
                      <a:r>
                        <a:rPr lang="ko-KR" altLang="en-US" sz="1200" strike="noStrike" kern="1200" baseline="0" dirty="0">
                          <a:solidFill>
                            <a:schemeClr val="tx1"/>
                          </a:solidFill>
                          <a:effectLst/>
                          <a:latin typeface="+mn-lt"/>
                          <a:ea typeface="+mn-ea"/>
                          <a:cs typeface="+mn-cs"/>
                        </a:rPr>
                        <a:t>캐시를 읽어와 </a:t>
                      </a:r>
                      <a:r>
                        <a:rPr lang="en-US" altLang="ko-KR" sz="1200" strike="noStrike" kern="1200" baseline="0" dirty="0">
                          <a:solidFill>
                            <a:schemeClr val="tx1"/>
                          </a:solidFill>
                          <a:effectLst/>
                          <a:latin typeface="+mn-lt"/>
                          <a:ea typeface="+mn-ea"/>
                          <a:cs typeface="+mn-cs"/>
                        </a:rPr>
                        <a:t>I/O latency </a:t>
                      </a:r>
                      <a:r>
                        <a:rPr lang="ko-KR" altLang="en-US" sz="1200" strike="noStrike" kern="1200" baseline="0" dirty="0">
                          <a:solidFill>
                            <a:schemeClr val="tx1"/>
                          </a:solidFill>
                          <a:effectLst/>
                          <a:latin typeface="+mn-lt"/>
                          <a:ea typeface="+mn-ea"/>
                          <a:cs typeface="+mn-cs"/>
                        </a:rPr>
                        <a:t>절감</a:t>
                      </a:r>
                      <a:endParaRPr lang="en-US" altLang="ko-KR" sz="1200" strike="noStrike" kern="1200" baseline="0" dirty="0">
                        <a:solidFill>
                          <a:schemeClr val="tx1"/>
                        </a:solidFill>
                        <a:effectLst/>
                        <a:latin typeface="+mn-lt"/>
                        <a:ea typeface="+mn-ea"/>
                        <a:cs typeface="+mn-cs"/>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effectLst/>
                        </a:rPr>
                        <a:t>사용자 </a:t>
                      </a:r>
                      <a:r>
                        <a:rPr lang="en-US" altLang="ko-KR" sz="1200" strike="noStrike" baseline="0" dirty="0">
                          <a:effectLst/>
                        </a:rPr>
                        <a:t>Query aware</a:t>
                      </a:r>
                      <a:r>
                        <a:rPr lang="ko-KR" altLang="en-US" sz="1200" strike="noStrike" baseline="0" dirty="0">
                          <a:effectLst/>
                        </a:rPr>
                        <a:t>한 압축으로 정확도 높음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effectLst/>
                        </a:rPr>
                        <a:t>사용자 </a:t>
                      </a:r>
                      <a:r>
                        <a:rPr lang="en-US" altLang="ko-KR" sz="1200" strike="noStrike" baseline="0" dirty="0">
                          <a:effectLst/>
                        </a:rPr>
                        <a:t>Query</a:t>
                      </a:r>
                      <a:r>
                        <a:rPr lang="ko-KR" altLang="en-US" sz="1200" strike="noStrike" baseline="0" dirty="0">
                          <a:effectLst/>
                        </a:rPr>
                        <a:t>가 아닌 대표 </a:t>
                      </a:r>
                      <a:r>
                        <a:rPr lang="en-US" altLang="ko-KR" sz="1200" strike="noStrike" baseline="0" dirty="0">
                          <a:effectLst/>
                        </a:rPr>
                        <a:t>Query</a:t>
                      </a:r>
                      <a:r>
                        <a:rPr lang="ko-KR" altLang="en-US" sz="1200" strike="noStrike" baseline="0" dirty="0">
                          <a:effectLst/>
                        </a:rPr>
                        <a:t>로 압축한 것이므로 정확도 낮음</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ko-KR" altLang="en-US" sz="1200" strike="noStrike" baseline="0" dirty="0">
                          <a:effectLst/>
                        </a:rPr>
                        <a:t>온라인으로 </a:t>
                      </a:r>
                      <a:r>
                        <a:rPr lang="en-US" altLang="ko-KR" sz="1200" strike="noStrike" baseline="0" dirty="0">
                          <a:effectLst/>
                        </a:rPr>
                        <a:t>Query</a:t>
                      </a:r>
                      <a:r>
                        <a:rPr lang="ko-KR" altLang="en-US" sz="1200" strike="noStrike" baseline="0" dirty="0">
                          <a:effectLst/>
                        </a:rPr>
                        <a:t>와 </a:t>
                      </a:r>
                      <a:r>
                        <a:rPr lang="en-US" altLang="ko-KR" sz="1200" strike="noStrike" baseline="0" dirty="0">
                          <a:effectLst/>
                        </a:rPr>
                        <a:t>Context</a:t>
                      </a:r>
                      <a:r>
                        <a:rPr lang="ko-KR" altLang="en-US" sz="1200" strike="noStrike" baseline="0" dirty="0">
                          <a:effectLst/>
                        </a:rPr>
                        <a:t>간의 </a:t>
                      </a:r>
                      <a:r>
                        <a:rPr lang="en-US" altLang="ko-KR" sz="1200" strike="noStrike" baseline="0" dirty="0">
                          <a:effectLst/>
                        </a:rPr>
                        <a:t>Attention </a:t>
                      </a:r>
                      <a:r>
                        <a:rPr lang="ko-KR" altLang="en-US" sz="1200" strike="noStrike" baseline="0" dirty="0">
                          <a:effectLst/>
                        </a:rPr>
                        <a:t>연산에 기반한 압축으로 </a:t>
                      </a:r>
                      <a:r>
                        <a:rPr lang="en-US" altLang="ko-KR" sz="1200" strike="noStrike" baseline="0" dirty="0">
                          <a:effectLst/>
                        </a:rPr>
                        <a:t>TTFT </a:t>
                      </a:r>
                      <a:r>
                        <a:rPr lang="ko-KR" altLang="en-US" sz="1200" strike="noStrike" baseline="0" dirty="0" err="1">
                          <a:effectLst/>
                        </a:rPr>
                        <a:t>절감률</a:t>
                      </a:r>
                      <a:r>
                        <a:rPr lang="ko-KR" altLang="en-US" sz="1200" strike="noStrike" baseline="0" dirty="0">
                          <a:effectLst/>
                        </a:rPr>
                        <a:t> 낮음</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630306">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lang="en-US" altLang="ko-KR" sz="1200" b="0" strike="noStrike" dirty="0"/>
                        <a:t>Performance Latency</a:t>
                      </a:r>
                    </a:p>
                    <a:p>
                      <a:pPr marL="228600" indent="-228600" latinLnBrk="1">
                        <a:lnSpc>
                          <a:spcPct val="100000"/>
                        </a:lnSpc>
                        <a:buFont typeface="Wingdings" panose="05000000000000000000" pitchFamily="2" charset="2"/>
                        <a:buChar char="§"/>
                      </a:pPr>
                      <a:r>
                        <a:rPr lang="en-US" altLang="ko-KR" sz="1200" b="0" strike="noStrike" dirty="0"/>
                        <a:t>Functional Correctness </a:t>
                      </a: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lvl="0"/>
                      <a:endParaRPr lang="ko-KR" altLang="en-US" sz="1200" strike="noStrike" dirty="0">
                        <a:solidFill>
                          <a:prstClr val="black"/>
                        </a:solidFill>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lang="en-US" altLang="ko-KR" sz="1200" b="0" strike="noStrike" dirty="0"/>
                        <a:t>Performance Latency</a:t>
                      </a:r>
                    </a:p>
                    <a:p>
                      <a:pPr marL="228600" indent="-228600" latinLnBrk="1">
                        <a:lnSpc>
                          <a:spcPct val="100000"/>
                        </a:lnSpc>
                        <a:buFont typeface="Wingdings" panose="05000000000000000000" pitchFamily="2" charset="2"/>
                        <a:buChar char="§"/>
                      </a:pPr>
                      <a:r>
                        <a:rPr lang="en-US" altLang="ko-KR" sz="1200" b="0" strike="noStrike" dirty="0"/>
                        <a:t>Functional Correctness</a:t>
                      </a: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lvl="0"/>
                      <a:endParaRPr lang="ko-KR" altLang="en-US" sz="1200" strike="noStrike" dirty="0">
                        <a:solidFill>
                          <a:prstClr val="black"/>
                        </a:solidFill>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275" name="직사각형 274">
            <a:extLst>
              <a:ext uri="{FF2B5EF4-FFF2-40B4-BE49-F238E27FC236}">
                <a16:creationId xmlns:a16="http://schemas.microsoft.com/office/drawing/2014/main" id="{84AD227C-41E7-4D5B-B6DE-C8804D2E6632}"/>
              </a:ext>
            </a:extLst>
          </p:cNvPr>
          <p:cNvSpPr/>
          <p:nvPr/>
        </p:nvSpPr>
        <p:spPr>
          <a:xfrm>
            <a:off x="1282267" y="3326574"/>
            <a:ext cx="2454799" cy="749010"/>
          </a:xfrm>
          <a:prstGeom prst="rect">
            <a:avLst/>
          </a:prstGeom>
          <a:solidFill>
            <a:schemeClr val="accent2">
              <a:lumMod val="20000"/>
              <a:lumOff val="80000"/>
            </a:schemeClr>
          </a:solidFill>
          <a:ln w="9525">
            <a:solidFill>
              <a:schemeClr val="accent2"/>
            </a:solidFill>
            <a:prstDash val="dash"/>
          </a:ln>
        </p:spPr>
        <p:txBody>
          <a:bodyPr anchor="t"/>
          <a:lstStyle/>
          <a:p>
            <a:pPr algn="ctr"/>
            <a:r>
              <a:rPr lang="ko-KR" altLang="en-US" sz="900" b="1" dirty="0">
                <a:solidFill>
                  <a:schemeClr val="accent2"/>
                </a:solidFill>
                <a:latin typeface="Malgun Gothic" pitchFamily="34" charset="0"/>
                <a:ea typeface="Malgun Gothic" pitchFamily="34" charset="-122"/>
                <a:cs typeface="Malgun Gothic" pitchFamily="34" charset="-120"/>
              </a:rPr>
              <a:t>압축 및 재사용 구조</a:t>
            </a:r>
            <a:endParaRPr lang="en-US" altLang="ko-KR" sz="900" b="1" dirty="0">
              <a:solidFill>
                <a:schemeClr val="accent2"/>
              </a:solidFill>
              <a:latin typeface="Malgun Gothic" pitchFamily="34" charset="0"/>
              <a:ea typeface="Malgun Gothic" pitchFamily="34" charset="-122"/>
              <a:cs typeface="Malgun Gothic" pitchFamily="34" charset="-120"/>
            </a:endParaRPr>
          </a:p>
        </p:txBody>
      </p:sp>
      <p:sp>
        <p:nvSpPr>
          <p:cNvPr id="246" name="직사각형 245">
            <a:extLst>
              <a:ext uri="{FF2B5EF4-FFF2-40B4-BE49-F238E27FC236}">
                <a16:creationId xmlns:a16="http://schemas.microsoft.com/office/drawing/2014/main" id="{84AD227C-41E7-4D5B-B6DE-C8804D2E6632}"/>
              </a:ext>
            </a:extLst>
          </p:cNvPr>
          <p:cNvSpPr/>
          <p:nvPr/>
        </p:nvSpPr>
        <p:spPr>
          <a:xfrm>
            <a:off x="1453146" y="1935310"/>
            <a:ext cx="720879"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Query </a:t>
            </a:r>
          </a:p>
          <a:p>
            <a:pPr algn="ctr"/>
            <a:r>
              <a:rPr lang="en-US" altLang="ko-KR" sz="1000" b="1" dirty="0">
                <a:solidFill>
                  <a:srgbClr val="1F3864"/>
                </a:solidFill>
                <a:latin typeface="Malgun Gothic" pitchFamily="34" charset="0"/>
                <a:ea typeface="Malgun Gothic" pitchFamily="34" charset="-122"/>
                <a:cs typeface="Malgun Gothic" pitchFamily="34" charset="-120"/>
              </a:rPr>
              <a:t>Sampler</a:t>
            </a:r>
          </a:p>
        </p:txBody>
      </p:sp>
      <p:sp>
        <p:nvSpPr>
          <p:cNvPr id="247" name="직사각형 246">
            <a:extLst>
              <a:ext uri="{FF2B5EF4-FFF2-40B4-BE49-F238E27FC236}">
                <a16:creationId xmlns:a16="http://schemas.microsoft.com/office/drawing/2014/main" id="{84AD227C-41E7-4D5B-B6DE-C8804D2E6632}"/>
              </a:ext>
            </a:extLst>
          </p:cNvPr>
          <p:cNvSpPr/>
          <p:nvPr/>
        </p:nvSpPr>
        <p:spPr>
          <a:xfrm>
            <a:off x="2704511" y="1935140"/>
            <a:ext cx="882258"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User Query </a:t>
            </a:r>
          </a:p>
          <a:p>
            <a:pPr algn="ctr"/>
            <a:r>
              <a:rPr lang="en-US" altLang="ko-KR" sz="1000" b="1" dirty="0">
                <a:solidFill>
                  <a:srgbClr val="1F3864"/>
                </a:solidFill>
                <a:latin typeface="Malgun Gothic" pitchFamily="34" charset="0"/>
                <a:ea typeface="Malgun Gothic" pitchFamily="34" charset="-122"/>
                <a:cs typeface="Malgun Gothic" pitchFamily="34" charset="-120"/>
              </a:rPr>
              <a:t>Manager</a:t>
            </a:r>
          </a:p>
        </p:txBody>
      </p:sp>
      <p:sp>
        <p:nvSpPr>
          <p:cNvPr id="274" name="직사각형 273">
            <a:extLst>
              <a:ext uri="{FF2B5EF4-FFF2-40B4-BE49-F238E27FC236}">
                <a16:creationId xmlns:a16="http://schemas.microsoft.com/office/drawing/2014/main" id="{84AD227C-41E7-4D5B-B6DE-C8804D2E6632}"/>
              </a:ext>
            </a:extLst>
          </p:cNvPr>
          <p:cNvSpPr/>
          <p:nvPr/>
        </p:nvSpPr>
        <p:spPr>
          <a:xfrm>
            <a:off x="1287093" y="2456822"/>
            <a:ext cx="2452770" cy="739037"/>
          </a:xfrm>
          <a:prstGeom prst="rect">
            <a:avLst/>
          </a:prstGeom>
          <a:solidFill>
            <a:schemeClr val="accent1">
              <a:lumMod val="20000"/>
              <a:lumOff val="80000"/>
            </a:schemeClr>
          </a:solidFill>
          <a:ln w="9525">
            <a:solidFill>
              <a:schemeClr val="accent1"/>
            </a:solidFill>
            <a:prstDash val="dash"/>
          </a:ln>
        </p:spPr>
        <p:txBody>
          <a:bodyPr anchor="t"/>
          <a:lstStyle/>
          <a:p>
            <a:pPr algn="ctr"/>
            <a:r>
              <a:rPr lang="en-US" altLang="ko-KR" sz="900" b="1" dirty="0">
                <a:solidFill>
                  <a:schemeClr val="accent1"/>
                </a:solidFill>
                <a:latin typeface="Malgun Gothic" pitchFamily="34" charset="0"/>
                <a:ea typeface="Malgun Gothic" pitchFamily="34" charset="-122"/>
                <a:cs typeface="Malgun Gothic" pitchFamily="34" charset="-120"/>
              </a:rPr>
              <a:t>LLM </a:t>
            </a:r>
            <a:r>
              <a:rPr lang="ko-KR" altLang="en-US" sz="900" b="1" dirty="0">
                <a:solidFill>
                  <a:schemeClr val="accent1"/>
                </a:solidFill>
                <a:latin typeface="Malgun Gothic" pitchFamily="34" charset="0"/>
                <a:ea typeface="Malgun Gothic" pitchFamily="34" charset="-122"/>
                <a:cs typeface="Malgun Gothic" pitchFamily="34" charset="-120"/>
              </a:rPr>
              <a:t>생성 구조</a:t>
            </a:r>
            <a:endParaRPr lang="en-US" altLang="ko-KR" sz="900" b="1" dirty="0">
              <a:solidFill>
                <a:schemeClr val="accent1"/>
              </a:solidFill>
              <a:latin typeface="Malgun Gothic" pitchFamily="34" charset="0"/>
              <a:ea typeface="Malgun Gothic" pitchFamily="34" charset="-122"/>
              <a:cs typeface="Malgun Gothic" pitchFamily="34" charset="-120"/>
            </a:endParaRPr>
          </a:p>
        </p:txBody>
      </p:sp>
      <p:sp>
        <p:nvSpPr>
          <p:cNvPr id="249" name="직사각형 248">
            <a:extLst>
              <a:ext uri="{FF2B5EF4-FFF2-40B4-BE49-F238E27FC236}">
                <a16:creationId xmlns:a16="http://schemas.microsoft.com/office/drawing/2014/main" id="{84AD227C-41E7-4D5B-B6DE-C8804D2E6632}"/>
              </a:ext>
            </a:extLst>
          </p:cNvPr>
          <p:cNvSpPr/>
          <p:nvPr/>
        </p:nvSpPr>
        <p:spPr>
          <a:xfrm>
            <a:off x="1375281" y="2709301"/>
            <a:ext cx="881437"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Attention</a:t>
            </a:r>
          </a:p>
          <a:p>
            <a:pPr algn="ctr"/>
            <a:r>
              <a:rPr lang="en-US" altLang="ko-KR" sz="1000" b="1" dirty="0">
                <a:solidFill>
                  <a:srgbClr val="1F3864"/>
                </a:solidFill>
                <a:latin typeface="Malgun Gothic" pitchFamily="34" charset="0"/>
                <a:ea typeface="Malgun Gothic" pitchFamily="34" charset="-122"/>
                <a:cs typeface="Malgun Gothic" pitchFamily="34" charset="-120"/>
              </a:rPr>
              <a:t>Manager</a:t>
            </a:r>
          </a:p>
        </p:txBody>
      </p:sp>
      <p:sp>
        <p:nvSpPr>
          <p:cNvPr id="252" name="직사각형 251">
            <a:extLst>
              <a:ext uri="{FF2B5EF4-FFF2-40B4-BE49-F238E27FC236}">
                <a16:creationId xmlns:a16="http://schemas.microsoft.com/office/drawing/2014/main" id="{84AD227C-41E7-4D5B-B6DE-C8804D2E6632}"/>
              </a:ext>
            </a:extLst>
          </p:cNvPr>
          <p:cNvSpPr/>
          <p:nvPr/>
        </p:nvSpPr>
        <p:spPr>
          <a:xfrm>
            <a:off x="2658856" y="2708211"/>
            <a:ext cx="971806"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Selective </a:t>
            </a:r>
            <a:r>
              <a:rPr lang="en-US" altLang="ko-KR" sz="1000" b="1" dirty="0" err="1">
                <a:solidFill>
                  <a:srgbClr val="1F3864"/>
                </a:solidFill>
                <a:latin typeface="Malgun Gothic" pitchFamily="34" charset="0"/>
                <a:ea typeface="Malgun Gothic" pitchFamily="34" charset="-122"/>
                <a:cs typeface="Malgun Gothic" pitchFamily="34" charset="-120"/>
              </a:rPr>
              <a:t>Recomputer</a:t>
            </a:r>
            <a:endParaRPr lang="en-US" altLang="ko-KR" sz="1000" b="1" dirty="0">
              <a:solidFill>
                <a:srgbClr val="1F3864"/>
              </a:solidFill>
              <a:latin typeface="Malgun Gothic" pitchFamily="34" charset="0"/>
              <a:ea typeface="Malgun Gothic" pitchFamily="34" charset="-122"/>
              <a:cs typeface="Malgun Gothic" pitchFamily="34" charset="-120"/>
            </a:endParaRPr>
          </a:p>
        </p:txBody>
      </p:sp>
      <p:cxnSp>
        <p:nvCxnSpPr>
          <p:cNvPr id="254" name="직선 화살표 연결선 253"/>
          <p:cNvCxnSpPr>
            <a:stCxn id="246" idx="2"/>
            <a:endCxn id="249" idx="0"/>
          </p:cNvCxnSpPr>
          <p:nvPr/>
        </p:nvCxnSpPr>
        <p:spPr>
          <a:xfrm>
            <a:off x="1813586" y="2283197"/>
            <a:ext cx="2414" cy="42610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직선 화살표 연결선 259"/>
          <p:cNvCxnSpPr>
            <a:stCxn id="249" idx="2"/>
            <a:endCxn id="250" idx="0"/>
          </p:cNvCxnSpPr>
          <p:nvPr/>
        </p:nvCxnSpPr>
        <p:spPr>
          <a:xfrm flipH="1">
            <a:off x="1813586" y="3057188"/>
            <a:ext cx="2412" cy="585948"/>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직선 화살표 연결선 267"/>
          <p:cNvCxnSpPr>
            <a:stCxn id="250" idx="3"/>
            <a:endCxn id="253" idx="1"/>
          </p:cNvCxnSpPr>
          <p:nvPr/>
        </p:nvCxnSpPr>
        <p:spPr>
          <a:xfrm flipV="1">
            <a:off x="2300788" y="3814221"/>
            <a:ext cx="398759" cy="285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0" name="직사각형 249">
            <a:extLst>
              <a:ext uri="{FF2B5EF4-FFF2-40B4-BE49-F238E27FC236}">
                <a16:creationId xmlns:a16="http://schemas.microsoft.com/office/drawing/2014/main" id="{84AD227C-41E7-4D5B-B6DE-C8804D2E6632}"/>
              </a:ext>
            </a:extLst>
          </p:cNvPr>
          <p:cNvSpPr/>
          <p:nvPr/>
        </p:nvSpPr>
        <p:spPr>
          <a:xfrm>
            <a:off x="1326384" y="3643136"/>
            <a:ext cx="974406"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KV Cache Compressor</a:t>
            </a:r>
          </a:p>
        </p:txBody>
      </p:sp>
      <p:sp>
        <p:nvSpPr>
          <p:cNvPr id="253" name="직사각형 252">
            <a:extLst>
              <a:ext uri="{FF2B5EF4-FFF2-40B4-BE49-F238E27FC236}">
                <a16:creationId xmlns:a16="http://schemas.microsoft.com/office/drawing/2014/main" id="{84AD227C-41E7-4D5B-B6DE-C8804D2E6632}"/>
              </a:ext>
            </a:extLst>
          </p:cNvPr>
          <p:cNvSpPr/>
          <p:nvPr/>
        </p:nvSpPr>
        <p:spPr>
          <a:xfrm>
            <a:off x="2699547" y="3580105"/>
            <a:ext cx="908992" cy="468232"/>
          </a:xfrm>
          <a:prstGeom prst="rect">
            <a:avLst/>
          </a:prstGeom>
          <a:solidFill>
            <a:srgbClr val="FFFFFF"/>
          </a:solidFill>
          <a:ln w="9525">
            <a:solidFill>
              <a:srgbClr val="A6A6A6"/>
            </a:solidFill>
            <a:prstDash val="solid"/>
          </a:ln>
        </p:spPr>
        <p:txBody>
          <a:bodyPr anchor="ctr"/>
          <a:lstStyle/>
          <a:p>
            <a:pPr algn="ctr"/>
            <a:r>
              <a:rPr lang="en-US" altLang="ko-KR" sz="1000" b="1" dirty="0" err="1">
                <a:solidFill>
                  <a:srgbClr val="1F3864"/>
                </a:solidFill>
                <a:latin typeface="Malgun Gothic" pitchFamily="34" charset="0"/>
                <a:ea typeface="Malgun Gothic" pitchFamily="34" charset="-122"/>
                <a:cs typeface="Malgun Gothic" pitchFamily="34" charset="-120"/>
              </a:rPr>
              <a:t>Recompute</a:t>
            </a:r>
            <a:r>
              <a:rPr lang="en-US" altLang="ko-KR" sz="1000" b="1" dirty="0">
                <a:solidFill>
                  <a:srgbClr val="1F3864"/>
                </a:solidFill>
                <a:latin typeface="Malgun Gothic" pitchFamily="34" charset="0"/>
                <a:ea typeface="Malgun Gothic" pitchFamily="34" charset="-122"/>
                <a:cs typeface="Malgun Gothic" pitchFamily="34" charset="-120"/>
              </a:rPr>
              <a:t> Token </a:t>
            </a:r>
          </a:p>
          <a:p>
            <a:pPr algn="ctr"/>
            <a:r>
              <a:rPr lang="en-US" altLang="ko-KR" sz="1000" b="1" dirty="0">
                <a:solidFill>
                  <a:srgbClr val="1F3864"/>
                </a:solidFill>
                <a:latin typeface="Malgun Gothic" pitchFamily="34" charset="0"/>
                <a:ea typeface="Malgun Gothic" pitchFamily="34" charset="-122"/>
                <a:cs typeface="Malgun Gothic" pitchFamily="34" charset="-120"/>
              </a:rPr>
              <a:t>Selector</a:t>
            </a:r>
          </a:p>
        </p:txBody>
      </p:sp>
      <p:cxnSp>
        <p:nvCxnSpPr>
          <p:cNvPr id="281" name="직선 화살표 연결선 280"/>
          <p:cNvCxnSpPr>
            <a:stCxn id="247" idx="2"/>
            <a:endCxn id="252" idx="0"/>
          </p:cNvCxnSpPr>
          <p:nvPr/>
        </p:nvCxnSpPr>
        <p:spPr>
          <a:xfrm flipH="1">
            <a:off x="3144759" y="2283027"/>
            <a:ext cx="881" cy="42518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1" name="직선 화살표 연결선 410"/>
          <p:cNvCxnSpPr>
            <a:stCxn id="253" idx="0"/>
            <a:endCxn id="252" idx="2"/>
          </p:cNvCxnSpPr>
          <p:nvPr/>
        </p:nvCxnSpPr>
        <p:spPr>
          <a:xfrm flipH="1" flipV="1">
            <a:off x="3144759" y="3056098"/>
            <a:ext cx="9285" cy="524007"/>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5" name="직사각형 224">
            <a:extLst>
              <a:ext uri="{FF2B5EF4-FFF2-40B4-BE49-F238E27FC236}">
                <a16:creationId xmlns:a16="http://schemas.microsoft.com/office/drawing/2014/main" id="{84AD227C-41E7-4D5B-B6DE-C8804D2E6632}"/>
              </a:ext>
            </a:extLst>
          </p:cNvPr>
          <p:cNvSpPr/>
          <p:nvPr/>
        </p:nvSpPr>
        <p:spPr>
          <a:xfrm>
            <a:off x="1982496" y="4219422"/>
            <a:ext cx="914639" cy="237612"/>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KV Sampler</a:t>
            </a:r>
          </a:p>
        </p:txBody>
      </p:sp>
      <p:sp>
        <p:nvSpPr>
          <p:cNvPr id="3" name="제목 2"/>
          <p:cNvSpPr>
            <a:spLocks noGrp="1"/>
          </p:cNvSpPr>
          <p:nvPr>
            <p:ph type="title"/>
          </p:nvPr>
        </p:nvSpPr>
        <p:spPr>
          <a:xfrm>
            <a:off x="234948" y="137379"/>
            <a:ext cx="7016242" cy="365125"/>
          </a:xfrm>
        </p:spPr>
        <p:txBody>
          <a:bodyPr/>
          <a:lstStyle/>
          <a:p>
            <a:r>
              <a:rPr lang="en-US" altLang="ko-KR" dirty="0"/>
              <a:t>DP3. Long Context</a:t>
            </a:r>
            <a:r>
              <a:rPr lang="ko-KR" altLang="en-US" dirty="0"/>
              <a:t>를 위한 </a:t>
            </a:r>
            <a:r>
              <a:rPr lang="en-US" altLang="ko-KR" dirty="0"/>
              <a:t>KV </a:t>
            </a:r>
            <a:r>
              <a:rPr lang="ko-KR" altLang="en-US" dirty="0"/>
              <a:t>캐시 압축 및 재사용 구조 </a:t>
            </a:r>
            <a:r>
              <a:rPr lang="en-US" altLang="ko-KR" dirty="0"/>
              <a:t>– </a:t>
            </a:r>
            <a:r>
              <a:rPr lang="ko-KR" altLang="en-US" dirty="0"/>
              <a:t>설계 </a:t>
            </a:r>
            <a:endParaRPr lang="ko-KR" altLang="en-US" strike="sngStrike" dirty="0"/>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6540639" cy="307777"/>
          </a:xfrm>
          <a:prstGeom prst="rect">
            <a:avLst/>
          </a:prstGeom>
          <a:noFill/>
        </p:spPr>
        <p:txBody>
          <a:bodyPr wrap="square" rtlCol="0">
            <a:spAutoFit/>
          </a:bodyPr>
          <a:lstStyle/>
          <a:p>
            <a:r>
              <a:rPr lang="en-US" altLang="ko-KR" sz="1400" b="1" dirty="0">
                <a:solidFill>
                  <a:schemeClr val="bg1"/>
                </a:solidFill>
              </a:rPr>
              <a:t>Long Context</a:t>
            </a:r>
            <a:r>
              <a:rPr lang="ko-KR" altLang="en-US" sz="1400" b="1" dirty="0">
                <a:solidFill>
                  <a:schemeClr val="bg1"/>
                </a:solidFill>
              </a:rPr>
              <a:t>에서 </a:t>
            </a:r>
            <a:r>
              <a:rPr lang="en-US" altLang="ko-KR" sz="1400" b="1" dirty="0">
                <a:solidFill>
                  <a:schemeClr val="bg1"/>
                </a:solidFill>
              </a:rPr>
              <a:t>Accuracy</a:t>
            </a:r>
            <a:r>
              <a:rPr lang="ko-KR" altLang="en-US" sz="1400" b="1" dirty="0">
                <a:solidFill>
                  <a:schemeClr val="bg1"/>
                </a:solidFill>
              </a:rPr>
              <a:t>를 유지하며 </a:t>
            </a:r>
            <a:r>
              <a:rPr lang="en-US" altLang="ko-KR" sz="1400" b="1" dirty="0">
                <a:solidFill>
                  <a:schemeClr val="bg1"/>
                </a:solidFill>
              </a:rPr>
              <a:t>KV </a:t>
            </a:r>
            <a:r>
              <a:rPr lang="ko-KR" altLang="en-US" sz="1400" b="1" dirty="0">
                <a:solidFill>
                  <a:schemeClr val="bg1"/>
                </a:solidFill>
              </a:rPr>
              <a:t>캐시와 </a:t>
            </a:r>
            <a:r>
              <a:rPr lang="en-US" altLang="ko-KR" sz="1400" b="1" dirty="0">
                <a:solidFill>
                  <a:schemeClr val="bg1"/>
                </a:solidFill>
              </a:rPr>
              <a:t>Latency </a:t>
            </a:r>
            <a:r>
              <a:rPr lang="ko-KR" altLang="en-US" sz="1400" b="1" dirty="0">
                <a:solidFill>
                  <a:schemeClr val="bg1"/>
                </a:solidFill>
              </a:rPr>
              <a:t>를 줄이는 구조</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88657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 </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9673910"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 </a:t>
            </a:r>
            <a:endParaRPr lang="ko-KR" altLang="en-US" sz="900" b="1" dirty="0">
              <a:latin typeface="맑은 고딕" panose="020B0503020000020004" pitchFamily="50" charset="-127"/>
              <a:ea typeface="맑은 고딕" panose="020B0503020000020004" pitchFamily="50" charset="-127"/>
            </a:endParaRPr>
          </a:p>
        </p:txBody>
      </p:sp>
      <p:sp>
        <p:nvSpPr>
          <p:cNvPr id="32" name="모서리가 둥근 직사각형 31"/>
          <p:cNvSpPr/>
          <p:nvPr/>
        </p:nvSpPr>
        <p:spPr>
          <a:xfrm>
            <a:off x="11187937"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rPr>
              <a:t>C2 </a:t>
            </a:r>
            <a:endParaRPr lang="ko-KR" altLang="en-US" sz="900" b="1" dirty="0">
              <a:latin typeface="맑은 고딕" panose="020B0503020000020004" pitchFamily="50" charset="-127"/>
            </a:endParaRPr>
          </a:p>
        </p:txBody>
      </p:sp>
      <p:sp>
        <p:nvSpPr>
          <p:cNvPr id="36" name="모서리가 둥근 직사각형 35"/>
          <p:cNvSpPr/>
          <p:nvPr/>
        </p:nvSpPr>
        <p:spPr>
          <a:xfrm>
            <a:off x="7251190"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F3 </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8062711"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F4 </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0453490"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 </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670030"/>
            <a:ext cx="456466" cy="209550"/>
          </a:xfrm>
        </p:spPr>
        <p:txBody>
          <a:bodyPr/>
          <a:lstStyle/>
          <a:p>
            <a:fld id="{7F889C64-266A-4D07-AD8F-5B592E61CCE1}" type="slidenum">
              <a:rPr lang="ko-KR" altLang="en-US" smtClean="0"/>
              <a:pPr/>
              <a:t>17</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1111250" y="1430748"/>
            <a:ext cx="5422899" cy="261610"/>
          </a:xfrm>
          <a:prstGeom prst="rect">
            <a:avLst/>
          </a:prstGeom>
          <a:noFill/>
        </p:spPr>
        <p:txBody>
          <a:bodyPr wrap="square" rtlCol="0">
            <a:spAutoFit/>
          </a:bodyPr>
          <a:lstStyle/>
          <a:p>
            <a:r>
              <a:rPr lang="en-US" altLang="ko-KR" sz="1100" dirty="0"/>
              <a:t>“W/L</a:t>
            </a:r>
            <a:r>
              <a:rPr lang="ko-KR" altLang="en-US" sz="1100" dirty="0"/>
              <a:t>별 대표 </a:t>
            </a:r>
            <a:r>
              <a:rPr lang="en-US" altLang="ko-KR" sz="1100" dirty="0"/>
              <a:t>Query</a:t>
            </a:r>
            <a:r>
              <a:rPr lang="ko-KR" altLang="en-US" sz="1100" dirty="0"/>
              <a:t>와 </a:t>
            </a:r>
            <a:r>
              <a:rPr lang="en-US" altLang="ko-KR" sz="1100" dirty="0"/>
              <a:t>KV </a:t>
            </a:r>
            <a:r>
              <a:rPr lang="ko-KR" altLang="en-US" sz="1100" dirty="0"/>
              <a:t>캐시 간 </a:t>
            </a:r>
            <a:r>
              <a:rPr lang="en-US" altLang="ko-KR" sz="1100" dirty="0"/>
              <a:t>Attention</a:t>
            </a:r>
            <a:r>
              <a:rPr lang="ko-KR" altLang="en-US" sz="1100" dirty="0"/>
              <a:t>을 활용하여 압축 및 재계산 토큰 선정</a:t>
            </a:r>
            <a:r>
              <a:rPr lang="en-US" altLang="ko-KR" sz="1100" dirty="0"/>
              <a:t>“</a:t>
            </a:r>
          </a:p>
        </p:txBody>
      </p:sp>
      <p:sp>
        <p:nvSpPr>
          <p:cNvPr id="138" name="TextBox 137"/>
          <p:cNvSpPr txBox="1"/>
          <p:nvPr/>
        </p:nvSpPr>
        <p:spPr>
          <a:xfrm>
            <a:off x="6534149" y="1416420"/>
            <a:ext cx="5543551" cy="261610"/>
          </a:xfrm>
          <a:prstGeom prst="rect">
            <a:avLst/>
          </a:prstGeom>
          <a:noFill/>
        </p:spPr>
        <p:txBody>
          <a:bodyPr wrap="square" rtlCol="0">
            <a:spAutoFit/>
          </a:bodyPr>
          <a:lstStyle/>
          <a:p>
            <a:r>
              <a:rPr lang="en-US" altLang="ko-KR" sz="1100" dirty="0"/>
              <a:t>"</a:t>
            </a:r>
            <a:r>
              <a:rPr lang="ko-KR" altLang="en-US" sz="1100" dirty="0"/>
              <a:t>입력되는 </a:t>
            </a:r>
            <a:r>
              <a:rPr lang="en-US" altLang="ko-KR" sz="1100" dirty="0"/>
              <a:t>Query</a:t>
            </a:r>
            <a:r>
              <a:rPr lang="ko-KR" altLang="en-US" sz="1100" dirty="0"/>
              <a:t>와의 </a:t>
            </a:r>
            <a:r>
              <a:rPr lang="en-US" altLang="ko-KR" sz="1100" dirty="0"/>
              <a:t>KV </a:t>
            </a:r>
            <a:r>
              <a:rPr lang="ko-KR" altLang="en-US" sz="1100" dirty="0"/>
              <a:t>간 </a:t>
            </a:r>
            <a:r>
              <a:rPr lang="en-US" altLang="ko-KR" sz="1100" dirty="0"/>
              <a:t>Attention</a:t>
            </a:r>
            <a:r>
              <a:rPr lang="ko-KR" altLang="en-US" sz="1100" dirty="0"/>
              <a:t>을 활용하여 압축 및 재계산 토큰 선정</a:t>
            </a:r>
            <a:r>
              <a:rPr lang="en-US" altLang="ko-KR" sz="1100" dirty="0"/>
              <a:t>“</a:t>
            </a:r>
          </a:p>
        </p:txBody>
      </p:sp>
      <p:sp>
        <p:nvSpPr>
          <p:cNvPr id="102" name="실행 단추: 앞으로 또는 다음 101">
            <a:hlinkClick r:id="" action="ppaction://noaction" highlightClick="1"/>
          </p:cNvPr>
          <p:cNvSpPr/>
          <p:nvPr/>
        </p:nvSpPr>
        <p:spPr>
          <a:xfrm>
            <a:off x="537074" y="6217803"/>
            <a:ext cx="234199" cy="234778"/>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p>
        </p:txBody>
      </p:sp>
      <p:grpSp>
        <p:nvGrpSpPr>
          <p:cNvPr id="362" name="그룹 361"/>
          <p:cNvGrpSpPr/>
          <p:nvPr/>
        </p:nvGrpSpPr>
        <p:grpSpPr>
          <a:xfrm>
            <a:off x="6717429" y="2091746"/>
            <a:ext cx="2335498" cy="2206980"/>
            <a:chOff x="6659977" y="2474661"/>
            <a:chExt cx="1978105" cy="2206980"/>
          </a:xfrm>
        </p:grpSpPr>
        <p:sp>
          <p:nvSpPr>
            <p:cNvPr id="299" name="직사각형 298">
              <a:extLst>
                <a:ext uri="{FF2B5EF4-FFF2-40B4-BE49-F238E27FC236}">
                  <a16:creationId xmlns:a16="http://schemas.microsoft.com/office/drawing/2014/main" id="{84AD227C-41E7-4D5B-B6DE-C8804D2E6632}"/>
                </a:ext>
              </a:extLst>
            </p:cNvPr>
            <p:cNvSpPr/>
            <p:nvPr/>
          </p:nvSpPr>
          <p:spPr>
            <a:xfrm>
              <a:off x="6767285" y="2474661"/>
              <a:ext cx="772741"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User Query </a:t>
              </a:r>
            </a:p>
            <a:p>
              <a:pPr algn="ctr"/>
              <a:r>
                <a:rPr lang="en-US" altLang="ko-KR" sz="1000" b="1" dirty="0">
                  <a:solidFill>
                    <a:srgbClr val="1F3864"/>
                  </a:solidFill>
                  <a:latin typeface="Malgun Gothic" pitchFamily="34" charset="0"/>
                  <a:ea typeface="Malgun Gothic" pitchFamily="34" charset="-122"/>
                  <a:cs typeface="Malgun Gothic" pitchFamily="34" charset="-120"/>
                </a:rPr>
                <a:t>Manager</a:t>
              </a:r>
            </a:p>
          </p:txBody>
        </p:sp>
        <p:grpSp>
          <p:nvGrpSpPr>
            <p:cNvPr id="302" name="그룹 301"/>
            <p:cNvGrpSpPr/>
            <p:nvPr/>
          </p:nvGrpSpPr>
          <p:grpSpPr>
            <a:xfrm>
              <a:off x="6666741" y="2973235"/>
              <a:ext cx="1971341" cy="872679"/>
              <a:chOff x="1780643" y="2830282"/>
              <a:chExt cx="2207090" cy="872679"/>
            </a:xfrm>
          </p:grpSpPr>
          <p:sp>
            <p:nvSpPr>
              <p:cNvPr id="303" name="직사각형 302">
                <a:extLst>
                  <a:ext uri="{FF2B5EF4-FFF2-40B4-BE49-F238E27FC236}">
                    <a16:creationId xmlns:a16="http://schemas.microsoft.com/office/drawing/2014/main" id="{84AD227C-41E7-4D5B-B6DE-C8804D2E6632}"/>
                  </a:ext>
                </a:extLst>
              </p:cNvPr>
              <p:cNvSpPr/>
              <p:nvPr/>
            </p:nvSpPr>
            <p:spPr>
              <a:xfrm>
                <a:off x="1780643" y="2830282"/>
                <a:ext cx="2207090" cy="872679"/>
              </a:xfrm>
              <a:prstGeom prst="rect">
                <a:avLst/>
              </a:prstGeom>
              <a:solidFill>
                <a:schemeClr val="accent1">
                  <a:lumMod val="20000"/>
                  <a:lumOff val="80000"/>
                </a:schemeClr>
              </a:solidFill>
              <a:ln w="9525">
                <a:solidFill>
                  <a:schemeClr val="accent1"/>
                </a:solidFill>
                <a:prstDash val="dash"/>
              </a:ln>
            </p:spPr>
            <p:txBody>
              <a:bodyPr anchor="t"/>
              <a:lstStyle/>
              <a:p>
                <a:pPr algn="ctr"/>
                <a:r>
                  <a:rPr lang="en-US" altLang="ko-KR" sz="900" b="1" dirty="0">
                    <a:solidFill>
                      <a:schemeClr val="accent1"/>
                    </a:solidFill>
                    <a:latin typeface="Malgun Gothic" pitchFamily="34" charset="0"/>
                    <a:ea typeface="Malgun Gothic" pitchFamily="34" charset="-122"/>
                    <a:cs typeface="Malgun Gothic" pitchFamily="34" charset="-120"/>
                  </a:rPr>
                  <a:t>LLM </a:t>
                </a:r>
                <a:r>
                  <a:rPr lang="ko-KR" altLang="en-US" sz="900" b="1" dirty="0">
                    <a:solidFill>
                      <a:schemeClr val="accent1"/>
                    </a:solidFill>
                    <a:latin typeface="Malgun Gothic" pitchFamily="34" charset="0"/>
                    <a:ea typeface="Malgun Gothic" pitchFamily="34" charset="-122"/>
                    <a:cs typeface="Malgun Gothic" pitchFamily="34" charset="-120"/>
                  </a:rPr>
                  <a:t>생성 구조</a:t>
                </a:r>
                <a:endParaRPr lang="en-US" altLang="ko-KR" sz="900" b="1" dirty="0">
                  <a:solidFill>
                    <a:schemeClr val="accent1"/>
                  </a:solidFill>
                  <a:latin typeface="Malgun Gothic" pitchFamily="34" charset="0"/>
                  <a:ea typeface="Malgun Gothic" pitchFamily="34" charset="-122"/>
                  <a:cs typeface="Malgun Gothic" pitchFamily="34" charset="-120"/>
                </a:endParaRPr>
              </a:p>
            </p:txBody>
          </p:sp>
          <p:sp>
            <p:nvSpPr>
              <p:cNvPr id="304" name="직사각형 303">
                <a:extLst>
                  <a:ext uri="{FF2B5EF4-FFF2-40B4-BE49-F238E27FC236}">
                    <a16:creationId xmlns:a16="http://schemas.microsoft.com/office/drawing/2014/main" id="{84AD227C-41E7-4D5B-B6DE-C8804D2E6632}"/>
                  </a:ext>
                </a:extLst>
              </p:cNvPr>
              <p:cNvSpPr/>
              <p:nvPr/>
            </p:nvSpPr>
            <p:spPr>
              <a:xfrm>
                <a:off x="1927716" y="3067060"/>
                <a:ext cx="796157"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Attention</a:t>
                </a:r>
              </a:p>
              <a:p>
                <a:pPr algn="ctr"/>
                <a:r>
                  <a:rPr lang="en-US" altLang="ko-KR" sz="1000" b="1" dirty="0">
                    <a:solidFill>
                      <a:srgbClr val="1F3864"/>
                    </a:solidFill>
                    <a:latin typeface="Malgun Gothic" pitchFamily="34" charset="0"/>
                    <a:ea typeface="Malgun Gothic" pitchFamily="34" charset="-122"/>
                    <a:cs typeface="Malgun Gothic" pitchFamily="34" charset="-120"/>
                  </a:rPr>
                  <a:t>Manager</a:t>
                </a:r>
              </a:p>
            </p:txBody>
          </p:sp>
          <p:sp>
            <p:nvSpPr>
              <p:cNvPr id="305" name="직사각형 304">
                <a:extLst>
                  <a:ext uri="{FF2B5EF4-FFF2-40B4-BE49-F238E27FC236}">
                    <a16:creationId xmlns:a16="http://schemas.microsoft.com/office/drawing/2014/main" id="{84AD227C-41E7-4D5B-B6DE-C8804D2E6632}"/>
                  </a:ext>
                </a:extLst>
              </p:cNvPr>
              <p:cNvSpPr/>
              <p:nvPr/>
            </p:nvSpPr>
            <p:spPr>
              <a:xfrm>
                <a:off x="2989244" y="3067059"/>
                <a:ext cx="930235"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Selective </a:t>
                </a:r>
                <a:r>
                  <a:rPr lang="en-US" altLang="ko-KR" sz="1000" b="1" dirty="0" err="1">
                    <a:solidFill>
                      <a:srgbClr val="1F3864"/>
                    </a:solidFill>
                    <a:latin typeface="Malgun Gothic" pitchFamily="34" charset="0"/>
                    <a:ea typeface="Malgun Gothic" pitchFamily="34" charset="-122"/>
                    <a:cs typeface="Malgun Gothic" pitchFamily="34" charset="-120"/>
                  </a:rPr>
                  <a:t>Recomputer</a:t>
                </a:r>
                <a:endParaRPr lang="en-US" altLang="ko-KR" sz="1000" b="1" dirty="0">
                  <a:solidFill>
                    <a:srgbClr val="1F3864"/>
                  </a:solidFill>
                  <a:latin typeface="Malgun Gothic" pitchFamily="34" charset="0"/>
                  <a:ea typeface="Malgun Gothic" pitchFamily="34" charset="-122"/>
                  <a:cs typeface="Malgun Gothic" pitchFamily="34" charset="-120"/>
                </a:endParaRPr>
              </a:p>
            </p:txBody>
          </p:sp>
        </p:grpSp>
        <p:cxnSp>
          <p:nvCxnSpPr>
            <p:cNvPr id="306" name="직선 화살표 연결선 305"/>
            <p:cNvCxnSpPr>
              <a:stCxn id="299" idx="2"/>
              <a:endCxn id="304" idx="0"/>
            </p:cNvCxnSpPr>
            <p:nvPr/>
          </p:nvCxnSpPr>
          <p:spPr>
            <a:xfrm>
              <a:off x="7153656" y="2822548"/>
              <a:ext cx="7" cy="3874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10" name="그룹 309"/>
            <p:cNvGrpSpPr/>
            <p:nvPr/>
          </p:nvGrpSpPr>
          <p:grpSpPr>
            <a:xfrm>
              <a:off x="6659977" y="3962543"/>
              <a:ext cx="1978105" cy="719098"/>
              <a:chOff x="3766978" y="2909027"/>
              <a:chExt cx="1978105" cy="719098"/>
            </a:xfrm>
          </p:grpSpPr>
          <p:sp>
            <p:nvSpPr>
              <p:cNvPr id="313" name="직사각형 312">
                <a:extLst>
                  <a:ext uri="{FF2B5EF4-FFF2-40B4-BE49-F238E27FC236}">
                    <a16:creationId xmlns:a16="http://schemas.microsoft.com/office/drawing/2014/main" id="{84AD227C-41E7-4D5B-B6DE-C8804D2E6632}"/>
                  </a:ext>
                </a:extLst>
              </p:cNvPr>
              <p:cNvSpPr/>
              <p:nvPr/>
            </p:nvSpPr>
            <p:spPr>
              <a:xfrm>
                <a:off x="3766978" y="2909027"/>
                <a:ext cx="1978105" cy="719098"/>
              </a:xfrm>
              <a:prstGeom prst="rect">
                <a:avLst/>
              </a:prstGeom>
              <a:solidFill>
                <a:schemeClr val="accent2">
                  <a:lumMod val="20000"/>
                  <a:lumOff val="80000"/>
                </a:schemeClr>
              </a:solidFill>
              <a:ln w="9525">
                <a:solidFill>
                  <a:schemeClr val="accent2"/>
                </a:solidFill>
                <a:prstDash val="dash"/>
              </a:ln>
            </p:spPr>
            <p:txBody>
              <a:bodyPr anchor="t"/>
              <a:lstStyle/>
              <a:p>
                <a:pPr algn="ctr"/>
                <a:r>
                  <a:rPr lang="ko-KR" altLang="en-US" sz="900" b="1" dirty="0">
                    <a:solidFill>
                      <a:schemeClr val="accent2"/>
                    </a:solidFill>
                    <a:latin typeface="Malgun Gothic" pitchFamily="34" charset="0"/>
                    <a:ea typeface="Malgun Gothic" pitchFamily="34" charset="-122"/>
                    <a:cs typeface="Malgun Gothic" pitchFamily="34" charset="-120"/>
                  </a:rPr>
                  <a:t>압축 및 재사용 구조</a:t>
                </a:r>
                <a:endParaRPr lang="en-US" altLang="ko-KR" sz="900" b="1" dirty="0">
                  <a:solidFill>
                    <a:schemeClr val="accent2"/>
                  </a:solidFill>
                  <a:latin typeface="Malgun Gothic" pitchFamily="34" charset="0"/>
                  <a:ea typeface="Malgun Gothic" pitchFamily="34" charset="-122"/>
                  <a:cs typeface="Malgun Gothic" pitchFamily="34" charset="-120"/>
                </a:endParaRPr>
              </a:p>
            </p:txBody>
          </p:sp>
          <p:sp>
            <p:nvSpPr>
              <p:cNvPr id="311" name="직사각형 310">
                <a:extLst>
                  <a:ext uri="{FF2B5EF4-FFF2-40B4-BE49-F238E27FC236}">
                    <a16:creationId xmlns:a16="http://schemas.microsoft.com/office/drawing/2014/main" id="{84AD227C-41E7-4D5B-B6DE-C8804D2E6632}"/>
                  </a:ext>
                </a:extLst>
              </p:cNvPr>
              <p:cNvSpPr/>
              <p:nvPr/>
            </p:nvSpPr>
            <p:spPr>
              <a:xfrm>
                <a:off x="3864299" y="3207038"/>
                <a:ext cx="787480" cy="347887"/>
              </a:xfrm>
              <a:prstGeom prst="rect">
                <a:avLst/>
              </a:prstGeom>
              <a:solidFill>
                <a:srgbClr val="FFFFFF"/>
              </a:solidFill>
              <a:ln w="9525">
                <a:solidFill>
                  <a:srgbClr val="A6A6A6"/>
                </a:solidFill>
                <a:prstDash val="solid"/>
              </a:ln>
            </p:spPr>
            <p:txBody>
              <a:bodyPr anchor="ctr"/>
              <a:lstStyle/>
              <a:p>
                <a:pPr algn="ctr"/>
                <a:r>
                  <a:rPr lang="en-US" altLang="ko-KR" sz="1000" b="1" dirty="0">
                    <a:solidFill>
                      <a:srgbClr val="1F3864"/>
                    </a:solidFill>
                    <a:latin typeface="Malgun Gothic" pitchFamily="34" charset="0"/>
                    <a:ea typeface="Malgun Gothic" pitchFamily="34" charset="-122"/>
                    <a:cs typeface="Malgun Gothic" pitchFamily="34" charset="-120"/>
                  </a:rPr>
                  <a:t>KV Cache Compressor</a:t>
                </a:r>
              </a:p>
            </p:txBody>
          </p:sp>
        </p:grpSp>
        <p:cxnSp>
          <p:nvCxnSpPr>
            <p:cNvPr id="332" name="직선 화살표 연결선 331"/>
            <p:cNvCxnSpPr>
              <a:stCxn id="304" idx="3"/>
              <a:endCxn id="305" idx="1"/>
            </p:cNvCxnSpPr>
            <p:nvPr/>
          </p:nvCxnSpPr>
          <p:spPr>
            <a:xfrm flipV="1">
              <a:off x="7509220" y="3383956"/>
              <a:ext cx="237026" cy="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직선 화살표 연결선 307"/>
            <p:cNvCxnSpPr>
              <a:stCxn id="311" idx="3"/>
              <a:endCxn id="305" idx="2"/>
            </p:cNvCxnSpPr>
            <p:nvPr/>
          </p:nvCxnSpPr>
          <p:spPr>
            <a:xfrm flipV="1">
              <a:off x="7544778" y="3557899"/>
              <a:ext cx="616904" cy="876599"/>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직선 화살표 연결선 306"/>
            <p:cNvCxnSpPr>
              <a:stCxn id="304" idx="2"/>
              <a:endCxn id="311" idx="0"/>
            </p:cNvCxnSpPr>
            <p:nvPr/>
          </p:nvCxnSpPr>
          <p:spPr>
            <a:xfrm flipH="1">
              <a:off x="7151038" y="3557900"/>
              <a:ext cx="2625" cy="70265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3" name="그룹 392"/>
          <p:cNvGrpSpPr/>
          <p:nvPr/>
        </p:nvGrpSpPr>
        <p:grpSpPr>
          <a:xfrm>
            <a:off x="1161241" y="2384137"/>
            <a:ext cx="469167" cy="238975"/>
            <a:chOff x="1178284" y="2905002"/>
            <a:chExt cx="388658" cy="238975"/>
          </a:xfrm>
        </p:grpSpPr>
        <p:sp>
          <p:nvSpPr>
            <p:cNvPr id="528" name="원통 527">
              <a:extLst>
                <a:ext uri="{FF2B5EF4-FFF2-40B4-BE49-F238E27FC236}">
                  <a16:creationId xmlns:a16="http://schemas.microsoft.com/office/drawing/2014/main" id="{84AD227C-41E7-4D5B-B6DE-C8804D2E6632}"/>
                </a:ext>
              </a:extLst>
            </p:cNvPr>
            <p:cNvSpPr/>
            <p:nvPr/>
          </p:nvSpPr>
          <p:spPr>
            <a:xfrm>
              <a:off x="1178284" y="2905002"/>
              <a:ext cx="388658" cy="234358"/>
            </a:xfrm>
            <a:prstGeom prst="can">
              <a:avLst/>
            </a:prstGeom>
            <a:solidFill>
              <a:srgbClr val="FFFFFF"/>
            </a:solidFill>
            <a:ln w="9525">
              <a:solidFill>
                <a:srgbClr val="A6A6A6"/>
              </a:solidFill>
              <a:prstDash val="solid"/>
            </a:ln>
          </p:spPr>
          <p:txBody>
            <a:bodyPr anchor="ctr"/>
            <a:lstStyle/>
            <a:p>
              <a:pPr algn="ctr"/>
              <a:endParaRPr lang="en-US" altLang="ko-KR" sz="1000" b="1" dirty="0">
                <a:solidFill>
                  <a:srgbClr val="1F3864"/>
                </a:solidFill>
                <a:latin typeface="Malgun Gothic" pitchFamily="34" charset="0"/>
                <a:ea typeface="Malgun Gothic" pitchFamily="34" charset="-122"/>
                <a:cs typeface="Malgun Gothic" pitchFamily="34" charset="-120"/>
              </a:endParaRPr>
            </a:p>
          </p:txBody>
        </p:sp>
        <p:sp>
          <p:nvSpPr>
            <p:cNvPr id="530" name="TextBox 529"/>
            <p:cNvSpPr txBox="1"/>
            <p:nvPr/>
          </p:nvSpPr>
          <p:spPr>
            <a:xfrm>
              <a:off x="1196859" y="2913145"/>
              <a:ext cx="369471" cy="230832"/>
            </a:xfrm>
            <a:prstGeom prst="rect">
              <a:avLst/>
            </a:prstGeom>
            <a:noFill/>
          </p:spPr>
          <p:txBody>
            <a:bodyPr wrap="square" rtlCol="0">
              <a:spAutoFit/>
            </a:bodyPr>
            <a:lstStyle/>
            <a:p>
              <a:r>
                <a:rPr lang="en-US" altLang="ko-KR" sz="900" b="1" dirty="0"/>
                <a:t>KV $</a:t>
              </a:r>
            </a:p>
          </p:txBody>
        </p:sp>
      </p:grpSp>
      <p:cxnSp>
        <p:nvCxnSpPr>
          <p:cNvPr id="391" name="구부러진 연결선 390"/>
          <p:cNvCxnSpPr>
            <a:stCxn id="530" idx="3"/>
            <a:endCxn id="249" idx="0"/>
          </p:cNvCxnSpPr>
          <p:nvPr/>
        </p:nvCxnSpPr>
        <p:spPr>
          <a:xfrm>
            <a:off x="1629669" y="2507696"/>
            <a:ext cx="186330" cy="20160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44" name="TextBox 543"/>
          <p:cNvSpPr txBox="1"/>
          <p:nvPr/>
        </p:nvSpPr>
        <p:spPr>
          <a:xfrm>
            <a:off x="7564742" y="3165218"/>
            <a:ext cx="855647" cy="307777"/>
          </a:xfrm>
          <a:prstGeom prst="rect">
            <a:avLst/>
          </a:prstGeom>
          <a:noFill/>
        </p:spPr>
        <p:txBody>
          <a:bodyPr wrap="square" rtlCol="0">
            <a:spAutoFit/>
          </a:bodyPr>
          <a:lstStyle/>
          <a:p>
            <a:r>
              <a:rPr lang="en-US" altLang="ko-KR" sz="700" b="1" dirty="0">
                <a:solidFill>
                  <a:schemeClr val="accent1"/>
                </a:solidFill>
              </a:rPr>
              <a:t>Tokens to be </a:t>
            </a:r>
          </a:p>
          <a:p>
            <a:r>
              <a:rPr lang="en-US" altLang="ko-KR" sz="700" b="1" dirty="0">
                <a:solidFill>
                  <a:schemeClr val="accent1"/>
                </a:solidFill>
              </a:rPr>
              <a:t>recomputed</a:t>
            </a:r>
          </a:p>
        </p:txBody>
      </p:sp>
      <p:grpSp>
        <p:nvGrpSpPr>
          <p:cNvPr id="545" name="그룹 544"/>
          <p:cNvGrpSpPr/>
          <p:nvPr/>
        </p:nvGrpSpPr>
        <p:grpSpPr>
          <a:xfrm>
            <a:off x="6621830" y="2567083"/>
            <a:ext cx="469167" cy="238975"/>
            <a:chOff x="1178284" y="2905002"/>
            <a:chExt cx="388658" cy="238975"/>
          </a:xfrm>
        </p:grpSpPr>
        <p:sp>
          <p:nvSpPr>
            <p:cNvPr id="546" name="원통 545">
              <a:extLst>
                <a:ext uri="{FF2B5EF4-FFF2-40B4-BE49-F238E27FC236}">
                  <a16:creationId xmlns:a16="http://schemas.microsoft.com/office/drawing/2014/main" id="{84AD227C-41E7-4D5B-B6DE-C8804D2E6632}"/>
                </a:ext>
              </a:extLst>
            </p:cNvPr>
            <p:cNvSpPr/>
            <p:nvPr/>
          </p:nvSpPr>
          <p:spPr>
            <a:xfrm>
              <a:off x="1178284" y="2905002"/>
              <a:ext cx="388658" cy="234358"/>
            </a:xfrm>
            <a:prstGeom prst="can">
              <a:avLst/>
            </a:prstGeom>
            <a:solidFill>
              <a:srgbClr val="FFFFFF"/>
            </a:solidFill>
            <a:ln w="9525">
              <a:solidFill>
                <a:srgbClr val="A6A6A6"/>
              </a:solidFill>
              <a:prstDash val="solid"/>
            </a:ln>
          </p:spPr>
          <p:txBody>
            <a:bodyPr anchor="ctr"/>
            <a:lstStyle/>
            <a:p>
              <a:pPr algn="ctr"/>
              <a:endParaRPr lang="en-US" altLang="ko-KR" sz="1000" b="1" dirty="0">
                <a:solidFill>
                  <a:srgbClr val="1F3864"/>
                </a:solidFill>
                <a:latin typeface="Malgun Gothic" pitchFamily="34" charset="0"/>
                <a:ea typeface="Malgun Gothic" pitchFamily="34" charset="-122"/>
                <a:cs typeface="Malgun Gothic" pitchFamily="34" charset="-120"/>
              </a:endParaRPr>
            </a:p>
          </p:txBody>
        </p:sp>
        <p:sp>
          <p:nvSpPr>
            <p:cNvPr id="547" name="TextBox 546"/>
            <p:cNvSpPr txBox="1"/>
            <p:nvPr/>
          </p:nvSpPr>
          <p:spPr>
            <a:xfrm>
              <a:off x="1196859" y="2913145"/>
              <a:ext cx="369471" cy="230832"/>
            </a:xfrm>
            <a:prstGeom prst="rect">
              <a:avLst/>
            </a:prstGeom>
            <a:noFill/>
          </p:spPr>
          <p:txBody>
            <a:bodyPr wrap="square" rtlCol="0">
              <a:spAutoFit/>
            </a:bodyPr>
            <a:lstStyle/>
            <a:p>
              <a:r>
                <a:rPr lang="en-US" altLang="ko-KR" sz="900" b="1" dirty="0"/>
                <a:t>KV $</a:t>
              </a:r>
            </a:p>
          </p:txBody>
        </p:sp>
      </p:grpSp>
      <p:cxnSp>
        <p:nvCxnSpPr>
          <p:cNvPr id="548" name="구부러진 연결선 547"/>
          <p:cNvCxnSpPr>
            <a:stCxn id="547" idx="3"/>
            <a:endCxn id="304" idx="0"/>
          </p:cNvCxnSpPr>
          <p:nvPr/>
        </p:nvCxnSpPr>
        <p:spPr>
          <a:xfrm>
            <a:off x="7090258" y="2690642"/>
            <a:ext cx="210053" cy="13645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5020460" y="2229013"/>
            <a:ext cx="285667" cy="298683"/>
          </a:xfrm>
          <a:prstGeom prst="rect">
            <a:avLst/>
          </a:prstGeom>
          <a:noFill/>
        </p:spPr>
        <p:txBody>
          <a:bodyPr wrap="square" rtlCol="0">
            <a:spAutoFit/>
          </a:bodyPr>
          <a:lstStyle/>
          <a:p>
            <a:r>
              <a:rPr lang="en-US" altLang="ko-KR" sz="1400" dirty="0"/>
              <a:t>…</a:t>
            </a:r>
          </a:p>
        </p:txBody>
      </p:sp>
      <p:sp>
        <p:nvSpPr>
          <p:cNvPr id="82" name="정육면체 81">
            <a:extLst>
              <a:ext uri="{FF2B5EF4-FFF2-40B4-BE49-F238E27FC236}">
                <a16:creationId xmlns:a16="http://schemas.microsoft.com/office/drawing/2014/main" id="{84AD227C-41E7-4D5B-B6DE-C8804D2E6632}"/>
              </a:ext>
            </a:extLst>
          </p:cNvPr>
          <p:cNvSpPr/>
          <p:nvPr/>
        </p:nvSpPr>
        <p:spPr>
          <a:xfrm>
            <a:off x="4271614" y="2337045"/>
            <a:ext cx="374341" cy="209629"/>
          </a:xfrm>
          <a:prstGeom prst="cube">
            <a:avLst/>
          </a:prstGeom>
          <a:solidFill>
            <a:srgbClr val="FFFFFF"/>
          </a:solidFill>
          <a:ln w="9525">
            <a:solidFill>
              <a:srgbClr val="A6A6A6"/>
            </a:solidFill>
            <a:prstDash val="solid"/>
          </a:ln>
        </p:spPr>
        <p:txBody>
          <a:bodyPr anchor="ctr"/>
          <a:lstStyle/>
          <a:p>
            <a:pPr algn="ctr"/>
            <a:r>
              <a:rPr lang="en-US" altLang="ko-KR" sz="900" dirty="0">
                <a:solidFill>
                  <a:srgbClr val="1F3864"/>
                </a:solidFill>
                <a:latin typeface="Malgun Gothic" pitchFamily="34" charset="0"/>
                <a:ea typeface="Malgun Gothic" pitchFamily="34" charset="-122"/>
                <a:cs typeface="Malgun Gothic" pitchFamily="34" charset="-120"/>
              </a:rPr>
              <a:t>#1</a:t>
            </a:r>
          </a:p>
        </p:txBody>
      </p:sp>
      <p:cxnSp>
        <p:nvCxnSpPr>
          <p:cNvPr id="83" name="직선 연결선 82"/>
          <p:cNvCxnSpPr>
            <a:stCxn id="82" idx="3"/>
            <a:endCxn id="124" idx="0"/>
          </p:cNvCxnSpPr>
          <p:nvPr/>
        </p:nvCxnSpPr>
        <p:spPr>
          <a:xfrm>
            <a:off x="4432581" y="2546674"/>
            <a:ext cx="120470" cy="284703"/>
          </a:xfrm>
          <a:prstGeom prst="line">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직선 연결선 83"/>
          <p:cNvCxnSpPr>
            <a:stCxn id="149" idx="3"/>
            <a:endCxn id="124" idx="0"/>
          </p:cNvCxnSpPr>
          <p:nvPr/>
        </p:nvCxnSpPr>
        <p:spPr>
          <a:xfrm flipH="1">
            <a:off x="4553051" y="2546674"/>
            <a:ext cx="235043" cy="284703"/>
          </a:xfrm>
          <a:prstGeom prst="line">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직선 연결선 84"/>
          <p:cNvCxnSpPr>
            <a:stCxn id="150" idx="3"/>
            <a:endCxn id="124" idx="0"/>
          </p:cNvCxnSpPr>
          <p:nvPr/>
        </p:nvCxnSpPr>
        <p:spPr>
          <a:xfrm flipH="1">
            <a:off x="4553051" y="2546674"/>
            <a:ext cx="897238" cy="284703"/>
          </a:xfrm>
          <a:prstGeom prst="line">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직선 연결선 85"/>
          <p:cNvCxnSpPr>
            <a:stCxn id="124" idx="3"/>
            <a:endCxn id="126" idx="0"/>
          </p:cNvCxnSpPr>
          <p:nvPr/>
        </p:nvCxnSpPr>
        <p:spPr>
          <a:xfrm flipH="1">
            <a:off x="4448494" y="3099872"/>
            <a:ext cx="37433" cy="262528"/>
          </a:xfrm>
          <a:prstGeom prst="line">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직선 연결선 86"/>
          <p:cNvCxnSpPr>
            <a:stCxn id="126" idx="3"/>
            <a:endCxn id="103" idx="0"/>
          </p:cNvCxnSpPr>
          <p:nvPr/>
        </p:nvCxnSpPr>
        <p:spPr>
          <a:xfrm>
            <a:off x="4381371" y="3630895"/>
            <a:ext cx="682770" cy="400090"/>
          </a:xfrm>
          <a:prstGeom prst="line">
            <a:avLst/>
          </a:prstGeom>
          <a:ln>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8" name="직선 연결선 87"/>
          <p:cNvCxnSpPr>
            <a:stCxn id="82" idx="3"/>
            <a:endCxn id="125" idx="0"/>
          </p:cNvCxnSpPr>
          <p:nvPr/>
        </p:nvCxnSpPr>
        <p:spPr>
          <a:xfrm>
            <a:off x="4432581" y="2546674"/>
            <a:ext cx="1059027" cy="284703"/>
          </a:xfrm>
          <a:prstGeom prst="line">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9" name="직선 연결선 88"/>
          <p:cNvCxnSpPr>
            <a:stCxn id="149" idx="3"/>
            <a:endCxn id="125" idx="0"/>
          </p:cNvCxnSpPr>
          <p:nvPr/>
        </p:nvCxnSpPr>
        <p:spPr>
          <a:xfrm>
            <a:off x="4788094" y="2546674"/>
            <a:ext cx="703514" cy="284703"/>
          </a:xfrm>
          <a:prstGeom prst="line">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0" name="직선 연결선 89"/>
          <p:cNvCxnSpPr>
            <a:stCxn id="150" idx="3"/>
            <a:endCxn id="125" idx="0"/>
          </p:cNvCxnSpPr>
          <p:nvPr/>
        </p:nvCxnSpPr>
        <p:spPr>
          <a:xfrm>
            <a:off x="5450289" y="2546674"/>
            <a:ext cx="41319" cy="284703"/>
          </a:xfrm>
          <a:prstGeom prst="line">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1" name="직선 연결선 90"/>
          <p:cNvCxnSpPr>
            <a:stCxn id="125" idx="3"/>
            <a:endCxn id="127" idx="0"/>
          </p:cNvCxnSpPr>
          <p:nvPr/>
        </p:nvCxnSpPr>
        <p:spPr>
          <a:xfrm flipH="1">
            <a:off x="5046761" y="3099872"/>
            <a:ext cx="377723" cy="262528"/>
          </a:xfrm>
          <a:prstGeom prst="line">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2" name="직선 연결선 91"/>
          <p:cNvCxnSpPr>
            <a:stCxn id="514" idx="2"/>
            <a:endCxn id="114" idx="0"/>
          </p:cNvCxnSpPr>
          <p:nvPr/>
        </p:nvCxnSpPr>
        <p:spPr>
          <a:xfrm>
            <a:off x="4979195" y="3630793"/>
            <a:ext cx="540468" cy="399749"/>
          </a:xfrm>
          <a:prstGeom prst="line">
            <a:avLst/>
          </a:prstGeom>
          <a:ln>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3855123" y="3829335"/>
            <a:ext cx="815939" cy="210743"/>
          </a:xfrm>
          <a:prstGeom prst="rect">
            <a:avLst/>
          </a:prstGeom>
          <a:noFill/>
        </p:spPr>
        <p:txBody>
          <a:bodyPr wrap="square" rtlCol="0">
            <a:spAutoFit/>
          </a:bodyPr>
          <a:lstStyle/>
          <a:p>
            <a:r>
              <a:rPr lang="en-US" altLang="ko-KR" sz="800" b="1" dirty="0"/>
              <a:t>Prefill</a:t>
            </a:r>
          </a:p>
        </p:txBody>
      </p:sp>
      <p:sp>
        <p:nvSpPr>
          <p:cNvPr id="99" name="TextBox 98"/>
          <p:cNvSpPr txBox="1"/>
          <p:nvPr/>
        </p:nvSpPr>
        <p:spPr>
          <a:xfrm>
            <a:off x="3841751" y="2283631"/>
            <a:ext cx="510402" cy="307777"/>
          </a:xfrm>
          <a:prstGeom prst="rect">
            <a:avLst/>
          </a:prstGeom>
          <a:noFill/>
        </p:spPr>
        <p:txBody>
          <a:bodyPr wrap="square" rtlCol="0">
            <a:spAutoFit/>
          </a:bodyPr>
          <a:lstStyle/>
          <a:p>
            <a:r>
              <a:rPr lang="en-US" altLang="ko-KR" sz="700" dirty="0"/>
              <a:t>Query </a:t>
            </a:r>
          </a:p>
          <a:p>
            <a:r>
              <a:rPr lang="en-US" altLang="ko-KR" sz="700" dirty="0"/>
              <a:t>Sample</a:t>
            </a:r>
          </a:p>
        </p:txBody>
      </p:sp>
      <p:grpSp>
        <p:nvGrpSpPr>
          <p:cNvPr id="16" name="그룹 15"/>
          <p:cNvGrpSpPr/>
          <p:nvPr/>
        </p:nvGrpSpPr>
        <p:grpSpPr>
          <a:xfrm>
            <a:off x="4145978" y="3362400"/>
            <a:ext cx="537909" cy="268495"/>
            <a:chOff x="4285990" y="3495046"/>
            <a:chExt cx="537909" cy="268495"/>
          </a:xfrm>
        </p:grpSpPr>
        <p:sp>
          <p:nvSpPr>
            <p:cNvPr id="126" name="정육면체 125">
              <a:extLst>
                <a:ext uri="{FF2B5EF4-FFF2-40B4-BE49-F238E27FC236}">
                  <a16:creationId xmlns:a16="http://schemas.microsoft.com/office/drawing/2014/main" id="{D8A2C4AC-5603-4FC0-923C-423CDABE561C}"/>
                </a:ext>
              </a:extLst>
            </p:cNvPr>
            <p:cNvSpPr/>
            <p:nvPr/>
          </p:nvSpPr>
          <p:spPr>
            <a:xfrm>
              <a:off x="4285990" y="3495046"/>
              <a:ext cx="537909" cy="268495"/>
            </a:xfrm>
            <a:prstGeom prst="cub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dirty="0">
                <a:solidFill>
                  <a:schemeClr val="tx1"/>
                </a:solidFill>
              </a:endParaRPr>
            </a:p>
          </p:txBody>
        </p:sp>
        <p:sp>
          <p:nvSpPr>
            <p:cNvPr id="522" name="직사각형 521">
              <a:extLst>
                <a:ext uri="{FF2B5EF4-FFF2-40B4-BE49-F238E27FC236}">
                  <a16:creationId xmlns:a16="http://schemas.microsoft.com/office/drawing/2014/main" id="{F7143A21-8ED8-4AC5-A6A4-96D0FBC8C3E9}"/>
                </a:ext>
              </a:extLst>
            </p:cNvPr>
            <p:cNvSpPr/>
            <p:nvPr/>
          </p:nvSpPr>
          <p:spPr>
            <a:xfrm>
              <a:off x="4584255" y="3559259"/>
              <a:ext cx="71604"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23" name="평행 사변형 522">
              <a:extLst>
                <a:ext uri="{FF2B5EF4-FFF2-40B4-BE49-F238E27FC236}">
                  <a16:creationId xmlns:a16="http://schemas.microsoft.com/office/drawing/2014/main" id="{368C060F-6490-4EBA-BA02-AE74F5262BD4}"/>
                </a:ext>
              </a:extLst>
            </p:cNvPr>
            <p:cNvSpPr/>
            <p:nvPr/>
          </p:nvSpPr>
          <p:spPr>
            <a:xfrm>
              <a:off x="4586349" y="3496381"/>
              <a:ext cx="128871"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24" name="직사각형 523">
              <a:extLst>
                <a:ext uri="{FF2B5EF4-FFF2-40B4-BE49-F238E27FC236}">
                  <a16:creationId xmlns:a16="http://schemas.microsoft.com/office/drawing/2014/main" id="{A63EB10E-1583-4496-9BFA-4DA8AFEB9710}"/>
                </a:ext>
              </a:extLst>
            </p:cNvPr>
            <p:cNvSpPr/>
            <p:nvPr/>
          </p:nvSpPr>
          <p:spPr>
            <a:xfrm>
              <a:off x="4337640" y="3559259"/>
              <a:ext cx="40039"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25" name="평행 사변형 524">
              <a:extLst>
                <a:ext uri="{FF2B5EF4-FFF2-40B4-BE49-F238E27FC236}">
                  <a16:creationId xmlns:a16="http://schemas.microsoft.com/office/drawing/2014/main" id="{7FCE73C2-CA7D-487F-A907-6026692D4589}"/>
                </a:ext>
              </a:extLst>
            </p:cNvPr>
            <p:cNvSpPr/>
            <p:nvPr/>
          </p:nvSpPr>
          <p:spPr>
            <a:xfrm>
              <a:off x="4339137" y="3496381"/>
              <a:ext cx="87574"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26" name="직사각형 525">
              <a:extLst>
                <a:ext uri="{FF2B5EF4-FFF2-40B4-BE49-F238E27FC236}">
                  <a16:creationId xmlns:a16="http://schemas.microsoft.com/office/drawing/2014/main" id="{45C4EE14-F23E-4895-A260-8843342F6ACE}"/>
                </a:ext>
              </a:extLst>
            </p:cNvPr>
            <p:cNvSpPr/>
            <p:nvPr/>
          </p:nvSpPr>
          <p:spPr>
            <a:xfrm>
              <a:off x="4393528" y="3559259"/>
              <a:ext cx="28115"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p>
          </p:txBody>
        </p:sp>
        <p:sp>
          <p:nvSpPr>
            <p:cNvPr id="527" name="평행 사변형 526">
              <a:extLst>
                <a:ext uri="{FF2B5EF4-FFF2-40B4-BE49-F238E27FC236}">
                  <a16:creationId xmlns:a16="http://schemas.microsoft.com/office/drawing/2014/main" id="{032BA945-0559-4A7E-A5FB-00F359C8B926}"/>
                </a:ext>
              </a:extLst>
            </p:cNvPr>
            <p:cNvSpPr/>
            <p:nvPr/>
          </p:nvSpPr>
          <p:spPr>
            <a:xfrm>
              <a:off x="4394653" y="3496381"/>
              <a:ext cx="85205"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sp>
        <p:nvSpPr>
          <p:cNvPr id="124" name="정육면체 123">
            <a:extLst>
              <a:ext uri="{FF2B5EF4-FFF2-40B4-BE49-F238E27FC236}">
                <a16:creationId xmlns:a16="http://schemas.microsoft.com/office/drawing/2014/main" id="{D8A2C4AC-5603-4FC0-923C-423CDABE561C}"/>
              </a:ext>
            </a:extLst>
          </p:cNvPr>
          <p:cNvSpPr/>
          <p:nvPr/>
        </p:nvSpPr>
        <p:spPr>
          <a:xfrm>
            <a:off x="4067164" y="2831377"/>
            <a:ext cx="904650" cy="268495"/>
          </a:xfrm>
          <a:prstGeom prst="cub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rPr>
              <a:t>Context1 KV</a:t>
            </a:r>
            <a:endParaRPr lang="ko-KR" altLang="en-US" sz="900" dirty="0">
              <a:solidFill>
                <a:schemeClr val="tx1"/>
              </a:solidFill>
            </a:endParaRPr>
          </a:p>
        </p:txBody>
      </p:sp>
      <p:sp>
        <p:nvSpPr>
          <p:cNvPr id="125" name="정육면체 124">
            <a:extLst>
              <a:ext uri="{FF2B5EF4-FFF2-40B4-BE49-F238E27FC236}">
                <a16:creationId xmlns:a16="http://schemas.microsoft.com/office/drawing/2014/main" id="{D8A2C4AC-5603-4FC0-923C-423CDABE561C}"/>
              </a:ext>
            </a:extLst>
          </p:cNvPr>
          <p:cNvSpPr/>
          <p:nvPr/>
        </p:nvSpPr>
        <p:spPr>
          <a:xfrm>
            <a:off x="5005721" y="2831377"/>
            <a:ext cx="904650" cy="268495"/>
          </a:xfrm>
          <a:prstGeom prst="cube">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rPr>
              <a:t>Context2 KV</a:t>
            </a:r>
            <a:endParaRPr lang="ko-KR" altLang="en-US" sz="900" dirty="0">
              <a:solidFill>
                <a:schemeClr val="tx1"/>
              </a:solidFill>
            </a:endParaRPr>
          </a:p>
        </p:txBody>
      </p:sp>
      <p:grpSp>
        <p:nvGrpSpPr>
          <p:cNvPr id="529" name="그룹 528"/>
          <p:cNvGrpSpPr/>
          <p:nvPr/>
        </p:nvGrpSpPr>
        <p:grpSpPr>
          <a:xfrm>
            <a:off x="3862321" y="4025250"/>
            <a:ext cx="2593077" cy="274230"/>
            <a:chOff x="3862321" y="4089279"/>
            <a:chExt cx="2593077" cy="274230"/>
          </a:xfrm>
        </p:grpSpPr>
        <p:sp>
          <p:nvSpPr>
            <p:cNvPr id="129" name="정육면체 128">
              <a:extLst>
                <a:ext uri="{FF2B5EF4-FFF2-40B4-BE49-F238E27FC236}">
                  <a16:creationId xmlns:a16="http://schemas.microsoft.com/office/drawing/2014/main" id="{D8A2C4AC-5603-4FC0-923C-423CDABE561C}"/>
                </a:ext>
              </a:extLst>
            </p:cNvPr>
            <p:cNvSpPr/>
            <p:nvPr/>
          </p:nvSpPr>
          <p:spPr>
            <a:xfrm>
              <a:off x="3862321" y="4089279"/>
              <a:ext cx="954787" cy="265836"/>
            </a:xfrm>
            <a:prstGeom prst="cub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rgbClr val="1F3864"/>
                  </a:solidFill>
                  <a:latin typeface="Malgun Gothic" pitchFamily="34" charset="0"/>
                  <a:ea typeface="Malgun Gothic" pitchFamily="34" charset="-122"/>
                  <a:cs typeface="Malgun Gothic" pitchFamily="34" charset="-120"/>
                </a:rPr>
                <a:t>System Prompt </a:t>
              </a:r>
            </a:p>
            <a:p>
              <a:pPr algn="ctr"/>
              <a:r>
                <a:rPr lang="en-US" altLang="ko-KR" sz="800" dirty="0">
                  <a:solidFill>
                    <a:srgbClr val="1F3864"/>
                  </a:solidFill>
                  <a:latin typeface="Malgun Gothic" pitchFamily="34" charset="0"/>
                  <a:ea typeface="Malgun Gothic" pitchFamily="34" charset="-122"/>
                  <a:cs typeface="Malgun Gothic" pitchFamily="34" charset="-120"/>
                </a:rPr>
                <a:t>(or Prefix)</a:t>
              </a:r>
            </a:p>
          </p:txBody>
        </p:sp>
        <p:sp>
          <p:nvSpPr>
            <p:cNvPr id="103" name="정육면체 102">
              <a:extLst>
                <a:ext uri="{FF2B5EF4-FFF2-40B4-BE49-F238E27FC236}">
                  <a16:creationId xmlns:a16="http://schemas.microsoft.com/office/drawing/2014/main" id="{D8A2C4AC-5603-4FC0-923C-423CDABE561C}"/>
                </a:ext>
              </a:extLst>
            </p:cNvPr>
            <p:cNvSpPr/>
            <p:nvPr/>
          </p:nvSpPr>
          <p:spPr>
            <a:xfrm>
              <a:off x="4793938" y="4095014"/>
              <a:ext cx="473283" cy="268495"/>
            </a:xfrm>
            <a:prstGeom prst="cub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sp>
          <p:nvSpPr>
            <p:cNvPr id="111" name="직사각형 110">
              <a:extLst>
                <a:ext uri="{FF2B5EF4-FFF2-40B4-BE49-F238E27FC236}">
                  <a16:creationId xmlns:a16="http://schemas.microsoft.com/office/drawing/2014/main" id="{F7143A21-8ED8-4AC5-A6A4-96D0FBC8C3E9}"/>
                </a:ext>
              </a:extLst>
            </p:cNvPr>
            <p:cNvSpPr/>
            <p:nvPr/>
          </p:nvSpPr>
          <p:spPr>
            <a:xfrm>
              <a:off x="5098064" y="4159886"/>
              <a:ext cx="71604"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12" name="평행 사변형 111">
              <a:extLst>
                <a:ext uri="{FF2B5EF4-FFF2-40B4-BE49-F238E27FC236}">
                  <a16:creationId xmlns:a16="http://schemas.microsoft.com/office/drawing/2014/main" id="{368C060F-6490-4EBA-BA02-AE74F5262BD4}"/>
                </a:ext>
              </a:extLst>
            </p:cNvPr>
            <p:cNvSpPr/>
            <p:nvPr/>
          </p:nvSpPr>
          <p:spPr>
            <a:xfrm>
              <a:off x="5100156" y="4097008"/>
              <a:ext cx="118257"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09" name="직사각형 108">
              <a:extLst>
                <a:ext uri="{FF2B5EF4-FFF2-40B4-BE49-F238E27FC236}">
                  <a16:creationId xmlns:a16="http://schemas.microsoft.com/office/drawing/2014/main" id="{A63EB10E-1583-4496-9BFA-4DA8AFEB9710}"/>
                </a:ext>
              </a:extLst>
            </p:cNvPr>
            <p:cNvSpPr/>
            <p:nvPr/>
          </p:nvSpPr>
          <p:spPr>
            <a:xfrm>
              <a:off x="4851445" y="4159886"/>
              <a:ext cx="40039"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10" name="평행 사변형 109">
              <a:extLst>
                <a:ext uri="{FF2B5EF4-FFF2-40B4-BE49-F238E27FC236}">
                  <a16:creationId xmlns:a16="http://schemas.microsoft.com/office/drawing/2014/main" id="{7FCE73C2-CA7D-487F-A907-6026692D4589}"/>
                </a:ext>
              </a:extLst>
            </p:cNvPr>
            <p:cNvSpPr/>
            <p:nvPr/>
          </p:nvSpPr>
          <p:spPr>
            <a:xfrm>
              <a:off x="4852944" y="4097008"/>
              <a:ext cx="87574"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07" name="직사각형 106">
              <a:extLst>
                <a:ext uri="{FF2B5EF4-FFF2-40B4-BE49-F238E27FC236}">
                  <a16:creationId xmlns:a16="http://schemas.microsoft.com/office/drawing/2014/main" id="{45C4EE14-F23E-4895-A260-8843342F6ACE}"/>
                </a:ext>
              </a:extLst>
            </p:cNvPr>
            <p:cNvSpPr/>
            <p:nvPr/>
          </p:nvSpPr>
          <p:spPr>
            <a:xfrm>
              <a:off x="4907332" y="4159886"/>
              <a:ext cx="28115"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p>
          </p:txBody>
        </p:sp>
        <p:sp>
          <p:nvSpPr>
            <p:cNvPr id="108" name="평행 사변형 107">
              <a:extLst>
                <a:ext uri="{FF2B5EF4-FFF2-40B4-BE49-F238E27FC236}">
                  <a16:creationId xmlns:a16="http://schemas.microsoft.com/office/drawing/2014/main" id="{032BA945-0559-4A7E-A5FB-00F359C8B926}"/>
                </a:ext>
              </a:extLst>
            </p:cNvPr>
            <p:cNvSpPr/>
            <p:nvPr/>
          </p:nvSpPr>
          <p:spPr>
            <a:xfrm>
              <a:off x="4908460" y="4097008"/>
              <a:ext cx="73469"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nvGrpSpPr>
            <p:cNvPr id="113" name="그룹 112">
              <a:extLst>
                <a:ext uri="{FF2B5EF4-FFF2-40B4-BE49-F238E27FC236}">
                  <a16:creationId xmlns:a16="http://schemas.microsoft.com/office/drawing/2014/main" id="{3E9CFB8D-AC91-41FB-8F16-46729CDA8BC5}"/>
                </a:ext>
              </a:extLst>
            </p:cNvPr>
            <p:cNvGrpSpPr/>
            <p:nvPr/>
          </p:nvGrpSpPr>
          <p:grpSpPr>
            <a:xfrm>
              <a:off x="5249460" y="4094571"/>
              <a:ext cx="473283" cy="268498"/>
              <a:chOff x="5641559" y="3066298"/>
              <a:chExt cx="769620" cy="288912"/>
            </a:xfrm>
          </p:grpSpPr>
          <p:sp>
            <p:nvSpPr>
              <p:cNvPr id="114" name="정육면체 113">
                <a:extLst>
                  <a:ext uri="{FF2B5EF4-FFF2-40B4-BE49-F238E27FC236}">
                    <a16:creationId xmlns:a16="http://schemas.microsoft.com/office/drawing/2014/main" id="{18DD8ABD-522D-4B13-8E2D-73B036FED5E2}"/>
                  </a:ext>
                </a:extLst>
              </p:cNvPr>
              <p:cNvSpPr/>
              <p:nvPr/>
            </p:nvSpPr>
            <p:spPr>
              <a:xfrm>
                <a:off x="5641559" y="3066298"/>
                <a:ext cx="769620" cy="288909"/>
              </a:xfrm>
              <a:prstGeom prst="cube">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nvGrpSpPr>
              <p:cNvPr id="115" name="그룹 114">
                <a:extLst>
                  <a:ext uri="{FF2B5EF4-FFF2-40B4-BE49-F238E27FC236}">
                    <a16:creationId xmlns:a16="http://schemas.microsoft.com/office/drawing/2014/main" id="{058AACF9-7845-463C-834E-B729C6D403BD}"/>
                  </a:ext>
                </a:extLst>
              </p:cNvPr>
              <p:cNvGrpSpPr/>
              <p:nvPr/>
            </p:nvGrpSpPr>
            <p:grpSpPr>
              <a:xfrm>
                <a:off x="5965815" y="3068447"/>
                <a:ext cx="140421" cy="286763"/>
                <a:chOff x="5965815" y="3068447"/>
                <a:chExt cx="140421" cy="286763"/>
              </a:xfrm>
            </p:grpSpPr>
            <p:sp>
              <p:nvSpPr>
                <p:cNvPr id="122" name="직사각형 121">
                  <a:extLst>
                    <a:ext uri="{FF2B5EF4-FFF2-40B4-BE49-F238E27FC236}">
                      <a16:creationId xmlns:a16="http://schemas.microsoft.com/office/drawing/2014/main" id="{7F3017A2-63F4-4CEB-99FF-DE8D3CE5DE0B}"/>
                    </a:ext>
                  </a:extLst>
                </p:cNvPr>
                <p:cNvSpPr/>
                <p:nvPr/>
              </p:nvSpPr>
              <p:spPr>
                <a:xfrm>
                  <a:off x="5965815" y="3136106"/>
                  <a:ext cx="65108"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23" name="평행 사변형 122">
                  <a:extLst>
                    <a:ext uri="{FF2B5EF4-FFF2-40B4-BE49-F238E27FC236}">
                      <a16:creationId xmlns:a16="http://schemas.microsoft.com/office/drawing/2014/main" id="{610C6AE8-9660-49A6-82AF-6BF73575817D}"/>
                    </a:ext>
                  </a:extLst>
                </p:cNvPr>
                <p:cNvSpPr/>
                <p:nvPr/>
              </p:nvSpPr>
              <p:spPr>
                <a:xfrm>
                  <a:off x="5968252" y="3068447"/>
                  <a:ext cx="137984"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116" name="그룹 115">
                <a:extLst>
                  <a:ext uri="{FF2B5EF4-FFF2-40B4-BE49-F238E27FC236}">
                    <a16:creationId xmlns:a16="http://schemas.microsoft.com/office/drawing/2014/main" id="{0D5CC3C0-3743-4B11-8A30-91C492EFA778}"/>
                  </a:ext>
                </a:extLst>
              </p:cNvPr>
              <p:cNvGrpSpPr/>
              <p:nvPr/>
            </p:nvGrpSpPr>
            <p:grpSpPr>
              <a:xfrm>
                <a:off x="5726404" y="3068447"/>
                <a:ext cx="142313" cy="286763"/>
                <a:chOff x="5965815" y="3068447"/>
                <a:chExt cx="142313" cy="286763"/>
              </a:xfrm>
            </p:grpSpPr>
            <p:sp>
              <p:nvSpPr>
                <p:cNvPr id="120" name="직사각형 119">
                  <a:extLst>
                    <a:ext uri="{FF2B5EF4-FFF2-40B4-BE49-F238E27FC236}">
                      <a16:creationId xmlns:a16="http://schemas.microsoft.com/office/drawing/2014/main" id="{3AC86B5C-AD2E-4387-AA3C-F4E84A2FCB7E}"/>
                    </a:ext>
                  </a:extLst>
                </p:cNvPr>
                <p:cNvSpPr/>
                <p:nvPr/>
              </p:nvSpPr>
              <p:spPr>
                <a:xfrm>
                  <a:off x="5965815" y="3136106"/>
                  <a:ext cx="65108"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21" name="평행 사변형 120">
                  <a:extLst>
                    <a:ext uri="{FF2B5EF4-FFF2-40B4-BE49-F238E27FC236}">
                      <a16:creationId xmlns:a16="http://schemas.microsoft.com/office/drawing/2014/main" id="{B3765626-2883-4C43-8A39-8C822D03B0F6}"/>
                    </a:ext>
                  </a:extLst>
                </p:cNvPr>
                <p:cNvSpPr/>
                <p:nvPr/>
              </p:nvSpPr>
              <p:spPr>
                <a:xfrm>
                  <a:off x="5968252" y="3068447"/>
                  <a:ext cx="139876"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117" name="그룹 116">
                <a:extLst>
                  <a:ext uri="{FF2B5EF4-FFF2-40B4-BE49-F238E27FC236}">
                    <a16:creationId xmlns:a16="http://schemas.microsoft.com/office/drawing/2014/main" id="{510050EA-F0C2-420A-B3AD-C6B6D6BCB49B}"/>
                  </a:ext>
                </a:extLst>
              </p:cNvPr>
              <p:cNvGrpSpPr/>
              <p:nvPr/>
            </p:nvGrpSpPr>
            <p:grpSpPr>
              <a:xfrm>
                <a:off x="6142241" y="3068447"/>
                <a:ext cx="127339" cy="286763"/>
                <a:chOff x="5965815" y="3068447"/>
                <a:chExt cx="169257" cy="286763"/>
              </a:xfrm>
            </p:grpSpPr>
            <p:sp>
              <p:nvSpPr>
                <p:cNvPr id="118" name="직사각형 117">
                  <a:extLst>
                    <a:ext uri="{FF2B5EF4-FFF2-40B4-BE49-F238E27FC236}">
                      <a16:creationId xmlns:a16="http://schemas.microsoft.com/office/drawing/2014/main" id="{39086A5E-21D2-42F5-9D94-1155FFC4ABF4}"/>
                    </a:ext>
                  </a:extLst>
                </p:cNvPr>
                <p:cNvSpPr/>
                <p:nvPr/>
              </p:nvSpPr>
              <p:spPr>
                <a:xfrm>
                  <a:off x="5965815" y="3136106"/>
                  <a:ext cx="60769"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p>
              </p:txBody>
            </p:sp>
            <p:sp>
              <p:nvSpPr>
                <p:cNvPr id="119" name="평행 사변형 118">
                  <a:extLst>
                    <a:ext uri="{FF2B5EF4-FFF2-40B4-BE49-F238E27FC236}">
                      <a16:creationId xmlns:a16="http://schemas.microsoft.com/office/drawing/2014/main" id="{953A130F-66E7-4221-8AEC-4A4BB47B537C}"/>
                    </a:ext>
                  </a:extLst>
                </p:cNvPr>
                <p:cNvSpPr/>
                <p:nvPr/>
              </p:nvSpPr>
              <p:spPr>
                <a:xfrm>
                  <a:off x="5968237" y="3068447"/>
                  <a:ext cx="166835"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sp>
          <p:nvSpPr>
            <p:cNvPr id="128" name="정육면체 127">
              <a:extLst>
                <a:ext uri="{FF2B5EF4-FFF2-40B4-BE49-F238E27FC236}">
                  <a16:creationId xmlns:a16="http://schemas.microsoft.com/office/drawing/2014/main" id="{D8A2C4AC-5603-4FC0-923C-423CDABE561C}"/>
                </a:ext>
              </a:extLst>
            </p:cNvPr>
            <p:cNvSpPr/>
            <p:nvPr/>
          </p:nvSpPr>
          <p:spPr>
            <a:xfrm>
              <a:off x="5678858" y="4089279"/>
              <a:ext cx="776540" cy="265836"/>
            </a:xfrm>
            <a:prstGeom prst="cube">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User Query </a:t>
              </a:r>
              <a:endParaRPr lang="ko-KR" altLang="en-US" sz="800" dirty="0">
                <a:solidFill>
                  <a:schemeClr val="tx1"/>
                </a:solidFill>
              </a:endParaRPr>
            </a:p>
          </p:txBody>
        </p:sp>
      </p:grpSp>
      <p:sp>
        <p:nvSpPr>
          <p:cNvPr id="149" name="정육면체 148">
            <a:extLst>
              <a:ext uri="{FF2B5EF4-FFF2-40B4-BE49-F238E27FC236}">
                <a16:creationId xmlns:a16="http://schemas.microsoft.com/office/drawing/2014/main" id="{84AD227C-41E7-4D5B-B6DE-C8804D2E6632}"/>
              </a:ext>
            </a:extLst>
          </p:cNvPr>
          <p:cNvSpPr/>
          <p:nvPr/>
        </p:nvSpPr>
        <p:spPr>
          <a:xfrm>
            <a:off x="4627127" y="2337045"/>
            <a:ext cx="374341" cy="209629"/>
          </a:xfrm>
          <a:prstGeom prst="cube">
            <a:avLst/>
          </a:prstGeom>
          <a:solidFill>
            <a:srgbClr val="FFFFFF"/>
          </a:solidFill>
          <a:ln w="9525">
            <a:solidFill>
              <a:srgbClr val="A6A6A6"/>
            </a:solidFill>
            <a:prstDash val="solid"/>
          </a:ln>
        </p:spPr>
        <p:txBody>
          <a:bodyPr anchor="ctr"/>
          <a:lstStyle/>
          <a:p>
            <a:pPr algn="ctr"/>
            <a:r>
              <a:rPr lang="en-US" altLang="ko-KR" sz="900" dirty="0">
                <a:solidFill>
                  <a:srgbClr val="1F3864"/>
                </a:solidFill>
                <a:latin typeface="Malgun Gothic" pitchFamily="34" charset="0"/>
                <a:ea typeface="Malgun Gothic" pitchFamily="34" charset="-122"/>
                <a:cs typeface="Malgun Gothic" pitchFamily="34" charset="-120"/>
              </a:rPr>
              <a:t>#2</a:t>
            </a:r>
          </a:p>
        </p:txBody>
      </p:sp>
      <p:sp>
        <p:nvSpPr>
          <p:cNvPr id="150" name="정육면체 149">
            <a:extLst>
              <a:ext uri="{FF2B5EF4-FFF2-40B4-BE49-F238E27FC236}">
                <a16:creationId xmlns:a16="http://schemas.microsoft.com/office/drawing/2014/main" id="{84AD227C-41E7-4D5B-B6DE-C8804D2E6632}"/>
              </a:ext>
            </a:extLst>
          </p:cNvPr>
          <p:cNvSpPr/>
          <p:nvPr/>
        </p:nvSpPr>
        <p:spPr>
          <a:xfrm>
            <a:off x="5285602" y="2337045"/>
            <a:ext cx="381781" cy="209629"/>
          </a:xfrm>
          <a:prstGeom prst="cube">
            <a:avLst/>
          </a:prstGeom>
          <a:solidFill>
            <a:srgbClr val="FFFFFF"/>
          </a:solidFill>
          <a:ln w="9525">
            <a:solidFill>
              <a:srgbClr val="A6A6A6"/>
            </a:solidFill>
            <a:prstDash val="solid"/>
          </a:ln>
        </p:spPr>
        <p:txBody>
          <a:bodyPr anchor="ctr"/>
          <a:lstStyle/>
          <a:p>
            <a:pPr algn="ctr"/>
            <a:r>
              <a:rPr lang="en-US" altLang="ko-KR" sz="900" dirty="0">
                <a:solidFill>
                  <a:srgbClr val="1F3864"/>
                </a:solidFill>
                <a:latin typeface="Malgun Gothic" pitchFamily="34" charset="0"/>
                <a:ea typeface="Malgun Gothic" pitchFamily="34" charset="-122"/>
                <a:cs typeface="Malgun Gothic" pitchFamily="34" charset="-120"/>
              </a:rPr>
              <a:t>#n</a:t>
            </a:r>
          </a:p>
        </p:txBody>
      </p:sp>
      <p:sp>
        <p:nvSpPr>
          <p:cNvPr id="520" name="TextBox 519"/>
          <p:cNvSpPr txBox="1"/>
          <p:nvPr/>
        </p:nvSpPr>
        <p:spPr>
          <a:xfrm>
            <a:off x="4660905" y="3639569"/>
            <a:ext cx="699119" cy="124219"/>
          </a:xfrm>
          <a:prstGeom prst="rect">
            <a:avLst/>
          </a:prstGeom>
          <a:noFill/>
        </p:spPr>
        <p:txBody>
          <a:bodyPr wrap="square" rtlCol="0" anchor="ctr">
            <a:spAutoFit/>
          </a:bodyPr>
          <a:lstStyle/>
          <a:p>
            <a:pPr algn="ctr"/>
            <a:r>
              <a:rPr lang="en-US" altLang="ko-KR" sz="700" dirty="0"/>
              <a:t>Comp. KV 2</a:t>
            </a:r>
            <a:endParaRPr lang="ko-KR" altLang="en-US" sz="700" dirty="0"/>
          </a:p>
        </p:txBody>
      </p:sp>
      <p:sp>
        <p:nvSpPr>
          <p:cNvPr id="521" name="TextBox 520"/>
          <p:cNvSpPr txBox="1"/>
          <p:nvPr/>
        </p:nvSpPr>
        <p:spPr>
          <a:xfrm>
            <a:off x="4037377" y="3601651"/>
            <a:ext cx="699119" cy="200055"/>
          </a:xfrm>
          <a:prstGeom prst="rect">
            <a:avLst/>
          </a:prstGeom>
          <a:noFill/>
        </p:spPr>
        <p:txBody>
          <a:bodyPr wrap="square" rtlCol="0" anchor="ctr">
            <a:spAutoFit/>
          </a:bodyPr>
          <a:lstStyle/>
          <a:p>
            <a:pPr algn="ctr"/>
            <a:r>
              <a:rPr lang="en-US" altLang="ko-KR" sz="700" dirty="0"/>
              <a:t>Comp. KV 1</a:t>
            </a:r>
            <a:endParaRPr lang="ko-KR" altLang="en-US" sz="700" dirty="0"/>
          </a:p>
        </p:txBody>
      </p:sp>
      <p:grpSp>
        <p:nvGrpSpPr>
          <p:cNvPr id="19" name="그룹 18"/>
          <p:cNvGrpSpPr/>
          <p:nvPr/>
        </p:nvGrpSpPr>
        <p:grpSpPr>
          <a:xfrm>
            <a:off x="4744245" y="3362400"/>
            <a:ext cx="537909" cy="268495"/>
            <a:chOff x="4911738" y="3495046"/>
            <a:chExt cx="537909" cy="268495"/>
          </a:xfrm>
        </p:grpSpPr>
        <p:sp>
          <p:nvSpPr>
            <p:cNvPr id="127" name="정육면체 126">
              <a:extLst>
                <a:ext uri="{FF2B5EF4-FFF2-40B4-BE49-F238E27FC236}">
                  <a16:creationId xmlns:a16="http://schemas.microsoft.com/office/drawing/2014/main" id="{D8A2C4AC-5603-4FC0-923C-423CDABE561C}"/>
                </a:ext>
              </a:extLst>
            </p:cNvPr>
            <p:cNvSpPr/>
            <p:nvPr/>
          </p:nvSpPr>
          <p:spPr>
            <a:xfrm>
              <a:off x="4911738" y="3495046"/>
              <a:ext cx="537909" cy="268495"/>
            </a:xfrm>
            <a:prstGeom prst="cube">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700" dirty="0">
                <a:solidFill>
                  <a:schemeClr val="tx1"/>
                </a:solidFill>
              </a:endParaRPr>
            </a:p>
          </p:txBody>
        </p:sp>
        <p:sp>
          <p:nvSpPr>
            <p:cNvPr id="514" name="직사각형 513">
              <a:extLst>
                <a:ext uri="{FF2B5EF4-FFF2-40B4-BE49-F238E27FC236}">
                  <a16:creationId xmlns:a16="http://schemas.microsoft.com/office/drawing/2014/main" id="{7F3017A2-63F4-4CEB-99FF-DE8D3CE5DE0B}"/>
                </a:ext>
              </a:extLst>
            </p:cNvPr>
            <p:cNvSpPr/>
            <p:nvPr/>
          </p:nvSpPr>
          <p:spPr>
            <a:xfrm>
              <a:off x="5126668" y="3559816"/>
              <a:ext cx="40039"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15" name="평행 사변형 514">
              <a:extLst>
                <a:ext uri="{FF2B5EF4-FFF2-40B4-BE49-F238E27FC236}">
                  <a16:creationId xmlns:a16="http://schemas.microsoft.com/office/drawing/2014/main" id="{610C6AE8-9660-49A6-82AF-6BF73575817D}"/>
                </a:ext>
              </a:extLst>
            </p:cNvPr>
            <p:cNvSpPr/>
            <p:nvPr/>
          </p:nvSpPr>
          <p:spPr>
            <a:xfrm>
              <a:off x="5128167" y="3496938"/>
              <a:ext cx="84854"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16" name="직사각형 515">
              <a:extLst>
                <a:ext uri="{FF2B5EF4-FFF2-40B4-BE49-F238E27FC236}">
                  <a16:creationId xmlns:a16="http://schemas.microsoft.com/office/drawing/2014/main" id="{3AC86B5C-AD2E-4387-AA3C-F4E84A2FCB7E}"/>
                </a:ext>
              </a:extLst>
            </p:cNvPr>
            <p:cNvSpPr/>
            <p:nvPr/>
          </p:nvSpPr>
          <p:spPr>
            <a:xfrm>
              <a:off x="4979441" y="3559816"/>
              <a:ext cx="40038"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17" name="평행 사변형 516">
              <a:extLst>
                <a:ext uri="{FF2B5EF4-FFF2-40B4-BE49-F238E27FC236}">
                  <a16:creationId xmlns:a16="http://schemas.microsoft.com/office/drawing/2014/main" id="{B3765626-2883-4C43-8A39-8C822D03B0F6}"/>
                </a:ext>
              </a:extLst>
            </p:cNvPr>
            <p:cNvSpPr/>
            <p:nvPr/>
          </p:nvSpPr>
          <p:spPr>
            <a:xfrm>
              <a:off x="4980940" y="3496938"/>
              <a:ext cx="86017"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18" name="직사각형 517">
              <a:extLst>
                <a:ext uri="{FF2B5EF4-FFF2-40B4-BE49-F238E27FC236}">
                  <a16:creationId xmlns:a16="http://schemas.microsoft.com/office/drawing/2014/main" id="{39086A5E-21D2-42F5-9D94-1155FFC4ABF4}"/>
                </a:ext>
              </a:extLst>
            </p:cNvPr>
            <p:cNvSpPr/>
            <p:nvPr/>
          </p:nvSpPr>
          <p:spPr>
            <a:xfrm>
              <a:off x="5235163" y="3559816"/>
              <a:ext cx="28115" cy="203623"/>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p>
          </p:txBody>
        </p:sp>
        <p:sp>
          <p:nvSpPr>
            <p:cNvPr id="519" name="평행 사변형 518">
              <a:extLst>
                <a:ext uri="{FF2B5EF4-FFF2-40B4-BE49-F238E27FC236}">
                  <a16:creationId xmlns:a16="http://schemas.microsoft.com/office/drawing/2014/main" id="{953A130F-66E7-4221-8AEC-4A4BB47B537C}"/>
                </a:ext>
              </a:extLst>
            </p:cNvPr>
            <p:cNvSpPr/>
            <p:nvPr/>
          </p:nvSpPr>
          <p:spPr>
            <a:xfrm>
              <a:off x="5236284" y="3496938"/>
              <a:ext cx="77187" cy="61236"/>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sp>
        <p:nvSpPr>
          <p:cNvPr id="227" name="정육면체 226">
            <a:extLst>
              <a:ext uri="{FF2B5EF4-FFF2-40B4-BE49-F238E27FC236}">
                <a16:creationId xmlns:a16="http://schemas.microsoft.com/office/drawing/2014/main" id="{84AD227C-41E7-4D5B-B6DE-C8804D2E6632}"/>
              </a:ext>
            </a:extLst>
          </p:cNvPr>
          <p:cNvSpPr/>
          <p:nvPr/>
        </p:nvSpPr>
        <p:spPr>
          <a:xfrm>
            <a:off x="5308325" y="3358396"/>
            <a:ext cx="587415" cy="271425"/>
          </a:xfrm>
          <a:prstGeom prst="cube">
            <a:avLst/>
          </a:prstGeom>
          <a:solidFill>
            <a:srgbClr val="FFFFFF"/>
          </a:solidFill>
          <a:ln w="9525">
            <a:solidFill>
              <a:srgbClr val="A6A6A6"/>
            </a:solidFill>
            <a:prstDash val="solid"/>
          </a:ln>
        </p:spPr>
        <p:txBody>
          <a:bodyPr anchor="ctr"/>
          <a:lstStyle/>
          <a:p>
            <a:pPr algn="ctr"/>
            <a:r>
              <a:rPr lang="en-US" altLang="ko-KR" sz="800" dirty="0">
                <a:solidFill>
                  <a:srgbClr val="1F3864"/>
                </a:solidFill>
                <a:latin typeface="Malgun Gothic" pitchFamily="34" charset="0"/>
                <a:ea typeface="Malgun Gothic" pitchFamily="34" charset="-122"/>
                <a:cs typeface="Malgun Gothic" pitchFamily="34" charset="-120"/>
              </a:rPr>
              <a:t> KV</a:t>
            </a:r>
          </a:p>
        </p:txBody>
      </p:sp>
      <p:sp>
        <p:nvSpPr>
          <p:cNvPr id="228" name="TextBox 227"/>
          <p:cNvSpPr txBox="1"/>
          <p:nvPr/>
        </p:nvSpPr>
        <p:spPr>
          <a:xfrm>
            <a:off x="5844632" y="3336389"/>
            <a:ext cx="499046" cy="307777"/>
          </a:xfrm>
          <a:prstGeom prst="rect">
            <a:avLst/>
          </a:prstGeom>
          <a:noFill/>
        </p:spPr>
        <p:txBody>
          <a:bodyPr wrap="square" rtlCol="0">
            <a:spAutoFit/>
          </a:bodyPr>
          <a:lstStyle/>
          <a:p>
            <a:pPr algn="ctr"/>
            <a:r>
              <a:rPr lang="en-US" altLang="ko-KR" sz="700" dirty="0"/>
              <a:t>KV </a:t>
            </a:r>
          </a:p>
          <a:p>
            <a:pPr algn="ctr"/>
            <a:r>
              <a:rPr lang="en-US" altLang="ko-KR" sz="700" dirty="0"/>
              <a:t>Sample</a:t>
            </a:r>
          </a:p>
        </p:txBody>
      </p:sp>
      <p:grpSp>
        <p:nvGrpSpPr>
          <p:cNvPr id="79" name="그룹 78"/>
          <p:cNvGrpSpPr/>
          <p:nvPr/>
        </p:nvGrpSpPr>
        <p:grpSpPr>
          <a:xfrm>
            <a:off x="3839968" y="1998105"/>
            <a:ext cx="2671828" cy="2452566"/>
            <a:chOff x="3839968" y="2177307"/>
            <a:chExt cx="2671828" cy="2452566"/>
          </a:xfrm>
        </p:grpSpPr>
        <p:sp>
          <p:nvSpPr>
            <p:cNvPr id="76" name="모서리가 둥근 직사각형 75"/>
            <p:cNvSpPr/>
            <p:nvPr/>
          </p:nvSpPr>
          <p:spPr>
            <a:xfrm>
              <a:off x="3839968" y="2292215"/>
              <a:ext cx="2671828" cy="2337658"/>
            </a:xfrm>
            <a:prstGeom prst="roundRect">
              <a:avLst>
                <a:gd name="adj" fmla="val 3793"/>
              </a:avLst>
            </a:prstGeom>
            <a:noFill/>
            <a:ln w="63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직사각형 77"/>
            <p:cNvSpPr/>
            <p:nvPr/>
          </p:nvSpPr>
          <p:spPr>
            <a:xfrm>
              <a:off x="4642188" y="2177307"/>
              <a:ext cx="949110" cy="234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rPr>
                <a:t>&lt;</a:t>
              </a:r>
              <a:r>
                <a:rPr lang="ko-KR" altLang="en-US" sz="1050" dirty="0">
                  <a:solidFill>
                    <a:schemeClr val="tx1"/>
                  </a:solidFill>
                </a:rPr>
                <a:t>시나리오</a:t>
              </a:r>
              <a:r>
                <a:rPr lang="en-US" altLang="ko-KR" sz="1050" dirty="0">
                  <a:solidFill>
                    <a:schemeClr val="tx1"/>
                  </a:solidFill>
                </a:rPr>
                <a:t>&gt; </a:t>
              </a:r>
              <a:endParaRPr lang="ko-KR" altLang="en-US" sz="1050" dirty="0">
                <a:solidFill>
                  <a:schemeClr val="tx1"/>
                </a:solidFill>
              </a:endParaRPr>
            </a:p>
          </p:txBody>
        </p:sp>
      </p:grpSp>
      <p:grpSp>
        <p:nvGrpSpPr>
          <p:cNvPr id="532" name="그룹 531"/>
          <p:cNvGrpSpPr/>
          <p:nvPr/>
        </p:nvGrpSpPr>
        <p:grpSpPr>
          <a:xfrm>
            <a:off x="9141264" y="1998105"/>
            <a:ext cx="2751725" cy="2452566"/>
            <a:chOff x="9141264" y="2177307"/>
            <a:chExt cx="2751725" cy="2452566"/>
          </a:xfrm>
        </p:grpSpPr>
        <p:grpSp>
          <p:nvGrpSpPr>
            <p:cNvPr id="10" name="그룹 9"/>
            <p:cNvGrpSpPr/>
            <p:nvPr/>
          </p:nvGrpSpPr>
          <p:grpSpPr>
            <a:xfrm>
              <a:off x="9192241" y="2522814"/>
              <a:ext cx="2631913" cy="1950987"/>
              <a:chOff x="9201224" y="2229331"/>
              <a:chExt cx="2631913" cy="1950987"/>
            </a:xfrm>
          </p:grpSpPr>
          <p:sp>
            <p:nvSpPr>
              <p:cNvPr id="223" name="정육면체 222">
                <a:extLst>
                  <a:ext uri="{FF2B5EF4-FFF2-40B4-BE49-F238E27FC236}">
                    <a16:creationId xmlns:a16="http://schemas.microsoft.com/office/drawing/2014/main" id="{D8A2C4AC-5603-4FC0-923C-423CDABE561C}"/>
                  </a:ext>
                </a:extLst>
              </p:cNvPr>
              <p:cNvSpPr/>
              <p:nvPr/>
            </p:nvSpPr>
            <p:spPr>
              <a:xfrm>
                <a:off x="9201224" y="3888348"/>
                <a:ext cx="959436" cy="283037"/>
              </a:xfrm>
              <a:prstGeom prst="cub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rgbClr val="1F3864"/>
                    </a:solidFill>
                    <a:latin typeface="Malgun Gothic" pitchFamily="34" charset="0"/>
                    <a:ea typeface="Malgun Gothic" pitchFamily="34" charset="-122"/>
                    <a:cs typeface="Malgun Gothic" pitchFamily="34" charset="-120"/>
                  </a:rPr>
                  <a:t>System Prompt </a:t>
                </a:r>
              </a:p>
              <a:p>
                <a:pPr algn="ctr"/>
                <a:r>
                  <a:rPr lang="en-US" altLang="ko-KR" sz="800" dirty="0">
                    <a:solidFill>
                      <a:srgbClr val="1F3864"/>
                    </a:solidFill>
                    <a:latin typeface="Malgun Gothic" pitchFamily="34" charset="0"/>
                    <a:ea typeface="Malgun Gothic" pitchFamily="34" charset="-122"/>
                    <a:cs typeface="Malgun Gothic" pitchFamily="34" charset="-120"/>
                  </a:rPr>
                  <a:t>(Prefix Cache)</a:t>
                </a:r>
              </a:p>
            </p:txBody>
          </p:sp>
          <p:cxnSp>
            <p:nvCxnSpPr>
              <p:cNvPr id="131" name="직선 연결선 130"/>
              <p:cNvCxnSpPr>
                <a:stCxn id="151" idx="3"/>
                <a:endCxn id="147" idx="0"/>
              </p:cNvCxnSpPr>
              <p:nvPr/>
            </p:nvCxnSpPr>
            <p:spPr>
              <a:xfrm flipH="1">
                <a:off x="9864115" y="2452524"/>
                <a:ext cx="376499" cy="192122"/>
              </a:xfrm>
              <a:prstGeom prst="line">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직선 연결선 132"/>
              <p:cNvCxnSpPr>
                <a:stCxn id="176" idx="3"/>
                <a:endCxn id="201" idx="0"/>
              </p:cNvCxnSpPr>
              <p:nvPr/>
            </p:nvCxnSpPr>
            <p:spPr>
              <a:xfrm>
                <a:off x="9683928" y="3518931"/>
                <a:ext cx="724112" cy="375520"/>
              </a:xfrm>
              <a:prstGeom prst="line">
                <a:avLst/>
              </a:prstGeom>
              <a:ln>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1" name="직선 연결선 140"/>
              <p:cNvCxnSpPr>
                <a:stCxn id="151" idx="3"/>
                <a:endCxn id="148" idx="0"/>
              </p:cNvCxnSpPr>
              <p:nvPr/>
            </p:nvCxnSpPr>
            <p:spPr>
              <a:xfrm>
                <a:off x="10240614" y="2452524"/>
                <a:ext cx="562680" cy="192122"/>
              </a:xfrm>
              <a:prstGeom prst="line">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직선 연결선 141"/>
              <p:cNvCxnSpPr>
                <a:stCxn id="166" idx="3"/>
                <a:endCxn id="212" idx="0"/>
              </p:cNvCxnSpPr>
              <p:nvPr/>
            </p:nvCxnSpPr>
            <p:spPr>
              <a:xfrm>
                <a:off x="10626066" y="3518931"/>
                <a:ext cx="243822" cy="375051"/>
              </a:xfrm>
              <a:prstGeom prst="line">
                <a:avLst/>
              </a:prstGeom>
              <a:ln>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7" name="정육면체 146">
                <a:extLst>
                  <a:ext uri="{FF2B5EF4-FFF2-40B4-BE49-F238E27FC236}">
                    <a16:creationId xmlns:a16="http://schemas.microsoft.com/office/drawing/2014/main" id="{D8A2C4AC-5603-4FC0-923C-423CDABE561C}"/>
                  </a:ext>
                </a:extLst>
              </p:cNvPr>
              <p:cNvSpPr/>
              <p:nvPr/>
            </p:nvSpPr>
            <p:spPr>
              <a:xfrm>
                <a:off x="9375756" y="2644646"/>
                <a:ext cx="905251" cy="285867"/>
              </a:xfrm>
              <a:prstGeom prst="cub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rPr>
                  <a:t>Context1 KV</a:t>
                </a:r>
                <a:endParaRPr lang="ko-KR" altLang="en-US" sz="900" dirty="0">
                  <a:solidFill>
                    <a:schemeClr val="tx1"/>
                  </a:solidFill>
                </a:endParaRPr>
              </a:p>
            </p:txBody>
          </p:sp>
          <p:sp>
            <p:nvSpPr>
              <p:cNvPr id="148" name="정육면체 147">
                <a:extLst>
                  <a:ext uri="{FF2B5EF4-FFF2-40B4-BE49-F238E27FC236}">
                    <a16:creationId xmlns:a16="http://schemas.microsoft.com/office/drawing/2014/main" id="{D8A2C4AC-5603-4FC0-923C-423CDABE561C}"/>
                  </a:ext>
                </a:extLst>
              </p:cNvPr>
              <p:cNvSpPr/>
              <p:nvPr/>
            </p:nvSpPr>
            <p:spPr>
              <a:xfrm>
                <a:off x="10314935" y="2644646"/>
                <a:ext cx="905251" cy="285867"/>
              </a:xfrm>
              <a:prstGeom prst="cube">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rPr>
                  <a:t>Context2 KV</a:t>
                </a:r>
                <a:endParaRPr lang="ko-KR" altLang="en-US" sz="900" dirty="0">
                  <a:solidFill>
                    <a:schemeClr val="tx1"/>
                  </a:solidFill>
                </a:endParaRPr>
              </a:p>
            </p:txBody>
          </p:sp>
          <p:sp>
            <p:nvSpPr>
              <p:cNvPr id="151" name="정육면체 150">
                <a:extLst>
                  <a:ext uri="{FF2B5EF4-FFF2-40B4-BE49-F238E27FC236}">
                    <a16:creationId xmlns:a16="http://schemas.microsoft.com/office/drawing/2014/main" id="{84AD227C-41E7-4D5B-B6DE-C8804D2E6632}"/>
                  </a:ext>
                </a:extLst>
              </p:cNvPr>
              <p:cNvSpPr/>
              <p:nvPr/>
            </p:nvSpPr>
            <p:spPr>
              <a:xfrm>
                <a:off x="9835517" y="2229331"/>
                <a:ext cx="865992" cy="223193"/>
              </a:xfrm>
              <a:prstGeom prst="cube">
                <a:avLst/>
              </a:prstGeom>
              <a:solidFill>
                <a:schemeClr val="accent4">
                  <a:lumMod val="20000"/>
                  <a:lumOff val="80000"/>
                </a:schemeClr>
              </a:solidFill>
              <a:ln w="9525">
                <a:solidFill>
                  <a:srgbClr val="A6A6A6"/>
                </a:solidFill>
                <a:prstDash val="solid"/>
              </a:ln>
            </p:spPr>
            <p:txBody>
              <a:bodyPr anchor="ctr"/>
              <a:lstStyle/>
              <a:p>
                <a:pPr algn="ctr"/>
                <a:r>
                  <a:rPr lang="en-US" altLang="ko-KR" sz="900" dirty="0">
                    <a:solidFill>
                      <a:srgbClr val="1F3864"/>
                    </a:solidFill>
                    <a:latin typeface="Malgun Gothic" pitchFamily="34" charset="0"/>
                    <a:ea typeface="Malgun Gothic" pitchFamily="34" charset="-122"/>
                    <a:cs typeface="Malgun Gothic" pitchFamily="34" charset="-120"/>
                  </a:rPr>
                  <a:t>User Query</a:t>
                </a:r>
              </a:p>
            </p:txBody>
          </p:sp>
          <p:grpSp>
            <p:nvGrpSpPr>
              <p:cNvPr id="152" name="그룹 151"/>
              <p:cNvGrpSpPr/>
              <p:nvPr/>
            </p:nvGrpSpPr>
            <p:grpSpPr>
              <a:xfrm>
                <a:off x="9268851" y="3233063"/>
                <a:ext cx="1844353" cy="285869"/>
                <a:chOff x="8667143" y="3152628"/>
                <a:chExt cx="2332139" cy="304338"/>
              </a:xfrm>
            </p:grpSpPr>
            <p:grpSp>
              <p:nvGrpSpPr>
                <p:cNvPr id="153" name="그룹 152">
                  <a:extLst>
                    <a:ext uri="{FF2B5EF4-FFF2-40B4-BE49-F238E27FC236}">
                      <a16:creationId xmlns:a16="http://schemas.microsoft.com/office/drawing/2014/main" id="{3E9CFB8D-AC91-41FB-8F16-46729CDA8BC5}"/>
                    </a:ext>
                  </a:extLst>
                </p:cNvPr>
                <p:cNvGrpSpPr/>
                <p:nvPr/>
              </p:nvGrpSpPr>
              <p:grpSpPr>
                <a:xfrm>
                  <a:off x="8667143" y="3152628"/>
                  <a:ext cx="1140078" cy="304338"/>
                  <a:chOff x="4990624" y="3066300"/>
                  <a:chExt cx="769620" cy="288910"/>
                </a:xfrm>
              </p:grpSpPr>
              <p:sp>
                <p:nvSpPr>
                  <p:cNvPr id="176" name="정육면체 175">
                    <a:extLst>
                      <a:ext uri="{FF2B5EF4-FFF2-40B4-BE49-F238E27FC236}">
                        <a16:creationId xmlns:a16="http://schemas.microsoft.com/office/drawing/2014/main" id="{D8A2C4AC-5603-4FC0-923C-423CDABE561C}"/>
                      </a:ext>
                    </a:extLst>
                  </p:cNvPr>
                  <p:cNvSpPr/>
                  <p:nvPr/>
                </p:nvSpPr>
                <p:spPr>
                  <a:xfrm>
                    <a:off x="4990624" y="3066300"/>
                    <a:ext cx="769620" cy="288909"/>
                  </a:xfrm>
                  <a:prstGeom prst="cub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grpSp>
                <p:nvGrpSpPr>
                  <p:cNvPr id="177" name="그룹 176">
                    <a:extLst>
                      <a:ext uri="{FF2B5EF4-FFF2-40B4-BE49-F238E27FC236}">
                        <a16:creationId xmlns:a16="http://schemas.microsoft.com/office/drawing/2014/main" id="{30B6DB89-CCC7-4B6C-B78B-382C4DD16D00}"/>
                      </a:ext>
                    </a:extLst>
                  </p:cNvPr>
                  <p:cNvGrpSpPr/>
                  <p:nvPr/>
                </p:nvGrpSpPr>
                <p:grpSpPr>
                  <a:xfrm>
                    <a:off x="5009519" y="3068447"/>
                    <a:ext cx="718215" cy="286763"/>
                    <a:chOff x="5624930" y="3068447"/>
                    <a:chExt cx="514672" cy="286763"/>
                  </a:xfrm>
                </p:grpSpPr>
                <p:sp>
                  <p:nvSpPr>
                    <p:cNvPr id="184" name="직사각형 183">
                      <a:extLst>
                        <a:ext uri="{FF2B5EF4-FFF2-40B4-BE49-F238E27FC236}">
                          <a16:creationId xmlns:a16="http://schemas.microsoft.com/office/drawing/2014/main" id="{F7143A21-8ED8-4AC5-A6A4-96D0FBC8C3E9}"/>
                        </a:ext>
                      </a:extLst>
                    </p:cNvPr>
                    <p:cNvSpPr/>
                    <p:nvPr/>
                  </p:nvSpPr>
                  <p:spPr>
                    <a:xfrm>
                      <a:off x="5965815" y="3136106"/>
                      <a:ext cx="83440"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85" name="평행 사변형 184">
                      <a:extLst>
                        <a:ext uri="{FF2B5EF4-FFF2-40B4-BE49-F238E27FC236}">
                          <a16:creationId xmlns:a16="http://schemas.microsoft.com/office/drawing/2014/main" id="{368C060F-6490-4EBA-BA02-AE74F5262BD4}"/>
                        </a:ext>
                      </a:extLst>
                    </p:cNvPr>
                    <p:cNvSpPr/>
                    <p:nvPr/>
                  </p:nvSpPr>
                  <p:spPr>
                    <a:xfrm>
                      <a:off x="5968253" y="3068447"/>
                      <a:ext cx="111523"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86" name="직사각형 185">
                      <a:extLst>
                        <a:ext uri="{FF2B5EF4-FFF2-40B4-BE49-F238E27FC236}">
                          <a16:creationId xmlns:a16="http://schemas.microsoft.com/office/drawing/2014/main" id="{F7143A21-8ED8-4AC5-A6A4-96D0FBC8C3E9}"/>
                        </a:ext>
                      </a:extLst>
                    </p:cNvPr>
                    <p:cNvSpPr/>
                    <p:nvPr/>
                  </p:nvSpPr>
                  <p:spPr>
                    <a:xfrm>
                      <a:off x="5906880" y="3136106"/>
                      <a:ext cx="37739" cy="2191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87" name="평행 사변형 186">
                      <a:extLst>
                        <a:ext uri="{FF2B5EF4-FFF2-40B4-BE49-F238E27FC236}">
                          <a16:creationId xmlns:a16="http://schemas.microsoft.com/office/drawing/2014/main" id="{368C060F-6490-4EBA-BA02-AE74F5262BD4}"/>
                        </a:ext>
                      </a:extLst>
                    </p:cNvPr>
                    <p:cNvSpPr/>
                    <p:nvPr/>
                  </p:nvSpPr>
                  <p:spPr>
                    <a:xfrm>
                      <a:off x="5909318" y="3068447"/>
                      <a:ext cx="64739" cy="65892"/>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88" name="직사각형 187">
                      <a:extLst>
                        <a:ext uri="{FF2B5EF4-FFF2-40B4-BE49-F238E27FC236}">
                          <a16:creationId xmlns:a16="http://schemas.microsoft.com/office/drawing/2014/main" id="{F7143A21-8ED8-4AC5-A6A4-96D0FBC8C3E9}"/>
                        </a:ext>
                      </a:extLst>
                    </p:cNvPr>
                    <p:cNvSpPr/>
                    <p:nvPr/>
                  </p:nvSpPr>
                  <p:spPr>
                    <a:xfrm>
                      <a:off x="5828889" y="3136106"/>
                      <a:ext cx="37739" cy="2191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89" name="평행 사변형 188">
                      <a:extLst>
                        <a:ext uri="{FF2B5EF4-FFF2-40B4-BE49-F238E27FC236}">
                          <a16:creationId xmlns:a16="http://schemas.microsoft.com/office/drawing/2014/main" id="{368C060F-6490-4EBA-BA02-AE74F5262BD4}"/>
                        </a:ext>
                      </a:extLst>
                    </p:cNvPr>
                    <p:cNvSpPr/>
                    <p:nvPr/>
                  </p:nvSpPr>
                  <p:spPr>
                    <a:xfrm>
                      <a:off x="5831328" y="3068447"/>
                      <a:ext cx="64739" cy="65892"/>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90" name="직사각형 189">
                      <a:extLst>
                        <a:ext uri="{FF2B5EF4-FFF2-40B4-BE49-F238E27FC236}">
                          <a16:creationId xmlns:a16="http://schemas.microsoft.com/office/drawing/2014/main" id="{F7143A21-8ED8-4AC5-A6A4-96D0FBC8C3E9}"/>
                        </a:ext>
                      </a:extLst>
                    </p:cNvPr>
                    <p:cNvSpPr/>
                    <p:nvPr/>
                  </p:nvSpPr>
                  <p:spPr>
                    <a:xfrm>
                      <a:off x="5624930" y="3136106"/>
                      <a:ext cx="37739" cy="2191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91" name="평행 사변형 190">
                      <a:extLst>
                        <a:ext uri="{FF2B5EF4-FFF2-40B4-BE49-F238E27FC236}">
                          <a16:creationId xmlns:a16="http://schemas.microsoft.com/office/drawing/2014/main" id="{368C060F-6490-4EBA-BA02-AE74F5262BD4}"/>
                        </a:ext>
                      </a:extLst>
                    </p:cNvPr>
                    <p:cNvSpPr/>
                    <p:nvPr/>
                  </p:nvSpPr>
                  <p:spPr>
                    <a:xfrm>
                      <a:off x="5627369" y="3068447"/>
                      <a:ext cx="64739" cy="65892"/>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92" name="직사각형 191">
                      <a:extLst>
                        <a:ext uri="{FF2B5EF4-FFF2-40B4-BE49-F238E27FC236}">
                          <a16:creationId xmlns:a16="http://schemas.microsoft.com/office/drawing/2014/main" id="{F7143A21-8ED8-4AC5-A6A4-96D0FBC8C3E9}"/>
                        </a:ext>
                      </a:extLst>
                    </p:cNvPr>
                    <p:cNvSpPr/>
                    <p:nvPr/>
                  </p:nvSpPr>
                  <p:spPr>
                    <a:xfrm>
                      <a:off x="6072424" y="3136106"/>
                      <a:ext cx="37739" cy="2191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93" name="평행 사변형 192">
                      <a:extLst>
                        <a:ext uri="{FF2B5EF4-FFF2-40B4-BE49-F238E27FC236}">
                          <a16:creationId xmlns:a16="http://schemas.microsoft.com/office/drawing/2014/main" id="{368C060F-6490-4EBA-BA02-AE74F5262BD4}"/>
                        </a:ext>
                      </a:extLst>
                    </p:cNvPr>
                    <p:cNvSpPr/>
                    <p:nvPr/>
                  </p:nvSpPr>
                  <p:spPr>
                    <a:xfrm>
                      <a:off x="6074863" y="3068447"/>
                      <a:ext cx="64739" cy="65892"/>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178" name="그룹 177">
                    <a:extLst>
                      <a:ext uri="{FF2B5EF4-FFF2-40B4-BE49-F238E27FC236}">
                        <a16:creationId xmlns:a16="http://schemas.microsoft.com/office/drawing/2014/main" id="{80A761AC-783D-427D-BF0E-80EB21468F4B}"/>
                      </a:ext>
                    </a:extLst>
                  </p:cNvPr>
                  <p:cNvGrpSpPr/>
                  <p:nvPr/>
                </p:nvGrpSpPr>
                <p:grpSpPr>
                  <a:xfrm>
                    <a:off x="5085792" y="3068447"/>
                    <a:ext cx="94172" cy="286763"/>
                    <a:chOff x="5967469" y="3068447"/>
                    <a:chExt cx="94172" cy="286763"/>
                  </a:xfrm>
                </p:grpSpPr>
                <p:sp>
                  <p:nvSpPr>
                    <p:cNvPr id="182" name="직사각형 181">
                      <a:extLst>
                        <a:ext uri="{FF2B5EF4-FFF2-40B4-BE49-F238E27FC236}">
                          <a16:creationId xmlns:a16="http://schemas.microsoft.com/office/drawing/2014/main" id="{A63EB10E-1583-4496-9BFA-4DA8AFEB9710}"/>
                        </a:ext>
                      </a:extLst>
                    </p:cNvPr>
                    <p:cNvSpPr/>
                    <p:nvPr/>
                  </p:nvSpPr>
                  <p:spPr>
                    <a:xfrm>
                      <a:off x="5967469" y="3136106"/>
                      <a:ext cx="51504"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83" name="평행 사변형 182">
                      <a:extLst>
                        <a:ext uri="{FF2B5EF4-FFF2-40B4-BE49-F238E27FC236}">
                          <a16:creationId xmlns:a16="http://schemas.microsoft.com/office/drawing/2014/main" id="{7FCE73C2-CA7D-487F-A907-6026692D4589}"/>
                        </a:ext>
                      </a:extLst>
                    </p:cNvPr>
                    <p:cNvSpPr/>
                    <p:nvPr/>
                  </p:nvSpPr>
                  <p:spPr>
                    <a:xfrm>
                      <a:off x="5968253" y="3068447"/>
                      <a:ext cx="93388"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179" name="그룹 178">
                    <a:extLst>
                      <a:ext uri="{FF2B5EF4-FFF2-40B4-BE49-F238E27FC236}">
                        <a16:creationId xmlns:a16="http://schemas.microsoft.com/office/drawing/2014/main" id="{FAFDDF61-4920-43E4-976E-4556AD73AA53}"/>
                      </a:ext>
                    </a:extLst>
                  </p:cNvPr>
                  <p:cNvGrpSpPr/>
                  <p:nvPr/>
                </p:nvGrpSpPr>
                <p:grpSpPr>
                  <a:xfrm>
                    <a:off x="5175021" y="3068447"/>
                    <a:ext cx="121304" cy="286763"/>
                    <a:chOff x="5965815" y="3068447"/>
                    <a:chExt cx="161236" cy="286763"/>
                  </a:xfrm>
                </p:grpSpPr>
                <p:sp>
                  <p:nvSpPr>
                    <p:cNvPr id="180" name="직사각형 179">
                      <a:extLst>
                        <a:ext uri="{FF2B5EF4-FFF2-40B4-BE49-F238E27FC236}">
                          <a16:creationId xmlns:a16="http://schemas.microsoft.com/office/drawing/2014/main" id="{45C4EE14-F23E-4895-A260-8843342F6ACE}"/>
                        </a:ext>
                      </a:extLst>
                    </p:cNvPr>
                    <p:cNvSpPr/>
                    <p:nvPr/>
                  </p:nvSpPr>
                  <p:spPr>
                    <a:xfrm>
                      <a:off x="5965815" y="3136106"/>
                      <a:ext cx="108422"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p>
                  </p:txBody>
                </p:sp>
                <p:sp>
                  <p:nvSpPr>
                    <p:cNvPr id="181" name="평행 사변형 180">
                      <a:extLst>
                        <a:ext uri="{FF2B5EF4-FFF2-40B4-BE49-F238E27FC236}">
                          <a16:creationId xmlns:a16="http://schemas.microsoft.com/office/drawing/2014/main" id="{032BA945-0559-4A7E-A5FB-00F359C8B926}"/>
                        </a:ext>
                      </a:extLst>
                    </p:cNvPr>
                    <p:cNvSpPr/>
                    <p:nvPr/>
                  </p:nvSpPr>
                  <p:spPr>
                    <a:xfrm>
                      <a:off x="5968253" y="3068447"/>
                      <a:ext cx="158798"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grpSp>
              <p:nvGrpSpPr>
                <p:cNvPr id="154" name="그룹 153"/>
                <p:cNvGrpSpPr/>
                <p:nvPr/>
              </p:nvGrpSpPr>
              <p:grpSpPr>
                <a:xfrm>
                  <a:off x="9857701" y="3152629"/>
                  <a:ext cx="1141581" cy="304336"/>
                  <a:chOff x="9857701" y="3160554"/>
                  <a:chExt cx="1141581" cy="304336"/>
                </a:xfrm>
              </p:grpSpPr>
              <p:grpSp>
                <p:nvGrpSpPr>
                  <p:cNvPr id="155" name="그룹 154">
                    <a:extLst>
                      <a:ext uri="{FF2B5EF4-FFF2-40B4-BE49-F238E27FC236}">
                        <a16:creationId xmlns:a16="http://schemas.microsoft.com/office/drawing/2014/main" id="{3E9CFB8D-AC91-41FB-8F16-46729CDA8BC5}"/>
                      </a:ext>
                    </a:extLst>
                  </p:cNvPr>
                  <p:cNvGrpSpPr/>
                  <p:nvPr/>
                </p:nvGrpSpPr>
                <p:grpSpPr>
                  <a:xfrm>
                    <a:off x="9857701" y="3160554"/>
                    <a:ext cx="1141581" cy="304336"/>
                    <a:chOff x="5682297" y="3066301"/>
                    <a:chExt cx="769620" cy="288909"/>
                  </a:xfrm>
                </p:grpSpPr>
                <p:sp>
                  <p:nvSpPr>
                    <p:cNvPr id="166" name="정육면체 165">
                      <a:extLst>
                        <a:ext uri="{FF2B5EF4-FFF2-40B4-BE49-F238E27FC236}">
                          <a16:creationId xmlns:a16="http://schemas.microsoft.com/office/drawing/2014/main" id="{18DD8ABD-522D-4B13-8E2D-73B036FED5E2}"/>
                        </a:ext>
                      </a:extLst>
                    </p:cNvPr>
                    <p:cNvSpPr/>
                    <p:nvPr/>
                  </p:nvSpPr>
                  <p:spPr>
                    <a:xfrm>
                      <a:off x="5682297" y="3066301"/>
                      <a:ext cx="769620" cy="288909"/>
                    </a:xfrm>
                    <a:prstGeom prst="cube">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nvGrpSpPr>
                    <p:cNvPr id="167" name="그룹 166">
                      <a:extLst>
                        <a:ext uri="{FF2B5EF4-FFF2-40B4-BE49-F238E27FC236}">
                          <a16:creationId xmlns:a16="http://schemas.microsoft.com/office/drawing/2014/main" id="{058AACF9-7845-463C-834E-B729C6D403BD}"/>
                        </a:ext>
                      </a:extLst>
                    </p:cNvPr>
                    <p:cNvGrpSpPr/>
                    <p:nvPr/>
                  </p:nvGrpSpPr>
                  <p:grpSpPr>
                    <a:xfrm>
                      <a:off x="5965815" y="3068447"/>
                      <a:ext cx="112614" cy="286763"/>
                      <a:chOff x="5965815" y="3068447"/>
                      <a:chExt cx="112614" cy="286763"/>
                    </a:xfrm>
                  </p:grpSpPr>
                  <p:sp>
                    <p:nvSpPr>
                      <p:cNvPr id="174" name="직사각형 173">
                        <a:extLst>
                          <a:ext uri="{FF2B5EF4-FFF2-40B4-BE49-F238E27FC236}">
                            <a16:creationId xmlns:a16="http://schemas.microsoft.com/office/drawing/2014/main" id="{7F3017A2-63F4-4CEB-99FF-DE8D3CE5DE0B}"/>
                          </a:ext>
                        </a:extLst>
                      </p:cNvPr>
                      <p:cNvSpPr/>
                      <p:nvPr/>
                    </p:nvSpPr>
                    <p:spPr>
                      <a:xfrm>
                        <a:off x="5965815" y="3136106"/>
                        <a:ext cx="65108"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75" name="평행 사변형 174">
                        <a:extLst>
                          <a:ext uri="{FF2B5EF4-FFF2-40B4-BE49-F238E27FC236}">
                            <a16:creationId xmlns:a16="http://schemas.microsoft.com/office/drawing/2014/main" id="{610C6AE8-9660-49A6-82AF-6BF73575817D}"/>
                          </a:ext>
                        </a:extLst>
                      </p:cNvPr>
                      <p:cNvSpPr/>
                      <p:nvPr/>
                    </p:nvSpPr>
                    <p:spPr>
                      <a:xfrm>
                        <a:off x="5968252" y="3068447"/>
                        <a:ext cx="110177"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168" name="그룹 167">
                      <a:extLst>
                        <a:ext uri="{FF2B5EF4-FFF2-40B4-BE49-F238E27FC236}">
                          <a16:creationId xmlns:a16="http://schemas.microsoft.com/office/drawing/2014/main" id="{0D5CC3C0-3743-4B11-8A30-91C492EFA778}"/>
                        </a:ext>
                      </a:extLst>
                    </p:cNvPr>
                    <p:cNvGrpSpPr/>
                    <p:nvPr/>
                  </p:nvGrpSpPr>
                  <p:grpSpPr>
                    <a:xfrm>
                      <a:off x="5726404" y="3068447"/>
                      <a:ext cx="107847" cy="286763"/>
                      <a:chOff x="5965815" y="3068447"/>
                      <a:chExt cx="107847" cy="286763"/>
                    </a:xfrm>
                  </p:grpSpPr>
                  <p:sp>
                    <p:nvSpPr>
                      <p:cNvPr id="172" name="직사각형 171">
                        <a:extLst>
                          <a:ext uri="{FF2B5EF4-FFF2-40B4-BE49-F238E27FC236}">
                            <a16:creationId xmlns:a16="http://schemas.microsoft.com/office/drawing/2014/main" id="{3AC86B5C-AD2E-4387-AA3C-F4E84A2FCB7E}"/>
                          </a:ext>
                        </a:extLst>
                      </p:cNvPr>
                      <p:cNvSpPr/>
                      <p:nvPr/>
                    </p:nvSpPr>
                    <p:spPr>
                      <a:xfrm>
                        <a:off x="5965815" y="3136106"/>
                        <a:ext cx="65108"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73" name="평행 사변형 172">
                        <a:extLst>
                          <a:ext uri="{FF2B5EF4-FFF2-40B4-BE49-F238E27FC236}">
                            <a16:creationId xmlns:a16="http://schemas.microsoft.com/office/drawing/2014/main" id="{B3765626-2883-4C43-8A39-8C822D03B0F6}"/>
                          </a:ext>
                        </a:extLst>
                      </p:cNvPr>
                      <p:cNvSpPr/>
                      <p:nvPr/>
                    </p:nvSpPr>
                    <p:spPr>
                      <a:xfrm>
                        <a:off x="5968252" y="3068447"/>
                        <a:ext cx="105410"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169" name="그룹 168">
                      <a:extLst>
                        <a:ext uri="{FF2B5EF4-FFF2-40B4-BE49-F238E27FC236}">
                          <a16:creationId xmlns:a16="http://schemas.microsoft.com/office/drawing/2014/main" id="{510050EA-F0C2-420A-B3AD-C6B6D6BCB49B}"/>
                        </a:ext>
                      </a:extLst>
                    </p:cNvPr>
                    <p:cNvGrpSpPr/>
                    <p:nvPr/>
                  </p:nvGrpSpPr>
                  <p:grpSpPr>
                    <a:xfrm>
                      <a:off x="6142229" y="3068447"/>
                      <a:ext cx="88688" cy="286763"/>
                      <a:chOff x="5965815" y="3068447"/>
                      <a:chExt cx="117883" cy="286763"/>
                    </a:xfrm>
                  </p:grpSpPr>
                  <p:sp>
                    <p:nvSpPr>
                      <p:cNvPr id="170" name="직사각형 169">
                        <a:extLst>
                          <a:ext uri="{FF2B5EF4-FFF2-40B4-BE49-F238E27FC236}">
                            <a16:creationId xmlns:a16="http://schemas.microsoft.com/office/drawing/2014/main" id="{39086A5E-21D2-42F5-9D94-1155FFC4ABF4}"/>
                          </a:ext>
                        </a:extLst>
                      </p:cNvPr>
                      <p:cNvSpPr/>
                      <p:nvPr/>
                    </p:nvSpPr>
                    <p:spPr>
                      <a:xfrm>
                        <a:off x="5965815" y="3136106"/>
                        <a:ext cx="60769"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p>
                    </p:txBody>
                  </p:sp>
                  <p:sp>
                    <p:nvSpPr>
                      <p:cNvPr id="171" name="평행 사변형 170">
                        <a:extLst>
                          <a:ext uri="{FF2B5EF4-FFF2-40B4-BE49-F238E27FC236}">
                            <a16:creationId xmlns:a16="http://schemas.microsoft.com/office/drawing/2014/main" id="{953A130F-66E7-4221-8AEC-4A4BB47B537C}"/>
                          </a:ext>
                        </a:extLst>
                      </p:cNvPr>
                      <p:cNvSpPr/>
                      <p:nvPr/>
                    </p:nvSpPr>
                    <p:spPr>
                      <a:xfrm>
                        <a:off x="5968237" y="3068447"/>
                        <a:ext cx="115461"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sp>
                <p:nvSpPr>
                  <p:cNvPr id="156" name="직사각형 155">
                    <a:extLst>
                      <a:ext uri="{FF2B5EF4-FFF2-40B4-BE49-F238E27FC236}">
                        <a16:creationId xmlns:a16="http://schemas.microsoft.com/office/drawing/2014/main" id="{F7143A21-8ED8-4AC5-A6A4-96D0FBC8C3E9}"/>
                      </a:ext>
                    </a:extLst>
                  </p:cNvPr>
                  <p:cNvSpPr/>
                  <p:nvPr/>
                </p:nvSpPr>
                <p:spPr>
                  <a:xfrm>
                    <a:off x="10061008" y="3233330"/>
                    <a:ext cx="78014" cy="2308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57" name="평행 사변형 156">
                    <a:extLst>
                      <a:ext uri="{FF2B5EF4-FFF2-40B4-BE49-F238E27FC236}">
                        <a16:creationId xmlns:a16="http://schemas.microsoft.com/office/drawing/2014/main" id="{368C060F-6490-4EBA-BA02-AE74F5262BD4}"/>
                      </a:ext>
                    </a:extLst>
                  </p:cNvPr>
                  <p:cNvSpPr/>
                  <p:nvPr/>
                </p:nvSpPr>
                <p:spPr>
                  <a:xfrm>
                    <a:off x="10066047" y="3162058"/>
                    <a:ext cx="133828" cy="69411"/>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58" name="직사각형 157">
                    <a:extLst>
                      <a:ext uri="{FF2B5EF4-FFF2-40B4-BE49-F238E27FC236}">
                        <a16:creationId xmlns:a16="http://schemas.microsoft.com/office/drawing/2014/main" id="{F7143A21-8ED8-4AC5-A6A4-96D0FBC8C3E9}"/>
                      </a:ext>
                    </a:extLst>
                  </p:cNvPr>
                  <p:cNvSpPr/>
                  <p:nvPr/>
                </p:nvSpPr>
                <p:spPr>
                  <a:xfrm>
                    <a:off x="9882815" y="3233330"/>
                    <a:ext cx="45719" cy="2308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59" name="평행 사변형 158">
                    <a:extLst>
                      <a:ext uri="{FF2B5EF4-FFF2-40B4-BE49-F238E27FC236}">
                        <a16:creationId xmlns:a16="http://schemas.microsoft.com/office/drawing/2014/main" id="{368C060F-6490-4EBA-BA02-AE74F5262BD4}"/>
                      </a:ext>
                    </a:extLst>
                  </p:cNvPr>
                  <p:cNvSpPr/>
                  <p:nvPr/>
                </p:nvSpPr>
                <p:spPr>
                  <a:xfrm>
                    <a:off x="9887854" y="3162058"/>
                    <a:ext cx="89237" cy="69411"/>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60" name="직사각형 159">
                    <a:extLst>
                      <a:ext uri="{FF2B5EF4-FFF2-40B4-BE49-F238E27FC236}">
                        <a16:creationId xmlns:a16="http://schemas.microsoft.com/office/drawing/2014/main" id="{F7143A21-8ED8-4AC5-A6A4-96D0FBC8C3E9}"/>
                      </a:ext>
                    </a:extLst>
                  </p:cNvPr>
                  <p:cNvSpPr/>
                  <p:nvPr/>
                </p:nvSpPr>
                <p:spPr>
                  <a:xfrm>
                    <a:off x="10170428" y="3233330"/>
                    <a:ext cx="78014" cy="2308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61" name="평행 사변형 160">
                    <a:extLst>
                      <a:ext uri="{FF2B5EF4-FFF2-40B4-BE49-F238E27FC236}">
                        <a16:creationId xmlns:a16="http://schemas.microsoft.com/office/drawing/2014/main" id="{368C060F-6490-4EBA-BA02-AE74F5262BD4}"/>
                      </a:ext>
                    </a:extLst>
                  </p:cNvPr>
                  <p:cNvSpPr/>
                  <p:nvPr/>
                </p:nvSpPr>
                <p:spPr>
                  <a:xfrm>
                    <a:off x="10175467" y="3162058"/>
                    <a:ext cx="133828" cy="69411"/>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62" name="직사각형 161">
                    <a:extLst>
                      <a:ext uri="{FF2B5EF4-FFF2-40B4-BE49-F238E27FC236}">
                        <a16:creationId xmlns:a16="http://schemas.microsoft.com/office/drawing/2014/main" id="{F7143A21-8ED8-4AC5-A6A4-96D0FBC8C3E9}"/>
                      </a:ext>
                    </a:extLst>
                  </p:cNvPr>
                  <p:cNvSpPr/>
                  <p:nvPr/>
                </p:nvSpPr>
                <p:spPr>
                  <a:xfrm>
                    <a:off x="10439697" y="3233330"/>
                    <a:ext cx="78014" cy="2308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63" name="평행 사변형 162">
                    <a:extLst>
                      <a:ext uri="{FF2B5EF4-FFF2-40B4-BE49-F238E27FC236}">
                        <a16:creationId xmlns:a16="http://schemas.microsoft.com/office/drawing/2014/main" id="{368C060F-6490-4EBA-BA02-AE74F5262BD4}"/>
                      </a:ext>
                    </a:extLst>
                  </p:cNvPr>
                  <p:cNvSpPr/>
                  <p:nvPr/>
                </p:nvSpPr>
                <p:spPr>
                  <a:xfrm>
                    <a:off x="10444736" y="3162058"/>
                    <a:ext cx="133828" cy="69411"/>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64" name="직사각형 163">
                    <a:extLst>
                      <a:ext uri="{FF2B5EF4-FFF2-40B4-BE49-F238E27FC236}">
                        <a16:creationId xmlns:a16="http://schemas.microsoft.com/office/drawing/2014/main" id="{F7143A21-8ED8-4AC5-A6A4-96D0FBC8C3E9}"/>
                      </a:ext>
                    </a:extLst>
                  </p:cNvPr>
                  <p:cNvSpPr/>
                  <p:nvPr/>
                </p:nvSpPr>
                <p:spPr>
                  <a:xfrm>
                    <a:off x="10759922" y="3233330"/>
                    <a:ext cx="135563" cy="23080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65" name="평행 사변형 164">
                    <a:extLst>
                      <a:ext uri="{FF2B5EF4-FFF2-40B4-BE49-F238E27FC236}">
                        <a16:creationId xmlns:a16="http://schemas.microsoft.com/office/drawing/2014/main" id="{368C060F-6490-4EBA-BA02-AE74F5262BD4}"/>
                      </a:ext>
                    </a:extLst>
                  </p:cNvPr>
                  <p:cNvSpPr/>
                  <p:nvPr/>
                </p:nvSpPr>
                <p:spPr>
                  <a:xfrm>
                    <a:off x="10759922" y="3162058"/>
                    <a:ext cx="196416" cy="69411"/>
                  </a:xfrm>
                  <a:prstGeom prst="parallelogram">
                    <a:avLst>
                      <a:gd name="adj" fmla="val 86824"/>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cxnSp>
            <p:nvCxnSpPr>
              <p:cNvPr id="194" name="직선 연결선 193"/>
              <p:cNvCxnSpPr>
                <a:stCxn id="147" idx="3"/>
                <a:endCxn id="176" idx="0"/>
              </p:cNvCxnSpPr>
              <p:nvPr/>
            </p:nvCxnSpPr>
            <p:spPr>
              <a:xfrm flipH="1">
                <a:off x="9749747" y="2930513"/>
                <a:ext cx="48548" cy="302550"/>
              </a:xfrm>
              <a:prstGeom prst="line">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직선 연결선 194"/>
              <p:cNvCxnSpPr>
                <a:stCxn id="148" idx="3"/>
                <a:endCxn id="166" idx="0"/>
              </p:cNvCxnSpPr>
              <p:nvPr/>
            </p:nvCxnSpPr>
            <p:spPr>
              <a:xfrm flipH="1">
                <a:off x="10691885" y="2930513"/>
                <a:ext cx="45591" cy="302551"/>
              </a:xfrm>
              <a:prstGeom prst="line">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96" name="직사각형 195">
                <a:extLst>
                  <a:ext uri="{FF2B5EF4-FFF2-40B4-BE49-F238E27FC236}">
                    <a16:creationId xmlns:a16="http://schemas.microsoft.com/office/drawing/2014/main" id="{F7143A21-8ED8-4AC5-A6A4-96D0FBC8C3E9}"/>
                  </a:ext>
                </a:extLst>
              </p:cNvPr>
              <p:cNvSpPr/>
              <p:nvPr/>
            </p:nvSpPr>
            <p:spPr>
              <a:xfrm>
                <a:off x="11231667" y="3126780"/>
                <a:ext cx="596110" cy="186515"/>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tx1"/>
                    </a:solidFill>
                  </a:rPr>
                  <a:t>Importance Score </a:t>
                </a:r>
                <a:r>
                  <a:rPr lang="ko-KR" altLang="en-US" sz="600" b="1" dirty="0">
                    <a:solidFill>
                      <a:schemeClr val="tx1"/>
                    </a:solidFill>
                  </a:rPr>
                  <a:t>↓</a:t>
                </a:r>
                <a:r>
                  <a:rPr lang="en-US" altLang="ko-KR" sz="600" b="1" dirty="0">
                    <a:solidFill>
                      <a:schemeClr val="tx1"/>
                    </a:solidFill>
                  </a:rPr>
                  <a:t> </a:t>
                </a:r>
                <a:endParaRPr lang="ko-KR" altLang="en-US" sz="600" b="1" dirty="0">
                  <a:solidFill>
                    <a:schemeClr val="tx1"/>
                  </a:solidFill>
                </a:endParaRPr>
              </a:p>
            </p:txBody>
          </p:sp>
          <p:sp>
            <p:nvSpPr>
              <p:cNvPr id="197" name="직사각형 196">
                <a:extLst>
                  <a:ext uri="{FF2B5EF4-FFF2-40B4-BE49-F238E27FC236}">
                    <a16:creationId xmlns:a16="http://schemas.microsoft.com/office/drawing/2014/main" id="{F7143A21-8ED8-4AC5-A6A4-96D0FBC8C3E9}"/>
                  </a:ext>
                </a:extLst>
              </p:cNvPr>
              <p:cNvSpPr/>
              <p:nvPr/>
            </p:nvSpPr>
            <p:spPr>
              <a:xfrm>
                <a:off x="11237027" y="3365786"/>
                <a:ext cx="596110" cy="192511"/>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600" b="1" dirty="0">
                    <a:solidFill>
                      <a:schemeClr val="bg1"/>
                    </a:solidFill>
                  </a:rPr>
                  <a:t>Importance Score </a:t>
                </a:r>
                <a:r>
                  <a:rPr lang="ko-KR" altLang="en-US" sz="600" b="1" dirty="0">
                    <a:solidFill>
                      <a:schemeClr val="bg1"/>
                    </a:solidFill>
                  </a:rPr>
                  <a:t>↑</a:t>
                </a:r>
              </a:p>
            </p:txBody>
          </p:sp>
          <p:sp>
            <p:nvSpPr>
              <p:cNvPr id="199" name="TextBox 198"/>
              <p:cNvSpPr txBox="1"/>
              <p:nvPr/>
            </p:nvSpPr>
            <p:spPr>
              <a:xfrm>
                <a:off x="9265905" y="3715347"/>
                <a:ext cx="816481" cy="221531"/>
              </a:xfrm>
              <a:prstGeom prst="rect">
                <a:avLst/>
              </a:prstGeom>
              <a:noFill/>
            </p:spPr>
            <p:txBody>
              <a:bodyPr wrap="square" rtlCol="0">
                <a:spAutoFit/>
              </a:bodyPr>
              <a:lstStyle/>
              <a:p>
                <a:r>
                  <a:rPr lang="en-US" altLang="ko-KR" sz="800" b="1" dirty="0"/>
                  <a:t>Prefill</a:t>
                </a:r>
              </a:p>
            </p:txBody>
          </p:sp>
          <p:grpSp>
            <p:nvGrpSpPr>
              <p:cNvPr id="200" name="그룹 199">
                <a:extLst>
                  <a:ext uri="{FF2B5EF4-FFF2-40B4-BE49-F238E27FC236}">
                    <a16:creationId xmlns:a16="http://schemas.microsoft.com/office/drawing/2014/main" id="{3E9CFB8D-AC91-41FB-8F16-46729CDA8BC5}"/>
                  </a:ext>
                </a:extLst>
              </p:cNvPr>
              <p:cNvGrpSpPr/>
              <p:nvPr/>
            </p:nvGrpSpPr>
            <p:grpSpPr>
              <a:xfrm>
                <a:off x="10135508" y="3894451"/>
                <a:ext cx="473597" cy="285867"/>
                <a:chOff x="4990624" y="3066301"/>
                <a:chExt cx="769620" cy="288909"/>
              </a:xfrm>
            </p:grpSpPr>
            <p:sp>
              <p:nvSpPr>
                <p:cNvPr id="201" name="정육면체 200">
                  <a:extLst>
                    <a:ext uri="{FF2B5EF4-FFF2-40B4-BE49-F238E27FC236}">
                      <a16:creationId xmlns:a16="http://schemas.microsoft.com/office/drawing/2014/main" id="{D8A2C4AC-5603-4FC0-923C-423CDABE561C}"/>
                    </a:ext>
                  </a:extLst>
                </p:cNvPr>
                <p:cNvSpPr/>
                <p:nvPr/>
              </p:nvSpPr>
              <p:spPr>
                <a:xfrm>
                  <a:off x="4990624" y="3066301"/>
                  <a:ext cx="769620" cy="288909"/>
                </a:xfrm>
                <a:prstGeom prst="cub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schemeClr val="tx1"/>
                    </a:solidFill>
                  </a:endParaRPr>
                </a:p>
              </p:txBody>
            </p:sp>
            <p:grpSp>
              <p:nvGrpSpPr>
                <p:cNvPr id="202" name="그룹 201">
                  <a:extLst>
                    <a:ext uri="{FF2B5EF4-FFF2-40B4-BE49-F238E27FC236}">
                      <a16:creationId xmlns:a16="http://schemas.microsoft.com/office/drawing/2014/main" id="{30B6DB89-CCC7-4B6C-B78B-382C4DD16D00}"/>
                    </a:ext>
                  </a:extLst>
                </p:cNvPr>
                <p:cNvGrpSpPr/>
                <p:nvPr/>
              </p:nvGrpSpPr>
              <p:grpSpPr>
                <a:xfrm>
                  <a:off x="5485173" y="3068447"/>
                  <a:ext cx="195704" cy="286763"/>
                  <a:chOff x="5965815" y="3068447"/>
                  <a:chExt cx="140242" cy="286763"/>
                </a:xfrm>
              </p:grpSpPr>
              <p:sp>
                <p:nvSpPr>
                  <p:cNvPr id="209" name="직사각형 208">
                    <a:extLst>
                      <a:ext uri="{FF2B5EF4-FFF2-40B4-BE49-F238E27FC236}">
                        <a16:creationId xmlns:a16="http://schemas.microsoft.com/office/drawing/2014/main" id="{F7143A21-8ED8-4AC5-A6A4-96D0FBC8C3E9}"/>
                      </a:ext>
                    </a:extLst>
                  </p:cNvPr>
                  <p:cNvSpPr/>
                  <p:nvPr/>
                </p:nvSpPr>
                <p:spPr>
                  <a:xfrm>
                    <a:off x="5965815" y="3136106"/>
                    <a:ext cx="83440"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210" name="평행 사변형 209">
                    <a:extLst>
                      <a:ext uri="{FF2B5EF4-FFF2-40B4-BE49-F238E27FC236}">
                        <a16:creationId xmlns:a16="http://schemas.microsoft.com/office/drawing/2014/main" id="{368C060F-6490-4EBA-BA02-AE74F5262BD4}"/>
                      </a:ext>
                    </a:extLst>
                  </p:cNvPr>
                  <p:cNvSpPr/>
                  <p:nvPr/>
                </p:nvSpPr>
                <p:spPr>
                  <a:xfrm>
                    <a:off x="5968253" y="3068447"/>
                    <a:ext cx="137804"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203" name="그룹 202">
                  <a:extLst>
                    <a:ext uri="{FF2B5EF4-FFF2-40B4-BE49-F238E27FC236}">
                      <a16:creationId xmlns:a16="http://schemas.microsoft.com/office/drawing/2014/main" id="{80A761AC-783D-427D-BF0E-80EB21468F4B}"/>
                    </a:ext>
                  </a:extLst>
                </p:cNvPr>
                <p:cNvGrpSpPr/>
                <p:nvPr/>
              </p:nvGrpSpPr>
              <p:grpSpPr>
                <a:xfrm>
                  <a:off x="5084138" y="3068447"/>
                  <a:ext cx="144844" cy="286763"/>
                  <a:chOff x="5965815" y="3068447"/>
                  <a:chExt cx="144844" cy="286763"/>
                </a:xfrm>
              </p:grpSpPr>
              <p:sp>
                <p:nvSpPr>
                  <p:cNvPr id="207" name="직사각형 206">
                    <a:extLst>
                      <a:ext uri="{FF2B5EF4-FFF2-40B4-BE49-F238E27FC236}">
                        <a16:creationId xmlns:a16="http://schemas.microsoft.com/office/drawing/2014/main" id="{A63EB10E-1583-4496-9BFA-4DA8AFEB9710}"/>
                      </a:ext>
                    </a:extLst>
                  </p:cNvPr>
                  <p:cNvSpPr/>
                  <p:nvPr/>
                </p:nvSpPr>
                <p:spPr>
                  <a:xfrm>
                    <a:off x="5965815" y="3136106"/>
                    <a:ext cx="65108"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208" name="평행 사변형 207">
                    <a:extLst>
                      <a:ext uri="{FF2B5EF4-FFF2-40B4-BE49-F238E27FC236}">
                        <a16:creationId xmlns:a16="http://schemas.microsoft.com/office/drawing/2014/main" id="{7FCE73C2-CA7D-487F-A907-6026692D4589}"/>
                      </a:ext>
                    </a:extLst>
                  </p:cNvPr>
                  <p:cNvSpPr/>
                  <p:nvPr/>
                </p:nvSpPr>
                <p:spPr>
                  <a:xfrm>
                    <a:off x="5968252" y="3068447"/>
                    <a:ext cx="142407"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204" name="그룹 203">
                  <a:extLst>
                    <a:ext uri="{FF2B5EF4-FFF2-40B4-BE49-F238E27FC236}">
                      <a16:creationId xmlns:a16="http://schemas.microsoft.com/office/drawing/2014/main" id="{FAFDDF61-4920-43E4-976E-4556AD73AA53}"/>
                    </a:ext>
                  </a:extLst>
                </p:cNvPr>
                <p:cNvGrpSpPr/>
                <p:nvPr/>
              </p:nvGrpSpPr>
              <p:grpSpPr>
                <a:xfrm>
                  <a:off x="5175021" y="3068447"/>
                  <a:ext cx="121304" cy="286763"/>
                  <a:chOff x="5965815" y="3068447"/>
                  <a:chExt cx="161236" cy="286763"/>
                </a:xfrm>
              </p:grpSpPr>
              <p:sp>
                <p:nvSpPr>
                  <p:cNvPr id="205" name="직사각형 204">
                    <a:extLst>
                      <a:ext uri="{FF2B5EF4-FFF2-40B4-BE49-F238E27FC236}">
                        <a16:creationId xmlns:a16="http://schemas.microsoft.com/office/drawing/2014/main" id="{45C4EE14-F23E-4895-A260-8843342F6ACE}"/>
                      </a:ext>
                    </a:extLst>
                  </p:cNvPr>
                  <p:cNvSpPr/>
                  <p:nvPr/>
                </p:nvSpPr>
                <p:spPr>
                  <a:xfrm>
                    <a:off x="5965815" y="3136106"/>
                    <a:ext cx="60769"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p>
                </p:txBody>
              </p:sp>
              <p:sp>
                <p:nvSpPr>
                  <p:cNvPr id="206" name="평행 사변형 205">
                    <a:extLst>
                      <a:ext uri="{FF2B5EF4-FFF2-40B4-BE49-F238E27FC236}">
                        <a16:creationId xmlns:a16="http://schemas.microsoft.com/office/drawing/2014/main" id="{032BA945-0559-4A7E-A5FB-00F359C8B926}"/>
                      </a:ext>
                    </a:extLst>
                  </p:cNvPr>
                  <p:cNvSpPr/>
                  <p:nvPr/>
                </p:nvSpPr>
                <p:spPr>
                  <a:xfrm>
                    <a:off x="5968253" y="3068447"/>
                    <a:ext cx="158798"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grpSp>
            <p:nvGrpSpPr>
              <p:cNvPr id="211" name="그룹 210">
                <a:extLst>
                  <a:ext uri="{FF2B5EF4-FFF2-40B4-BE49-F238E27FC236}">
                    <a16:creationId xmlns:a16="http://schemas.microsoft.com/office/drawing/2014/main" id="{3E9CFB8D-AC91-41FB-8F16-46729CDA8BC5}"/>
                  </a:ext>
                </a:extLst>
              </p:cNvPr>
              <p:cNvGrpSpPr/>
              <p:nvPr/>
            </p:nvGrpSpPr>
            <p:grpSpPr>
              <a:xfrm>
                <a:off x="10597356" y="3893982"/>
                <a:ext cx="473597" cy="285867"/>
                <a:chOff x="5651343" y="3066301"/>
                <a:chExt cx="769620" cy="288909"/>
              </a:xfrm>
            </p:grpSpPr>
            <p:sp>
              <p:nvSpPr>
                <p:cNvPr id="212" name="정육면체 211">
                  <a:extLst>
                    <a:ext uri="{FF2B5EF4-FFF2-40B4-BE49-F238E27FC236}">
                      <a16:creationId xmlns:a16="http://schemas.microsoft.com/office/drawing/2014/main" id="{18DD8ABD-522D-4B13-8E2D-73B036FED5E2}"/>
                    </a:ext>
                  </a:extLst>
                </p:cNvPr>
                <p:cNvSpPr/>
                <p:nvPr/>
              </p:nvSpPr>
              <p:spPr>
                <a:xfrm>
                  <a:off x="5651343" y="3066301"/>
                  <a:ext cx="769620" cy="288909"/>
                </a:xfrm>
                <a:prstGeom prst="cube">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nvGrpSpPr>
                <p:cNvPr id="213" name="그룹 212">
                  <a:extLst>
                    <a:ext uri="{FF2B5EF4-FFF2-40B4-BE49-F238E27FC236}">
                      <a16:creationId xmlns:a16="http://schemas.microsoft.com/office/drawing/2014/main" id="{058AACF9-7845-463C-834E-B729C6D403BD}"/>
                    </a:ext>
                  </a:extLst>
                </p:cNvPr>
                <p:cNvGrpSpPr/>
                <p:nvPr/>
              </p:nvGrpSpPr>
              <p:grpSpPr>
                <a:xfrm>
                  <a:off x="5965815" y="3068447"/>
                  <a:ext cx="140421" cy="286763"/>
                  <a:chOff x="5965815" y="3068447"/>
                  <a:chExt cx="140421" cy="286763"/>
                </a:xfrm>
              </p:grpSpPr>
              <p:sp>
                <p:nvSpPr>
                  <p:cNvPr id="220" name="직사각형 219">
                    <a:extLst>
                      <a:ext uri="{FF2B5EF4-FFF2-40B4-BE49-F238E27FC236}">
                        <a16:creationId xmlns:a16="http://schemas.microsoft.com/office/drawing/2014/main" id="{7F3017A2-63F4-4CEB-99FF-DE8D3CE5DE0B}"/>
                      </a:ext>
                    </a:extLst>
                  </p:cNvPr>
                  <p:cNvSpPr/>
                  <p:nvPr/>
                </p:nvSpPr>
                <p:spPr>
                  <a:xfrm>
                    <a:off x="5965815" y="3136106"/>
                    <a:ext cx="65108"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221" name="평행 사변형 220">
                    <a:extLst>
                      <a:ext uri="{FF2B5EF4-FFF2-40B4-BE49-F238E27FC236}">
                        <a16:creationId xmlns:a16="http://schemas.microsoft.com/office/drawing/2014/main" id="{610C6AE8-9660-49A6-82AF-6BF73575817D}"/>
                      </a:ext>
                    </a:extLst>
                  </p:cNvPr>
                  <p:cNvSpPr/>
                  <p:nvPr/>
                </p:nvSpPr>
                <p:spPr>
                  <a:xfrm>
                    <a:off x="5968252" y="3068447"/>
                    <a:ext cx="137984"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214" name="그룹 213">
                  <a:extLst>
                    <a:ext uri="{FF2B5EF4-FFF2-40B4-BE49-F238E27FC236}">
                      <a16:creationId xmlns:a16="http://schemas.microsoft.com/office/drawing/2014/main" id="{0D5CC3C0-3743-4B11-8A30-91C492EFA778}"/>
                    </a:ext>
                  </a:extLst>
                </p:cNvPr>
                <p:cNvGrpSpPr/>
                <p:nvPr/>
              </p:nvGrpSpPr>
              <p:grpSpPr>
                <a:xfrm>
                  <a:off x="5726404" y="3068447"/>
                  <a:ext cx="142313" cy="286763"/>
                  <a:chOff x="5965815" y="3068447"/>
                  <a:chExt cx="142313" cy="286763"/>
                </a:xfrm>
              </p:grpSpPr>
              <p:sp>
                <p:nvSpPr>
                  <p:cNvPr id="218" name="직사각형 217">
                    <a:extLst>
                      <a:ext uri="{FF2B5EF4-FFF2-40B4-BE49-F238E27FC236}">
                        <a16:creationId xmlns:a16="http://schemas.microsoft.com/office/drawing/2014/main" id="{3AC86B5C-AD2E-4387-AA3C-F4E84A2FCB7E}"/>
                      </a:ext>
                    </a:extLst>
                  </p:cNvPr>
                  <p:cNvSpPr/>
                  <p:nvPr/>
                </p:nvSpPr>
                <p:spPr>
                  <a:xfrm>
                    <a:off x="5965815" y="3136106"/>
                    <a:ext cx="65108"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219" name="평행 사변형 218">
                    <a:extLst>
                      <a:ext uri="{FF2B5EF4-FFF2-40B4-BE49-F238E27FC236}">
                        <a16:creationId xmlns:a16="http://schemas.microsoft.com/office/drawing/2014/main" id="{B3765626-2883-4C43-8A39-8C822D03B0F6}"/>
                      </a:ext>
                    </a:extLst>
                  </p:cNvPr>
                  <p:cNvSpPr/>
                  <p:nvPr/>
                </p:nvSpPr>
                <p:spPr>
                  <a:xfrm>
                    <a:off x="5968252" y="3068447"/>
                    <a:ext cx="139876"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nvGrpSpPr>
                <p:cNvPr id="215" name="그룹 214">
                  <a:extLst>
                    <a:ext uri="{FF2B5EF4-FFF2-40B4-BE49-F238E27FC236}">
                      <a16:creationId xmlns:a16="http://schemas.microsoft.com/office/drawing/2014/main" id="{510050EA-F0C2-420A-B3AD-C6B6D6BCB49B}"/>
                    </a:ext>
                  </a:extLst>
                </p:cNvPr>
                <p:cNvGrpSpPr/>
                <p:nvPr/>
              </p:nvGrpSpPr>
              <p:grpSpPr>
                <a:xfrm>
                  <a:off x="6142241" y="3068447"/>
                  <a:ext cx="127339" cy="286763"/>
                  <a:chOff x="5965815" y="3068447"/>
                  <a:chExt cx="169257" cy="286763"/>
                </a:xfrm>
              </p:grpSpPr>
              <p:sp>
                <p:nvSpPr>
                  <p:cNvPr id="216" name="직사각형 215">
                    <a:extLst>
                      <a:ext uri="{FF2B5EF4-FFF2-40B4-BE49-F238E27FC236}">
                        <a16:creationId xmlns:a16="http://schemas.microsoft.com/office/drawing/2014/main" id="{39086A5E-21D2-42F5-9D94-1155FFC4ABF4}"/>
                      </a:ext>
                    </a:extLst>
                  </p:cNvPr>
                  <p:cNvSpPr/>
                  <p:nvPr/>
                </p:nvSpPr>
                <p:spPr>
                  <a:xfrm>
                    <a:off x="5965815" y="3136106"/>
                    <a:ext cx="60769" cy="219104"/>
                  </a:xfrm>
                  <a:prstGeom prst="rect">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p>
                </p:txBody>
              </p:sp>
              <p:sp>
                <p:nvSpPr>
                  <p:cNvPr id="217" name="평행 사변형 216">
                    <a:extLst>
                      <a:ext uri="{FF2B5EF4-FFF2-40B4-BE49-F238E27FC236}">
                        <a16:creationId xmlns:a16="http://schemas.microsoft.com/office/drawing/2014/main" id="{953A130F-66E7-4221-8AEC-4A4BB47B537C}"/>
                      </a:ext>
                    </a:extLst>
                  </p:cNvPr>
                  <p:cNvSpPr/>
                  <p:nvPr/>
                </p:nvSpPr>
                <p:spPr>
                  <a:xfrm>
                    <a:off x="5968237" y="3068447"/>
                    <a:ext cx="166835" cy="65892"/>
                  </a:xfrm>
                  <a:prstGeom prst="parallelogram">
                    <a:avLst>
                      <a:gd name="adj" fmla="val 86824"/>
                    </a:avLst>
                  </a:prstGeom>
                  <a:solidFill>
                    <a:schemeClr val="accent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grpSp>
          <p:sp>
            <p:nvSpPr>
              <p:cNvPr id="222" name="정육면체 221">
                <a:extLst>
                  <a:ext uri="{FF2B5EF4-FFF2-40B4-BE49-F238E27FC236}">
                    <a16:creationId xmlns:a16="http://schemas.microsoft.com/office/drawing/2014/main" id="{D8A2C4AC-5603-4FC0-923C-423CDABE561C}"/>
                  </a:ext>
                </a:extLst>
              </p:cNvPr>
              <p:cNvSpPr/>
              <p:nvPr/>
            </p:nvSpPr>
            <p:spPr>
              <a:xfrm>
                <a:off x="11033793" y="3888347"/>
                <a:ext cx="777055" cy="283037"/>
              </a:xfrm>
              <a:prstGeom prst="cube">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User Query </a:t>
                </a:r>
                <a:endParaRPr lang="ko-KR" altLang="en-US" sz="800" dirty="0">
                  <a:solidFill>
                    <a:schemeClr val="tx1"/>
                  </a:solidFill>
                </a:endParaRPr>
              </a:p>
            </p:txBody>
          </p:sp>
        </p:grpSp>
        <p:grpSp>
          <p:nvGrpSpPr>
            <p:cNvPr id="279" name="그룹 278"/>
            <p:cNvGrpSpPr/>
            <p:nvPr/>
          </p:nvGrpSpPr>
          <p:grpSpPr>
            <a:xfrm>
              <a:off x="9141264" y="2177307"/>
              <a:ext cx="2751725" cy="2452566"/>
              <a:chOff x="3799458" y="2177307"/>
              <a:chExt cx="2751725" cy="2452566"/>
            </a:xfrm>
          </p:grpSpPr>
          <p:sp>
            <p:nvSpPr>
              <p:cNvPr id="280" name="모서리가 둥근 직사각형 279"/>
              <p:cNvSpPr/>
              <p:nvPr/>
            </p:nvSpPr>
            <p:spPr>
              <a:xfrm>
                <a:off x="3799458" y="2292215"/>
                <a:ext cx="2751725" cy="2337658"/>
              </a:xfrm>
              <a:prstGeom prst="roundRect">
                <a:avLst>
                  <a:gd name="adj" fmla="val 3793"/>
                </a:avLst>
              </a:prstGeom>
              <a:noFill/>
              <a:ln w="63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2" name="직사각형 281"/>
              <p:cNvSpPr/>
              <p:nvPr/>
            </p:nvSpPr>
            <p:spPr>
              <a:xfrm>
                <a:off x="4642188" y="2177307"/>
                <a:ext cx="949110" cy="234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rPr>
                  <a:t>&lt;</a:t>
                </a:r>
                <a:r>
                  <a:rPr lang="ko-KR" altLang="en-US" sz="1050" dirty="0">
                    <a:solidFill>
                      <a:schemeClr val="tx1"/>
                    </a:solidFill>
                  </a:rPr>
                  <a:t>시나리오</a:t>
                </a:r>
                <a:r>
                  <a:rPr lang="en-US" altLang="ko-KR" sz="1050" dirty="0">
                    <a:solidFill>
                      <a:schemeClr val="tx1"/>
                    </a:solidFill>
                  </a:rPr>
                  <a:t>&gt; </a:t>
                </a:r>
                <a:endParaRPr lang="ko-KR" altLang="en-US" sz="1050" dirty="0">
                  <a:solidFill>
                    <a:schemeClr val="tx1"/>
                  </a:solidFill>
                </a:endParaRPr>
              </a:p>
            </p:txBody>
          </p:sp>
        </p:grpSp>
      </p:grpSp>
      <p:sp>
        <p:nvSpPr>
          <p:cNvPr id="290" name="TextBox 289"/>
          <p:cNvSpPr txBox="1"/>
          <p:nvPr/>
        </p:nvSpPr>
        <p:spPr>
          <a:xfrm>
            <a:off x="1300984" y="2696989"/>
            <a:ext cx="291597" cy="246221"/>
          </a:xfrm>
          <a:prstGeom prst="rect">
            <a:avLst/>
          </a:prstGeom>
          <a:noFill/>
        </p:spPr>
        <p:txBody>
          <a:bodyPr wrap="square" rtlCol="0">
            <a:spAutoFit/>
          </a:bodyPr>
          <a:lstStyle/>
          <a:p>
            <a:r>
              <a:rPr lang="en-US" altLang="ko-KR" sz="1000" b="1" dirty="0">
                <a:solidFill>
                  <a:srgbClr val="0066FF"/>
                </a:solidFill>
              </a:rPr>
              <a:t>①</a:t>
            </a:r>
            <a:endParaRPr lang="ko-KR" altLang="en-US" sz="1000" b="1" dirty="0">
              <a:solidFill>
                <a:srgbClr val="0066FF"/>
              </a:solidFill>
            </a:endParaRPr>
          </a:p>
        </p:txBody>
      </p:sp>
      <p:sp>
        <p:nvSpPr>
          <p:cNvPr id="292" name="TextBox 291"/>
          <p:cNvSpPr txBox="1"/>
          <p:nvPr/>
        </p:nvSpPr>
        <p:spPr>
          <a:xfrm>
            <a:off x="1257791" y="3586729"/>
            <a:ext cx="290136" cy="246221"/>
          </a:xfrm>
          <a:prstGeom prst="rect">
            <a:avLst/>
          </a:prstGeom>
          <a:noFill/>
        </p:spPr>
        <p:txBody>
          <a:bodyPr wrap="square" rtlCol="0">
            <a:spAutoFit/>
          </a:bodyPr>
          <a:lstStyle/>
          <a:p>
            <a:r>
              <a:rPr lang="en-US" altLang="ko-KR" sz="1000" b="1" dirty="0">
                <a:solidFill>
                  <a:srgbClr val="0066FF"/>
                </a:solidFill>
              </a:rPr>
              <a:t>②</a:t>
            </a:r>
            <a:endParaRPr lang="ko-KR" altLang="en-US" sz="1000" b="1" dirty="0">
              <a:solidFill>
                <a:srgbClr val="0066FF"/>
              </a:solidFill>
            </a:endParaRPr>
          </a:p>
        </p:txBody>
      </p:sp>
      <p:sp>
        <p:nvSpPr>
          <p:cNvPr id="293" name="TextBox 292"/>
          <p:cNvSpPr txBox="1"/>
          <p:nvPr/>
        </p:nvSpPr>
        <p:spPr>
          <a:xfrm>
            <a:off x="3978082" y="3093650"/>
            <a:ext cx="548296" cy="230832"/>
          </a:xfrm>
          <a:prstGeom prst="rect">
            <a:avLst/>
          </a:prstGeom>
          <a:noFill/>
        </p:spPr>
        <p:txBody>
          <a:bodyPr wrap="square" rtlCol="0">
            <a:spAutoFit/>
          </a:bodyPr>
          <a:lstStyle/>
          <a:p>
            <a:r>
              <a:rPr lang="en-US" altLang="ko-KR" sz="900" b="1" dirty="0">
                <a:solidFill>
                  <a:srgbClr val="0066FF"/>
                </a:solidFill>
              </a:rPr>
              <a:t>①→②</a:t>
            </a:r>
            <a:endParaRPr lang="ko-KR" altLang="en-US" sz="900" b="1" dirty="0">
              <a:solidFill>
                <a:srgbClr val="0066FF"/>
              </a:solidFill>
            </a:endParaRPr>
          </a:p>
        </p:txBody>
      </p:sp>
      <p:sp>
        <p:nvSpPr>
          <p:cNvPr id="294" name="TextBox 293"/>
          <p:cNvSpPr txBox="1"/>
          <p:nvPr/>
        </p:nvSpPr>
        <p:spPr>
          <a:xfrm>
            <a:off x="6787970" y="2801441"/>
            <a:ext cx="291597" cy="230832"/>
          </a:xfrm>
          <a:prstGeom prst="rect">
            <a:avLst/>
          </a:prstGeom>
          <a:noFill/>
        </p:spPr>
        <p:txBody>
          <a:bodyPr wrap="square" rtlCol="0">
            <a:spAutoFit/>
          </a:bodyPr>
          <a:lstStyle/>
          <a:p>
            <a:r>
              <a:rPr lang="en-US" altLang="ko-KR" sz="900" b="1" dirty="0">
                <a:solidFill>
                  <a:srgbClr val="0066FF"/>
                </a:solidFill>
              </a:rPr>
              <a:t>①</a:t>
            </a:r>
            <a:endParaRPr lang="ko-KR" altLang="en-US" sz="900" b="1" dirty="0">
              <a:solidFill>
                <a:srgbClr val="0066FF"/>
              </a:solidFill>
            </a:endParaRPr>
          </a:p>
        </p:txBody>
      </p:sp>
      <p:sp>
        <p:nvSpPr>
          <p:cNvPr id="295" name="TextBox 294"/>
          <p:cNvSpPr txBox="1"/>
          <p:nvPr/>
        </p:nvSpPr>
        <p:spPr>
          <a:xfrm>
            <a:off x="9467542" y="3003399"/>
            <a:ext cx="291597" cy="230832"/>
          </a:xfrm>
          <a:prstGeom prst="rect">
            <a:avLst/>
          </a:prstGeom>
          <a:noFill/>
        </p:spPr>
        <p:txBody>
          <a:bodyPr wrap="square" rtlCol="0">
            <a:spAutoFit/>
          </a:bodyPr>
          <a:lstStyle/>
          <a:p>
            <a:r>
              <a:rPr lang="en-US" altLang="ko-KR" sz="900" b="1" dirty="0">
                <a:solidFill>
                  <a:srgbClr val="0066FF"/>
                </a:solidFill>
              </a:rPr>
              <a:t>①</a:t>
            </a:r>
            <a:endParaRPr lang="ko-KR" altLang="en-US" sz="900" b="1" dirty="0">
              <a:solidFill>
                <a:srgbClr val="0066FF"/>
              </a:solidFill>
            </a:endParaRPr>
          </a:p>
        </p:txBody>
      </p:sp>
      <p:sp>
        <p:nvSpPr>
          <p:cNvPr id="296" name="TextBox 295"/>
          <p:cNvSpPr txBox="1"/>
          <p:nvPr/>
        </p:nvSpPr>
        <p:spPr>
          <a:xfrm>
            <a:off x="6765422" y="3862943"/>
            <a:ext cx="291597" cy="230832"/>
          </a:xfrm>
          <a:prstGeom prst="rect">
            <a:avLst/>
          </a:prstGeom>
          <a:noFill/>
        </p:spPr>
        <p:txBody>
          <a:bodyPr wrap="square" rtlCol="0">
            <a:spAutoFit/>
          </a:bodyPr>
          <a:lstStyle/>
          <a:p>
            <a:r>
              <a:rPr lang="en-US" altLang="ko-KR" sz="900" b="1" dirty="0">
                <a:solidFill>
                  <a:srgbClr val="0066FF"/>
                </a:solidFill>
              </a:rPr>
              <a:t>②</a:t>
            </a:r>
            <a:endParaRPr lang="ko-KR" altLang="en-US" sz="900" b="1" dirty="0">
              <a:solidFill>
                <a:srgbClr val="0066FF"/>
              </a:solidFill>
            </a:endParaRPr>
          </a:p>
        </p:txBody>
      </p:sp>
      <p:sp>
        <p:nvSpPr>
          <p:cNvPr id="337" name="TextBox 336"/>
          <p:cNvSpPr txBox="1"/>
          <p:nvPr/>
        </p:nvSpPr>
        <p:spPr>
          <a:xfrm>
            <a:off x="9683633" y="3689264"/>
            <a:ext cx="291597" cy="230832"/>
          </a:xfrm>
          <a:prstGeom prst="rect">
            <a:avLst/>
          </a:prstGeom>
          <a:noFill/>
        </p:spPr>
        <p:txBody>
          <a:bodyPr wrap="square" rtlCol="0">
            <a:spAutoFit/>
          </a:bodyPr>
          <a:lstStyle/>
          <a:p>
            <a:r>
              <a:rPr lang="en-US" altLang="ko-KR" sz="900" b="1" dirty="0">
                <a:solidFill>
                  <a:srgbClr val="0066FF"/>
                </a:solidFill>
              </a:rPr>
              <a:t>②</a:t>
            </a:r>
            <a:endParaRPr lang="ko-KR" altLang="en-US" sz="900" b="1" dirty="0">
              <a:solidFill>
                <a:srgbClr val="0066FF"/>
              </a:solidFill>
            </a:endParaRPr>
          </a:p>
        </p:txBody>
      </p:sp>
      <p:sp>
        <p:nvSpPr>
          <p:cNvPr id="338" name="TextBox 337"/>
          <p:cNvSpPr txBox="1"/>
          <p:nvPr/>
        </p:nvSpPr>
        <p:spPr>
          <a:xfrm>
            <a:off x="7975277" y="2786676"/>
            <a:ext cx="291597" cy="230832"/>
          </a:xfrm>
          <a:prstGeom prst="rect">
            <a:avLst/>
          </a:prstGeom>
          <a:noFill/>
        </p:spPr>
        <p:txBody>
          <a:bodyPr wrap="square" rtlCol="0">
            <a:spAutoFit/>
          </a:bodyPr>
          <a:lstStyle/>
          <a:p>
            <a:r>
              <a:rPr lang="en-US" altLang="ko-KR" sz="900" b="1" dirty="0">
                <a:solidFill>
                  <a:srgbClr val="0066FF"/>
                </a:solidFill>
              </a:rPr>
              <a:t>③</a:t>
            </a:r>
            <a:endParaRPr lang="ko-KR" altLang="en-US" sz="900" b="1" dirty="0">
              <a:solidFill>
                <a:srgbClr val="0066FF"/>
              </a:solidFill>
            </a:endParaRPr>
          </a:p>
        </p:txBody>
      </p:sp>
      <p:sp>
        <p:nvSpPr>
          <p:cNvPr id="339" name="TextBox 338"/>
          <p:cNvSpPr txBox="1"/>
          <p:nvPr/>
        </p:nvSpPr>
        <p:spPr>
          <a:xfrm>
            <a:off x="10630139" y="4244814"/>
            <a:ext cx="291597" cy="230832"/>
          </a:xfrm>
          <a:prstGeom prst="rect">
            <a:avLst/>
          </a:prstGeom>
          <a:noFill/>
        </p:spPr>
        <p:txBody>
          <a:bodyPr wrap="square" rtlCol="0">
            <a:spAutoFit/>
          </a:bodyPr>
          <a:lstStyle/>
          <a:p>
            <a:r>
              <a:rPr lang="en-US" altLang="ko-KR" sz="900" b="1" dirty="0">
                <a:solidFill>
                  <a:srgbClr val="0066FF"/>
                </a:solidFill>
              </a:rPr>
              <a:t>③</a:t>
            </a:r>
            <a:endParaRPr lang="ko-KR" altLang="en-US" sz="900" b="1" dirty="0">
              <a:solidFill>
                <a:srgbClr val="0066FF"/>
              </a:solidFill>
            </a:endParaRPr>
          </a:p>
        </p:txBody>
      </p:sp>
      <p:cxnSp>
        <p:nvCxnSpPr>
          <p:cNvPr id="340" name="직선 화살표 연결선 339"/>
          <p:cNvCxnSpPr>
            <a:stCxn id="225" idx="0"/>
            <a:endCxn id="253" idx="1"/>
          </p:cNvCxnSpPr>
          <p:nvPr/>
        </p:nvCxnSpPr>
        <p:spPr>
          <a:xfrm rot="5400000" flipH="1" flipV="1">
            <a:off x="2367081" y="3886957"/>
            <a:ext cx="405201" cy="259731"/>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1" name="TextBox 340"/>
          <p:cNvSpPr txBox="1"/>
          <p:nvPr/>
        </p:nvSpPr>
        <p:spPr>
          <a:xfrm>
            <a:off x="2432507" y="3778891"/>
            <a:ext cx="290136" cy="246221"/>
          </a:xfrm>
          <a:prstGeom prst="rect">
            <a:avLst/>
          </a:prstGeom>
          <a:noFill/>
        </p:spPr>
        <p:txBody>
          <a:bodyPr wrap="square" rtlCol="0">
            <a:spAutoFit/>
          </a:bodyPr>
          <a:lstStyle/>
          <a:p>
            <a:r>
              <a:rPr lang="en-US" altLang="ko-KR" sz="1000" b="1" dirty="0">
                <a:solidFill>
                  <a:srgbClr val="0066FF"/>
                </a:solidFill>
              </a:rPr>
              <a:t>③</a:t>
            </a:r>
            <a:endParaRPr lang="ko-KR" altLang="en-US" sz="1000" b="1" dirty="0">
              <a:solidFill>
                <a:srgbClr val="0066FF"/>
              </a:solidFill>
            </a:endParaRPr>
          </a:p>
        </p:txBody>
      </p:sp>
      <p:sp>
        <p:nvSpPr>
          <p:cNvPr id="342" name="TextBox 341"/>
          <p:cNvSpPr txBox="1"/>
          <p:nvPr/>
        </p:nvSpPr>
        <p:spPr>
          <a:xfrm>
            <a:off x="5297870" y="3594683"/>
            <a:ext cx="290136" cy="230832"/>
          </a:xfrm>
          <a:prstGeom prst="rect">
            <a:avLst/>
          </a:prstGeom>
          <a:noFill/>
        </p:spPr>
        <p:txBody>
          <a:bodyPr wrap="square" rtlCol="0">
            <a:spAutoFit/>
          </a:bodyPr>
          <a:lstStyle/>
          <a:p>
            <a:r>
              <a:rPr lang="en-US" altLang="ko-KR" sz="900" b="1" dirty="0">
                <a:solidFill>
                  <a:srgbClr val="0066FF"/>
                </a:solidFill>
              </a:rPr>
              <a:t>③</a:t>
            </a:r>
            <a:endParaRPr lang="ko-KR" altLang="en-US" sz="900" b="1" dirty="0">
              <a:solidFill>
                <a:srgbClr val="0066FF"/>
              </a:solidFill>
            </a:endParaRPr>
          </a:p>
        </p:txBody>
      </p:sp>
      <p:sp>
        <p:nvSpPr>
          <p:cNvPr id="343" name="TextBox 342"/>
          <p:cNvSpPr txBox="1"/>
          <p:nvPr/>
        </p:nvSpPr>
        <p:spPr>
          <a:xfrm>
            <a:off x="5378372" y="4272637"/>
            <a:ext cx="290136" cy="230832"/>
          </a:xfrm>
          <a:prstGeom prst="rect">
            <a:avLst/>
          </a:prstGeom>
          <a:noFill/>
        </p:spPr>
        <p:txBody>
          <a:bodyPr wrap="square" rtlCol="0">
            <a:spAutoFit/>
          </a:bodyPr>
          <a:lstStyle/>
          <a:p>
            <a:r>
              <a:rPr lang="en-US" altLang="ko-KR" sz="900" b="1" dirty="0">
                <a:solidFill>
                  <a:srgbClr val="0066FF"/>
                </a:solidFill>
              </a:rPr>
              <a:t>④</a:t>
            </a:r>
            <a:endParaRPr lang="ko-KR" altLang="en-US" sz="900" b="1" dirty="0">
              <a:solidFill>
                <a:srgbClr val="0066FF"/>
              </a:solidFill>
            </a:endParaRPr>
          </a:p>
        </p:txBody>
      </p:sp>
      <p:sp>
        <p:nvSpPr>
          <p:cNvPr id="345" name="TextBox 344"/>
          <p:cNvSpPr txBox="1"/>
          <p:nvPr/>
        </p:nvSpPr>
        <p:spPr>
          <a:xfrm>
            <a:off x="2599294" y="2651750"/>
            <a:ext cx="290136" cy="246221"/>
          </a:xfrm>
          <a:prstGeom prst="rect">
            <a:avLst/>
          </a:prstGeom>
          <a:noFill/>
        </p:spPr>
        <p:txBody>
          <a:bodyPr wrap="square" rtlCol="0">
            <a:spAutoFit/>
          </a:bodyPr>
          <a:lstStyle/>
          <a:p>
            <a:r>
              <a:rPr lang="en-US" altLang="ko-KR" sz="1000" b="1" dirty="0">
                <a:solidFill>
                  <a:srgbClr val="0066FF"/>
                </a:solidFill>
              </a:rPr>
              <a:t>④</a:t>
            </a:r>
            <a:endParaRPr lang="ko-KR" altLang="en-US" sz="1000" b="1" dirty="0">
              <a:solidFill>
                <a:srgbClr val="0066FF"/>
              </a:solidFill>
            </a:endParaRPr>
          </a:p>
        </p:txBody>
      </p:sp>
    </p:spTree>
    <p:extLst>
      <p:ext uri="{BB962C8B-B14F-4D97-AF65-F5344CB8AC3E}">
        <p14:creationId xmlns:p14="http://schemas.microsoft.com/office/powerpoint/2010/main" val="2638816192"/>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제목 2"/>
          <p:cNvSpPr>
            <a:spLocks noGrp="1"/>
          </p:cNvSpPr>
          <p:nvPr>
            <p:ph type="title"/>
          </p:nvPr>
        </p:nvSpPr>
        <p:spPr>
          <a:xfrm>
            <a:off x="234949" y="137379"/>
            <a:ext cx="8128859" cy="365125"/>
          </a:xfrm>
        </p:spPr>
        <p:txBody>
          <a:bodyPr/>
          <a:lstStyle/>
          <a:p>
            <a:r>
              <a:rPr lang="en-US" altLang="ko-KR" dirty="0"/>
              <a:t>DP0. 요청 조율 구조 - 요구사항</a:t>
            </a:r>
            <a:endParaRPr lang="en-US" altLang="ko-KR" dirty="0"/>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Rectangle 101"/>
          <p:cNvSpPr/>
          <p:nvPr/>
        </p:nvSpPr>
        <p:spPr>
          <a:xfrm>
            <a:off x="320040" y="932688"/>
            <a:ext cx="4343400" cy="4754880"/>
          </a:xfrm>
          <a:prstGeom prst="rect">
            <a:avLst/>
          </a:prstGeom>
          <a:solidFill>
            <a:srgbClr val="FFFFFF"/>
          </a:solidFill>
          <a:ln w="15875">
            <a:solidFill>
              <a:srgbClr val="1F4E7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03" name="Rounded Rectangle 102"/>
          <p:cNvSpPr/>
          <p:nvPr/>
        </p:nvSpPr>
        <p:spPr>
          <a:xfrm>
            <a:off x="429768" y="886968"/>
            <a:ext cx="4123944" cy="274320"/>
          </a:xfrm>
          <a:prstGeom prst="roundRect">
            <a:avLst>
              <a:gd name="adj" fmla="val 50000"/>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000" b="1" i="0">
                <a:solidFill>
                  <a:srgbClr val="FFFFFF"/>
                </a:solidFill>
                <a:latin typeface="맑은 고딕"/>
                <a:ea typeface="맑은 고딕"/>
              </a:rPr>
              <a:t>기능 요구사항 (무엇을 해야 하나)  F1~F6</a:t>
            </a:r>
          </a:p>
        </p:txBody>
      </p:sp>
      <p:sp>
        <p:nvSpPr>
          <p:cNvPr id="104" name="Rectangle 103"/>
          <p:cNvSpPr/>
          <p:nvPr/>
        </p:nvSpPr>
        <p:spPr>
          <a:xfrm>
            <a:off x="4754880" y="932688"/>
            <a:ext cx="3611880" cy="4754880"/>
          </a:xfrm>
          <a:prstGeom prst="rect">
            <a:avLst/>
          </a:prstGeom>
          <a:solidFill>
            <a:srgbClr val="FFFFFF"/>
          </a:solidFill>
          <a:ln w="15875">
            <a:solidFill>
              <a:srgbClr val="843C0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05" name="Rounded Rectangle 104"/>
          <p:cNvSpPr/>
          <p:nvPr/>
        </p:nvSpPr>
        <p:spPr>
          <a:xfrm>
            <a:off x="4864608" y="886968"/>
            <a:ext cx="3392424" cy="274320"/>
          </a:xfrm>
          <a:prstGeom prst="roundRect">
            <a:avLst>
              <a:gd name="adj" fmla="val 50000"/>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000" b="1" i="0">
                <a:solidFill>
                  <a:srgbClr val="FFFFFF"/>
                </a:solidFill>
                <a:latin typeface="맑은 고딕"/>
                <a:ea typeface="맑은 고딕"/>
              </a:rPr>
              <a:t>품질 속성 QA (얼마나 잘 해야 하나)  Q1~Q4</a:t>
            </a:r>
          </a:p>
        </p:txBody>
      </p:sp>
      <p:sp>
        <p:nvSpPr>
          <p:cNvPr id="106" name="Rectangle 105"/>
          <p:cNvSpPr/>
          <p:nvPr/>
        </p:nvSpPr>
        <p:spPr>
          <a:xfrm>
            <a:off x="8458200" y="932688"/>
            <a:ext cx="3410712" cy="4754880"/>
          </a:xfrm>
          <a:prstGeom prst="rect">
            <a:avLst/>
          </a:prstGeom>
          <a:solidFill>
            <a:srgbClr val="FFFFFF"/>
          </a:solidFill>
          <a:ln w="15875">
            <a:solidFill>
              <a:srgbClr val="37562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07" name="Rounded Rectangle 106"/>
          <p:cNvSpPr/>
          <p:nvPr/>
        </p:nvSpPr>
        <p:spPr>
          <a:xfrm>
            <a:off x="8567928" y="886968"/>
            <a:ext cx="3191256" cy="274320"/>
          </a:xfrm>
          <a:prstGeom prst="roundRect">
            <a:avLst>
              <a:gd name="adj" fmla="val 50000"/>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000" b="1" i="0">
                <a:solidFill>
                  <a:srgbClr val="FFFFFF"/>
                </a:solidFill>
                <a:latin typeface="맑은 고딕"/>
                <a:ea typeface="맑은 고딕"/>
              </a:rPr>
              <a:t>제약사항 (지켜야 하는 조건)  C1~C6</a:t>
            </a:r>
          </a:p>
        </p:txBody>
      </p:sp>
      <p:sp>
        <p:nvSpPr>
          <p:cNvPr id="108" name="Rectangle 107"/>
          <p:cNvSpPr/>
          <p:nvPr/>
        </p:nvSpPr>
        <p:spPr>
          <a:xfrm>
            <a:off x="429768" y="1298448"/>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09" name="Rectangle 108"/>
          <p:cNvSpPr/>
          <p:nvPr/>
        </p:nvSpPr>
        <p:spPr>
          <a:xfrm>
            <a:off x="429768" y="1298448"/>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F1</a:t>
            </a:r>
          </a:p>
        </p:txBody>
      </p:sp>
      <p:sp>
        <p:nvSpPr>
          <p:cNvPr id="110" name="TextBox 109"/>
          <p:cNvSpPr txBox="1"/>
          <p:nvPr/>
        </p:nvSpPr>
        <p:spPr>
          <a:xfrm>
            <a:off x="896112" y="1307592"/>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요청 라우팅</a:t>
            </a:r>
          </a:p>
          <a:p>
            <a:pPr algn="l">
              <a:lnSpc>
                <a:spcPct val="95000"/>
              </a:lnSpc>
            </a:pPr>
            <a:r>
              <a:rPr sz="800" b="0" i="0">
                <a:solidFill>
                  <a:srgbClr val="262626"/>
                </a:solidFill>
                <a:latin typeface="맑은 고딕"/>
                <a:ea typeface="맑은 고딕"/>
              </a:rPr>
              <a:t>요청을 처리할 서버(vLLM 인스턴스) 고르기 - 서버별 KV 캐시 보유 위치·부하 반영</a:t>
            </a:r>
          </a:p>
        </p:txBody>
      </p:sp>
      <p:sp>
        <p:nvSpPr>
          <p:cNvPr id="111" name="Rounded Rectangle 110"/>
          <p:cNvSpPr/>
          <p:nvPr/>
        </p:nvSpPr>
        <p:spPr>
          <a:xfrm>
            <a:off x="3968496" y="1495043"/>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50" b="1" i="0">
                <a:solidFill>
                  <a:srgbClr val="1F4E79"/>
                </a:solidFill>
                <a:latin typeface="맑은 고딕"/>
                <a:ea typeface="맑은 고딕"/>
              </a:rPr>
              <a:t>B 결정</a:t>
            </a:r>
          </a:p>
        </p:txBody>
      </p:sp>
      <p:sp>
        <p:nvSpPr>
          <p:cNvPr id="112" name="Rectangle 111"/>
          <p:cNvSpPr/>
          <p:nvPr/>
        </p:nvSpPr>
        <p:spPr>
          <a:xfrm>
            <a:off x="429768" y="1993391"/>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3" name="Rectangle 112"/>
          <p:cNvSpPr/>
          <p:nvPr/>
        </p:nvSpPr>
        <p:spPr>
          <a:xfrm>
            <a:off x="429768" y="1993391"/>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F2</a:t>
            </a:r>
          </a:p>
        </p:txBody>
      </p:sp>
      <p:sp>
        <p:nvSpPr>
          <p:cNvPr id="114" name="TextBox 113"/>
          <p:cNvSpPr txBox="1"/>
          <p:nvPr/>
        </p:nvSpPr>
        <p:spPr>
          <a:xfrm>
            <a:off x="896112" y="2002535"/>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메모리 상태 수집</a:t>
            </a:r>
          </a:p>
          <a:p>
            <a:pPr algn="l">
              <a:lnSpc>
                <a:spcPct val="95000"/>
              </a:lnSpc>
            </a:pPr>
            <a:r>
              <a:rPr sz="800" b="0" i="0">
                <a:solidFill>
                  <a:srgbClr val="262626"/>
                </a:solidFill>
                <a:latin typeface="맑은 고딕"/>
                <a:ea typeface="맑은 고딕"/>
              </a:rPr>
              <a:t>서버가 알려 주는 KV 캐시 위치·메모리 사용량 수집, 신규 메모리(CXL·HBF) 구분</a:t>
            </a:r>
          </a:p>
        </p:txBody>
      </p:sp>
      <p:sp>
        <p:nvSpPr>
          <p:cNvPr id="115" name="Rounded Rectangle 114"/>
          <p:cNvSpPr/>
          <p:nvPr/>
        </p:nvSpPr>
        <p:spPr>
          <a:xfrm>
            <a:off x="3968496" y="2189987"/>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50" b="1" i="0">
                <a:solidFill>
                  <a:srgbClr val="1F4E79"/>
                </a:solidFill>
                <a:latin typeface="맑은 고딕"/>
                <a:ea typeface="맑은 고딕"/>
              </a:rPr>
              <a:t>C 수집</a:t>
            </a:r>
          </a:p>
        </p:txBody>
      </p:sp>
      <p:sp>
        <p:nvSpPr>
          <p:cNvPr id="116" name="Rectangle 115"/>
          <p:cNvSpPr/>
          <p:nvPr/>
        </p:nvSpPr>
        <p:spPr>
          <a:xfrm>
            <a:off x="429768" y="2688336"/>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17" name="Rectangle 116"/>
          <p:cNvSpPr/>
          <p:nvPr/>
        </p:nvSpPr>
        <p:spPr>
          <a:xfrm>
            <a:off x="429768" y="2688336"/>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F3</a:t>
            </a:r>
          </a:p>
        </p:txBody>
      </p:sp>
      <p:sp>
        <p:nvSpPr>
          <p:cNvPr id="118" name="TextBox 117"/>
          <p:cNvSpPr txBox="1"/>
          <p:nvPr/>
        </p:nvSpPr>
        <p:spPr>
          <a:xfrm>
            <a:off x="896112" y="2697479"/>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Prefill/Decode(P/D) 분리 결정</a:t>
            </a:r>
          </a:p>
          <a:p>
            <a:pPr algn="l">
              <a:lnSpc>
                <a:spcPct val="95000"/>
              </a:lnSpc>
            </a:pPr>
            <a:r>
              <a:rPr sz="800" b="0" i="0">
                <a:solidFill>
                  <a:srgbClr val="262626"/>
                </a:solidFill>
                <a:latin typeface="맑은 고딕"/>
                <a:ea typeface="맑은 고딕"/>
              </a:rPr>
              <a:t>입력 처리(Prefill)와 응답 생성(Decode)을 서버 나눠 실행할지 결정, KV 전송 정보 전달</a:t>
            </a:r>
          </a:p>
        </p:txBody>
      </p:sp>
      <p:sp>
        <p:nvSpPr>
          <p:cNvPr id="119" name="Rounded Rectangle 118"/>
          <p:cNvSpPr/>
          <p:nvPr/>
        </p:nvSpPr>
        <p:spPr>
          <a:xfrm>
            <a:off x="3968496" y="2884932"/>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50" b="1" i="0">
                <a:solidFill>
                  <a:srgbClr val="1F4E79"/>
                </a:solidFill>
                <a:latin typeface="맑은 고딕"/>
                <a:ea typeface="맑은 고딕"/>
              </a:rPr>
              <a:t>B·E 조율</a:t>
            </a:r>
          </a:p>
        </p:txBody>
      </p:sp>
      <p:sp>
        <p:nvSpPr>
          <p:cNvPr id="120" name="Rectangle 119"/>
          <p:cNvSpPr/>
          <p:nvPr/>
        </p:nvSpPr>
        <p:spPr>
          <a:xfrm>
            <a:off x="429768" y="3383280"/>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1" name="Rectangle 120"/>
          <p:cNvSpPr/>
          <p:nvPr/>
        </p:nvSpPr>
        <p:spPr>
          <a:xfrm>
            <a:off x="429768" y="3383280"/>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F4</a:t>
            </a:r>
          </a:p>
        </p:txBody>
      </p:sp>
      <p:sp>
        <p:nvSpPr>
          <p:cNvPr id="122" name="TextBox 121"/>
          <p:cNvSpPr txBox="1"/>
          <p:nvPr/>
        </p:nvSpPr>
        <p:spPr>
          <a:xfrm>
            <a:off x="896112" y="3392424"/>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요청별 서버 지시</a:t>
            </a:r>
          </a:p>
          <a:p>
            <a:pPr algn="l">
              <a:lnSpc>
                <a:spcPct val="95000"/>
              </a:lnSpc>
            </a:pPr>
            <a:r>
              <a:rPr sz="800" b="0" i="0">
                <a:solidFill>
                  <a:srgbClr val="262626"/>
                </a:solidFill>
                <a:latin typeface="맑은 고딕"/>
                <a:ea typeface="맑은 고딕"/>
              </a:rPr>
              <a:t>서버에 "KV를 어느 메모리에서 몇 토큰까지 불러올지" 지시 전달</a:t>
            </a:r>
          </a:p>
        </p:txBody>
      </p:sp>
      <p:sp>
        <p:nvSpPr>
          <p:cNvPr id="123" name="Rounded Rectangle 122"/>
          <p:cNvSpPr/>
          <p:nvPr/>
        </p:nvSpPr>
        <p:spPr>
          <a:xfrm>
            <a:off x="3968496" y="3579876"/>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50" b="1" i="0">
                <a:solidFill>
                  <a:srgbClr val="1F4E79"/>
                </a:solidFill>
                <a:latin typeface="맑은 고딕"/>
                <a:ea typeface="맑은 고딕"/>
              </a:rPr>
              <a:t>E 조율</a:t>
            </a:r>
          </a:p>
        </p:txBody>
      </p:sp>
      <p:sp>
        <p:nvSpPr>
          <p:cNvPr id="124" name="Rectangle 123"/>
          <p:cNvSpPr/>
          <p:nvPr/>
        </p:nvSpPr>
        <p:spPr>
          <a:xfrm>
            <a:off x="429768" y="4078224"/>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5" name="Rectangle 124"/>
          <p:cNvSpPr/>
          <p:nvPr/>
        </p:nvSpPr>
        <p:spPr>
          <a:xfrm>
            <a:off x="429768" y="4078224"/>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F5</a:t>
            </a:r>
          </a:p>
        </p:txBody>
      </p:sp>
      <p:sp>
        <p:nvSpPr>
          <p:cNvPr id="126" name="TextBox 125"/>
          <p:cNvSpPr txBox="1"/>
          <p:nvPr/>
        </p:nvSpPr>
        <p:spPr>
          <a:xfrm>
            <a:off x="896112" y="4087368"/>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흐름 제어</a:t>
            </a:r>
          </a:p>
          <a:p>
            <a:pPr algn="l">
              <a:lnSpc>
                <a:spcPct val="95000"/>
              </a:lnSpc>
            </a:pPr>
            <a:r>
              <a:rPr sz="800" b="0" i="0">
                <a:solidFill>
                  <a:srgbClr val="262626"/>
                </a:solidFill>
                <a:latin typeface="맑은 고딕"/>
                <a:ea typeface="맑은 고딕"/>
              </a:rPr>
              <a:t>과부하 시 요청 대기·우선순위·거절로 서비스 목표(SLO) 유지</a:t>
            </a:r>
          </a:p>
        </p:txBody>
      </p:sp>
      <p:sp>
        <p:nvSpPr>
          <p:cNvPr id="127" name="Rounded Rectangle 126"/>
          <p:cNvSpPr/>
          <p:nvPr/>
        </p:nvSpPr>
        <p:spPr>
          <a:xfrm>
            <a:off x="3968496" y="4274820"/>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50" b="1" i="0">
                <a:solidFill>
                  <a:srgbClr val="1F4E79"/>
                </a:solidFill>
                <a:latin typeface="맑은 고딕"/>
                <a:ea typeface="맑은 고딕"/>
              </a:rPr>
              <a:t>D 흐름</a:t>
            </a:r>
          </a:p>
        </p:txBody>
      </p:sp>
      <p:sp>
        <p:nvSpPr>
          <p:cNvPr id="128" name="Rectangle 127"/>
          <p:cNvSpPr/>
          <p:nvPr/>
        </p:nvSpPr>
        <p:spPr>
          <a:xfrm>
            <a:off x="429768" y="4773168"/>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29" name="Rectangle 128"/>
          <p:cNvSpPr/>
          <p:nvPr/>
        </p:nvSpPr>
        <p:spPr>
          <a:xfrm>
            <a:off x="429768" y="4773168"/>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F6</a:t>
            </a:r>
          </a:p>
        </p:txBody>
      </p:sp>
      <p:sp>
        <p:nvSpPr>
          <p:cNvPr id="130" name="TextBox 129"/>
          <p:cNvSpPr txBox="1"/>
          <p:nvPr/>
        </p:nvSpPr>
        <p:spPr>
          <a:xfrm>
            <a:off x="896112" y="4782312"/>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서버 발견·확장</a:t>
            </a:r>
          </a:p>
          <a:p>
            <a:pPr algn="l">
              <a:lnSpc>
                <a:spcPct val="95000"/>
              </a:lnSpc>
            </a:pPr>
            <a:r>
              <a:rPr sz="800" b="0" i="0">
                <a:solidFill>
                  <a:srgbClr val="262626"/>
                </a:solidFill>
                <a:latin typeface="맑은 고딕"/>
                <a:ea typeface="맑은 고딕"/>
              </a:rPr>
              <a:t>서버가 추가·제거되면 자동 감지해 요청 대상에 반영</a:t>
            </a:r>
          </a:p>
        </p:txBody>
      </p:sp>
      <p:sp>
        <p:nvSpPr>
          <p:cNvPr id="131" name="Rounded Rectangle 130"/>
          <p:cNvSpPr/>
          <p:nvPr/>
        </p:nvSpPr>
        <p:spPr>
          <a:xfrm>
            <a:off x="3968496" y="4969764"/>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750" b="1" i="0">
                <a:solidFill>
                  <a:srgbClr val="1F4E79"/>
                </a:solidFill>
                <a:latin typeface="맑은 고딕"/>
                <a:ea typeface="맑은 고딕"/>
              </a:rPr>
              <a:t>F 발견</a:t>
            </a:r>
          </a:p>
        </p:txBody>
      </p:sp>
      <p:sp>
        <p:nvSpPr>
          <p:cNvPr id="132" name="TextBox 131"/>
          <p:cNvSpPr txBox="1"/>
          <p:nvPr/>
        </p:nvSpPr>
        <p:spPr>
          <a:xfrm>
            <a:off x="429768" y="5440680"/>
            <a:ext cx="4123944" cy="27432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A 요청 경로(수신·중계)는 모든 F의 전제. llm-d 기본 제공: F5·F6, F1~F3 기본형</a:t>
            </a:r>
          </a:p>
        </p:txBody>
      </p:sp>
      <p:sp>
        <p:nvSpPr>
          <p:cNvPr id="133" name="Rectangle 132"/>
          <p:cNvSpPr/>
          <p:nvPr/>
        </p:nvSpPr>
        <p:spPr>
          <a:xfrm>
            <a:off x="4864608" y="1298448"/>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34" name="Rectangle 133"/>
          <p:cNvSpPr/>
          <p:nvPr/>
        </p:nvSpPr>
        <p:spPr>
          <a:xfrm>
            <a:off x="4864608" y="1298448"/>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Q1</a:t>
            </a:r>
          </a:p>
        </p:txBody>
      </p:sp>
      <p:sp>
        <p:nvSpPr>
          <p:cNvPr id="135" name="TextBox 134"/>
          <p:cNvSpPr txBox="1"/>
          <p:nvPr/>
        </p:nvSpPr>
        <p:spPr>
          <a:xfrm>
            <a:off x="5330952" y="1307592"/>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처리량 (Throughput)</a:t>
            </a:r>
          </a:p>
          <a:p>
            <a:pPr algn="l">
              <a:lnSpc>
                <a:spcPct val="95000"/>
              </a:lnSpc>
            </a:pPr>
            <a:r>
              <a:rPr sz="800" b="0" i="0">
                <a:solidFill>
                  <a:srgbClr val="262626"/>
                </a:solidFill>
                <a:latin typeface="맑은 고딕"/>
                <a:ea typeface="맑은 고딕"/>
              </a:rPr>
              <a:t>지표: SLO를 지키는 최대 처리량 (Goodput)</a:t>
            </a:r>
          </a:p>
          <a:p>
            <a:pPr algn="l">
              <a:lnSpc>
                <a:spcPct val="95000"/>
              </a:lnSpc>
            </a:pPr>
            <a:r>
              <a:rPr sz="800" b="0" i="0">
                <a:solidFill>
                  <a:srgbClr val="262626"/>
                </a:solidFill>
                <a:latin typeface="맑은 고딕"/>
                <a:ea typeface="맑은 고딕"/>
              </a:rPr>
              <a:t>목표: OSS 기본 설정 대비 향상 (수치는 측정 후 확정)</a:t>
            </a:r>
          </a:p>
        </p:txBody>
      </p:sp>
      <p:sp>
        <p:nvSpPr>
          <p:cNvPr id="136" name="Rectangle 135"/>
          <p:cNvSpPr/>
          <p:nvPr/>
        </p:nvSpPr>
        <p:spPr>
          <a:xfrm>
            <a:off x="4864608" y="2139696"/>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37" name="Rectangle 136"/>
          <p:cNvSpPr/>
          <p:nvPr/>
        </p:nvSpPr>
        <p:spPr>
          <a:xfrm>
            <a:off x="4864608" y="2139696"/>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Q2</a:t>
            </a:r>
          </a:p>
        </p:txBody>
      </p:sp>
      <p:sp>
        <p:nvSpPr>
          <p:cNvPr id="138" name="TextBox 137"/>
          <p:cNvSpPr txBox="1"/>
          <p:nvPr/>
        </p:nvSpPr>
        <p:spPr>
          <a:xfrm>
            <a:off x="5330952" y="2148839"/>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응답 지연 (Latency)</a:t>
            </a:r>
          </a:p>
          <a:p>
            <a:pPr algn="l">
              <a:lnSpc>
                <a:spcPct val="95000"/>
              </a:lnSpc>
            </a:pPr>
            <a:r>
              <a:rPr sz="800" b="0" i="0">
                <a:solidFill>
                  <a:srgbClr val="262626"/>
                </a:solidFill>
                <a:latin typeface="맑은 고딕"/>
                <a:ea typeface="맑은 고딕"/>
              </a:rPr>
              <a:t>지표: 첫 응답 시간 (TTFT), 조율 계층 추가 시간</a:t>
            </a:r>
          </a:p>
          <a:p>
            <a:pPr algn="l">
              <a:lnSpc>
                <a:spcPct val="95000"/>
              </a:lnSpc>
            </a:pPr>
            <a:r>
              <a:rPr sz="800" b="0" i="0">
                <a:solidFill>
                  <a:srgbClr val="262626"/>
                </a:solidFill>
                <a:latin typeface="맑은 고딕"/>
                <a:ea typeface="맑은 고딕"/>
              </a:rPr>
              <a:t>목표: 추가 시간이 허용 한도 이내 (한도는 측정 후 확정)</a:t>
            </a:r>
          </a:p>
        </p:txBody>
      </p:sp>
      <p:sp>
        <p:nvSpPr>
          <p:cNvPr id="139" name="Rectangle 138"/>
          <p:cNvSpPr/>
          <p:nvPr/>
        </p:nvSpPr>
        <p:spPr>
          <a:xfrm>
            <a:off x="4864608" y="2980944"/>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40" name="Rectangle 139"/>
          <p:cNvSpPr/>
          <p:nvPr/>
        </p:nvSpPr>
        <p:spPr>
          <a:xfrm>
            <a:off x="4864608" y="2980944"/>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Q3</a:t>
            </a:r>
          </a:p>
        </p:txBody>
      </p:sp>
      <p:sp>
        <p:nvSpPr>
          <p:cNvPr id="141" name="TextBox 140"/>
          <p:cNvSpPr txBox="1"/>
          <p:nvPr/>
        </p:nvSpPr>
        <p:spPr>
          <a:xfrm>
            <a:off x="5330952" y="2990087"/>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변경 용이성 (Modifiability)</a:t>
            </a:r>
          </a:p>
          <a:p>
            <a:pPr algn="l">
              <a:lnSpc>
                <a:spcPct val="95000"/>
              </a:lnSpc>
            </a:pPr>
            <a:r>
              <a:rPr sz="800" b="0" i="0">
                <a:solidFill>
                  <a:srgbClr val="262626"/>
                </a:solidFill>
                <a:latin typeface="맑은 고딕"/>
                <a:ea typeface="맑은 고딕"/>
              </a:rPr>
              <a:t>지표: 새 메모리·정책 추가 시 변경 범위 (수정 모듈 수 등)</a:t>
            </a:r>
          </a:p>
          <a:p>
            <a:pPr algn="l">
              <a:lnSpc>
                <a:spcPct val="95000"/>
              </a:lnSpc>
            </a:pPr>
            <a:r>
              <a:rPr sz="800" b="0" i="0">
                <a:solidFill>
                  <a:srgbClr val="262626"/>
                </a:solidFill>
                <a:latin typeface="맑은 고딕"/>
                <a:ea typeface="맑은 고딕"/>
              </a:rPr>
              <a:t>목표: 새 메모리는 설정만, 새 정책은 확장 모듈(plugin)로</a:t>
            </a:r>
          </a:p>
        </p:txBody>
      </p:sp>
      <p:sp>
        <p:nvSpPr>
          <p:cNvPr id="142" name="Rectangle 141"/>
          <p:cNvSpPr/>
          <p:nvPr/>
        </p:nvSpPr>
        <p:spPr>
          <a:xfrm>
            <a:off x="4864608" y="3822191"/>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43" name="Rectangle 142"/>
          <p:cNvSpPr/>
          <p:nvPr/>
        </p:nvSpPr>
        <p:spPr>
          <a:xfrm>
            <a:off x="4864608" y="3822191"/>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Q4</a:t>
            </a:r>
          </a:p>
        </p:txBody>
      </p:sp>
      <p:sp>
        <p:nvSpPr>
          <p:cNvPr id="144" name="TextBox 143"/>
          <p:cNvSpPr txBox="1"/>
          <p:nvPr/>
        </p:nvSpPr>
        <p:spPr>
          <a:xfrm>
            <a:off x="5330952" y="3831335"/>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확장성 (Scalability)</a:t>
            </a:r>
          </a:p>
          <a:p>
            <a:pPr algn="l">
              <a:lnSpc>
                <a:spcPct val="95000"/>
              </a:lnSpc>
            </a:pPr>
            <a:r>
              <a:rPr sz="800" b="0" i="0">
                <a:solidFill>
                  <a:srgbClr val="262626"/>
                </a:solidFill>
                <a:latin typeface="맑은 고딕"/>
                <a:ea typeface="맑은 고딕"/>
              </a:rPr>
              <a:t>지표: 서버 N배 시 처리량이 N배의 몇 %</a:t>
            </a:r>
          </a:p>
          <a:p>
            <a:pPr algn="l">
              <a:lnSpc>
                <a:spcPct val="95000"/>
              </a:lnSpc>
            </a:pPr>
            <a:r>
              <a:rPr sz="800" b="0" i="0">
                <a:solidFill>
                  <a:srgbClr val="262626"/>
                </a:solidFill>
                <a:latin typeface="맑은 고딕"/>
                <a:ea typeface="맑은 고딕"/>
              </a:rPr>
              <a:t>목표: 병목 없이 확장 (분석·시뮬레이션)</a:t>
            </a:r>
          </a:p>
        </p:txBody>
      </p:sp>
      <p:sp>
        <p:nvSpPr>
          <p:cNvPr id="145" name="Rectangle 144"/>
          <p:cNvSpPr/>
          <p:nvPr/>
        </p:nvSpPr>
        <p:spPr>
          <a:xfrm>
            <a:off x="4864608" y="4681727"/>
            <a:ext cx="3392424" cy="914400"/>
          </a:xfrm>
          <a:prstGeom prst="rect">
            <a:avLst/>
          </a:prstGeom>
          <a:solidFill>
            <a:srgbClr val="F2F2F2"/>
          </a:solidFill>
          <a:ln w="952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tIns="27432" rIns="54864" bIns="27432"/>
          <a:lstStyle/>
          <a:p>
            <a:pPr algn="l">
              <a:lnSpc>
                <a:spcPct val="95000"/>
              </a:lnSpc>
            </a:pPr>
            <a:r>
              <a:rPr sz="850" b="1" i="0">
                <a:solidFill>
                  <a:srgbClr val="404040"/>
                </a:solidFill>
                <a:latin typeface="맑은 고딕"/>
                <a:ea typeface="맑은 고딕"/>
              </a:rPr>
              <a:t>제외한 QA 2개</a:t>
            </a:r>
          </a:p>
          <a:p>
            <a:pPr algn="l">
              <a:lnSpc>
                <a:spcPct val="95000"/>
              </a:lnSpc>
            </a:pPr>
            <a:r>
              <a:rPr sz="750" b="0" i="0">
                <a:solidFill>
                  <a:srgbClr val="000000"/>
                </a:solidFill>
                <a:latin typeface="맑은 고딕"/>
                <a:ea typeface="맑은 고딕"/>
              </a:rPr>
              <a:t>· Resource Utilization: 라우팅 품질의 결과라 Q1과 같은 원인 → 독립 판별력 없음, 로그로만 기록</a:t>
            </a:r>
          </a:p>
          <a:p>
            <a:pPr algn="l">
              <a:lnSpc>
                <a:spcPct val="95000"/>
              </a:lnSpc>
            </a:pPr>
            <a:r>
              <a:rPr sz="750" b="0" i="0">
                <a:solidFill>
                  <a:srgbClr val="000000"/>
                </a:solidFill>
                <a:latin typeface="맑은 고딕"/>
                <a:ea typeface="맑은 고딕"/>
              </a:rPr>
              <a:t>· Functional Correctness(모델 정확도): 후보 간 차이 없음 → QA 대신 제약 C3로 처리</a:t>
            </a:r>
          </a:p>
        </p:txBody>
      </p:sp>
      <p:sp>
        <p:nvSpPr>
          <p:cNvPr id="146" name="Rectangle 145"/>
          <p:cNvSpPr/>
          <p:nvPr/>
        </p:nvSpPr>
        <p:spPr>
          <a:xfrm>
            <a:off x="8567928" y="1298448"/>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47" name="Rectangle 146"/>
          <p:cNvSpPr/>
          <p:nvPr/>
        </p:nvSpPr>
        <p:spPr>
          <a:xfrm>
            <a:off x="8567928" y="1298448"/>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C1</a:t>
            </a:r>
          </a:p>
        </p:txBody>
      </p:sp>
      <p:sp>
        <p:nvSpPr>
          <p:cNvPr id="148" name="TextBox 147"/>
          <p:cNvSpPr txBox="1"/>
          <p:nvPr/>
        </p:nvSpPr>
        <p:spPr>
          <a:xfrm>
            <a:off x="9034272" y="1307592"/>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추론 엔진은 vLLM으로 고정</a:t>
            </a:r>
          </a:p>
          <a:p>
            <a:pPr algn="l">
              <a:lnSpc>
                <a:spcPct val="95000"/>
              </a:lnSpc>
            </a:pPr>
            <a:r>
              <a:rPr sz="800" b="0" i="0">
                <a:solidFill>
                  <a:srgbClr val="262626"/>
                </a:solidFill>
                <a:latin typeface="맑은 고딕"/>
                <a:ea typeface="맑은 고딕"/>
              </a:rPr>
              <a:t>엔진 교체는 DP가 아닌 전제 조건</a:t>
            </a:r>
          </a:p>
        </p:txBody>
      </p:sp>
      <p:sp>
        <p:nvSpPr>
          <p:cNvPr id="149" name="Rectangle 148"/>
          <p:cNvSpPr/>
          <p:nvPr/>
        </p:nvSpPr>
        <p:spPr>
          <a:xfrm>
            <a:off x="8567928" y="1993391"/>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0" name="Rectangle 149"/>
          <p:cNvSpPr/>
          <p:nvPr/>
        </p:nvSpPr>
        <p:spPr>
          <a:xfrm>
            <a:off x="8567928" y="1993391"/>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C2</a:t>
            </a:r>
          </a:p>
        </p:txBody>
      </p:sp>
      <p:sp>
        <p:nvSpPr>
          <p:cNvPr id="151" name="TextBox 150"/>
          <p:cNvSpPr txBox="1"/>
          <p:nvPr/>
        </p:nvSpPr>
        <p:spPr>
          <a:xfrm>
            <a:off x="9034272" y="2002535"/>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실험 환경: GPU 8장 서버 2대</a:t>
            </a:r>
          </a:p>
          <a:p>
            <a:pPr algn="l">
              <a:lnSpc>
                <a:spcPct val="95000"/>
              </a:lnSpc>
            </a:pPr>
            <a:r>
              <a:rPr sz="800" b="0" i="0">
                <a:solidFill>
                  <a:srgbClr val="262626"/>
                </a:solidFill>
                <a:latin typeface="맑은 고딕"/>
                <a:ea typeface="맑은 고딕"/>
              </a:rPr>
              <a:t>Kubernetes 숙련도 낮음, 서버 간 RDMA 미확인 → Q4는 실측 불가</a:t>
            </a:r>
          </a:p>
        </p:txBody>
      </p:sp>
      <p:sp>
        <p:nvSpPr>
          <p:cNvPr id="152" name="Rectangle 151"/>
          <p:cNvSpPr/>
          <p:nvPr/>
        </p:nvSpPr>
        <p:spPr>
          <a:xfrm>
            <a:off x="8567928" y="2688336"/>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3" name="Rectangle 152"/>
          <p:cNvSpPr/>
          <p:nvPr/>
        </p:nvSpPr>
        <p:spPr>
          <a:xfrm>
            <a:off x="8567928" y="2688336"/>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C3</a:t>
            </a:r>
          </a:p>
        </p:txBody>
      </p:sp>
      <p:sp>
        <p:nvSpPr>
          <p:cNvPr id="154" name="TextBox 153"/>
          <p:cNvSpPr txBox="1"/>
          <p:nvPr/>
        </p:nvSpPr>
        <p:spPr>
          <a:xfrm>
            <a:off x="9034272" y="2697479"/>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정확도 불변 (손실 없음)</a:t>
            </a:r>
          </a:p>
          <a:p>
            <a:pPr algn="l">
              <a:lnSpc>
                <a:spcPct val="95000"/>
              </a:lnSpc>
            </a:pPr>
            <a:r>
              <a:rPr sz="800" b="0" i="0">
                <a:solidFill>
                  <a:srgbClr val="262626"/>
                </a:solidFill>
                <a:latin typeface="맑은 고딕"/>
                <a:ea typeface="맑은 고딕"/>
              </a:rPr>
              <a:t>손실형 압축·근사 적중 금지, 어느 후보든 출력 동일</a:t>
            </a:r>
          </a:p>
        </p:txBody>
      </p:sp>
      <p:sp>
        <p:nvSpPr>
          <p:cNvPr id="155" name="Rectangle 154"/>
          <p:cNvSpPr/>
          <p:nvPr/>
        </p:nvSpPr>
        <p:spPr>
          <a:xfrm>
            <a:off x="8567928" y="3383280"/>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6" name="Rectangle 155"/>
          <p:cNvSpPr/>
          <p:nvPr/>
        </p:nvSpPr>
        <p:spPr>
          <a:xfrm>
            <a:off x="8567928" y="3383280"/>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C4</a:t>
            </a:r>
          </a:p>
        </p:txBody>
      </p:sp>
      <p:sp>
        <p:nvSpPr>
          <p:cNvPr id="157" name="TextBox 156"/>
          <p:cNvSpPr txBox="1"/>
          <p:nvPr/>
        </p:nvSpPr>
        <p:spPr>
          <a:xfrm>
            <a:off x="9034272" y="3392424"/>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OSS 업스트림 추적 가능</a:t>
            </a:r>
          </a:p>
          <a:p>
            <a:pPr algn="l">
              <a:lnSpc>
                <a:spcPct val="95000"/>
              </a:lnSpc>
            </a:pPr>
            <a:r>
              <a:rPr sz="800" b="0" i="0">
                <a:solidFill>
                  <a:srgbClr val="262626"/>
                </a:solidFill>
                <a:latin typeface="맑은 고딕"/>
                <a:ea typeface="맑은 고딕"/>
              </a:rPr>
              <a:t>포크 최소화, 공개 확장 지점(설정·plugin) 위주</a:t>
            </a:r>
          </a:p>
        </p:txBody>
      </p:sp>
      <p:sp>
        <p:nvSpPr>
          <p:cNvPr id="158" name="Rectangle 157"/>
          <p:cNvSpPr/>
          <p:nvPr/>
        </p:nvSpPr>
        <p:spPr>
          <a:xfrm>
            <a:off x="8567928" y="4078224"/>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59" name="Rectangle 158"/>
          <p:cNvSpPr/>
          <p:nvPr/>
        </p:nvSpPr>
        <p:spPr>
          <a:xfrm>
            <a:off x="8567928" y="4078224"/>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C5</a:t>
            </a:r>
          </a:p>
        </p:txBody>
      </p:sp>
      <p:sp>
        <p:nvSpPr>
          <p:cNvPr id="160" name="TextBox 159"/>
          <p:cNvSpPr txBox="1"/>
          <p:nvPr/>
        </p:nvSpPr>
        <p:spPr>
          <a:xfrm>
            <a:off x="9034272" y="4087368"/>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서버 내부(DP1~DP4)와 접점 고정</a:t>
            </a:r>
          </a:p>
          <a:p>
            <a:pPr algn="l">
              <a:lnSpc>
                <a:spcPct val="95000"/>
              </a:lnSpc>
            </a:pPr>
            <a:r>
              <a:rPr sz="800" b="0" i="0">
                <a:solidFill>
                  <a:srgbClr val="262626"/>
                </a:solidFill>
                <a:latin typeface="맑은 고딕"/>
                <a:ea typeface="맑은 고딕"/>
              </a:rPr>
              <a:t>KV 이벤트·메트릭·KV 전송 정보(NIXL)를 계약으로 유지 → 병렬 진행</a:t>
            </a:r>
          </a:p>
        </p:txBody>
      </p:sp>
      <p:sp>
        <p:nvSpPr>
          <p:cNvPr id="161" name="Rectangle 160"/>
          <p:cNvSpPr/>
          <p:nvPr/>
        </p:nvSpPr>
        <p:spPr>
          <a:xfrm>
            <a:off x="8567928" y="4773168"/>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800" b="0" i="0">
                <a:solidFill>
                  <a:srgbClr val="000000"/>
                </a:solidFill>
                <a:latin typeface="맑은 고딕"/>
                <a:ea typeface="맑은 고딕"/>
              </a:rPr>
              <a:t/>
            </a:r>
          </a:p>
        </p:txBody>
      </p:sp>
      <p:sp>
        <p:nvSpPr>
          <p:cNvPr id="162" name="Rectangle 161"/>
          <p:cNvSpPr/>
          <p:nvPr/>
        </p:nvSpPr>
        <p:spPr>
          <a:xfrm>
            <a:off x="8567928" y="4773168"/>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r>
              <a:rPr sz="1100" b="1" i="0">
                <a:solidFill>
                  <a:srgbClr val="FFFFFF"/>
                </a:solidFill>
                <a:latin typeface="맑은 고딕"/>
                <a:ea typeface="맑은 고딕"/>
              </a:rPr>
              <a:t>C6</a:t>
            </a:r>
          </a:p>
        </p:txBody>
      </p:sp>
      <p:sp>
        <p:nvSpPr>
          <p:cNvPr id="163" name="TextBox 162"/>
          <p:cNvSpPr txBox="1"/>
          <p:nvPr/>
        </p:nvSpPr>
        <p:spPr>
          <a:xfrm>
            <a:off x="9034272" y="4782312"/>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정책 P1~P5를 모두 표현 가능</a:t>
            </a:r>
          </a:p>
          <a:p>
            <a:pPr algn="l">
              <a:lnSpc>
                <a:spcPct val="95000"/>
              </a:lnSpc>
            </a:pPr>
            <a:r>
              <a:rPr sz="800" b="0" i="0">
                <a:solidFill>
                  <a:srgbClr val="262626"/>
                </a:solidFill>
                <a:latin typeface="맑은 고딕"/>
                <a:ea typeface="맑은 고딕"/>
              </a:rPr>
              <a:t>표현이 막히면 서버 내부 성능 이득이 서버 간에서 손실</a:t>
            </a:r>
          </a:p>
        </p:txBody>
      </p:sp>
      <p:sp>
        <p:nvSpPr>
          <p:cNvPr id="164" name="TextBox 163"/>
          <p:cNvSpPr txBox="1"/>
          <p:nvPr/>
        </p:nvSpPr>
        <p:spPr>
          <a:xfrm>
            <a:off x="8567928" y="5440680"/>
            <a:ext cx="3191256" cy="27432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P1~P5: 조율 계층에 넣을 5가지 판단 로직 (설계 슬라이드)</a:t>
            </a:r>
          </a:p>
        </p:txBody>
      </p:sp>
      <p:sp>
        <p:nvSpPr>
          <p:cNvPr id="165" name="Rectangle 164"/>
          <p:cNvSpPr/>
          <p:nvPr/>
        </p:nvSpPr>
        <p:spPr>
          <a:xfrm>
            <a:off x="320040" y="5852160"/>
            <a:ext cx="1154887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l"/>
            <a:r>
              <a:rPr sz="1050" b="1" i="0">
                <a:solidFill>
                  <a:srgbClr val="2F5597"/>
                </a:solidFill>
                <a:latin typeface="맑은 고딕"/>
                <a:ea typeface="맑은 고딕"/>
              </a:rPr>
              <a:t>→ 핵심: </a:t>
            </a:r>
            <a:r>
              <a:rPr sz="950" b="1" i="0">
                <a:solidFill>
                  <a:srgbClr val="2F5597"/>
                </a:solidFill>
                <a:latin typeface="맑은 고딕"/>
                <a:ea typeface="맑은 고딕"/>
              </a:rPr>
              <a:t>서버 내부 메모리 상태를 반영해 요청을 배분(F1~F4)하되, 처리량·첫 응답 시간·변경 용이성·확장성(Q1~Q4)을 만족하고, vLLM 고정·2노드 환경·정확도 불변(C1~C3) 안에서 해결</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4203</Words>
  <Application>Microsoft Office PowerPoint</Application>
  <PresentationFormat>와이드스크린</PresentationFormat>
  <Paragraphs>785</Paragraphs>
  <Slides>17</Slides>
  <Notes>12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17</vt:i4>
      </vt:variant>
    </vt:vector>
  </HeadingPairs>
  <TitlesOfParts>
    <vt:vector size="23" baseType="lpstr">
      <vt:lpstr>Samsung Sharp Sans Bold</vt:lpstr>
      <vt:lpstr>맑은 고딕</vt:lpstr>
      <vt:lpstr>맑은 고딕</vt:lpstr>
      <vt:lpstr>Arial</vt:lpstr>
      <vt:lpstr>Wingdings</vt:lpstr>
      <vt:lpstr>Office 테마</vt:lpstr>
      <vt:lpstr>전체 DP 연결</vt:lpstr>
      <vt:lpstr>PowerPoint 프레젠테이션</vt:lpstr>
      <vt:lpstr>DP0. ~~- 배경</vt:lpstr>
      <vt:lpstr>DP0. ~~ - 배경</vt:lpstr>
      <vt:lpstr>DP0. ~~- 설계</vt:lpstr>
      <vt:lpstr>PowerPoint 프레젠테이션</vt:lpstr>
      <vt:lpstr>DP1. 이기종 메모리 기반 Data Migration 구조 - 배경</vt:lpstr>
      <vt:lpstr>DP1. 이기종 메모리 기반 Data Migration 구조 - 배경</vt:lpstr>
      <vt:lpstr>DP1. 이기종 메모리 기반 Data Migration 구조 - 설계</vt:lpstr>
      <vt:lpstr>DP1. 이기종 메모리 기반 Data Migration 구조 - 설계</vt:lpstr>
      <vt:lpstr>PowerPoint 프레젠테이션</vt:lpstr>
      <vt:lpstr>DP2. 이기종 메모리 환경의 Prefill 실행 위치 결정 구조 - 사전 지식</vt:lpstr>
      <vt:lpstr>DP2. 이기종 메모리 환경의 Prefill 실행 위치 결정 구조 - 배경</vt:lpstr>
      <vt:lpstr>DP2. 이기종 메모리 환경의 Prefill 실행 위치 결정 구조 - 설계</vt:lpstr>
      <vt:lpstr>PowerPoint 프레젠테이션</vt:lpstr>
      <vt:lpstr>DP3. Long Context를 위한 KV 캐시 압축 및 재사용 구조 – 배경 </vt:lpstr>
      <vt:lpstr>DP3. Long Context를 위한 KV 캐시 압축 및 재사용 구조 – 설계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DP1. 이기종 메모리 기반 Data Migration 구조 - 배경</dc:title>
  <dc:creator>SAMSUNG</dc:creator>
  <cp:lastModifiedBy>SAMSUNG</cp:lastModifiedBy>
  <cp:revision>8</cp:revision>
  <dcterms:created xsi:type="dcterms:W3CDTF">2026-10-01T14:27:36Z</dcterms:created>
  <dcterms:modified xsi:type="dcterms:W3CDTF">2026-10-01T17:29:25Z</dcterms:modified>
</cp:coreProperties>
</file>
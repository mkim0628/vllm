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DP0 QA 평가 결과 — 정량 예상치 (미실행 가설)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후보 1(OSS 확장, llm-d) vs 후보 2(자체 구현 Router) · 형식은 공통 룰 §10 · 괄호 = 후보 ÷ Baseline · 모든 값은 예상치 [C]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29626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7360"/>
                <a:gridCol w="3383280"/>
                <a:gridCol w="1371600"/>
                <a:gridCol w="246888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 (T_ref)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 (OSS 확장)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(자체 구현)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3,360 (×1.05)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3,340 (×1.04)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지연 (TTFT)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2,300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2,060 (×0.90)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1,940 (×0.84)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지연 (TPOT)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48 (×0.91)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48 (×0.91)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TTFT·TPOT 모두 반영 (낮은 등급 적용)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[C]  (TTFT &gt; 2 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[C]  (둘 다 SLO 만족)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변경·유지 용이성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수 (S1~S6 가중 평균)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3.2 modules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1.9 modules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  (보조)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개발 공수 man-day (같은 가중) ↓ · QA 밖 비용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Scaling Efficiency SE(N=16) (%) ↑  (N0=2)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97%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93%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64%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+ Q2 + Q3 + Q4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2+2+2+3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2+3+3+1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297680"/>
            <a:ext cx="11430000" cy="822960"/>
          </a:xfrm>
          <a:prstGeom prst="rect">
            <a:avLst/>
          </a:prstGeom>
          <a:solidFill>
            <a:srgbClr val="F2F2F2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평가 시스템(가정):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Llama-3.1-70B BF16, 입력 8K / 출력 256 토큰, 공통 벤치마크 프로필(기본 SLO: TTFT P99 ≤ 2 s, TPOT P99 ≤ 50 ms), 서버 노드 N0 = 2(보유 환경), N &gt; 2는 시뮬레이션·분석 외삽. SYS id는 미정. Baseline = 정책 미적용 기본 라우팅(상태·캐시 비인지). 아직 아무 것도 실행하지 않았고 수치는 근거 있는 가정값이다.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138928"/>
            <a:ext cx="5577840" cy="1280160"/>
          </a:xfrm>
          <a:prstGeom prst="rect">
            <a:avLst/>
          </a:prstGeom>
          <a:solidFill>
            <a:srgbClr val="FBE5D6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선택 (규칙: 별 합계 → 동점이면 QA 우선순위 Q1&gt;Q2&gt;Q3&gt;Q4)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합계 9 대 9 동점 → Q1 처리량 동점 → Q2 지연에서 후보 2 우세 → 후보 2 선택.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단 Q2는 근거가 가장 약하다(E1 결정 경로 오버헤드 선행 게이트). hop 증분이 잡음 수준이면 규칙상 후보 1로 되돌아간다.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5138928"/>
            <a:ext cx="5742432" cy="1280160"/>
          </a:xfrm>
          <a:prstGeom prst="rect">
            <a:avLst/>
          </a:prstGeom>
          <a:solidFill>
            <a:srgbClr val="FFFBEA"/>
          </a:solidFill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읽을 때 주의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Q2 별 차이(★★ vs ★★★)는 TTFT 2 s 경계를 사이에 둔 약 6% 차이로 갈린다 — 경계 민감도가 크다.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Q3 후보 2 ★★★는 정책 변경(S2~S4) 가중에 의존. 가중치를 같게 두면 2.8 vs 2.3으로 둘 다 ★★.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Q4 후보 2 ★은 레플리카 상태 비공유 설계의 결과. 서버 샤딩으로 보완 가능성이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별점 기준은 공통 QA 문서(qa-evaluation-criteria.md) 그대로이며 바꾸지 않았다. Q3 = 공통 QA4, Q4 = 공통 QA6. 후보 간 별점은 소유자 결정, 수치는 그와 정합하도록 둔 예상치(검증 전).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Q1 처리량 — 성능 평가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QA1 (Max SLO Goodput, output tok/s) · 기준: 후보의 Max SLO Goodput ÷ Baseline(T_ref)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682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4754880"/>
                <a:gridCol w="5788152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1.10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도입으로 SLO를 지키면서 10% 이상 더 처리 = 같은 부하에 노드 약 9% 절감(1/1.10 환산)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0.90 ~ 1.10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Baseline과 ±10% 이내 = 처리량 천장이 같다고 본다 (재측정 잡음 폭은 미측정, 사전 확인 필요)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Baseline보다 10% 넘게 나쁨 = 도입 근거 없음. Baseline-regression 대상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08376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F5597"/>
                </a:solidFill>
                <a:latin typeface="맑은 고딕"/>
                <a:ea typeface="맑은 고딕"/>
              </a:rPr>
              <a:t>근거 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82696"/>
            <a:ext cx="5623560" cy="2834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지표와 Baseline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Max SLO Goodput = SLO를 위반한 요청의 토큰을 뺀 output tok/s를 load sweep으로 구해 최대값을 취한 것 (공통 §4).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T_ref = 3,200 tok/s (가정): 정책 없는 기본 라우팅. 공통 벤치마크는 prefix reuse를 통제하므로 라우팅 정책의 이득이 크지 않게 나온다.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예상치 산출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후보 1: 3,360 (×1.05). P1~P4는 설정·plugin으로 캐시·메모리 상태 인지 라우팅을 구현해 낭비를 줄인다.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후보 2: 3,340 (×1.04). 같은 정책 P1~P5를 표현하므로 천장이 같다. 0.6% 차이는 잡음 이하로 가정.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82696"/>
            <a:ext cx="5696712" cy="2834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왜 둘 다 ★★인가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처리량 한계는 엔진(vLLM)과 정책이 정하며, 어느 쪽 구조로 구현하든 정책이 같으면 같다 (설계 결정 D1~D3은 정책 표현력을 바꾸지 않음).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결정 hop은 수 ms, SLO는 2 s라 goodput 영향은 1% 미만으로 가정. 다만 SLO 경계 부근 요청이 있으면 작은 차이가 생길 수 있어 P99 기준으로 확인한다.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미확인 / 확정 실험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1안 P/D 경로의 P5는 보조 프로세스 수정 후에야 동작(수정 가정). `max_*` 자체가 experimental.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E4 end-to-end Goodput (실제 vLLM + 두 후보). 현재 [C].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예상치(미실행) [C]. 별 경계는 공통 QA 문서 §4.3 그대로.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Q2 지연 — 성능 평가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QA2 · TTFT와 TPOT를 분리 보고, 두 metric 중 낮은 등급 적용 (공통 §5)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682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4754880"/>
                <a:gridCol w="5788152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  그리고  TPOT P99 ≤ 50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기본 SLO 그대로. TPOT 50 ms = 초당 20 토큰으로 읽는 속도보다 빠름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4 s  그리고  TPOT P99 ≤ 100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 SLO의 2배 이내 = 체감은 느리지만 대화형 사용은 가능한 한계 (정책 환산)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&gt; 4 s  또는  TPOT P99 &gt; 100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대화형 사용 한계 초과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08376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F5597"/>
                </a:solidFill>
                <a:latin typeface="맑은 고딕"/>
                <a:ea typeface="맑은 고딕"/>
              </a:rPr>
              <a:t>근거 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82696"/>
            <a:ext cx="5623560" cy="2834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예상치 산출 (P99)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Baseline: TTFT 2,300 ms / TPOT 53 ms (둘 다 SLO 미달, ★★).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후보 1: TTFT 2,060 (×0.90) / TPOT 48 (×0.91). 정책으로 줄지만 TTFT가 2 s를 60 ms 넘는다 → ★★.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후보 2: TTFT 1,940 (×0.84) / TPOT 48 (×0.91) → 둘 다 SLO 만족 → ★★★.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TPOT이 같은 이유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Decode 단계는 엔진이 실행하므로 라우팅 구조가 바뀌어도 TPOT은 같다고 본다. 차이는 TTFT(요청이 엔진에 닿기까지)에서만 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82696"/>
            <a:ext cx="5696712" cy="2834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TTFT 차이 120 ms의 구성 (가설)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프록시 → Router 원격 결정 호출 1회: 약 10 ms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P/D 경로의 보조 프로세스 경유(요청 한 번 더 전달·큐잉): 약 40 ms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부하 시 위 두 지점의 꼬리(P99) 큐잉: 약 70 ms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후보 2는 두 hop이 없다 (결정 위치 D1, P/D 조율 위치 D2).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별 차이가 TTFT 2 s 경계를 사이에 둔 약 6%에서 갈린다. ±3~4%만 움직여도 동점이거나 뒤집힌다.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근거가 가장 약하다 [C]. 확정: E1(결정 경로 오버헤드)을 평균이 아닌 P99로.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예상치(미실행) [C]. 별 경계는 공통 QA 문서 §5 그대로. hop 증분이 잡음 수준이면 Q2도 동점 → 규칙상 후보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Q3 변경·유지 용이성 — 성능 평가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QA4 Modifiability · 신규 정책·메모리 등이 추가될 때 기존 구조에 필요한 변경 범위 (공통 §7)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682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4754880"/>
                <a:gridCol w="5788152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≤ 2, 기존 주요 interface 유지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 곳(또는 한 쌍)만 고치고 나머지 구조는 그대로 = 변경이 지역화됨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3 ~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여러 module을 건드리지만 구조 변경은 없음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≥ 6 또는 major interface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구조적 변경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08376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F5597"/>
                </a:solidFill>
                <a:latin typeface="맑은 고딕"/>
                <a:ea typeface="맑은 고딕"/>
              </a:rPr>
              <a:t>근거 내용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282696"/>
          <a:ext cx="6675120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2960"/>
                <a:gridCol w="2377440"/>
                <a:gridCol w="548640"/>
                <a:gridCol w="1463040"/>
                <a:gridCol w="1463040"/>
              </a:tblGrid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  module / 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 module / 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메모리 tier 추가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/ 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/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함수 교체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/ 1.5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P/D 정책 교체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 /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/ 1.5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지시 항목 추가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/ 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/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vLLM·NIXL 계약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/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신기능(흐름 제어 고도화 등)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/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 / 30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 평균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별: 후보 1 ★★ / 후보 2 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 / 4.2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1.9 / 5.1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282696"/>
            <a:ext cx="4507992" cy="2834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맑은 고딕"/>
                <a:ea typeface="맑은 고딕"/>
              </a:rPr>
              <a:t>산출 근거 (가설)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후보 1: S1·S6는 설정·OSS 제공으로 1 module. S2~S4는 plugin 코드 + 별도 이미지 빌드 + 설정, S4는 P/D 보조 프로세스 수정까지 5.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후보 2: S2~S4는 구현체/Decorator 추가 1 module. S6는 흐름 제어를 직접 구현해 6.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맑은 고딕"/>
                <a:ea typeface="맑은 고딕"/>
              </a:rPr>
              <a:t>가중 평균 = 정책 변경 빈도 가중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이 연구에서 가장 자주 바뀌는 것은 정책(S2~S4)이라 가중 2, 나머지 1 (소유자 판단, 가정).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민감도·한계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가중을 같게 두면 2.8 vs 2.3 → 둘 다 ★★ (3 대 3 동등, 이전 평가).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공수는 후보 2가 더 크다(S6 30 man-day). module 수 기준 별과 방향이 달라 공수는 QA 밖 비용·리스크로 병기.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예상치(미실행) [C]. 별 경계는 공통 QA 문서 §7 그대로. 가중치(1,2,2,2,1,1)는 사전 등록한 가정이며 결과를 보고 바꾸지 않는다.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Q4 확장성 — 성능 평가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QA6 Scalability · Scaling Efficiency SE(N) = Goodput(N) / ((N/N0) × Goodput(N0)) (공통 §13)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682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4754880"/>
                <a:gridCol w="5788152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≥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서버를 N배로 늘릴 때 처리량 손실 10% 이내 (환산)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70 ~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 10~30%: 확장은 되나 조율 계층이 병목 조짐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&lt; 70%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 30% 초과: 조율 계층이 병목. 임시 정의 경계(DP4 초안 값 재사용)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08376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F5597"/>
                </a:solidFill>
                <a:latin typeface="맑은 고딕"/>
                <a:ea typeface="맑은 고딕"/>
              </a:rPr>
              <a:t>근거 내용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282696"/>
          <a:ext cx="5943600" cy="124358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822960"/>
                <a:gridCol w="731520"/>
                <a:gridCol w="731520"/>
                <a:gridCol w="10058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서버 수 N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 (N0)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16 (N_max)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(무상태 LB)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99%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97%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96%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93%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76%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282696"/>
            <a:ext cx="5239512" cy="1371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맑은 고딕"/>
                <a:ea typeface="맑은 고딕"/>
              </a:rPr>
              <a:t>측정 범위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N0 = 2는 보유 환경에서 실측 가능, N = 4~16은 시뮬레이션·분석 외삽 [C]. 각 N에서 단위당 부하를 고정하고 총 부하를 N에 비례 증가, load sweep의 Max SLO Goodput 사용.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654296"/>
            <a:ext cx="5577840" cy="1828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맑은 고딕"/>
                <a:ea typeface="맑은 고딕"/>
              </a:rPr>
              <a:t>후보 2가 낮은 이유 (메커니즘, 가설)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레플리카끼리 상태를 공유하지 않아 각 레플리카가 전체 서버의 KV 이벤트·메트릭을 중복 처리한다. 서버가 N배면 레플리카당 갱신 부하도 ≈N배.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갱신이 밀리면 결정 지연이 늘고 상태가 오래돼 캐시 인지 라우팅이 부정확해져 SLO 만족 처리량이 포화한다.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etcd 서버 목록 watch 팬아웃도 N에 따라 증가.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4654296"/>
            <a:ext cx="5742432" cy="1828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맑은 고딕"/>
                <a:ea typeface="맑은 고딕"/>
              </a:rPr>
              <a:t>후보 1이 높은 이유와 한계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K8s 복제·서버 풀 발견·흐름 제어가 이미 검증된 경로이고, Router가 P/D 데이터 경로 밖에 있어 서버 증설이 Router 부하로 직결되지 않는다.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후보 1의 Router도 전체 이벤트를 처리하는 구조라 비슷한 한계가 있을 수 있다 — 미확인(E4).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후보 2는 서버 샤딩(서버를 레플리카에 분할 담당) 보완 시 ★★ 가능성 → 70% 경계에서 6%p 아래.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예상치(미실행) [C]. 별 경계는 공통 QA 문서 §13 그대로(임시 정의). 우리 환경(2노드)으로는 N_max 실측 불가.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
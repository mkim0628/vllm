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DP0 QA 평가 결과 — 정량 예상치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후보 1(OSS 확장, llm-d) vs 후보 2(자체 구현 Router) · 공통 룰 §10 형식 · 괄호 = 후보 ÷ Baseline · 값은 모두 예상치(미실행)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70432"/>
          <a:ext cx="11457432" cy="32689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00200"/>
                <a:gridCol w="3794760"/>
                <a:gridCol w="1005840"/>
                <a:gridCol w="2468880"/>
                <a:gridCol w="2587752"/>
              </a:tblGrid>
              <a:tr h="29718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metric (↑/↓ 좋음)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1 (OSS 확장)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2 (자체 구현)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처리량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Max SLO Goodput (tok/s) 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3,200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3,360 (×1.05) [A+C]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3,340 (×1.04) [A+C]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Q2 지연 (TTFT)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(ms)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2,300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2,060 (×0.90)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1,940 (×0.84)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Q2 지연 (TPOT)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P99 (ms)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48 (×0.91)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48 (×0.91)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Q2 별점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TTFT·TPOT 모두 반영 (낮은 등급 적용)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[A+C]  (TTFT &gt; 2 s)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[A+C]  (둘 다 SLO 만족)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 ① 토큰 cost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1건당 에이전트 토큰 비용 $ ↓ (S1~S6 가중 평균, 최우선)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$1.28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$0.38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 ② 개발 공수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1건당 man-day ↓ (②)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3.9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2.6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 ③ 변경 module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module 수 ↓ (③, 공통 QA4 기준)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3.1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1.9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 별점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①→②→③ 우선순위로 결정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Q4 확장성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Scaling Efficiency SE(N=16) (%) ↑ (N0=2)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97%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93% [A+C]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  64% [A+C]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별 합계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+ Q2 + Q3 + Q4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2+2+2+3 = 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2+3+3+1 = 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526280"/>
            <a:ext cx="11430000" cy="566928"/>
          </a:xfrm>
          <a:prstGeom prst="rect">
            <a:avLst/>
          </a:prstGeom>
          <a:solidFill>
            <a:srgbClr val="F2F2F2"/>
          </a:solidFill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</a:rPr>
              <a:t>근거 수준 표기: 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[A] 실측 · [B] 문헌 · [C] 시뮬레이션. Q1·Q2·Q4 = Baseline은 실측 [A], 실물이 없는 메모리와 2안(미구현)은 시뮬레이터 연동 [C] → [A+C]. Q3는 변경을 에이전트 세션으로 구현한다고 가정한 시뮬레이션 [C]. 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평가 시스템: H100 SXM 80GB ×8 ×2노드(16 GPU), Llama-3.1-70B BF16, 입력 8K / 출력 256, SLO = TTFT P99 ≤ 2 s · TPOT P99 ≤ 50 ms (근거는 4장). Baseline = 정책 미적용 기본 라우팅. 수행 방식은 3장, 시나리오는 2장.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166360"/>
            <a:ext cx="5577840" cy="1234440"/>
          </a:xfrm>
          <a:prstGeom prst="rect">
            <a:avLst/>
          </a:prstGeom>
          <a:solidFill>
            <a:srgbClr val="FBE5D6"/>
          </a:solidFill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선택 (별 합계 → 동점이면 QA 우선순위 Q1&gt;Q2&gt;Q3&gt;Q4)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합계 9 대 9 동점 → Q1 처리량 동점 → Q2 지연에서 후보 2 우세 → 후보 2 선택.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단 Q2 근거가 가장 약하다. E1(결정 경로 오버헤드)을 선행 게이트로 두고 hop 증분이 잡음 수준이면 규칙상 후보 1로 되돌아간다.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5166360"/>
            <a:ext cx="5715000" cy="1234440"/>
          </a:xfrm>
          <a:prstGeom prst="rect">
            <a:avLst/>
          </a:prstGeom>
          <a:solidFill>
            <a:srgbClr val="FFFBEA"/>
          </a:solidFill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맑은 고딕"/>
                <a:ea typeface="맑은 고딕"/>
              </a:rPr>
              <a:t>읽을 때 주의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Q2 별 차이는 TTFT 2 s 경계를 사이에 둔 약 6% 차이에서 갈린다.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Q3의 ①②③은 같은 시나리오 사실에서 계산해 시나리오별 우열 방향이 모두 같다(S1·S5·S6 후보 1, S2~S4 후보 2). 단 ① 토큰 cost는 OSS 탐색 토큰 가정에 민감(8장).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Q4 후보 2 ★은 레플리카 상태 비공유의 결과이며 보완 구조는 설계 문서 다음 장에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별 경계는 공통 QA 문서 그대로(Q3의 ①② 경계는 DP0 사전 등록 가정, 7장). 별점은 소유자 확정, 수치는 그와 정합하게 둔 가정값이며 실측 전까지 근거로 쓰지 않는다.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평가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공통 벤치마크(공통 문서 §8)를 기본으로 하고 DP0 전용 시나리오를 더한다 · 시나리오당 한 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57432" cy="39684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85800"/>
                <a:gridCol w="1600200"/>
                <a:gridCol w="3566160"/>
                <a:gridCol w="777240"/>
                <a:gridCol w="2926080"/>
                <a:gridCol w="190195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무엇인가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 QA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드러내는 차이 (As-Is 약점)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핵심 파라미터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벤치마크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Llama-3.1-70B BF16, 입력 8K / 출력 256, prefix 재사용 통제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Q2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 대비 정책 효과의 기준선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load ×0.5 / 1.0 / 1.5 / 2.0, seed ≥ 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캐시 재사용 대화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W1에 같은 prefix를 다시 쓰는 대화 요청을 섞음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Q2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캐시·메모리 상태 인지 라우팅(P1~P3)의 이득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재사용률 0 / 30 / 60%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긴 입력 P/D 분리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입력 32K 요청을 섞어 Prefill/Decode 분리 경로를 탐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P/D 보조 프로세스 경유 hop, P5 전달(1안 수정 필요)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긴 요청 비율 10%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메모리 압박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점유가 높은 상태에서 CXL·HBF·SSD tier를 사용(시뮬)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Q2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tier 선택(P1·P2·P5)이 SLO를 지키는가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점유 70 → 95%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서버 증설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서버당 부하를 고정하고 서버 수를 N배로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조율 계층이 병목이 되는 시점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N = 2, 4, 8, 16 (N0 = 2)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S1~S6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시나리오 6개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새 tier 추가 · 비용 함수 교체 · P/D 정책 교체 · 노드 지시 추가 · vLLM/NIXL 계약 변경 · 신규 기능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변경이 어디까지 번지는가 (module · 공수 · 토큰 cost)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가중: S2~S4 = 2, 나머지 1 (가정)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440680"/>
            <a:ext cx="11430000" cy="914400"/>
          </a:xfrm>
          <a:prstGeom prst="rect">
            <a:avLst/>
          </a:prstGeom>
          <a:solidFill>
            <a:srgbClr val="F2F2F2"/>
          </a:solidFill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읽는 법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W1이 공통 기준이다. W2~W4는 정책이 실제로 갈리는 조건을 만들기 위한 DP0 전용 시나리오이며, 후보가 지는 시나리오도 삭제하지 않는다.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Baseline이 SLO를 못 지키는 시나리오는 비교에서 제외하고 목록에는 남긴다. 모든 후보가 CI 이내로 같으면 '포화'로 표기해 이득 근거로 쓰지 않는다. (공통 평가 규칙)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이기종 메모리는 실물이 없으므로 W4는 시뮬레이터 tier 모델을 쓴다(3장). 아직 없는 시나리오: 장애 주입(공통 QA5), 다중 클러스터.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시나리오 정의는 평가 계획이며 결과가 아니다. 파라미터는 사전 등록 값이고 결과를 본 뒤 바꾸지 않는다.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시뮬레이션 수행 방식 — 실측 Baseline + 시뮬레이터 연동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완전한 시뮬레이션이 아니다: 보유한 시스템에서 Baseline을 실측하고, 실물이 없는 메모리와 2안만 모델로 대체한다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2560320" cy="713232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F5597"/>
                </a:solidFill>
                <a:latin typeface="맑은 고딕"/>
                <a:ea typeface="맑은 고딕"/>
              </a:rPr>
              <a:t>① Baseline 실측 [A]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188720"/>
            <a:ext cx="8778240" cy="713232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H100 ×8 ×2노드에서 vLLM + 정책 없는 기본 라우팅을 실행. W1 load sweep, seed ≥ 5, P99·Goodput·SE(N0=2)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75104"/>
            <a:ext cx="2560320" cy="713232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BF9000"/>
                </a:solidFill>
                <a:latin typeface="맑은 고딕"/>
                <a:ea typeface="맑은 고딕"/>
              </a:rPr>
              <a:t>② 이기종 메모리 시뮬레이터 연동 [C]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75104"/>
            <a:ext cx="8778240" cy="713232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CXL·HBF·SSD는 실물이 없다. tier별 용량·대역폭·지연을 파라미터로 둔 모델을 KV 접근 경로에 삽입해, tier 접근 때 서비스 시간(바이트 ÷ 대역폭 + 지연)만큼 지연을 주입. HBM·DRAM은 실물 값으로 보정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2560320" cy="713232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C55A11"/>
                </a:solidFill>
                <a:latin typeface="맑은 고딕"/>
                <a:ea typeface="맑은 고딕"/>
              </a:rPr>
              <a:t>③ 후보 라우팅 계층 주입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61488"/>
            <a:ext cx="8778240" cy="713232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1안: llm-d + 우리 plugin 코드를 그대로 실행(P1~P4는 합성 백엔드 끝단 실행으로 확인 [A]). 2안: 미구현이므로 결정 경로 지연·상태 갱신 부하를 모델로 대체하고 E1 측정값으로 보정 [C]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47872"/>
            <a:ext cx="2560320" cy="713232"/>
          </a:xfrm>
          <a:prstGeom prst="rect">
            <a:avLst/>
          </a:prstGeom>
          <a:solidFill>
            <a:srgbClr val="E2F0D9"/>
          </a:solidFill>
          <a:ln w="12700">
            <a:solidFill>
              <a:srgbClr val="548235"/>
            </a:solidFill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548235"/>
                </a:solidFill>
                <a:latin typeface="맑은 고딕"/>
                <a:ea typeface="맑은 고딕"/>
              </a:rPr>
              <a:t>④ 시나리오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547872"/>
            <a:ext cx="8778240" cy="713232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W1~W5 × load sweep × seed ≥ 5. 같은 seed·부하로 Baseline과 짝지어 비교, 중앙값과 95% CI·CV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34256"/>
            <a:ext cx="256032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F7F7F"/>
                </a:solidFill>
                <a:latin typeface="맑은 고딕"/>
                <a:ea typeface="맑은 고딕"/>
              </a:rPr>
              <a:t>⑤ 후처리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334256"/>
            <a:ext cx="8778240" cy="713232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Goodput(SLO 위반 요청 제외), TTFT·TPOT P99, SE(N) 산출 → 공통 기준으로 별점. Q3는 변경 시나리오를 에이전트 세션 모델로 환산(7~8장)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166360"/>
          <a:ext cx="11430000" cy="13167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931920"/>
                <a:gridCol w="5669280"/>
                <a:gridCol w="1828800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Evidence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 처리량·지연·SE(N0=2)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보유 시스템 실측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[A]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HBM·호스트 DRAM 대역폭·용량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실물 + 공개 spec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[A]/[B]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CXL·HBF·SSD tier 성능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문헌·vendor spec을 입력으로 한 시뮬레이터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2 결정 경로·상태 갱신 부하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 + E1 보정(미측정)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N &gt; 2 서버 확장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 외삽 (실측은 2노드까지)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이 장은 평가 절차이며, 장표의 값은 이 절차를 수행했을 때의 예상치다(미실행). 시뮬레이터 구현·보정 오차는 실행 시 함께 기록한다.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평가 시스템과 SLO 선정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TTFT P99 ≤ 2 s · TPOT P99 ≤ 50 ms는 우리 시스템에서 달성 가능한 범위이면서 공개 기준·사용자 읽기 속도와 정합하는 값이다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7772400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4480560"/>
                <a:gridCol w="128016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 / GPU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노드 × H100 SXM 80GB × 8 = 16 GPU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보유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GPU 사양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HBM3 3.35 TB/s, BF16 dense 989 TFLOPS, NVLink 900 GB/s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공개 spec [B]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 / 정밀도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Llama-3.1-70B, BF16, TP=8 (노드당 1 replica)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프로필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워크로드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입력 8K / 출력 256, prefix 재사용 통제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프로필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 간 링크 / DRAM / SSD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확인 필요 (KV 전송 계산은 400 Gb/s ≈ 50 GB/s 가정)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미확인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미적용 기본 라우팅 (상태·캐시 비인지)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1188720"/>
            <a:ext cx="3474720" cy="2286000"/>
          </a:xfrm>
          <a:prstGeom prst="rect">
            <a:avLst/>
          </a:prstGeom>
          <a:solidFill>
            <a:srgbClr val="F2F2F2"/>
          </a:solidFill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2F5597"/>
                </a:solidFill>
                <a:latin typeface="맑은 고딕"/>
                <a:ea typeface="맑은 고딕"/>
              </a:rPr>
              <a:t>계산 입력(가정)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지속 대역폭 = 이론의 70%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Prefill MFU = 45%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가중치 70.6B × 2 B = 141 GB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KV = 0.31 MB/token (80층 × 2 × 8 KV head × 128 × 2 B)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요청 1건 KV(입력 8K + 출력 256) = 2.77 GB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HBM 90% 사용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11880"/>
            <a:ext cx="5623560" cy="2743200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F5597"/>
                </a:solidFill>
                <a:latin typeface="맑은 고딕"/>
                <a:ea typeface="맑은 고딕"/>
              </a:rPr>
              <a:t>TTFT P99 ≤ 2 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8K prefill 이론 시간 = 2 × 70.6B × 8,192 ÷ (8 × 989 TFLOPS × 0.45) = 0.32 s. 2 s는 이의 약 6배라 큐잉·스케줄링에 약 1.7 s를 허용한다.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P/D 분리 시 KV 2.77 GB 전송은 약 55 ms로 2 s 안에 충분히 들어간다.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공개 기준: MLPerf Inference Llama-2-70B의 표준 시나리오는 TTFT 2 s, interactive는 450 ms로 알려져 있다 (표준 값은 2차 자료 기준 확인 필요).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즉 우리 SLO의 TTFT는 업계 표준 시나리오와 같고, 더 엄격한 interactive는 별도 과제로 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611880"/>
            <a:ext cx="5669280" cy="2743200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F5597"/>
                </a:solidFill>
                <a:latin typeface="맑은 고딕"/>
                <a:ea typeface="맑은 고딕"/>
              </a:rPr>
              <a:t>TPOT P99 ≤ 50 ms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디코드 1 step 이론 하한 = (가중치 141 GB + 배치 × KV) ÷ 지속 대역폭. 배치 1: 7.5 ms, KV 용량 한계 배치 약 157: 30.7 ms.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TP8 통신·스케줄링 약 5~8 ms를 더하면 포화 시 약 36~39 ms. 50 ms는 여기에 약 25~40% 여유(간섭·KV 전송 정체 허용)를 둔 상한이다.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사용자 측: 50 ms = 20 tok/s. 성인 묵독 평균 238 wpm(Brysbaert 2019) ≈ 4 단어/s ≈ 5~6 tok/s(영어 1.3 tok/단어 가정)의 약 3.5배.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MLPerf interactive는 TPOT 40 ms, 표준은 200 ms로 알려져 있어 50 ms는 둘 사이에서 interactive에 가깝다.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출처: MLPerf 값 — marktechpost.com/2025/10/01/mlperf-inference-v5-1-2025-results-explained-for-gpus-cpus-and-ai-accelerators/ · it-online.co.za/?p=294312 (2차 자료) · 읽기 속도 — gwern.net/doc/psychology/linguistics/2019-brysbaert.pdf · H100 spec — glennklockwood.com/garden/processors/h100 (2차)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Q1 처리량 — 성능 평가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공통 QA1 · Max SLO Goodput(output tok/s) ÷ Baseline(T_ref) · SLO = TTFT P99 ≤ 2 s, TPOT P99 ≤ 50 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70432"/>
          <a:ext cx="11457432" cy="22677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4400"/>
                <a:gridCol w="2011680"/>
                <a:gridCol w="6126480"/>
                <a:gridCol w="240487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 값인가 (정량 근거)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 · 확인 수준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1.10 × T_ref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16 GPU 기준 1.10배 = 같은 부하를 16/1.10 = 14.5 GPU로 처리 → 약 1.45 GPU(노드 1대의 18%) 절감. 노드 증설 판단 단위(8 GPU)의 1/5 이상일 때 도입 가치가 있다고 둠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내부 환산 (공개 고객·하이퍼스케일러 요구치는 확보하지 못함)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0.90 ~ 1.10 × T_ref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±10% = Baseline 반복 측정 CI의 약 2.7배. 가정 CV 3%, Runs = 5이면 95% CI 반폭 = 2.776 × 3% ÷ √5 ≈ 3.7%. CI보다 충분히 큰 차이만 별을 구분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룰 §1.1 (Runs ≥ 5, CV 기록). CV 3%는 측정 전 가정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 0.90 × T_ref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1/0.90 = 같은 부하에 GPU 11% 더 필요 = Baseline보다 나쁜 정책. 도입 근거 없음, Baseline-regression 대상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내부 환산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529584"/>
            <a:ext cx="5623560" cy="27340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2F5597"/>
                </a:solidFill>
                <a:latin typeface="맑은 고딕"/>
                <a:ea typeface="맑은 고딕"/>
              </a:rPr>
              <a:t>지표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Max SLO Goodput = SLO를 위반한 요청의 토큰을 뺀 output tok/s를 load sweep으로 구한 최대값. DistServe가 용량 계획 지표로 쓰는 goodput(SLO 달성률 90% 기준)과 같은 취지.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Baseline T_ref = 3,200 tok/s(가정, 정책 없는 기본 라우팅). 공통 벤치마크는 prefix 재사용을 통제하므로 라우팅 정책의 이득이 작게 나온다.</a:t>
            </a:r>
          </a:p>
          <a:p>
            <a:pPr algn="l">
              <a:spcAft>
                <a:spcPts val="200"/>
              </a:spcAft>
            </a:pPr>
            <a:r>
              <a:rPr sz="919" b="1">
                <a:solidFill>
                  <a:srgbClr val="2F5597"/>
                </a:solidFill>
                <a:latin typeface="맑은 고딕"/>
                <a:ea typeface="맑은 고딕"/>
              </a:rPr>
              <a:t>예상치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후보 1: 3,360 (×1.05). 후보 2: 3,340 (×1.04). 같은 정책 P1~P5를 표현하므로 천장이 같고 0.6% 차이는 잡음 이하로 가정 → 둘 다 ★★.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529584"/>
            <a:ext cx="5669280" cy="27340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2F5597"/>
                </a:solidFill>
                <a:latin typeface="맑은 고딕"/>
                <a:ea typeface="맑은 고딕"/>
              </a:rPr>
              <a:t>왜 둘 다 ★★인가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처리량 한계는 엔진(vLLM)과 정책이 정한다. 결정 hop은 수 ms, SLO는 2 s라 goodput 영향은 1% 미만으로 가정.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단 SLO 경계 부근 요청이 있으면 작은 차이가 생길 수 있어 P99 기준으로 확인한다.</a:t>
            </a:r>
          </a:p>
          <a:p>
            <a:pPr algn="l">
              <a:spcAft>
                <a:spcPts val="200"/>
              </a:spcAft>
            </a:pPr>
            <a:r>
              <a:rPr sz="919" b="1">
                <a:solidFill>
                  <a:srgbClr val="C00000"/>
                </a:solidFill>
                <a:latin typeface="맑은 고딕"/>
                <a:ea typeface="맑은 고딕"/>
              </a:rPr>
              <a:t>미확인 / 확정 실험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1안 P/D 경로의 P5는 보조 프로세스 수정 후에야 동작. `max_*`는 experimental.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E4 end-to-end Goodput으로 확정(현재 [A+C] 예상).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</a:rPr>
              <a:t>출처: </a:t>
            </a: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DistServe (goodput, SLO attainment) arxiv.org/abs/2401.09670 [검색 확인] · 공통 QA 문서 §4.3 [내부]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별 경계는 공통 QA 문서 §4.3 그대로. 1.10·0.90의 '요구사항 출처'는 공개 자료에서 찾지 못해 내부 환산으로 표기했다.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Q2 지연 — 성능 평가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공통 QA2 · TTFT P99와 TPOT P99를 분리 보고, 두 metric 중 낮은 등급 적용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70432"/>
          <a:ext cx="11457432" cy="22677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4400"/>
                <a:gridCol w="3017520"/>
                <a:gridCol w="4663440"/>
                <a:gridCol w="286207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 값인가 (정량 근거)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 · 확인 수준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≤ 2 s  그리고  TPOT P99 ≤ 50 ms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우리 SLO(4장). TTFT: 8K prefill 이론 0.32 s의 약 6배. TPOT: 포화 배치 이론 약 31 ms + 오버헤드 후 25~40% 여유. 50 ms = 20 tok/s ≈ 읽기 속도(5~6 tok/s)의 3.5배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MLPerf 표준 TTFT 2 s(2차), interactive TPOT 40 ms · Brysbaert 2019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≤ 4 s  그리고  TPOT P99 ≤ 100 ms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SLO의 2배. TPOT 100 ms = 10 tok/s로 읽기 속도의 약 2배라 읽을 수 있는 한계. TTFT 4 s는 '흐름이 끊긴다고 느끼는 1 s'와 '주의 한계 10 s'의 사이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Nielsen 응답시간 3한계 [링크 미검증] · 내부 환산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&gt; 4 s  또는  TPOT P99 &gt; 100 ms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200 ms = 5 tok/s ≈ 읽기 속도: 그 이상 느리면 읽는 속도보다 느린 스트리밍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Brysbaert 2019 환산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529584"/>
            <a:ext cx="5623560" cy="27340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2F5597"/>
                </a:solidFill>
                <a:latin typeface="맑은 고딕"/>
                <a:ea typeface="맑은 고딕"/>
              </a:rPr>
              <a:t>예상치 (P99)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Baseline: TTFT 2,300 ms / TPOT 53 ms (둘 다 SLO 미달, ★★).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후보 1: TTFT 2,060 (×0.90) / TPOT 48 (×0.91) → TTFT가 2 s를 60 ms 넘어 ★★.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후보 2: TTFT 1,940 (×0.84) / TPOT 48 (×0.91) → 둘 다 만족 ★★★.</a:t>
            </a:r>
          </a:p>
          <a:p>
            <a:pPr algn="l">
              <a:spcAft>
                <a:spcPts val="200"/>
              </a:spcAft>
            </a:pPr>
            <a:r>
              <a:rPr sz="919" b="1">
                <a:solidFill>
                  <a:srgbClr val="2F5597"/>
                </a:solidFill>
                <a:latin typeface="맑은 고딕"/>
                <a:ea typeface="맑은 고딕"/>
              </a:rPr>
              <a:t>TPOT이 같은 이유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Decode는 엔진이 실행하므로 라우팅 구조가 달라도 TPOT은 같다고 본다. 차이는 TTFT에서만 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529584"/>
            <a:ext cx="5669280" cy="27340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2F5597"/>
                </a:solidFill>
                <a:latin typeface="맑은 고딕"/>
                <a:ea typeface="맑은 고딕"/>
              </a:rPr>
              <a:t>TTFT 차이 120 ms의 구성 (가설)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프록시→Router 원격 결정 호출 1회 약 10 ms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P/D 보조 프로세스 경유(요청 한 번 더 전달·큐잉) 약 40 ms · 부하 시 두 지점의 꼬리 큐잉 약 70 ms</a:t>
            </a:r>
          </a:p>
          <a:p>
            <a:pPr algn="l">
              <a:spcAft>
                <a:spcPts val="200"/>
              </a:spcAft>
            </a:pPr>
            <a:r>
              <a:rPr sz="919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별 차이가 2 s 경계를 사이에 둔 약 6%에서 갈린다. ±3~4%만 움직여도 동점이거나 뒤집힌다.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근거 가장 약함. 확정: E1(결정 경로 오버헤드)을 평균이 아닌 P99로.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</a:rPr>
              <a:t>출처: </a:t>
            </a: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MLPerf interactive 450 ms/40 ms: marktechpost.com/2025/10/01/mlperf-inference-v5-1-2025-results-explained-for-gpus-cpus-and-ai-accelerators/ · it-online.co.za/?p=294312 [2차 확인] · 표준 2 s/200 ms [확인 필요] · gwern.net/doc/psychology/linguistics/2019-brysbaert.pdf [검색 확인] · nngroup.com/articles/response-times-3-important-limits/ [링크 미검증]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별 경계는 공통 QA 문서 §5 그대로. hop 증분이 잡음 수준이면 Q2도 동점 → 규칙상 후보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Q3 변경·유지 용이성 — 성능 평가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공통 QA4 Modifiability · 세 지표를 모두 보되 우선순위 ① 토큰 cost &gt; ② 개발 공수 &gt; ③ 변경 module 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57432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4400"/>
                <a:gridCol w="3566160"/>
                <a:gridCol w="3566160"/>
                <a:gridCol w="341071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① 토큰 cost ($/변경, 가중 평균)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② 개발 공수 (man-day/변경)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③ 변경 module 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$0.5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2 (주요 interface 유지)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$0.5 ~ $2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~ 7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~ 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$2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7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6 또는 major interface 변경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108960"/>
            <a:ext cx="5623560" cy="31546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2F5597"/>
                </a:solidFill>
                <a:latin typeface="맑은 고딕"/>
                <a:ea typeface="맑은 고딕"/>
              </a:rPr>
              <a:t>별 결정 규칙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Q3 별 = ① 토큰 cost의 별. 두 후보의 ① 별이 같으면 ② 공수, 그것도 같으면 ③ module 수로 결정한다. 세 지표가 같은 방향인지는 8장에서 시나리오별로 확인한다.</a:t>
            </a:r>
          </a:p>
          <a:p>
            <a:pPr algn="l">
              <a:spcAft>
                <a:spcPts val="200"/>
              </a:spcAft>
            </a:pPr>
            <a:r>
              <a:rPr sz="919" b="1">
                <a:solidFill>
                  <a:srgbClr val="2F5597"/>
                </a:solidFill>
                <a:latin typeface="맑은 고딕"/>
                <a:ea typeface="맑은 고딕"/>
              </a:rPr>
              <a:t>왜 이 우선순위인가 (소유자 결정)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① 토큰 cost: 변경을 에이전트 세션으로 구현할 때 세션 로그에서 바로 읽히는 가장 객관적인 비용. ② 공수: 토큰 cost에 안 잡히는 사람 시간(리뷰·검증·배포·upstream 재검증). ③ module 수: 구조 영향의 대리 지표(공통 룰).</a:t>
            </a:r>
          </a:p>
          <a:p>
            <a:pPr algn="l">
              <a:spcAft>
                <a:spcPts val="200"/>
              </a:spcAft>
            </a:pPr>
            <a:r>
              <a:rPr sz="919" b="1">
                <a:solidFill>
                  <a:srgbClr val="2F5597"/>
                </a:solidFill>
                <a:latin typeface="맑은 고딕"/>
                <a:ea typeface="맑은 고딕"/>
              </a:rPr>
              <a:t>왜 세 개를 모두 계산하는가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한 지표만 쓰면 가정 하나로 결론이 바뀐다. 세 지표가 시나리오마다 같은 방향이면 결론의 신뢰가 올라가고, 갈리면 가정이 결과를 흔든다는 신호다.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108960"/>
            <a:ext cx="5669280" cy="31546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2F5597"/>
                </a:solidFill>
                <a:latin typeface="맑은 고딕"/>
                <a:ea typeface="맑은 고딕"/>
              </a:rPr>
              <a:t>경계값의 근거 (모두 사전 등록 가정)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① $0.5: 원본 약 25k 토큰(module 약 3개 읽기 + 소규모 수정)을 한 세션에서 재작업 없이 끝내는 비용(유효 입력 재과금 6배, Sonnet급 $3/$15 per MTok 가정). $2는 그 4배 = 다중 세션·OSS 코드 탐색이 들어가는 수준.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② 3 man-day: 스프린트(10 man-day)의 30%, 한 사람이 한 주 안에 배포까지. 7 man-day: 가용률 70% 가정의 한 스프린트 상한.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③ 2 / 6: 공통 룰 §7 그대로.</a:t>
            </a:r>
          </a:p>
          <a:p>
            <a:pPr algn="l">
              <a:spcAft>
                <a:spcPts val="200"/>
              </a:spcAft>
            </a:pPr>
            <a:r>
              <a:rPr sz="919" b="1">
                <a:solidFill>
                  <a:srgbClr val="C00000"/>
                </a:solidFill>
                <a:latin typeface="맑은 고딕"/>
                <a:ea typeface="맑은 고딕"/>
              </a:rPr>
              <a:t>출처 한계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에이전트 토큰 단가는 2차 자료(공식 가격 페이지 확인 필요). ①②의 경계는 공개 요구사항이 아니라 내부 가정.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</a:rPr>
              <a:t>출처: </a:t>
            </a: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토큰 단가: finout.io/blog/anthropic-api-pricing [2차, 공식 페이지 확인 필요] · 공통 QA 문서 §7 [내부] · 계산 코드: doc-mk/DP0/qa-model/modifiability_model.py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③ module 수 경계는 공통 QA 문서 그대로. ①②는 공통 문서에 없는 DP0 사전 등록 경계이며 결과를 본 뒤 바꾸지 않는다.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Q3 산출 근거 — 토큰 cost와 공수는 어떻게 계산했나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같은 시나리오 사실(M 변경 module, L 변경 LOC, E OSS 탐색 토큰, B 빌드·배포, U upstream 재검증)에서 세 지표를 모두 계산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669280" cy="1417320"/>
          </a:xfrm>
          <a:prstGeom prst="rect">
            <a:avLst/>
          </a:prstGeom>
          <a:solidFill>
            <a:srgbClr val="F2F2F2"/>
          </a:solidFill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2F5597"/>
                </a:solidFill>
                <a:latin typeface="맑은 고딕"/>
                <a:ea typeface="맑은 고딕"/>
              </a:rPr>
              <a:t>① 토큰 cost = [ (M × 8,000 + E) × 6 × $3 + L × 13 × 2 × $15 ] ÷ 10⁶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입력: module 1개 읽기 8,000 토큰(약 600 LOC), E = 1안에서 우리가 만든 코드가 아닌 OSS 내부를 읽는 토큰, 유효 재과금 배수 6(캐시 적중 후).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출력: 코드 1줄 13 토큰 × 2(최초 작성 + 수정 1회). 단가 $3 / $15 per MTok(Sonnet급, 가정).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170432"/>
            <a:ext cx="5669280" cy="1417320"/>
          </a:xfrm>
          <a:prstGeom prst="rect">
            <a:avLst/>
          </a:prstGeom>
          <a:solidFill>
            <a:srgbClr val="F2F2F2"/>
          </a:solidFill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2F5597"/>
                </a:solidFill>
                <a:latin typeface="맑은 고딕"/>
                <a:ea typeface="맑은 고딕"/>
              </a:rPr>
              <a:t>② 개발 공수 = 0.5·M + L ÷ 400 + 1.0·B + 1.0·U  (man-day)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0.5/module = 사람 리뷰·수정 반영, L/400 = 검증·테스트 보강(400 LOC/일), B = 이미지 빌드·재배포 횟수, U = upstream 호환 재검증 횟수(1안만).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맑은 고딕"/>
                <a:ea typeface="맑은 고딕"/>
              </a:rPr>
              <a:t>왜 계산하나: 에이전트가 코드를 쓰는 시대에도 사람 시간(리뷰·검증·배포)이 변경 비용의 대부분이며, 토큰 cost에는 잡히지 않기 때문.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697480"/>
          <a:ext cx="11457432" cy="234542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85800"/>
                <a:gridCol w="2011680"/>
                <a:gridCol w="457200"/>
                <a:gridCol w="1554480"/>
                <a:gridCol w="685800"/>
                <a:gridCol w="548640"/>
                <a:gridCol w="1371600"/>
                <a:gridCol w="685800"/>
                <a:gridCol w="548640"/>
                <a:gridCol w="2907792"/>
              </a:tblGrid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1  (M · L · E)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토큰 $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2  (M · L)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토큰 $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우세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새 tier 추가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· 10 · 0k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· 60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비용 함수 교체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· 250 · 40k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1.25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· 120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P/D 정책 교체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 · 300 · 60k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1.77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· 120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 지시 추가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 · 420 · 80k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2.32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6.5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· 80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vLLM 계약 변경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· 60 · 10k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3.1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· 300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3.2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신규 기능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· 15 · 0k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 · 1500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1.45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7.8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가중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S1~S6 (S2~S4 가중 2)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module 3.1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1.28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3.9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module 1.9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동일 가중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S1~S6 모두 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module 2.7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1.02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module 2.3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3.1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2 (공수·module은 ★ 동급)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303520"/>
            <a:ext cx="5669280" cy="1097280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2F5597"/>
                </a:solidFill>
                <a:latin typeface="맑은 고딕"/>
                <a:ea typeface="맑은 고딕"/>
              </a:rPr>
              <a:t>세 지표가 같은 방향인가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시나리오별로 보면 토큰 cost·공수·module 수의 우열이 6개 모두 같다: S1·S5·S6 후보 1(설정·OSS 제공으로 작은 변경), S2~S4 후보 2(한 구현체만 교체).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가중 평균에서도 세 지표 모두 후보 2가 낮다(별 ★★ → ★★★). ①이 경계를 넘어 별을 가르므로 우선순위 규칙대로 Q3는 1안 ★★, 2안 ★★★.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5669280" cy="1097280"/>
          </a:xfrm>
          <a:prstGeom prst="rect">
            <a:avLst/>
          </a:prstGeom>
          <a:solidFill>
            <a:srgbClr val="FFFBEA"/>
          </a:solidFill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맑은 고딕"/>
                <a:ea typeface="맑은 고딕"/>
              </a:rPr>
              <a:t>민감도 · 정직한 한계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E(OSS 탐색 토큰)가 결과를 좌우한다. E = 0이면 가중 평균 ① 1안 $0.54(★★, 경계 직상)이고 동일 가중이면 $0.45로 ★★★ → 후보 2와 동점. E를 2배로 하면 $2.02.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토큰 cost의 절대 금액은 작다($0.15~2.3). 사람 시간(공수)이 실제 비용 대부분이지만, 소유자 우선순위(① &gt; ② &gt; ③)에 따라 별은 ①로 정하고 ②③은 방향 확인에 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예상치(미실행) [C 시뮬레이션]. 모든 상수는 가정이며 modifiability_model.py에서 재계산된다. 같은 사실에서 세 지표를 계산하므로 방향이 같은 것은 모델의 속성이며 독립 검증은 아니다.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Q4 확장성 — 성능 평가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공통 QA6 Scalability · SE(N) = Goodput(N) ÷ ((N / N0) × Goodput(N0)) · N0 = 2 노드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70432"/>
          <a:ext cx="11457432" cy="25603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4400"/>
                <a:gridCol w="2103120"/>
                <a:gridCol w="5852160"/>
                <a:gridCol w="2587752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 값인가 (정량 근거)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 · 확인 수준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SE(N_max) ≥ 90%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서버를 N배로 늘릴 때 처리량 손실 10% 이내. 16노드 규모에서 90% = 14.4노드분 효과. 병렬 효율 논문에서 '효율적'이라 보고할 때 흔히 쓰는 90%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Cornell CVW · arXiv 1704.03329 (효율 90% 미만으로 안 떨어짐) [검색 확인]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SE(N_max) 70 ~ 90%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확장은 되지만 조율 계층이 병목 조짐. 70% 하한 = 노드 10대 증설에 7대분 효과(3대분 낭비). 매우 큰 규모에서 70~80%도 '우수'로 보고한 사례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arXiv 2409.16053 AthenaK (65,536 GPU에서 80%, 일부 70%) [검색 확인]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SE(N_max) &lt; 70%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손실 30% 초과 = 증설 비용의 1/3 이상 낭비. 조율 계층이 병목이다. 공통 QA6의 임시 정의 경계(DP4 초안 값 재사용)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QA 문서 §13 [내부]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822191"/>
            <a:ext cx="5623560" cy="24414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2F5597"/>
                </a:solidFill>
                <a:latin typeface="맑은 고딕"/>
                <a:ea typeface="맑은 고딕"/>
              </a:rPr>
              <a:t>예상치 (SE 곡선)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서버 수 N = 2 / 4 / 8 / 16: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  Baseline(무상태 LB) 100 / 99 / 98 / 97%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  후보 1  100 / 98 / 96 / 93% → ★★★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  후보 2  100 / 88 / 76 / 64% → ★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N0 = 2는 보유 환경 실측, N = 4~16은 모델 외삽 [C].</a:t>
            </a:r>
          </a:p>
          <a:p>
            <a:pPr algn="l">
              <a:spcAft>
                <a:spcPts val="200"/>
              </a:spcAft>
            </a:pPr>
            <a:r>
              <a:rPr sz="919" b="1">
                <a:solidFill>
                  <a:srgbClr val="2F5597"/>
                </a:solidFill>
                <a:latin typeface="맑은 고딕"/>
                <a:ea typeface="맑은 고딕"/>
              </a:rPr>
              <a:t>후보 2가 낮은 이유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레플리카가 상태를 공유하지 않아 각 레플리카가 전체 서버의 KV 이벤트·메트릭을 중복 처리 → 서버가 N배면 레플리카당 갱신 부하 ≈ N배 → 결정 지연·상태 낡음 → goodput 포화.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822191"/>
            <a:ext cx="5669280" cy="24414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2F5597"/>
                </a:solidFill>
                <a:latin typeface="맑은 고딕"/>
                <a:ea typeface="맑은 고딕"/>
              </a:rPr>
              <a:t>후보 1이 높은 이유와 한계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K8s 복제·서버 풀·흐름 제어가 검증된 경로이고 Router가 P/D 데이터 경로 밖이다.</a:t>
            </a:r>
          </a:p>
          <a:p>
            <a:pPr algn="l">
              <a:spcAft>
                <a:spcPts val="200"/>
              </a:spcAft>
            </a:pPr>
            <a:r>
              <a:rPr sz="919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후보 1의 Router도 전체 이벤트를 처리하는 구조라 비슷한 한계가 있을 수 있다 — 미확인(E4).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90%는 HPC 보고 관행이지 공식 표준이 아니다(검색에서 공식 기준은 찾지 못함).</a:t>
            </a:r>
          </a:p>
          <a:p>
            <a:pPr algn="l">
              <a:spcAft>
                <a:spcPts val="200"/>
              </a:spcAft>
            </a:pPr>
            <a:r>
              <a:rPr sz="919" b="1">
                <a:solidFill>
                  <a:srgbClr val="2F5597"/>
                </a:solidFill>
                <a:latin typeface="맑은 고딕"/>
                <a:ea typeface="맑은 고딕"/>
              </a:rPr>
              <a:t>보완 가능성</a:t>
            </a:r>
          </a:p>
          <a:p>
            <a:pPr algn="l">
              <a:spcAft>
                <a:spcPts val="200"/>
              </a:spcAft>
            </a:pPr>
            <a:r>
              <a:rPr sz="919" b="0">
                <a:solidFill>
                  <a:srgbClr val="000000"/>
                </a:solidFill>
                <a:latin typeface="맑은 고딕"/>
                <a:ea typeface="맑은 고딕"/>
              </a:rPr>
              <a:t>• 서버를 레플리카에 나눠 맡기는 샤딩 구조(설계 문서 다음 장)로 70% 경계를 넘길 여지가 있다. 이 장의 별(★)은 보완 전 현재 설계 기준.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</a:rPr>
              <a:t>출처: </a:t>
            </a: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cvw.cac.cornell.edu/parallel/efficiency/scaling · arxiv.org/abs/1704.03329 · arxiv.org/abs/2409.16053 [모두 검색 확인, 90% 공식 기준은 아님]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예상치(미실행). 별 경계는 공통 QA 문서 §13(임시 정의) 그대로. 우리 환경(2노드)으로는 N_max 실측 불가.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
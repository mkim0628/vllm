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639" r:id="rId2"/>
    <p:sldId id="641" r:id="rId3"/>
    <p:sldId id="697" r:id="rId4"/>
    <p:sldId id="558" r:id="rId5"/>
    <p:sldId id="699" r:id="rId12"/>
    <p:sldId id="698"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90" d="100"/>
          <a:sy n="90" d="100"/>
        </p:scale>
        <p:origin x="1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1C3EA-E54E-452B-BF39-31AE508A1EC4}" type="datetimeFigureOut">
              <a:rPr lang="ko-KR" altLang="en-US" smtClean="0"/>
              <a:t>2026-10-06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0E541-7D41-41DD-B971-E4DBBB729B43}" type="slidenum">
              <a:rPr lang="ko-KR" altLang="en-US" smtClean="0"/>
              <a:t>‹#›</a:t>
            </a:fld>
            <a:endParaRPr lang="ko-KR" altLang="en-US"/>
          </a:p>
        </p:txBody>
      </p:sp>
    </p:spTree>
    <p:extLst>
      <p:ext uri="{BB962C8B-B14F-4D97-AF65-F5344CB8AC3E}">
        <p14:creationId xmlns:p14="http://schemas.microsoft.com/office/powerpoint/2010/main" val="40188978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배경 - 서버 1대 안에서 서버 여러 대로]</a:t>
            </a:r>
          </a:p>
          <a:p>
            <a:r>
              <a:t>먼저 왼쪽입니다. LLM을 돌리는 추론 서버(vLLM 인스턴스) 1대 안에는 GPU의 HBM, 호스트의 DRAM, 그리고 최근 등장한 CXL-PNM, HBF, SSD-PIM 같은 신규 메모리가 섞여 있습니다. 일반 SW로 비유하면 L1/L2 캐시, 메모리, SSD처럼 속도는 빠르고 용량은 작은 것부터 느리고 큰 것까지 계층이 있는 것과 같습니다. LLM이 이전 입력을 다시 계산하지 않으려고 저장해 두는 중간 결과를 KV 캐시라고 부르는데, 이것을 어느 메모리에 두느냐가 성능을 좌우합니다. 이 서버 1대 안의 결정이 지금까지 진행한 DP1~DP4의 범위입니다.</a:t>
            </a:r>
          </a:p>
          <a:p>
            <a:r>
              <a:t>오른쪽은 이 서버를 여러 대, 즉 Rack 규모로 늘렸을 때입니다. 서버마다 메모리 사용 상태와 KV 캐시를 가진 상태가 다르기 때문에, 같은 요청도 어느 서버로 보내느냐에 따라 성능이 크게 달라집니다. 입력 처리(Prefill)와 응답 생성(Decode)을 서로 다른 서버에서 나눠 실행하거나 서버끼리 KV 캐시를 주고받는 일도 생깁니다.</a:t>
            </a:r>
          </a:p>
          <a:p>
            <a:r>
              <a:t>이런 서버 간 결정, 즉 요청 라우팅, Prefill/Decode 분리, KV 공유, 서버 확장을 맡는 것이 요청 조율 계층(Orchestration)입니다. 웹 서비스의 로드밸런서와 스케줄러를 합친 역할입니다. vLLM은 서버 1대 안까지만 다루고, llm-d와 Dynamo 같은 오픈소스가 서버들을 묶는 계층을 제공하므로 두 쪽의 축이 다릅니다. 이 계층을 이기종 메모리 상태까지 반영하도록 어떻게 구성할지가 DP0이고, 다음 장에서 현재 구조와 목표 구조로 정리합니다.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a:t>
            </a:fld>
            <a:endParaRPr lang="ko-KR" altLang="en-US"/>
          </a:p>
        </p:txBody>
      </p:sp>
    </p:spTree>
    <p:extLst>
      <p:ext uri="{BB962C8B-B14F-4D97-AF65-F5344CB8AC3E}">
        <p14:creationId xmlns:p14="http://schemas.microsoft.com/office/powerpoint/2010/main" val="351612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[DP0 배경 - As-Is와 To-Be]</a:t>
            </a:r>
          </a:p>
          <a:p>
            <a:r>
              <a:t>먼저 용어 하나만 짚겠습니다. 저희 시스템은 LLM을 실제로 돌리는 서버(vLLM 인스턴스)가 여러 대 있고, 그 앞에서 요청을 나눠 주는 '요청 조율 계층'이 있습니다. 웹 서비스의 로드밸런서와 스케줄러를 합친 역할입니다. 각 서버는 이전 대화의 중간 결과(KV 캐시)를 HBM, DRAM, CXL 같은 서로 다른 속도의 메모리에 나눠 보관합니다.</a:t>
            </a:r>
          </a:p>
          <a:p>
            <a:r>
              <a:t>왼쪽 As-Is가 지금의 오픈소스(llm-d, Dynamo) 방식입니다. 조율기가 후보 서버에 점수를 매겨 하나를 고르는데, 메모리 종류별 점수가 'GPU 1.0, CPU 0.8'처럼 고정 값입니다. Prefill/Decode(입력 처리와 응답 생성)를 다른 서버에서 나눠 실행할지도 고정 기준으로 정합니다. 정작 서버 안의 메모리 사용량이나 전송 대기 같은 실시간 상태는 판단에 들어가지 않고, 새 메모리(CXL, HBF)는 구분조차 못 합니다. 즉 서버 안에서 애써 얻은 성능 이득이 요청 배분 단계에서 사라질 수 있습니다.</a:t>
            </a:r>
          </a:p>
          <a:p>
            <a:r>
              <a:t>오른쪽 To-Be는 같은 여섯 가지 기능 블록(요청 수신·중계, 서버 선택 로직, 상태 수집, 흐름 제어, Prefill/Decode 조율, 서버 발견·확장)을 유지합니다. 다만 상태 수집에 메모리 종류별 캐시 보유 위치와 사용량·전송 대기 수치를 추가하고, 서버 선택 로직이 이를 비용으로 환산해 판단하게 합니다. 모니터링 메트릭을 읽어 라우팅에 반영하는 구조라고 보시면 됩니다. 이것이 설계 쟁점 1이고, 처리량과 첫 응답 시간(TTFT)을 높이기 위한 설계입니다.</a:t>
            </a:r>
          </a:p>
          <a:p>
            <a:r>
              <a:t>새 메모리나 정책이 생기거나 서버가 늘어도 기존 구조를 바꾸지 않아야 하므로 확장 지점이 필요합니다. 이것이 설계 쟁점 2이고, 변경 용이성과 서버를 늘릴 때의 확장성을 위한 것입니다. 이 확장 지점을 오픈소스를 확장해서 만들지 직접 구현할지가 다음 장들의 1안과 2안입니다.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76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설계 결정이 풀어야 할 문제를 일반 소프트웨어의 요구사항 분류로 정리한 것입니다. 왼쪽은 기능 요구사항, 즉 '무엇을 해야 하나'입니다. 여러 추론 서버(vLLM 인스턴스) 앞단에서 로드밸런서처럼 요청을 어느 서버로 보낼지 고르고(F1), 서버가 알려 주는 메모리 상태를 모으고(F2), 입력 처리(Prefill)와 응답 생성(Decode)을 서버를 나눠 실행할지 정하고(F3), 서버에 메모리 사용 지시를 내리고(F4), 과부하를 조절하고(F5), 서버 증감을 자동 반영(F6)합니다. 이 중 F5, F6은 오픈소스가 이미 제공하고, 우리가 더해야 할 부분은 F1~F4에서 이기종 메모리 상태를 반영하는 부분입니다. 가운데는 비기능 요구사항(품질 속성)으로 '얼마나 잘 해야 하나'입니다. 처리량, 응답 지연(첫 응답까지 시간), 변경 용이성, 서버를 늘릴 때의 확장성 네 가지를 측정 지표와 함께 정했습니다. 목표 수치는 기준선(baseline)을 측정한 뒤 확정하며, 현재는 가설 단계입니다. 자원 활용률과 모델 정확도는 후보 간 차이를 가르지 못해 품질 속성에서 제외했고, 정확도는 제약 C3으로 처리합니다. 오른쪽은 제약사항으로 '못 건드리는 조건'입니다. vLLM 고정, GPU 서버 2대 환경, 정확도 불변, 오픈소스 업스트림 추적, 서버 내부 설계와의 인터페이스 고정, 5개 정책 표현 가능입니다. 한 줄로 말하면, 서버 내부의 메모리 상태를 반영해 요청을 배분하되 품질 목표를 만족하고 이 제약 안에서 해결하는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설계 - 구조(컴포넌트 뷰)]</a:t>
            </a:r>
          </a:p>
          <a:p>
            <a:r>
              <a:t>두 후보를 같은 기능 블록(A~F)과 같은 표기로 그렸습니다. 회색은 우리가 못 바꾸는 vLLM입니다.</a:t>
            </a:r>
          </a:p>
          <a:p>
            <a:r>
              <a:t>1안(왼쪽)은 오픈소스(llm-d)를 그대로 쓰고 우리 로직만 얹습니다. 프록시가 요청을 받아 Router(결정 프로세스)에 원격으로 물어보고(②, 원격 호출 1회), 선택된 서버 옆의 P/D 보조 프로세스가 Prefill 서버를 호출해 P/D를 조율합니다. 노란색이 우리가 추가하는 부분(P1·P2는 설정, P3·P4는 확장 모듈)이고, 빨간 테두리는 기존 모듈을 고쳐야 하는 유일한 곳(P/D 경로의 노드 지시, P5)입니다.</a:t>
            </a:r>
          </a:p>
          <a:p>
            <a:r>
              <a:t>2안(오른쪽)은 전부 우리가 소유하는 계층형 구조입니다. 한 프로세스 안에 Ingress, Pipeline(Admission → PolicyEngine → P/D 조율), State Plane(상태 저장소, 이벤트 구독, 메트릭 수집, 서버 등록)을 나눴고, 정책은 Strategy 패턴으로 갈아 끼웁니다. 점수·비용 함수·P/D 정책을 같은 인터페이스의 구현체로 두고 설정으로 교체하므로 Router 본체와 파이프라인은 그대로입니다. 이전 안은 단일 프로세스·정적 설정의 최소 구성이어서 확장성이 일방적으로 약했는데, 이번에는 상태를 공유하지 않는 레플리카 여러 개를 L4 로드밸런서 뒤에 두고 etcd로 서버를 등록하는 구성으로 같은 노력 수준에서 비교합니다. 구현은 되어 있지 않은 설계안입니다.</a:t>
            </a:r>
          </a:p>
          <a:p>
            <a:r>
              <a:t>P5 범위: 도식의 P5는 지시의 송신(오케스트레이션)입니다. 지시를 받아 실행하는 쪽은 vLLM(엔진)이고 두 안 공통 선결이며, P/D 보조 프로세스는 엔진이 아니라 오케스트레이션 소프트웨어입니다.</a:t>
            </a:r>
          </a:p>
          <a:p>
            <a:r>
              <a:t>후보 2가 한 프로세스인 이유: 우리에게 필요한 것은 요청 파싱, 서버 선택, P/D 조율, 토큰 스트림 중계 같은 LLM 전용 기능뿐이고 인증·다중 프로토콜 같은 범용 프록시 기능은 필요하지 않습니다. 그래서 프록시와 결정 로직을 나눌 이유가 없고, 합쳐서 원격 호출 1회를 없앱니다(범용 기능이 나중에 필요하면 앞단 로드밸런서에 맡깁니다).</a:t>
            </a:r>
          </a:p>
          <a:p>
            <a:r>
              <a:t>아래 표의 D1~D3이 두 안을 가르는 세 가지 설계 결정입니다: 결정을 어디서 하는가, P/D 조율을 어디서 하는가, 기능을 누가 소유하는가. 다음 장에서 이 결정들이 품질 속성을 어떻게 맞바꾸는지 봅니다.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4</a:t>
            </a:fld>
            <a:endParaRPr lang="ko-KR" altLang="en-US"/>
          </a:p>
        </p:txBody>
      </p:sp>
    </p:spTree>
    <p:extLst>
      <p:ext uri="{BB962C8B-B14F-4D97-AF65-F5344CB8AC3E}">
        <p14:creationId xmlns:p14="http://schemas.microsoft.com/office/powerpoint/2010/main" val="2840117195"/>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[DP0 설계 - 변경 용이성(Q3) 시나리오 S1~S6]</a:t>
            </a:r>
          </a:p>
          <a:p>
            <a:r>
              <a:t>변경 용이성은 요구가 바뀔 때 무엇을 얼마나 바꿔야 하는지로 잽니다. 변경 시나리오 6개를 두 안에 대어 봤습니다.</a:t>
            </a:r>
          </a:p>
          <a:p>
            <a:r>
              <a:t>1안이 앞서는 것은 S1(새 메모리 종류 추가: 설정 표에 이름만 추가), S5(vLLM·NIXL 계약 변경: 오픈소스가 대신 따라감), S6(신규 기능: 오픈소스가 제공)입니다. 환경 변화와 신기능을 오픈소스가 흡수해 주는 쪽입니다.</a:t>
            </a:r>
          </a:p>
          <a:p>
            <a:r>
              <a:t>2안이 앞서는 것은 S2(비용 함수 교체), S3(P/D 정책 교체), S4(노드 지시 추가)입니다. 우리 로직을 한 코드베이스에서 Strategy 구현체 교체로 바꾸기 때문에 오픈소스 구조의 제약(기존 모듈 동작 의존, 보조 프로세스 수정, 별도 이미지)을 받지 않습니다. 통제하는 쪽입니다.</a:t>
            </a:r>
          </a:p>
          <a:p>
            <a:r>
              <a:t>그래서 3 대 3으로 동등하고 별은 둘 다 ●●○입니다. 업스트림 추종(S5)과 신기능 확보(S6)는 변경·유지 용이성의 일부이므로 QA 안에 넣었고, 구현 부담과 증거 수준은 QA 밖 제약·리스크로 따로 둡니다.</a:t>
            </a:r>
          </a:p>
          <a:p>
            <a:r>
              <a:t>S4는 오케스트레이션 측 변경만 비교합니다. 새 지시 키를 vLLM이 이해하게 하는 변경은 어느 안이든 똑같이 필요한 공통 선결입니다.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[DP0 설계 - Tradeoff]</a:t>
            </a:r>
          </a:p>
          <a:p>
            <a:r>
              <a:t>이전 평가는 2안을 최소 구성으로 그려서 1안이 사실상 지배하는 구조였습니다. 2안을 레플리카·etcd·흐름 제어를 포함한 같은 노력 수준으로 다시 설계했고, 변경 용이성은 원래 정의(S1~S6, 변경·유지 용이성)로 고정했습니다. 구현 부담·증거 수준 같은 제약·리스크는 QA가 아니라 별도로 병기합니다. 품질 속성은 완성된 시스템의 성질이고 비용은 그것을 만드는 자원이며, 증거 수준은 별점과 독립이라는 규칙이 있고, 유지 부담은 이미 변경 용이성 안에 있기 때문입니다. 별 경계와 QA 지표, 공통 QA 문서는 바꾸지 않았습니다.</a:t>
            </a:r>
          </a:p>
          <a:p>
            <a:r>
              <a:t>왼쪽은 설계 결정 세 개가 무엇을 얻고 잃는지입니다. D1 결정 위치는 지연 대 확장성, D2 P/D 조율 위치는 노드 지시·전역 시야 대 병목 회피, D3 기능 소유는 통제 대 흡수와 구현 부담입니다.</a:t>
            </a:r>
          </a:p>
          <a:p>
            <a:r>
              <a:t>오른쪽 QA 4개는 9 대 9 동점입니다. 처리량은 동등, 지연은 2안, 변경·유지 용이성은 동등(3 대 3), 확장성은 1안입니다. 동점이면 QA 우선순위가 정합니다. 우선순위는 Q1 처리량, Q2 지연, Q3 변경 용이성, Q4 확장성 순이고, 처음으로 갈리는 Q2 지연에서 2안이 앞서 2안을 선택합니다. 우선순위가 확장성 우선으로 뒤집히면 1안입니다.</a:t>
            </a:r>
          </a:p>
          <a:p>
            <a:r>
              <a:t>다만 지연 차이의 크기는 측정하지 못했습니다. 그래서 선택은 E1 확인 후 확정합니다. 1안에서 원격 호출 hop 증분을 재서 잡음 수준이면 지연이 동률이 되어 1안으로 돌아갑니다. 2안의 구현 부담(6/6)과 증거 수준(설계안)은 QA 밖이지만 표에 남기고 알고 감수합니다. 1안은 실행 확인된 경로라 fallback으로 유지합니다.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08F72DF-0A6E-4BB1-9AF3-0B57D393794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19E4493-1667-49E0-B5EA-DB2FD46557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AC821CC-5A9B-4C5E-AAD1-A650C162F565}"/>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B52A243A-6613-412A-9D3E-B9BED438846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11D0221-4EE1-4624-ABF8-E501EABF11CA}"/>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04570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A52700-1789-44C5-816F-13DB6B767E9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3EFD225-F1E6-4272-A0F5-155257D2359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8B7EE7E-EACD-4207-85CD-50800CADA25E}"/>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4BD3B317-3E3C-492F-A129-DB40DA0749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75BDABB-FF3A-4FD0-9D22-9C63C8C4F8F6}"/>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781803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6DFBA3-FA0D-4D5B-855A-A08A490A6FB8}"/>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7AEA5B3-8897-42AE-8A22-316A83429A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DEDABC-9725-4AB8-B170-8135D3CDE0C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0A93DE6A-79B1-4CC2-83F6-A1701D74CCB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C9E4FAD-2C0F-433E-AA41-688DE858785C}"/>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182945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CE727-CFAF-44B4-95BD-2D851766280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023465-6B5C-4B80-942B-6AB74CDC6EE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77A53C2-4C34-4495-B75D-3103A78B250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532012A-BC4A-443C-8376-492ECD42B41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0E7EBC6A-4127-41D0-BDC8-92E1A79C785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080DEB-0701-416C-B5E9-A1380B6A3BE3}"/>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50881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E72EFB-3CF5-4FFB-9CBD-1BAB59C050AF}"/>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BD84F06-7DB4-4DF5-96A0-397DE480BD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D4FE31E-E8D7-4B51-98F1-84E159D3632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09FC50E-E18A-46FE-8848-381C61947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5DE3E36-7031-4AA6-94D3-6FFC67422A5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E94F64D-ED04-453B-A77B-91ED8729106C}"/>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8" name="바닥글 개체 틀 7">
            <a:extLst>
              <a:ext uri="{FF2B5EF4-FFF2-40B4-BE49-F238E27FC236}">
                <a16:creationId xmlns:a16="http://schemas.microsoft.com/office/drawing/2014/main" id="{B0330CAE-B9FD-4933-BDF8-53ECD9E3F38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EC2C36-FF82-4E6B-8B1F-D1FD9EE7AB19}"/>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464917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0356BA-34BF-49C1-88AA-4FF1B6F09D32}"/>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D192383-2FEF-4B70-B55B-06B2E9A4B2D3}"/>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4" name="바닥글 개체 틀 3">
            <a:extLst>
              <a:ext uri="{FF2B5EF4-FFF2-40B4-BE49-F238E27FC236}">
                <a16:creationId xmlns:a16="http://schemas.microsoft.com/office/drawing/2014/main" id="{EE3EB5D8-A999-4E8D-8D82-FAF51998E858}"/>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EC924E0-2EC1-4149-B4DF-51E02C956559}"/>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809683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DBFDA6D-ABBB-4E28-9974-E5DD4B26F0BB}"/>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3" name="바닥글 개체 틀 2">
            <a:extLst>
              <a:ext uri="{FF2B5EF4-FFF2-40B4-BE49-F238E27FC236}">
                <a16:creationId xmlns:a16="http://schemas.microsoft.com/office/drawing/2014/main" id="{B308F9DF-EE39-4541-9E48-FE8CE763BFD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6DB3201E-5078-4D69-BB6A-B5A031DE1DD5}"/>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27777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30D62B-90E5-46EE-A9BD-7AA6D7A28E0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7463079-0DD3-43CB-B974-E48455A80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7757BD2-96C2-4966-91B0-8278388D1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7543097-E883-4E4F-9F74-478CF9329BFC}"/>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B80B0BD0-7318-4ED4-958A-0515E1D4CA6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4FF451A-9472-416B-9EBC-41DB57C9209F}"/>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356515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F6A5FCE-64C1-4A71-831E-57FE25E889A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52F6508-D532-461F-8F84-BE63E1444E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07A615DF-26AD-4EF7-AF7F-E46797250B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1ED3DDA-27C5-411A-9524-317A386C2579}"/>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930D698A-82D4-4D30-961A-504E4F6B4F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2B9886D-3104-4B61-A084-BB7684B36BC5}"/>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708733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78CDF2-D33B-474D-BBD8-B173F06831A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80378E0-E900-43D7-A0FB-96600910223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FA1946C-DDDE-4C9D-BB24-215F7E731FBD}"/>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E754C24E-50B3-4503-A19E-F23174B8D37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5F9F7F3-41C2-4555-8A5F-90DB614662A1}"/>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1085612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E2EE8DA-7A79-4A28-ADAA-F491B4FCE37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3DD7F8F-1FEB-458A-914F-97DFE325885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566EC6B-D184-461B-A131-D4976F7969F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0F58F7EC-E805-491C-9DBB-DEE7B780808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E65E65E-6DB4-4BB3-A263-5FC8D986E693}"/>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1979015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34643377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1DB9F16-EC21-46AD-80D9-C11054F0F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175FC75F-5418-4D50-8197-2B1BBC2A3D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8C442E-14C8-411D-8ADD-5A8ED6C3B1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ED53B9C5-9776-4696-A162-63A8D20BD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D47E8E8-547C-4585-9B60-66F5B59D43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717080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DP0. 요청 조율 구조 (Orchestration) - 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160372" y="849834"/>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② 서버 여러 대로 확장 (Rack Scale)</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① 서버 1대 안: 이기종 메모리 환경</a:t>
              </a:r>
            </a:p>
          </p:txBody>
        </p:sp>
      </p:grpSp>
      <p:sp>
        <p:nvSpPr>
          <p:cNvPr id="102" name="TextBox 101"/>
          <p:cNvSpPr txBox="1"/>
          <p:nvPr/>
        </p:nvSpPr>
        <p:spPr>
          <a:xfrm>
            <a:off x="457200" y="1152144"/>
            <a:ext cx="5349240" cy="640080"/>
          </a:xfrm>
          <a:prstGeom prst="rect">
            <a:avLst/>
          </a:prstGeom>
          <a:noFill/>
        </p:spPr>
        <p:txBody>
          <a:bodyPr wrap="square" lIns="0" tIns="0" rIns="0" bIns="0" anchor="t">
            <a:spAutoFit/>
          </a:bodyPr>
          <a:lstStyle/>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신규 메모리(HBF, CXL-PNM, SSD-PIM 등)가 등장해 서버 1대 안에 </a:t>
            </a:r>
            <a:r>
              <a:rPr sz="1050" b="1" i="0">
                <a:solidFill>
                  <a:srgbClr val="2E75B6"/>
                </a:solidFill>
                <a:latin typeface="맑은 고딕"/>
                <a:ea typeface="맑은 고딕"/>
              </a:rPr>
              <a:t>속도·용량·기능이 다른 메모리가 혼재</a:t>
            </a:r>
          </a:p>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KV 캐시 등 AI 데이터를 </a:t>
            </a:r>
            <a:r>
              <a:rPr sz="1050" b="1" i="0">
                <a:solidFill>
                  <a:srgbClr val="2E75B6"/>
                </a:solidFill>
                <a:latin typeface="맑은 고딕"/>
                <a:ea typeface="맑은 고딕"/>
              </a:rPr>
              <a:t>어느 메모리에 두느냐</a:t>
            </a:r>
            <a:r>
              <a:rPr sz="1050" b="0" i="0">
                <a:solidFill>
                  <a:srgbClr val="404040"/>
                </a:solidFill>
                <a:latin typeface="맑은 고딕"/>
                <a:ea typeface="맑은 고딕"/>
              </a:rPr>
              <a:t>가 성능을 좌우</a:t>
            </a:r>
          </a:p>
        </p:txBody>
      </p:sp>
      <p:sp>
        <p:nvSpPr>
          <p:cNvPr id="103" name="Rectangle 102"/>
          <p:cNvSpPr/>
          <p:nvPr/>
        </p:nvSpPr>
        <p:spPr>
          <a:xfrm>
            <a:off x="502920" y="1847088"/>
            <a:ext cx="525780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4" name="Rectangle 103"/>
          <p:cNvSpPr/>
          <p:nvPr/>
        </p:nvSpPr>
        <p:spPr>
          <a:xfrm>
            <a:off x="594360" y="1920240"/>
            <a:ext cx="5074920" cy="2377440"/>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5" name="Rectangle 104"/>
          <p:cNvSpPr/>
          <p:nvPr/>
        </p:nvSpPr>
        <p:spPr>
          <a:xfrm>
            <a:off x="594360" y="1920240"/>
            <a:ext cx="3017520"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«server» 추론 서버 1대 (vLLM 인스턴스)</a:t>
            </a:r>
          </a:p>
        </p:txBody>
      </p:sp>
      <p:sp>
        <p:nvSpPr>
          <p:cNvPr id="106" name="Rounded Rectangle 105"/>
          <p:cNvSpPr/>
          <p:nvPr/>
        </p:nvSpPr>
        <p:spPr>
          <a:xfrm>
            <a:off x="4343400" y="1938528"/>
            <a:ext cx="1261872" cy="164592"/>
          </a:xfrm>
          <a:prstGeom prst="roundRect">
            <a:avLst>
              <a:gd name="adj" fmla="val 30000"/>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C55A11"/>
                </a:solidFill>
                <a:latin typeface="맑은 고딕"/>
                <a:ea typeface="맑은 고딕"/>
              </a:rPr>
              <a:t>주황 = 신규 메모리</a:t>
            </a:r>
          </a:p>
        </p:txBody>
      </p:sp>
      <p:sp>
        <p:nvSpPr>
          <p:cNvPr id="107" name="Rectangle 106"/>
          <p:cNvSpPr/>
          <p:nvPr/>
        </p:nvSpPr>
        <p:spPr>
          <a:xfrm>
            <a:off x="822960" y="2194560"/>
            <a:ext cx="4572000" cy="38404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vLLM 실행 엔진</a:t>
            </a:r>
          </a:p>
          <a:p>
            <a:pPr algn="ctr"/>
            <a:r>
              <a:rPr sz="700" b="0" i="0">
                <a:solidFill>
                  <a:srgbClr val="000000"/>
                </a:solidFill>
                <a:latin typeface="맑은 고딕"/>
                <a:ea typeface="맑은 고딕"/>
              </a:rPr>
              <a:t>KV 캐시를 만들고 메모리 계층에 배치·이동</a:t>
            </a:r>
          </a:p>
        </p:txBody>
      </p:sp>
      <p:sp>
        <p:nvSpPr>
          <p:cNvPr id="108" name="Rectangle 107"/>
          <p:cNvSpPr/>
          <p:nvPr/>
        </p:nvSpPr>
        <p:spPr>
          <a:xfrm>
            <a:off x="777240"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9" name="Rectangle 108"/>
          <p:cNvSpPr/>
          <p:nvPr/>
        </p:nvSpPr>
        <p:spPr>
          <a:xfrm>
            <a:off x="777240"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0" name="Rectangle 109"/>
          <p:cNvSpPr/>
          <p:nvPr/>
        </p:nvSpPr>
        <p:spPr>
          <a:xfrm>
            <a:off x="731520" y="2834640"/>
            <a:ext cx="141732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1" name="Rectangle 110"/>
          <p:cNvSpPr/>
          <p:nvPr/>
        </p:nvSpPr>
        <p:spPr>
          <a:xfrm>
            <a:off x="731520" y="2834640"/>
            <a:ext cx="281635"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GPU</a:t>
            </a:r>
          </a:p>
        </p:txBody>
      </p:sp>
      <p:sp>
        <p:nvSpPr>
          <p:cNvPr id="112" name="Rectangle 111"/>
          <p:cNvSpPr/>
          <p:nvPr/>
        </p:nvSpPr>
        <p:spPr>
          <a:xfrm>
            <a:off x="868680" y="3154680"/>
            <a:ext cx="1170432"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HBM</a:t>
            </a:r>
          </a:p>
          <a:p>
            <a:pPr algn="ctr"/>
            <a:r>
              <a:rPr sz="700" b="0" i="0">
                <a:solidFill>
                  <a:srgbClr val="000000"/>
                </a:solidFill>
                <a:latin typeface="맑은 고딕"/>
                <a:ea typeface="맑은 고딕"/>
              </a:rPr>
              <a:t>BW 최고 · 용량 소</a:t>
            </a:r>
          </a:p>
          <a:p>
            <a:pPr algn="ctr"/>
            <a:r>
              <a:rPr sz="700" b="0" i="0">
                <a:solidFill>
                  <a:srgbClr val="000000"/>
                </a:solidFill>
                <a:latin typeface="맑은 고딕"/>
                <a:ea typeface="맑은 고딕"/>
              </a:rPr>
              <a:t>(KV 캐시 1순위)</a:t>
            </a:r>
          </a:p>
        </p:txBody>
      </p:sp>
      <p:sp>
        <p:nvSpPr>
          <p:cNvPr id="113" name="Rectangle 112"/>
          <p:cNvSpPr/>
          <p:nvPr/>
        </p:nvSpPr>
        <p:spPr>
          <a:xfrm>
            <a:off x="822959"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4" name="Rectangle 113"/>
          <p:cNvSpPr/>
          <p:nvPr/>
        </p:nvSpPr>
        <p:spPr>
          <a:xfrm>
            <a:off x="822959"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5" name="Rectangle 114"/>
          <p:cNvSpPr/>
          <p:nvPr/>
        </p:nvSpPr>
        <p:spPr>
          <a:xfrm>
            <a:off x="2487168" y="2834640"/>
            <a:ext cx="132588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6" name="Rectangle 115"/>
          <p:cNvSpPr/>
          <p:nvPr/>
        </p:nvSpPr>
        <p:spPr>
          <a:xfrm>
            <a:off x="2487168" y="2834640"/>
            <a:ext cx="687628"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CPU / 호스트</a:t>
            </a:r>
          </a:p>
        </p:txBody>
      </p:sp>
      <p:sp>
        <p:nvSpPr>
          <p:cNvPr id="117" name="Rectangle 116"/>
          <p:cNvSpPr/>
          <p:nvPr/>
        </p:nvSpPr>
        <p:spPr>
          <a:xfrm>
            <a:off x="2624328" y="3154680"/>
            <a:ext cx="1097280"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DRAM</a:t>
            </a:r>
          </a:p>
          <a:p>
            <a:pPr algn="ctr"/>
            <a:r>
              <a:rPr sz="700" b="0" i="0">
                <a:solidFill>
                  <a:srgbClr val="000000"/>
                </a:solidFill>
                <a:latin typeface="맑은 고딕"/>
                <a:ea typeface="맑은 고딕"/>
              </a:rPr>
              <a:t>범용 · 중간 BW</a:t>
            </a:r>
          </a:p>
          <a:p>
            <a:pPr algn="ctr"/>
            <a:r>
              <a:rPr sz="700" b="0" i="0">
                <a:solidFill>
                  <a:srgbClr val="000000"/>
                </a:solidFill>
                <a:latin typeface="맑은 고딕"/>
                <a:ea typeface="맑은 고딕"/>
              </a:rPr>
              <a:t>(KV 캐시 2순위)</a:t>
            </a:r>
          </a:p>
        </p:txBody>
      </p:sp>
      <p:sp>
        <p:nvSpPr>
          <p:cNvPr id="118" name="Rectangle 117"/>
          <p:cNvSpPr/>
          <p:nvPr/>
        </p:nvSpPr>
        <p:spPr>
          <a:xfrm>
            <a:off x="2578608"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9" name="Rectangle 118"/>
          <p:cNvSpPr/>
          <p:nvPr/>
        </p:nvSpPr>
        <p:spPr>
          <a:xfrm>
            <a:off x="2578608"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0" name="Rectangle 119"/>
          <p:cNvSpPr/>
          <p:nvPr/>
        </p:nvSpPr>
        <p:spPr>
          <a:xfrm>
            <a:off x="4114800" y="2834640"/>
            <a:ext cx="1417320" cy="1389888"/>
          </a:xfrm>
          <a:prstGeom prst="rect">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1" name="Rectangle 120"/>
          <p:cNvSpPr/>
          <p:nvPr/>
        </p:nvSpPr>
        <p:spPr>
          <a:xfrm>
            <a:off x="4114800" y="2834640"/>
            <a:ext cx="921715"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확장 메모리 (신규)</a:t>
            </a:r>
          </a:p>
        </p:txBody>
      </p:sp>
      <p:sp>
        <p:nvSpPr>
          <p:cNvPr id="122" name="Rectangle 121"/>
          <p:cNvSpPr/>
          <p:nvPr/>
        </p:nvSpPr>
        <p:spPr>
          <a:xfrm>
            <a:off x="4251960" y="3044952"/>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CXL-PNM</a:t>
            </a:r>
          </a:p>
          <a:p>
            <a:pPr algn="ctr"/>
            <a:r>
              <a:rPr sz="650" b="0" i="0">
                <a:solidFill>
                  <a:srgbClr val="000000"/>
                </a:solidFill>
                <a:latin typeface="맑은 고딕"/>
                <a:ea typeface="맑은 고딕"/>
              </a:rPr>
              <a:t>연산 가능 · 확장 용량</a:t>
            </a:r>
          </a:p>
        </p:txBody>
      </p:sp>
      <p:sp>
        <p:nvSpPr>
          <p:cNvPr id="123" name="Rectangle 122"/>
          <p:cNvSpPr/>
          <p:nvPr/>
        </p:nvSpPr>
        <p:spPr>
          <a:xfrm>
            <a:off x="4206240" y="309981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4" name="Rectangle 123"/>
          <p:cNvSpPr/>
          <p:nvPr/>
        </p:nvSpPr>
        <p:spPr>
          <a:xfrm>
            <a:off x="4206240" y="319125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5" name="Rectangle 124"/>
          <p:cNvSpPr/>
          <p:nvPr/>
        </p:nvSpPr>
        <p:spPr>
          <a:xfrm>
            <a:off x="4251960" y="3438144"/>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HBF</a:t>
            </a:r>
          </a:p>
          <a:p>
            <a:pPr algn="ctr"/>
            <a:r>
              <a:rPr sz="650" b="0" i="0">
                <a:solidFill>
                  <a:srgbClr val="000000"/>
                </a:solidFill>
                <a:latin typeface="맑은 고딕"/>
                <a:ea typeface="맑은 고딕"/>
              </a:rPr>
              <a:t>대용량 · Read 위주</a:t>
            </a:r>
          </a:p>
        </p:txBody>
      </p:sp>
      <p:sp>
        <p:nvSpPr>
          <p:cNvPr id="126" name="Rectangle 125"/>
          <p:cNvSpPr/>
          <p:nvPr/>
        </p:nvSpPr>
        <p:spPr>
          <a:xfrm>
            <a:off x="4206240" y="349300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7" name="Rectangle 126"/>
          <p:cNvSpPr/>
          <p:nvPr/>
        </p:nvSpPr>
        <p:spPr>
          <a:xfrm>
            <a:off x="4206240" y="358444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8" name="Rectangle 127"/>
          <p:cNvSpPr/>
          <p:nvPr/>
        </p:nvSpPr>
        <p:spPr>
          <a:xfrm>
            <a:off x="4251960" y="3831336"/>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SSD-PIM</a:t>
            </a:r>
          </a:p>
          <a:p>
            <a:pPr algn="ctr"/>
            <a:r>
              <a:rPr sz="650" b="0" i="0">
                <a:solidFill>
                  <a:srgbClr val="000000"/>
                </a:solidFill>
                <a:latin typeface="맑은 고딕"/>
                <a:ea typeface="맑은 고딕"/>
              </a:rPr>
              <a:t>초대용량 · 낮은 BW</a:t>
            </a:r>
          </a:p>
        </p:txBody>
      </p:sp>
      <p:sp>
        <p:nvSpPr>
          <p:cNvPr id="129" name="Rectangle 128"/>
          <p:cNvSpPr/>
          <p:nvPr/>
        </p:nvSpPr>
        <p:spPr>
          <a:xfrm>
            <a:off x="4206240" y="3886200"/>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0" name="Rectangle 129"/>
          <p:cNvSpPr/>
          <p:nvPr/>
        </p:nvSpPr>
        <p:spPr>
          <a:xfrm>
            <a:off x="4206240" y="3977639"/>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131" name="Connector 130"/>
          <p:cNvCxnSpPr/>
          <p:nvPr/>
        </p:nvCxnSpPr>
        <p:spPr>
          <a:xfrm>
            <a:off x="17373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16596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33" name="TextBox 132"/>
          <p:cNvSpPr txBox="1"/>
          <p:nvPr/>
        </p:nvSpPr>
        <p:spPr>
          <a:xfrm>
            <a:off x="1828800" y="2610611"/>
            <a:ext cx="82296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계산 중 접근</a:t>
            </a:r>
          </a:p>
        </p:txBody>
      </p:sp>
      <p:cxnSp>
        <p:nvCxnSpPr>
          <p:cNvPr id="134" name="Connector 133"/>
          <p:cNvCxnSpPr/>
          <p:nvPr/>
        </p:nvCxnSpPr>
        <p:spPr>
          <a:xfrm>
            <a:off x="35661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34884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sp>
        <p:nvSpPr>
          <p:cNvPr id="136" name="TextBox 135"/>
          <p:cNvSpPr txBox="1"/>
          <p:nvPr/>
        </p:nvSpPr>
        <p:spPr>
          <a:xfrm>
            <a:off x="3657600" y="2610611"/>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37" name="Connector 136"/>
          <p:cNvCxnSpPr/>
          <p:nvPr/>
        </p:nvCxnSpPr>
        <p:spPr>
          <a:xfrm>
            <a:off x="4718304" y="2578608"/>
            <a:ext cx="0" cy="25603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4640580" y="262890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39" name="TextBox 138"/>
          <p:cNvSpPr txBox="1"/>
          <p:nvPr/>
        </p:nvSpPr>
        <p:spPr>
          <a:xfrm>
            <a:off x="4809744" y="2615184"/>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40" name="Connector 139"/>
          <p:cNvCxnSpPr/>
          <p:nvPr/>
        </p:nvCxnSpPr>
        <p:spPr>
          <a:xfrm>
            <a:off x="2039112" y="3611880"/>
            <a:ext cx="585216" cy="0"/>
          </a:xfrm>
          <a:prstGeom prst="line">
            <a:avLst/>
          </a:prstGeom>
          <a:ln w="15875">
            <a:solidFill>
              <a:srgbClr val="2E75B6"/>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2253996" y="3534156"/>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sp>
        <p:nvSpPr>
          <p:cNvPr id="142" name="TextBox 141"/>
          <p:cNvSpPr txBox="1"/>
          <p:nvPr/>
        </p:nvSpPr>
        <p:spPr>
          <a:xfrm>
            <a:off x="2103120" y="3703320"/>
            <a:ext cx="548640" cy="164592"/>
          </a:xfrm>
          <a:prstGeom prst="rect">
            <a:avLst/>
          </a:prstGeom>
          <a:noFill/>
        </p:spPr>
        <p:txBody>
          <a:bodyPr wrap="square" lIns="0" tIns="0" rIns="0" bIns="0" anchor="t">
            <a:spAutoFit/>
          </a:bodyPr>
          <a:lstStyle/>
          <a:p>
            <a:pPr algn="ctr"/>
            <a:r>
              <a:rPr sz="700" b="1" i="0">
                <a:solidFill>
                  <a:srgbClr val="2E75B6"/>
                </a:solidFill>
                <a:latin typeface="맑은 고딕"/>
                <a:ea typeface="맑은 고딕"/>
              </a:rPr>
              <a:t>PCIe</a:t>
            </a:r>
          </a:p>
        </p:txBody>
      </p:sp>
      <p:cxnSp>
        <p:nvCxnSpPr>
          <p:cNvPr id="143" name="Connector 142"/>
          <p:cNvCxnSpPr/>
          <p:nvPr/>
        </p:nvCxnSpPr>
        <p:spPr>
          <a:xfrm>
            <a:off x="3721608" y="3611880"/>
            <a:ext cx="530352"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3909060" y="3534156"/>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5</a:t>
            </a:r>
          </a:p>
        </p:txBody>
      </p:sp>
      <p:sp>
        <p:nvSpPr>
          <p:cNvPr id="145" name="TextBox 144"/>
          <p:cNvSpPr txBox="1"/>
          <p:nvPr/>
        </p:nvSpPr>
        <p:spPr>
          <a:xfrm>
            <a:off x="3721608" y="3703320"/>
            <a:ext cx="548640" cy="164592"/>
          </a:xfrm>
          <a:prstGeom prst="rect">
            <a:avLst/>
          </a:prstGeom>
          <a:noFill/>
        </p:spPr>
        <p:txBody>
          <a:bodyPr wrap="square" lIns="0" tIns="0" rIns="0" bIns="0" anchor="t">
            <a:spAutoFit/>
          </a:bodyPr>
          <a:lstStyle/>
          <a:p>
            <a:pPr algn="ctr"/>
            <a:r>
              <a:rPr sz="700" b="1" i="0">
                <a:solidFill>
                  <a:srgbClr val="C55A11"/>
                </a:solidFill>
                <a:latin typeface="맑은 고딕"/>
                <a:ea typeface="맑은 고딕"/>
              </a:rPr>
              <a:t>확장</a:t>
            </a:r>
          </a:p>
        </p:txBody>
      </p:sp>
      <p:sp>
        <p:nvSpPr>
          <p:cNvPr id="146" name="TextBox 145"/>
          <p:cNvSpPr txBox="1"/>
          <p:nvPr/>
        </p:nvSpPr>
        <p:spPr>
          <a:xfrm>
            <a:off x="731520" y="4288536"/>
            <a:ext cx="4937760" cy="155448"/>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④⑤ KV 캐시가 메모리 계층 사이를 이동 (자주 쓰는 것은 위로, 오래된 것은 아래로)</a:t>
            </a:r>
          </a:p>
        </p:txBody>
      </p:sp>
      <p:sp>
        <p:nvSpPr>
          <p:cNvPr id="147" name="TextBox 146"/>
          <p:cNvSpPr txBox="1"/>
          <p:nvPr/>
        </p:nvSpPr>
        <p:spPr>
          <a:xfrm>
            <a:off x="566928" y="4453128"/>
            <a:ext cx="86868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빠름 · 작음</a:t>
            </a:r>
          </a:p>
        </p:txBody>
      </p:sp>
      <p:cxnSp>
        <p:nvCxnSpPr>
          <p:cNvPr id="148" name="Connector 147"/>
          <p:cNvCxnSpPr/>
          <p:nvPr/>
        </p:nvCxnSpPr>
        <p:spPr>
          <a:xfrm>
            <a:off x="1371600" y="4544568"/>
            <a:ext cx="3383280" cy="0"/>
          </a:xfrm>
          <a:prstGeom prst="line">
            <a:avLst/>
          </a:prstGeom>
          <a:ln w="15875">
            <a:solidFill>
              <a:srgbClr val="40404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800600" y="4453128"/>
            <a:ext cx="9144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느림 · 큼</a:t>
            </a:r>
          </a:p>
        </p:txBody>
      </p:sp>
      <p:sp>
        <p:nvSpPr>
          <p:cNvPr id="150" name="Rectangle 149"/>
          <p:cNvSpPr/>
          <p:nvPr/>
        </p:nvSpPr>
        <p:spPr>
          <a:xfrm>
            <a:off x="502920" y="4754880"/>
            <a:ext cx="525780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1" name="TextBox 150"/>
          <p:cNvSpPr txBox="1"/>
          <p:nvPr/>
        </p:nvSpPr>
        <p:spPr>
          <a:xfrm>
            <a:off x="621792" y="4782312"/>
            <a:ext cx="5074920" cy="987552"/>
          </a:xfrm>
          <a:prstGeom prst="rect">
            <a:avLst/>
          </a:prstGeom>
          <a:noFill/>
        </p:spPr>
        <p:txBody>
          <a:bodyPr wrap="square" lIns="0" tIns="0" rIns="0" bIns="0" anchor="t">
            <a:spAutoFit/>
          </a:bodyPr>
          <a:lstStyle/>
          <a:p>
            <a:pPr algn="l">
              <a:lnSpc>
                <a:spcPct val="110000"/>
              </a:lnSpc>
            </a:pPr>
            <a:r>
              <a:rPr sz="950" b="1" i="0">
                <a:solidFill>
                  <a:srgbClr val="2E75B6"/>
                </a:solidFill>
                <a:latin typeface="맑은 고딕"/>
                <a:ea typeface="맑은 고딕"/>
              </a:rPr>
              <a:t>DP1~DP4 = 서버 1대 안에서 내리는 결정 (서버 내부 결정)</a:t>
            </a:r>
          </a:p>
          <a:p>
            <a:pPr algn="l">
              <a:lnSpc>
                <a:spcPct val="110000"/>
              </a:lnSpc>
            </a:pPr>
            <a:r>
              <a:rPr sz="850" b="0" i="0">
                <a:solidFill>
                  <a:srgbClr val="404040"/>
                </a:solidFill>
                <a:latin typeface="맑은 고딕"/>
                <a:ea typeface="맑은 고딕"/>
              </a:rPr>
              <a:t>· DP1  이기종 메모리 기반 AI 데이터 배치: 어떤 데이터를 어느 메모리에?</a:t>
            </a:r>
          </a:p>
          <a:p>
            <a:pPr algn="l">
              <a:lnSpc>
                <a:spcPct val="110000"/>
              </a:lnSpc>
            </a:pPr>
            <a:r>
              <a:rPr sz="850" b="0" i="0">
                <a:solidFill>
                  <a:srgbClr val="404040"/>
                </a:solidFill>
                <a:latin typeface="맑은 고딕"/>
                <a:ea typeface="맑은 고딕"/>
              </a:rPr>
              <a:t>· DP2  Prefill(입력 처리) 실행: 어느 연산 자원에서?</a:t>
            </a:r>
          </a:p>
          <a:p>
            <a:pPr algn="l">
              <a:lnSpc>
                <a:spcPct val="110000"/>
              </a:lnSpc>
            </a:pPr>
            <a:r>
              <a:rPr sz="850" b="0" i="0">
                <a:solidFill>
                  <a:srgbClr val="404040"/>
                </a:solidFill>
                <a:latin typeface="맑은 고딕"/>
                <a:ea typeface="맑은 고딕"/>
              </a:rPr>
              <a:t>· DP3  Long Context KV Eviction &amp; Reuse  · DP4  Agent Tool-wait KV residency</a:t>
            </a:r>
          </a:p>
          <a:p>
            <a:pPr algn="l">
              <a:lnSpc>
                <a:spcPct val="110000"/>
              </a:lnSpc>
            </a:pPr>
            <a:r>
              <a:rPr sz="750" b="0" i="0">
                <a:solidFill>
                  <a:srgbClr val="404040"/>
                </a:solidFill>
                <a:latin typeface="맑은 고딕"/>
                <a:ea typeface="맑은 고딕"/>
              </a:rPr>
              <a:t>vLLM은 GPU 여러 장을 써도 '서버 내부 병렬화'까지만 담당</a:t>
            </a:r>
          </a:p>
        </p:txBody>
      </p:sp>
      <p:sp>
        <p:nvSpPr>
          <p:cNvPr id="152" name="TextBox 151"/>
          <p:cNvSpPr txBox="1"/>
          <p:nvPr/>
        </p:nvSpPr>
        <p:spPr>
          <a:xfrm>
            <a:off x="6327648" y="1152144"/>
            <a:ext cx="5394960" cy="640080"/>
          </a:xfrm>
          <a:prstGeom prst="rect">
            <a:avLst/>
          </a:prstGeom>
          <a:noFill/>
        </p:spPr>
        <p:txBody>
          <a:bodyPr wrap="square" lIns="0" tIns="0" rIns="0" bIns="0" anchor="t">
            <a:spAutoFit/>
          </a:bodyPr>
          <a:lstStyle/>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서버·GPU가 여러 대 → </a:t>
            </a:r>
            <a:r>
              <a:rPr sz="1050" b="1" i="0">
                <a:solidFill>
                  <a:srgbClr val="C55A11"/>
                </a:solidFill>
                <a:latin typeface="맑은 고딕"/>
                <a:ea typeface="맑은 고딕"/>
              </a:rPr>
              <a:t>서버마다 메모리 사용 상태·KV 캐시 보유 상태가 다름</a:t>
            </a:r>
          </a:p>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같은 요청도 </a:t>
            </a:r>
            <a:r>
              <a:rPr sz="1050" b="1" i="0">
                <a:solidFill>
                  <a:srgbClr val="C55A11"/>
                </a:solidFill>
                <a:latin typeface="맑은 고딕"/>
                <a:ea typeface="맑은 고딕"/>
              </a:rPr>
              <a:t>어느 서버로 보내느냐</a:t>
            </a:r>
            <a:r>
              <a:rPr sz="1050" b="0" i="0">
                <a:solidFill>
                  <a:srgbClr val="404040"/>
                </a:solidFill>
                <a:latin typeface="맑은 고딕"/>
                <a:ea typeface="맑은 고딕"/>
              </a:rPr>
              <a:t>에 따라 성능이 달라짐</a:t>
            </a:r>
          </a:p>
        </p:txBody>
      </p:sp>
      <p:sp>
        <p:nvSpPr>
          <p:cNvPr id="153" name="Rectangle 152"/>
          <p:cNvSpPr/>
          <p:nvPr/>
        </p:nvSpPr>
        <p:spPr>
          <a:xfrm>
            <a:off x="6355080" y="1847088"/>
            <a:ext cx="539496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4" name="Rounded Rectangle 153"/>
          <p:cNvSpPr/>
          <p:nvPr/>
        </p:nvSpPr>
        <p:spPr>
          <a:xfrm>
            <a:off x="6446520" y="2240280"/>
            <a:ext cx="713232"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800" b="1" i="0">
                <a:solidFill>
                  <a:srgbClr val="000000"/>
                </a:solidFill>
                <a:latin typeface="맑은 고딕"/>
                <a:ea typeface="맑은 고딕"/>
              </a:rPr>
              <a:t>Request</a:t>
            </a:r>
          </a:p>
        </p:txBody>
      </p:sp>
      <p:cxnSp>
        <p:nvCxnSpPr>
          <p:cNvPr id="155" name="Connector 154"/>
          <p:cNvCxnSpPr/>
          <p:nvPr/>
        </p:nvCxnSpPr>
        <p:spPr>
          <a:xfrm>
            <a:off x="7159752" y="2395728"/>
            <a:ext cx="24688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7205472" y="23180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57" name="Rectangle 156"/>
          <p:cNvSpPr/>
          <p:nvPr/>
        </p:nvSpPr>
        <p:spPr>
          <a:xfrm>
            <a:off x="7406640" y="1920240"/>
            <a:ext cx="4251960" cy="914400"/>
          </a:xfrm>
          <a:prstGeom prst="rect">
            <a:avLst/>
          </a:prstGeom>
          <a:solidFill>
            <a:srgbClr val="FFFFFF"/>
          </a:solidFill>
          <a:ln w="1587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8" name="Rectangle 157"/>
          <p:cNvSpPr/>
          <p:nvPr/>
        </p:nvSpPr>
        <p:spPr>
          <a:xfrm>
            <a:off x="7406640" y="1920240"/>
            <a:ext cx="3657600"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«layer» 요청 조율 계층 (Orchestration) - 현재 공백</a:t>
            </a:r>
          </a:p>
        </p:txBody>
      </p:sp>
      <p:sp>
        <p:nvSpPr>
          <p:cNvPr id="159" name="Rectangle 158"/>
          <p:cNvSpPr/>
          <p:nvPr/>
        </p:nvSpPr>
        <p:spPr>
          <a:xfrm>
            <a:off x="7543800"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요청 라우팅</a:t>
            </a:r>
          </a:p>
        </p:txBody>
      </p:sp>
      <p:sp>
        <p:nvSpPr>
          <p:cNvPr id="160" name="Rectangle 159"/>
          <p:cNvSpPr/>
          <p:nvPr/>
        </p:nvSpPr>
        <p:spPr>
          <a:xfrm>
            <a:off x="7498079"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1" name="Rectangle 160"/>
          <p:cNvSpPr/>
          <p:nvPr/>
        </p:nvSpPr>
        <p:spPr>
          <a:xfrm>
            <a:off x="7498079"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2" name="Rectangle 161"/>
          <p:cNvSpPr/>
          <p:nvPr/>
        </p:nvSpPr>
        <p:spPr>
          <a:xfrm>
            <a:off x="8567928"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P/D 분리 배치</a:t>
            </a:r>
          </a:p>
        </p:txBody>
      </p:sp>
      <p:sp>
        <p:nvSpPr>
          <p:cNvPr id="163" name="Rectangle 162"/>
          <p:cNvSpPr/>
          <p:nvPr/>
        </p:nvSpPr>
        <p:spPr>
          <a:xfrm>
            <a:off x="8522208"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4" name="Rectangle 163"/>
          <p:cNvSpPr/>
          <p:nvPr/>
        </p:nvSpPr>
        <p:spPr>
          <a:xfrm>
            <a:off x="8522208"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5" name="Rectangle 164"/>
          <p:cNvSpPr/>
          <p:nvPr/>
        </p:nvSpPr>
        <p:spPr>
          <a:xfrm>
            <a:off x="9592056"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KV 공유</a:t>
            </a:r>
          </a:p>
        </p:txBody>
      </p:sp>
      <p:sp>
        <p:nvSpPr>
          <p:cNvPr id="166" name="Rectangle 165"/>
          <p:cNvSpPr/>
          <p:nvPr/>
        </p:nvSpPr>
        <p:spPr>
          <a:xfrm>
            <a:off x="9546336"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7" name="Rectangle 166"/>
          <p:cNvSpPr/>
          <p:nvPr/>
        </p:nvSpPr>
        <p:spPr>
          <a:xfrm>
            <a:off x="9546336"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8" name="Rectangle 167"/>
          <p:cNvSpPr/>
          <p:nvPr/>
        </p:nvSpPr>
        <p:spPr>
          <a:xfrm>
            <a:off x="10616184"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서버 발견·확장</a:t>
            </a:r>
          </a:p>
        </p:txBody>
      </p:sp>
      <p:sp>
        <p:nvSpPr>
          <p:cNvPr id="169" name="Rectangle 168"/>
          <p:cNvSpPr/>
          <p:nvPr/>
        </p:nvSpPr>
        <p:spPr>
          <a:xfrm>
            <a:off x="10570463"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0" name="Rectangle 169"/>
          <p:cNvSpPr/>
          <p:nvPr/>
        </p:nvSpPr>
        <p:spPr>
          <a:xfrm>
            <a:off x="10570463"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1" name="Rectangle 170"/>
          <p:cNvSpPr/>
          <p:nvPr/>
        </p:nvSpPr>
        <p:spPr>
          <a:xfrm>
            <a:off x="6446520" y="3090672"/>
            <a:ext cx="5212080" cy="1499616"/>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2" name="Rectangle 171"/>
          <p:cNvSpPr/>
          <p:nvPr/>
        </p:nvSpPr>
        <p:spPr>
          <a:xfrm>
            <a:off x="6446520" y="3090672"/>
            <a:ext cx="75712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«rack» Rack</a:t>
            </a:r>
          </a:p>
        </p:txBody>
      </p:sp>
      <p:sp>
        <p:nvSpPr>
          <p:cNvPr id="173" name="Rectangle 172"/>
          <p:cNvSpPr/>
          <p:nvPr/>
        </p:nvSpPr>
        <p:spPr>
          <a:xfrm>
            <a:off x="6528816"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4" name="Rectangle 173"/>
          <p:cNvSpPr/>
          <p:nvPr/>
        </p:nvSpPr>
        <p:spPr>
          <a:xfrm>
            <a:off x="6528816"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1 (vLLM)</a:t>
            </a:r>
          </a:p>
        </p:txBody>
      </p:sp>
      <p:sp>
        <p:nvSpPr>
          <p:cNvPr id="175" name="Rectangle 174"/>
          <p:cNvSpPr/>
          <p:nvPr/>
        </p:nvSpPr>
        <p:spPr>
          <a:xfrm>
            <a:off x="7498079"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176" name="TextBox 175"/>
          <p:cNvSpPr txBox="1"/>
          <p:nvPr/>
        </p:nvSpPr>
        <p:spPr>
          <a:xfrm>
            <a:off x="6565392"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77" name="Rectangle 176"/>
          <p:cNvSpPr/>
          <p:nvPr/>
        </p:nvSpPr>
        <p:spPr>
          <a:xfrm>
            <a:off x="6976872"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8" name="Rectangle 177"/>
          <p:cNvSpPr/>
          <p:nvPr/>
        </p:nvSpPr>
        <p:spPr>
          <a:xfrm>
            <a:off x="6976872" y="3721608"/>
            <a:ext cx="94640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9" name="TextBox 178"/>
          <p:cNvSpPr txBox="1"/>
          <p:nvPr/>
        </p:nvSpPr>
        <p:spPr>
          <a:xfrm>
            <a:off x="6565392"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80" name="Rectangle 179"/>
          <p:cNvSpPr/>
          <p:nvPr/>
        </p:nvSpPr>
        <p:spPr>
          <a:xfrm>
            <a:off x="6976872"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1" name="Rectangle 180"/>
          <p:cNvSpPr/>
          <p:nvPr/>
        </p:nvSpPr>
        <p:spPr>
          <a:xfrm>
            <a:off x="6976872" y="390448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2" name="TextBox 181"/>
          <p:cNvSpPr txBox="1"/>
          <p:nvPr/>
        </p:nvSpPr>
        <p:spPr>
          <a:xfrm>
            <a:off x="6565392"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183" name="Rectangle 182"/>
          <p:cNvSpPr/>
          <p:nvPr/>
        </p:nvSpPr>
        <p:spPr>
          <a:xfrm>
            <a:off x="6976872"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4" name="Rectangle 183"/>
          <p:cNvSpPr/>
          <p:nvPr/>
        </p:nvSpPr>
        <p:spPr>
          <a:xfrm>
            <a:off x="6976872" y="4087368"/>
            <a:ext cx="105156"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5" name="TextBox 184"/>
          <p:cNvSpPr txBox="1"/>
          <p:nvPr/>
        </p:nvSpPr>
        <p:spPr>
          <a:xfrm>
            <a:off x="6601968"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186" name="Connector 185"/>
          <p:cNvCxnSpPr/>
          <p:nvPr/>
        </p:nvCxnSpPr>
        <p:spPr>
          <a:xfrm>
            <a:off x="7351775"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7274051"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188" name="Connector 187"/>
          <p:cNvCxnSpPr/>
          <p:nvPr/>
        </p:nvCxnSpPr>
        <p:spPr>
          <a:xfrm flipV="1">
            <a:off x="7808975"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9" name="Oval 188"/>
          <p:cNvSpPr/>
          <p:nvPr/>
        </p:nvSpPr>
        <p:spPr>
          <a:xfrm>
            <a:off x="7731251"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90" name="Rectangle 189"/>
          <p:cNvSpPr/>
          <p:nvPr/>
        </p:nvSpPr>
        <p:spPr>
          <a:xfrm>
            <a:off x="8284463"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1" name="Rectangle 190"/>
          <p:cNvSpPr/>
          <p:nvPr/>
        </p:nvSpPr>
        <p:spPr>
          <a:xfrm>
            <a:off x="8284463"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2 (vLLM)</a:t>
            </a:r>
          </a:p>
        </p:txBody>
      </p:sp>
      <p:sp>
        <p:nvSpPr>
          <p:cNvPr id="192" name="Rectangle 191"/>
          <p:cNvSpPr/>
          <p:nvPr/>
        </p:nvSpPr>
        <p:spPr>
          <a:xfrm>
            <a:off x="9253728"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KV-B</a:t>
            </a:r>
          </a:p>
        </p:txBody>
      </p:sp>
      <p:sp>
        <p:nvSpPr>
          <p:cNvPr id="193" name="TextBox 192"/>
          <p:cNvSpPr txBox="1"/>
          <p:nvPr/>
        </p:nvSpPr>
        <p:spPr>
          <a:xfrm>
            <a:off x="8321039"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94" name="Rectangle 193"/>
          <p:cNvSpPr/>
          <p:nvPr/>
        </p:nvSpPr>
        <p:spPr>
          <a:xfrm>
            <a:off x="8732519"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5" name="Rectangle 194"/>
          <p:cNvSpPr/>
          <p:nvPr/>
        </p:nvSpPr>
        <p:spPr>
          <a:xfrm>
            <a:off x="8732519" y="372160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6" name="TextBox 195"/>
          <p:cNvSpPr txBox="1"/>
          <p:nvPr/>
        </p:nvSpPr>
        <p:spPr>
          <a:xfrm>
            <a:off x="8321039"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97" name="Rectangle 196"/>
          <p:cNvSpPr/>
          <p:nvPr/>
        </p:nvSpPr>
        <p:spPr>
          <a:xfrm>
            <a:off x="8732519"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8" name="Rectangle 197"/>
          <p:cNvSpPr/>
          <p:nvPr/>
        </p:nvSpPr>
        <p:spPr>
          <a:xfrm>
            <a:off x="8732519" y="3904488"/>
            <a:ext cx="893826"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9" name="TextBox 198"/>
          <p:cNvSpPr txBox="1"/>
          <p:nvPr/>
        </p:nvSpPr>
        <p:spPr>
          <a:xfrm>
            <a:off x="8321039"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00" name="Rectangle 199"/>
          <p:cNvSpPr/>
          <p:nvPr/>
        </p:nvSpPr>
        <p:spPr>
          <a:xfrm>
            <a:off x="8732519"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1" name="Rectangle 200"/>
          <p:cNvSpPr/>
          <p:nvPr/>
        </p:nvSpPr>
        <p:spPr>
          <a:xfrm>
            <a:off x="8732519" y="4087368"/>
            <a:ext cx="525780"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2" name="TextBox 201"/>
          <p:cNvSpPr txBox="1"/>
          <p:nvPr/>
        </p:nvSpPr>
        <p:spPr>
          <a:xfrm>
            <a:off x="8357615"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03" name="Connector 202"/>
          <p:cNvCxnSpPr/>
          <p:nvPr/>
        </p:nvCxnSpPr>
        <p:spPr>
          <a:xfrm>
            <a:off x="9107424"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04" name="Oval 203"/>
          <p:cNvSpPr/>
          <p:nvPr/>
        </p:nvSpPr>
        <p:spPr>
          <a:xfrm>
            <a:off x="9029699"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05" name="Connector 204"/>
          <p:cNvCxnSpPr/>
          <p:nvPr/>
        </p:nvCxnSpPr>
        <p:spPr>
          <a:xfrm flipV="1">
            <a:off x="9564624"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6" name="Oval 205"/>
          <p:cNvSpPr/>
          <p:nvPr/>
        </p:nvSpPr>
        <p:spPr>
          <a:xfrm>
            <a:off x="9486899"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207" name="Rectangle 206"/>
          <p:cNvSpPr/>
          <p:nvPr/>
        </p:nvSpPr>
        <p:spPr>
          <a:xfrm>
            <a:off x="10040112"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8" name="Rectangle 207"/>
          <p:cNvSpPr/>
          <p:nvPr/>
        </p:nvSpPr>
        <p:spPr>
          <a:xfrm>
            <a:off x="10040112"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3 (vLLM)</a:t>
            </a:r>
          </a:p>
        </p:txBody>
      </p:sp>
      <p:sp>
        <p:nvSpPr>
          <p:cNvPr id="209" name="Rectangle 208"/>
          <p:cNvSpPr/>
          <p:nvPr/>
        </p:nvSpPr>
        <p:spPr>
          <a:xfrm>
            <a:off x="11009376"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210" name="TextBox 209"/>
          <p:cNvSpPr txBox="1"/>
          <p:nvPr/>
        </p:nvSpPr>
        <p:spPr>
          <a:xfrm>
            <a:off x="10076688"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211" name="Rectangle 210"/>
          <p:cNvSpPr/>
          <p:nvPr/>
        </p:nvSpPr>
        <p:spPr>
          <a:xfrm>
            <a:off x="10488168"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2" name="Rectangle 211"/>
          <p:cNvSpPr/>
          <p:nvPr/>
        </p:nvSpPr>
        <p:spPr>
          <a:xfrm>
            <a:off x="10488168" y="3721608"/>
            <a:ext cx="210312"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3" name="TextBox 212"/>
          <p:cNvSpPr txBox="1"/>
          <p:nvPr/>
        </p:nvSpPr>
        <p:spPr>
          <a:xfrm>
            <a:off x="10076688"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214" name="Rectangle 213"/>
          <p:cNvSpPr/>
          <p:nvPr/>
        </p:nvSpPr>
        <p:spPr>
          <a:xfrm>
            <a:off x="10488168"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5" name="Rectangle 214"/>
          <p:cNvSpPr/>
          <p:nvPr/>
        </p:nvSpPr>
        <p:spPr>
          <a:xfrm>
            <a:off x="10488168" y="3904488"/>
            <a:ext cx="262890"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6" name="TextBox 215"/>
          <p:cNvSpPr txBox="1"/>
          <p:nvPr/>
        </p:nvSpPr>
        <p:spPr>
          <a:xfrm>
            <a:off x="10076688"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17" name="Rectangle 216"/>
          <p:cNvSpPr/>
          <p:nvPr/>
        </p:nvSpPr>
        <p:spPr>
          <a:xfrm>
            <a:off x="10488168"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8" name="Rectangle 217"/>
          <p:cNvSpPr/>
          <p:nvPr/>
        </p:nvSpPr>
        <p:spPr>
          <a:xfrm>
            <a:off x="10488168" y="4087368"/>
            <a:ext cx="946404"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9" name="TextBox 218"/>
          <p:cNvSpPr txBox="1"/>
          <p:nvPr/>
        </p:nvSpPr>
        <p:spPr>
          <a:xfrm>
            <a:off x="10113264"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20" name="Connector 219"/>
          <p:cNvCxnSpPr/>
          <p:nvPr/>
        </p:nvCxnSpPr>
        <p:spPr>
          <a:xfrm>
            <a:off x="10863072"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10785348"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22" name="Connector 221"/>
          <p:cNvCxnSpPr/>
          <p:nvPr/>
        </p:nvCxnSpPr>
        <p:spPr>
          <a:xfrm flipV="1">
            <a:off x="11320272"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3" name="Oval 222"/>
          <p:cNvSpPr/>
          <p:nvPr/>
        </p:nvSpPr>
        <p:spPr>
          <a:xfrm>
            <a:off x="11242548"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cxnSp>
        <p:nvCxnSpPr>
          <p:cNvPr id="224" name="Connector 223"/>
          <p:cNvCxnSpPr/>
          <p:nvPr/>
        </p:nvCxnSpPr>
        <p:spPr>
          <a:xfrm>
            <a:off x="8074152"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829799"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6492240" y="4370832"/>
            <a:ext cx="5120640" cy="18288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서버 간 KV 캐시 전송 (NIXL, 점선)  ·  서버마다 메모리 점유율·보유 KV가 다름</a:t>
            </a:r>
          </a:p>
        </p:txBody>
      </p:sp>
      <p:sp>
        <p:nvSpPr>
          <p:cNvPr id="227" name="Rectangle 226"/>
          <p:cNvSpPr/>
          <p:nvPr/>
        </p:nvSpPr>
        <p:spPr>
          <a:xfrm>
            <a:off x="6355080" y="4754880"/>
            <a:ext cx="539496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8" name="TextBox 227"/>
          <p:cNvSpPr txBox="1"/>
          <p:nvPr/>
        </p:nvSpPr>
        <p:spPr>
          <a:xfrm>
            <a:off x="6473952" y="4782312"/>
            <a:ext cx="5212080" cy="987552"/>
          </a:xfrm>
          <a:prstGeom prst="rect">
            <a:avLst/>
          </a:prstGeom>
          <a:noFill/>
        </p:spPr>
        <p:txBody>
          <a:bodyPr wrap="square" lIns="0" tIns="0" rIns="0" bIns="0" anchor="t">
            <a:spAutoFit/>
          </a:bodyPr>
          <a:lstStyle/>
          <a:p>
            <a:pPr algn="l">
              <a:lnSpc>
                <a:spcPct val="110000"/>
              </a:lnSpc>
            </a:pPr>
            <a:r>
              <a:rPr sz="950" b="1" i="0">
                <a:solidFill>
                  <a:srgbClr val="C55A11"/>
                </a:solidFill>
                <a:latin typeface="맑은 고딕"/>
                <a:ea typeface="맑은 고딕"/>
              </a:rPr>
              <a:t>서버 간에 새로 필요한 결정 (서버 간 결정)</a:t>
            </a:r>
          </a:p>
          <a:p>
            <a:pPr algn="l">
              <a:lnSpc>
                <a:spcPct val="110000"/>
              </a:lnSpc>
            </a:pPr>
            <a:r>
              <a:rPr sz="850" b="0" i="0">
                <a:solidFill>
                  <a:srgbClr val="404040"/>
                </a:solidFill>
                <a:latin typeface="맑은 고딕"/>
                <a:ea typeface="맑은 고딕"/>
              </a:rPr>
              <a:t>① 이 요청을 어느 서버로?  (서버별 KV 캐시 위치·메모리 점유가 상이)</a:t>
            </a:r>
          </a:p>
          <a:p>
            <a:pPr algn="l">
              <a:lnSpc>
                <a:spcPct val="110000"/>
              </a:lnSpc>
            </a:pPr>
            <a:r>
              <a:rPr sz="850" b="0" i="0">
                <a:solidFill>
                  <a:srgbClr val="404040"/>
                </a:solidFill>
                <a:latin typeface="맑은 고딕"/>
                <a:ea typeface="맑은 고딕"/>
              </a:rPr>
              <a:t>② Prefill/Decode를 서버 나눠 실행할지, Prefill은 어디서?  (KV 전송 비용)</a:t>
            </a:r>
          </a:p>
          <a:p>
            <a:pPr algn="l">
              <a:lnSpc>
                <a:spcPct val="110000"/>
              </a:lnSpc>
            </a:pPr>
            <a:r>
              <a:rPr sz="850" b="0" i="0">
                <a:solidFill>
                  <a:srgbClr val="404040"/>
                </a:solidFill>
                <a:latin typeface="맑은 고딕"/>
                <a:ea typeface="맑은 고딕"/>
              </a:rPr>
              <a:t>③ 서버 간 KV 공유·서버 확장은?</a:t>
            </a:r>
          </a:p>
          <a:p>
            <a:pPr algn="l">
              <a:lnSpc>
                <a:spcPct val="110000"/>
              </a:lnSpc>
            </a:pPr>
            <a:r>
              <a:rPr sz="750" b="0" i="0">
                <a:solidFill>
                  <a:srgbClr val="404040"/>
                </a:solidFill>
                <a:latin typeface="맑은 고딕"/>
                <a:ea typeface="맑은 고딕"/>
              </a:rPr>
              <a:t>vLLM = 서버 내부 병렬화 / llm-d·Dynamo = 서버들을 묶는 계층 → 다루는 축이 다름</a:t>
            </a:r>
          </a:p>
        </p:txBody>
      </p:sp>
      <p:sp>
        <p:nvSpPr>
          <p:cNvPr id="229" name="Rectangle 228"/>
          <p:cNvSpPr/>
          <p:nvPr/>
        </p:nvSpPr>
        <p:spPr>
          <a:xfrm>
            <a:off x="502920" y="5852160"/>
            <a:ext cx="525780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0" name="TextBox 229"/>
          <p:cNvSpPr txBox="1"/>
          <p:nvPr/>
        </p:nvSpPr>
        <p:spPr>
          <a:xfrm>
            <a:off x="566928" y="5861304"/>
            <a:ext cx="5138928" cy="457200"/>
          </a:xfrm>
          <a:prstGeom prst="rect">
            <a:avLst/>
          </a:prstGeom>
          <a:noFill/>
        </p:spPr>
        <p:txBody>
          <a:bodyPr wrap="square" lIns="0" tIns="0" rIns="0" bIns="0" anchor="t">
            <a:spAutoFit/>
          </a:bodyPr>
          <a:lstStyle/>
          <a:p>
            <a:pPr algn="l">
              <a:lnSpc>
                <a:spcPct val="100000"/>
              </a:lnSpc>
            </a:pPr>
            <a:r>
              <a:rPr sz="700" b="1" i="0">
                <a:solidFill>
                  <a:srgbClr val="2E75B6"/>
                </a:solidFill>
                <a:latin typeface="맑은 고딕"/>
                <a:ea typeface="맑은 고딕"/>
              </a:rPr>
              <a:t>용어 </a:t>
            </a:r>
            <a:r>
              <a:rPr sz="700" b="1" i="0">
                <a:solidFill>
                  <a:srgbClr val="404040"/>
                </a:solidFill>
                <a:latin typeface="맑은 고딕"/>
                <a:ea typeface="맑은 고딕"/>
              </a:rPr>
              <a:t>KV 캐시</a:t>
            </a:r>
            <a:r>
              <a:rPr sz="700" b="0" i="0">
                <a:solidFill>
                  <a:srgbClr val="404040"/>
                </a:solidFill>
                <a:latin typeface="맑은 고딕"/>
                <a:ea typeface="맑은 고딕"/>
              </a:rPr>
              <a:t> = LLM이 이전 입력을 다시 계산하지 않도록 저장한 중간 결과</a:t>
            </a:r>
          </a:p>
          <a:p>
            <a:pPr algn="l">
              <a:lnSpc>
                <a:spcPct val="100000"/>
              </a:lnSpc>
            </a:pPr>
            <a:r>
              <a:rPr sz="700" b="1" i="0">
                <a:solidFill>
                  <a:srgbClr val="404040"/>
                </a:solidFill>
                <a:latin typeface="맑은 고딕"/>
                <a:ea typeface="맑은 고딕"/>
              </a:rPr>
              <a:t>HBM·DRAM·CXL·HBF·SSD</a:t>
            </a:r>
            <a:r>
              <a:rPr sz="700" b="0" i="0">
                <a:solidFill>
                  <a:srgbClr val="404040"/>
                </a:solidFill>
                <a:latin typeface="맑은 고딕"/>
                <a:ea typeface="맑은 고딕"/>
              </a:rPr>
              <a:t> = 빠르고 작은 메모리 → 느리고 큰 메모리</a:t>
            </a:r>
          </a:p>
          <a:p>
            <a:pPr algn="l">
              <a:lnSpc>
                <a:spcPct val="100000"/>
              </a:lnSpc>
            </a:pPr>
            <a:r>
              <a:rPr sz="700" b="1" i="0">
                <a:solidFill>
                  <a:srgbClr val="404040"/>
                </a:solidFill>
                <a:latin typeface="맑은 고딕"/>
                <a:ea typeface="맑은 고딕"/>
              </a:rPr>
              <a:t>vLLM</a:t>
            </a:r>
            <a:r>
              <a:rPr sz="700" b="0" i="0">
                <a:solidFill>
                  <a:srgbClr val="404040"/>
                </a:solidFill>
                <a:latin typeface="맑은 고딕"/>
                <a:ea typeface="맑은 고딕"/>
              </a:rPr>
              <a:t> = LLM 추론 서버 소프트웨어  ·  </a:t>
            </a:r>
            <a:r>
              <a:rPr sz="700" b="1" i="0">
                <a:solidFill>
                  <a:srgbClr val="404040"/>
                </a:solidFill>
                <a:latin typeface="맑은 고딕"/>
                <a:ea typeface="맑은 고딕"/>
              </a:rPr>
              <a:t>Prefill</a:t>
            </a:r>
            <a:r>
              <a:rPr sz="700" b="0" i="0">
                <a:solidFill>
                  <a:srgbClr val="404040"/>
                </a:solidFill>
                <a:latin typeface="맑은 고딕"/>
                <a:ea typeface="맑은 고딕"/>
              </a:rPr>
              <a:t> = 입력 처리(계산 집약)</a:t>
            </a:r>
          </a:p>
        </p:txBody>
      </p:sp>
      <p:sp>
        <p:nvSpPr>
          <p:cNvPr id="231" name="Rectangle 230"/>
          <p:cNvSpPr/>
          <p:nvPr/>
        </p:nvSpPr>
        <p:spPr>
          <a:xfrm>
            <a:off x="6355080" y="5852160"/>
            <a:ext cx="539496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2" name="TextBox 231"/>
          <p:cNvSpPr txBox="1"/>
          <p:nvPr/>
        </p:nvSpPr>
        <p:spPr>
          <a:xfrm>
            <a:off x="6419088" y="5861304"/>
            <a:ext cx="5266944" cy="457200"/>
          </a:xfrm>
          <a:prstGeom prst="rect">
            <a:avLst/>
          </a:prstGeom>
          <a:noFill/>
        </p:spPr>
        <p:txBody>
          <a:bodyPr wrap="square" lIns="0" tIns="0" rIns="0" bIns="0" anchor="t">
            <a:spAutoFit/>
          </a:bodyPr>
          <a:lstStyle/>
          <a:p>
            <a:pPr algn="l">
              <a:lnSpc>
                <a:spcPct val="100000"/>
              </a:lnSpc>
            </a:pPr>
            <a:r>
              <a:rPr sz="700" b="1" i="0">
                <a:solidFill>
                  <a:srgbClr val="C55A11"/>
                </a:solidFill>
                <a:latin typeface="맑은 고딕"/>
                <a:ea typeface="맑은 고딕"/>
              </a:rPr>
              <a:t>용어 </a:t>
            </a:r>
            <a:r>
              <a:rPr sz="700" b="1" i="0">
                <a:solidFill>
                  <a:srgbClr val="404040"/>
                </a:solidFill>
                <a:latin typeface="맑은 고딕"/>
                <a:ea typeface="맑은 고딕"/>
              </a:rPr>
              <a:t>Decode</a:t>
            </a:r>
            <a:r>
              <a:rPr sz="700" b="0" i="0">
                <a:solidFill>
                  <a:srgbClr val="404040"/>
                </a:solidFill>
                <a:latin typeface="맑은 고딕"/>
                <a:ea typeface="맑은 고딕"/>
              </a:rPr>
              <a:t> = 응답 생성(메모리 집약)  ·  </a:t>
            </a:r>
            <a:r>
              <a:rPr sz="700" b="1" i="0">
                <a:solidFill>
                  <a:srgbClr val="404040"/>
                </a:solidFill>
                <a:latin typeface="맑은 고딕"/>
                <a:ea typeface="맑은 고딕"/>
              </a:rPr>
              <a:t>P/D 분리</a:t>
            </a:r>
            <a:r>
              <a:rPr sz="700" b="0" i="0">
                <a:solidFill>
                  <a:srgbClr val="404040"/>
                </a:solidFill>
                <a:latin typeface="맑은 고딕"/>
                <a:ea typeface="맑은 고딕"/>
              </a:rPr>
              <a:t> = Prefill/Decode를 서로 다른 서버에서 실행</a:t>
            </a:r>
          </a:p>
          <a:p>
            <a:pPr algn="l">
              <a:lnSpc>
                <a:spcPct val="100000"/>
              </a:lnSpc>
            </a:pPr>
            <a:r>
              <a:rPr sz="700" b="1" i="0">
                <a:solidFill>
                  <a:srgbClr val="404040"/>
                </a:solidFill>
                <a:latin typeface="맑은 고딕"/>
                <a:ea typeface="맑은 고딕"/>
              </a:rPr>
              <a:t>NIXL</a:t>
            </a:r>
            <a:r>
              <a:rPr sz="700" b="0" i="0">
                <a:solidFill>
                  <a:srgbClr val="404040"/>
                </a:solidFill>
                <a:latin typeface="맑은 고딕"/>
                <a:ea typeface="맑은 고딕"/>
              </a:rPr>
              <a:t> = 서버 간 KV 캐시 전송  ·  </a:t>
            </a:r>
            <a:r>
              <a:rPr sz="700" b="1" i="0">
                <a:solidFill>
                  <a:srgbClr val="404040"/>
                </a:solidFill>
                <a:latin typeface="맑은 고딕"/>
                <a:ea typeface="맑은 고딕"/>
              </a:rPr>
              <a:t>Rack</a:t>
            </a:r>
            <a:r>
              <a:rPr sz="700" b="0" i="0">
                <a:solidFill>
                  <a:srgbClr val="404040"/>
                </a:solidFill>
                <a:latin typeface="맑은 고딕"/>
                <a:ea typeface="맑은 고딕"/>
              </a:rPr>
              <a:t> = 서버를 모아 둔 랙 단위</a:t>
            </a:r>
          </a:p>
          <a:p>
            <a:pPr algn="l">
              <a:lnSpc>
                <a:spcPct val="100000"/>
              </a:lnSpc>
            </a:pPr>
            <a:r>
              <a:rPr sz="700" b="1" i="0">
                <a:solidFill>
                  <a:srgbClr val="C55A11"/>
                </a:solidFill>
                <a:latin typeface="맑은 고딕"/>
                <a:ea typeface="맑은 고딕"/>
              </a:rPr>
              <a:t>번호 </a:t>
            </a:r>
            <a:r>
              <a:rPr sz="700" b="0" i="0">
                <a:solidFill>
                  <a:srgbClr val="404040"/>
                </a:solidFill>
                <a:latin typeface="맑은 고딕"/>
                <a:ea typeface="맑은 고딕"/>
              </a:rPr>
              <a:t>① 요청 수신  ② 요청 전달  ③ 상태 보고(KV 보유 이벤트·사용량 수치)</a:t>
            </a:r>
          </a:p>
        </p:txBody>
      </p:sp>
    </p:spTree>
    <p:extLst>
      <p:ext uri="{BB962C8B-B14F-4D97-AF65-F5344CB8AC3E}">
        <p14:creationId xmlns:p14="http://schemas.microsoft.com/office/powerpoint/2010/main" val="1255647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DP0. 여러 서버를 묶는 요청 조율 구조 - 배경</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2</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68680"/>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추론 서버 안의 이기종 메모리(HBM·DRAM·CXL 등) 이득이, 서버 간 요청 배분 단계에서 사라질 수 있음</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기존 OSS 요청 조율 계층(llm-d, Dynamo)은 메모리 종류별 점수와 P/D 분리 기준을 고정 값으로만 판단함</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서버 내부 상태(메모리 사용·전송 대기)를 반영해 요청을 배분하는 서버 간(클러스터) 조율 구조가 필요함</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sz="1200" b="1" i="0">
                <a:solidFill>
                  <a:srgbClr val="000000"/>
                </a:solidFill>
                <a:latin typeface="맑은 고딕"/>
                <a:ea typeface="맑은 고딕"/>
              </a:rPr>
              <a:t>설계 쟁점 1. </a:t>
            </a:r>
            <a:r>
              <a:rPr sz="1200" b="0" i="0">
                <a:solidFill>
                  <a:srgbClr val="000000"/>
                </a:solidFill>
                <a:latin typeface="맑은 고딕"/>
                <a:ea typeface="맑은 고딕"/>
              </a:rPr>
              <a:t>서버 내부 메모리 상태·비용을 반영한 요청 배분으로 </a:t>
            </a:r>
            <a:r>
              <a:rPr sz="1200" b="1" i="0">
                <a:solidFill>
                  <a:srgbClr val="0066FF"/>
                </a:solidFill>
                <a:latin typeface="맑은 고딕"/>
                <a:ea typeface="맑은 고딕"/>
              </a:rPr>
              <a:t>처리량(Throughput)·첫 응답 시간(TTFT) 최적화</a:t>
            </a:r>
          </a:p>
          <a:p>
            <a:pPr>
              <a:lnSpc>
                <a:spcPct val="125000"/>
              </a:lnSpc>
            </a:pPr>
            <a:r>
              <a:rPr sz="1200" b="1" i="0">
                <a:solidFill>
                  <a:srgbClr val="000000"/>
                </a:solidFill>
                <a:latin typeface="맑은 고딕"/>
                <a:ea typeface="맑은 고딕"/>
              </a:rPr>
              <a:t>설계 쟁점 2. </a:t>
            </a:r>
            <a:r>
              <a:rPr sz="1200" b="0" i="0">
                <a:solidFill>
                  <a:srgbClr val="000000"/>
                </a:solidFill>
                <a:latin typeface="맑은 고딕"/>
                <a:ea typeface="맑은 고딕"/>
              </a:rPr>
              <a:t>신규 메모리·정책 추가, 서버 증가 시 </a:t>
            </a:r>
            <a:r>
              <a:rPr sz="1200" b="1" i="0">
                <a:solidFill>
                  <a:srgbClr val="0066FF"/>
                </a:solidFill>
                <a:latin typeface="맑은 고딕"/>
                <a:ea typeface="맑은 고딕"/>
              </a:rPr>
              <a:t>기존 구조 변경 최소화(Modifiability)·확장성(Scalability)</a:t>
            </a:r>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서버 내부 메모리 상태를 반영하는 조율</a:t>
              </a:r>
              <a:endParaRPr lang="ko-KR" altLang="en-US" sz="1100" b="1" dirty="0"/>
            </a:p>
          </p:txBody>
        </p:sp>
      </p:grpSp>
      <p:sp>
        <p:nvSpPr>
          <p:cNvPr id="244" name="DP2 9060">
            <a:extLst>
              <a:ext uri="{FF2B5EF4-FFF2-40B4-BE49-F238E27FC236}">
                <a16:creationId xmlns:a16="http://schemas.microsoft.com/office/drawing/2014/main" id="{EECDFEB7-7302-4965-B64A-4FA0853A126C}"/>
              </a:ext>
            </a:extLst>
          </p:cNvPr>
          <p:cNvSpPr/>
          <p:nvPr/>
        </p:nvSpPr>
        <p:spPr>
          <a:xfrm>
            <a:off x="5632858" y="3663076"/>
            <a:ext cx="438912" cy="457200"/>
          </a:xfrm>
          <a:prstGeom prst="rightArrow">
            <a:avLst/>
          </a:prstGeom>
          <a:solidFill>
            <a:srgbClr val="FFD966"/>
          </a:solidFill>
          <a:ln>
            <a:noFill/>
          </a:ln>
        </p:spPr>
        <p:txBody>
          <a:bodyPr wrap="square" lIns="27432" tIns="7315" rIns="27432" bIns="7315" anchor="ctr">
            <a:normAutofit fontScale="92500" lnSpcReduction="20000"/>
          </a:bodyPr>
          <a:lstStyle/>
          <a:p>
            <a:endParaRPr lang="ko-KR" altLang="en-US"/>
          </a:p>
        </p:txBody>
      </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119877" cy="3787568"/>
            <a:chOff x="99695" y="3138920"/>
            <a:chExt cx="5315187"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315187"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As-Is: 기존 OSS 요청 조율 구조 (고정 값 판단)</a:t>
              </a:r>
              <a:endParaRPr lang="ko-KR" altLang="en-US" sz="1100" b="1" dirty="0"/>
            </a:p>
          </p:txBody>
        </p:sp>
      </p:grpSp>
      <p:sp>
        <p:nvSpPr>
          <p:cNvPr id="87" name="DP2 9014">
            <a:extLst>
              <a:ext uri="{FF2B5EF4-FFF2-40B4-BE49-F238E27FC236}">
                <a16:creationId xmlns:a16="http://schemas.microsoft.com/office/drawing/2014/main" id="{BAB6A9C5-DE6C-4B40-9E12-B57562177C2D}"/>
              </a:ext>
            </a:extLst>
          </p:cNvPr>
          <p:cNvSpPr/>
          <p:nvPr/>
        </p:nvSpPr>
        <p:spPr>
          <a:xfrm>
            <a:off x="697262" y="5665175"/>
            <a:ext cx="10972800"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이기종 메모리 환경에서 서버 내부 메모리 상태·비용을 반영한 서버 간 요청 조율 구조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14" name="Rounded Rectangle 9013"/>
          <p:cNvSpPr/>
          <p:nvPr/>
        </p:nvSpPr>
        <p:spPr>
          <a:xfrm>
            <a:off x="475488" y="2286000"/>
            <a:ext cx="676656"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cxnSp>
        <p:nvCxnSpPr>
          <p:cNvPr id="9015" name="Connector 9014"/>
          <p:cNvCxnSpPr/>
          <p:nvPr/>
        </p:nvCxnSpPr>
        <p:spPr>
          <a:xfrm>
            <a:off x="1152144" y="2441448"/>
            <a:ext cx="173736"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16" name="Oval 9015"/>
          <p:cNvSpPr/>
          <p:nvPr/>
        </p:nvSpPr>
        <p:spPr>
          <a:xfrm>
            <a:off x="1161288"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17" name="Rectangle 9016"/>
          <p:cNvSpPr/>
          <p:nvPr/>
        </p:nvSpPr>
        <p:spPr>
          <a:xfrm>
            <a:off x="1325880" y="1956816"/>
            <a:ext cx="3977639" cy="166420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18" name="Rectangle 9017"/>
          <p:cNvSpPr/>
          <p:nvPr/>
        </p:nvSpPr>
        <p:spPr>
          <a:xfrm>
            <a:off x="1325880" y="1956816"/>
            <a:ext cx="3361334"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«process» 요청 조율기 (Router)  llm-d Router · Dynamo KV Router</a:t>
            </a:r>
          </a:p>
        </p:txBody>
      </p:sp>
      <p:sp>
        <p:nvSpPr>
          <p:cNvPr id="9019" name="Rectangle 9018"/>
          <p:cNvSpPr/>
          <p:nvPr/>
        </p:nvSpPr>
        <p:spPr>
          <a:xfrm>
            <a:off x="1435608" y="2286000"/>
            <a:ext cx="914400" cy="56692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요청 수신</a:t>
            </a:r>
          </a:p>
          <a:p>
            <a:pPr algn="ctr"/>
            <a:r>
              <a:rPr sz="700" b="0" i="0">
                <a:solidFill>
                  <a:srgbClr val="000000"/>
                </a:solidFill>
                <a:latin typeface="맑은 고딕"/>
                <a:ea typeface="맑은 고딕"/>
              </a:rPr>
              <a:t/>
            </a:r>
          </a:p>
        </p:txBody>
      </p:sp>
      <p:sp>
        <p:nvSpPr>
          <p:cNvPr id="9020" name="Rectangle 9019"/>
          <p:cNvSpPr/>
          <p:nvPr/>
        </p:nvSpPr>
        <p:spPr>
          <a:xfrm>
            <a:off x="1389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1" name="Rectangle 9020"/>
          <p:cNvSpPr/>
          <p:nvPr/>
        </p:nvSpPr>
        <p:spPr>
          <a:xfrm>
            <a:off x="1389888" y="243230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2" name="Rectangle 9021"/>
          <p:cNvSpPr/>
          <p:nvPr/>
        </p:nvSpPr>
        <p:spPr>
          <a:xfrm>
            <a:off x="2578608" y="2194560"/>
            <a:ext cx="137160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서버 선택 (Scheduler)</a:t>
            </a:r>
          </a:p>
          <a:p>
            <a:pPr algn="ctr"/>
            <a:r>
              <a:rPr sz="680" b="0" i="0">
                <a:solidFill>
                  <a:srgbClr val="000000"/>
                </a:solidFill>
                <a:latin typeface="맑은 고딕"/>
                <a:ea typeface="맑은 고딕"/>
              </a:rPr>
              <a:t>후보 서버에 점수를</a:t>
            </a:r>
          </a:p>
          <a:p>
            <a:pPr algn="ctr"/>
            <a:r>
              <a:rPr sz="680" b="0" i="0">
                <a:solidFill>
                  <a:srgbClr val="000000"/>
                </a:solidFill>
                <a:latin typeface="맑은 고딕"/>
                <a:ea typeface="맑은 고딕"/>
              </a:rPr>
              <a:t>매겨 선택</a:t>
            </a:r>
          </a:p>
          <a:p>
            <a:pPr algn="ctr"/>
            <a:r>
              <a:rPr sz="680" b="0" i="0">
                <a:solidFill>
                  <a:srgbClr val="000000"/>
                </a:solidFill>
                <a:latin typeface="맑은 고딕"/>
                <a:ea typeface="맑은 고딕"/>
              </a:rPr>
              <a:t>· 메모리 종류별 점수:</a:t>
            </a:r>
          </a:p>
          <a:p>
            <a:pPr algn="ctr"/>
            <a:r>
              <a:rPr sz="680" b="0" i="0">
                <a:solidFill>
                  <a:srgbClr val="000000"/>
                </a:solidFill>
                <a:latin typeface="맑은 고딕"/>
                <a:ea typeface="맑은 고딕"/>
              </a:rPr>
              <a:t>  고정 값 (GPU 1.0 /</a:t>
            </a:r>
          </a:p>
          <a:p>
            <a:pPr algn="ctr"/>
            <a:r>
              <a:rPr sz="680" b="0" i="0">
                <a:solidFill>
                  <a:srgbClr val="000000"/>
                </a:solidFill>
                <a:latin typeface="맑은 고딕"/>
                <a:ea typeface="맑은 고딕"/>
              </a:rPr>
              <a:t>  CPU 0.8 …)</a:t>
            </a:r>
          </a:p>
          <a:p>
            <a:pPr algn="ctr"/>
            <a:r>
              <a:rPr sz="680" b="0" i="0">
                <a:solidFill>
                  <a:srgbClr val="000000"/>
                </a:solidFill>
                <a:latin typeface="맑은 고딕"/>
                <a:ea typeface="맑은 고딕"/>
              </a:rPr>
              <a:t>· Prefill/Decode 분리:</a:t>
            </a:r>
          </a:p>
          <a:p>
            <a:pPr algn="ctr"/>
            <a:r>
              <a:rPr sz="680" b="0" i="0">
                <a:solidFill>
                  <a:srgbClr val="000000"/>
                </a:solidFill>
                <a:latin typeface="맑은 고딕"/>
                <a:ea typeface="맑은 고딕"/>
              </a:rPr>
              <a:t>  고정 기준</a:t>
            </a:r>
          </a:p>
        </p:txBody>
      </p:sp>
      <p:sp>
        <p:nvSpPr>
          <p:cNvPr id="9023" name="Rectangle 9022"/>
          <p:cNvSpPr/>
          <p:nvPr/>
        </p:nvSpPr>
        <p:spPr>
          <a:xfrm>
            <a:off x="253288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4" name="Rectangle 9023"/>
          <p:cNvSpPr/>
          <p:nvPr/>
        </p:nvSpPr>
        <p:spPr>
          <a:xfrm>
            <a:off x="2532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5" name="Rectangle 9024"/>
          <p:cNvSpPr/>
          <p:nvPr/>
        </p:nvSpPr>
        <p:spPr>
          <a:xfrm>
            <a:off x="4133087" y="2194560"/>
            <a:ext cx="109728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상태 저장소</a:t>
            </a:r>
          </a:p>
          <a:p>
            <a:pPr algn="ctr"/>
            <a:r>
              <a:rPr sz="680" b="0" i="0">
                <a:solidFill>
                  <a:srgbClr val="000000"/>
                </a:solidFill>
                <a:latin typeface="맑은 고딕"/>
                <a:ea typeface="맑은 고딕"/>
              </a:rPr>
              <a:t/>
            </a:r>
          </a:p>
          <a:p>
            <a:pPr algn="ctr"/>
            <a:r>
              <a:rPr sz="680" b="0" i="0">
                <a:solidFill>
                  <a:srgbClr val="000000"/>
                </a:solidFill>
                <a:latin typeface="맑은 고딕"/>
                <a:ea typeface="맑은 고딕"/>
              </a:rPr>
              <a:t>· KV 캐시 보유</a:t>
            </a:r>
          </a:p>
          <a:p>
            <a:pPr algn="ctr"/>
            <a:r>
              <a:rPr sz="680" b="0" i="0">
                <a:solidFill>
                  <a:srgbClr val="000000"/>
                </a:solidFill>
                <a:latin typeface="맑은 고딕"/>
                <a:ea typeface="맑은 고딕"/>
              </a:rPr>
              <a:t>  위치</a:t>
            </a:r>
          </a:p>
          <a:p>
            <a:pPr algn="ctr"/>
            <a:r>
              <a:rPr sz="680" b="0" i="0">
                <a:solidFill>
                  <a:srgbClr val="000000"/>
                </a:solidFill>
                <a:latin typeface="맑은 고딕"/>
                <a:ea typeface="맑은 고딕"/>
              </a:rPr>
              <a:t>· 부하 수치</a:t>
            </a:r>
          </a:p>
          <a:p>
            <a:pPr algn="ctr"/>
            <a:r>
              <a:rPr sz="680" b="0" i="0">
                <a:solidFill>
                  <a:srgbClr val="000000"/>
                </a:solidFill>
                <a:latin typeface="맑은 고딕"/>
                <a:ea typeface="맑은 고딕"/>
              </a:rPr>
              <a:t>  (대기열·사용률)</a:t>
            </a:r>
          </a:p>
        </p:txBody>
      </p:sp>
      <p:sp>
        <p:nvSpPr>
          <p:cNvPr id="9026" name="Rectangle 9025"/>
          <p:cNvSpPr/>
          <p:nvPr/>
        </p:nvSpPr>
        <p:spPr>
          <a:xfrm>
            <a:off x="408736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7" name="Rectangle 9026"/>
          <p:cNvSpPr/>
          <p:nvPr/>
        </p:nvSpPr>
        <p:spPr>
          <a:xfrm>
            <a:off x="408736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28" name="Connector 9027"/>
          <p:cNvCxnSpPr/>
          <p:nvPr/>
        </p:nvCxnSpPr>
        <p:spPr>
          <a:xfrm>
            <a:off x="2350008" y="2569464"/>
            <a:ext cx="22860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29" name="Oval 9028"/>
          <p:cNvSpPr/>
          <p:nvPr/>
        </p:nvSpPr>
        <p:spPr>
          <a:xfrm>
            <a:off x="2386584" y="249174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30" name="Connector 9029"/>
          <p:cNvCxnSpPr/>
          <p:nvPr/>
        </p:nvCxnSpPr>
        <p:spPr>
          <a:xfrm flipH="1">
            <a:off x="3950208" y="2834640"/>
            <a:ext cx="182879"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1" name="Oval 9030"/>
          <p:cNvSpPr/>
          <p:nvPr/>
        </p:nvSpPr>
        <p:spPr>
          <a:xfrm>
            <a:off x="3963924" y="275691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sp>
        <p:nvSpPr>
          <p:cNvPr id="9032" name="Rectangle 9031"/>
          <p:cNvSpPr/>
          <p:nvPr/>
        </p:nvSpPr>
        <p:spPr>
          <a:xfrm>
            <a:off x="1325880" y="3840480"/>
            <a:ext cx="3977639" cy="603504"/>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3" name="Rectangle 9032"/>
          <p:cNvSpPr/>
          <p:nvPr/>
        </p:nvSpPr>
        <p:spPr>
          <a:xfrm>
            <a:off x="1325880" y="38404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34" name="Rectangle 9033"/>
          <p:cNvSpPr/>
          <p:nvPr/>
        </p:nvSpPr>
        <p:spPr>
          <a:xfrm>
            <a:off x="1435608" y="4087368"/>
            <a:ext cx="2057400" cy="29260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 관리 · 메모리 계층</a:t>
            </a:r>
          </a:p>
        </p:txBody>
      </p:sp>
      <p:sp>
        <p:nvSpPr>
          <p:cNvPr id="9035" name="Rectangle 9034"/>
          <p:cNvSpPr/>
          <p:nvPr/>
        </p:nvSpPr>
        <p:spPr>
          <a:xfrm>
            <a:off x="1389888" y="414223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6" name="Rectangle 9035"/>
          <p:cNvSpPr/>
          <p:nvPr/>
        </p:nvSpPr>
        <p:spPr>
          <a:xfrm>
            <a:off x="1389888" y="423367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7" name="Rectangle 9036"/>
          <p:cNvSpPr/>
          <p:nvPr/>
        </p:nvSpPr>
        <p:spPr>
          <a:xfrm>
            <a:off x="3675887" y="4087368"/>
            <a:ext cx="1554480" cy="292608"/>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00" b="1" i="0">
                <a:solidFill>
                  <a:srgbClr val="C00000"/>
                </a:solidFill>
                <a:latin typeface="맑은 고딕"/>
                <a:ea typeface="맑은 고딕"/>
              </a:rPr>
              <a:t>메모리 사용·전송 대기 (미노출)</a:t>
            </a:r>
          </a:p>
        </p:txBody>
      </p:sp>
      <p:cxnSp>
        <p:nvCxnSpPr>
          <p:cNvPr id="9038" name="Connector 9037"/>
          <p:cNvCxnSpPr/>
          <p:nvPr/>
        </p:nvCxnSpPr>
        <p:spPr>
          <a:xfrm>
            <a:off x="326440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9" name="Oval 9038"/>
          <p:cNvSpPr/>
          <p:nvPr/>
        </p:nvSpPr>
        <p:spPr>
          <a:xfrm>
            <a:off x="318668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40" name="TextBox 9039"/>
          <p:cNvSpPr txBox="1"/>
          <p:nvPr/>
        </p:nvSpPr>
        <p:spPr>
          <a:xfrm>
            <a:off x="3392424" y="3639312"/>
            <a:ext cx="731520" cy="182880"/>
          </a:xfrm>
          <a:prstGeom prst="rect">
            <a:avLst/>
          </a:prstGeom>
          <a:noFill/>
        </p:spPr>
        <p:txBody>
          <a:bodyPr wrap="square" lIns="0" tIns="0" rIns="0" bIns="0" anchor="t">
            <a:spAutoFit/>
          </a:bodyPr>
          <a:lstStyle/>
          <a:p>
            <a:pPr algn="l"/>
            <a:r>
              <a:rPr sz="650" b="1" i="0">
                <a:solidFill>
                  <a:srgbClr val="404040"/>
                </a:solidFill>
                <a:latin typeface="맑은 고딕"/>
                <a:ea typeface="맑은 고딕"/>
              </a:rPr>
              <a:t>요청 전달</a:t>
            </a:r>
          </a:p>
        </p:txBody>
      </p:sp>
      <p:cxnSp>
        <p:nvCxnSpPr>
          <p:cNvPr id="9041" name="Connector 9040"/>
          <p:cNvCxnSpPr/>
          <p:nvPr/>
        </p:nvCxnSpPr>
        <p:spPr>
          <a:xfrm flipV="1">
            <a:off x="477316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42" name="Oval 9041"/>
          <p:cNvSpPr/>
          <p:nvPr/>
        </p:nvSpPr>
        <p:spPr>
          <a:xfrm>
            <a:off x="469544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sp>
        <p:nvSpPr>
          <p:cNvPr id="9043" name="TextBox 9042"/>
          <p:cNvSpPr txBox="1"/>
          <p:nvPr/>
        </p:nvSpPr>
        <p:spPr>
          <a:xfrm>
            <a:off x="3767328" y="3639312"/>
            <a:ext cx="914400" cy="182880"/>
          </a:xfrm>
          <a:prstGeom prst="rect">
            <a:avLst/>
          </a:prstGeom>
          <a:noFill/>
        </p:spPr>
        <p:txBody>
          <a:bodyPr wrap="square" lIns="0" tIns="0" rIns="0" bIns="0" anchor="t">
            <a:spAutoFit/>
          </a:bodyPr>
          <a:lstStyle/>
          <a:p>
            <a:pPr algn="r"/>
            <a:r>
              <a:rPr sz="650" b="1" i="0">
                <a:solidFill>
                  <a:srgbClr val="404040"/>
                </a:solidFill>
                <a:latin typeface="맑은 고딕"/>
                <a:ea typeface="맑은 고딕"/>
              </a:rPr>
              <a:t>상태 이벤트</a:t>
            </a:r>
          </a:p>
        </p:txBody>
      </p:sp>
      <p:sp>
        <p:nvSpPr>
          <p:cNvPr id="9044" name="Rectangle 9043"/>
          <p:cNvSpPr/>
          <p:nvPr/>
        </p:nvSpPr>
        <p:spPr>
          <a:xfrm>
            <a:off x="475488" y="4572000"/>
            <a:ext cx="4846320" cy="530352"/>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5" name="TextBox 9044"/>
          <p:cNvSpPr txBox="1"/>
          <p:nvPr/>
        </p:nvSpPr>
        <p:spPr>
          <a:xfrm>
            <a:off x="566928" y="4599432"/>
            <a:ext cx="4663440" cy="493776"/>
          </a:xfrm>
          <a:prstGeom prst="rect">
            <a:avLst/>
          </a:prstGeom>
          <a:noFill/>
        </p:spPr>
        <p:txBody>
          <a:bodyPr wrap="square" lIns="0" tIns="0" rIns="0" bIns="0" anchor="t">
            <a:spAutoFit/>
          </a:bodyPr>
          <a:lstStyle/>
          <a:p>
            <a:pPr algn="l">
              <a:lnSpc>
                <a:spcPct val="100000"/>
              </a:lnSpc>
            </a:pPr>
            <a:r>
              <a:rPr sz="750" b="1" i="0">
                <a:solidFill>
                  <a:srgbClr val="C00000"/>
                </a:solidFill>
                <a:latin typeface="맑은 고딕"/>
                <a:ea typeface="맑은 고딕"/>
              </a:rPr>
              <a:t>① </a:t>
            </a:r>
            <a:r>
              <a:rPr sz="750" b="0" i="0">
                <a:solidFill>
                  <a:srgbClr val="404040"/>
                </a:solidFill>
                <a:latin typeface="맑은 고딕"/>
                <a:ea typeface="맑은 고딕"/>
              </a:rPr>
              <a:t>메모리 점수가 고정 값 → 사용량·전송 대기·신규 메모리(CXL/HBF) 미반영</a:t>
            </a:r>
          </a:p>
          <a:p>
            <a:pPr algn="l">
              <a:lnSpc>
                <a:spcPct val="100000"/>
              </a:lnSpc>
            </a:pPr>
            <a:r>
              <a:rPr sz="750" b="1" i="0">
                <a:solidFill>
                  <a:srgbClr val="C00000"/>
                </a:solidFill>
                <a:latin typeface="맑은 고딕"/>
                <a:ea typeface="맑은 고딕"/>
              </a:rPr>
              <a:t>② </a:t>
            </a:r>
            <a:r>
              <a:rPr sz="750" b="0" i="0">
                <a:solidFill>
                  <a:srgbClr val="404040"/>
                </a:solidFill>
                <a:latin typeface="맑은 고딕"/>
                <a:ea typeface="맑은 고딕"/>
              </a:rPr>
              <a:t>Prefill/Decode 분리가 고정 기준 → KV 캐시 이동 비용 미고려</a:t>
            </a:r>
          </a:p>
          <a:p>
            <a:pPr algn="l">
              <a:lnSpc>
                <a:spcPct val="100000"/>
              </a:lnSpc>
            </a:pPr>
            <a:r>
              <a:rPr sz="750" b="1" i="0">
                <a:solidFill>
                  <a:srgbClr val="C00000"/>
                </a:solidFill>
                <a:latin typeface="맑은 고딕"/>
                <a:ea typeface="맑은 고딕"/>
              </a:rPr>
              <a:t>③ </a:t>
            </a:r>
            <a:r>
              <a:rPr sz="750" b="0" i="0">
                <a:solidFill>
                  <a:srgbClr val="404040"/>
                </a:solidFill>
                <a:latin typeface="맑은 고딕"/>
                <a:ea typeface="맑은 고딕"/>
              </a:rPr>
              <a:t>서버별 지시(kv_load_tiers 등)가 P/D 경로에서 덮어써지거나 전달 경로 없음</a:t>
            </a:r>
          </a:p>
        </p:txBody>
      </p:sp>
      <p:sp>
        <p:nvSpPr>
          <p:cNvPr id="9046" name="TextBox 9045"/>
          <p:cNvSpPr txBox="1"/>
          <p:nvPr/>
        </p:nvSpPr>
        <p:spPr>
          <a:xfrm>
            <a:off x="475488" y="5138928"/>
            <a:ext cx="4846320" cy="246888"/>
          </a:xfrm>
          <a:prstGeom prst="rect">
            <a:avLst/>
          </a:prstGeom>
          <a:noFill/>
        </p:spPr>
        <p:txBody>
          <a:bodyPr wrap="square" lIns="0" tIns="0" rIns="0" bIns="0" anchor="t">
            <a:spAutoFit/>
          </a:bodyPr>
          <a:lstStyle/>
          <a:p>
            <a:pPr algn="l"/>
            <a:r>
              <a:rPr sz="700" b="1" i="0">
                <a:solidFill>
                  <a:srgbClr val="2E75B6"/>
                </a:solidFill>
                <a:latin typeface="맑은 고딕"/>
                <a:ea typeface="맑은 고딕"/>
              </a:rPr>
              <a:t>용어  </a:t>
            </a:r>
            <a:r>
              <a:rPr sz="700" b="0" i="0">
                <a:solidFill>
                  <a:srgbClr val="404040"/>
                </a:solidFill>
                <a:latin typeface="맑은 고딕"/>
                <a:ea typeface="맑은 고딕"/>
              </a:rPr>
              <a:t>KV 캐시: LLM이 이전 입력을 다시 계산하지 않도록 저장한 중간 결과 · Prefill: 입력 처리(계산 집약) / Decode: 응답 생성(메모리 집약) · TTFT: 첫 응답까지 걸리는 시간</a:t>
            </a:r>
          </a:p>
        </p:txBody>
      </p:sp>
      <p:sp>
        <p:nvSpPr>
          <p:cNvPr id="9047" name="Rounded Rectangle 9046"/>
          <p:cNvSpPr/>
          <p:nvPr/>
        </p:nvSpPr>
        <p:spPr>
          <a:xfrm>
            <a:off x="6309360" y="1883664"/>
            <a:ext cx="676656" cy="256032"/>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sp>
        <p:nvSpPr>
          <p:cNvPr id="9048" name="Rectangle 9047"/>
          <p:cNvSpPr/>
          <p:nvPr/>
        </p:nvSpPr>
        <p:spPr>
          <a:xfrm>
            <a:off x="6309360" y="2304288"/>
            <a:ext cx="5285232" cy="2011680"/>
          </a:xfrm>
          <a:prstGeom prst="rect">
            <a:avLst/>
          </a:prstGeom>
          <a:solidFill>
            <a:srgbClr val="DAE3F3"/>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9" name="Rectangle 9048"/>
          <p:cNvSpPr/>
          <p:nvPr/>
        </p:nvSpPr>
        <p:spPr>
          <a:xfrm>
            <a:off x="6309360" y="2304288"/>
            <a:ext cx="3010204" cy="173736"/>
          </a:xfrm>
          <a:prstGeom prst="rect">
            <a:avLst/>
          </a:prstGeom>
          <a:solidFill>
            <a:srgbClr val="2E75B6"/>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«system» 요청 조율 계층 (Orchestration) - 이기종 메모리 반영</a:t>
            </a:r>
          </a:p>
        </p:txBody>
      </p:sp>
      <p:cxnSp>
        <p:nvCxnSpPr>
          <p:cNvPr id="9050" name="Connector 9049"/>
          <p:cNvCxnSpPr/>
          <p:nvPr/>
        </p:nvCxnSpPr>
        <p:spPr>
          <a:xfrm>
            <a:off x="6647688" y="2139696"/>
            <a:ext cx="0" cy="16459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51" name="Oval 9050"/>
          <p:cNvSpPr/>
          <p:nvPr/>
        </p:nvSpPr>
        <p:spPr>
          <a:xfrm>
            <a:off x="6569964" y="214426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52" name="Rectangle 9051"/>
          <p:cNvSpPr/>
          <p:nvPr/>
        </p:nvSpPr>
        <p:spPr>
          <a:xfrm>
            <a:off x="6382512"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3" name="Rectangle 9052"/>
          <p:cNvSpPr/>
          <p:nvPr/>
        </p:nvSpPr>
        <p:spPr>
          <a:xfrm>
            <a:off x="6382512" y="2542032"/>
            <a:ext cx="1572768"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실행 기반 (Substrate)</a:t>
            </a:r>
          </a:p>
        </p:txBody>
      </p:sp>
      <p:sp>
        <p:nvSpPr>
          <p:cNvPr id="9054" name="Rectangle 9053"/>
          <p:cNvSpPr/>
          <p:nvPr/>
        </p:nvSpPr>
        <p:spPr>
          <a:xfrm>
            <a:off x="8138160"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5" name="Rectangle 9054"/>
          <p:cNvSpPr/>
          <p:nvPr/>
        </p:nvSpPr>
        <p:spPr>
          <a:xfrm>
            <a:off x="8138160" y="2542032"/>
            <a:ext cx="133502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판단 (Decision)</a:t>
            </a:r>
          </a:p>
        </p:txBody>
      </p:sp>
      <p:sp>
        <p:nvSpPr>
          <p:cNvPr id="9056" name="Rectangle 9055"/>
          <p:cNvSpPr/>
          <p:nvPr/>
        </p:nvSpPr>
        <p:spPr>
          <a:xfrm>
            <a:off x="9893808" y="2542032"/>
            <a:ext cx="1627632"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7" name="Rectangle 9056"/>
          <p:cNvSpPr/>
          <p:nvPr/>
        </p:nvSpPr>
        <p:spPr>
          <a:xfrm>
            <a:off x="9893808" y="2542032"/>
            <a:ext cx="118140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상태 (State)</a:t>
            </a:r>
          </a:p>
        </p:txBody>
      </p:sp>
      <p:sp>
        <p:nvSpPr>
          <p:cNvPr id="9058" name="Rectangle 9057"/>
          <p:cNvSpPr/>
          <p:nvPr/>
        </p:nvSpPr>
        <p:spPr>
          <a:xfrm>
            <a:off x="6492240"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A 요청 수신·중계</a:t>
            </a:r>
          </a:p>
        </p:txBody>
      </p:sp>
      <p:sp>
        <p:nvSpPr>
          <p:cNvPr id="9059" name="Rectangle 9058"/>
          <p:cNvSpPr/>
          <p:nvPr/>
        </p:nvSpPr>
        <p:spPr>
          <a:xfrm>
            <a:off x="6446520"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0" name="Rectangle 9059"/>
          <p:cNvSpPr/>
          <p:nvPr/>
        </p:nvSpPr>
        <p:spPr>
          <a:xfrm>
            <a:off x="6446520"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1" name="Rectangle 9060"/>
          <p:cNvSpPr/>
          <p:nvPr/>
        </p:nvSpPr>
        <p:spPr>
          <a:xfrm>
            <a:off x="6492240" y="3310128"/>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E Prefill/Decode 조율</a:t>
            </a:r>
          </a:p>
          <a:p>
            <a:pPr algn="ctr"/>
            <a:r>
              <a:rPr sz="700" b="0" i="0">
                <a:solidFill>
                  <a:srgbClr val="000000"/>
                </a:solidFill>
                <a:latin typeface="맑은 고딕"/>
                <a:ea typeface="맑은 고딕"/>
              </a:rPr>
              <a:t>서버별 지시 전달</a:t>
            </a:r>
          </a:p>
        </p:txBody>
      </p:sp>
      <p:sp>
        <p:nvSpPr>
          <p:cNvPr id="9062" name="Rectangle 9061"/>
          <p:cNvSpPr/>
          <p:nvPr/>
        </p:nvSpPr>
        <p:spPr>
          <a:xfrm>
            <a:off x="6446520"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3" name="Rectangle 9062"/>
          <p:cNvSpPr/>
          <p:nvPr/>
        </p:nvSpPr>
        <p:spPr>
          <a:xfrm>
            <a:off x="6446520"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4" name="Rectangle 9063"/>
          <p:cNvSpPr/>
          <p:nvPr/>
        </p:nvSpPr>
        <p:spPr>
          <a:xfrm>
            <a:off x="6492240" y="3840480"/>
            <a:ext cx="1325880" cy="310896"/>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F 서버 발견·확장</a:t>
            </a:r>
          </a:p>
        </p:txBody>
      </p:sp>
      <p:sp>
        <p:nvSpPr>
          <p:cNvPr id="9065" name="Rectangle 9064"/>
          <p:cNvSpPr/>
          <p:nvPr/>
        </p:nvSpPr>
        <p:spPr>
          <a:xfrm>
            <a:off x="6446520" y="38953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6" name="Rectangle 9065"/>
          <p:cNvSpPr/>
          <p:nvPr/>
        </p:nvSpPr>
        <p:spPr>
          <a:xfrm>
            <a:off x="6446520" y="3986783"/>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7" name="Rectangle 9066"/>
          <p:cNvSpPr/>
          <p:nvPr/>
        </p:nvSpPr>
        <p:spPr>
          <a:xfrm>
            <a:off x="8247888"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 흐름 제어</a:t>
            </a:r>
          </a:p>
        </p:txBody>
      </p:sp>
      <p:sp>
        <p:nvSpPr>
          <p:cNvPr id="9068" name="Rectangle 9067"/>
          <p:cNvSpPr/>
          <p:nvPr/>
        </p:nvSpPr>
        <p:spPr>
          <a:xfrm>
            <a:off x="8202167"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9" name="Rectangle 9068"/>
          <p:cNvSpPr/>
          <p:nvPr/>
        </p:nvSpPr>
        <p:spPr>
          <a:xfrm>
            <a:off x="8202167"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0" name="Rectangle 9069"/>
          <p:cNvSpPr/>
          <p:nvPr/>
        </p:nvSpPr>
        <p:spPr>
          <a:xfrm>
            <a:off x="8247888" y="3310128"/>
            <a:ext cx="1325880" cy="841248"/>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B 서버 선택 로직</a:t>
            </a:r>
          </a:p>
          <a:p>
            <a:pPr algn="ctr"/>
            <a:r>
              <a:rPr sz="700" b="0" i="0">
                <a:solidFill>
                  <a:srgbClr val="000000"/>
                </a:solidFill>
                <a:latin typeface="맑은 고딕"/>
                <a:ea typeface="맑은 고딕"/>
              </a:rPr>
              <a:t>메모리 비용 기반 점수</a:t>
            </a:r>
          </a:p>
          <a:p>
            <a:pPr algn="ctr"/>
            <a:r>
              <a:rPr sz="700" b="0" i="0">
                <a:solidFill>
                  <a:srgbClr val="000000"/>
                </a:solidFill>
                <a:latin typeface="맑은 고딕"/>
                <a:ea typeface="맑은 고딕"/>
              </a:rPr>
              <a:t>비용 기반 P/D 분리 판단</a:t>
            </a:r>
          </a:p>
        </p:txBody>
      </p:sp>
      <p:sp>
        <p:nvSpPr>
          <p:cNvPr id="9071" name="Rectangle 9070"/>
          <p:cNvSpPr/>
          <p:nvPr/>
        </p:nvSpPr>
        <p:spPr>
          <a:xfrm>
            <a:off x="8202167"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2" name="Rectangle 9071"/>
          <p:cNvSpPr/>
          <p:nvPr/>
        </p:nvSpPr>
        <p:spPr>
          <a:xfrm>
            <a:off x="8202167"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3" name="Rectangle 9072"/>
          <p:cNvSpPr/>
          <p:nvPr/>
        </p:nvSpPr>
        <p:spPr>
          <a:xfrm>
            <a:off x="10003536" y="2779776"/>
            <a:ext cx="1417320" cy="640080"/>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C 상태 수집</a:t>
            </a:r>
          </a:p>
          <a:p>
            <a:pPr algn="ctr"/>
            <a:r>
              <a:rPr sz="700" b="0" i="0">
                <a:solidFill>
                  <a:srgbClr val="000000"/>
                </a:solidFill>
                <a:latin typeface="맑은 고딕"/>
                <a:ea typeface="맑은 고딕"/>
              </a:rPr>
              <a:t>KV 캐시 보유 위치</a:t>
            </a:r>
          </a:p>
          <a:p>
            <a:pPr algn="ctr"/>
            <a:r>
              <a:rPr sz="700" b="0" i="0">
                <a:solidFill>
                  <a:srgbClr val="000000"/>
                </a:solidFill>
                <a:latin typeface="맑은 고딕"/>
                <a:ea typeface="맑은 고딕"/>
              </a:rPr>
              <a:t>(메모리 종류별)</a:t>
            </a:r>
          </a:p>
        </p:txBody>
      </p:sp>
      <p:sp>
        <p:nvSpPr>
          <p:cNvPr id="9074" name="Rectangle 9073"/>
          <p:cNvSpPr/>
          <p:nvPr/>
        </p:nvSpPr>
        <p:spPr>
          <a:xfrm>
            <a:off x="9957816"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5" name="Rectangle 9074"/>
          <p:cNvSpPr/>
          <p:nvPr/>
        </p:nvSpPr>
        <p:spPr>
          <a:xfrm>
            <a:off x="9957816"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6" name="Rectangle 9075"/>
          <p:cNvSpPr/>
          <p:nvPr/>
        </p:nvSpPr>
        <p:spPr>
          <a:xfrm>
            <a:off x="10003536" y="3529584"/>
            <a:ext cx="1417320" cy="621792"/>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메모리 상태 수치</a:t>
            </a:r>
          </a:p>
          <a:p>
            <a:pPr algn="ctr"/>
            <a:r>
              <a:rPr sz="700" b="0" i="0">
                <a:solidFill>
                  <a:srgbClr val="000000"/>
                </a:solidFill>
                <a:latin typeface="맑은 고딕"/>
                <a:ea typeface="맑은 고딕"/>
              </a:rPr>
              <a:t>사용량·전송 대기</a:t>
            </a:r>
          </a:p>
        </p:txBody>
      </p:sp>
      <p:sp>
        <p:nvSpPr>
          <p:cNvPr id="9077" name="Rectangle 9076"/>
          <p:cNvSpPr/>
          <p:nvPr/>
        </p:nvSpPr>
        <p:spPr>
          <a:xfrm>
            <a:off x="9957816" y="3584448"/>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8" name="Rectangle 9077"/>
          <p:cNvSpPr/>
          <p:nvPr/>
        </p:nvSpPr>
        <p:spPr>
          <a:xfrm>
            <a:off x="9957816" y="3675887"/>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79" name="Connector 9078"/>
          <p:cNvCxnSpPr/>
          <p:nvPr/>
        </p:nvCxnSpPr>
        <p:spPr>
          <a:xfrm>
            <a:off x="7818120" y="2990088"/>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0" name="Oval 9079"/>
          <p:cNvSpPr/>
          <p:nvPr/>
        </p:nvSpPr>
        <p:spPr>
          <a:xfrm>
            <a:off x="7955279" y="291236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81" name="Connector 9080"/>
          <p:cNvCxnSpPr/>
          <p:nvPr/>
        </p:nvCxnSpPr>
        <p:spPr>
          <a:xfrm>
            <a:off x="8906256" y="3200400"/>
            <a:ext cx="0" cy="109728"/>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9082" name="Connector 9081"/>
          <p:cNvCxnSpPr/>
          <p:nvPr/>
        </p:nvCxnSpPr>
        <p:spPr>
          <a:xfrm flipH="1">
            <a:off x="9573768" y="3749039"/>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3" name="Oval 9082"/>
          <p:cNvSpPr/>
          <p:nvPr/>
        </p:nvSpPr>
        <p:spPr>
          <a:xfrm>
            <a:off x="9710928" y="3671315"/>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cxnSp>
        <p:nvCxnSpPr>
          <p:cNvPr id="9084" name="Connector 9083"/>
          <p:cNvCxnSpPr/>
          <p:nvPr/>
        </p:nvCxnSpPr>
        <p:spPr>
          <a:xfrm flipH="1">
            <a:off x="7818120" y="3611880"/>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5" name="Oval 9084"/>
          <p:cNvSpPr/>
          <p:nvPr/>
        </p:nvSpPr>
        <p:spPr>
          <a:xfrm>
            <a:off x="7955279" y="35341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86" name="Rounded Rectangle 9085"/>
          <p:cNvSpPr/>
          <p:nvPr/>
        </p:nvSpPr>
        <p:spPr>
          <a:xfrm>
            <a:off x="10991088" y="2340864"/>
            <a:ext cx="566928" cy="173736"/>
          </a:xfrm>
          <a:prstGeom prst="roundRect">
            <a:avLst>
              <a:gd name="adj" fmla="val 30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2E75B6"/>
                </a:solidFill>
                <a:latin typeface="맑은 고딕"/>
                <a:ea typeface="맑은 고딕"/>
              </a:rPr>
              <a:t>쟁점 1</a:t>
            </a:r>
          </a:p>
        </p:txBody>
      </p:sp>
      <p:sp>
        <p:nvSpPr>
          <p:cNvPr id="9087" name="Rectangle 9086"/>
          <p:cNvSpPr/>
          <p:nvPr/>
        </p:nvSpPr>
        <p:spPr>
          <a:xfrm>
            <a:off x="6309360" y="4526280"/>
            <a:ext cx="5285232" cy="457200"/>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88" name="Rectangle 9087"/>
          <p:cNvSpPr/>
          <p:nvPr/>
        </p:nvSpPr>
        <p:spPr>
          <a:xfrm>
            <a:off x="6309360" y="45262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89" name="Rectangle 9088"/>
          <p:cNvSpPr/>
          <p:nvPr/>
        </p:nvSpPr>
        <p:spPr>
          <a:xfrm>
            <a:off x="6419088" y="4736592"/>
            <a:ext cx="228600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캐시·메모리 계층 (HBM·DRAM·CXL)</a:t>
            </a:r>
          </a:p>
        </p:txBody>
      </p:sp>
      <p:sp>
        <p:nvSpPr>
          <p:cNvPr id="9090" name="Rectangle 9089"/>
          <p:cNvSpPr/>
          <p:nvPr/>
        </p:nvSpPr>
        <p:spPr>
          <a:xfrm>
            <a:off x="6373368"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1" name="Rectangle 9090"/>
          <p:cNvSpPr/>
          <p:nvPr/>
        </p:nvSpPr>
        <p:spPr>
          <a:xfrm>
            <a:off x="6373368"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2" name="Rectangle 9091"/>
          <p:cNvSpPr/>
          <p:nvPr/>
        </p:nvSpPr>
        <p:spPr>
          <a:xfrm>
            <a:off x="8915400" y="4736592"/>
            <a:ext cx="256032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이벤트 · 메트릭 · 전송 정보 · NIXL</a:t>
            </a:r>
          </a:p>
        </p:txBody>
      </p:sp>
      <p:sp>
        <p:nvSpPr>
          <p:cNvPr id="9093" name="Rectangle 9092"/>
          <p:cNvSpPr/>
          <p:nvPr/>
        </p:nvSpPr>
        <p:spPr>
          <a:xfrm>
            <a:off x="8869680"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4" name="Rectangle 9093"/>
          <p:cNvSpPr/>
          <p:nvPr/>
        </p:nvSpPr>
        <p:spPr>
          <a:xfrm>
            <a:off x="8869680"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95" name="Connector 9094"/>
          <p:cNvCxnSpPr/>
          <p:nvPr/>
        </p:nvCxnSpPr>
        <p:spPr>
          <a:xfrm>
            <a:off x="7150608"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6" name="Oval 9095"/>
          <p:cNvSpPr/>
          <p:nvPr/>
        </p:nvSpPr>
        <p:spPr>
          <a:xfrm>
            <a:off x="7072884"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cxnSp>
        <p:nvCxnSpPr>
          <p:cNvPr id="9097" name="Connector 9096"/>
          <p:cNvCxnSpPr/>
          <p:nvPr/>
        </p:nvCxnSpPr>
        <p:spPr>
          <a:xfrm flipV="1">
            <a:off x="10698480"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8" name="Oval 9097"/>
          <p:cNvSpPr/>
          <p:nvPr/>
        </p:nvSpPr>
        <p:spPr>
          <a:xfrm>
            <a:off x="10620755"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cxnSp>
        <p:nvCxnSpPr>
          <p:cNvPr id="9099" name="Connector 9098"/>
          <p:cNvCxnSpPr/>
          <p:nvPr/>
        </p:nvCxnSpPr>
        <p:spPr>
          <a:xfrm>
            <a:off x="7772400" y="4023360"/>
            <a:ext cx="0" cy="50292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100" name="Oval 9099"/>
          <p:cNvSpPr/>
          <p:nvPr/>
        </p:nvSpPr>
        <p:spPr>
          <a:xfrm>
            <a:off x="7694675" y="41970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7</a:t>
            </a:r>
          </a:p>
        </p:txBody>
      </p:sp>
      <p:sp>
        <p:nvSpPr>
          <p:cNvPr id="9101" name="TextBox 9100"/>
          <p:cNvSpPr txBox="1"/>
          <p:nvPr/>
        </p:nvSpPr>
        <p:spPr>
          <a:xfrm>
            <a:off x="6309360" y="5029200"/>
            <a:ext cx="5303520" cy="128016"/>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① 요청  ② 결정 요청  ③ 선택 결과  ④ 요청+서버별 지시  ⑥ 상태 이벤트·수치  ⑦ 서버 발견  ⑧ 상태 조회</a:t>
            </a:r>
          </a:p>
        </p:txBody>
      </p:sp>
      <p:sp>
        <p:nvSpPr>
          <p:cNvPr id="9102" name="Rounded Rectangle 9101"/>
          <p:cNvSpPr/>
          <p:nvPr/>
        </p:nvSpPr>
        <p:spPr>
          <a:xfrm>
            <a:off x="6309360" y="5175504"/>
            <a:ext cx="5285232" cy="219456"/>
          </a:xfrm>
          <a:prstGeom prst="roundRect">
            <a:avLst>
              <a:gd name="adj" fmla="val 20000"/>
            </a:avLst>
          </a:prstGeom>
          <a:solidFill>
            <a:srgbClr val="FFFFFF"/>
          </a:solidFill>
          <a:ln w="15875">
            <a:solidFill>
              <a:srgbClr val="2E75B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sz="700" b="1" i="0">
                <a:solidFill>
                  <a:srgbClr val="2E75B6"/>
                </a:solidFill>
                <a:latin typeface="맑은 고딕"/>
                <a:ea typeface="맑은 고딕"/>
              </a:rPr>
              <a:t>쟁점 2  </a:t>
            </a:r>
            <a:r>
              <a:rPr sz="700" b="0" i="0">
                <a:solidFill>
                  <a:srgbClr val="000000"/>
                </a:solidFill>
                <a:latin typeface="맑은 고딕"/>
                <a:ea typeface="맑은 고딕"/>
              </a:rPr>
              <a:t>확장 지점: 신규 메모리·정책을 확장 모듈(plug-in)로 추가 (OSS 확장 vs 자체 구현)</a:t>
            </a:r>
          </a:p>
        </p:txBody>
      </p:sp>
    </p:spTree>
    <p:extLst>
      <p:ext uri="{BB962C8B-B14F-4D97-AF65-F5344CB8AC3E}">
        <p14:creationId xmlns:p14="http://schemas.microsoft.com/office/powerpoint/2010/main" val="2702638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DP0. 요청 조율 구조 - 요구사항</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3</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Rectangle 101"/>
          <p:cNvSpPr/>
          <p:nvPr/>
        </p:nvSpPr>
        <p:spPr>
          <a:xfrm>
            <a:off x="320040" y="932688"/>
            <a:ext cx="4343400" cy="4754880"/>
          </a:xfrm>
          <a:prstGeom prst="rect">
            <a:avLst/>
          </a:prstGeom>
          <a:solidFill>
            <a:srgbClr val="FFFFFF"/>
          </a:solidFill>
          <a:ln w="15875">
            <a:solidFill>
              <a:srgbClr val="1F4E79"/>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3" name="Rounded Rectangle 102"/>
          <p:cNvSpPr/>
          <p:nvPr/>
        </p:nvSpPr>
        <p:spPr>
          <a:xfrm>
            <a:off x="429768" y="886968"/>
            <a:ext cx="4123944" cy="274320"/>
          </a:xfrm>
          <a:prstGeom prst="roundRect">
            <a:avLst>
              <a:gd name="adj" fmla="val 50000"/>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기능 요구사항 (무엇을 해야 하나)  F1~F6</a:t>
            </a:r>
          </a:p>
        </p:txBody>
      </p:sp>
      <p:sp>
        <p:nvSpPr>
          <p:cNvPr id="104" name="Rectangle 103"/>
          <p:cNvSpPr/>
          <p:nvPr/>
        </p:nvSpPr>
        <p:spPr>
          <a:xfrm>
            <a:off x="4754880" y="932688"/>
            <a:ext cx="3611880" cy="4754880"/>
          </a:xfrm>
          <a:prstGeom prst="rect">
            <a:avLst/>
          </a:prstGeom>
          <a:solidFill>
            <a:srgbClr val="FFFFFF"/>
          </a:solidFill>
          <a:ln w="15875">
            <a:solidFill>
              <a:srgbClr val="843C0C"/>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5" name="Rounded Rectangle 104"/>
          <p:cNvSpPr/>
          <p:nvPr/>
        </p:nvSpPr>
        <p:spPr>
          <a:xfrm>
            <a:off x="4864608" y="886968"/>
            <a:ext cx="3392424" cy="274320"/>
          </a:xfrm>
          <a:prstGeom prst="roundRect">
            <a:avLst>
              <a:gd name="adj" fmla="val 50000"/>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품질 속성 QA (얼마나 잘 해야 하나)  Q1~Q4</a:t>
            </a:r>
          </a:p>
        </p:txBody>
      </p:sp>
      <p:sp>
        <p:nvSpPr>
          <p:cNvPr id="106" name="Rectangle 105"/>
          <p:cNvSpPr/>
          <p:nvPr/>
        </p:nvSpPr>
        <p:spPr>
          <a:xfrm>
            <a:off x="8458200" y="932688"/>
            <a:ext cx="3410712" cy="4754880"/>
          </a:xfrm>
          <a:prstGeom prst="rect">
            <a:avLst/>
          </a:prstGeom>
          <a:solidFill>
            <a:srgbClr val="FFFFFF"/>
          </a:solidFill>
          <a:ln w="15875">
            <a:solidFill>
              <a:srgbClr val="375623"/>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7" name="Rounded Rectangle 106"/>
          <p:cNvSpPr/>
          <p:nvPr/>
        </p:nvSpPr>
        <p:spPr>
          <a:xfrm>
            <a:off x="8567928" y="886968"/>
            <a:ext cx="3191256" cy="274320"/>
          </a:xfrm>
          <a:prstGeom prst="roundRect">
            <a:avLst>
              <a:gd name="adj" fmla="val 50000"/>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제약사항 (지켜야 하는 조건)  C1~C6</a:t>
            </a:r>
          </a:p>
        </p:txBody>
      </p:sp>
      <p:sp>
        <p:nvSpPr>
          <p:cNvPr id="108" name="Rectangle 107"/>
          <p:cNvSpPr/>
          <p:nvPr/>
        </p:nvSpPr>
        <p:spPr>
          <a:xfrm>
            <a:off x="429768" y="129844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9" name="Rectangle 108"/>
          <p:cNvSpPr/>
          <p:nvPr/>
        </p:nvSpPr>
        <p:spPr>
          <a:xfrm>
            <a:off x="429768" y="129844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F1</a:t>
            </a:r>
          </a:p>
        </p:txBody>
      </p:sp>
      <p:sp>
        <p:nvSpPr>
          <p:cNvPr id="110" name="TextBox 109"/>
          <p:cNvSpPr txBox="1"/>
          <p:nvPr/>
        </p:nvSpPr>
        <p:spPr>
          <a:xfrm>
            <a:off x="896112" y="130759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 라우팅</a:t>
            </a:r>
          </a:p>
          <a:p>
            <a:pPr algn="l">
              <a:lnSpc>
                <a:spcPct val="95000"/>
              </a:lnSpc>
            </a:pPr>
            <a:r>
              <a:rPr sz="800" b="0" i="0">
                <a:solidFill>
                  <a:srgbClr val="262626"/>
                </a:solidFill>
                <a:latin typeface="맑은 고딕"/>
                <a:ea typeface="맑은 고딕"/>
              </a:rPr>
              <a:t>요청을 처리할 서버(vLLM 인스턴스) 고르기 - 서버별 KV 캐시 보유 위치·부하 반영</a:t>
            </a:r>
          </a:p>
        </p:txBody>
      </p:sp>
      <p:sp>
        <p:nvSpPr>
          <p:cNvPr id="111" name="Rounded Rectangle 110"/>
          <p:cNvSpPr/>
          <p:nvPr/>
        </p:nvSpPr>
        <p:spPr>
          <a:xfrm>
            <a:off x="3968496" y="1495043"/>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B 결정</a:t>
            </a:r>
          </a:p>
        </p:txBody>
      </p:sp>
      <p:sp>
        <p:nvSpPr>
          <p:cNvPr id="112" name="Rectangle 111"/>
          <p:cNvSpPr/>
          <p:nvPr/>
        </p:nvSpPr>
        <p:spPr>
          <a:xfrm>
            <a:off x="429768" y="1993391"/>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3" name="Rectangle 112"/>
          <p:cNvSpPr/>
          <p:nvPr/>
        </p:nvSpPr>
        <p:spPr>
          <a:xfrm>
            <a:off x="429768" y="1993391"/>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F2</a:t>
            </a:r>
          </a:p>
        </p:txBody>
      </p:sp>
      <p:sp>
        <p:nvSpPr>
          <p:cNvPr id="114" name="TextBox 113"/>
          <p:cNvSpPr txBox="1"/>
          <p:nvPr/>
        </p:nvSpPr>
        <p:spPr>
          <a:xfrm>
            <a:off x="896112" y="2002535"/>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메모리 상태 수집</a:t>
            </a:r>
          </a:p>
          <a:p>
            <a:pPr algn="l">
              <a:lnSpc>
                <a:spcPct val="95000"/>
              </a:lnSpc>
            </a:pPr>
            <a:r>
              <a:rPr sz="800" b="0" i="0">
                <a:solidFill>
                  <a:srgbClr val="262626"/>
                </a:solidFill>
                <a:latin typeface="맑은 고딕"/>
                <a:ea typeface="맑은 고딕"/>
              </a:rPr>
              <a:t>서버가 알려 주는 KV 캐시 위치·메모리 사용량 수집, 신규 메모리(CXL·HBF) 구분</a:t>
            </a:r>
          </a:p>
        </p:txBody>
      </p:sp>
      <p:sp>
        <p:nvSpPr>
          <p:cNvPr id="115" name="Rounded Rectangle 114"/>
          <p:cNvSpPr/>
          <p:nvPr/>
        </p:nvSpPr>
        <p:spPr>
          <a:xfrm>
            <a:off x="3968496" y="2189987"/>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C 수집</a:t>
            </a:r>
          </a:p>
        </p:txBody>
      </p:sp>
      <p:sp>
        <p:nvSpPr>
          <p:cNvPr id="116" name="Rectangle 115"/>
          <p:cNvSpPr/>
          <p:nvPr/>
        </p:nvSpPr>
        <p:spPr>
          <a:xfrm>
            <a:off x="429768" y="2688336"/>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7" name="Rectangle 116"/>
          <p:cNvSpPr/>
          <p:nvPr/>
        </p:nvSpPr>
        <p:spPr>
          <a:xfrm>
            <a:off x="429768" y="2688336"/>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F3</a:t>
            </a:r>
          </a:p>
        </p:txBody>
      </p:sp>
      <p:sp>
        <p:nvSpPr>
          <p:cNvPr id="118" name="TextBox 117"/>
          <p:cNvSpPr txBox="1"/>
          <p:nvPr/>
        </p:nvSpPr>
        <p:spPr>
          <a:xfrm>
            <a:off x="896112" y="2697479"/>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Prefill/Decode(P/D) 분리 결정</a:t>
            </a:r>
          </a:p>
          <a:p>
            <a:pPr algn="l">
              <a:lnSpc>
                <a:spcPct val="95000"/>
              </a:lnSpc>
            </a:pPr>
            <a:r>
              <a:rPr sz="800" b="0" i="0">
                <a:solidFill>
                  <a:srgbClr val="262626"/>
                </a:solidFill>
                <a:latin typeface="맑은 고딕"/>
                <a:ea typeface="맑은 고딕"/>
              </a:rPr>
              <a:t>입력 처리(Prefill)와 응답 생성(Decode)을 서버 나눠 실행할지 결정, KV 전송 정보 전달</a:t>
            </a:r>
          </a:p>
        </p:txBody>
      </p:sp>
      <p:sp>
        <p:nvSpPr>
          <p:cNvPr id="119" name="Rounded Rectangle 118"/>
          <p:cNvSpPr/>
          <p:nvPr/>
        </p:nvSpPr>
        <p:spPr>
          <a:xfrm>
            <a:off x="3968496" y="2884932"/>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B·E 조율</a:t>
            </a:r>
          </a:p>
        </p:txBody>
      </p:sp>
      <p:sp>
        <p:nvSpPr>
          <p:cNvPr id="120" name="Rectangle 119"/>
          <p:cNvSpPr/>
          <p:nvPr/>
        </p:nvSpPr>
        <p:spPr>
          <a:xfrm>
            <a:off x="429768" y="3383280"/>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1" name="Rectangle 120"/>
          <p:cNvSpPr/>
          <p:nvPr/>
        </p:nvSpPr>
        <p:spPr>
          <a:xfrm>
            <a:off x="429768" y="3383280"/>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F4</a:t>
            </a:r>
          </a:p>
        </p:txBody>
      </p:sp>
      <p:sp>
        <p:nvSpPr>
          <p:cNvPr id="122" name="TextBox 121"/>
          <p:cNvSpPr txBox="1"/>
          <p:nvPr/>
        </p:nvSpPr>
        <p:spPr>
          <a:xfrm>
            <a:off x="896112" y="3392424"/>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요청별 서버 지시</a:t>
            </a:r>
          </a:p>
          <a:p>
            <a:pPr algn="l">
              <a:lnSpc>
                <a:spcPct val="95000"/>
              </a:lnSpc>
            </a:pPr>
            <a:r>
              <a:rPr sz="800" b="0" i="0">
                <a:solidFill>
                  <a:srgbClr val="262626"/>
                </a:solidFill>
                <a:latin typeface="맑은 고딕"/>
                <a:ea typeface="맑은 고딕"/>
              </a:rPr>
              <a:t>서버에 "KV를 어느 메모리에서 몇 토큰까지 불러올지" 지시 전달</a:t>
            </a:r>
          </a:p>
        </p:txBody>
      </p:sp>
      <p:sp>
        <p:nvSpPr>
          <p:cNvPr id="123" name="Rounded Rectangle 122"/>
          <p:cNvSpPr/>
          <p:nvPr/>
        </p:nvSpPr>
        <p:spPr>
          <a:xfrm>
            <a:off x="3968496" y="3579876"/>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E 조율</a:t>
            </a:r>
          </a:p>
        </p:txBody>
      </p:sp>
      <p:sp>
        <p:nvSpPr>
          <p:cNvPr id="124" name="Rectangle 123"/>
          <p:cNvSpPr/>
          <p:nvPr/>
        </p:nvSpPr>
        <p:spPr>
          <a:xfrm>
            <a:off x="429768" y="4078224"/>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5" name="Rectangle 124"/>
          <p:cNvSpPr/>
          <p:nvPr/>
        </p:nvSpPr>
        <p:spPr>
          <a:xfrm>
            <a:off x="429768" y="4078224"/>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F5</a:t>
            </a:r>
          </a:p>
        </p:txBody>
      </p:sp>
      <p:sp>
        <p:nvSpPr>
          <p:cNvPr id="126" name="TextBox 125"/>
          <p:cNvSpPr txBox="1"/>
          <p:nvPr/>
        </p:nvSpPr>
        <p:spPr>
          <a:xfrm>
            <a:off x="896112" y="4087368"/>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흐름 제어</a:t>
            </a:r>
          </a:p>
          <a:p>
            <a:pPr algn="l">
              <a:lnSpc>
                <a:spcPct val="95000"/>
              </a:lnSpc>
            </a:pPr>
            <a:r>
              <a:rPr sz="800" b="0" i="0">
                <a:solidFill>
                  <a:srgbClr val="262626"/>
                </a:solidFill>
                <a:latin typeface="맑은 고딕"/>
                <a:ea typeface="맑은 고딕"/>
              </a:rPr>
              <a:t>과부하 시 요청 대기·우선순위·거절로 서비스 목표(SLO) 유지</a:t>
            </a:r>
          </a:p>
        </p:txBody>
      </p:sp>
      <p:sp>
        <p:nvSpPr>
          <p:cNvPr id="127" name="Rounded Rectangle 126"/>
          <p:cNvSpPr/>
          <p:nvPr/>
        </p:nvSpPr>
        <p:spPr>
          <a:xfrm>
            <a:off x="3968496" y="4274820"/>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D 흐름</a:t>
            </a:r>
          </a:p>
        </p:txBody>
      </p:sp>
      <p:sp>
        <p:nvSpPr>
          <p:cNvPr id="128" name="Rectangle 127"/>
          <p:cNvSpPr/>
          <p:nvPr/>
        </p:nvSpPr>
        <p:spPr>
          <a:xfrm>
            <a:off x="429768" y="477316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9" name="Rectangle 128"/>
          <p:cNvSpPr/>
          <p:nvPr/>
        </p:nvSpPr>
        <p:spPr>
          <a:xfrm>
            <a:off x="429768" y="477316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F6</a:t>
            </a:r>
          </a:p>
        </p:txBody>
      </p:sp>
      <p:sp>
        <p:nvSpPr>
          <p:cNvPr id="130" name="TextBox 129"/>
          <p:cNvSpPr txBox="1"/>
          <p:nvPr/>
        </p:nvSpPr>
        <p:spPr>
          <a:xfrm>
            <a:off x="896112" y="478231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서버 발견·확장</a:t>
            </a:r>
          </a:p>
          <a:p>
            <a:pPr algn="l">
              <a:lnSpc>
                <a:spcPct val="95000"/>
              </a:lnSpc>
            </a:pPr>
            <a:r>
              <a:rPr sz="800" b="0" i="0">
                <a:solidFill>
                  <a:srgbClr val="262626"/>
                </a:solidFill>
                <a:latin typeface="맑은 고딕"/>
                <a:ea typeface="맑은 고딕"/>
              </a:rPr>
              <a:t>서버가 추가·제거되면 자동 감지해 요청 대상에 반영</a:t>
            </a:r>
          </a:p>
        </p:txBody>
      </p:sp>
      <p:sp>
        <p:nvSpPr>
          <p:cNvPr id="131" name="Rounded Rectangle 130"/>
          <p:cNvSpPr/>
          <p:nvPr/>
        </p:nvSpPr>
        <p:spPr>
          <a:xfrm>
            <a:off x="3968496" y="4969764"/>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F 발견</a:t>
            </a:r>
          </a:p>
        </p:txBody>
      </p:sp>
      <p:sp>
        <p:nvSpPr>
          <p:cNvPr id="132" name="TextBox 131"/>
          <p:cNvSpPr txBox="1"/>
          <p:nvPr/>
        </p:nvSpPr>
        <p:spPr>
          <a:xfrm>
            <a:off x="429768" y="5440680"/>
            <a:ext cx="4123944"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A 요청 경로(수신·중계)는 모든 F의 전제. llm-d 기본 제공: F5·F6, F1~F3 기본형</a:t>
            </a:r>
          </a:p>
        </p:txBody>
      </p:sp>
      <p:sp>
        <p:nvSpPr>
          <p:cNvPr id="133" name="Rectangle 132"/>
          <p:cNvSpPr/>
          <p:nvPr/>
        </p:nvSpPr>
        <p:spPr>
          <a:xfrm>
            <a:off x="4864608" y="1298448"/>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4" name="Rectangle 133"/>
          <p:cNvSpPr/>
          <p:nvPr/>
        </p:nvSpPr>
        <p:spPr>
          <a:xfrm>
            <a:off x="4864608" y="1298448"/>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Q1</a:t>
            </a:r>
          </a:p>
        </p:txBody>
      </p:sp>
      <p:sp>
        <p:nvSpPr>
          <p:cNvPr id="135" name="TextBox 134"/>
          <p:cNvSpPr txBox="1"/>
          <p:nvPr/>
        </p:nvSpPr>
        <p:spPr>
          <a:xfrm>
            <a:off x="5330952" y="1307592"/>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처리량 (Throughput)</a:t>
            </a:r>
          </a:p>
          <a:p>
            <a:pPr algn="l">
              <a:lnSpc>
                <a:spcPct val="95000"/>
              </a:lnSpc>
            </a:pPr>
            <a:r>
              <a:rPr sz="800" b="0" i="0">
                <a:solidFill>
                  <a:srgbClr val="262626"/>
                </a:solidFill>
                <a:latin typeface="맑은 고딕"/>
                <a:ea typeface="맑은 고딕"/>
              </a:rPr>
              <a:t>지표: SLO를 지키는 최대 처리량 (Goodput)</a:t>
            </a:r>
          </a:p>
          <a:p>
            <a:pPr algn="l">
              <a:lnSpc>
                <a:spcPct val="95000"/>
              </a:lnSpc>
            </a:pPr>
            <a:r>
              <a:rPr sz="800" b="0" i="0">
                <a:solidFill>
                  <a:srgbClr val="262626"/>
                </a:solidFill>
                <a:latin typeface="맑은 고딕"/>
                <a:ea typeface="맑은 고딕"/>
              </a:rPr>
              <a:t>목표: OSS 기본 설정 대비 향상 (수치는 측정 후 확정)</a:t>
            </a:r>
          </a:p>
        </p:txBody>
      </p:sp>
      <p:sp>
        <p:nvSpPr>
          <p:cNvPr id="136" name="Rectangle 135"/>
          <p:cNvSpPr/>
          <p:nvPr/>
        </p:nvSpPr>
        <p:spPr>
          <a:xfrm>
            <a:off x="4864608" y="2139696"/>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7" name="Rectangle 136"/>
          <p:cNvSpPr/>
          <p:nvPr/>
        </p:nvSpPr>
        <p:spPr>
          <a:xfrm>
            <a:off x="4864608" y="2139696"/>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Q2</a:t>
            </a:r>
          </a:p>
        </p:txBody>
      </p:sp>
      <p:sp>
        <p:nvSpPr>
          <p:cNvPr id="138" name="TextBox 137"/>
          <p:cNvSpPr txBox="1"/>
          <p:nvPr/>
        </p:nvSpPr>
        <p:spPr>
          <a:xfrm>
            <a:off x="5330952" y="2148839"/>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응답 지연 (Latency)</a:t>
            </a:r>
          </a:p>
          <a:p>
            <a:pPr algn="l">
              <a:lnSpc>
                <a:spcPct val="95000"/>
              </a:lnSpc>
            </a:pPr>
            <a:r>
              <a:rPr sz="800" b="0" i="0">
                <a:solidFill>
                  <a:srgbClr val="262626"/>
                </a:solidFill>
                <a:latin typeface="맑은 고딕"/>
                <a:ea typeface="맑은 고딕"/>
              </a:rPr>
              <a:t>지표: 첫 응답 시간 (TTFT), 조율 계층 추가 시간</a:t>
            </a:r>
          </a:p>
          <a:p>
            <a:pPr algn="l">
              <a:lnSpc>
                <a:spcPct val="95000"/>
              </a:lnSpc>
            </a:pPr>
            <a:r>
              <a:rPr sz="800" b="0" i="0">
                <a:solidFill>
                  <a:srgbClr val="262626"/>
                </a:solidFill>
                <a:latin typeface="맑은 고딕"/>
                <a:ea typeface="맑은 고딕"/>
              </a:rPr>
              <a:t>목표: 추가 시간이 허용 한도 이내 (한도는 측정 후 확정)</a:t>
            </a:r>
          </a:p>
        </p:txBody>
      </p:sp>
      <p:sp>
        <p:nvSpPr>
          <p:cNvPr id="139" name="Rectangle 138"/>
          <p:cNvSpPr/>
          <p:nvPr/>
        </p:nvSpPr>
        <p:spPr>
          <a:xfrm>
            <a:off x="4864608" y="2980944"/>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0" name="Rectangle 139"/>
          <p:cNvSpPr/>
          <p:nvPr/>
        </p:nvSpPr>
        <p:spPr>
          <a:xfrm>
            <a:off x="4864608" y="2980944"/>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Q3</a:t>
            </a:r>
          </a:p>
        </p:txBody>
      </p:sp>
      <p:sp>
        <p:nvSpPr>
          <p:cNvPr id="141" name="TextBox 140"/>
          <p:cNvSpPr txBox="1"/>
          <p:nvPr/>
        </p:nvSpPr>
        <p:spPr>
          <a:xfrm>
            <a:off x="5330952" y="2990087"/>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변경 용이성 (Modifiability)</a:t>
            </a:r>
          </a:p>
          <a:p>
            <a:pPr algn="l">
              <a:lnSpc>
                <a:spcPct val="95000"/>
              </a:lnSpc>
            </a:pPr>
            <a:r>
              <a:rPr sz="800" b="0" i="0">
                <a:solidFill>
                  <a:srgbClr val="262626"/>
                </a:solidFill>
                <a:latin typeface="맑은 고딕"/>
                <a:ea typeface="맑은 고딕"/>
              </a:rPr>
              <a:t>지표: 새 메모리·정책 추가 시 변경 범위 (수정 모듈 수 등)</a:t>
            </a:r>
          </a:p>
          <a:p>
            <a:pPr algn="l">
              <a:lnSpc>
                <a:spcPct val="95000"/>
              </a:lnSpc>
            </a:pPr>
            <a:r>
              <a:rPr sz="800" b="0" i="0">
                <a:solidFill>
                  <a:srgbClr val="262626"/>
                </a:solidFill>
                <a:latin typeface="맑은 고딕"/>
                <a:ea typeface="맑은 고딕"/>
              </a:rPr>
              <a:t>목표: 새 메모리는 설정만, 새 정책은 확장 모듈(plugin)로</a:t>
            </a:r>
          </a:p>
        </p:txBody>
      </p:sp>
      <p:sp>
        <p:nvSpPr>
          <p:cNvPr id="142" name="Rectangle 141"/>
          <p:cNvSpPr/>
          <p:nvPr/>
        </p:nvSpPr>
        <p:spPr>
          <a:xfrm>
            <a:off x="4864608" y="3822191"/>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3" name="Rectangle 142"/>
          <p:cNvSpPr/>
          <p:nvPr/>
        </p:nvSpPr>
        <p:spPr>
          <a:xfrm>
            <a:off x="4864608" y="3822191"/>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Q4</a:t>
            </a:r>
          </a:p>
        </p:txBody>
      </p:sp>
      <p:sp>
        <p:nvSpPr>
          <p:cNvPr id="144" name="TextBox 143"/>
          <p:cNvSpPr txBox="1"/>
          <p:nvPr/>
        </p:nvSpPr>
        <p:spPr>
          <a:xfrm>
            <a:off x="5330952" y="3831335"/>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확장성 (Scalability)</a:t>
            </a:r>
          </a:p>
          <a:p>
            <a:pPr algn="l">
              <a:lnSpc>
                <a:spcPct val="95000"/>
              </a:lnSpc>
            </a:pPr>
            <a:r>
              <a:rPr sz="800" b="0" i="0">
                <a:solidFill>
                  <a:srgbClr val="262626"/>
                </a:solidFill>
                <a:latin typeface="맑은 고딕"/>
                <a:ea typeface="맑은 고딕"/>
              </a:rPr>
              <a:t>지표: 서버 N배 시 처리량이 N배의 몇 %</a:t>
            </a:r>
          </a:p>
          <a:p>
            <a:pPr algn="l">
              <a:lnSpc>
                <a:spcPct val="95000"/>
              </a:lnSpc>
            </a:pPr>
            <a:r>
              <a:rPr sz="800" b="0" i="0">
                <a:solidFill>
                  <a:srgbClr val="262626"/>
                </a:solidFill>
                <a:latin typeface="맑은 고딕"/>
                <a:ea typeface="맑은 고딕"/>
              </a:rPr>
              <a:t>목표: 병목 없이 확장 (분석·시뮬레이션)</a:t>
            </a:r>
          </a:p>
        </p:txBody>
      </p:sp>
      <p:sp>
        <p:nvSpPr>
          <p:cNvPr id="145" name="Rectangle 144"/>
          <p:cNvSpPr/>
          <p:nvPr/>
        </p:nvSpPr>
        <p:spPr>
          <a:xfrm>
            <a:off x="4864608" y="4681727"/>
            <a:ext cx="3392424" cy="914400"/>
          </a:xfrm>
          <a:prstGeom prst="rect">
            <a:avLst/>
          </a:prstGeom>
          <a:solidFill>
            <a:srgbClr val="F2F2F2"/>
          </a:solid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27432" rIns="54864" bIns="27432" rtlCol="0" anchor="ctr"/>
          <a:lstStyle/>
          <a:p>
            <a:pPr algn="l">
              <a:lnSpc>
                <a:spcPct val="95000"/>
              </a:lnSpc>
            </a:pPr>
            <a:r>
              <a:rPr sz="850" b="1" i="0">
                <a:solidFill>
                  <a:srgbClr val="404040"/>
                </a:solidFill>
                <a:latin typeface="맑은 고딕"/>
                <a:ea typeface="맑은 고딕"/>
              </a:rPr>
              <a:t>제외한 QA 2개</a:t>
            </a:r>
          </a:p>
          <a:p>
            <a:pPr algn="l">
              <a:lnSpc>
                <a:spcPct val="95000"/>
              </a:lnSpc>
            </a:pPr>
            <a:r>
              <a:rPr sz="750" b="0" i="0">
                <a:solidFill>
                  <a:srgbClr val="000000"/>
                </a:solidFill>
                <a:latin typeface="맑은 고딕"/>
                <a:ea typeface="맑은 고딕"/>
              </a:rPr>
              <a:t>· Resource Utilization: 라우팅 품질의 결과라 Q1과 같은 원인 → 독립 판별력 없음, 로그로만 기록</a:t>
            </a:r>
          </a:p>
          <a:p>
            <a:pPr algn="l">
              <a:lnSpc>
                <a:spcPct val="95000"/>
              </a:lnSpc>
            </a:pPr>
            <a:r>
              <a:rPr sz="750" b="0" i="0">
                <a:solidFill>
                  <a:srgbClr val="000000"/>
                </a:solidFill>
                <a:latin typeface="맑은 고딕"/>
                <a:ea typeface="맑은 고딕"/>
              </a:rPr>
              <a:t>· Functional Correctness(모델 정확도): 후보 간 차이 없음 → QA 대신 제약 C3로 처리</a:t>
            </a:r>
          </a:p>
        </p:txBody>
      </p:sp>
      <p:sp>
        <p:nvSpPr>
          <p:cNvPr id="146" name="Rectangle 145"/>
          <p:cNvSpPr/>
          <p:nvPr/>
        </p:nvSpPr>
        <p:spPr>
          <a:xfrm>
            <a:off x="8567928" y="129844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7" name="Rectangle 146"/>
          <p:cNvSpPr/>
          <p:nvPr/>
        </p:nvSpPr>
        <p:spPr>
          <a:xfrm>
            <a:off x="8567928" y="129844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C1</a:t>
            </a:r>
          </a:p>
        </p:txBody>
      </p:sp>
      <p:sp>
        <p:nvSpPr>
          <p:cNvPr id="148" name="TextBox 147"/>
          <p:cNvSpPr txBox="1"/>
          <p:nvPr/>
        </p:nvSpPr>
        <p:spPr>
          <a:xfrm>
            <a:off x="9034272" y="130759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추론 엔진은 vLLM으로 고정</a:t>
            </a:r>
          </a:p>
          <a:p>
            <a:pPr algn="l">
              <a:lnSpc>
                <a:spcPct val="95000"/>
              </a:lnSpc>
            </a:pPr>
            <a:r>
              <a:rPr sz="800" b="0" i="0">
                <a:solidFill>
                  <a:srgbClr val="262626"/>
                </a:solidFill>
                <a:latin typeface="맑은 고딕"/>
                <a:ea typeface="맑은 고딕"/>
              </a:rPr>
              <a:t>엔진 교체는 DP가 아닌 전제 조건</a:t>
            </a:r>
          </a:p>
        </p:txBody>
      </p:sp>
      <p:sp>
        <p:nvSpPr>
          <p:cNvPr id="149" name="Rectangle 148"/>
          <p:cNvSpPr/>
          <p:nvPr/>
        </p:nvSpPr>
        <p:spPr>
          <a:xfrm>
            <a:off x="8567928" y="1993391"/>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0" name="Rectangle 149"/>
          <p:cNvSpPr/>
          <p:nvPr/>
        </p:nvSpPr>
        <p:spPr>
          <a:xfrm>
            <a:off x="8567928" y="1993391"/>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C2</a:t>
            </a:r>
          </a:p>
        </p:txBody>
      </p:sp>
      <p:sp>
        <p:nvSpPr>
          <p:cNvPr id="151" name="TextBox 150"/>
          <p:cNvSpPr txBox="1"/>
          <p:nvPr/>
        </p:nvSpPr>
        <p:spPr>
          <a:xfrm>
            <a:off x="9034272" y="2002535"/>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실험 환경: GPU 8장 서버 2대</a:t>
            </a:r>
          </a:p>
          <a:p>
            <a:pPr algn="l">
              <a:lnSpc>
                <a:spcPct val="95000"/>
              </a:lnSpc>
            </a:pPr>
            <a:r>
              <a:rPr sz="800" b="0" i="0">
                <a:solidFill>
                  <a:srgbClr val="262626"/>
                </a:solidFill>
                <a:latin typeface="맑은 고딕"/>
                <a:ea typeface="맑은 고딕"/>
              </a:rPr>
              <a:t>Kubernetes 숙련도 낮음, 서버 간 RDMA 미확인 → Q4는 실측 불가</a:t>
            </a:r>
          </a:p>
        </p:txBody>
      </p:sp>
      <p:sp>
        <p:nvSpPr>
          <p:cNvPr id="152" name="Rectangle 151"/>
          <p:cNvSpPr/>
          <p:nvPr/>
        </p:nvSpPr>
        <p:spPr>
          <a:xfrm>
            <a:off x="8567928" y="2688336"/>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3" name="Rectangle 152"/>
          <p:cNvSpPr/>
          <p:nvPr/>
        </p:nvSpPr>
        <p:spPr>
          <a:xfrm>
            <a:off x="8567928" y="2688336"/>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C3</a:t>
            </a:r>
          </a:p>
        </p:txBody>
      </p:sp>
      <p:sp>
        <p:nvSpPr>
          <p:cNvPr id="154" name="TextBox 153"/>
          <p:cNvSpPr txBox="1"/>
          <p:nvPr/>
        </p:nvSpPr>
        <p:spPr>
          <a:xfrm>
            <a:off x="9034272" y="2697479"/>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정확도 불변 (손실 없음)</a:t>
            </a:r>
          </a:p>
          <a:p>
            <a:pPr algn="l">
              <a:lnSpc>
                <a:spcPct val="95000"/>
              </a:lnSpc>
            </a:pPr>
            <a:r>
              <a:rPr sz="800" b="0" i="0">
                <a:solidFill>
                  <a:srgbClr val="262626"/>
                </a:solidFill>
                <a:latin typeface="맑은 고딕"/>
                <a:ea typeface="맑은 고딕"/>
              </a:rPr>
              <a:t>손실형 압축·근사 적중 금지, 어느 후보든 출력 동일</a:t>
            </a:r>
          </a:p>
        </p:txBody>
      </p:sp>
      <p:sp>
        <p:nvSpPr>
          <p:cNvPr id="155" name="Rectangle 154"/>
          <p:cNvSpPr/>
          <p:nvPr/>
        </p:nvSpPr>
        <p:spPr>
          <a:xfrm>
            <a:off x="8567928" y="3383280"/>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6" name="Rectangle 155"/>
          <p:cNvSpPr/>
          <p:nvPr/>
        </p:nvSpPr>
        <p:spPr>
          <a:xfrm>
            <a:off x="8567928" y="3383280"/>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C4</a:t>
            </a:r>
          </a:p>
        </p:txBody>
      </p:sp>
      <p:sp>
        <p:nvSpPr>
          <p:cNvPr id="157" name="TextBox 156"/>
          <p:cNvSpPr txBox="1"/>
          <p:nvPr/>
        </p:nvSpPr>
        <p:spPr>
          <a:xfrm>
            <a:off x="9034272" y="3392424"/>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OSS 업스트림 추적 가능</a:t>
            </a:r>
          </a:p>
          <a:p>
            <a:pPr algn="l">
              <a:lnSpc>
                <a:spcPct val="95000"/>
              </a:lnSpc>
            </a:pPr>
            <a:r>
              <a:rPr sz="800" b="0" i="0">
                <a:solidFill>
                  <a:srgbClr val="262626"/>
                </a:solidFill>
                <a:latin typeface="맑은 고딕"/>
                <a:ea typeface="맑은 고딕"/>
              </a:rPr>
              <a:t>포크 최소화, 공개 확장 지점(설정·plugin) 위주</a:t>
            </a:r>
          </a:p>
        </p:txBody>
      </p:sp>
      <p:sp>
        <p:nvSpPr>
          <p:cNvPr id="158" name="Rectangle 157"/>
          <p:cNvSpPr/>
          <p:nvPr/>
        </p:nvSpPr>
        <p:spPr>
          <a:xfrm>
            <a:off x="8567928" y="4078224"/>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9" name="Rectangle 158"/>
          <p:cNvSpPr/>
          <p:nvPr/>
        </p:nvSpPr>
        <p:spPr>
          <a:xfrm>
            <a:off x="8567928" y="4078224"/>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C5</a:t>
            </a:r>
          </a:p>
        </p:txBody>
      </p:sp>
      <p:sp>
        <p:nvSpPr>
          <p:cNvPr id="160" name="TextBox 159"/>
          <p:cNvSpPr txBox="1"/>
          <p:nvPr/>
        </p:nvSpPr>
        <p:spPr>
          <a:xfrm>
            <a:off x="9034272" y="4087368"/>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서버 내부(DP1~DP4)와 접점 고정</a:t>
            </a:r>
          </a:p>
          <a:p>
            <a:pPr algn="l">
              <a:lnSpc>
                <a:spcPct val="95000"/>
              </a:lnSpc>
            </a:pPr>
            <a:r>
              <a:rPr sz="800" b="0" i="0">
                <a:solidFill>
                  <a:srgbClr val="262626"/>
                </a:solidFill>
                <a:latin typeface="맑은 고딕"/>
                <a:ea typeface="맑은 고딕"/>
              </a:rPr>
              <a:t>KV 이벤트·메트릭·KV 전송 정보(NIXL)를 계약으로 유지 → 병렬 진행</a:t>
            </a:r>
          </a:p>
        </p:txBody>
      </p:sp>
      <p:sp>
        <p:nvSpPr>
          <p:cNvPr id="161" name="Rectangle 160"/>
          <p:cNvSpPr/>
          <p:nvPr/>
        </p:nvSpPr>
        <p:spPr>
          <a:xfrm>
            <a:off x="8567928" y="477316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2" name="Rectangle 161"/>
          <p:cNvSpPr/>
          <p:nvPr/>
        </p:nvSpPr>
        <p:spPr>
          <a:xfrm>
            <a:off x="8567928" y="477316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C6</a:t>
            </a:r>
          </a:p>
        </p:txBody>
      </p:sp>
      <p:sp>
        <p:nvSpPr>
          <p:cNvPr id="163" name="TextBox 162"/>
          <p:cNvSpPr txBox="1"/>
          <p:nvPr/>
        </p:nvSpPr>
        <p:spPr>
          <a:xfrm>
            <a:off x="9034272" y="478231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정책 P1~P5를 모두 표현 가능</a:t>
            </a:r>
          </a:p>
          <a:p>
            <a:pPr algn="l">
              <a:lnSpc>
                <a:spcPct val="95000"/>
              </a:lnSpc>
            </a:pPr>
            <a:r>
              <a:rPr sz="800" b="0" i="0">
                <a:solidFill>
                  <a:srgbClr val="262626"/>
                </a:solidFill>
                <a:latin typeface="맑은 고딕"/>
                <a:ea typeface="맑은 고딕"/>
              </a:rPr>
              <a:t>표현이 막히면 서버 내부 성능 이득이 서버 간에서 손실</a:t>
            </a:r>
          </a:p>
        </p:txBody>
      </p:sp>
      <p:sp>
        <p:nvSpPr>
          <p:cNvPr id="164" name="TextBox 163"/>
          <p:cNvSpPr txBox="1"/>
          <p:nvPr/>
        </p:nvSpPr>
        <p:spPr>
          <a:xfrm>
            <a:off x="8567928" y="5440680"/>
            <a:ext cx="3191256"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P1~P5: 조율 계층에 넣을 5가지 판단 로직 (설계 슬라이드)</a:t>
            </a:r>
          </a:p>
        </p:txBody>
      </p:sp>
      <p:sp>
        <p:nvSpPr>
          <p:cNvPr id="165" name="Rectangle 164"/>
          <p:cNvSpPr/>
          <p:nvPr/>
        </p:nvSpPr>
        <p:spPr>
          <a:xfrm>
            <a:off x="320040" y="5852160"/>
            <a:ext cx="1154887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1050" b="1" i="0">
                <a:solidFill>
                  <a:srgbClr val="2F5597"/>
                </a:solidFill>
                <a:latin typeface="맑은 고딕"/>
                <a:ea typeface="맑은 고딕"/>
              </a:rPr>
              <a:t>→ 핵심: </a:t>
            </a:r>
            <a:r>
              <a:rPr sz="950" b="1" i="0">
                <a:solidFill>
                  <a:srgbClr val="2F5597"/>
                </a:solidFill>
                <a:latin typeface="맑은 고딕"/>
                <a:ea typeface="맑은 고딕"/>
              </a:rPr>
              <a:t>서버 내부 메모리 상태를 반영해 요청을 배분(F1~F4)하되, 처리량·첫 응답 시간·변경 용이성·확장성(Q1~Q4)을 만족하고, vLLM 고정·2노드 환경·정확도 불변(C1~C3) 안에서 해결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 요청 조율 계층 설계 - 구조·장단점</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서버 간(클러스터) 요청을 조율하는 계층의 컴포넌트 뷰 (2안은 Strategy 패턴 적용)</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Rectangle 101"/>
          <p:cNvSpPr/>
          <p:nvPr/>
        </p:nvSpPr>
        <p:spPr>
          <a:xfrm>
            <a:off x="246888" y="1042415"/>
            <a:ext cx="868680" cy="438912"/>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0">
                <a:solidFill>
                  <a:srgbClr val="7F7F7F"/>
                </a:solidFill>
                <a:latin typeface="맑은 고딕"/>
                <a:ea typeface="맑은 고딕"/>
              </a:rPr>
              <a:t>설계 안</a:t>
            </a:r>
          </a:p>
        </p:txBody>
      </p:sp>
      <p:sp>
        <p:nvSpPr>
          <p:cNvPr id="103" name="Rectangle 102"/>
          <p:cNvSpPr/>
          <p:nvPr/>
        </p:nvSpPr>
        <p:spPr>
          <a:xfrm>
            <a:off x="1115568" y="1042415"/>
            <a:ext cx="5394960" cy="438912"/>
          </a:xfrm>
          <a:prstGeom prst="rect">
            <a:avLst/>
          </a:prstGeom>
          <a:solidFill>
            <a:srgbClr val="FFFFFF"/>
          </a:solidFill>
          <a:ln w="6350">
            <a:solidFill>
              <a:srgbClr val="BFBFBF"/>
            </a:solidFill>
          </a:ln>
          <a:effectLst/>
        </p:spPr>
        <p:txBody>
          <a:bodyPr rtlCol="0" anchor="ctr"/>
          <a:lstStyle/>
          <a:p>
            <a:pPr algn="ctr"/>
          </a:p>
        </p:txBody>
      </p:sp>
      <p:sp>
        <p:nvSpPr>
          <p:cNvPr id="104" name="Rectangle 103"/>
          <p:cNvSpPr/>
          <p:nvPr/>
        </p:nvSpPr>
        <p:spPr>
          <a:xfrm>
            <a:off x="6510528" y="1042415"/>
            <a:ext cx="5486399" cy="438912"/>
          </a:xfrm>
          <a:prstGeom prst="rect">
            <a:avLst/>
          </a:prstGeom>
          <a:solidFill>
            <a:srgbClr val="FFFFFF"/>
          </a:solidFill>
          <a:ln w="6350">
            <a:solidFill>
              <a:srgbClr val="BFBFBF"/>
            </a:solidFill>
          </a:ln>
          <a:effectLst/>
        </p:spPr>
        <p:txBody>
          <a:bodyPr rtlCol="0" anchor="ctr"/>
          <a:lstStyle/>
          <a:p>
            <a:pPr algn="ctr"/>
          </a:p>
        </p:txBody>
      </p:sp>
      <p:sp>
        <p:nvSpPr>
          <p:cNvPr id="105" name="TextBox 104"/>
          <p:cNvSpPr txBox="1"/>
          <p:nvPr/>
        </p:nvSpPr>
        <p:spPr>
          <a:xfrm>
            <a:off x="1188720" y="1060704"/>
            <a:ext cx="5212080" cy="201168"/>
          </a:xfrm>
          <a:prstGeom prst="rect">
            <a:avLst/>
          </a:prstGeom>
          <a:noFill/>
        </p:spPr>
        <p:txBody>
          <a:bodyPr wrap="square" anchor="t" lIns="0" tIns="0" rIns="0" bIns="0">
            <a:spAutoFit/>
          </a:bodyPr>
          <a:lstStyle/>
          <a:p>
            <a:pPr algn="l"/>
            <a:r>
              <a:rPr sz="1200" b="1">
                <a:solidFill>
                  <a:srgbClr val="000000"/>
                </a:solidFill>
                <a:latin typeface="맑은 고딕"/>
                <a:ea typeface="맑은 고딕"/>
              </a:rPr>
              <a:t>(1안) OSS 확장 구조  </a:t>
            </a:r>
            <a:r>
              <a:rPr sz="850" b="0">
                <a:solidFill>
                  <a:srgbClr val="404040"/>
                </a:solidFill>
                <a:latin typeface="맑은 고딕"/>
                <a:ea typeface="맑은 고딕"/>
              </a:rPr>
              <a:t>(llm-d 기준: 기존 모듈 + 우리 확장)</a:t>
            </a:r>
          </a:p>
        </p:txBody>
      </p:sp>
      <p:sp>
        <p:nvSpPr>
          <p:cNvPr id="106" name="TextBox 105"/>
          <p:cNvSpPr txBox="1"/>
          <p:nvPr/>
        </p:nvSpPr>
        <p:spPr>
          <a:xfrm>
            <a:off x="1188720" y="1280160"/>
            <a:ext cx="5212080" cy="182880"/>
          </a:xfrm>
          <a:prstGeom prst="rect">
            <a:avLst/>
          </a:prstGeom>
          <a:noFill/>
        </p:spPr>
        <p:txBody>
          <a:bodyPr wrap="square" anchor="t" lIns="0" tIns="0" rIns="0" bIns="0">
            <a:spAutoFit/>
          </a:bodyPr>
          <a:lstStyle/>
          <a:p>
            <a:pPr algn="l"/>
            <a:r>
              <a:rPr sz="850" b="0">
                <a:solidFill>
                  <a:srgbClr val="404040"/>
                </a:solidFill>
                <a:latin typeface="맑은 고딕"/>
                <a:ea typeface="맑은 고딕"/>
              </a:rPr>
              <a:t>“검증된 OSS 위에 설정·확장 모듈(plugin)로 이기종 메모리 인지 정책을 얹는 구조”</a:t>
            </a:r>
          </a:p>
        </p:txBody>
      </p:sp>
      <p:sp>
        <p:nvSpPr>
          <p:cNvPr id="107" name="TextBox 106"/>
          <p:cNvSpPr txBox="1"/>
          <p:nvPr/>
        </p:nvSpPr>
        <p:spPr>
          <a:xfrm>
            <a:off x="6583680" y="1060704"/>
            <a:ext cx="5303520" cy="201168"/>
          </a:xfrm>
          <a:prstGeom prst="rect">
            <a:avLst/>
          </a:prstGeom>
          <a:noFill/>
        </p:spPr>
        <p:txBody>
          <a:bodyPr wrap="square" anchor="t" lIns="0" tIns="0" rIns="0" bIns="0">
            <a:spAutoFit/>
          </a:bodyPr>
          <a:lstStyle/>
          <a:p>
            <a:pPr algn="l"/>
            <a:r>
              <a:rPr sz="1200" b="1">
                <a:solidFill>
                  <a:srgbClr val="000000"/>
                </a:solidFill>
                <a:latin typeface="맑은 고딕"/>
                <a:ea typeface="맑은 고딕"/>
              </a:rPr>
              <a:t>(2안) 자체 구현 구조  </a:t>
            </a:r>
            <a:r>
              <a:rPr sz="850" b="0">
                <a:solidFill>
                  <a:srgbClr val="404040"/>
                </a:solidFill>
                <a:latin typeface="맑은 고딕"/>
                <a:ea typeface="맑은 고딕"/>
              </a:rPr>
              <a:t>(Own Router: 한 프로세스 · Strategy 패턴 · 레플리카 확장)</a:t>
            </a:r>
          </a:p>
        </p:txBody>
      </p:sp>
      <p:sp>
        <p:nvSpPr>
          <p:cNvPr id="108" name="TextBox 107"/>
          <p:cNvSpPr txBox="1"/>
          <p:nvPr/>
        </p:nvSpPr>
        <p:spPr>
          <a:xfrm>
            <a:off x="6583680" y="1280160"/>
            <a:ext cx="5349240" cy="182880"/>
          </a:xfrm>
          <a:prstGeom prst="rect">
            <a:avLst/>
          </a:prstGeom>
          <a:noFill/>
        </p:spPr>
        <p:txBody>
          <a:bodyPr wrap="square" anchor="t" lIns="0" tIns="0" rIns="0" bIns="0">
            <a:spAutoFit/>
          </a:bodyPr>
          <a:lstStyle/>
          <a:p>
            <a:pPr algn="l"/>
            <a:r>
              <a:rPr sz="850" b="0">
                <a:solidFill>
                  <a:srgbClr val="404040"/>
                </a:solidFill>
                <a:latin typeface="맑은 고딕"/>
                <a:ea typeface="맑은 고딕"/>
              </a:rPr>
              <a:t>“결정·상태·P/D 조율을 한 프로세스에 모으고, 정책은 Strategy 패턴으로 갈아 끼우는 구조”</a:t>
            </a:r>
          </a:p>
        </p:txBody>
      </p:sp>
      <p:sp>
        <p:nvSpPr>
          <p:cNvPr id="109" name="Rectangle 108"/>
          <p:cNvSpPr/>
          <p:nvPr/>
        </p:nvSpPr>
        <p:spPr>
          <a:xfrm>
            <a:off x="246888" y="1481328"/>
            <a:ext cx="868680" cy="3291840"/>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0">
                <a:solidFill>
                  <a:srgbClr val="7F7F7F"/>
                </a:solidFill>
                <a:latin typeface="맑은 고딕"/>
                <a:ea typeface="맑은 고딕"/>
              </a:rPr>
              <a:t>구조</a:t>
            </a:r>
          </a:p>
        </p:txBody>
      </p:sp>
      <p:sp>
        <p:nvSpPr>
          <p:cNvPr id="110" name="Rectangle 109"/>
          <p:cNvSpPr/>
          <p:nvPr/>
        </p:nvSpPr>
        <p:spPr>
          <a:xfrm>
            <a:off x="1115568" y="1481328"/>
            <a:ext cx="5394960" cy="3291840"/>
          </a:xfrm>
          <a:prstGeom prst="rect">
            <a:avLst/>
          </a:prstGeom>
          <a:solidFill>
            <a:srgbClr val="FFFFFF"/>
          </a:solidFill>
          <a:ln w="6350">
            <a:solidFill>
              <a:srgbClr val="BFBFBF"/>
            </a:solidFill>
          </a:ln>
          <a:effectLst/>
        </p:spPr>
        <p:txBody>
          <a:bodyPr rtlCol="0" anchor="ctr"/>
          <a:lstStyle/>
          <a:p>
            <a:pPr algn="ctr"/>
          </a:p>
        </p:txBody>
      </p:sp>
      <p:sp>
        <p:nvSpPr>
          <p:cNvPr id="111" name="Rectangle 110"/>
          <p:cNvSpPr/>
          <p:nvPr/>
        </p:nvSpPr>
        <p:spPr>
          <a:xfrm>
            <a:off x="6510528" y="1481328"/>
            <a:ext cx="5486399" cy="3291840"/>
          </a:xfrm>
          <a:prstGeom prst="rect">
            <a:avLst/>
          </a:prstGeom>
          <a:solidFill>
            <a:srgbClr val="FFFFFF"/>
          </a:solidFill>
          <a:ln w="6350">
            <a:solidFill>
              <a:srgbClr val="BFBFBF"/>
            </a:solidFill>
          </a:ln>
          <a:effectLst/>
        </p:spPr>
        <p:txBody>
          <a:bodyPr rtlCol="0" anchor="ctr"/>
          <a:lstStyle/>
          <a:p>
            <a:pPr algn="ctr"/>
          </a:p>
        </p:txBody>
      </p:sp>
      <p:cxnSp>
        <p:nvCxnSpPr>
          <p:cNvPr id="112" name="Connector 111"/>
          <p:cNvCxnSpPr/>
          <p:nvPr/>
        </p:nvCxnSpPr>
        <p:spPr>
          <a:xfrm>
            <a:off x="2103120" y="2587752"/>
            <a:ext cx="2971800" cy="0"/>
          </a:xfrm>
          <a:prstGeom prst="line">
            <a:avLst/>
          </a:prstGeom>
          <a:ln w="12700">
            <a:solidFill>
              <a:srgbClr val="404040"/>
            </a:solidFill>
            <a:tailEnd type="triangle"/>
          </a:ln>
        </p:spPr>
      </p:cxnSp>
      <p:sp>
        <p:nvSpPr>
          <p:cNvPr id="113" name="Rectangle 112"/>
          <p:cNvSpPr/>
          <p:nvPr/>
        </p:nvSpPr>
        <p:spPr>
          <a:xfrm>
            <a:off x="1234440" y="1554480"/>
            <a:ext cx="566928" cy="256032"/>
          </a:xfrm>
          <a:prstGeom prst="rect">
            <a:avLst/>
          </a:prstGeom>
          <a:solidFill>
            <a:srgbClr val="FFFFFF"/>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Client</a:t>
            </a:r>
          </a:p>
        </p:txBody>
      </p:sp>
      <p:sp>
        <p:nvSpPr>
          <p:cNvPr id="114" name="Rectangle 113"/>
          <p:cNvSpPr/>
          <p:nvPr/>
        </p:nvSpPr>
        <p:spPr>
          <a:xfrm>
            <a:off x="1188720" y="2039112"/>
            <a:ext cx="960120" cy="868680"/>
          </a:xfrm>
          <a:prstGeom prst="rect">
            <a:avLst/>
          </a:prstGeom>
          <a:solidFill>
            <a:srgbClr val="FFFFFF"/>
          </a:solidFill>
          <a:ln w="15875">
            <a:solidFill>
              <a:srgbClr val="2E75B6"/>
            </a:solidFill>
          </a:ln>
          <a:effectLst/>
        </p:spPr>
        <p:txBody>
          <a:bodyPr rtlCol="0" anchor="ctr"/>
          <a:lstStyle/>
          <a:p>
            <a:pPr algn="ctr"/>
          </a:p>
        </p:txBody>
      </p:sp>
      <p:sp>
        <p:nvSpPr>
          <p:cNvPr id="115" name="Rectangle 114"/>
          <p:cNvSpPr/>
          <p:nvPr/>
        </p:nvSpPr>
        <p:spPr>
          <a:xfrm>
            <a:off x="1188720" y="2039112"/>
            <a:ext cx="960120" cy="173736"/>
          </a:xfrm>
          <a:prstGeom prst="rect">
            <a:avLst/>
          </a:prstGeom>
          <a:solidFill>
            <a:srgbClr val="2E75B6"/>
          </a:solidFill>
          <a:ln w="12700">
            <a:solidFill>
              <a:srgbClr val="2E75B6"/>
            </a:solidFill>
          </a:ln>
          <a:effectLst/>
        </p:spPr>
        <p:txBody>
          <a:bodyPr rtlCol="0" anchor="ctr" wrap="square" lIns="45720" tIns="0" rIns="18288" bIns="0"/>
          <a:lstStyle/>
          <a:p>
            <a:pPr algn="l"/>
            <a:r>
              <a:rPr sz="800" b="1">
                <a:solidFill>
                  <a:srgbClr val="FFFFFF"/>
                </a:solidFill>
                <a:latin typeface="맑은 고딕"/>
                <a:ea typeface="맑은 고딕"/>
              </a:rPr>
              <a:t>«proxy» 프록시</a:t>
            </a:r>
          </a:p>
        </p:txBody>
      </p:sp>
      <p:sp>
        <p:nvSpPr>
          <p:cNvPr id="116" name="Rectangle 115"/>
          <p:cNvSpPr/>
          <p:nvPr/>
        </p:nvSpPr>
        <p:spPr>
          <a:xfrm>
            <a:off x="1298448" y="2286000"/>
            <a:ext cx="804672" cy="457200"/>
          </a:xfrm>
          <a:prstGeom prst="rect">
            <a:avLst/>
          </a:prstGeom>
          <a:solidFill>
            <a:srgbClr val="DAE3F3"/>
          </a:solidFill>
          <a:ln w="12700">
            <a:solidFill>
              <a:srgbClr val="2F5597"/>
            </a:solidFill>
          </a:ln>
          <a:effectLst/>
        </p:spPr>
        <p:txBody>
          <a:bodyPr rtlCol="0" anchor="ctr" wrap="square" lIns="36576" tIns="18288" rIns="36576" bIns="18288"/>
          <a:lstStyle/>
          <a:p>
            <a:pPr algn="ctr"/>
            <a:r>
              <a:rPr sz="850" b="1">
                <a:solidFill>
                  <a:srgbClr val="000000"/>
                </a:solidFill>
                <a:latin typeface="맑은 고딕"/>
                <a:ea typeface="맑은 고딕"/>
              </a:rPr>
              <a:t>A 요청 경로</a:t>
            </a:r>
          </a:p>
          <a:p>
            <a:pPr algn="ctr"/>
            <a:r>
              <a:rPr sz="750" b="0">
                <a:solidFill>
                  <a:srgbClr val="000000"/>
                </a:solidFill>
                <a:latin typeface="맑은 고딕"/>
                <a:ea typeface="맑은 고딕"/>
              </a:rPr>
              <a:t>결정 호출 client</a:t>
            </a:r>
          </a:p>
        </p:txBody>
      </p:sp>
      <p:sp>
        <p:nvSpPr>
          <p:cNvPr id="117" name="Rectangle 116"/>
          <p:cNvSpPr/>
          <p:nvPr/>
        </p:nvSpPr>
        <p:spPr>
          <a:xfrm>
            <a:off x="1252728" y="2377440"/>
            <a:ext cx="91440" cy="54864"/>
          </a:xfrm>
          <a:prstGeom prst="rect">
            <a:avLst/>
          </a:prstGeom>
          <a:solidFill>
            <a:srgbClr val="DAE3F3"/>
          </a:solidFill>
          <a:ln w="9525">
            <a:solidFill>
              <a:srgbClr val="2F5597"/>
            </a:solidFill>
          </a:ln>
          <a:effectLst/>
        </p:spPr>
        <p:txBody>
          <a:bodyPr rtlCol="0" anchor="ctr"/>
          <a:lstStyle/>
          <a:p>
            <a:pPr algn="ctr"/>
          </a:p>
        </p:txBody>
      </p:sp>
      <p:sp>
        <p:nvSpPr>
          <p:cNvPr id="118" name="Rectangle 117"/>
          <p:cNvSpPr/>
          <p:nvPr/>
        </p:nvSpPr>
        <p:spPr>
          <a:xfrm>
            <a:off x="1252728" y="2514600"/>
            <a:ext cx="91440" cy="54864"/>
          </a:xfrm>
          <a:prstGeom prst="rect">
            <a:avLst/>
          </a:prstGeom>
          <a:solidFill>
            <a:srgbClr val="DAE3F3"/>
          </a:solidFill>
          <a:ln w="9525">
            <a:solidFill>
              <a:srgbClr val="2F5597"/>
            </a:solidFill>
          </a:ln>
          <a:effectLst/>
        </p:spPr>
        <p:txBody>
          <a:bodyPr rtlCol="0" anchor="ctr"/>
          <a:lstStyle/>
          <a:p>
            <a:pPr algn="ctr"/>
          </a:p>
        </p:txBody>
      </p:sp>
      <p:sp>
        <p:nvSpPr>
          <p:cNvPr id="119" name="Rectangle 118"/>
          <p:cNvSpPr/>
          <p:nvPr/>
        </p:nvSpPr>
        <p:spPr>
          <a:xfrm>
            <a:off x="1188720" y="3547872"/>
            <a:ext cx="960120" cy="868680"/>
          </a:xfrm>
          <a:prstGeom prst="rect">
            <a:avLst/>
          </a:prstGeom>
          <a:solidFill>
            <a:srgbClr val="FFFFFF"/>
          </a:solidFill>
          <a:ln w="15875">
            <a:solidFill>
              <a:srgbClr val="2E75B6"/>
            </a:solidFill>
          </a:ln>
          <a:effectLst/>
        </p:spPr>
        <p:txBody>
          <a:bodyPr rtlCol="0" anchor="ctr"/>
          <a:lstStyle/>
          <a:p>
            <a:pPr algn="ctr"/>
          </a:p>
        </p:txBody>
      </p:sp>
      <p:sp>
        <p:nvSpPr>
          <p:cNvPr id="120" name="Rectangle 119"/>
          <p:cNvSpPr/>
          <p:nvPr/>
        </p:nvSpPr>
        <p:spPr>
          <a:xfrm>
            <a:off x="1188720" y="3547872"/>
            <a:ext cx="960120" cy="173736"/>
          </a:xfrm>
          <a:prstGeom prst="rect">
            <a:avLst/>
          </a:prstGeom>
          <a:solidFill>
            <a:srgbClr val="2E75B6"/>
          </a:solidFill>
          <a:ln w="12700">
            <a:solidFill>
              <a:srgbClr val="2E75B6"/>
            </a:solidFill>
          </a:ln>
          <a:effectLst/>
        </p:spPr>
        <p:txBody>
          <a:bodyPr rtlCol="0" anchor="ctr" wrap="square" lIns="45720" tIns="0" rIns="18288" bIns="0"/>
          <a:lstStyle/>
          <a:p>
            <a:pPr algn="l"/>
            <a:r>
              <a:rPr sz="800" b="1">
                <a:solidFill>
                  <a:srgbClr val="FFFFFF"/>
                </a:solidFill>
                <a:latin typeface="맑은 고딕"/>
                <a:ea typeface="맑은 고딕"/>
              </a:rPr>
              <a:t>«control» K8s</a:t>
            </a:r>
          </a:p>
        </p:txBody>
      </p:sp>
      <p:sp>
        <p:nvSpPr>
          <p:cNvPr id="121" name="Rectangle 120"/>
          <p:cNvSpPr/>
          <p:nvPr/>
        </p:nvSpPr>
        <p:spPr>
          <a:xfrm>
            <a:off x="1298448" y="3794760"/>
            <a:ext cx="804672" cy="457200"/>
          </a:xfrm>
          <a:prstGeom prst="rect">
            <a:avLst/>
          </a:prstGeom>
          <a:solidFill>
            <a:srgbClr val="DAE3F3"/>
          </a:solidFill>
          <a:ln w="12700">
            <a:solidFill>
              <a:srgbClr val="2F5597"/>
            </a:solidFill>
          </a:ln>
          <a:effectLst/>
        </p:spPr>
        <p:txBody>
          <a:bodyPr rtlCol="0" anchor="ctr" wrap="square" lIns="36576" tIns="18288" rIns="36576" bIns="18288"/>
          <a:lstStyle/>
          <a:p>
            <a:pPr algn="ctr"/>
            <a:r>
              <a:rPr sz="850" b="1">
                <a:solidFill>
                  <a:srgbClr val="000000"/>
                </a:solidFill>
                <a:latin typeface="맑은 고딕"/>
                <a:ea typeface="맑은 고딕"/>
              </a:rPr>
              <a:t>F 서버 발견</a:t>
            </a:r>
          </a:p>
          <a:p>
            <a:pPr algn="ctr"/>
            <a:r>
              <a:rPr sz="750" b="0">
                <a:solidFill>
                  <a:srgbClr val="000000"/>
                </a:solidFill>
                <a:latin typeface="맑은 고딕"/>
                <a:ea typeface="맑은 고딕"/>
              </a:rPr>
              <a:t>서버 풀</a:t>
            </a:r>
          </a:p>
        </p:txBody>
      </p:sp>
      <p:sp>
        <p:nvSpPr>
          <p:cNvPr id="122" name="Rectangle 121"/>
          <p:cNvSpPr/>
          <p:nvPr/>
        </p:nvSpPr>
        <p:spPr>
          <a:xfrm>
            <a:off x="1252728" y="3886200"/>
            <a:ext cx="91440" cy="54864"/>
          </a:xfrm>
          <a:prstGeom prst="rect">
            <a:avLst/>
          </a:prstGeom>
          <a:solidFill>
            <a:srgbClr val="DAE3F3"/>
          </a:solidFill>
          <a:ln w="9525">
            <a:solidFill>
              <a:srgbClr val="2F5597"/>
            </a:solidFill>
          </a:ln>
          <a:effectLst/>
        </p:spPr>
        <p:txBody>
          <a:bodyPr rtlCol="0" anchor="ctr"/>
          <a:lstStyle/>
          <a:p>
            <a:pPr algn="ctr"/>
          </a:p>
        </p:txBody>
      </p:sp>
      <p:sp>
        <p:nvSpPr>
          <p:cNvPr id="123" name="Rectangle 122"/>
          <p:cNvSpPr/>
          <p:nvPr/>
        </p:nvSpPr>
        <p:spPr>
          <a:xfrm>
            <a:off x="1252728" y="4023360"/>
            <a:ext cx="91440" cy="54864"/>
          </a:xfrm>
          <a:prstGeom prst="rect">
            <a:avLst/>
          </a:prstGeom>
          <a:solidFill>
            <a:srgbClr val="DAE3F3"/>
          </a:solidFill>
          <a:ln w="9525">
            <a:solidFill>
              <a:srgbClr val="2F5597"/>
            </a:solidFill>
          </a:ln>
          <a:effectLst/>
        </p:spPr>
        <p:txBody>
          <a:bodyPr rtlCol="0" anchor="ctr"/>
          <a:lstStyle/>
          <a:p>
            <a:pPr algn="ctr"/>
          </a:p>
        </p:txBody>
      </p:sp>
      <p:sp>
        <p:nvSpPr>
          <p:cNvPr id="124" name="Rectangle 123"/>
          <p:cNvSpPr/>
          <p:nvPr/>
        </p:nvSpPr>
        <p:spPr>
          <a:xfrm>
            <a:off x="2395728" y="1581912"/>
            <a:ext cx="2395728" cy="2834640"/>
          </a:xfrm>
          <a:prstGeom prst="rect">
            <a:avLst/>
          </a:prstGeom>
          <a:solidFill>
            <a:srgbClr val="FFFFFF"/>
          </a:solidFill>
          <a:ln w="15875">
            <a:solidFill>
              <a:srgbClr val="2F5597"/>
            </a:solidFill>
          </a:ln>
          <a:effectLst/>
        </p:spPr>
        <p:txBody>
          <a:bodyPr rtlCol="0" anchor="ctr"/>
          <a:lstStyle/>
          <a:p>
            <a:pPr algn="ctr"/>
          </a:p>
        </p:txBody>
      </p:sp>
      <p:sp>
        <p:nvSpPr>
          <p:cNvPr id="125" name="Rectangle 124"/>
          <p:cNvSpPr/>
          <p:nvPr/>
        </p:nvSpPr>
        <p:spPr>
          <a:xfrm>
            <a:off x="2395728" y="1581912"/>
            <a:ext cx="2395728" cy="173736"/>
          </a:xfrm>
          <a:prstGeom prst="rect">
            <a:avLst/>
          </a:prstGeom>
          <a:solidFill>
            <a:srgbClr val="2F5597"/>
          </a:solidFill>
          <a:ln w="12700">
            <a:solidFill>
              <a:srgbClr val="2F5597"/>
            </a:solidFill>
          </a:ln>
          <a:effectLst/>
        </p:spPr>
        <p:txBody>
          <a:bodyPr rtlCol="0" anchor="ctr" wrap="square" lIns="45720" tIns="0" rIns="18288" bIns="0"/>
          <a:lstStyle/>
          <a:p>
            <a:pPr algn="l"/>
            <a:r>
              <a:rPr sz="800" b="1">
                <a:solidFill>
                  <a:srgbClr val="FFFFFF"/>
                </a:solidFill>
                <a:latin typeface="맑은 고딕"/>
                <a:ea typeface="맑은 고딕"/>
              </a:rPr>
              <a:t>«process» Router  (llm-d 기준, Go)</a:t>
            </a:r>
          </a:p>
        </p:txBody>
      </p:sp>
      <p:sp>
        <p:nvSpPr>
          <p:cNvPr id="126" name="Rectangle 125"/>
          <p:cNvSpPr/>
          <p:nvPr/>
        </p:nvSpPr>
        <p:spPr>
          <a:xfrm>
            <a:off x="2542032" y="1828800"/>
            <a:ext cx="777240" cy="384048"/>
          </a:xfrm>
          <a:prstGeom prst="rect">
            <a:avLst/>
          </a:prstGeom>
          <a:solidFill>
            <a:srgbClr val="DAE3F3"/>
          </a:solidFill>
          <a:ln w="12700">
            <a:solidFill>
              <a:srgbClr val="2F5597"/>
            </a:solidFill>
          </a:ln>
          <a:effectLst/>
        </p:spPr>
        <p:txBody>
          <a:bodyPr rtlCol="0" anchor="ctr" wrap="square" lIns="36576" tIns="18288" rIns="36576" bIns="18288"/>
          <a:lstStyle/>
          <a:p>
            <a:pPr algn="ctr"/>
            <a:r>
              <a:rPr sz="750" b="1">
                <a:solidFill>
                  <a:srgbClr val="000000"/>
                </a:solidFill>
                <a:latin typeface="맑은 고딕"/>
                <a:ea typeface="맑은 고딕"/>
              </a:rPr>
              <a:t>요청 핸들러</a:t>
            </a:r>
          </a:p>
          <a:p>
            <a:pPr algn="ctr"/>
            <a:r>
              <a:rPr sz="700" b="0">
                <a:solidFill>
                  <a:srgbClr val="000000"/>
                </a:solidFill>
                <a:latin typeface="맑은 고딕"/>
                <a:ea typeface="맑은 고딕"/>
              </a:rPr>
              <a:t>요청 제어</a:t>
            </a:r>
          </a:p>
        </p:txBody>
      </p:sp>
      <p:sp>
        <p:nvSpPr>
          <p:cNvPr id="127" name="Rectangle 126"/>
          <p:cNvSpPr/>
          <p:nvPr/>
        </p:nvSpPr>
        <p:spPr>
          <a:xfrm>
            <a:off x="2496312" y="1905609"/>
            <a:ext cx="91440" cy="54864"/>
          </a:xfrm>
          <a:prstGeom prst="rect">
            <a:avLst/>
          </a:prstGeom>
          <a:solidFill>
            <a:srgbClr val="DAE3F3"/>
          </a:solidFill>
          <a:ln w="9525">
            <a:solidFill>
              <a:srgbClr val="2F5597"/>
            </a:solidFill>
          </a:ln>
          <a:effectLst/>
        </p:spPr>
        <p:txBody>
          <a:bodyPr rtlCol="0" anchor="ctr"/>
          <a:lstStyle/>
          <a:p>
            <a:pPr algn="ctr"/>
          </a:p>
        </p:txBody>
      </p:sp>
      <p:sp>
        <p:nvSpPr>
          <p:cNvPr id="128" name="Rectangle 127"/>
          <p:cNvSpPr/>
          <p:nvPr/>
        </p:nvSpPr>
        <p:spPr>
          <a:xfrm>
            <a:off x="2496312" y="2020824"/>
            <a:ext cx="91440" cy="54864"/>
          </a:xfrm>
          <a:prstGeom prst="rect">
            <a:avLst/>
          </a:prstGeom>
          <a:solidFill>
            <a:srgbClr val="DAE3F3"/>
          </a:solidFill>
          <a:ln w="9525">
            <a:solidFill>
              <a:srgbClr val="2F5597"/>
            </a:solidFill>
          </a:ln>
          <a:effectLst/>
        </p:spPr>
        <p:txBody>
          <a:bodyPr rtlCol="0" anchor="ctr"/>
          <a:lstStyle/>
          <a:p>
            <a:pPr algn="ctr"/>
          </a:p>
        </p:txBody>
      </p:sp>
      <p:sp>
        <p:nvSpPr>
          <p:cNvPr id="129" name="Rectangle 128"/>
          <p:cNvSpPr/>
          <p:nvPr/>
        </p:nvSpPr>
        <p:spPr>
          <a:xfrm>
            <a:off x="3438144" y="1828800"/>
            <a:ext cx="868680" cy="384048"/>
          </a:xfrm>
          <a:prstGeom prst="rect">
            <a:avLst/>
          </a:prstGeom>
          <a:solidFill>
            <a:srgbClr val="DAE3F3"/>
          </a:solidFill>
          <a:ln w="12700">
            <a:solidFill>
              <a:srgbClr val="2F5597"/>
            </a:solidFill>
          </a:ln>
          <a:effectLst/>
        </p:spPr>
        <p:txBody>
          <a:bodyPr rtlCol="0" anchor="ctr" wrap="square" lIns="36576" tIns="18288" rIns="36576" bIns="18288"/>
          <a:lstStyle/>
          <a:p>
            <a:pPr algn="ctr"/>
            <a:r>
              <a:rPr sz="750" b="1">
                <a:solidFill>
                  <a:srgbClr val="000000"/>
                </a:solidFill>
                <a:latin typeface="맑은 고딕"/>
                <a:ea typeface="맑은 고딕"/>
              </a:rPr>
              <a:t>D 흐름 제어</a:t>
            </a:r>
          </a:p>
          <a:p>
            <a:pPr algn="ctr"/>
            <a:r>
              <a:rPr sz="700" b="0">
                <a:solidFill>
                  <a:srgbClr val="000000"/>
                </a:solidFill>
                <a:latin typeface="맑은 고딕"/>
                <a:ea typeface="맑은 고딕"/>
              </a:rPr>
              <a:t>admission · queue</a:t>
            </a:r>
          </a:p>
        </p:txBody>
      </p:sp>
      <p:sp>
        <p:nvSpPr>
          <p:cNvPr id="130" name="Rectangle 129"/>
          <p:cNvSpPr/>
          <p:nvPr/>
        </p:nvSpPr>
        <p:spPr>
          <a:xfrm>
            <a:off x="3392424" y="1905609"/>
            <a:ext cx="91440" cy="54864"/>
          </a:xfrm>
          <a:prstGeom prst="rect">
            <a:avLst/>
          </a:prstGeom>
          <a:solidFill>
            <a:srgbClr val="DAE3F3"/>
          </a:solidFill>
          <a:ln w="9525">
            <a:solidFill>
              <a:srgbClr val="2F5597"/>
            </a:solidFill>
          </a:ln>
          <a:effectLst/>
        </p:spPr>
        <p:txBody>
          <a:bodyPr rtlCol="0" anchor="ctr"/>
          <a:lstStyle/>
          <a:p>
            <a:pPr algn="ctr"/>
          </a:p>
        </p:txBody>
      </p:sp>
      <p:sp>
        <p:nvSpPr>
          <p:cNvPr id="131" name="Rectangle 130"/>
          <p:cNvSpPr/>
          <p:nvPr/>
        </p:nvSpPr>
        <p:spPr>
          <a:xfrm>
            <a:off x="3392424" y="2020824"/>
            <a:ext cx="91440" cy="54864"/>
          </a:xfrm>
          <a:prstGeom prst="rect">
            <a:avLst/>
          </a:prstGeom>
          <a:solidFill>
            <a:srgbClr val="DAE3F3"/>
          </a:solidFill>
          <a:ln w="9525">
            <a:solidFill>
              <a:srgbClr val="2F5597"/>
            </a:solidFill>
          </a:ln>
          <a:effectLst/>
        </p:spPr>
        <p:txBody>
          <a:bodyPr rtlCol="0" anchor="ctr"/>
          <a:lstStyle/>
          <a:p>
            <a:pPr algn="ctr"/>
          </a:p>
        </p:txBody>
      </p:sp>
      <p:cxnSp>
        <p:nvCxnSpPr>
          <p:cNvPr id="132" name="Connector 131"/>
          <p:cNvCxnSpPr/>
          <p:nvPr/>
        </p:nvCxnSpPr>
        <p:spPr>
          <a:xfrm>
            <a:off x="3319272" y="2020824"/>
            <a:ext cx="73152" cy="0"/>
          </a:xfrm>
          <a:prstGeom prst="line">
            <a:avLst/>
          </a:prstGeom>
          <a:ln w="15875">
            <a:solidFill>
              <a:srgbClr val="404040"/>
            </a:solidFill>
            <a:tailEnd type="triangle"/>
          </a:ln>
        </p:spPr>
      </p:cxnSp>
      <p:sp>
        <p:nvSpPr>
          <p:cNvPr id="133" name="Rectangle 132"/>
          <p:cNvSpPr/>
          <p:nvPr/>
        </p:nvSpPr>
        <p:spPr>
          <a:xfrm>
            <a:off x="2468880" y="2359152"/>
            <a:ext cx="1426464" cy="1920240"/>
          </a:xfrm>
          <a:prstGeom prst="rect">
            <a:avLst/>
          </a:prstGeom>
          <a:solidFill>
            <a:srgbClr val="FFFFFF"/>
          </a:solidFill>
          <a:ln w="12700">
            <a:solidFill>
              <a:srgbClr val="2F5597"/>
            </a:solidFill>
          </a:ln>
          <a:effectLst/>
        </p:spPr>
        <p:txBody>
          <a:bodyPr rtlCol="0" anchor="ctr"/>
          <a:lstStyle/>
          <a:p>
            <a:pPr algn="ctr"/>
          </a:p>
        </p:txBody>
      </p:sp>
      <p:sp>
        <p:nvSpPr>
          <p:cNvPr id="134" name="Rectangle 133"/>
          <p:cNvSpPr/>
          <p:nvPr/>
        </p:nvSpPr>
        <p:spPr>
          <a:xfrm>
            <a:off x="2468880" y="2359152"/>
            <a:ext cx="1426464" cy="173736"/>
          </a:xfrm>
          <a:prstGeom prst="rect">
            <a:avLst/>
          </a:prstGeom>
          <a:solidFill>
            <a:srgbClr val="2F5597"/>
          </a:solidFill>
          <a:ln w="12700">
            <a:solidFill>
              <a:srgbClr val="2F5597"/>
            </a:solidFill>
          </a:ln>
          <a:effectLst/>
        </p:spPr>
        <p:txBody>
          <a:bodyPr rtlCol="0" anchor="ctr" wrap="square" lIns="36576" tIns="0" rIns="0" bIns="0"/>
          <a:lstStyle/>
          <a:p>
            <a:pPr algn="l"/>
            <a:r>
              <a:rPr sz="750" b="1">
                <a:solidFill>
                  <a:srgbClr val="FFFFFF"/>
                </a:solidFill>
                <a:latin typeface="맑은 고딕"/>
                <a:ea typeface="맑은 고딕"/>
              </a:rPr>
              <a:t>B Scheduler</a:t>
            </a:r>
          </a:p>
        </p:txBody>
      </p:sp>
      <p:sp>
        <p:nvSpPr>
          <p:cNvPr id="135" name="TextBox 134"/>
          <p:cNvSpPr txBox="1"/>
          <p:nvPr/>
        </p:nvSpPr>
        <p:spPr>
          <a:xfrm>
            <a:off x="2505456" y="2542032"/>
            <a:ext cx="1371600" cy="109728"/>
          </a:xfrm>
          <a:prstGeom prst="rect">
            <a:avLst/>
          </a:prstGeom>
          <a:noFill/>
        </p:spPr>
        <p:txBody>
          <a:bodyPr wrap="square" anchor="t" lIns="0" tIns="0" rIns="0" bIns="0">
            <a:spAutoFit/>
          </a:bodyPr>
          <a:lstStyle/>
          <a:p>
            <a:pPr algn="ctr"/>
            <a:r>
              <a:rPr sz="650" b="0">
                <a:solidFill>
                  <a:srgbClr val="404040"/>
                </a:solidFill>
                <a:latin typeface="맑은 고딕"/>
                <a:ea typeface="맑은 고딕"/>
              </a:rPr>
              <a:t>Filter → Score → Pick</a:t>
            </a:r>
          </a:p>
        </p:txBody>
      </p:sp>
      <p:sp>
        <p:nvSpPr>
          <p:cNvPr id="136" name="Rectangle 135"/>
          <p:cNvSpPr/>
          <p:nvPr/>
        </p:nvSpPr>
        <p:spPr>
          <a:xfrm>
            <a:off x="2542032" y="2679192"/>
            <a:ext cx="1280160" cy="365760"/>
          </a:xfrm>
          <a:prstGeom prst="rect">
            <a:avLst/>
          </a:prstGeom>
          <a:solidFill>
            <a:srgbClr val="FFF2CC"/>
          </a:solidFill>
          <a:ln w="19050">
            <a:solidFill>
              <a:srgbClr val="BF9000"/>
            </a:solidFill>
          </a:ln>
          <a:effectLst/>
        </p:spPr>
        <p:txBody>
          <a:bodyPr rtlCol="0" anchor="ctr" wrap="square" lIns="36576" tIns="18288" rIns="36576" bIns="18288"/>
          <a:lstStyle/>
          <a:p>
            <a:pPr algn="ctr"/>
            <a:r>
              <a:rPr sz="750" b="1">
                <a:solidFill>
                  <a:srgbClr val="000000"/>
                </a:solidFill>
                <a:latin typeface="맑은 고딕"/>
                <a:ea typeface="맑은 고딕"/>
              </a:rPr>
              <a:t>Scorer 플러그인</a:t>
            </a:r>
          </a:p>
          <a:p>
            <a:pPr algn="ctr"/>
            <a:r>
              <a:rPr sz="750" b="0">
                <a:solidFill>
                  <a:srgbClr val="000000"/>
                </a:solidFill>
                <a:latin typeface="맑은 고딕"/>
                <a:ea typeface="맑은 고딕"/>
              </a:rPr>
              <a:t>★P3 비용 기반 점수</a:t>
            </a:r>
          </a:p>
        </p:txBody>
      </p:sp>
      <p:sp>
        <p:nvSpPr>
          <p:cNvPr id="137" name="Rectangle 136"/>
          <p:cNvSpPr/>
          <p:nvPr/>
        </p:nvSpPr>
        <p:spPr>
          <a:xfrm>
            <a:off x="2542032" y="3090672"/>
            <a:ext cx="1280160" cy="475488"/>
          </a:xfrm>
          <a:prstGeom prst="rect">
            <a:avLst/>
          </a:prstGeom>
          <a:solidFill>
            <a:srgbClr val="FFF2CC"/>
          </a:solidFill>
          <a:ln w="19050">
            <a:solidFill>
              <a:srgbClr val="BF9000"/>
            </a:solidFill>
          </a:ln>
          <a:effectLst/>
        </p:spPr>
        <p:txBody>
          <a:bodyPr rtlCol="0" anchor="ctr" wrap="square" lIns="36576" tIns="18288" rIns="36576" bIns="18288"/>
          <a:lstStyle/>
          <a:p>
            <a:pPr algn="ctr"/>
            <a:r>
              <a:rPr sz="750" b="1">
                <a:solidFill>
                  <a:srgbClr val="000000"/>
                </a:solidFill>
                <a:latin typeface="맑은 고딕"/>
                <a:ea typeface="맑은 고딕"/>
              </a:rPr>
              <a:t>P/D 판단 모듈</a:t>
            </a:r>
          </a:p>
          <a:p>
            <a:pPr algn="ctr"/>
            <a:r>
              <a:rPr sz="750" b="0">
                <a:solidFill>
                  <a:srgbClr val="000000"/>
                </a:solidFill>
                <a:latin typeface="맑은 고딕"/>
                <a:ea typeface="맑은 고딕"/>
              </a:rPr>
              <a:t>★P4 비용 기반 P/D 판단</a:t>
            </a:r>
          </a:p>
          <a:p>
            <a:pPr algn="ctr"/>
            <a:r>
              <a:rPr sz="650" b="0">
                <a:solidFill>
                  <a:srgbClr val="404040"/>
                </a:solidFill>
                <a:latin typeface="맑은 고딕"/>
                <a:ea typeface="맑은 고딕"/>
              </a:rPr>
              <a:t>(기존 P/D 모듈을 감싸는 wrapper)</a:t>
            </a:r>
          </a:p>
        </p:txBody>
      </p:sp>
      <p:sp>
        <p:nvSpPr>
          <p:cNvPr id="138" name="Rectangle 137"/>
          <p:cNvSpPr/>
          <p:nvPr/>
        </p:nvSpPr>
        <p:spPr>
          <a:xfrm>
            <a:off x="2542032" y="3611880"/>
            <a:ext cx="1280160" cy="594360"/>
          </a:xfrm>
          <a:prstGeom prst="rect">
            <a:avLst/>
          </a:prstGeom>
          <a:solidFill>
            <a:srgbClr val="FFF2CC"/>
          </a:solidFill>
          <a:ln w="19050">
            <a:solidFill>
              <a:srgbClr val="BF9000"/>
            </a:solidFill>
          </a:ln>
          <a:effectLst/>
        </p:spPr>
        <p:txBody>
          <a:bodyPr rtlCol="0" anchor="ctr" wrap="square" lIns="36576" tIns="18288" rIns="36576" bIns="18288"/>
          <a:lstStyle/>
          <a:p>
            <a:pPr algn="ctr"/>
            <a:r>
              <a:rPr sz="750" b="1">
                <a:solidFill>
                  <a:srgbClr val="000000"/>
                </a:solidFill>
                <a:latin typeface="맑은 고딕"/>
                <a:ea typeface="맑은 고딕"/>
              </a:rPr>
              <a:t>요청 전처리 훅</a:t>
            </a:r>
          </a:p>
          <a:p>
            <a:pPr algn="ctr"/>
            <a:r>
              <a:rPr sz="750" b="0">
                <a:solidFill>
                  <a:srgbClr val="000000"/>
                </a:solidFill>
                <a:latin typeface="맑은 고딕"/>
                <a:ea typeface="맑은 고딕"/>
              </a:rPr>
              <a:t>★P5 지시 송신</a:t>
            </a:r>
          </a:p>
          <a:p>
            <a:pPr algn="ctr"/>
            <a:r>
              <a:rPr sz="650" b="0">
                <a:solidFill>
                  <a:srgbClr val="404040"/>
                </a:solidFill>
                <a:latin typeface="맑은 고딕"/>
                <a:ea typeface="맑은 고딕"/>
              </a:rPr>
              <a:t>(일반 경로 body 변경)</a:t>
            </a:r>
          </a:p>
        </p:txBody>
      </p:sp>
      <p:cxnSp>
        <p:nvCxnSpPr>
          <p:cNvPr id="139" name="Connector 138"/>
          <p:cNvCxnSpPr/>
          <p:nvPr/>
        </p:nvCxnSpPr>
        <p:spPr>
          <a:xfrm>
            <a:off x="3840480" y="2212848"/>
            <a:ext cx="0" cy="146304"/>
          </a:xfrm>
          <a:prstGeom prst="line">
            <a:avLst/>
          </a:prstGeom>
          <a:ln w="15875">
            <a:solidFill>
              <a:srgbClr val="404040"/>
            </a:solidFill>
            <a:tailEnd type="triangle"/>
          </a:ln>
        </p:spPr>
      </p:cxnSp>
      <p:sp>
        <p:nvSpPr>
          <p:cNvPr id="140" name="Rectangle 139"/>
          <p:cNvSpPr/>
          <p:nvPr/>
        </p:nvSpPr>
        <p:spPr>
          <a:xfrm>
            <a:off x="4023360" y="2359152"/>
            <a:ext cx="713232" cy="1920240"/>
          </a:xfrm>
          <a:prstGeom prst="rect">
            <a:avLst/>
          </a:prstGeom>
          <a:solidFill>
            <a:srgbClr val="FFFFFF"/>
          </a:solidFill>
          <a:ln w="12700">
            <a:solidFill>
              <a:srgbClr val="2F5597"/>
            </a:solidFill>
          </a:ln>
          <a:effectLst/>
        </p:spPr>
        <p:txBody>
          <a:bodyPr rtlCol="0" anchor="ctr"/>
          <a:lstStyle/>
          <a:p>
            <a:pPr algn="ctr"/>
          </a:p>
        </p:txBody>
      </p:sp>
      <p:sp>
        <p:nvSpPr>
          <p:cNvPr id="141" name="Rectangle 140"/>
          <p:cNvSpPr/>
          <p:nvPr/>
        </p:nvSpPr>
        <p:spPr>
          <a:xfrm>
            <a:off x="4023360" y="2359152"/>
            <a:ext cx="713232" cy="173736"/>
          </a:xfrm>
          <a:prstGeom prst="rect">
            <a:avLst/>
          </a:prstGeom>
          <a:solidFill>
            <a:srgbClr val="2F5597"/>
          </a:solidFill>
          <a:ln w="12700">
            <a:solidFill>
              <a:srgbClr val="2F5597"/>
            </a:solidFill>
          </a:ln>
          <a:effectLst/>
        </p:spPr>
        <p:txBody>
          <a:bodyPr rtlCol="0" anchor="ctr" wrap="square" lIns="27432" tIns="0" rIns="0" bIns="0"/>
          <a:lstStyle/>
          <a:p>
            <a:pPr algn="l"/>
            <a:r>
              <a:rPr sz="700" b="1">
                <a:solidFill>
                  <a:srgbClr val="FFFFFF"/>
                </a:solidFill>
                <a:latin typeface="맑은 고딕"/>
                <a:ea typeface="맑은 고딕"/>
              </a:rPr>
              <a:t>C 상태 계층</a:t>
            </a:r>
          </a:p>
        </p:txBody>
      </p:sp>
      <p:sp>
        <p:nvSpPr>
          <p:cNvPr id="142" name="Rectangle 141"/>
          <p:cNvSpPr/>
          <p:nvPr/>
        </p:nvSpPr>
        <p:spPr>
          <a:xfrm>
            <a:off x="4069080" y="2587752"/>
            <a:ext cx="621792" cy="502920"/>
          </a:xfrm>
          <a:prstGeom prst="rect">
            <a:avLst/>
          </a:prstGeom>
          <a:solidFill>
            <a:srgbClr val="DAE3F3"/>
          </a:solidFill>
          <a:ln w="12700">
            <a:solidFill>
              <a:srgbClr val="2F5597"/>
            </a:solidFill>
          </a:ln>
          <a:effectLst/>
        </p:spPr>
        <p:txBody>
          <a:bodyPr rtlCol="0" anchor="ctr" wrap="square" lIns="36576" tIns="18288" rIns="36576" bIns="18288"/>
          <a:lstStyle/>
          <a:p>
            <a:pPr algn="ctr"/>
            <a:r>
              <a:rPr sz="750" b="1">
                <a:solidFill>
                  <a:srgbClr val="000000"/>
                </a:solidFill>
                <a:latin typeface="맑은 고딕"/>
                <a:ea typeface="맑은 고딕"/>
              </a:rPr>
              <a:t>KV Indexer</a:t>
            </a:r>
          </a:p>
          <a:p>
            <a:pPr algn="ctr"/>
            <a:r>
              <a:rPr sz="650" b="0">
                <a:solidFill>
                  <a:srgbClr val="404040"/>
                </a:solidFill>
                <a:latin typeface="맑은 고딕"/>
                <a:ea typeface="맑은 고딕"/>
              </a:rPr>
              <a:t>KV 위치 목록</a:t>
            </a:r>
          </a:p>
        </p:txBody>
      </p:sp>
      <p:sp>
        <p:nvSpPr>
          <p:cNvPr id="143" name="Rectangle 142"/>
          <p:cNvSpPr/>
          <p:nvPr/>
        </p:nvSpPr>
        <p:spPr>
          <a:xfrm>
            <a:off x="4069080" y="3163824"/>
            <a:ext cx="621792" cy="502920"/>
          </a:xfrm>
          <a:prstGeom prst="rect">
            <a:avLst/>
          </a:prstGeom>
          <a:solidFill>
            <a:srgbClr val="FFFFFF"/>
          </a:solidFill>
          <a:ln w="19050">
            <a:solidFill>
              <a:srgbClr val="BF9000"/>
            </a:solidFill>
            <a:prstDash val="dash"/>
          </a:ln>
          <a:effectLst/>
        </p:spPr>
        <p:txBody>
          <a:bodyPr rtlCol="0" anchor="ctr" wrap="square" lIns="36576" tIns="18288" rIns="36576" bIns="18288"/>
          <a:lstStyle/>
          <a:p>
            <a:pPr algn="ctr"/>
            <a:r>
              <a:rPr sz="750" b="1">
                <a:solidFill>
                  <a:srgbClr val="000000"/>
                </a:solidFill>
                <a:latin typeface="맑은 고딕"/>
                <a:ea typeface="맑은 고딕"/>
              </a:rPr>
              <a:t>★P1</a:t>
            </a:r>
          </a:p>
          <a:p>
            <a:pPr algn="ctr"/>
            <a:r>
              <a:rPr sz="650" b="0">
                <a:solidFill>
                  <a:srgbClr val="000000"/>
                </a:solidFill>
                <a:latin typeface="맑은 고딕"/>
                <a:ea typeface="맑은 고딕"/>
              </a:rPr>
              <a:t>메모리 종류 가중치</a:t>
            </a:r>
          </a:p>
          <a:p>
            <a:pPr algn="ctr"/>
            <a:r>
              <a:rPr sz="650" b="0">
                <a:solidFill>
                  <a:srgbClr val="404040"/>
                </a:solidFill>
                <a:latin typeface="맑은 고딕"/>
                <a:ea typeface="맑은 고딕"/>
              </a:rPr>
              <a:t>(설정)</a:t>
            </a:r>
          </a:p>
        </p:txBody>
      </p:sp>
      <p:sp>
        <p:nvSpPr>
          <p:cNvPr id="144" name="Rectangle 143"/>
          <p:cNvSpPr/>
          <p:nvPr/>
        </p:nvSpPr>
        <p:spPr>
          <a:xfrm>
            <a:off x="4069080" y="3730752"/>
            <a:ext cx="621792" cy="502920"/>
          </a:xfrm>
          <a:prstGeom prst="rect">
            <a:avLst/>
          </a:prstGeom>
          <a:solidFill>
            <a:srgbClr val="FFFFFF"/>
          </a:solidFill>
          <a:ln w="19050">
            <a:solidFill>
              <a:srgbClr val="BF9000"/>
            </a:solidFill>
            <a:prstDash val="dash"/>
          </a:ln>
          <a:effectLst/>
        </p:spPr>
        <p:txBody>
          <a:bodyPr rtlCol="0" anchor="ctr" wrap="square" lIns="36576" tIns="18288" rIns="36576" bIns="18288"/>
          <a:lstStyle/>
          <a:p>
            <a:pPr algn="ctr"/>
            <a:r>
              <a:rPr sz="750" b="1">
                <a:solidFill>
                  <a:srgbClr val="000000"/>
                </a:solidFill>
                <a:latin typeface="맑은 고딕"/>
                <a:ea typeface="맑은 고딕"/>
              </a:rPr>
              <a:t>★P2</a:t>
            </a:r>
          </a:p>
          <a:p>
            <a:pPr algn="ctr"/>
            <a:r>
              <a:rPr sz="650" b="0">
                <a:solidFill>
                  <a:srgbClr val="000000"/>
                </a:solidFill>
                <a:latin typeface="맑은 고딕"/>
                <a:ea typeface="맑은 고딕"/>
              </a:rPr>
              <a:t>실시간 상태 수치</a:t>
            </a:r>
          </a:p>
          <a:p>
            <a:pPr algn="ctr"/>
            <a:r>
              <a:rPr sz="650" b="0">
                <a:solidFill>
                  <a:srgbClr val="404040"/>
                </a:solidFill>
                <a:latin typeface="맑은 고딕"/>
                <a:ea typeface="맑은 고딕"/>
              </a:rPr>
              <a:t>(설정)</a:t>
            </a:r>
          </a:p>
        </p:txBody>
      </p:sp>
      <p:cxnSp>
        <p:nvCxnSpPr>
          <p:cNvPr id="145" name="Connector 144"/>
          <p:cNvCxnSpPr/>
          <p:nvPr/>
        </p:nvCxnSpPr>
        <p:spPr>
          <a:xfrm flipH="1">
            <a:off x="3895344" y="2999232"/>
            <a:ext cx="128016" cy="0"/>
          </a:xfrm>
          <a:prstGeom prst="line">
            <a:avLst/>
          </a:prstGeom>
          <a:ln w="15875">
            <a:solidFill>
              <a:srgbClr val="404040"/>
            </a:solidFill>
            <a:tailEnd type="triangle"/>
          </a:ln>
        </p:spPr>
      </p:cxnSp>
      <p:sp>
        <p:nvSpPr>
          <p:cNvPr id="146" name="Oval 145"/>
          <p:cNvSpPr/>
          <p:nvPr/>
        </p:nvSpPr>
        <p:spPr>
          <a:xfrm>
            <a:off x="3881628" y="2784348"/>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8</a:t>
            </a:r>
          </a:p>
        </p:txBody>
      </p:sp>
      <p:sp>
        <p:nvSpPr>
          <p:cNvPr id="147" name="Rectangle 146"/>
          <p:cNvSpPr/>
          <p:nvPr/>
        </p:nvSpPr>
        <p:spPr>
          <a:xfrm>
            <a:off x="5010912" y="1581912"/>
            <a:ext cx="1371600" cy="1554480"/>
          </a:xfrm>
          <a:prstGeom prst="rect">
            <a:avLst/>
          </a:prstGeom>
          <a:solidFill>
            <a:srgbClr val="FFFFFF"/>
          </a:solidFill>
          <a:ln w="15875">
            <a:solidFill>
              <a:srgbClr val="2E75B6"/>
            </a:solidFill>
          </a:ln>
          <a:effectLst/>
        </p:spPr>
        <p:txBody>
          <a:bodyPr rtlCol="0" anchor="ctr"/>
          <a:lstStyle/>
          <a:p>
            <a:pPr algn="ctr"/>
          </a:p>
        </p:txBody>
      </p:sp>
      <p:sp>
        <p:nvSpPr>
          <p:cNvPr id="148" name="Rectangle 147"/>
          <p:cNvSpPr/>
          <p:nvPr/>
        </p:nvSpPr>
        <p:spPr>
          <a:xfrm>
            <a:off x="5010912" y="1581912"/>
            <a:ext cx="1371600" cy="173736"/>
          </a:xfrm>
          <a:prstGeom prst="rect">
            <a:avLst/>
          </a:prstGeom>
          <a:solidFill>
            <a:srgbClr val="2E75B6"/>
          </a:solidFill>
          <a:ln w="12700">
            <a:solidFill>
              <a:srgbClr val="2E75B6"/>
            </a:solidFill>
          </a:ln>
          <a:effectLst/>
        </p:spPr>
        <p:txBody>
          <a:bodyPr rtlCol="0" anchor="ctr" wrap="square" lIns="45720" tIns="0" rIns="18288" bIns="0"/>
          <a:lstStyle/>
          <a:p>
            <a:pPr algn="l"/>
            <a:r>
              <a:rPr sz="800" b="1">
                <a:solidFill>
                  <a:srgbClr val="FFFFFF"/>
                </a:solidFill>
                <a:latin typeface="맑은 고딕"/>
                <a:ea typeface="맑은 고딕"/>
              </a:rPr>
              <a:t>«pod» Decode 서버</a:t>
            </a:r>
          </a:p>
        </p:txBody>
      </p:sp>
      <p:sp>
        <p:nvSpPr>
          <p:cNvPr id="149" name="Rectangle 148"/>
          <p:cNvSpPr/>
          <p:nvPr/>
        </p:nvSpPr>
        <p:spPr>
          <a:xfrm>
            <a:off x="5074920" y="1810512"/>
            <a:ext cx="1243584" cy="822960"/>
          </a:xfrm>
          <a:prstGeom prst="rect">
            <a:avLst/>
          </a:prstGeom>
          <a:solidFill>
            <a:srgbClr val="FFFFFF"/>
          </a:solidFill>
          <a:ln w="12700">
            <a:solidFill>
              <a:srgbClr val="2F5597"/>
            </a:solidFill>
          </a:ln>
          <a:effectLst/>
        </p:spPr>
        <p:txBody>
          <a:bodyPr rtlCol="0" anchor="ctr"/>
          <a:lstStyle/>
          <a:p>
            <a:pPr algn="ctr"/>
          </a:p>
        </p:txBody>
      </p:sp>
      <p:sp>
        <p:nvSpPr>
          <p:cNvPr id="150" name="Rectangle 149"/>
          <p:cNvSpPr/>
          <p:nvPr/>
        </p:nvSpPr>
        <p:spPr>
          <a:xfrm>
            <a:off x="5074920" y="1810512"/>
            <a:ext cx="1243584" cy="173736"/>
          </a:xfrm>
          <a:prstGeom prst="rect">
            <a:avLst/>
          </a:prstGeom>
          <a:solidFill>
            <a:srgbClr val="2F5597"/>
          </a:solidFill>
          <a:ln w="12700">
            <a:solidFill>
              <a:srgbClr val="2F5597"/>
            </a:solidFill>
          </a:ln>
          <a:effectLst/>
        </p:spPr>
        <p:txBody>
          <a:bodyPr rtlCol="0" anchor="ctr" wrap="square" lIns="36576" tIns="0" rIns="0" bIns="0"/>
          <a:lstStyle/>
          <a:p>
            <a:pPr algn="l"/>
            <a:r>
              <a:rPr sz="750" b="1">
                <a:solidFill>
                  <a:srgbClr val="FFFFFF"/>
                </a:solidFill>
                <a:latin typeface="맑은 고딕"/>
                <a:ea typeface="맑은 고딕"/>
              </a:rPr>
              <a:t>E P/D 보조 프로세스</a:t>
            </a:r>
          </a:p>
        </p:txBody>
      </p:sp>
      <p:sp>
        <p:nvSpPr>
          <p:cNvPr id="151" name="Rectangle 150"/>
          <p:cNvSpPr/>
          <p:nvPr/>
        </p:nvSpPr>
        <p:spPr>
          <a:xfrm>
            <a:off x="5120640" y="2029968"/>
            <a:ext cx="1152144" cy="548640"/>
          </a:xfrm>
          <a:prstGeom prst="rect">
            <a:avLst/>
          </a:prstGeom>
          <a:solidFill>
            <a:srgbClr val="FFFFFF"/>
          </a:solidFill>
          <a:ln w="22225">
            <a:solidFill>
              <a:srgbClr val="C00000"/>
            </a:solidFill>
          </a:ln>
          <a:effectLst/>
        </p:spPr>
        <p:txBody>
          <a:bodyPr rtlCol="0" anchor="ctr" wrap="square" lIns="36576" tIns="18288" rIns="36576" bIns="18288"/>
          <a:lstStyle/>
          <a:p>
            <a:pPr algn="ctr"/>
            <a:r>
              <a:rPr sz="750" b="1">
                <a:solidFill>
                  <a:srgbClr val="000000"/>
                </a:solidFill>
                <a:latin typeface="맑은 고딕"/>
                <a:ea typeface="맑은 고딕"/>
              </a:rPr>
              <a:t>★P5 지시 송신</a:t>
            </a:r>
          </a:p>
          <a:p>
            <a:pPr algn="ctr"/>
            <a:r>
              <a:rPr sz="700" b="0">
                <a:solidFill>
                  <a:srgbClr val="000000"/>
                </a:solidFill>
                <a:latin typeface="맑은 고딕"/>
                <a:ea typeface="맑은 고딕"/>
              </a:rPr>
              <a:t>P/D 경로: 보조 프로세스 수정</a:t>
            </a:r>
          </a:p>
          <a:p>
            <a:pPr algn="ctr"/>
            <a:r>
              <a:rPr sz="650" b="0">
                <a:solidFill>
                  <a:srgbClr val="404040"/>
                </a:solidFill>
                <a:latin typeface="맑은 고딕"/>
                <a:ea typeface="맑은 고딕"/>
              </a:rPr>
              <a:t>kv_transfer_params 조립</a:t>
            </a:r>
          </a:p>
        </p:txBody>
      </p:sp>
      <p:sp>
        <p:nvSpPr>
          <p:cNvPr id="152" name="Rectangle 151"/>
          <p:cNvSpPr/>
          <p:nvPr/>
        </p:nvSpPr>
        <p:spPr>
          <a:xfrm>
            <a:off x="5074920" y="2724912"/>
            <a:ext cx="1243584" cy="347472"/>
          </a:xfrm>
          <a:prstGeom prst="rect">
            <a:avLst/>
          </a:prstGeom>
          <a:solidFill>
            <a:srgbClr val="F2F2F2"/>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vLLM (decode)</a:t>
            </a:r>
          </a:p>
        </p:txBody>
      </p:sp>
      <p:sp>
        <p:nvSpPr>
          <p:cNvPr id="153" name="Rectangle 152"/>
          <p:cNvSpPr/>
          <p:nvPr/>
        </p:nvSpPr>
        <p:spPr>
          <a:xfrm>
            <a:off x="5010912" y="3410712"/>
            <a:ext cx="1371600" cy="1005840"/>
          </a:xfrm>
          <a:prstGeom prst="rect">
            <a:avLst/>
          </a:prstGeom>
          <a:solidFill>
            <a:srgbClr val="FFFFFF"/>
          </a:solidFill>
          <a:ln w="15875">
            <a:solidFill>
              <a:srgbClr val="2E75B6"/>
            </a:solidFill>
          </a:ln>
          <a:effectLst/>
        </p:spPr>
        <p:txBody>
          <a:bodyPr rtlCol="0" anchor="ctr"/>
          <a:lstStyle/>
          <a:p>
            <a:pPr algn="ctr"/>
          </a:p>
        </p:txBody>
      </p:sp>
      <p:sp>
        <p:nvSpPr>
          <p:cNvPr id="154" name="Rectangle 153"/>
          <p:cNvSpPr/>
          <p:nvPr/>
        </p:nvSpPr>
        <p:spPr>
          <a:xfrm>
            <a:off x="5010912" y="3410712"/>
            <a:ext cx="1371600" cy="173736"/>
          </a:xfrm>
          <a:prstGeom prst="rect">
            <a:avLst/>
          </a:prstGeom>
          <a:solidFill>
            <a:srgbClr val="2E75B6"/>
          </a:solidFill>
          <a:ln w="12700">
            <a:solidFill>
              <a:srgbClr val="2E75B6"/>
            </a:solidFill>
          </a:ln>
          <a:effectLst/>
        </p:spPr>
        <p:txBody>
          <a:bodyPr rtlCol="0" anchor="ctr" wrap="square" lIns="45720" tIns="0" rIns="18288" bIns="0"/>
          <a:lstStyle/>
          <a:p>
            <a:pPr algn="l"/>
            <a:r>
              <a:rPr sz="800" b="1">
                <a:solidFill>
                  <a:srgbClr val="FFFFFF"/>
                </a:solidFill>
                <a:latin typeface="맑은 고딕"/>
                <a:ea typeface="맑은 고딕"/>
              </a:rPr>
              <a:t>«pod» Prefill 서버</a:t>
            </a:r>
          </a:p>
        </p:txBody>
      </p:sp>
      <p:sp>
        <p:nvSpPr>
          <p:cNvPr id="155" name="Rectangle 154"/>
          <p:cNvSpPr/>
          <p:nvPr/>
        </p:nvSpPr>
        <p:spPr>
          <a:xfrm>
            <a:off x="5074920" y="3639312"/>
            <a:ext cx="1243584" cy="713232"/>
          </a:xfrm>
          <a:prstGeom prst="rect">
            <a:avLst/>
          </a:prstGeom>
          <a:solidFill>
            <a:srgbClr val="F2F2F2"/>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vLLM (prefill)</a:t>
            </a:r>
          </a:p>
          <a:p>
            <a:pPr algn="ctr"/>
            <a:r>
              <a:rPr sz="700" b="0">
                <a:solidFill>
                  <a:srgbClr val="404040"/>
                </a:solidFill>
                <a:latin typeface="맑은 고딕"/>
                <a:ea typeface="맑은 고딕"/>
              </a:rPr>
              <a:t>KV events · /metrics</a:t>
            </a:r>
          </a:p>
        </p:txBody>
      </p:sp>
      <p:cxnSp>
        <p:nvCxnSpPr>
          <p:cNvPr id="156" name="Connector 155"/>
          <p:cNvCxnSpPr/>
          <p:nvPr/>
        </p:nvCxnSpPr>
        <p:spPr>
          <a:xfrm>
            <a:off x="1517904" y="1810512"/>
            <a:ext cx="0" cy="228600"/>
          </a:xfrm>
          <a:prstGeom prst="line">
            <a:avLst/>
          </a:prstGeom>
          <a:ln w="15875">
            <a:solidFill>
              <a:srgbClr val="404040"/>
            </a:solidFill>
            <a:tailEnd type="triangle"/>
          </a:ln>
        </p:spPr>
      </p:cxnSp>
      <p:sp>
        <p:nvSpPr>
          <p:cNvPr id="157" name="Oval 156"/>
          <p:cNvSpPr/>
          <p:nvPr/>
        </p:nvSpPr>
        <p:spPr>
          <a:xfrm>
            <a:off x="1275588" y="1851660"/>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1</a:t>
            </a:r>
          </a:p>
        </p:txBody>
      </p:sp>
      <p:cxnSp>
        <p:nvCxnSpPr>
          <p:cNvPr id="158" name="Connector 157"/>
          <p:cNvCxnSpPr/>
          <p:nvPr/>
        </p:nvCxnSpPr>
        <p:spPr>
          <a:xfrm flipV="1">
            <a:off x="2103120" y="2020824"/>
            <a:ext cx="438912" cy="384048"/>
          </a:xfrm>
          <a:prstGeom prst="line">
            <a:avLst/>
          </a:prstGeom>
          <a:ln w="15875">
            <a:solidFill>
              <a:srgbClr val="404040"/>
            </a:solidFill>
            <a:headEnd type="triangle"/>
            <a:tailEnd type="triangle"/>
          </a:ln>
        </p:spPr>
      </p:cxnSp>
      <p:sp>
        <p:nvSpPr>
          <p:cNvPr id="159" name="Oval 158"/>
          <p:cNvSpPr/>
          <p:nvPr/>
        </p:nvSpPr>
        <p:spPr>
          <a:xfrm>
            <a:off x="2208276" y="2061972"/>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2</a:t>
            </a:r>
          </a:p>
        </p:txBody>
      </p:sp>
      <p:sp>
        <p:nvSpPr>
          <p:cNvPr id="160" name="Oval 159"/>
          <p:cNvSpPr/>
          <p:nvPr/>
        </p:nvSpPr>
        <p:spPr>
          <a:xfrm>
            <a:off x="4823460" y="2510028"/>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3</a:t>
            </a:r>
          </a:p>
        </p:txBody>
      </p:sp>
      <p:cxnSp>
        <p:nvCxnSpPr>
          <p:cNvPr id="161" name="Connector 160"/>
          <p:cNvCxnSpPr/>
          <p:nvPr/>
        </p:nvCxnSpPr>
        <p:spPr>
          <a:xfrm>
            <a:off x="6053328" y="3072384"/>
            <a:ext cx="0" cy="566928"/>
          </a:xfrm>
          <a:prstGeom prst="line">
            <a:avLst/>
          </a:prstGeom>
          <a:ln w="15875">
            <a:solidFill>
              <a:srgbClr val="404040"/>
            </a:solidFill>
            <a:headEnd type="triangle"/>
            <a:tailEnd type="triangle"/>
          </a:ln>
        </p:spPr>
      </p:cxnSp>
      <p:sp>
        <p:nvSpPr>
          <p:cNvPr id="162" name="Oval 161"/>
          <p:cNvSpPr/>
          <p:nvPr/>
        </p:nvSpPr>
        <p:spPr>
          <a:xfrm>
            <a:off x="5792724" y="3195828"/>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4</a:t>
            </a:r>
          </a:p>
        </p:txBody>
      </p:sp>
      <p:sp>
        <p:nvSpPr>
          <p:cNvPr id="163" name="Oval 162"/>
          <p:cNvSpPr/>
          <p:nvPr/>
        </p:nvSpPr>
        <p:spPr>
          <a:xfrm>
            <a:off x="6158484" y="3195828"/>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5</a:t>
            </a:r>
          </a:p>
        </p:txBody>
      </p:sp>
      <p:cxnSp>
        <p:nvCxnSpPr>
          <p:cNvPr id="164" name="Connector 163"/>
          <p:cNvCxnSpPr/>
          <p:nvPr/>
        </p:nvCxnSpPr>
        <p:spPr>
          <a:xfrm flipH="1">
            <a:off x="4736592" y="4005072"/>
            <a:ext cx="338328" cy="0"/>
          </a:xfrm>
          <a:prstGeom prst="line">
            <a:avLst/>
          </a:prstGeom>
          <a:ln w="15875">
            <a:solidFill>
              <a:srgbClr val="404040"/>
            </a:solidFill>
            <a:tailEnd type="triangle"/>
          </a:ln>
        </p:spPr>
      </p:cxnSp>
      <p:sp>
        <p:nvSpPr>
          <p:cNvPr id="165" name="Oval 164"/>
          <p:cNvSpPr/>
          <p:nvPr/>
        </p:nvSpPr>
        <p:spPr>
          <a:xfrm>
            <a:off x="4823460" y="3762756"/>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6</a:t>
            </a:r>
          </a:p>
        </p:txBody>
      </p:sp>
      <p:cxnSp>
        <p:nvCxnSpPr>
          <p:cNvPr id="166" name="Connector 165"/>
          <p:cNvCxnSpPr/>
          <p:nvPr/>
        </p:nvCxnSpPr>
        <p:spPr>
          <a:xfrm>
            <a:off x="2148840" y="4023360"/>
            <a:ext cx="246888" cy="0"/>
          </a:xfrm>
          <a:prstGeom prst="line">
            <a:avLst/>
          </a:prstGeom>
          <a:ln w="15875">
            <a:solidFill>
              <a:srgbClr val="404040"/>
            </a:solidFill>
            <a:prstDash val="dash"/>
            <a:tailEnd type="triangle"/>
          </a:ln>
        </p:spPr>
      </p:cxnSp>
      <p:sp>
        <p:nvSpPr>
          <p:cNvPr id="167" name="Oval 166"/>
          <p:cNvSpPr/>
          <p:nvPr/>
        </p:nvSpPr>
        <p:spPr>
          <a:xfrm>
            <a:off x="2199132" y="3790188"/>
            <a:ext cx="155448" cy="155448"/>
          </a:xfrm>
          <a:prstGeom prst="ellipse">
            <a:avLst/>
          </a:prstGeom>
          <a:solidFill>
            <a:srgbClr val="404040"/>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7</a:t>
            </a:r>
          </a:p>
        </p:txBody>
      </p:sp>
      <p:sp>
        <p:nvSpPr>
          <p:cNvPr id="168" name="Rectangle 167"/>
          <p:cNvSpPr/>
          <p:nvPr/>
        </p:nvSpPr>
        <p:spPr>
          <a:xfrm>
            <a:off x="6583680" y="1554480"/>
            <a:ext cx="566928" cy="256032"/>
          </a:xfrm>
          <a:prstGeom prst="rect">
            <a:avLst/>
          </a:prstGeom>
          <a:solidFill>
            <a:srgbClr val="FFFFFF"/>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Client</a:t>
            </a:r>
          </a:p>
        </p:txBody>
      </p:sp>
      <p:sp>
        <p:nvSpPr>
          <p:cNvPr id="169" name="Rectangle 168"/>
          <p:cNvSpPr/>
          <p:nvPr/>
        </p:nvSpPr>
        <p:spPr>
          <a:xfrm>
            <a:off x="6583680" y="2039112"/>
            <a:ext cx="566928" cy="384048"/>
          </a:xfrm>
          <a:prstGeom prst="rect">
            <a:avLst/>
          </a:prstGeom>
          <a:solidFill>
            <a:srgbClr val="FBE5D6"/>
          </a:solidFill>
          <a:ln w="12700">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L4 LB</a:t>
            </a:r>
          </a:p>
          <a:p>
            <a:pPr algn="ctr"/>
            <a:r>
              <a:rPr sz="650" b="0">
                <a:solidFill>
                  <a:srgbClr val="404040"/>
                </a:solidFill>
                <a:latin typeface="맑은 고딕"/>
                <a:ea typeface="맑은 고딕"/>
              </a:rPr>
              <a:t>상태 비의존</a:t>
            </a:r>
          </a:p>
        </p:txBody>
      </p:sp>
      <p:cxnSp>
        <p:nvCxnSpPr>
          <p:cNvPr id="170" name="Connector 169"/>
          <p:cNvCxnSpPr/>
          <p:nvPr/>
        </p:nvCxnSpPr>
        <p:spPr>
          <a:xfrm>
            <a:off x="6867144" y="1810512"/>
            <a:ext cx="0" cy="228600"/>
          </a:xfrm>
          <a:prstGeom prst="line">
            <a:avLst/>
          </a:prstGeom>
          <a:ln w="15875">
            <a:solidFill>
              <a:srgbClr val="404040"/>
            </a:solidFill>
            <a:tailEnd type="triangle"/>
          </a:ln>
        </p:spPr>
      </p:cxnSp>
      <p:sp>
        <p:nvSpPr>
          <p:cNvPr id="171" name="Oval 170"/>
          <p:cNvSpPr/>
          <p:nvPr/>
        </p:nvSpPr>
        <p:spPr>
          <a:xfrm>
            <a:off x="6643116" y="1842516"/>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1</a:t>
            </a:r>
          </a:p>
        </p:txBody>
      </p:sp>
      <p:sp>
        <p:nvSpPr>
          <p:cNvPr id="172" name="Rectangle 171"/>
          <p:cNvSpPr/>
          <p:nvPr/>
        </p:nvSpPr>
        <p:spPr>
          <a:xfrm>
            <a:off x="6583680" y="3273552"/>
            <a:ext cx="566928" cy="384048"/>
          </a:xfrm>
          <a:prstGeom prst="rect">
            <a:avLst/>
          </a:prstGeom>
          <a:solidFill>
            <a:srgbClr val="FBE5D6"/>
          </a:solidFill>
          <a:ln w="12700">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etcd</a:t>
            </a:r>
          </a:p>
          <a:p>
            <a:pPr algn="ctr"/>
            <a:r>
              <a:rPr sz="600" b="0">
                <a:solidFill>
                  <a:srgbClr val="404040"/>
                </a:solidFill>
                <a:latin typeface="맑은 고딕"/>
                <a:ea typeface="맑은 고딕"/>
              </a:rPr>
              <a:t>Registry 저장소</a:t>
            </a:r>
          </a:p>
        </p:txBody>
      </p:sp>
      <p:sp>
        <p:nvSpPr>
          <p:cNvPr id="173" name="Rectangle 172"/>
          <p:cNvSpPr/>
          <p:nvPr/>
        </p:nvSpPr>
        <p:spPr>
          <a:xfrm>
            <a:off x="7242048" y="1536192"/>
            <a:ext cx="3566160" cy="2542032"/>
          </a:xfrm>
          <a:prstGeom prst="rect">
            <a:avLst/>
          </a:prstGeom>
          <a:solidFill>
            <a:srgbClr val="FFFFFF"/>
          </a:solidFill>
          <a:ln w="25400">
            <a:solidFill>
              <a:srgbClr val="C55A11"/>
            </a:solidFill>
          </a:ln>
          <a:effectLst/>
        </p:spPr>
        <p:txBody>
          <a:bodyPr rtlCol="0" anchor="ctr"/>
          <a:lstStyle/>
          <a:p>
            <a:pPr algn="ctr"/>
          </a:p>
        </p:txBody>
      </p:sp>
      <p:sp>
        <p:nvSpPr>
          <p:cNvPr id="174" name="Rectangle 173"/>
          <p:cNvSpPr/>
          <p:nvPr/>
        </p:nvSpPr>
        <p:spPr>
          <a:xfrm>
            <a:off x="7242048" y="1536192"/>
            <a:ext cx="3566160" cy="182880"/>
          </a:xfrm>
          <a:prstGeom prst="rect">
            <a:avLst/>
          </a:prstGeom>
          <a:solidFill>
            <a:srgbClr val="C55A11"/>
          </a:solidFill>
          <a:ln w="12700">
            <a:solidFill>
              <a:srgbClr val="C55A11"/>
            </a:solidFill>
          </a:ln>
          <a:effectLst/>
        </p:spPr>
        <p:txBody>
          <a:bodyPr rtlCol="0" anchor="ctr" wrap="square" lIns="45720" tIns="0" rIns="0" bIns="0"/>
          <a:lstStyle/>
          <a:p>
            <a:pPr algn="l"/>
            <a:r>
              <a:rPr sz="750" b="1">
                <a:solidFill>
                  <a:srgbClr val="FFFFFF"/>
                </a:solidFill>
                <a:latin typeface="맑은 고딕"/>
                <a:ea typeface="맑은 고딕"/>
              </a:rPr>
              <a:t>«process» Own Router  (한 프로세스)</a:t>
            </a:r>
          </a:p>
        </p:txBody>
      </p:sp>
      <p:sp>
        <p:nvSpPr>
          <p:cNvPr id="175" name="Rectangle 174"/>
          <p:cNvSpPr/>
          <p:nvPr/>
        </p:nvSpPr>
        <p:spPr>
          <a:xfrm>
            <a:off x="10104120" y="1563624"/>
            <a:ext cx="658368" cy="128016"/>
          </a:xfrm>
          <a:prstGeom prst="rect">
            <a:avLst/>
          </a:prstGeom>
          <a:solidFill>
            <a:srgbClr val="FFFFFF"/>
          </a:solidFill>
          <a:ln w="12700">
            <a:solidFill>
              <a:srgbClr val="FFFFFF"/>
            </a:solidFill>
          </a:ln>
          <a:effectLst/>
        </p:spPr>
        <p:txBody>
          <a:bodyPr rtlCol="0" anchor="ctr" wrap="square" lIns="0" tIns="0" rIns="0" bIns="0"/>
          <a:lstStyle/>
          <a:p>
            <a:pPr algn="ctr"/>
            <a:r>
              <a:rPr sz="650" b="1">
                <a:solidFill>
                  <a:srgbClr val="C55A11"/>
                </a:solidFill>
                <a:latin typeface="맑은 고딕"/>
                <a:ea typeface="맑은 고딕"/>
              </a:rPr>
              <a:t>×R 레플리카</a:t>
            </a:r>
          </a:p>
        </p:txBody>
      </p:sp>
      <p:cxnSp>
        <p:nvCxnSpPr>
          <p:cNvPr id="176" name="Connector 175"/>
          <p:cNvCxnSpPr/>
          <p:nvPr/>
        </p:nvCxnSpPr>
        <p:spPr>
          <a:xfrm flipV="1">
            <a:off x="7150608" y="1993392"/>
            <a:ext cx="182880" cy="237744"/>
          </a:xfrm>
          <a:prstGeom prst="line">
            <a:avLst/>
          </a:prstGeom>
          <a:ln w="12700">
            <a:solidFill>
              <a:srgbClr val="404040"/>
            </a:solidFill>
            <a:tailEnd type="triangle"/>
          </a:ln>
        </p:spPr>
      </p:cxnSp>
      <p:sp>
        <p:nvSpPr>
          <p:cNvPr id="177" name="Rectangle 176"/>
          <p:cNvSpPr/>
          <p:nvPr/>
        </p:nvSpPr>
        <p:spPr>
          <a:xfrm>
            <a:off x="7333488" y="1810512"/>
            <a:ext cx="713232" cy="384048"/>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A Ingress</a:t>
            </a:r>
          </a:p>
          <a:p>
            <a:pPr algn="ctr"/>
            <a:r>
              <a:rPr sz="650" b="0">
                <a:solidFill>
                  <a:srgbClr val="000000"/>
                </a:solidFill>
                <a:latin typeface="맑은 고딕"/>
                <a:ea typeface="맑은 고딕"/>
              </a:rPr>
              <a:t>요청 수신·중계</a:t>
            </a:r>
          </a:p>
        </p:txBody>
      </p:sp>
      <p:sp>
        <p:nvSpPr>
          <p:cNvPr id="178" name="Rectangle 177"/>
          <p:cNvSpPr/>
          <p:nvPr/>
        </p:nvSpPr>
        <p:spPr>
          <a:xfrm>
            <a:off x="8138160" y="1810512"/>
            <a:ext cx="658368" cy="384048"/>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D 흐름 제어</a:t>
            </a:r>
          </a:p>
          <a:p>
            <a:pPr algn="ctr"/>
            <a:r>
              <a:rPr sz="650" b="0">
                <a:solidFill>
                  <a:srgbClr val="000000"/>
                </a:solidFill>
                <a:latin typeface="맑은 고딕"/>
                <a:ea typeface="맑은 고딕"/>
              </a:rPr>
              <a:t>admission</a:t>
            </a:r>
          </a:p>
        </p:txBody>
      </p:sp>
      <p:sp>
        <p:nvSpPr>
          <p:cNvPr id="179" name="Rectangle 178"/>
          <p:cNvSpPr/>
          <p:nvPr/>
        </p:nvSpPr>
        <p:spPr>
          <a:xfrm>
            <a:off x="8887968" y="1810512"/>
            <a:ext cx="841248" cy="384048"/>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B Selector</a:t>
            </a:r>
          </a:p>
          <a:p>
            <a:pPr algn="ctr"/>
            <a:r>
              <a:rPr sz="650" b="0">
                <a:solidFill>
                  <a:srgbClr val="000000"/>
                </a:solidFill>
                <a:latin typeface="맑은 고딕"/>
                <a:ea typeface="맑은 고딕"/>
              </a:rPr>
              <a:t>후보 서버 선택</a:t>
            </a:r>
          </a:p>
        </p:txBody>
      </p:sp>
      <p:sp>
        <p:nvSpPr>
          <p:cNvPr id="180" name="Rectangle 179"/>
          <p:cNvSpPr/>
          <p:nvPr/>
        </p:nvSpPr>
        <p:spPr>
          <a:xfrm>
            <a:off x="9820656" y="1810512"/>
            <a:ext cx="822960" cy="384048"/>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E P/D 조율</a:t>
            </a:r>
          </a:p>
          <a:p>
            <a:pPr algn="ctr"/>
            <a:r>
              <a:rPr sz="650" b="0">
                <a:solidFill>
                  <a:srgbClr val="000000"/>
                </a:solidFill>
                <a:latin typeface="맑은 고딕"/>
                <a:ea typeface="맑은 고딕"/>
              </a:rPr>
              <a:t>P5 지시 송신</a:t>
            </a:r>
          </a:p>
        </p:txBody>
      </p:sp>
      <p:cxnSp>
        <p:nvCxnSpPr>
          <p:cNvPr id="181" name="Connector 180"/>
          <p:cNvCxnSpPr/>
          <p:nvPr/>
        </p:nvCxnSpPr>
        <p:spPr>
          <a:xfrm>
            <a:off x="8046720" y="2002536"/>
            <a:ext cx="91440" cy="0"/>
          </a:xfrm>
          <a:prstGeom prst="line">
            <a:avLst/>
          </a:prstGeom>
          <a:ln w="15875">
            <a:solidFill>
              <a:srgbClr val="C55A11"/>
            </a:solidFill>
            <a:tailEnd type="triangle"/>
          </a:ln>
        </p:spPr>
      </p:cxnSp>
      <p:cxnSp>
        <p:nvCxnSpPr>
          <p:cNvPr id="182" name="Connector 181"/>
          <p:cNvCxnSpPr/>
          <p:nvPr/>
        </p:nvCxnSpPr>
        <p:spPr>
          <a:xfrm>
            <a:off x="8796528" y="2002536"/>
            <a:ext cx="91440" cy="0"/>
          </a:xfrm>
          <a:prstGeom prst="line">
            <a:avLst/>
          </a:prstGeom>
          <a:ln w="15875">
            <a:solidFill>
              <a:srgbClr val="C55A11"/>
            </a:solidFill>
            <a:tailEnd type="triangle"/>
          </a:ln>
        </p:spPr>
      </p:cxnSp>
      <p:cxnSp>
        <p:nvCxnSpPr>
          <p:cNvPr id="183" name="Connector 182"/>
          <p:cNvCxnSpPr/>
          <p:nvPr/>
        </p:nvCxnSpPr>
        <p:spPr>
          <a:xfrm>
            <a:off x="9729216" y="2002536"/>
            <a:ext cx="91440" cy="0"/>
          </a:xfrm>
          <a:prstGeom prst="line">
            <a:avLst/>
          </a:prstGeom>
          <a:ln w="15875">
            <a:solidFill>
              <a:srgbClr val="C55A11"/>
            </a:solidFill>
            <a:tailEnd type="triangle"/>
          </a:ln>
        </p:spPr>
      </p:cxnSp>
      <p:sp>
        <p:nvSpPr>
          <p:cNvPr id="184" name="Oval 183"/>
          <p:cNvSpPr/>
          <p:nvPr/>
        </p:nvSpPr>
        <p:spPr>
          <a:xfrm>
            <a:off x="8014715" y="1714500"/>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2</a:t>
            </a:r>
          </a:p>
        </p:txBody>
      </p:sp>
      <p:sp>
        <p:nvSpPr>
          <p:cNvPr id="185" name="Rectangle 184"/>
          <p:cNvSpPr/>
          <p:nvPr/>
        </p:nvSpPr>
        <p:spPr>
          <a:xfrm>
            <a:off x="7333488" y="2432304"/>
            <a:ext cx="3310128" cy="749808"/>
          </a:xfrm>
          <a:prstGeom prst="rect">
            <a:avLst/>
          </a:prstGeom>
          <a:solidFill>
            <a:srgbClr val="FFFFFF"/>
          </a:solidFill>
          <a:ln w="22225">
            <a:solidFill>
              <a:srgbClr val="5E35B1"/>
            </a:solidFill>
          </a:ln>
          <a:effectLst/>
        </p:spPr>
        <p:txBody>
          <a:bodyPr rtlCol="0" anchor="ctr"/>
          <a:lstStyle/>
          <a:p>
            <a:pPr algn="ctr"/>
          </a:p>
        </p:txBody>
      </p:sp>
      <p:sp>
        <p:nvSpPr>
          <p:cNvPr id="186" name="Rectangle 185"/>
          <p:cNvSpPr/>
          <p:nvPr/>
        </p:nvSpPr>
        <p:spPr>
          <a:xfrm>
            <a:off x="7333488" y="2432304"/>
            <a:ext cx="3310128" cy="173736"/>
          </a:xfrm>
          <a:prstGeom prst="rect">
            <a:avLst/>
          </a:prstGeom>
          <a:solidFill>
            <a:srgbClr val="5E35B1"/>
          </a:solidFill>
          <a:ln w="12700">
            <a:solidFill>
              <a:srgbClr val="5E35B1"/>
            </a:solidFill>
          </a:ln>
          <a:effectLst/>
        </p:spPr>
        <p:txBody>
          <a:bodyPr rtlCol="0" anchor="ctr" wrap="square" lIns="45720" tIns="0" rIns="0" bIns="0"/>
          <a:lstStyle/>
          <a:p>
            <a:pPr algn="l"/>
            <a:r>
              <a:rPr sz="700" b="1">
                <a:solidFill>
                  <a:srgbClr val="FFFFFF"/>
                </a:solidFill>
                <a:latin typeface="맑은 고딕"/>
                <a:ea typeface="맑은 고딕"/>
              </a:rPr>
              <a:t>«Strategy»  정책 인터페이스  (구현체를 설정으로 교체)</a:t>
            </a:r>
          </a:p>
        </p:txBody>
      </p:sp>
      <p:sp>
        <p:nvSpPr>
          <p:cNvPr id="187" name="Rectangle 186"/>
          <p:cNvSpPr/>
          <p:nvPr/>
        </p:nvSpPr>
        <p:spPr>
          <a:xfrm>
            <a:off x="7388352" y="2660904"/>
            <a:ext cx="768096" cy="457200"/>
          </a:xfrm>
          <a:prstGeom prst="rect">
            <a:avLst/>
          </a:prstGeom>
          <a:solidFill>
            <a:srgbClr val="FBE5D6"/>
          </a:solidFill>
          <a:ln w="158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P1</a:t>
            </a:r>
          </a:p>
          <a:p>
            <a:pPr algn="ctr"/>
            <a:r>
              <a:rPr sz="650" b="0">
                <a:solidFill>
                  <a:srgbClr val="000000"/>
                </a:solidFill>
                <a:latin typeface="맑은 고딕"/>
                <a:ea typeface="맑은 고딕"/>
              </a:rPr>
              <a:t>메모리 종류 가중치</a:t>
            </a:r>
          </a:p>
        </p:txBody>
      </p:sp>
      <p:sp>
        <p:nvSpPr>
          <p:cNvPr id="188" name="Rectangle 187"/>
          <p:cNvSpPr/>
          <p:nvPr/>
        </p:nvSpPr>
        <p:spPr>
          <a:xfrm>
            <a:off x="8211312" y="2660904"/>
            <a:ext cx="768096" cy="457200"/>
          </a:xfrm>
          <a:prstGeom prst="rect">
            <a:avLst/>
          </a:prstGeom>
          <a:solidFill>
            <a:srgbClr val="FBE5D6"/>
          </a:solidFill>
          <a:ln w="158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P2</a:t>
            </a:r>
          </a:p>
          <a:p>
            <a:pPr algn="ctr"/>
            <a:r>
              <a:rPr sz="650" b="0">
                <a:solidFill>
                  <a:srgbClr val="000000"/>
                </a:solidFill>
                <a:latin typeface="맑은 고딕"/>
                <a:ea typeface="맑은 고딕"/>
              </a:rPr>
              <a:t>실시간 상태</a:t>
            </a:r>
          </a:p>
        </p:txBody>
      </p:sp>
      <p:sp>
        <p:nvSpPr>
          <p:cNvPr id="189" name="Rectangle 188"/>
          <p:cNvSpPr/>
          <p:nvPr/>
        </p:nvSpPr>
        <p:spPr>
          <a:xfrm>
            <a:off x="9034272" y="2660904"/>
            <a:ext cx="768096" cy="457200"/>
          </a:xfrm>
          <a:prstGeom prst="rect">
            <a:avLst/>
          </a:prstGeom>
          <a:solidFill>
            <a:srgbClr val="FBE5D6"/>
          </a:solidFill>
          <a:ln w="158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P3</a:t>
            </a:r>
          </a:p>
          <a:p>
            <a:pPr algn="ctr"/>
            <a:r>
              <a:rPr sz="650" b="0">
                <a:solidFill>
                  <a:srgbClr val="000000"/>
                </a:solidFill>
                <a:latin typeface="맑은 고딕"/>
                <a:ea typeface="맑은 고딕"/>
              </a:rPr>
              <a:t>비용 기반 점수</a:t>
            </a:r>
          </a:p>
        </p:txBody>
      </p:sp>
      <p:sp>
        <p:nvSpPr>
          <p:cNvPr id="190" name="Rectangle 189"/>
          <p:cNvSpPr/>
          <p:nvPr/>
        </p:nvSpPr>
        <p:spPr>
          <a:xfrm>
            <a:off x="9857232" y="2660904"/>
            <a:ext cx="768096" cy="457200"/>
          </a:xfrm>
          <a:prstGeom prst="rect">
            <a:avLst/>
          </a:prstGeom>
          <a:solidFill>
            <a:srgbClr val="FBE5D6"/>
          </a:solidFill>
          <a:ln w="158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P4</a:t>
            </a:r>
          </a:p>
          <a:p>
            <a:pPr algn="ctr"/>
            <a:r>
              <a:rPr sz="650" b="0">
                <a:solidFill>
                  <a:srgbClr val="000000"/>
                </a:solidFill>
                <a:latin typeface="맑은 고딕"/>
                <a:ea typeface="맑은 고딕"/>
              </a:rPr>
              <a:t>비용 기반 P/D</a:t>
            </a:r>
          </a:p>
        </p:txBody>
      </p:sp>
      <p:cxnSp>
        <p:nvCxnSpPr>
          <p:cNvPr id="191" name="Connector 190"/>
          <p:cNvCxnSpPr/>
          <p:nvPr/>
        </p:nvCxnSpPr>
        <p:spPr>
          <a:xfrm>
            <a:off x="9308592" y="2194560"/>
            <a:ext cx="0" cy="237744"/>
          </a:xfrm>
          <a:prstGeom prst="line">
            <a:avLst/>
          </a:prstGeom>
          <a:ln w="19050">
            <a:solidFill>
              <a:srgbClr val="5E35B1"/>
            </a:solidFill>
            <a:tailEnd type="triangle"/>
          </a:ln>
        </p:spPr>
      </p:cxnSp>
      <p:sp>
        <p:nvSpPr>
          <p:cNvPr id="192" name="Rectangle 191"/>
          <p:cNvSpPr/>
          <p:nvPr/>
        </p:nvSpPr>
        <p:spPr>
          <a:xfrm>
            <a:off x="7333488" y="3346704"/>
            <a:ext cx="1005840" cy="502920"/>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F 서버 발견</a:t>
            </a:r>
          </a:p>
          <a:p>
            <a:pPr algn="ctr"/>
            <a:r>
              <a:rPr sz="650" b="0">
                <a:solidFill>
                  <a:srgbClr val="000000"/>
                </a:solidFill>
                <a:latin typeface="맑은 고딕"/>
                <a:ea typeface="맑은 고딕"/>
              </a:rPr>
              <a:t>etcd watch</a:t>
            </a:r>
          </a:p>
        </p:txBody>
      </p:sp>
      <p:sp>
        <p:nvSpPr>
          <p:cNvPr id="193" name="Rectangle 192"/>
          <p:cNvSpPr/>
          <p:nvPr/>
        </p:nvSpPr>
        <p:spPr>
          <a:xfrm>
            <a:off x="8458200" y="3346704"/>
            <a:ext cx="1463040" cy="502920"/>
          </a:xfrm>
          <a:prstGeom prst="rect">
            <a:avLst/>
          </a:prstGeom>
          <a:solidFill>
            <a:srgbClr val="FBE5D6"/>
          </a:solidFill>
          <a:ln w="1905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C 상태 저장소</a:t>
            </a:r>
          </a:p>
          <a:p>
            <a:pPr algn="ctr"/>
            <a:r>
              <a:rPr sz="650" b="0">
                <a:solidFill>
                  <a:srgbClr val="000000"/>
                </a:solidFill>
                <a:latin typeface="맑은 고딕"/>
                <a:ea typeface="맑은 고딕"/>
              </a:rPr>
              <a:t>KV index · 메트릭</a:t>
            </a:r>
          </a:p>
        </p:txBody>
      </p:sp>
      <p:cxnSp>
        <p:nvCxnSpPr>
          <p:cNvPr id="194" name="Connector 193"/>
          <p:cNvCxnSpPr/>
          <p:nvPr/>
        </p:nvCxnSpPr>
        <p:spPr>
          <a:xfrm flipV="1">
            <a:off x="9189720" y="3182112"/>
            <a:ext cx="0" cy="164592"/>
          </a:xfrm>
          <a:prstGeom prst="line">
            <a:avLst/>
          </a:prstGeom>
          <a:ln w="15875">
            <a:solidFill>
              <a:srgbClr val="C55A11"/>
            </a:solidFill>
            <a:tailEnd type="triangle"/>
          </a:ln>
        </p:spPr>
      </p:cxnSp>
      <p:sp>
        <p:nvSpPr>
          <p:cNvPr id="195" name="Oval 194"/>
          <p:cNvSpPr/>
          <p:nvPr/>
        </p:nvSpPr>
        <p:spPr>
          <a:xfrm>
            <a:off x="9249155" y="3186684"/>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6</a:t>
            </a:r>
          </a:p>
        </p:txBody>
      </p:sp>
      <p:cxnSp>
        <p:nvCxnSpPr>
          <p:cNvPr id="196" name="Connector 195"/>
          <p:cNvCxnSpPr/>
          <p:nvPr/>
        </p:nvCxnSpPr>
        <p:spPr>
          <a:xfrm>
            <a:off x="7150608" y="3456432"/>
            <a:ext cx="182880" cy="0"/>
          </a:xfrm>
          <a:prstGeom prst="line">
            <a:avLst/>
          </a:prstGeom>
          <a:ln w="12700">
            <a:solidFill>
              <a:srgbClr val="C55A11"/>
            </a:solidFill>
            <a:prstDash val="dash"/>
            <a:tailEnd type="triangle"/>
          </a:ln>
        </p:spPr>
      </p:cxnSp>
      <p:sp>
        <p:nvSpPr>
          <p:cNvPr id="197" name="Oval 196"/>
          <p:cNvSpPr/>
          <p:nvPr/>
        </p:nvSpPr>
        <p:spPr>
          <a:xfrm>
            <a:off x="7164324" y="3241548"/>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7</a:t>
            </a:r>
          </a:p>
        </p:txBody>
      </p:sp>
      <p:cxnSp>
        <p:nvCxnSpPr>
          <p:cNvPr id="198" name="Connector 197"/>
          <p:cNvCxnSpPr/>
          <p:nvPr/>
        </p:nvCxnSpPr>
        <p:spPr>
          <a:xfrm>
            <a:off x="8339328" y="3593592"/>
            <a:ext cx="118872" cy="0"/>
          </a:xfrm>
          <a:prstGeom prst="line">
            <a:avLst/>
          </a:prstGeom>
          <a:ln w="12700">
            <a:solidFill>
              <a:srgbClr val="C55A11"/>
            </a:solidFill>
            <a:prstDash val="dash"/>
            <a:tailEnd type="triangle"/>
          </a:ln>
        </p:spPr>
      </p:cxnSp>
      <p:sp>
        <p:nvSpPr>
          <p:cNvPr id="199" name="Rectangle 198"/>
          <p:cNvSpPr/>
          <p:nvPr/>
        </p:nvSpPr>
        <p:spPr>
          <a:xfrm>
            <a:off x="10954512" y="1536192"/>
            <a:ext cx="914400" cy="1234440"/>
          </a:xfrm>
          <a:prstGeom prst="rect">
            <a:avLst/>
          </a:prstGeom>
          <a:solidFill>
            <a:srgbClr val="FFFFFF"/>
          </a:solidFill>
          <a:ln w="15875">
            <a:solidFill>
              <a:srgbClr val="7F7F7F"/>
            </a:solidFill>
          </a:ln>
          <a:effectLst/>
        </p:spPr>
        <p:txBody>
          <a:bodyPr rtlCol="0" anchor="ctr"/>
          <a:lstStyle/>
          <a:p>
            <a:pPr algn="ctr"/>
          </a:p>
        </p:txBody>
      </p:sp>
      <p:sp>
        <p:nvSpPr>
          <p:cNvPr id="200" name="Rectangle 199"/>
          <p:cNvSpPr/>
          <p:nvPr/>
        </p:nvSpPr>
        <p:spPr>
          <a:xfrm>
            <a:off x="10954512" y="1536192"/>
            <a:ext cx="914400" cy="173736"/>
          </a:xfrm>
          <a:prstGeom prst="rect">
            <a:avLst/>
          </a:prstGeom>
          <a:solidFill>
            <a:srgbClr val="7F7F7F"/>
          </a:solidFill>
          <a:ln w="12700">
            <a:solidFill>
              <a:srgbClr val="7F7F7F"/>
            </a:solidFill>
          </a:ln>
          <a:effectLst/>
        </p:spPr>
        <p:txBody>
          <a:bodyPr rtlCol="0" anchor="ctr" wrap="square" lIns="45720" tIns="0" rIns="18288" bIns="0"/>
          <a:lstStyle/>
          <a:p>
            <a:pPr algn="l"/>
            <a:r>
              <a:rPr sz="800" b="1">
                <a:solidFill>
                  <a:srgbClr val="FFFFFF"/>
                </a:solidFill>
                <a:latin typeface="맑은 고딕"/>
                <a:ea typeface="맑은 고딕"/>
              </a:rPr>
              <a:t>«pod» vLLM</a:t>
            </a:r>
          </a:p>
        </p:txBody>
      </p:sp>
      <p:sp>
        <p:nvSpPr>
          <p:cNvPr id="201" name="Rectangle 200"/>
          <p:cNvSpPr/>
          <p:nvPr/>
        </p:nvSpPr>
        <p:spPr>
          <a:xfrm>
            <a:off x="11009376" y="1764792"/>
            <a:ext cx="804672" cy="941832"/>
          </a:xfrm>
          <a:prstGeom prst="rect">
            <a:avLst/>
          </a:prstGeom>
          <a:solidFill>
            <a:srgbClr val="F2F2F2"/>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vLLM</a:t>
            </a:r>
          </a:p>
          <a:p>
            <a:pPr algn="ctr"/>
            <a:r>
              <a:rPr sz="750" b="0">
                <a:solidFill>
                  <a:srgbClr val="000000"/>
                </a:solidFill>
                <a:latin typeface="맑은 고딕"/>
                <a:ea typeface="맑은 고딕"/>
              </a:rPr>
              <a:t>prefill</a:t>
            </a:r>
          </a:p>
          <a:p>
            <a:pPr algn="ctr"/>
            <a:r>
              <a:rPr sz="650" b="0">
                <a:solidFill>
                  <a:srgbClr val="404040"/>
                </a:solidFill>
                <a:latin typeface="맑은 고딕"/>
                <a:ea typeface="맑은 고딕"/>
              </a:rPr>
              <a:t>KV events</a:t>
            </a:r>
          </a:p>
          <a:p>
            <a:pPr algn="ctr"/>
            <a:r>
              <a:rPr sz="650" b="0">
                <a:solidFill>
                  <a:srgbClr val="404040"/>
                </a:solidFill>
                <a:latin typeface="맑은 고딕"/>
                <a:ea typeface="맑은 고딕"/>
              </a:rPr>
              <a:t>/metrics</a:t>
            </a:r>
          </a:p>
        </p:txBody>
      </p:sp>
      <p:sp>
        <p:nvSpPr>
          <p:cNvPr id="202" name="Rectangle 201"/>
          <p:cNvSpPr/>
          <p:nvPr/>
        </p:nvSpPr>
        <p:spPr>
          <a:xfrm>
            <a:off x="10954512" y="2999232"/>
            <a:ext cx="914400" cy="1371600"/>
          </a:xfrm>
          <a:prstGeom prst="rect">
            <a:avLst/>
          </a:prstGeom>
          <a:solidFill>
            <a:srgbClr val="FFFFFF"/>
          </a:solidFill>
          <a:ln w="15875">
            <a:solidFill>
              <a:srgbClr val="7F7F7F"/>
            </a:solidFill>
          </a:ln>
          <a:effectLst/>
        </p:spPr>
        <p:txBody>
          <a:bodyPr rtlCol="0" anchor="ctr"/>
          <a:lstStyle/>
          <a:p>
            <a:pPr algn="ctr"/>
          </a:p>
        </p:txBody>
      </p:sp>
      <p:sp>
        <p:nvSpPr>
          <p:cNvPr id="203" name="Rectangle 202"/>
          <p:cNvSpPr/>
          <p:nvPr/>
        </p:nvSpPr>
        <p:spPr>
          <a:xfrm>
            <a:off x="10954512" y="2999232"/>
            <a:ext cx="914400" cy="173736"/>
          </a:xfrm>
          <a:prstGeom prst="rect">
            <a:avLst/>
          </a:prstGeom>
          <a:solidFill>
            <a:srgbClr val="7F7F7F"/>
          </a:solidFill>
          <a:ln w="12700">
            <a:solidFill>
              <a:srgbClr val="7F7F7F"/>
            </a:solidFill>
          </a:ln>
          <a:effectLst/>
        </p:spPr>
        <p:txBody>
          <a:bodyPr rtlCol="0" anchor="ctr" wrap="square" lIns="45720" tIns="0" rIns="18288" bIns="0"/>
          <a:lstStyle/>
          <a:p>
            <a:pPr algn="l"/>
            <a:r>
              <a:rPr sz="800" b="1">
                <a:solidFill>
                  <a:srgbClr val="FFFFFF"/>
                </a:solidFill>
                <a:latin typeface="맑은 고딕"/>
                <a:ea typeface="맑은 고딕"/>
              </a:rPr>
              <a:t>«pod» vLLM</a:t>
            </a:r>
          </a:p>
        </p:txBody>
      </p:sp>
      <p:sp>
        <p:nvSpPr>
          <p:cNvPr id="204" name="Rectangle 203"/>
          <p:cNvSpPr/>
          <p:nvPr/>
        </p:nvSpPr>
        <p:spPr>
          <a:xfrm>
            <a:off x="11009376" y="3227832"/>
            <a:ext cx="804672" cy="1078992"/>
          </a:xfrm>
          <a:prstGeom prst="rect">
            <a:avLst/>
          </a:prstGeom>
          <a:solidFill>
            <a:srgbClr val="F2F2F2"/>
          </a:solidFill>
          <a:ln w="12700">
            <a:solidFill>
              <a:srgbClr val="7F7F7F"/>
            </a:solidFill>
          </a:ln>
          <a:effectLst/>
        </p:spPr>
        <p:txBody>
          <a:bodyPr rtlCol="0" anchor="ctr" wrap="square" lIns="36576" tIns="18288" rIns="36576" bIns="18288"/>
          <a:lstStyle/>
          <a:p>
            <a:pPr algn="ctr"/>
            <a:r>
              <a:rPr sz="800" b="1">
                <a:solidFill>
                  <a:srgbClr val="000000"/>
                </a:solidFill>
                <a:latin typeface="맑은 고딕"/>
                <a:ea typeface="맑은 고딕"/>
              </a:rPr>
              <a:t>vLLM</a:t>
            </a:r>
          </a:p>
          <a:p>
            <a:pPr algn="ctr"/>
            <a:r>
              <a:rPr sz="750" b="0">
                <a:solidFill>
                  <a:srgbClr val="000000"/>
                </a:solidFill>
                <a:latin typeface="맑은 고딕"/>
                <a:ea typeface="맑은 고딕"/>
              </a:rPr>
              <a:t>decode</a:t>
            </a:r>
          </a:p>
          <a:p>
            <a:pPr algn="ctr"/>
            <a:r>
              <a:rPr sz="650" b="0">
                <a:solidFill>
                  <a:srgbClr val="404040"/>
                </a:solidFill>
                <a:latin typeface="맑은 고딕"/>
                <a:ea typeface="맑은 고딕"/>
              </a:rPr>
              <a:t>KV events</a:t>
            </a:r>
          </a:p>
          <a:p>
            <a:pPr algn="ctr"/>
            <a:r>
              <a:rPr sz="650" b="0">
                <a:solidFill>
                  <a:srgbClr val="404040"/>
                </a:solidFill>
                <a:latin typeface="맑은 고딕"/>
                <a:ea typeface="맑은 고딕"/>
              </a:rPr>
              <a:t>/metrics</a:t>
            </a:r>
          </a:p>
        </p:txBody>
      </p:sp>
      <p:cxnSp>
        <p:nvCxnSpPr>
          <p:cNvPr id="205" name="Connector 204"/>
          <p:cNvCxnSpPr/>
          <p:nvPr/>
        </p:nvCxnSpPr>
        <p:spPr>
          <a:xfrm>
            <a:off x="11411712" y="2770632"/>
            <a:ext cx="0" cy="457200"/>
          </a:xfrm>
          <a:prstGeom prst="line">
            <a:avLst/>
          </a:prstGeom>
          <a:ln w="15875">
            <a:solidFill>
              <a:srgbClr val="404040"/>
            </a:solidFill>
            <a:headEnd type="triangle"/>
            <a:tailEnd type="triangle"/>
          </a:ln>
        </p:spPr>
      </p:cxnSp>
      <p:sp>
        <p:nvSpPr>
          <p:cNvPr id="206" name="Oval 205"/>
          <p:cNvSpPr/>
          <p:nvPr/>
        </p:nvSpPr>
        <p:spPr>
          <a:xfrm>
            <a:off x="11553443" y="2793492"/>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4</a:t>
            </a:r>
          </a:p>
        </p:txBody>
      </p:sp>
      <p:cxnSp>
        <p:nvCxnSpPr>
          <p:cNvPr id="207" name="Connector 206"/>
          <p:cNvCxnSpPr/>
          <p:nvPr/>
        </p:nvCxnSpPr>
        <p:spPr>
          <a:xfrm>
            <a:off x="10643616" y="2002536"/>
            <a:ext cx="365760" cy="173736"/>
          </a:xfrm>
          <a:prstGeom prst="line">
            <a:avLst/>
          </a:prstGeom>
          <a:ln w="15875">
            <a:solidFill>
              <a:srgbClr val="404040"/>
            </a:solidFill>
            <a:tailEnd type="triangle"/>
          </a:ln>
        </p:spPr>
      </p:cxnSp>
      <p:sp>
        <p:nvSpPr>
          <p:cNvPr id="208" name="Oval 207"/>
          <p:cNvSpPr/>
          <p:nvPr/>
        </p:nvSpPr>
        <p:spPr>
          <a:xfrm>
            <a:off x="10730484" y="1851660"/>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3</a:t>
            </a:r>
          </a:p>
        </p:txBody>
      </p:sp>
      <p:cxnSp>
        <p:nvCxnSpPr>
          <p:cNvPr id="209" name="Connector 208"/>
          <p:cNvCxnSpPr/>
          <p:nvPr/>
        </p:nvCxnSpPr>
        <p:spPr>
          <a:xfrm flipH="1">
            <a:off x="9189720" y="3959352"/>
            <a:ext cx="1819656" cy="0"/>
          </a:xfrm>
          <a:prstGeom prst="line">
            <a:avLst/>
          </a:prstGeom>
          <a:ln w="12700">
            <a:solidFill>
              <a:srgbClr val="404040"/>
            </a:solidFill>
            <a:prstDash val="dash"/>
          </a:ln>
        </p:spPr>
      </p:cxnSp>
      <p:cxnSp>
        <p:nvCxnSpPr>
          <p:cNvPr id="210" name="Connector 209"/>
          <p:cNvCxnSpPr/>
          <p:nvPr/>
        </p:nvCxnSpPr>
        <p:spPr>
          <a:xfrm flipV="1">
            <a:off x="9189720" y="3849624"/>
            <a:ext cx="0" cy="109728"/>
          </a:xfrm>
          <a:prstGeom prst="line">
            <a:avLst/>
          </a:prstGeom>
          <a:ln w="12700">
            <a:solidFill>
              <a:srgbClr val="404040"/>
            </a:solidFill>
            <a:prstDash val="dash"/>
            <a:tailEnd type="triangle"/>
          </a:ln>
        </p:spPr>
      </p:cxnSp>
      <p:sp>
        <p:nvSpPr>
          <p:cNvPr id="211" name="Oval 210"/>
          <p:cNvSpPr/>
          <p:nvPr/>
        </p:nvSpPr>
        <p:spPr>
          <a:xfrm>
            <a:off x="10730484" y="3744468"/>
            <a:ext cx="155448" cy="155448"/>
          </a:xfrm>
          <a:prstGeom prst="ellipse">
            <a:avLst/>
          </a:prstGeom>
          <a:solidFill>
            <a:srgbClr val="C55A11"/>
          </a:solidFill>
          <a:ln w="9525">
            <a:solidFill>
              <a:srgbClr val="FFFFFF"/>
            </a:solidFill>
          </a:ln>
          <a:effectLst/>
        </p:spPr>
        <p:txBody>
          <a:bodyPr rtlCol="0" anchor="ctr" wrap="square" lIns="0" tIns="0" rIns="0" bIns="0"/>
          <a:lstStyle/>
          <a:p>
            <a:pPr algn="ctr"/>
            <a:r>
              <a:rPr sz="650" b="1">
                <a:solidFill>
                  <a:srgbClr val="FFFFFF"/>
                </a:solidFill>
                <a:latin typeface="맑은 고딕"/>
                <a:ea typeface="맑은 고딕"/>
              </a:rPr>
              <a:t>5</a:t>
            </a:r>
          </a:p>
        </p:txBody>
      </p:sp>
      <p:sp>
        <p:nvSpPr>
          <p:cNvPr id="212" name="Rectangle 211"/>
          <p:cNvSpPr/>
          <p:nvPr/>
        </p:nvSpPr>
        <p:spPr>
          <a:xfrm>
            <a:off x="1188720" y="4471416"/>
            <a:ext cx="1261872" cy="146304"/>
          </a:xfrm>
          <a:prstGeom prst="rect">
            <a:avLst/>
          </a:prstGeom>
          <a:solidFill>
            <a:srgbClr val="DAE3F3"/>
          </a:solidFill>
          <a:ln w="12700">
            <a:solidFill>
              <a:srgbClr val="2F5597"/>
            </a:solidFill>
          </a:ln>
          <a:effectLst/>
        </p:spPr>
        <p:txBody>
          <a:bodyPr rtlCol="0" anchor="ctr" wrap="square" lIns="36576" tIns="18288" rIns="36576" bIns="18288"/>
          <a:lstStyle/>
          <a:p>
            <a:pPr algn="ctr"/>
            <a:r>
              <a:rPr sz="700" b="1">
                <a:solidFill>
                  <a:srgbClr val="000000"/>
                </a:solidFill>
                <a:latin typeface="맑은 고딕"/>
                <a:ea typeface="맑은 고딕"/>
              </a:rPr>
              <a:t>기존 OSS 그대로</a:t>
            </a:r>
          </a:p>
        </p:txBody>
      </p:sp>
      <p:sp>
        <p:nvSpPr>
          <p:cNvPr id="213" name="Rectangle 212"/>
          <p:cNvSpPr/>
          <p:nvPr/>
        </p:nvSpPr>
        <p:spPr>
          <a:xfrm>
            <a:off x="2505456" y="4471416"/>
            <a:ext cx="1261872" cy="146304"/>
          </a:xfrm>
          <a:prstGeom prst="rect">
            <a:avLst/>
          </a:prstGeom>
          <a:solidFill>
            <a:srgbClr val="FFF2CC"/>
          </a:solidFill>
          <a:ln w="19050">
            <a:solidFill>
              <a:srgbClr val="BF9000"/>
            </a:solidFill>
          </a:ln>
          <a:effectLst/>
        </p:spPr>
        <p:txBody>
          <a:bodyPr rtlCol="0" anchor="ctr" wrap="square" lIns="36576" tIns="18288" rIns="36576" bIns="18288"/>
          <a:lstStyle/>
          <a:p>
            <a:pPr algn="ctr"/>
            <a:r>
              <a:rPr sz="700" b="1">
                <a:solidFill>
                  <a:srgbClr val="000000"/>
                </a:solidFill>
                <a:latin typeface="맑은 고딕"/>
                <a:ea typeface="맑은 고딕"/>
              </a:rPr>
              <a:t>★ 확장 모듈(plugin)</a:t>
            </a:r>
          </a:p>
        </p:txBody>
      </p:sp>
      <p:sp>
        <p:nvSpPr>
          <p:cNvPr id="214" name="Rectangle 213"/>
          <p:cNvSpPr/>
          <p:nvPr/>
        </p:nvSpPr>
        <p:spPr>
          <a:xfrm>
            <a:off x="3822191" y="4471416"/>
            <a:ext cx="1261872" cy="146304"/>
          </a:xfrm>
          <a:prstGeom prst="rect">
            <a:avLst/>
          </a:prstGeom>
          <a:solidFill>
            <a:srgbClr val="FFFFFF"/>
          </a:solidFill>
          <a:ln w="19050">
            <a:solidFill>
              <a:srgbClr val="BF9000"/>
            </a:solidFill>
            <a:prstDash val="dash"/>
          </a:ln>
          <a:effectLst/>
        </p:spPr>
        <p:txBody>
          <a:bodyPr rtlCol="0" anchor="ctr" wrap="square" lIns="36576" tIns="18288" rIns="36576" bIns="18288"/>
          <a:lstStyle/>
          <a:p>
            <a:pPr algn="ctr"/>
            <a:r>
              <a:rPr sz="700" b="1">
                <a:solidFill>
                  <a:srgbClr val="000000"/>
                </a:solidFill>
                <a:latin typeface="맑은 고딕"/>
                <a:ea typeface="맑은 고딕"/>
              </a:rPr>
              <a:t>★ 설정만 변경</a:t>
            </a:r>
          </a:p>
        </p:txBody>
      </p:sp>
      <p:sp>
        <p:nvSpPr>
          <p:cNvPr id="215" name="Rectangle 214"/>
          <p:cNvSpPr/>
          <p:nvPr/>
        </p:nvSpPr>
        <p:spPr>
          <a:xfrm>
            <a:off x="5138928" y="4471416"/>
            <a:ext cx="1261872" cy="146304"/>
          </a:xfrm>
          <a:prstGeom prst="rect">
            <a:avLst/>
          </a:prstGeom>
          <a:solidFill>
            <a:srgbClr val="FFFFFF"/>
          </a:solidFill>
          <a:ln w="22225">
            <a:solidFill>
              <a:srgbClr val="C00000"/>
            </a:solidFill>
          </a:ln>
          <a:effectLst/>
        </p:spPr>
        <p:txBody>
          <a:bodyPr rtlCol="0" anchor="ctr" wrap="square" lIns="36576" tIns="18288" rIns="36576" bIns="18288"/>
          <a:lstStyle/>
          <a:p>
            <a:pPr algn="ctr"/>
            <a:r>
              <a:rPr sz="700" b="1">
                <a:solidFill>
                  <a:srgbClr val="000000"/>
                </a:solidFill>
                <a:latin typeface="맑은 고딕"/>
                <a:ea typeface="맑은 고딕"/>
              </a:rPr>
              <a:t>★ 기존 모듈 수정(patch)</a:t>
            </a:r>
          </a:p>
        </p:txBody>
      </p:sp>
      <p:sp>
        <p:nvSpPr>
          <p:cNvPr id="216" name="Rectangle 215"/>
          <p:cNvSpPr/>
          <p:nvPr/>
        </p:nvSpPr>
        <p:spPr>
          <a:xfrm>
            <a:off x="6583680" y="4471416"/>
            <a:ext cx="1554480" cy="146304"/>
          </a:xfrm>
          <a:prstGeom prst="rect">
            <a:avLst/>
          </a:prstGeom>
          <a:solidFill>
            <a:srgbClr val="FBE5D6"/>
          </a:solidFill>
          <a:ln w="19050">
            <a:solidFill>
              <a:srgbClr val="C55A11"/>
            </a:solidFill>
          </a:ln>
          <a:effectLst/>
        </p:spPr>
        <p:txBody>
          <a:bodyPr rtlCol="0" anchor="ctr" wrap="square" lIns="36576" tIns="18288" rIns="36576" bIns="18288"/>
          <a:lstStyle/>
          <a:p>
            <a:pPr algn="ctr"/>
            <a:r>
              <a:rPr sz="700" b="1">
                <a:solidFill>
                  <a:srgbClr val="000000"/>
                </a:solidFill>
                <a:latin typeface="맑은 고딕"/>
                <a:ea typeface="맑은 고딕"/>
              </a:rPr>
              <a:t>전부 우리가 직접 개발</a:t>
            </a:r>
          </a:p>
        </p:txBody>
      </p:sp>
      <p:sp>
        <p:nvSpPr>
          <p:cNvPr id="217" name="Rectangle 216"/>
          <p:cNvSpPr/>
          <p:nvPr/>
        </p:nvSpPr>
        <p:spPr>
          <a:xfrm>
            <a:off x="8211312" y="4471416"/>
            <a:ext cx="2697480" cy="146304"/>
          </a:xfrm>
          <a:prstGeom prst="rect">
            <a:avLst/>
          </a:prstGeom>
          <a:solidFill>
            <a:srgbClr val="EDE7F6"/>
          </a:solidFill>
          <a:ln w="12700">
            <a:solidFill>
              <a:srgbClr val="5E35B1"/>
            </a:solidFill>
          </a:ln>
          <a:effectLst/>
        </p:spPr>
        <p:txBody>
          <a:bodyPr rtlCol="0" anchor="ctr" wrap="square" lIns="36576" tIns="18288" rIns="36576" bIns="18288"/>
          <a:lstStyle/>
          <a:p>
            <a:pPr algn="ctr"/>
            <a:r>
              <a:rPr sz="650" b="1">
                <a:solidFill>
                  <a:srgbClr val="5E35B1"/>
                </a:solidFill>
                <a:latin typeface="맑은 고딕"/>
                <a:ea typeface="맑은 고딕"/>
              </a:rPr>
              <a:t>디자인 패턴: Strategy (정책 구현체를 갈아 끼움)</a:t>
            </a:r>
          </a:p>
        </p:txBody>
      </p:sp>
      <p:sp>
        <p:nvSpPr>
          <p:cNvPr id="218" name="Rectangle 217"/>
          <p:cNvSpPr/>
          <p:nvPr/>
        </p:nvSpPr>
        <p:spPr>
          <a:xfrm>
            <a:off x="10972800" y="4471416"/>
            <a:ext cx="868680" cy="146304"/>
          </a:xfrm>
          <a:prstGeom prst="rect">
            <a:avLst/>
          </a:prstGeom>
          <a:solidFill>
            <a:srgbClr val="F2F2F2"/>
          </a:solidFill>
          <a:ln w="12700">
            <a:solidFill>
              <a:srgbClr val="7F7F7F"/>
            </a:solidFill>
          </a:ln>
          <a:effectLst/>
        </p:spPr>
        <p:txBody>
          <a:bodyPr rtlCol="0" anchor="ctr" wrap="square" lIns="36576" tIns="18288" rIns="36576" bIns="18288"/>
          <a:lstStyle/>
          <a:p>
            <a:pPr algn="ctr"/>
            <a:r>
              <a:rPr sz="700" b="1">
                <a:solidFill>
                  <a:srgbClr val="000000"/>
                </a:solidFill>
                <a:latin typeface="맑은 고딕"/>
                <a:ea typeface="맑은 고딕"/>
              </a:rPr>
              <a:t>외부 고정(vLLM)</a:t>
            </a:r>
          </a:p>
        </p:txBody>
      </p:sp>
      <p:sp>
        <p:nvSpPr>
          <p:cNvPr id="219" name="TextBox 218"/>
          <p:cNvSpPr txBox="1"/>
          <p:nvPr/>
        </p:nvSpPr>
        <p:spPr>
          <a:xfrm>
            <a:off x="1188720" y="4636008"/>
            <a:ext cx="10698480" cy="128016"/>
          </a:xfrm>
          <a:prstGeom prst="rect">
            <a:avLst/>
          </a:prstGeom>
          <a:noFill/>
        </p:spPr>
        <p:txBody>
          <a:bodyPr wrap="square" anchor="t" lIns="0" tIns="0" rIns="0" bIns="0">
            <a:spAutoFit/>
          </a:bodyPr>
          <a:lstStyle/>
          <a:p>
            <a:pPr algn="l"/>
            <a:r>
              <a:rPr sz="650" b="0">
                <a:solidFill>
                  <a:srgbClr val="404040"/>
                </a:solidFill>
                <a:latin typeface="맑은 고딕"/>
                <a:ea typeface="맑은 고딕"/>
              </a:rPr>
              <a:t>① 요청 ② 결정 요청(1안: 프록시 → Router 원격 호출 1회 / 2안: 프로세스 내부 호출) ③ 선택·P/D 전달 ④ 서버 간 KV 전송(NIXL) ⑤ KV 이벤트·메트릭 ⑥ 상태 조회 ⑦ 서버 발견</a:t>
            </a:r>
          </a:p>
        </p:txBody>
      </p:sp>
      <p:sp>
        <p:nvSpPr>
          <p:cNvPr id="220" name="Rectangle 219"/>
          <p:cNvSpPr/>
          <p:nvPr/>
        </p:nvSpPr>
        <p:spPr>
          <a:xfrm>
            <a:off x="246888" y="4800600"/>
            <a:ext cx="868680" cy="603504"/>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1">
                <a:solidFill>
                  <a:srgbClr val="548235"/>
                </a:solidFill>
                <a:latin typeface="맑은 고딕"/>
                <a:ea typeface="맑은 고딕"/>
              </a:rPr>
              <a:t>장점</a:t>
            </a:r>
          </a:p>
        </p:txBody>
      </p:sp>
      <p:sp>
        <p:nvSpPr>
          <p:cNvPr id="221" name="Rectangle 220"/>
          <p:cNvSpPr/>
          <p:nvPr/>
        </p:nvSpPr>
        <p:spPr>
          <a:xfrm>
            <a:off x="1115568" y="4800600"/>
            <a:ext cx="5394960" cy="60350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 검증된 OSS 재사용: 요청 경로·KV 인덱스·흐름 제어 (P1~P4 plugin 실행 확인 [A])</a:t>
            </a:r>
          </a:p>
          <a:p>
            <a:pPr algn="l"/>
            <a:r>
              <a:rPr sz="750" b="0">
                <a:solidFill>
                  <a:srgbClr val="000000"/>
                </a:solidFill>
                <a:latin typeface="맑은 고딕"/>
                <a:ea typeface="맑은 고딕"/>
              </a:rPr>
              <a:t>▪ 서버 풀 자동 발견·복제로 서버 증설에 유리 (K8s)</a:t>
            </a:r>
          </a:p>
          <a:p>
            <a:pPr algn="l"/>
            <a:r>
              <a:rPr sz="750" b="0">
                <a:solidFill>
                  <a:srgbClr val="000000"/>
                </a:solidFill>
                <a:latin typeface="맑은 고딕"/>
                <a:ea typeface="맑은 고딕"/>
              </a:rPr>
              <a:t>▪ 구현·유지 부담 적음: 우리 소유 3/6 블록, 계약·신기능은 OSS가 추종</a:t>
            </a:r>
          </a:p>
        </p:txBody>
      </p:sp>
      <p:sp>
        <p:nvSpPr>
          <p:cNvPr id="222" name="Rectangle 221"/>
          <p:cNvSpPr/>
          <p:nvPr/>
        </p:nvSpPr>
        <p:spPr>
          <a:xfrm>
            <a:off x="6510528" y="4800600"/>
            <a:ext cx="5486399" cy="60350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 한 프로세스 내부 호출: 원격 호출·보조 프로세스 경유 없음 (지연 유리, 가설)</a:t>
            </a:r>
          </a:p>
          <a:p>
            <a:pPr algn="l"/>
            <a:r>
              <a:rPr sz="750" b="0">
                <a:solidFill>
                  <a:srgbClr val="000000"/>
                </a:solidFill>
                <a:latin typeface="맑은 고딕"/>
                <a:ea typeface="맑은 고딕"/>
              </a:rPr>
              <a:t>▪ Strategy 패턴: 점수·비용 함수·P/D 정책을 구현체 교체로 변경, 파이프라인은 불변</a:t>
            </a:r>
          </a:p>
          <a:p>
            <a:pPr algn="l"/>
            <a:r>
              <a:rPr sz="750" b="0">
                <a:solidFill>
                  <a:srgbClr val="000000"/>
                </a:solidFill>
                <a:latin typeface="맑은 고딕"/>
                <a:ea typeface="맑은 고딕"/>
              </a:rPr>
              <a:t>▪ K8s·프록시 불필요, OSS 업스트림 의존 없음</a:t>
            </a:r>
          </a:p>
        </p:txBody>
      </p:sp>
      <p:sp>
        <p:nvSpPr>
          <p:cNvPr id="223" name="Rectangle 222"/>
          <p:cNvSpPr/>
          <p:nvPr/>
        </p:nvSpPr>
        <p:spPr>
          <a:xfrm>
            <a:off x="246888" y="5404104"/>
            <a:ext cx="868680" cy="603504"/>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1">
                <a:solidFill>
                  <a:srgbClr val="C00000"/>
                </a:solidFill>
                <a:latin typeface="맑은 고딕"/>
                <a:ea typeface="맑은 고딕"/>
              </a:rPr>
              <a:t>단점</a:t>
            </a:r>
          </a:p>
        </p:txBody>
      </p:sp>
      <p:sp>
        <p:nvSpPr>
          <p:cNvPr id="224" name="Rectangle 223"/>
          <p:cNvSpPr/>
          <p:nvPr/>
        </p:nvSpPr>
        <p:spPr>
          <a:xfrm>
            <a:off x="1115568" y="5404104"/>
            <a:ext cx="5394960" cy="60350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 프록시 → Router 원격 호출 1회 + 보조 프로세스 경유 → TTFT 증가 (가설)</a:t>
            </a:r>
          </a:p>
          <a:p>
            <a:pPr algn="l"/>
            <a:r>
              <a:rPr sz="750" b="0">
                <a:solidFill>
                  <a:srgbClr val="000000"/>
                </a:solidFill>
                <a:latin typeface="맑은 고딕"/>
                <a:ea typeface="맑은 고딕"/>
              </a:rPr>
              <a:t>▪ P/D 경로 노드 지시(P5)는 보조 프로세스 수정(patch), wrapper는 OSS 동작에 의존</a:t>
            </a:r>
          </a:p>
          <a:p>
            <a:pPr algn="l"/>
            <a:r>
              <a:rPr sz="750" b="0">
                <a:solidFill>
                  <a:srgbClr val="000000"/>
                </a:solidFill>
                <a:latin typeface="맑은 고딕"/>
                <a:ea typeface="맑은 고딕"/>
              </a:rPr>
              <a:t>▪ K8s·프록시·자체 Router 이미지 운영 부담</a:t>
            </a:r>
          </a:p>
        </p:txBody>
      </p:sp>
      <p:sp>
        <p:nvSpPr>
          <p:cNvPr id="225" name="Rectangle 224"/>
          <p:cNvSpPr/>
          <p:nvPr/>
        </p:nvSpPr>
        <p:spPr>
          <a:xfrm>
            <a:off x="6510528" y="5404104"/>
            <a:ext cx="5486399" cy="60350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 6개 블록 전부 직접 구현·유지 (레플리카·LB·HA·흐름 제어 포함), 설계안뿐</a:t>
            </a:r>
          </a:p>
          <a:p>
            <a:pPr algn="l"/>
            <a:r>
              <a:rPr sz="750" b="0">
                <a:solidFill>
                  <a:srgbClr val="000000"/>
                </a:solidFill>
                <a:latin typeface="맑은 고딕"/>
                <a:ea typeface="맑은 고딕"/>
              </a:rPr>
              <a:t>▪ vLLM·NIXL 계약 추종·신기능 구현은 전부 우리 몫</a:t>
            </a:r>
          </a:p>
          <a:p>
            <a:pPr algn="l"/>
            <a:r>
              <a:rPr sz="750" b="0">
                <a:solidFill>
                  <a:srgbClr val="000000"/>
                </a:solidFill>
                <a:latin typeface="맑은 고딕"/>
                <a:ea typeface="맑은 고딕"/>
              </a:rPr>
              <a:t>▪ Router가 P/D 경로 안 → 병목·SPOF 위험, 확장성은 직접 구축·미검증</a:t>
            </a:r>
          </a:p>
        </p:txBody>
      </p:sp>
      <p:sp>
        <p:nvSpPr>
          <p:cNvPr id="226" name="TextBox 225"/>
          <p:cNvSpPr txBox="1"/>
          <p:nvPr/>
        </p:nvSpPr>
        <p:spPr>
          <a:xfrm>
            <a:off x="246888" y="6044184"/>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2안은 설계안이며 구현되지 않았다(구현량·성능은 추정). 근거 수준 [C] 구조 논증, [A] = llm-d 합성 백엔드 실행. 용어: P/D = Prefill(입력 처리)/Decode(응답 생성) 분리 · plugin = 기존 코드를 안 고치고 끼우는 확장 모듈</a:t>
            </a:r>
          </a:p>
        </p:txBody>
      </p:sp>
      <p:sp>
        <p:nvSpPr>
          <p:cNvPr id="227" name="TextBox 226"/>
          <p:cNvSpPr txBox="1"/>
          <p:nvPr/>
        </p:nvSpPr>
        <p:spPr>
          <a:xfrm>
            <a:off x="246888" y="617220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★P5 = 지시의 '송신'(오케스트레이션 범위). 수신·실행은 vLLM(엔진) 공통 선결(C5 접점 계약). P/D 보조 프로세스는 엔진이 아니라 오케스트레이션 소프트웨어다. 디자인 패턴: Strategy = 정책(P1~P4)을 같은 인터페이스의 구현체로 두고 설정으로 교체. 박스는 프로세스가 아니라 한 프로세스 안의 모듈이고, 프로세스 경계는 굵은 바깥 박스.</a:t>
            </a:r>
          </a:p>
        </p:txBody>
      </p:sp>
    </p:spTree>
    <p:extLst>
      <p:ext uri="{BB962C8B-B14F-4D97-AF65-F5344CB8AC3E}">
        <p14:creationId xmlns:p14="http://schemas.microsoft.com/office/powerpoint/2010/main" val="3392401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 변경 용이성 (Q3) 시나리오 S1~S6</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요구가 바뀔 때 무엇을 바꾸는가: 흡수(1안) 대 통제(2안)</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Rectangle 101"/>
          <p:cNvSpPr/>
          <p:nvPr/>
        </p:nvSpPr>
        <p:spPr>
          <a:xfrm>
            <a:off x="246888" y="1042415"/>
            <a:ext cx="2286000" cy="274320"/>
          </a:xfrm>
          <a:prstGeom prst="rect">
            <a:avLst/>
          </a:prstGeom>
          <a:solidFill>
            <a:srgbClr val="404040"/>
          </a:solidFill>
          <a:ln w="12700">
            <a:solidFill>
              <a:srgbClr val="404040"/>
            </a:solidFill>
          </a:ln>
          <a:effectLst/>
        </p:spPr>
        <p:txBody>
          <a:bodyPr rtlCol="0" anchor="ctr" wrap="square" lIns="36576" tIns="18288" rIns="36576" bIns="18288"/>
          <a:lstStyle/>
          <a:p>
            <a:pPr algn="ctr"/>
            <a:r>
              <a:rPr sz="900" b="1">
                <a:solidFill>
                  <a:srgbClr val="FFFFFF"/>
                </a:solidFill>
                <a:latin typeface="맑은 고딕"/>
                <a:ea typeface="맑은 고딕"/>
              </a:rPr>
              <a:t>시나리오</a:t>
            </a:r>
          </a:p>
        </p:txBody>
      </p:sp>
      <p:sp>
        <p:nvSpPr>
          <p:cNvPr id="103" name="Rectangle 102"/>
          <p:cNvSpPr/>
          <p:nvPr/>
        </p:nvSpPr>
        <p:spPr>
          <a:xfrm>
            <a:off x="2532888" y="1042415"/>
            <a:ext cx="4023360" cy="274320"/>
          </a:xfrm>
          <a:prstGeom prst="rect">
            <a:avLst/>
          </a:prstGeom>
          <a:solidFill>
            <a:srgbClr val="2F5597"/>
          </a:solidFill>
          <a:ln w="12700">
            <a:solidFill>
              <a:srgbClr val="2F5597"/>
            </a:solidFill>
          </a:ln>
          <a:effectLst/>
        </p:spPr>
        <p:txBody>
          <a:bodyPr rtlCol="0" anchor="ctr" wrap="square" lIns="36576" tIns="18288" rIns="36576" bIns="18288"/>
          <a:lstStyle/>
          <a:p>
            <a:pPr algn="ctr"/>
            <a:r>
              <a:rPr sz="900" b="1">
                <a:solidFill>
                  <a:srgbClr val="FFFFFF"/>
                </a:solidFill>
                <a:latin typeface="맑은 고딕"/>
                <a:ea typeface="맑은 고딕"/>
              </a:rPr>
              <a:t>(1안) OSS 확장: 무엇을 바꾸나</a:t>
            </a:r>
          </a:p>
        </p:txBody>
      </p:sp>
      <p:sp>
        <p:nvSpPr>
          <p:cNvPr id="104" name="Rectangle 103"/>
          <p:cNvSpPr/>
          <p:nvPr/>
        </p:nvSpPr>
        <p:spPr>
          <a:xfrm>
            <a:off x="6556248" y="1042415"/>
            <a:ext cx="4023360" cy="274320"/>
          </a:xfrm>
          <a:prstGeom prst="rect">
            <a:avLst/>
          </a:prstGeom>
          <a:solidFill>
            <a:srgbClr val="C55A11"/>
          </a:solidFill>
          <a:ln w="12700">
            <a:solidFill>
              <a:srgbClr val="C55A11"/>
            </a:solidFill>
          </a:ln>
          <a:effectLst/>
        </p:spPr>
        <p:txBody>
          <a:bodyPr rtlCol="0" anchor="ctr" wrap="square" lIns="36576" tIns="18288" rIns="36576" bIns="18288"/>
          <a:lstStyle/>
          <a:p>
            <a:pPr algn="ctr"/>
            <a:r>
              <a:rPr sz="900" b="1">
                <a:solidFill>
                  <a:srgbClr val="FFFFFF"/>
                </a:solidFill>
                <a:latin typeface="맑은 고딕"/>
                <a:ea typeface="맑은 고딕"/>
              </a:rPr>
              <a:t>(2안) 자체 구현: 무엇을 바꾸나</a:t>
            </a:r>
          </a:p>
        </p:txBody>
      </p:sp>
      <p:sp>
        <p:nvSpPr>
          <p:cNvPr id="105" name="Rectangle 104"/>
          <p:cNvSpPr/>
          <p:nvPr/>
        </p:nvSpPr>
        <p:spPr>
          <a:xfrm>
            <a:off x="10579608" y="1042415"/>
            <a:ext cx="1417320" cy="274320"/>
          </a:xfrm>
          <a:prstGeom prst="rect">
            <a:avLst/>
          </a:prstGeom>
          <a:solidFill>
            <a:srgbClr val="404040"/>
          </a:solidFill>
          <a:ln w="12700">
            <a:solidFill>
              <a:srgbClr val="404040"/>
            </a:solidFill>
          </a:ln>
          <a:effectLst/>
        </p:spPr>
        <p:txBody>
          <a:bodyPr rtlCol="0" anchor="ctr" wrap="square" lIns="36576" tIns="18288" rIns="36576" bIns="18288"/>
          <a:lstStyle/>
          <a:p>
            <a:pPr algn="ctr"/>
            <a:r>
              <a:rPr sz="900" b="1">
                <a:solidFill>
                  <a:srgbClr val="FFFFFF"/>
                </a:solidFill>
                <a:latin typeface="맑은 고딕"/>
                <a:ea typeface="맑은 고딕"/>
              </a:rPr>
              <a:t>변경 비용 우위</a:t>
            </a:r>
          </a:p>
        </p:txBody>
      </p:sp>
      <p:sp>
        <p:nvSpPr>
          <p:cNvPr id="106" name="Rectangle 105"/>
          <p:cNvSpPr/>
          <p:nvPr/>
        </p:nvSpPr>
        <p:spPr>
          <a:xfrm>
            <a:off x="246888" y="1316736"/>
            <a:ext cx="2286000" cy="585216"/>
          </a:xfrm>
          <a:prstGeom prst="rect">
            <a:avLst/>
          </a:prstGeom>
          <a:solidFill>
            <a:srgbClr val="F2F2F2"/>
          </a:solidFill>
          <a:ln w="6350">
            <a:solidFill>
              <a:srgbClr val="BFBFBF"/>
            </a:solidFill>
          </a:ln>
          <a:effectLst/>
        </p:spPr>
        <p:txBody>
          <a:bodyPr rtlCol="0" anchor="ctr"/>
          <a:lstStyle/>
          <a:p>
            <a:pPr algn="ctr"/>
          </a:p>
        </p:txBody>
      </p:sp>
      <p:sp>
        <p:nvSpPr>
          <p:cNvPr id="107" name="TextBox 106"/>
          <p:cNvSpPr txBox="1"/>
          <p:nvPr/>
        </p:nvSpPr>
        <p:spPr>
          <a:xfrm>
            <a:off x="320040" y="1380744"/>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S1</a:t>
            </a:r>
          </a:p>
        </p:txBody>
      </p:sp>
      <p:sp>
        <p:nvSpPr>
          <p:cNvPr id="108" name="TextBox 107"/>
          <p:cNvSpPr txBox="1"/>
          <p:nvPr/>
        </p:nvSpPr>
        <p:spPr>
          <a:xfrm>
            <a:off x="749808" y="1389888"/>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새 tier 매체 추가</a:t>
            </a:r>
          </a:p>
          <a:p>
            <a:pPr algn="l"/>
            <a:r>
              <a:rPr sz="750" b="0">
                <a:solidFill>
                  <a:srgbClr val="404040"/>
                </a:solidFill>
                <a:latin typeface="맑은 고딕"/>
                <a:ea typeface="맑은 고딕"/>
              </a:rPr>
              <a:t>예: CXL·HBF를 점수에 반영</a:t>
            </a:r>
          </a:p>
        </p:txBody>
      </p:sp>
      <p:sp>
        <p:nvSpPr>
          <p:cNvPr id="109" name="Rectangle 108"/>
          <p:cNvSpPr/>
          <p:nvPr/>
        </p:nvSpPr>
        <p:spPr>
          <a:xfrm>
            <a:off x="2532888" y="1316736"/>
            <a:ext cx="4023360" cy="585216"/>
          </a:xfrm>
          <a:prstGeom prst="rect">
            <a:avLst/>
          </a:prstGeom>
          <a:solidFill>
            <a:srgbClr val="FFFFFF"/>
          </a:solidFill>
          <a:ln w="6350">
            <a:solidFill>
              <a:srgbClr val="BFBFBF"/>
            </a:solidFill>
          </a:ln>
          <a:effectLst/>
        </p:spPr>
        <p:txBody>
          <a:bodyPr rtlCol="0" anchor="ctr"/>
          <a:lstStyle/>
          <a:p>
            <a:pPr algn="ctr"/>
          </a:p>
        </p:txBody>
      </p:sp>
      <p:sp>
        <p:nvSpPr>
          <p:cNvPr id="110" name="Rectangle 109"/>
          <p:cNvSpPr/>
          <p:nvPr/>
        </p:nvSpPr>
        <p:spPr>
          <a:xfrm>
            <a:off x="2606040" y="1380744"/>
            <a:ext cx="749808" cy="182880"/>
          </a:xfrm>
          <a:prstGeom prst="rect">
            <a:avLst/>
          </a:prstGeom>
          <a:solidFill>
            <a:srgbClr val="FFF2CC"/>
          </a:solidFill>
          <a:ln w="15875">
            <a:solidFill>
              <a:srgbClr val="BF9000"/>
            </a:solidFill>
            <a:prstDash val="dash"/>
          </a:ln>
          <a:effectLst/>
        </p:spPr>
        <p:txBody>
          <a:bodyPr rtlCol="0" anchor="ctr" wrap="square" lIns="18288" tIns="0" rIns="18288" bIns="0"/>
          <a:lstStyle/>
          <a:p>
            <a:pPr algn="ctr"/>
            <a:r>
              <a:rPr sz="750" b="1">
                <a:solidFill>
                  <a:srgbClr val="000000"/>
                </a:solidFill>
                <a:latin typeface="맑은 고딕"/>
                <a:ea typeface="맑은 고딕"/>
              </a:rPr>
              <a:t>설정</a:t>
            </a:r>
          </a:p>
        </p:txBody>
      </p:sp>
      <p:sp>
        <p:nvSpPr>
          <p:cNvPr id="111" name="TextBox 110"/>
          <p:cNvSpPr txBox="1"/>
          <p:nvPr/>
        </p:nvSpPr>
        <p:spPr>
          <a:xfrm>
            <a:off x="3429000" y="1371600"/>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메모리 종류 가중치 표에 이름·값만 추가. 재빌드 불필요 (기본 목록 밖 이름은 가중치 설정 필요)</a:t>
            </a:r>
          </a:p>
        </p:txBody>
      </p:sp>
      <p:sp>
        <p:nvSpPr>
          <p:cNvPr id="112" name="Rectangle 111"/>
          <p:cNvSpPr/>
          <p:nvPr/>
        </p:nvSpPr>
        <p:spPr>
          <a:xfrm>
            <a:off x="6556248" y="1316736"/>
            <a:ext cx="4023360" cy="585216"/>
          </a:xfrm>
          <a:prstGeom prst="rect">
            <a:avLst/>
          </a:prstGeom>
          <a:solidFill>
            <a:srgbClr val="FFFFFF"/>
          </a:solidFill>
          <a:ln w="6350">
            <a:solidFill>
              <a:srgbClr val="BFBFBF"/>
            </a:solidFill>
          </a:ln>
          <a:effectLst/>
        </p:spPr>
        <p:txBody>
          <a:bodyPr rtlCol="0" anchor="ctr"/>
          <a:lstStyle/>
          <a:p>
            <a:pPr algn="ctr"/>
          </a:p>
        </p:txBody>
      </p:sp>
      <p:sp>
        <p:nvSpPr>
          <p:cNvPr id="113" name="Rectangle 112"/>
          <p:cNvSpPr/>
          <p:nvPr/>
        </p:nvSpPr>
        <p:spPr>
          <a:xfrm>
            <a:off x="6629400" y="1380744"/>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코드</a:t>
            </a:r>
          </a:p>
        </p:txBody>
      </p:sp>
      <p:sp>
        <p:nvSpPr>
          <p:cNvPr id="114" name="TextBox 113"/>
          <p:cNvSpPr txBox="1"/>
          <p:nvPr/>
        </p:nvSpPr>
        <p:spPr>
          <a:xfrm>
            <a:off x="7452360" y="1371600"/>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State Store 가중치 테이블 + Scorer 코드 수정, 재배포 (소규모)</a:t>
            </a:r>
          </a:p>
        </p:txBody>
      </p:sp>
      <p:sp>
        <p:nvSpPr>
          <p:cNvPr id="115" name="Rectangle 114"/>
          <p:cNvSpPr/>
          <p:nvPr/>
        </p:nvSpPr>
        <p:spPr>
          <a:xfrm>
            <a:off x="10579608" y="1316736"/>
            <a:ext cx="1417320" cy="585216"/>
          </a:xfrm>
          <a:prstGeom prst="rect">
            <a:avLst/>
          </a:prstGeom>
          <a:solidFill>
            <a:srgbClr val="DAE3F3"/>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1안 유리</a:t>
            </a:r>
          </a:p>
          <a:p>
            <a:pPr algn="ctr"/>
            <a:r>
              <a:rPr sz="750" b="0">
                <a:solidFill>
                  <a:srgbClr val="404040"/>
                </a:solidFill>
                <a:latin typeface="맑은 고딕"/>
                <a:ea typeface="맑은 고딕"/>
              </a:rPr>
              <a:t>흡수 (설정만)</a:t>
            </a:r>
          </a:p>
        </p:txBody>
      </p:sp>
      <p:sp>
        <p:nvSpPr>
          <p:cNvPr id="116" name="Rectangle 115"/>
          <p:cNvSpPr/>
          <p:nvPr/>
        </p:nvSpPr>
        <p:spPr>
          <a:xfrm>
            <a:off x="246888" y="1901952"/>
            <a:ext cx="2286000" cy="585216"/>
          </a:xfrm>
          <a:prstGeom prst="rect">
            <a:avLst/>
          </a:prstGeom>
          <a:solidFill>
            <a:srgbClr val="F2F2F2"/>
          </a:solidFill>
          <a:ln w="6350">
            <a:solidFill>
              <a:srgbClr val="BFBFBF"/>
            </a:solidFill>
          </a:ln>
          <a:effectLst/>
        </p:spPr>
        <p:txBody>
          <a:bodyPr rtlCol="0" anchor="ctr"/>
          <a:lstStyle/>
          <a:p>
            <a:pPr algn="ctr"/>
          </a:p>
        </p:txBody>
      </p:sp>
      <p:sp>
        <p:nvSpPr>
          <p:cNvPr id="117" name="TextBox 116"/>
          <p:cNvSpPr txBox="1"/>
          <p:nvPr/>
        </p:nvSpPr>
        <p:spPr>
          <a:xfrm>
            <a:off x="320040" y="1965960"/>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S2</a:t>
            </a:r>
          </a:p>
        </p:txBody>
      </p:sp>
      <p:sp>
        <p:nvSpPr>
          <p:cNvPr id="118" name="TextBox 117"/>
          <p:cNvSpPr txBox="1"/>
          <p:nvPr/>
        </p:nvSpPr>
        <p:spPr>
          <a:xfrm>
            <a:off x="749808" y="1975104"/>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비용 함수 교체</a:t>
            </a:r>
          </a:p>
          <a:p>
            <a:pPr algn="l"/>
            <a:r>
              <a:rPr sz="750" b="0">
                <a:solidFill>
                  <a:srgbClr val="404040"/>
                </a:solidFill>
                <a:latin typeface="맑은 고딕"/>
                <a:ea typeface="맑은 고딕"/>
              </a:rPr>
              <a:t>재계산 비용 대 tier 전송 비용</a:t>
            </a:r>
          </a:p>
        </p:txBody>
      </p:sp>
      <p:sp>
        <p:nvSpPr>
          <p:cNvPr id="119" name="Rectangle 118"/>
          <p:cNvSpPr/>
          <p:nvPr/>
        </p:nvSpPr>
        <p:spPr>
          <a:xfrm>
            <a:off x="2532888" y="1901952"/>
            <a:ext cx="4023360" cy="585216"/>
          </a:xfrm>
          <a:prstGeom prst="rect">
            <a:avLst/>
          </a:prstGeom>
          <a:solidFill>
            <a:srgbClr val="FFFFFF"/>
          </a:solidFill>
          <a:ln w="6350">
            <a:solidFill>
              <a:srgbClr val="BFBFBF"/>
            </a:solidFill>
          </a:ln>
          <a:effectLst/>
        </p:spPr>
        <p:txBody>
          <a:bodyPr rtlCol="0" anchor="ctr"/>
          <a:lstStyle/>
          <a:p>
            <a:pPr algn="ctr"/>
          </a:p>
        </p:txBody>
      </p:sp>
      <p:sp>
        <p:nvSpPr>
          <p:cNvPr id="120" name="Rectangle 119"/>
          <p:cNvSpPr/>
          <p:nvPr/>
        </p:nvSpPr>
        <p:spPr>
          <a:xfrm>
            <a:off x="2606040" y="1965960"/>
            <a:ext cx="749808" cy="182880"/>
          </a:xfrm>
          <a:prstGeom prst="rect">
            <a:avLst/>
          </a:prstGeom>
          <a:solidFill>
            <a:srgbClr val="FFF2CC"/>
          </a:solidFill>
          <a:ln w="15875">
            <a:solidFill>
              <a:srgbClr val="BF9000"/>
            </a:solidFill>
          </a:ln>
          <a:effectLst/>
        </p:spPr>
        <p:txBody>
          <a:bodyPr rtlCol="0" anchor="ctr" wrap="square" lIns="18288" tIns="0" rIns="18288" bIns="0"/>
          <a:lstStyle/>
          <a:p>
            <a:pPr algn="ctr"/>
            <a:r>
              <a:rPr sz="750" b="1">
                <a:solidFill>
                  <a:srgbClr val="000000"/>
                </a:solidFill>
                <a:latin typeface="맑은 고딕"/>
                <a:ea typeface="맑은 고딕"/>
              </a:rPr>
              <a:t>plugin</a:t>
            </a:r>
          </a:p>
        </p:txBody>
      </p:sp>
      <p:sp>
        <p:nvSpPr>
          <p:cNvPr id="121" name="TextBox 120"/>
          <p:cNvSpPr txBox="1"/>
          <p:nvPr/>
        </p:nvSpPr>
        <p:spPr>
          <a:xfrm>
            <a:off x="3429000" y="1956816"/>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Scorer 플러그인 교체. 별도 Router 이미지를 빌드·배포해야 함</a:t>
            </a:r>
          </a:p>
        </p:txBody>
      </p:sp>
      <p:sp>
        <p:nvSpPr>
          <p:cNvPr id="122" name="Rectangle 121"/>
          <p:cNvSpPr/>
          <p:nvPr/>
        </p:nvSpPr>
        <p:spPr>
          <a:xfrm>
            <a:off x="6556248" y="1901952"/>
            <a:ext cx="4023360" cy="585216"/>
          </a:xfrm>
          <a:prstGeom prst="rect">
            <a:avLst/>
          </a:prstGeom>
          <a:solidFill>
            <a:srgbClr val="FFFFFF"/>
          </a:solidFill>
          <a:ln w="6350">
            <a:solidFill>
              <a:srgbClr val="BFBFBF"/>
            </a:solidFill>
          </a:ln>
          <a:effectLst/>
        </p:spPr>
        <p:txBody>
          <a:bodyPr rtlCol="0" anchor="ctr"/>
          <a:lstStyle/>
          <a:p>
            <a:pPr algn="ctr"/>
          </a:p>
        </p:txBody>
      </p:sp>
      <p:sp>
        <p:nvSpPr>
          <p:cNvPr id="123" name="Rectangle 122"/>
          <p:cNvSpPr/>
          <p:nvPr/>
        </p:nvSpPr>
        <p:spPr>
          <a:xfrm>
            <a:off x="6629400" y="1965960"/>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코드</a:t>
            </a:r>
          </a:p>
        </p:txBody>
      </p:sp>
      <p:sp>
        <p:nvSpPr>
          <p:cNvPr id="124" name="TextBox 123"/>
          <p:cNvSpPr txBox="1"/>
          <p:nvPr/>
        </p:nvSpPr>
        <p:spPr>
          <a:xfrm>
            <a:off x="7452360" y="1956816"/>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Score Strategy 구현체 교체. 한 저장소·한 배포</a:t>
            </a:r>
          </a:p>
        </p:txBody>
      </p:sp>
      <p:sp>
        <p:nvSpPr>
          <p:cNvPr id="125" name="Rectangle 124"/>
          <p:cNvSpPr/>
          <p:nvPr/>
        </p:nvSpPr>
        <p:spPr>
          <a:xfrm>
            <a:off x="10579608" y="1901952"/>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2안 유리</a:t>
            </a:r>
          </a:p>
          <a:p>
            <a:pPr algn="ctr"/>
            <a:r>
              <a:rPr sz="750" b="0">
                <a:solidFill>
                  <a:srgbClr val="404040"/>
                </a:solidFill>
                <a:latin typeface="맑은 고딕"/>
                <a:ea typeface="맑은 고딕"/>
              </a:rPr>
              <a:t>통제 (소폭)</a:t>
            </a:r>
          </a:p>
        </p:txBody>
      </p:sp>
      <p:sp>
        <p:nvSpPr>
          <p:cNvPr id="126" name="Rectangle 125"/>
          <p:cNvSpPr/>
          <p:nvPr/>
        </p:nvSpPr>
        <p:spPr>
          <a:xfrm>
            <a:off x="246888" y="2487168"/>
            <a:ext cx="2286000" cy="585216"/>
          </a:xfrm>
          <a:prstGeom prst="rect">
            <a:avLst/>
          </a:prstGeom>
          <a:solidFill>
            <a:srgbClr val="F2F2F2"/>
          </a:solidFill>
          <a:ln w="6350">
            <a:solidFill>
              <a:srgbClr val="BFBFBF"/>
            </a:solidFill>
          </a:ln>
          <a:effectLst/>
        </p:spPr>
        <p:txBody>
          <a:bodyPr rtlCol="0" anchor="ctr"/>
          <a:lstStyle/>
          <a:p>
            <a:pPr algn="ctr"/>
          </a:p>
        </p:txBody>
      </p:sp>
      <p:sp>
        <p:nvSpPr>
          <p:cNvPr id="127" name="TextBox 126"/>
          <p:cNvSpPr txBox="1"/>
          <p:nvPr/>
        </p:nvSpPr>
        <p:spPr>
          <a:xfrm>
            <a:off x="320040" y="2551176"/>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S3</a:t>
            </a:r>
          </a:p>
        </p:txBody>
      </p:sp>
      <p:sp>
        <p:nvSpPr>
          <p:cNvPr id="128" name="TextBox 127"/>
          <p:cNvSpPr txBox="1"/>
          <p:nvPr/>
        </p:nvSpPr>
        <p:spPr>
          <a:xfrm>
            <a:off x="749808" y="2560320"/>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P/D 결정 정책 교체</a:t>
            </a:r>
          </a:p>
          <a:p>
            <a:pPr algn="l"/>
            <a:r>
              <a:rPr sz="750" b="0">
                <a:solidFill>
                  <a:srgbClr val="404040"/>
                </a:solidFill>
                <a:latin typeface="맑은 고딕"/>
                <a:ea typeface="맑은 고딕"/>
              </a:rPr>
              <a:t>prefill/decode 분리 기준 변경</a:t>
            </a:r>
          </a:p>
        </p:txBody>
      </p:sp>
      <p:sp>
        <p:nvSpPr>
          <p:cNvPr id="129" name="Rectangle 128"/>
          <p:cNvSpPr/>
          <p:nvPr/>
        </p:nvSpPr>
        <p:spPr>
          <a:xfrm>
            <a:off x="2532888" y="2487168"/>
            <a:ext cx="4023360" cy="585216"/>
          </a:xfrm>
          <a:prstGeom prst="rect">
            <a:avLst/>
          </a:prstGeom>
          <a:solidFill>
            <a:srgbClr val="FFFFFF"/>
          </a:solidFill>
          <a:ln w="6350">
            <a:solidFill>
              <a:srgbClr val="BFBFBF"/>
            </a:solidFill>
          </a:ln>
          <a:effectLst/>
        </p:spPr>
        <p:txBody>
          <a:bodyPr rtlCol="0" anchor="ctr"/>
          <a:lstStyle/>
          <a:p>
            <a:pPr algn="ctr"/>
          </a:p>
        </p:txBody>
      </p:sp>
      <p:sp>
        <p:nvSpPr>
          <p:cNvPr id="130" name="Rectangle 129"/>
          <p:cNvSpPr/>
          <p:nvPr/>
        </p:nvSpPr>
        <p:spPr>
          <a:xfrm>
            <a:off x="2606040" y="2551176"/>
            <a:ext cx="749808" cy="182880"/>
          </a:xfrm>
          <a:prstGeom prst="rect">
            <a:avLst/>
          </a:prstGeom>
          <a:solidFill>
            <a:srgbClr val="FFF2CC"/>
          </a:solidFill>
          <a:ln w="15875">
            <a:solidFill>
              <a:srgbClr val="BF9000"/>
            </a:solidFill>
          </a:ln>
          <a:effectLst/>
        </p:spPr>
        <p:txBody>
          <a:bodyPr rtlCol="0" anchor="ctr" wrap="square" lIns="18288" tIns="0" rIns="18288" bIns="0"/>
          <a:lstStyle/>
          <a:p>
            <a:pPr algn="ctr"/>
            <a:r>
              <a:rPr sz="750" b="1">
                <a:solidFill>
                  <a:srgbClr val="000000"/>
                </a:solidFill>
                <a:latin typeface="맑은 고딕"/>
                <a:ea typeface="맑은 고딕"/>
              </a:rPr>
              <a:t>plugin</a:t>
            </a:r>
          </a:p>
        </p:txBody>
      </p:sp>
      <p:sp>
        <p:nvSpPr>
          <p:cNvPr id="131" name="TextBox 130"/>
          <p:cNvSpPr txBox="1"/>
          <p:nvPr/>
        </p:nvSpPr>
        <p:spPr>
          <a:xfrm>
            <a:off x="3429000" y="2542032"/>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P/D 판단 wrapper 교체. 기존 모듈의 동작에 의존 → 업스트림 변경 시 깨질 수 있음</a:t>
            </a:r>
          </a:p>
        </p:txBody>
      </p:sp>
      <p:sp>
        <p:nvSpPr>
          <p:cNvPr id="132" name="Rectangle 131"/>
          <p:cNvSpPr/>
          <p:nvPr/>
        </p:nvSpPr>
        <p:spPr>
          <a:xfrm>
            <a:off x="6556248" y="2487168"/>
            <a:ext cx="4023360" cy="585216"/>
          </a:xfrm>
          <a:prstGeom prst="rect">
            <a:avLst/>
          </a:prstGeom>
          <a:solidFill>
            <a:srgbClr val="FFFFFF"/>
          </a:solidFill>
          <a:ln w="6350">
            <a:solidFill>
              <a:srgbClr val="BFBFBF"/>
            </a:solidFill>
          </a:ln>
          <a:effectLst/>
        </p:spPr>
        <p:txBody>
          <a:bodyPr rtlCol="0" anchor="ctr"/>
          <a:lstStyle/>
          <a:p>
            <a:pPr algn="ctr"/>
          </a:p>
        </p:txBody>
      </p:sp>
      <p:sp>
        <p:nvSpPr>
          <p:cNvPr id="133" name="Rectangle 132"/>
          <p:cNvSpPr/>
          <p:nvPr/>
        </p:nvSpPr>
        <p:spPr>
          <a:xfrm>
            <a:off x="6629400" y="2551176"/>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코드</a:t>
            </a:r>
          </a:p>
        </p:txBody>
      </p:sp>
      <p:sp>
        <p:nvSpPr>
          <p:cNvPr id="134" name="TextBox 133"/>
          <p:cNvSpPr txBox="1"/>
          <p:nvPr/>
        </p:nvSpPr>
        <p:spPr>
          <a:xfrm>
            <a:off x="7452360" y="2542032"/>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PDPlan Strategy 구현체 교체</a:t>
            </a:r>
          </a:p>
        </p:txBody>
      </p:sp>
      <p:sp>
        <p:nvSpPr>
          <p:cNvPr id="135" name="Rectangle 134"/>
          <p:cNvSpPr/>
          <p:nvPr/>
        </p:nvSpPr>
        <p:spPr>
          <a:xfrm>
            <a:off x="10579608" y="2487168"/>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2안 유리</a:t>
            </a:r>
          </a:p>
          <a:p>
            <a:pPr algn="ctr"/>
            <a:r>
              <a:rPr sz="750" b="0">
                <a:solidFill>
                  <a:srgbClr val="404040"/>
                </a:solidFill>
                <a:latin typeface="맑은 고딕"/>
                <a:ea typeface="맑은 고딕"/>
              </a:rPr>
              <a:t>통제</a:t>
            </a:r>
          </a:p>
        </p:txBody>
      </p:sp>
      <p:sp>
        <p:nvSpPr>
          <p:cNvPr id="136" name="Rectangle 135"/>
          <p:cNvSpPr/>
          <p:nvPr/>
        </p:nvSpPr>
        <p:spPr>
          <a:xfrm>
            <a:off x="246888" y="3072384"/>
            <a:ext cx="2286000" cy="585216"/>
          </a:xfrm>
          <a:prstGeom prst="rect">
            <a:avLst/>
          </a:prstGeom>
          <a:solidFill>
            <a:srgbClr val="F2F2F2"/>
          </a:solidFill>
          <a:ln w="6350">
            <a:solidFill>
              <a:srgbClr val="BFBFBF"/>
            </a:solidFill>
          </a:ln>
          <a:effectLst/>
        </p:spPr>
        <p:txBody>
          <a:bodyPr rtlCol="0" anchor="ctr"/>
          <a:lstStyle/>
          <a:p>
            <a:pPr algn="ctr"/>
          </a:p>
        </p:txBody>
      </p:sp>
      <p:sp>
        <p:nvSpPr>
          <p:cNvPr id="137" name="TextBox 136"/>
          <p:cNvSpPr txBox="1"/>
          <p:nvPr/>
        </p:nvSpPr>
        <p:spPr>
          <a:xfrm>
            <a:off x="320040" y="3136392"/>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S4</a:t>
            </a:r>
          </a:p>
        </p:txBody>
      </p:sp>
      <p:sp>
        <p:nvSpPr>
          <p:cNvPr id="138" name="TextBox 137"/>
          <p:cNvSpPr txBox="1"/>
          <p:nvPr/>
        </p:nvSpPr>
        <p:spPr>
          <a:xfrm>
            <a:off x="749808" y="3145536"/>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노드 지시 항목 추가</a:t>
            </a:r>
          </a:p>
          <a:p>
            <a:pPr algn="l"/>
            <a:r>
              <a:rPr sz="750" b="0">
                <a:solidFill>
                  <a:srgbClr val="404040"/>
                </a:solidFill>
                <a:latin typeface="맑은 고딕"/>
                <a:ea typeface="맑은 고딕"/>
              </a:rPr>
              <a:t>예: 새 지시 키를 vLLM에 전달</a:t>
            </a:r>
          </a:p>
        </p:txBody>
      </p:sp>
      <p:sp>
        <p:nvSpPr>
          <p:cNvPr id="139" name="Rectangle 138"/>
          <p:cNvSpPr/>
          <p:nvPr/>
        </p:nvSpPr>
        <p:spPr>
          <a:xfrm>
            <a:off x="2532888" y="3072384"/>
            <a:ext cx="4023360" cy="585216"/>
          </a:xfrm>
          <a:prstGeom prst="rect">
            <a:avLst/>
          </a:prstGeom>
          <a:solidFill>
            <a:srgbClr val="FFFFFF"/>
          </a:solidFill>
          <a:ln w="6350">
            <a:solidFill>
              <a:srgbClr val="BFBFBF"/>
            </a:solidFill>
          </a:ln>
          <a:effectLst/>
        </p:spPr>
        <p:txBody>
          <a:bodyPr rtlCol="0" anchor="ctr"/>
          <a:lstStyle/>
          <a:p>
            <a:pPr algn="ctr"/>
          </a:p>
        </p:txBody>
      </p:sp>
      <p:sp>
        <p:nvSpPr>
          <p:cNvPr id="140" name="Rectangle 139"/>
          <p:cNvSpPr/>
          <p:nvPr/>
        </p:nvSpPr>
        <p:spPr>
          <a:xfrm>
            <a:off x="2606040" y="3136392"/>
            <a:ext cx="749808" cy="182880"/>
          </a:xfrm>
          <a:prstGeom prst="rect">
            <a:avLst/>
          </a:prstGeom>
          <a:solidFill>
            <a:srgbClr val="FFFFFF"/>
          </a:solidFill>
          <a:ln w="19050">
            <a:solidFill>
              <a:srgbClr val="C00000"/>
            </a:solidFill>
          </a:ln>
          <a:effectLst/>
        </p:spPr>
        <p:txBody>
          <a:bodyPr rtlCol="0" anchor="ctr" wrap="square" lIns="18288" tIns="0" rIns="18288" bIns="0"/>
          <a:lstStyle/>
          <a:p>
            <a:pPr algn="ctr"/>
            <a:r>
              <a:rPr sz="750" b="1">
                <a:solidFill>
                  <a:srgbClr val="000000"/>
                </a:solidFill>
                <a:latin typeface="맑은 고딕"/>
                <a:ea typeface="맑은 고딕"/>
              </a:rPr>
              <a:t>수정</a:t>
            </a:r>
          </a:p>
        </p:txBody>
      </p:sp>
      <p:sp>
        <p:nvSpPr>
          <p:cNvPr id="141" name="TextBox 140"/>
          <p:cNvSpPr txBox="1"/>
          <p:nvPr/>
        </p:nvSpPr>
        <p:spPr>
          <a:xfrm>
            <a:off x="3429000" y="3127248"/>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일반 경로는 plugin, P/D 경로는 P/D 보조 프로세스를 수정(patch)해야 함</a:t>
            </a:r>
          </a:p>
        </p:txBody>
      </p:sp>
      <p:sp>
        <p:nvSpPr>
          <p:cNvPr id="142" name="Rectangle 141"/>
          <p:cNvSpPr/>
          <p:nvPr/>
        </p:nvSpPr>
        <p:spPr>
          <a:xfrm>
            <a:off x="6556248" y="3072384"/>
            <a:ext cx="4023360" cy="585216"/>
          </a:xfrm>
          <a:prstGeom prst="rect">
            <a:avLst/>
          </a:prstGeom>
          <a:solidFill>
            <a:srgbClr val="FFFFFF"/>
          </a:solidFill>
          <a:ln w="6350">
            <a:solidFill>
              <a:srgbClr val="BFBFBF"/>
            </a:solidFill>
          </a:ln>
          <a:effectLst/>
        </p:spPr>
        <p:txBody>
          <a:bodyPr rtlCol="0" anchor="ctr"/>
          <a:lstStyle/>
          <a:p>
            <a:pPr algn="ctr"/>
          </a:p>
        </p:txBody>
      </p:sp>
      <p:sp>
        <p:nvSpPr>
          <p:cNvPr id="143" name="Rectangle 142"/>
          <p:cNvSpPr/>
          <p:nvPr/>
        </p:nvSpPr>
        <p:spPr>
          <a:xfrm>
            <a:off x="6629400" y="3136392"/>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코드</a:t>
            </a:r>
          </a:p>
        </p:txBody>
      </p:sp>
      <p:sp>
        <p:nvSpPr>
          <p:cNvPr id="144" name="TextBox 143"/>
          <p:cNvSpPr txBox="1"/>
          <p:nvPr/>
        </p:nvSpPr>
        <p:spPr>
          <a:xfrm>
            <a:off x="7452360" y="3127248"/>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Directive Builder에 항목 추가 (경로 구분 없음)</a:t>
            </a:r>
          </a:p>
        </p:txBody>
      </p:sp>
      <p:sp>
        <p:nvSpPr>
          <p:cNvPr id="145" name="Rectangle 144"/>
          <p:cNvSpPr/>
          <p:nvPr/>
        </p:nvSpPr>
        <p:spPr>
          <a:xfrm>
            <a:off x="10579608" y="3072384"/>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2안 유리</a:t>
            </a:r>
          </a:p>
          <a:p>
            <a:pPr algn="ctr"/>
            <a:r>
              <a:rPr sz="750" b="0">
                <a:solidFill>
                  <a:srgbClr val="404040"/>
                </a:solidFill>
                <a:latin typeface="맑은 고딕"/>
                <a:ea typeface="맑은 고딕"/>
              </a:rPr>
              <a:t>통제</a:t>
            </a:r>
          </a:p>
        </p:txBody>
      </p:sp>
      <p:sp>
        <p:nvSpPr>
          <p:cNvPr id="146" name="Rectangle 145"/>
          <p:cNvSpPr/>
          <p:nvPr/>
        </p:nvSpPr>
        <p:spPr>
          <a:xfrm>
            <a:off x="246888" y="3657600"/>
            <a:ext cx="2286000" cy="585216"/>
          </a:xfrm>
          <a:prstGeom prst="rect">
            <a:avLst/>
          </a:prstGeom>
          <a:solidFill>
            <a:srgbClr val="F2F2F2"/>
          </a:solidFill>
          <a:ln w="6350">
            <a:solidFill>
              <a:srgbClr val="BFBFBF"/>
            </a:solidFill>
          </a:ln>
          <a:effectLst/>
        </p:spPr>
        <p:txBody>
          <a:bodyPr rtlCol="0" anchor="ctr"/>
          <a:lstStyle/>
          <a:p>
            <a:pPr algn="ctr"/>
          </a:p>
        </p:txBody>
      </p:sp>
      <p:sp>
        <p:nvSpPr>
          <p:cNvPr id="147" name="TextBox 146"/>
          <p:cNvSpPr txBox="1"/>
          <p:nvPr/>
        </p:nvSpPr>
        <p:spPr>
          <a:xfrm>
            <a:off x="320040" y="3721608"/>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S5</a:t>
            </a:r>
          </a:p>
        </p:txBody>
      </p:sp>
      <p:sp>
        <p:nvSpPr>
          <p:cNvPr id="148" name="TextBox 147"/>
          <p:cNvSpPr txBox="1"/>
          <p:nvPr/>
        </p:nvSpPr>
        <p:spPr>
          <a:xfrm>
            <a:off x="749808" y="3730752"/>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vLLM·NIXL 계약 변경 대응</a:t>
            </a:r>
          </a:p>
          <a:p>
            <a:pPr algn="l"/>
            <a:r>
              <a:rPr sz="750" b="0">
                <a:solidFill>
                  <a:srgbClr val="404040"/>
                </a:solidFill>
                <a:latin typeface="맑은 고딕"/>
                <a:ea typeface="맑은 고딕"/>
              </a:rPr>
              <a:t>이벤트·메트릭·전송 정보 형식이 바뀜</a:t>
            </a:r>
          </a:p>
        </p:txBody>
      </p:sp>
      <p:sp>
        <p:nvSpPr>
          <p:cNvPr id="149" name="Rectangle 148"/>
          <p:cNvSpPr/>
          <p:nvPr/>
        </p:nvSpPr>
        <p:spPr>
          <a:xfrm>
            <a:off x="2532888" y="3657600"/>
            <a:ext cx="4023360" cy="585216"/>
          </a:xfrm>
          <a:prstGeom prst="rect">
            <a:avLst/>
          </a:prstGeom>
          <a:solidFill>
            <a:srgbClr val="FFFFFF"/>
          </a:solidFill>
          <a:ln w="6350">
            <a:solidFill>
              <a:srgbClr val="BFBFBF"/>
            </a:solidFill>
          </a:ln>
          <a:effectLst/>
        </p:spPr>
        <p:txBody>
          <a:bodyPr rtlCol="0" anchor="ctr"/>
          <a:lstStyle/>
          <a:p>
            <a:pPr algn="ctr"/>
          </a:p>
        </p:txBody>
      </p:sp>
      <p:sp>
        <p:nvSpPr>
          <p:cNvPr id="150" name="Rectangle 149"/>
          <p:cNvSpPr/>
          <p:nvPr/>
        </p:nvSpPr>
        <p:spPr>
          <a:xfrm>
            <a:off x="2606040" y="3721608"/>
            <a:ext cx="749808" cy="182880"/>
          </a:xfrm>
          <a:prstGeom prst="rect">
            <a:avLst/>
          </a:prstGeom>
          <a:solidFill>
            <a:srgbClr val="DAE3F3"/>
          </a:solidFill>
          <a:ln w="12700">
            <a:solidFill>
              <a:srgbClr val="2F5597"/>
            </a:solidFill>
          </a:ln>
          <a:effectLst/>
        </p:spPr>
        <p:txBody>
          <a:bodyPr rtlCol="0" anchor="ctr" wrap="square" lIns="18288" tIns="0" rIns="18288" bIns="0"/>
          <a:lstStyle/>
          <a:p>
            <a:pPr algn="ctr"/>
            <a:r>
              <a:rPr sz="750" b="1">
                <a:solidFill>
                  <a:srgbClr val="000000"/>
                </a:solidFill>
                <a:latin typeface="맑은 고딕"/>
                <a:ea typeface="맑은 고딕"/>
              </a:rPr>
              <a:t>OSS</a:t>
            </a:r>
          </a:p>
        </p:txBody>
      </p:sp>
      <p:sp>
        <p:nvSpPr>
          <p:cNvPr id="151" name="TextBox 150"/>
          <p:cNvSpPr txBox="1"/>
          <p:nvPr/>
        </p:nvSpPr>
        <p:spPr>
          <a:xfrm>
            <a:off x="3429000" y="3712463"/>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OSS가 상태 계층·보조 프로세스를 추종. 우리 plugin·수정분만 재적용·재검증</a:t>
            </a:r>
          </a:p>
        </p:txBody>
      </p:sp>
      <p:sp>
        <p:nvSpPr>
          <p:cNvPr id="152" name="Rectangle 151"/>
          <p:cNvSpPr/>
          <p:nvPr/>
        </p:nvSpPr>
        <p:spPr>
          <a:xfrm>
            <a:off x="6556248" y="3657600"/>
            <a:ext cx="4023360" cy="585216"/>
          </a:xfrm>
          <a:prstGeom prst="rect">
            <a:avLst/>
          </a:prstGeom>
          <a:solidFill>
            <a:srgbClr val="FFFFFF"/>
          </a:solidFill>
          <a:ln w="6350">
            <a:solidFill>
              <a:srgbClr val="BFBFBF"/>
            </a:solidFill>
          </a:ln>
          <a:effectLst/>
        </p:spPr>
        <p:txBody>
          <a:bodyPr rtlCol="0" anchor="ctr"/>
          <a:lstStyle/>
          <a:p>
            <a:pPr algn="ctr"/>
          </a:p>
        </p:txBody>
      </p:sp>
      <p:sp>
        <p:nvSpPr>
          <p:cNvPr id="153" name="Rectangle 152"/>
          <p:cNvSpPr/>
          <p:nvPr/>
        </p:nvSpPr>
        <p:spPr>
          <a:xfrm>
            <a:off x="6629400" y="3721608"/>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직접</a:t>
            </a:r>
          </a:p>
        </p:txBody>
      </p:sp>
      <p:sp>
        <p:nvSpPr>
          <p:cNvPr id="154" name="TextBox 153"/>
          <p:cNvSpPr txBox="1"/>
          <p:nvPr/>
        </p:nvSpPr>
        <p:spPr>
          <a:xfrm>
            <a:off x="7452360" y="3712463"/>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State Plane·Dispatcher를 우리가 직접 추종</a:t>
            </a:r>
          </a:p>
        </p:txBody>
      </p:sp>
      <p:sp>
        <p:nvSpPr>
          <p:cNvPr id="155" name="Rectangle 154"/>
          <p:cNvSpPr/>
          <p:nvPr/>
        </p:nvSpPr>
        <p:spPr>
          <a:xfrm>
            <a:off x="10579608" y="3657600"/>
            <a:ext cx="1417320" cy="585216"/>
          </a:xfrm>
          <a:prstGeom prst="rect">
            <a:avLst/>
          </a:prstGeom>
          <a:solidFill>
            <a:srgbClr val="DAE3F3"/>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1안 유리</a:t>
            </a:r>
          </a:p>
          <a:p>
            <a:pPr algn="ctr"/>
            <a:r>
              <a:rPr sz="750" b="0">
                <a:solidFill>
                  <a:srgbClr val="404040"/>
                </a:solidFill>
                <a:latin typeface="맑은 고딕"/>
                <a:ea typeface="맑은 고딕"/>
              </a:rPr>
              <a:t>흡수 (부분)</a:t>
            </a:r>
          </a:p>
        </p:txBody>
      </p:sp>
      <p:sp>
        <p:nvSpPr>
          <p:cNvPr id="156" name="Rectangle 155"/>
          <p:cNvSpPr/>
          <p:nvPr/>
        </p:nvSpPr>
        <p:spPr>
          <a:xfrm>
            <a:off x="246888" y="4242816"/>
            <a:ext cx="2286000" cy="585216"/>
          </a:xfrm>
          <a:prstGeom prst="rect">
            <a:avLst/>
          </a:prstGeom>
          <a:solidFill>
            <a:srgbClr val="F2F2F2"/>
          </a:solidFill>
          <a:ln w="6350">
            <a:solidFill>
              <a:srgbClr val="BFBFBF"/>
            </a:solidFill>
          </a:ln>
          <a:effectLst/>
        </p:spPr>
        <p:txBody>
          <a:bodyPr rtlCol="0" anchor="ctr"/>
          <a:lstStyle/>
          <a:p>
            <a:pPr algn="ctr"/>
          </a:p>
        </p:txBody>
      </p:sp>
      <p:sp>
        <p:nvSpPr>
          <p:cNvPr id="157" name="TextBox 156"/>
          <p:cNvSpPr txBox="1"/>
          <p:nvPr/>
        </p:nvSpPr>
        <p:spPr>
          <a:xfrm>
            <a:off x="320040" y="4306824"/>
            <a:ext cx="41148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S6</a:t>
            </a:r>
          </a:p>
        </p:txBody>
      </p:sp>
      <p:sp>
        <p:nvSpPr>
          <p:cNvPr id="158" name="TextBox 157"/>
          <p:cNvSpPr txBox="1"/>
          <p:nvPr/>
        </p:nvSpPr>
        <p:spPr>
          <a:xfrm>
            <a:off x="749808" y="4315968"/>
            <a:ext cx="173736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신규 기능 추가</a:t>
            </a:r>
          </a:p>
          <a:p>
            <a:pPr algn="l"/>
            <a:r>
              <a:rPr sz="750" b="0">
                <a:solidFill>
                  <a:srgbClr val="404040"/>
                </a:solidFill>
                <a:latin typeface="맑은 고딕"/>
                <a:ea typeface="맑은 고딕"/>
              </a:rPr>
              <a:t>예: 흐름 제어 고도화, multi-cluster</a:t>
            </a:r>
          </a:p>
        </p:txBody>
      </p:sp>
      <p:sp>
        <p:nvSpPr>
          <p:cNvPr id="159" name="Rectangle 158"/>
          <p:cNvSpPr/>
          <p:nvPr/>
        </p:nvSpPr>
        <p:spPr>
          <a:xfrm>
            <a:off x="2532888" y="4242816"/>
            <a:ext cx="4023360" cy="585216"/>
          </a:xfrm>
          <a:prstGeom prst="rect">
            <a:avLst/>
          </a:prstGeom>
          <a:solidFill>
            <a:srgbClr val="FFFFFF"/>
          </a:solidFill>
          <a:ln w="6350">
            <a:solidFill>
              <a:srgbClr val="BFBFBF"/>
            </a:solidFill>
          </a:ln>
          <a:effectLst/>
        </p:spPr>
        <p:txBody>
          <a:bodyPr rtlCol="0" anchor="ctr"/>
          <a:lstStyle/>
          <a:p>
            <a:pPr algn="ctr"/>
          </a:p>
        </p:txBody>
      </p:sp>
      <p:sp>
        <p:nvSpPr>
          <p:cNvPr id="160" name="Rectangle 159"/>
          <p:cNvSpPr/>
          <p:nvPr/>
        </p:nvSpPr>
        <p:spPr>
          <a:xfrm>
            <a:off x="2606040" y="4306824"/>
            <a:ext cx="749808" cy="182880"/>
          </a:xfrm>
          <a:prstGeom prst="rect">
            <a:avLst/>
          </a:prstGeom>
          <a:solidFill>
            <a:srgbClr val="DAE3F3"/>
          </a:solidFill>
          <a:ln w="12700">
            <a:solidFill>
              <a:srgbClr val="2F5597"/>
            </a:solidFill>
          </a:ln>
          <a:effectLst/>
        </p:spPr>
        <p:txBody>
          <a:bodyPr rtlCol="0" anchor="ctr" wrap="square" lIns="18288" tIns="0" rIns="18288" bIns="0"/>
          <a:lstStyle/>
          <a:p>
            <a:pPr algn="ctr"/>
            <a:r>
              <a:rPr sz="750" b="1">
                <a:solidFill>
                  <a:srgbClr val="000000"/>
                </a:solidFill>
                <a:latin typeface="맑은 고딕"/>
                <a:ea typeface="맑은 고딕"/>
              </a:rPr>
              <a:t>OSS</a:t>
            </a:r>
          </a:p>
        </p:txBody>
      </p:sp>
      <p:sp>
        <p:nvSpPr>
          <p:cNvPr id="161" name="TextBox 160"/>
          <p:cNvSpPr txBox="1"/>
          <p:nvPr/>
        </p:nvSpPr>
        <p:spPr>
          <a:xfrm>
            <a:off x="3429000" y="4297679"/>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OSS가 제공하는 기능을 설정으로 사용</a:t>
            </a:r>
          </a:p>
        </p:txBody>
      </p:sp>
      <p:sp>
        <p:nvSpPr>
          <p:cNvPr id="162" name="Rectangle 161"/>
          <p:cNvSpPr/>
          <p:nvPr/>
        </p:nvSpPr>
        <p:spPr>
          <a:xfrm>
            <a:off x="6556248" y="4242816"/>
            <a:ext cx="4023360" cy="585216"/>
          </a:xfrm>
          <a:prstGeom prst="rect">
            <a:avLst/>
          </a:prstGeom>
          <a:solidFill>
            <a:srgbClr val="FFFFFF"/>
          </a:solidFill>
          <a:ln w="6350">
            <a:solidFill>
              <a:srgbClr val="BFBFBF"/>
            </a:solidFill>
          </a:ln>
          <a:effectLst/>
        </p:spPr>
        <p:txBody>
          <a:bodyPr rtlCol="0" anchor="ctr"/>
          <a:lstStyle/>
          <a:p>
            <a:pPr algn="ctr"/>
          </a:p>
        </p:txBody>
      </p:sp>
      <p:sp>
        <p:nvSpPr>
          <p:cNvPr id="163" name="Rectangle 162"/>
          <p:cNvSpPr/>
          <p:nvPr/>
        </p:nvSpPr>
        <p:spPr>
          <a:xfrm>
            <a:off x="6629400" y="4306824"/>
            <a:ext cx="749808" cy="182880"/>
          </a:xfrm>
          <a:prstGeom prst="rect">
            <a:avLst/>
          </a:prstGeom>
          <a:solidFill>
            <a:srgbClr val="FBE5D6"/>
          </a:solidFill>
          <a:ln w="12700">
            <a:solidFill>
              <a:srgbClr val="C55A11"/>
            </a:solidFill>
          </a:ln>
          <a:effectLst/>
        </p:spPr>
        <p:txBody>
          <a:bodyPr rtlCol="0" anchor="ctr" wrap="square" lIns="18288" tIns="0" rIns="18288" bIns="0"/>
          <a:lstStyle/>
          <a:p>
            <a:pPr algn="ctr"/>
            <a:r>
              <a:rPr sz="750" b="1">
                <a:solidFill>
                  <a:srgbClr val="000000"/>
                </a:solidFill>
                <a:latin typeface="맑은 고딕"/>
                <a:ea typeface="맑은 고딕"/>
              </a:rPr>
              <a:t>직접</a:t>
            </a:r>
          </a:p>
        </p:txBody>
      </p:sp>
      <p:sp>
        <p:nvSpPr>
          <p:cNvPr id="164" name="TextBox 163"/>
          <p:cNvSpPr txBox="1"/>
          <p:nvPr/>
        </p:nvSpPr>
        <p:spPr>
          <a:xfrm>
            <a:off x="7452360" y="4297679"/>
            <a:ext cx="3054096"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직접 구현</a:t>
            </a:r>
          </a:p>
        </p:txBody>
      </p:sp>
      <p:sp>
        <p:nvSpPr>
          <p:cNvPr id="165" name="Rectangle 164"/>
          <p:cNvSpPr/>
          <p:nvPr/>
        </p:nvSpPr>
        <p:spPr>
          <a:xfrm>
            <a:off x="10579608" y="4242816"/>
            <a:ext cx="1417320" cy="585216"/>
          </a:xfrm>
          <a:prstGeom prst="rect">
            <a:avLst/>
          </a:prstGeom>
          <a:solidFill>
            <a:srgbClr val="DAE3F3"/>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1안 유리</a:t>
            </a:r>
          </a:p>
          <a:p>
            <a:pPr algn="ctr"/>
            <a:r>
              <a:rPr sz="750" b="0">
                <a:solidFill>
                  <a:srgbClr val="404040"/>
                </a:solidFill>
                <a:latin typeface="맑은 고딕"/>
                <a:ea typeface="맑은 고딕"/>
              </a:rPr>
              <a:t>흡수</a:t>
            </a:r>
          </a:p>
        </p:txBody>
      </p:sp>
      <p:sp>
        <p:nvSpPr>
          <p:cNvPr id="166" name="Rectangle 165"/>
          <p:cNvSpPr/>
          <p:nvPr/>
        </p:nvSpPr>
        <p:spPr>
          <a:xfrm>
            <a:off x="246888" y="4937759"/>
            <a:ext cx="3794760" cy="502920"/>
          </a:xfrm>
          <a:prstGeom prst="rect">
            <a:avLst/>
          </a:prstGeom>
          <a:solidFill>
            <a:srgbClr val="DAE3F3"/>
          </a:solidFill>
          <a:ln w="15875">
            <a:solidFill>
              <a:srgbClr val="2F5597"/>
            </a:solidFill>
          </a:ln>
          <a:effectLst/>
        </p:spPr>
        <p:txBody>
          <a:bodyPr rtlCol="0" anchor="ctr" wrap="square" lIns="36576" tIns="18288" rIns="36576" bIns="18288"/>
          <a:lstStyle/>
          <a:p>
            <a:pPr algn="ctr"/>
            <a:r>
              <a:rPr sz="1000" b="1">
                <a:solidFill>
                  <a:srgbClr val="2F5597"/>
                </a:solidFill>
                <a:latin typeface="맑은 고딕"/>
                <a:ea typeface="맑은 고딕"/>
              </a:rPr>
              <a:t>1안 우위: S1 · S5 · S6</a:t>
            </a:r>
          </a:p>
          <a:p>
            <a:pPr algn="ctr"/>
            <a:r>
              <a:rPr sz="850" b="0">
                <a:solidFill>
                  <a:srgbClr val="000000"/>
                </a:solidFill>
                <a:latin typeface="맑은 고딕"/>
                <a:ea typeface="맑은 고딕"/>
              </a:rPr>
              <a:t>환경 변화·신기능을 OSS가 흡수</a:t>
            </a:r>
          </a:p>
        </p:txBody>
      </p:sp>
      <p:sp>
        <p:nvSpPr>
          <p:cNvPr id="167" name="Rectangle 166"/>
          <p:cNvSpPr/>
          <p:nvPr/>
        </p:nvSpPr>
        <p:spPr>
          <a:xfrm>
            <a:off x="4224527" y="4937759"/>
            <a:ext cx="3794760" cy="502920"/>
          </a:xfrm>
          <a:prstGeom prst="rect">
            <a:avLst/>
          </a:prstGeom>
          <a:solidFill>
            <a:srgbClr val="FBE5D6"/>
          </a:solidFill>
          <a:ln w="15875">
            <a:solidFill>
              <a:srgbClr val="C55A11"/>
            </a:solidFill>
          </a:ln>
          <a:effectLst/>
        </p:spPr>
        <p:txBody>
          <a:bodyPr rtlCol="0" anchor="ctr" wrap="square" lIns="36576" tIns="18288" rIns="36576" bIns="18288"/>
          <a:lstStyle/>
          <a:p>
            <a:pPr algn="ctr"/>
            <a:r>
              <a:rPr sz="1000" b="1">
                <a:solidFill>
                  <a:srgbClr val="C55A11"/>
                </a:solidFill>
                <a:latin typeface="맑은 고딕"/>
                <a:ea typeface="맑은 고딕"/>
              </a:rPr>
              <a:t>2안 우위: S2 · S3 · S4</a:t>
            </a:r>
          </a:p>
          <a:p>
            <a:pPr algn="ctr"/>
            <a:r>
              <a:rPr sz="850" b="0">
                <a:solidFill>
                  <a:srgbClr val="000000"/>
                </a:solidFill>
                <a:latin typeface="맑은 고딕"/>
                <a:ea typeface="맑은 고딕"/>
              </a:rPr>
              <a:t>우리 로직(비용 함수·P/D 정책·노드 지시)을 통제</a:t>
            </a:r>
          </a:p>
        </p:txBody>
      </p:sp>
      <p:sp>
        <p:nvSpPr>
          <p:cNvPr id="168" name="Rectangle 167"/>
          <p:cNvSpPr/>
          <p:nvPr/>
        </p:nvSpPr>
        <p:spPr>
          <a:xfrm>
            <a:off x="8202167" y="4937759"/>
            <a:ext cx="3794760" cy="502920"/>
          </a:xfrm>
          <a:prstGeom prst="rect">
            <a:avLst/>
          </a:prstGeom>
          <a:solidFill>
            <a:srgbClr val="FFFBEA"/>
          </a:solidFill>
          <a:ln w="15875">
            <a:solidFill>
              <a:srgbClr val="BF9000"/>
            </a:solidFill>
          </a:ln>
          <a:effectLst/>
        </p:spPr>
        <p:txBody>
          <a:bodyPr rtlCol="0" anchor="ctr" wrap="square" lIns="36576" tIns="18288" rIns="36576" bIns="18288"/>
          <a:lstStyle/>
          <a:p>
            <a:pPr algn="ctr"/>
            <a:r>
              <a:rPr sz="1000" b="1">
                <a:solidFill>
                  <a:srgbClr val="C00000"/>
                </a:solidFill>
                <a:latin typeface="맑은 고딕"/>
                <a:ea typeface="맑은 고딕"/>
              </a:rPr>
              <a:t>3 대 3 → Q3 변경·유지 용이성 동등</a:t>
            </a:r>
          </a:p>
          <a:p>
            <a:pPr algn="ctr"/>
            <a:r>
              <a:rPr sz="850" b="0">
                <a:solidFill>
                  <a:srgbClr val="000000"/>
                </a:solidFill>
                <a:latin typeface="맑은 고딕"/>
                <a:ea typeface="맑은 고딕"/>
              </a:rPr>
              <a:t>1안 ●●○  /  2안 ●●○  (성격만 다름)</a:t>
            </a:r>
          </a:p>
        </p:txBody>
      </p:sp>
      <p:sp>
        <p:nvSpPr>
          <p:cNvPr id="169" name="Rectangle 168"/>
          <p:cNvSpPr/>
          <p:nvPr/>
        </p:nvSpPr>
        <p:spPr>
          <a:xfrm>
            <a:off x="246888" y="5559551"/>
            <a:ext cx="11750040" cy="566928"/>
          </a:xfrm>
          <a:prstGeom prst="rect">
            <a:avLst/>
          </a:prstGeom>
          <a:solidFill>
            <a:srgbClr val="FFFFFF"/>
          </a:solidFill>
          <a:ln w="9525">
            <a:solidFill>
              <a:srgbClr val="7F7F7F"/>
            </a:solidFill>
          </a:ln>
          <a:effectLst/>
        </p:spPr>
        <p:txBody>
          <a:bodyPr rtlCol="0" anchor="ctr"/>
          <a:lstStyle/>
          <a:p>
            <a:pPr algn="ctr"/>
          </a:p>
        </p:txBody>
      </p:sp>
      <p:sp>
        <p:nvSpPr>
          <p:cNvPr id="170" name="TextBox 169"/>
          <p:cNvSpPr txBox="1"/>
          <p:nvPr/>
        </p:nvSpPr>
        <p:spPr>
          <a:xfrm>
            <a:off x="338328" y="5605271"/>
            <a:ext cx="11567160" cy="50292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S4의 범위  </a:t>
            </a:r>
            <a:r>
              <a:rPr sz="850" b="0">
                <a:solidFill>
                  <a:srgbClr val="000000"/>
                </a:solidFill>
                <a:latin typeface="맑은 고딕"/>
                <a:ea typeface="맑은 고딕"/>
              </a:rPr>
              <a:t>비교는 오케스트레이션 측 변경만 센다. 새 지시 키를 vLLM(엔진)이 이해·실행하게 하는 변경은 어느 안을 택해도 똑같이 필요한 공통 선결(C5 접점 계약)이라 후보를 가르지 않는다.</a:t>
            </a:r>
          </a:p>
          <a:p>
            <a:pPr algn="l"/>
            <a:r>
              <a:rPr sz="850" b="1">
                <a:solidFill>
                  <a:srgbClr val="C00000"/>
                </a:solidFill>
                <a:latin typeface="맑은 고딕"/>
                <a:ea typeface="맑은 고딕"/>
              </a:rPr>
              <a:t>유지 부담은 Q3 안에  </a:t>
            </a:r>
            <a:r>
              <a:rPr sz="850" b="0">
                <a:solidFill>
                  <a:srgbClr val="000000"/>
                </a:solidFill>
                <a:latin typeface="맑은 고딕"/>
                <a:ea typeface="맑은 고딕"/>
              </a:rPr>
              <a:t>업스트림 추종(S5)과 신기능 확보(S6)는 변경·유지 용이성의 일부라 Q3에 포함한다. 구현 부담·증거 수준은 QA 밖 제약·리스크로 따로 둔다.</a:t>
            </a:r>
          </a:p>
        </p:txBody>
      </p:sp>
      <p:sp>
        <p:nvSpPr>
          <p:cNvPr id="171" name="TextBox 170"/>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가설 [C] (일부 [A]: P1~P4 plugin은 합성 백엔드로 끝단 실행). 시나리오 가중치는 정하지 않았다. 용어: plugin = 기존 코드를 안 고치고 끼우는 확장 모듈 · patch = 기존 모듈 수정</a:t>
            </a:r>
          </a:p>
        </p:txBody>
      </p:sp>
    </p:spTree>
    <p:extLst>
      <p:ext uri="{BB962C8B-B14F-4D97-AF65-F5344CB8AC3E}">
        <p14:creationId xmlns:p14="http://schemas.microsoft.com/office/powerpoint/2010/main" val="3392401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 설계 안 Tradeoff - 1안 vs 2안</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설계 결정(D1~D3)이 QA와 제약·리스크를 어떻게 맞바꾸는가</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TextBox 101"/>
          <p:cNvSpPr txBox="1"/>
          <p:nvPr/>
        </p:nvSpPr>
        <p:spPr>
          <a:xfrm>
            <a:off x="246888" y="1042415"/>
            <a:ext cx="6035040" cy="201168"/>
          </a:xfrm>
          <a:prstGeom prst="rect">
            <a:avLst/>
          </a:prstGeom>
          <a:noFill/>
        </p:spPr>
        <p:txBody>
          <a:bodyPr wrap="square" anchor="t" lIns="0" tIns="0" rIns="0" bIns="0">
            <a:spAutoFit/>
          </a:bodyPr>
          <a:lstStyle/>
          <a:p>
            <a:pPr algn="l"/>
            <a:r>
              <a:rPr sz="1050" b="1">
                <a:solidFill>
                  <a:srgbClr val="000000"/>
                </a:solidFill>
                <a:latin typeface="맑은 고딕"/>
                <a:ea typeface="맑은 고딕"/>
              </a:rPr>
              <a:t>① 설계 결정마다 한 쪽을 얻으면 다른 쪽을 잃는다</a:t>
            </a:r>
          </a:p>
        </p:txBody>
      </p:sp>
      <p:sp>
        <p:nvSpPr>
          <p:cNvPr id="103" name="Rectangle 102"/>
          <p:cNvSpPr/>
          <p:nvPr/>
        </p:nvSpPr>
        <p:spPr>
          <a:xfrm>
            <a:off x="246888" y="1280160"/>
            <a:ext cx="91440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설계 결정</a:t>
            </a:r>
          </a:p>
        </p:txBody>
      </p:sp>
      <p:sp>
        <p:nvSpPr>
          <p:cNvPr id="104" name="Rectangle 103"/>
          <p:cNvSpPr/>
          <p:nvPr/>
        </p:nvSpPr>
        <p:spPr>
          <a:xfrm>
            <a:off x="1161288" y="1280160"/>
            <a:ext cx="256032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1안 선택 → 얻는 것 / 잃는 것</a:t>
            </a:r>
          </a:p>
        </p:txBody>
      </p:sp>
      <p:sp>
        <p:nvSpPr>
          <p:cNvPr id="105" name="Rectangle 104"/>
          <p:cNvSpPr/>
          <p:nvPr/>
        </p:nvSpPr>
        <p:spPr>
          <a:xfrm>
            <a:off x="3721608" y="1280160"/>
            <a:ext cx="256032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2안 선택 → 얻는 것 / 잃는 것</a:t>
            </a:r>
          </a:p>
        </p:txBody>
      </p:sp>
      <p:sp>
        <p:nvSpPr>
          <p:cNvPr id="106" name="Rectangle 105"/>
          <p:cNvSpPr/>
          <p:nvPr/>
        </p:nvSpPr>
        <p:spPr>
          <a:xfrm>
            <a:off x="246888" y="1517904"/>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D1</a:t>
            </a:r>
          </a:p>
          <a:p>
            <a:pPr algn="ctr"/>
            <a:r>
              <a:rPr sz="800" b="0">
                <a:solidFill>
                  <a:srgbClr val="404040"/>
                </a:solidFill>
                <a:latin typeface="맑은 고딕"/>
                <a:ea typeface="맑은 고딕"/>
              </a:rPr>
              <a:t>결정 위치</a:t>
            </a:r>
          </a:p>
        </p:txBody>
      </p:sp>
      <p:sp>
        <p:nvSpPr>
          <p:cNvPr id="107" name="Rectangle 106"/>
          <p:cNvSpPr/>
          <p:nvPr/>
        </p:nvSpPr>
        <p:spPr>
          <a:xfrm>
            <a:off x="1161288" y="1517904"/>
            <a:ext cx="2560320" cy="1051560"/>
          </a:xfrm>
          <a:prstGeom prst="rect">
            <a:avLst/>
          </a:prstGeom>
          <a:solidFill>
            <a:srgbClr val="FFFFFF"/>
          </a:solidFill>
          <a:ln w="6350">
            <a:solidFill>
              <a:srgbClr val="BFBFBF"/>
            </a:solidFill>
          </a:ln>
          <a:effectLst/>
        </p:spPr>
        <p:txBody>
          <a:bodyPr rtlCol="0" anchor="ctr"/>
          <a:lstStyle/>
          <a:p>
            <a:pPr algn="ctr"/>
          </a:p>
        </p:txBody>
      </p:sp>
      <p:sp>
        <p:nvSpPr>
          <p:cNvPr id="108" name="Rectangle 107"/>
          <p:cNvSpPr/>
          <p:nvPr/>
        </p:nvSpPr>
        <p:spPr>
          <a:xfrm>
            <a:off x="1207008" y="1554480"/>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별도 프로세스(프록시 → Router)</a:t>
            </a:r>
          </a:p>
        </p:txBody>
      </p:sp>
      <p:sp>
        <p:nvSpPr>
          <p:cNvPr id="109" name="TextBox 108"/>
          <p:cNvSpPr txBox="1"/>
          <p:nvPr/>
        </p:nvSpPr>
        <p:spPr>
          <a:xfrm>
            <a:off x="1225296" y="179222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Q4 </a:t>
            </a:r>
            <a:r>
              <a:rPr sz="850" b="0">
                <a:solidFill>
                  <a:srgbClr val="000000"/>
                </a:solidFill>
                <a:latin typeface="맑은 고딕"/>
                <a:ea typeface="맑은 고딕"/>
              </a:rPr>
              <a:t>결정기를 독립 복제·격리</a:t>
            </a:r>
          </a:p>
        </p:txBody>
      </p:sp>
      <p:sp>
        <p:nvSpPr>
          <p:cNvPr id="110" name="TextBox 109"/>
          <p:cNvSpPr txBox="1"/>
          <p:nvPr/>
        </p:nvSpPr>
        <p:spPr>
          <a:xfrm>
            <a:off x="1225296" y="217627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Q2 </a:t>
            </a:r>
            <a:r>
              <a:rPr sz="850" b="0">
                <a:solidFill>
                  <a:srgbClr val="000000"/>
                </a:solidFill>
                <a:latin typeface="맑은 고딕"/>
                <a:ea typeface="맑은 고딕"/>
              </a:rPr>
              <a:t>원격 호출 1회 + 보조 프로세스 경유</a:t>
            </a:r>
          </a:p>
        </p:txBody>
      </p:sp>
      <p:sp>
        <p:nvSpPr>
          <p:cNvPr id="111" name="Rectangle 110"/>
          <p:cNvSpPr/>
          <p:nvPr/>
        </p:nvSpPr>
        <p:spPr>
          <a:xfrm>
            <a:off x="3721608" y="1517904"/>
            <a:ext cx="2560320" cy="1051560"/>
          </a:xfrm>
          <a:prstGeom prst="rect">
            <a:avLst/>
          </a:prstGeom>
          <a:solidFill>
            <a:srgbClr val="FFFFFF"/>
          </a:solidFill>
          <a:ln w="6350">
            <a:solidFill>
              <a:srgbClr val="BFBFBF"/>
            </a:solidFill>
          </a:ln>
          <a:effectLst/>
        </p:spPr>
        <p:txBody>
          <a:bodyPr rtlCol="0" anchor="ctr"/>
          <a:lstStyle/>
          <a:p>
            <a:pPr algn="ctr"/>
          </a:p>
        </p:txBody>
      </p:sp>
      <p:sp>
        <p:nvSpPr>
          <p:cNvPr id="112" name="Rectangle 111"/>
          <p:cNvSpPr/>
          <p:nvPr/>
        </p:nvSpPr>
        <p:spPr>
          <a:xfrm>
            <a:off x="3767328" y="1554480"/>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프로세스 내부</a:t>
            </a:r>
          </a:p>
        </p:txBody>
      </p:sp>
      <p:sp>
        <p:nvSpPr>
          <p:cNvPr id="113" name="TextBox 112"/>
          <p:cNvSpPr txBox="1"/>
          <p:nvPr/>
        </p:nvSpPr>
        <p:spPr>
          <a:xfrm>
            <a:off x="3785616" y="179222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Q2 </a:t>
            </a:r>
            <a:r>
              <a:rPr sz="850" b="0">
                <a:solidFill>
                  <a:srgbClr val="000000"/>
                </a:solidFill>
                <a:latin typeface="맑은 고딕"/>
                <a:ea typeface="맑은 고딕"/>
              </a:rPr>
              <a:t>hop 제거 (E1 측정 전 가설)</a:t>
            </a:r>
          </a:p>
        </p:txBody>
      </p:sp>
      <p:sp>
        <p:nvSpPr>
          <p:cNvPr id="114" name="TextBox 113"/>
          <p:cNvSpPr txBox="1"/>
          <p:nvPr/>
        </p:nvSpPr>
        <p:spPr>
          <a:xfrm>
            <a:off x="3785616" y="217627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Q4 </a:t>
            </a:r>
            <a:r>
              <a:rPr sz="850" b="0">
                <a:solidFill>
                  <a:srgbClr val="000000"/>
                </a:solidFill>
                <a:latin typeface="맑은 고딕"/>
                <a:ea typeface="맑은 고딕"/>
              </a:rPr>
              <a:t>결정 부하가 Router 스케일에 묶임</a:t>
            </a:r>
          </a:p>
        </p:txBody>
      </p:sp>
      <p:sp>
        <p:nvSpPr>
          <p:cNvPr id="115" name="Rectangle 114"/>
          <p:cNvSpPr/>
          <p:nvPr/>
        </p:nvSpPr>
        <p:spPr>
          <a:xfrm>
            <a:off x="246888" y="2569463"/>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D2</a:t>
            </a:r>
          </a:p>
          <a:p>
            <a:pPr algn="ctr"/>
            <a:r>
              <a:rPr sz="800" b="0">
                <a:solidFill>
                  <a:srgbClr val="404040"/>
                </a:solidFill>
                <a:latin typeface="맑은 고딕"/>
                <a:ea typeface="맑은 고딕"/>
              </a:rPr>
              <a:t>P/D 조율</a:t>
            </a:r>
          </a:p>
        </p:txBody>
      </p:sp>
      <p:sp>
        <p:nvSpPr>
          <p:cNvPr id="116" name="Rectangle 115"/>
          <p:cNvSpPr/>
          <p:nvPr/>
        </p:nvSpPr>
        <p:spPr>
          <a:xfrm>
            <a:off x="1161288" y="2569463"/>
            <a:ext cx="2560320" cy="1051560"/>
          </a:xfrm>
          <a:prstGeom prst="rect">
            <a:avLst/>
          </a:prstGeom>
          <a:solidFill>
            <a:srgbClr val="FFFFFF"/>
          </a:solidFill>
          <a:ln w="6350">
            <a:solidFill>
              <a:srgbClr val="BFBFBF"/>
            </a:solidFill>
          </a:ln>
          <a:effectLst/>
        </p:spPr>
        <p:txBody>
          <a:bodyPr rtlCol="0" anchor="ctr"/>
          <a:lstStyle/>
          <a:p>
            <a:pPr algn="ctr"/>
          </a:p>
        </p:txBody>
      </p:sp>
      <p:sp>
        <p:nvSpPr>
          <p:cNvPr id="117" name="Rectangle 116"/>
          <p:cNvSpPr/>
          <p:nvPr/>
        </p:nvSpPr>
        <p:spPr>
          <a:xfrm>
            <a:off x="1207008" y="2606039"/>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분산: decode 옆 보조 프로세스</a:t>
            </a:r>
          </a:p>
        </p:txBody>
      </p:sp>
      <p:sp>
        <p:nvSpPr>
          <p:cNvPr id="118" name="TextBox 117"/>
          <p:cNvSpPr txBox="1"/>
          <p:nvPr/>
        </p:nvSpPr>
        <p:spPr>
          <a:xfrm>
            <a:off x="1225296" y="2843783"/>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Q4 </a:t>
            </a:r>
            <a:r>
              <a:rPr sz="850" b="0">
                <a:solidFill>
                  <a:srgbClr val="000000"/>
                </a:solidFill>
                <a:latin typeface="맑은 고딕"/>
                <a:ea typeface="맑은 고딕"/>
              </a:rPr>
              <a:t>Router가 P/D 데이터 경로 밖 → 병목·SPOF 회피</a:t>
            </a:r>
          </a:p>
        </p:txBody>
      </p:sp>
      <p:sp>
        <p:nvSpPr>
          <p:cNvPr id="119" name="TextBox 118"/>
          <p:cNvSpPr txBox="1"/>
          <p:nvPr/>
        </p:nvSpPr>
        <p:spPr>
          <a:xfrm>
            <a:off x="1225296" y="3227831"/>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Q1·Q3 </a:t>
            </a:r>
            <a:r>
              <a:rPr sz="850" b="0">
                <a:solidFill>
                  <a:srgbClr val="000000"/>
                </a:solidFill>
                <a:latin typeface="맑은 고딕"/>
                <a:ea typeface="맑은 고딕"/>
              </a:rPr>
              <a:t>P/D 경로 노드 지시(P5)는 보조 프로세스 수정</a:t>
            </a:r>
          </a:p>
        </p:txBody>
      </p:sp>
      <p:sp>
        <p:nvSpPr>
          <p:cNvPr id="120" name="Rectangle 119"/>
          <p:cNvSpPr/>
          <p:nvPr/>
        </p:nvSpPr>
        <p:spPr>
          <a:xfrm>
            <a:off x="3721608" y="2569463"/>
            <a:ext cx="2560320" cy="1051560"/>
          </a:xfrm>
          <a:prstGeom prst="rect">
            <a:avLst/>
          </a:prstGeom>
          <a:solidFill>
            <a:srgbClr val="FFFFFF"/>
          </a:solidFill>
          <a:ln w="6350">
            <a:solidFill>
              <a:srgbClr val="BFBFBF"/>
            </a:solidFill>
          </a:ln>
          <a:effectLst/>
        </p:spPr>
        <p:txBody>
          <a:bodyPr rtlCol="0" anchor="ctr"/>
          <a:lstStyle/>
          <a:p>
            <a:pPr algn="ctr"/>
          </a:p>
        </p:txBody>
      </p:sp>
      <p:sp>
        <p:nvSpPr>
          <p:cNvPr id="121" name="Rectangle 120"/>
          <p:cNvSpPr/>
          <p:nvPr/>
        </p:nvSpPr>
        <p:spPr>
          <a:xfrm>
            <a:off x="3767328" y="2606039"/>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중앙: Router 내부</a:t>
            </a:r>
          </a:p>
        </p:txBody>
      </p:sp>
      <p:sp>
        <p:nvSpPr>
          <p:cNvPr id="122" name="TextBox 121"/>
          <p:cNvSpPr txBox="1"/>
          <p:nvPr/>
        </p:nvSpPr>
        <p:spPr>
          <a:xfrm>
            <a:off x="3785616" y="2843783"/>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Q1·Q3 </a:t>
            </a:r>
            <a:r>
              <a:rPr sz="850" b="0">
                <a:solidFill>
                  <a:srgbClr val="000000"/>
                </a:solidFill>
                <a:latin typeface="맑은 고딕"/>
                <a:ea typeface="맑은 고딕"/>
              </a:rPr>
              <a:t>전역 시야, P5를 수정 없이 전달, 결정 정책 자유</a:t>
            </a:r>
          </a:p>
        </p:txBody>
      </p:sp>
      <p:sp>
        <p:nvSpPr>
          <p:cNvPr id="123" name="TextBox 122"/>
          <p:cNvSpPr txBox="1"/>
          <p:nvPr/>
        </p:nvSpPr>
        <p:spPr>
          <a:xfrm>
            <a:off x="3785616" y="3227831"/>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Q4 </a:t>
            </a:r>
            <a:r>
              <a:rPr sz="850" b="0">
                <a:solidFill>
                  <a:srgbClr val="000000"/>
                </a:solidFill>
                <a:latin typeface="맑은 고딕"/>
                <a:ea typeface="맑은 고딕"/>
              </a:rPr>
              <a:t>Router가 경로 안 → 레플리카·상태 동기화 직접 구축</a:t>
            </a:r>
          </a:p>
        </p:txBody>
      </p:sp>
      <p:sp>
        <p:nvSpPr>
          <p:cNvPr id="124" name="Rectangle 123"/>
          <p:cNvSpPr/>
          <p:nvPr/>
        </p:nvSpPr>
        <p:spPr>
          <a:xfrm>
            <a:off x="246888" y="3621023"/>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D3</a:t>
            </a:r>
          </a:p>
          <a:p>
            <a:pPr algn="ctr"/>
            <a:r>
              <a:rPr sz="800" b="0">
                <a:solidFill>
                  <a:srgbClr val="404040"/>
                </a:solidFill>
                <a:latin typeface="맑은 고딕"/>
                <a:ea typeface="맑은 고딕"/>
              </a:rPr>
              <a:t>기능 소유</a:t>
            </a:r>
          </a:p>
        </p:txBody>
      </p:sp>
      <p:sp>
        <p:nvSpPr>
          <p:cNvPr id="125" name="Rectangle 124"/>
          <p:cNvSpPr/>
          <p:nvPr/>
        </p:nvSpPr>
        <p:spPr>
          <a:xfrm>
            <a:off x="1161288" y="3621023"/>
            <a:ext cx="2560320" cy="1051560"/>
          </a:xfrm>
          <a:prstGeom prst="rect">
            <a:avLst/>
          </a:prstGeom>
          <a:solidFill>
            <a:srgbClr val="FFFFFF"/>
          </a:solidFill>
          <a:ln w="6350">
            <a:solidFill>
              <a:srgbClr val="BFBFBF"/>
            </a:solidFill>
          </a:ln>
          <a:effectLst/>
        </p:spPr>
        <p:txBody>
          <a:bodyPr rtlCol="0" anchor="ctr"/>
          <a:lstStyle/>
          <a:p>
            <a:pPr algn="ctr"/>
          </a:p>
        </p:txBody>
      </p:sp>
      <p:sp>
        <p:nvSpPr>
          <p:cNvPr id="126" name="Rectangle 125"/>
          <p:cNvSpPr/>
          <p:nvPr/>
        </p:nvSpPr>
        <p:spPr>
          <a:xfrm>
            <a:off x="1207008" y="3657599"/>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OSS 재사용 + 확장</a:t>
            </a:r>
          </a:p>
        </p:txBody>
      </p:sp>
      <p:sp>
        <p:nvSpPr>
          <p:cNvPr id="127" name="TextBox 126"/>
          <p:cNvSpPr txBox="1"/>
          <p:nvPr/>
        </p:nvSpPr>
        <p:spPr>
          <a:xfrm>
            <a:off x="1225296" y="389534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Q3·제약 </a:t>
            </a:r>
            <a:r>
              <a:rPr sz="850" b="0">
                <a:solidFill>
                  <a:srgbClr val="000000"/>
                </a:solidFill>
                <a:latin typeface="맑은 고딕"/>
                <a:ea typeface="맑은 고딕"/>
              </a:rPr>
              <a:t>S1·S5·S6: 설정만, 계약·신기능은 OSS가 흡수. 구현 부담↓, 실행 확인 [A]</a:t>
            </a:r>
          </a:p>
        </p:txBody>
      </p:sp>
      <p:sp>
        <p:nvSpPr>
          <p:cNvPr id="128" name="TextBox 127"/>
          <p:cNvSpPr txBox="1"/>
          <p:nvPr/>
        </p:nvSpPr>
        <p:spPr>
          <a:xfrm>
            <a:off x="1225296" y="427939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Q3 </a:t>
            </a:r>
            <a:r>
              <a:rPr sz="850" b="0">
                <a:solidFill>
                  <a:srgbClr val="000000"/>
                </a:solidFill>
                <a:latin typeface="맑은 고딕"/>
                <a:ea typeface="맑은 고딕"/>
              </a:rPr>
              <a:t>S2~S4: wrapper가 OSS 동작에 의존, 보조 프로세스 수정, 자체 이미지</a:t>
            </a:r>
          </a:p>
        </p:txBody>
      </p:sp>
      <p:sp>
        <p:nvSpPr>
          <p:cNvPr id="129" name="Rectangle 128"/>
          <p:cNvSpPr/>
          <p:nvPr/>
        </p:nvSpPr>
        <p:spPr>
          <a:xfrm>
            <a:off x="3721608" y="3621023"/>
            <a:ext cx="2560320" cy="1051560"/>
          </a:xfrm>
          <a:prstGeom prst="rect">
            <a:avLst/>
          </a:prstGeom>
          <a:solidFill>
            <a:srgbClr val="FFFFFF"/>
          </a:solidFill>
          <a:ln w="6350">
            <a:solidFill>
              <a:srgbClr val="BFBFBF"/>
            </a:solidFill>
          </a:ln>
          <a:effectLst/>
        </p:spPr>
        <p:txBody>
          <a:bodyPr rtlCol="0" anchor="ctr"/>
          <a:lstStyle/>
          <a:p>
            <a:pPr algn="ctr"/>
          </a:p>
        </p:txBody>
      </p:sp>
      <p:sp>
        <p:nvSpPr>
          <p:cNvPr id="130" name="Rectangle 129"/>
          <p:cNvSpPr/>
          <p:nvPr/>
        </p:nvSpPr>
        <p:spPr>
          <a:xfrm>
            <a:off x="3767328" y="3657599"/>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직접 소유</a:t>
            </a:r>
          </a:p>
        </p:txBody>
      </p:sp>
      <p:sp>
        <p:nvSpPr>
          <p:cNvPr id="131" name="TextBox 130"/>
          <p:cNvSpPr txBox="1"/>
          <p:nvPr/>
        </p:nvSpPr>
        <p:spPr>
          <a:xfrm>
            <a:off x="3785616" y="389534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Q3 </a:t>
            </a:r>
            <a:r>
              <a:rPr sz="850" b="0">
                <a:solidFill>
                  <a:srgbClr val="000000"/>
                </a:solidFill>
                <a:latin typeface="맑은 고딕"/>
                <a:ea typeface="맑은 고딕"/>
              </a:rPr>
              <a:t>S2~S4: 비용 함수·P/D 정책·노드 지시를 한 코드베이스에서 통제</a:t>
            </a:r>
          </a:p>
        </p:txBody>
      </p:sp>
      <p:sp>
        <p:nvSpPr>
          <p:cNvPr id="132" name="TextBox 131"/>
          <p:cNvSpPr txBox="1"/>
          <p:nvPr/>
        </p:nvSpPr>
        <p:spPr>
          <a:xfrm>
            <a:off x="3785616" y="427939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Q3·제약 </a:t>
            </a:r>
            <a:r>
              <a:rPr sz="850" b="0">
                <a:solidFill>
                  <a:srgbClr val="000000"/>
                </a:solidFill>
                <a:latin typeface="맑은 고딕"/>
                <a:ea typeface="맑은 고딕"/>
              </a:rPr>
              <a:t>S1·S5·S6 직접 부담, 6/6 직접 구현, 설계안뿐</a:t>
            </a:r>
          </a:p>
        </p:txBody>
      </p:sp>
      <p:sp>
        <p:nvSpPr>
          <p:cNvPr id="133" name="TextBox 132"/>
          <p:cNvSpPr txBox="1"/>
          <p:nvPr/>
        </p:nvSpPr>
        <p:spPr>
          <a:xfrm>
            <a:off x="246888" y="4709159"/>
            <a:ext cx="6035040" cy="274320"/>
          </a:xfrm>
          <a:prstGeom prst="rect">
            <a:avLst/>
          </a:prstGeom>
          <a:noFill/>
        </p:spPr>
        <p:txBody>
          <a:bodyPr wrap="square" anchor="t" lIns="0" tIns="0" rIns="0" bIns="0">
            <a:spAutoFit/>
          </a:bodyPr>
          <a:lstStyle/>
          <a:p>
            <a:pPr algn="l"/>
            <a:r>
              <a:rPr sz="750" b="1">
                <a:solidFill>
                  <a:srgbClr val="000000"/>
                </a:solidFill>
                <a:latin typeface="맑은 고딕"/>
                <a:ea typeface="맑은 고딕"/>
              </a:rPr>
              <a:t>Q1</a:t>
            </a:r>
            <a:r>
              <a:rPr sz="750" b="0">
                <a:solidFill>
                  <a:srgbClr val="404040"/>
                </a:solidFill>
                <a:latin typeface="맑은 고딕"/>
                <a:ea typeface="맑은 고딕"/>
              </a:rPr>
              <a:t> 처리량  </a:t>
            </a:r>
            <a:r>
              <a:rPr sz="750" b="1">
                <a:solidFill>
                  <a:srgbClr val="000000"/>
                </a:solidFill>
                <a:latin typeface="맑은 고딕"/>
                <a:ea typeface="맑은 고딕"/>
              </a:rPr>
              <a:t>Q2</a:t>
            </a:r>
            <a:r>
              <a:rPr sz="750" b="0">
                <a:solidFill>
                  <a:srgbClr val="404040"/>
                </a:solidFill>
                <a:latin typeface="맑은 고딕"/>
                <a:ea typeface="맑은 고딕"/>
              </a:rPr>
              <a:t> 지연  </a:t>
            </a:r>
            <a:r>
              <a:rPr sz="750" b="1">
                <a:solidFill>
                  <a:srgbClr val="000000"/>
                </a:solidFill>
                <a:latin typeface="맑은 고딕"/>
                <a:ea typeface="맑은 고딕"/>
              </a:rPr>
              <a:t>Q3</a:t>
            </a:r>
            <a:r>
              <a:rPr sz="750" b="0">
                <a:solidFill>
                  <a:srgbClr val="404040"/>
                </a:solidFill>
                <a:latin typeface="맑은 고딕"/>
                <a:ea typeface="맑은 고딕"/>
              </a:rPr>
              <a:t> 변경 용이성(S1 새 tier · S2 비용 함수 · S3 P/D 정책 · S4 노드 지시 · S5 vLLM/NIXL 변경 · S6 신규 기능)  </a:t>
            </a:r>
            <a:r>
              <a:rPr sz="750" b="1">
                <a:solidFill>
                  <a:srgbClr val="000000"/>
                </a:solidFill>
                <a:latin typeface="맑은 고딕"/>
                <a:ea typeface="맑은 고딕"/>
              </a:rPr>
              <a:t>Q4</a:t>
            </a:r>
            <a:r>
              <a:rPr sz="750" b="0">
                <a:solidFill>
                  <a:srgbClr val="404040"/>
                </a:solidFill>
                <a:latin typeface="맑은 고딕"/>
                <a:ea typeface="맑은 고딕"/>
              </a:rPr>
              <a:t> 확장성</a:t>
            </a:r>
          </a:p>
        </p:txBody>
      </p:sp>
      <p:sp>
        <p:nvSpPr>
          <p:cNvPr id="134" name="TextBox 133"/>
          <p:cNvSpPr txBox="1"/>
          <p:nvPr/>
        </p:nvSpPr>
        <p:spPr>
          <a:xfrm>
            <a:off x="6492240" y="1042415"/>
            <a:ext cx="5504688" cy="201168"/>
          </a:xfrm>
          <a:prstGeom prst="rect">
            <a:avLst/>
          </a:prstGeom>
          <a:noFill/>
        </p:spPr>
        <p:txBody>
          <a:bodyPr wrap="square" anchor="t" lIns="0" tIns="0" rIns="0" bIns="0">
            <a:spAutoFit/>
          </a:bodyPr>
          <a:lstStyle/>
          <a:p>
            <a:pPr algn="l"/>
            <a:r>
              <a:rPr sz="1050" b="1">
                <a:solidFill>
                  <a:srgbClr val="000000"/>
                </a:solidFill>
                <a:latin typeface="맑은 고딕"/>
                <a:ea typeface="맑은 고딕"/>
              </a:rPr>
              <a:t>② QA 평가 (4개, 별 합계) + 제약·리스크 (합계에 넣지 않음)</a:t>
            </a:r>
          </a:p>
        </p:txBody>
      </p:sp>
      <p:sp>
        <p:nvSpPr>
          <p:cNvPr id="135" name="Rectangle 134"/>
          <p:cNvSpPr/>
          <p:nvPr/>
        </p:nvSpPr>
        <p:spPr>
          <a:xfrm>
            <a:off x="6492240" y="1280160"/>
            <a:ext cx="100584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QA</a:t>
            </a:r>
          </a:p>
        </p:txBody>
      </p:sp>
      <p:sp>
        <p:nvSpPr>
          <p:cNvPr id="136" name="Rectangle 135"/>
          <p:cNvSpPr/>
          <p:nvPr/>
        </p:nvSpPr>
        <p:spPr>
          <a:xfrm>
            <a:off x="7498079" y="1280160"/>
            <a:ext cx="987552" cy="237744"/>
          </a:xfrm>
          <a:prstGeom prst="rect">
            <a:avLst/>
          </a:prstGeom>
          <a:solidFill>
            <a:srgbClr val="2F5597"/>
          </a:solidFill>
          <a:ln w="12700">
            <a:solidFill>
              <a:srgbClr val="2F5597"/>
            </a:solidFill>
          </a:ln>
          <a:effectLst/>
        </p:spPr>
        <p:txBody>
          <a:bodyPr rtlCol="0" anchor="ctr" wrap="square" lIns="36576" tIns="18288" rIns="36576" bIns="18288"/>
          <a:lstStyle/>
          <a:p>
            <a:pPr algn="ctr"/>
            <a:r>
              <a:rPr sz="800" b="1">
                <a:solidFill>
                  <a:srgbClr val="FFFFFF"/>
                </a:solidFill>
                <a:latin typeface="맑은 고딕"/>
                <a:ea typeface="맑은 고딕"/>
              </a:rPr>
              <a:t>1안 (OSS 확장)</a:t>
            </a:r>
          </a:p>
        </p:txBody>
      </p:sp>
      <p:sp>
        <p:nvSpPr>
          <p:cNvPr id="137" name="Rectangle 136"/>
          <p:cNvSpPr/>
          <p:nvPr/>
        </p:nvSpPr>
        <p:spPr>
          <a:xfrm>
            <a:off x="8485632" y="1280160"/>
            <a:ext cx="987552" cy="237744"/>
          </a:xfrm>
          <a:prstGeom prst="rect">
            <a:avLst/>
          </a:prstGeom>
          <a:solidFill>
            <a:srgbClr val="C55A11"/>
          </a:solidFill>
          <a:ln w="12700">
            <a:solidFill>
              <a:srgbClr val="C55A11"/>
            </a:solidFill>
          </a:ln>
          <a:effectLst/>
        </p:spPr>
        <p:txBody>
          <a:bodyPr rtlCol="0" anchor="ctr" wrap="square" lIns="36576" tIns="18288" rIns="36576" bIns="18288"/>
          <a:lstStyle/>
          <a:p>
            <a:pPr algn="ctr"/>
            <a:r>
              <a:rPr sz="800" b="1">
                <a:solidFill>
                  <a:srgbClr val="FFFFFF"/>
                </a:solidFill>
                <a:latin typeface="맑은 고딕"/>
                <a:ea typeface="맑은 고딕"/>
              </a:rPr>
              <a:t>2안 (자체)</a:t>
            </a:r>
          </a:p>
        </p:txBody>
      </p:sp>
      <p:sp>
        <p:nvSpPr>
          <p:cNvPr id="138" name="Rectangle 137"/>
          <p:cNvSpPr/>
          <p:nvPr/>
        </p:nvSpPr>
        <p:spPr>
          <a:xfrm>
            <a:off x="9473184" y="1280160"/>
            <a:ext cx="2523744"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왜 (메커니즘 · 확정할 실험)</a:t>
            </a:r>
          </a:p>
        </p:txBody>
      </p:sp>
      <p:sp>
        <p:nvSpPr>
          <p:cNvPr id="139" name="Rectangle 138"/>
          <p:cNvSpPr/>
          <p:nvPr/>
        </p:nvSpPr>
        <p:spPr>
          <a:xfrm>
            <a:off x="6492240" y="1517904"/>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Q1 처리량</a:t>
            </a:r>
          </a:p>
        </p:txBody>
      </p:sp>
      <p:sp>
        <p:nvSpPr>
          <p:cNvPr id="140" name="Rectangle 139"/>
          <p:cNvSpPr/>
          <p:nvPr/>
        </p:nvSpPr>
        <p:spPr>
          <a:xfrm>
            <a:off x="7498079" y="1517904"/>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1" name="Rectangle 140"/>
          <p:cNvSpPr/>
          <p:nvPr/>
        </p:nvSpPr>
        <p:spPr>
          <a:xfrm>
            <a:off x="8485632" y="1517904"/>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42" name="Rectangle 141"/>
          <p:cNvSpPr/>
          <p:nvPr/>
        </p:nvSpPr>
        <p:spPr>
          <a:xfrm>
            <a:off x="9473184" y="1517904"/>
            <a:ext cx="2523744"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동등. 정책 P1~P5는 둘 다 표현 가능. 2안은 P/D 경로 P5를 수정 없이 전달하나 효과 미확인. E4</a:t>
            </a:r>
          </a:p>
        </p:txBody>
      </p:sp>
      <p:sp>
        <p:nvSpPr>
          <p:cNvPr id="143" name="Rectangle 142"/>
          <p:cNvSpPr/>
          <p:nvPr/>
        </p:nvSpPr>
        <p:spPr>
          <a:xfrm>
            <a:off x="6492240" y="1938528"/>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Q2 지연 (TTFT)</a:t>
            </a:r>
          </a:p>
        </p:txBody>
      </p:sp>
      <p:sp>
        <p:nvSpPr>
          <p:cNvPr id="144" name="Rectangle 143"/>
          <p:cNvSpPr/>
          <p:nvPr/>
        </p:nvSpPr>
        <p:spPr>
          <a:xfrm>
            <a:off x="7498079" y="1938528"/>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5" name="Rectangle 144"/>
          <p:cNvSpPr/>
          <p:nvPr/>
        </p:nvSpPr>
        <p:spPr>
          <a:xfrm>
            <a:off x="8485632" y="1938528"/>
            <a:ext cx="987552" cy="420624"/>
          </a:xfrm>
          <a:prstGeom prst="rect">
            <a:avLst/>
          </a:prstGeom>
          <a:solidFill>
            <a:srgbClr val="FBE5D6"/>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46" name="Rectangle 145"/>
          <p:cNvSpPr/>
          <p:nvPr/>
        </p:nvSpPr>
        <p:spPr>
          <a:xfrm>
            <a:off x="9473184" y="1938528"/>
            <a:ext cx="2523744"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2안: 원격 호출 1회·보조 프로세스 경유 제거. 크기 미측정이라 가장 약한 근거. E1</a:t>
            </a:r>
          </a:p>
        </p:txBody>
      </p:sp>
      <p:sp>
        <p:nvSpPr>
          <p:cNvPr id="147" name="Rectangle 146"/>
          <p:cNvSpPr/>
          <p:nvPr/>
        </p:nvSpPr>
        <p:spPr>
          <a:xfrm>
            <a:off x="6492240" y="2359152"/>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Q3 변경·유지 용이성</a:t>
            </a:r>
          </a:p>
        </p:txBody>
      </p:sp>
      <p:sp>
        <p:nvSpPr>
          <p:cNvPr id="148" name="Rectangle 147"/>
          <p:cNvSpPr/>
          <p:nvPr/>
        </p:nvSpPr>
        <p:spPr>
          <a:xfrm>
            <a:off x="7498079" y="2359152"/>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9" name="Rectangle 148"/>
          <p:cNvSpPr/>
          <p:nvPr/>
        </p:nvSpPr>
        <p:spPr>
          <a:xfrm>
            <a:off x="8485632" y="2359152"/>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50" name="Rectangle 149"/>
          <p:cNvSpPr/>
          <p:nvPr/>
        </p:nvSpPr>
        <p:spPr>
          <a:xfrm>
            <a:off x="9473184" y="2359152"/>
            <a:ext cx="2523744"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동등(3 대 3): S1·S5·S6은 1안(흡수), S2·S3·S4는 2안(통제). 앞 장 S1~S6</a:t>
            </a:r>
          </a:p>
        </p:txBody>
      </p:sp>
      <p:sp>
        <p:nvSpPr>
          <p:cNvPr id="151" name="Rectangle 150"/>
          <p:cNvSpPr/>
          <p:nvPr/>
        </p:nvSpPr>
        <p:spPr>
          <a:xfrm>
            <a:off x="6492240" y="2779776"/>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Q4 확장성</a:t>
            </a:r>
          </a:p>
        </p:txBody>
      </p:sp>
      <p:sp>
        <p:nvSpPr>
          <p:cNvPr id="152" name="Rectangle 151"/>
          <p:cNvSpPr/>
          <p:nvPr/>
        </p:nvSpPr>
        <p:spPr>
          <a:xfrm>
            <a:off x="7498079" y="2779776"/>
            <a:ext cx="987552" cy="420624"/>
          </a:xfrm>
          <a:prstGeom prst="rect">
            <a:avLst/>
          </a:prstGeom>
          <a:solidFill>
            <a:srgbClr val="DAE3F3"/>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53" name="Rectangle 152"/>
          <p:cNvSpPr/>
          <p:nvPr/>
        </p:nvSpPr>
        <p:spPr>
          <a:xfrm>
            <a:off x="8485632" y="2779776"/>
            <a:ext cx="987552"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54" name="Rectangle 153"/>
          <p:cNvSpPr/>
          <p:nvPr/>
        </p:nvSpPr>
        <p:spPr>
          <a:xfrm>
            <a:off x="9473184" y="2779776"/>
            <a:ext cx="2523744"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1안: K8s 복제·서버 풀·흐름 제어 검증됨. 2안: 레플리카·HA 직접 구축, 2노드 실측 불가</a:t>
            </a:r>
          </a:p>
        </p:txBody>
      </p:sp>
      <p:sp>
        <p:nvSpPr>
          <p:cNvPr id="155" name="Rectangle 154"/>
          <p:cNvSpPr/>
          <p:nvPr/>
        </p:nvSpPr>
        <p:spPr>
          <a:xfrm>
            <a:off x="6492240" y="3200400"/>
            <a:ext cx="10058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별 합계</a:t>
            </a:r>
          </a:p>
        </p:txBody>
      </p:sp>
      <p:sp>
        <p:nvSpPr>
          <p:cNvPr id="156" name="Rectangle 155"/>
          <p:cNvSpPr/>
          <p:nvPr/>
        </p:nvSpPr>
        <p:spPr>
          <a:xfrm>
            <a:off x="7498079" y="3200400"/>
            <a:ext cx="987552" cy="256032"/>
          </a:xfrm>
          <a:prstGeom prst="rect">
            <a:avLst/>
          </a:prstGeom>
          <a:solidFill>
            <a:srgbClr val="FFFFFF"/>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9 / 12</a:t>
            </a:r>
          </a:p>
        </p:txBody>
      </p:sp>
      <p:sp>
        <p:nvSpPr>
          <p:cNvPr id="157" name="Rectangle 156"/>
          <p:cNvSpPr/>
          <p:nvPr/>
        </p:nvSpPr>
        <p:spPr>
          <a:xfrm>
            <a:off x="8485632" y="3200400"/>
            <a:ext cx="987552" cy="256032"/>
          </a:xfrm>
          <a:prstGeom prst="rect">
            <a:avLst/>
          </a:prstGeom>
          <a:solidFill>
            <a:srgbClr val="FFFFFF"/>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9 / 12</a:t>
            </a:r>
          </a:p>
        </p:txBody>
      </p:sp>
      <p:sp>
        <p:nvSpPr>
          <p:cNvPr id="158" name="Rectangle 157"/>
          <p:cNvSpPr/>
          <p:nvPr/>
        </p:nvSpPr>
        <p:spPr>
          <a:xfrm>
            <a:off x="9473184" y="3200400"/>
            <a:ext cx="2523744"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1">
                <a:solidFill>
                  <a:srgbClr val="C00000"/>
                </a:solidFill>
                <a:latin typeface="맑은 고딕"/>
                <a:ea typeface="맑은 고딕"/>
              </a:rPr>
              <a:t>동점 → 우선순위로 Q2에서 갈림 → 2안</a:t>
            </a:r>
          </a:p>
        </p:txBody>
      </p:sp>
      <p:sp>
        <p:nvSpPr>
          <p:cNvPr id="159" name="TextBox 158"/>
          <p:cNvSpPr txBox="1"/>
          <p:nvPr/>
        </p:nvSpPr>
        <p:spPr>
          <a:xfrm>
            <a:off x="6492240" y="3483864"/>
            <a:ext cx="5504688" cy="182880"/>
          </a:xfrm>
          <a:prstGeom prst="rect">
            <a:avLst/>
          </a:prstGeom>
          <a:noFill/>
        </p:spPr>
        <p:txBody>
          <a:bodyPr wrap="square" anchor="t" lIns="0" tIns="0" rIns="0" bIns="0">
            <a:spAutoFit/>
          </a:bodyPr>
          <a:lstStyle/>
          <a:p>
            <a:pPr algn="l"/>
            <a:r>
              <a:rPr sz="850" b="1">
                <a:solidFill>
                  <a:srgbClr val="000000"/>
                </a:solidFill>
                <a:latin typeface="맑은 고딕"/>
                <a:ea typeface="맑은 고딕"/>
              </a:rPr>
              <a:t>제약 · 리스크 (QA 밖, 별 합계에 넣지 않음, 우위만 표시)</a:t>
            </a:r>
          </a:p>
        </p:txBody>
      </p:sp>
      <p:sp>
        <p:nvSpPr>
          <p:cNvPr id="160" name="Rectangle 159"/>
          <p:cNvSpPr/>
          <p:nvPr/>
        </p:nvSpPr>
        <p:spPr>
          <a:xfrm>
            <a:off x="6492240" y="3685032"/>
            <a:ext cx="530352" cy="256032"/>
          </a:xfrm>
          <a:prstGeom prst="rect">
            <a:avLst/>
          </a:prstGeom>
          <a:solidFill>
            <a:srgbClr val="F2F2F2"/>
          </a:solidFill>
          <a:ln w="6350">
            <a:solidFill>
              <a:srgbClr val="BFBFBF"/>
            </a:solidFill>
          </a:ln>
          <a:effectLst/>
        </p:spPr>
        <p:txBody>
          <a:bodyPr rtlCol="0" anchor="ctr" wrap="square" lIns="64008" tIns="27432" rIns="45720" bIns="27432"/>
          <a:lstStyle/>
          <a:p>
            <a:pPr algn="ctr"/>
            <a:r>
              <a:rPr sz="800" b="1">
                <a:solidFill>
                  <a:srgbClr val="000000"/>
                </a:solidFill>
                <a:latin typeface="맑은 고딕"/>
                <a:ea typeface="맑은 고딕"/>
              </a:rPr>
              <a:t>비용</a:t>
            </a:r>
          </a:p>
        </p:txBody>
      </p:sp>
      <p:sp>
        <p:nvSpPr>
          <p:cNvPr id="161" name="Rectangle 160"/>
          <p:cNvSpPr/>
          <p:nvPr/>
        </p:nvSpPr>
        <p:spPr>
          <a:xfrm>
            <a:off x="7022592" y="3685032"/>
            <a:ext cx="7772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구현 부담</a:t>
            </a:r>
          </a:p>
        </p:txBody>
      </p:sp>
      <p:sp>
        <p:nvSpPr>
          <p:cNvPr id="162" name="Rectangle 161"/>
          <p:cNvSpPr/>
          <p:nvPr/>
        </p:nvSpPr>
        <p:spPr>
          <a:xfrm>
            <a:off x="7799831" y="3685032"/>
            <a:ext cx="1755648"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소유 블록 3/6 + Router 이미지</a:t>
            </a:r>
          </a:p>
        </p:txBody>
      </p:sp>
      <p:sp>
        <p:nvSpPr>
          <p:cNvPr id="163" name="Rectangle 162"/>
          <p:cNvSpPr/>
          <p:nvPr/>
        </p:nvSpPr>
        <p:spPr>
          <a:xfrm>
            <a:off x="9555480" y="3685032"/>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6/6 + 레플리카·HA·흐름 제어</a:t>
            </a:r>
          </a:p>
        </p:txBody>
      </p:sp>
      <p:sp>
        <p:nvSpPr>
          <p:cNvPr id="164" name="Rectangle 163"/>
          <p:cNvSpPr/>
          <p:nvPr/>
        </p:nvSpPr>
        <p:spPr>
          <a:xfrm>
            <a:off x="11292840" y="3685032"/>
            <a:ext cx="70408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1안 유리</a:t>
            </a:r>
          </a:p>
        </p:txBody>
      </p:sp>
      <p:sp>
        <p:nvSpPr>
          <p:cNvPr id="165" name="Rectangle 164"/>
          <p:cNvSpPr/>
          <p:nvPr/>
        </p:nvSpPr>
        <p:spPr>
          <a:xfrm>
            <a:off x="6492240" y="3941064"/>
            <a:ext cx="530352" cy="256032"/>
          </a:xfrm>
          <a:prstGeom prst="rect">
            <a:avLst/>
          </a:prstGeom>
          <a:solidFill>
            <a:srgbClr val="F2F2F2"/>
          </a:solidFill>
          <a:ln w="6350">
            <a:solidFill>
              <a:srgbClr val="BFBFBF"/>
            </a:solidFill>
          </a:ln>
          <a:effectLst/>
        </p:spPr>
        <p:txBody>
          <a:bodyPr rtlCol="0" anchor="ctr"/>
          <a:lstStyle/>
          <a:p>
            <a:pPr algn="ctr"/>
          </a:p>
        </p:txBody>
      </p:sp>
      <p:sp>
        <p:nvSpPr>
          <p:cNvPr id="166" name="Rectangle 165"/>
          <p:cNvSpPr/>
          <p:nvPr/>
        </p:nvSpPr>
        <p:spPr>
          <a:xfrm>
            <a:off x="7022592" y="3941064"/>
            <a:ext cx="7772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운영 환경</a:t>
            </a:r>
          </a:p>
        </p:txBody>
      </p:sp>
      <p:sp>
        <p:nvSpPr>
          <p:cNvPr id="167" name="Rectangle 166"/>
          <p:cNvSpPr/>
          <p:nvPr/>
        </p:nvSpPr>
        <p:spPr>
          <a:xfrm>
            <a:off x="7799831" y="3941064"/>
            <a:ext cx="1755648"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2F5597"/>
                </a:solidFill>
                <a:latin typeface="맑은 고딕"/>
                <a:ea typeface="맑은 고딕"/>
              </a:rPr>
              <a:t>K8s·프록시·자체 이미지 (C2)</a:t>
            </a:r>
          </a:p>
        </p:txBody>
      </p:sp>
      <p:sp>
        <p:nvSpPr>
          <p:cNvPr id="168" name="Rectangle 167"/>
          <p:cNvSpPr/>
          <p:nvPr/>
        </p:nvSpPr>
        <p:spPr>
          <a:xfrm>
            <a:off x="9555480" y="3941064"/>
            <a:ext cx="1737360" cy="256032"/>
          </a:xfrm>
          <a:prstGeom prst="rect">
            <a:avLst/>
          </a:prstGeom>
          <a:solidFill>
            <a:srgbClr val="FBE5D6"/>
          </a:solidFill>
          <a:ln w="6350">
            <a:solidFill>
              <a:srgbClr val="BFBFBF"/>
            </a:solidFill>
          </a:ln>
          <a:effectLst/>
        </p:spPr>
        <p:txBody>
          <a:bodyPr rtlCol="0" anchor="ctr" wrap="square" lIns="64008" tIns="27432" rIns="45720" bIns="27432"/>
          <a:lstStyle/>
          <a:p>
            <a:pPr algn="l"/>
            <a:r>
              <a:rPr sz="750" b="1">
                <a:solidFill>
                  <a:srgbClr val="C55A11"/>
                </a:solidFill>
                <a:latin typeface="맑은 고딕"/>
                <a:ea typeface="맑은 고딕"/>
              </a:rPr>
              <a:t>K8s·프록시 불필요</a:t>
            </a:r>
          </a:p>
        </p:txBody>
      </p:sp>
      <p:sp>
        <p:nvSpPr>
          <p:cNvPr id="169" name="Rectangle 168"/>
          <p:cNvSpPr/>
          <p:nvPr/>
        </p:nvSpPr>
        <p:spPr>
          <a:xfrm>
            <a:off x="11292840" y="3941064"/>
            <a:ext cx="704088" cy="256032"/>
          </a:xfrm>
          <a:prstGeom prst="rect">
            <a:avLst/>
          </a:prstGeom>
          <a:solidFill>
            <a:srgbClr val="FBE5D6"/>
          </a:solidFill>
          <a:ln w="6350">
            <a:solidFill>
              <a:srgbClr val="BFBFBF"/>
            </a:solidFill>
          </a:ln>
          <a:effectLst/>
        </p:spPr>
        <p:txBody>
          <a:bodyPr rtlCol="0" anchor="ctr" wrap="square" lIns="64008" tIns="27432" rIns="45720" bIns="27432"/>
          <a:lstStyle/>
          <a:p>
            <a:pPr algn="ctr"/>
            <a:r>
              <a:rPr sz="750" b="1">
                <a:solidFill>
                  <a:srgbClr val="C55A11"/>
                </a:solidFill>
                <a:latin typeface="맑은 고딕"/>
                <a:ea typeface="맑은 고딕"/>
              </a:rPr>
              <a:t>2안 유리</a:t>
            </a:r>
          </a:p>
        </p:txBody>
      </p:sp>
      <p:sp>
        <p:nvSpPr>
          <p:cNvPr id="170" name="Rectangle 169"/>
          <p:cNvSpPr/>
          <p:nvPr/>
        </p:nvSpPr>
        <p:spPr>
          <a:xfrm>
            <a:off x="6492240" y="4197096"/>
            <a:ext cx="530352" cy="256032"/>
          </a:xfrm>
          <a:prstGeom prst="rect">
            <a:avLst/>
          </a:prstGeom>
          <a:solidFill>
            <a:srgbClr val="F2F2F2"/>
          </a:solidFill>
          <a:ln w="6350">
            <a:solidFill>
              <a:srgbClr val="BFBFBF"/>
            </a:solidFill>
          </a:ln>
          <a:effectLst/>
        </p:spPr>
        <p:txBody>
          <a:bodyPr rtlCol="0" anchor="ctr" wrap="square" lIns="64008" tIns="27432" rIns="45720" bIns="27432"/>
          <a:lstStyle/>
          <a:p>
            <a:pPr algn="ctr"/>
            <a:r>
              <a:rPr sz="800" b="1">
                <a:solidFill>
                  <a:srgbClr val="000000"/>
                </a:solidFill>
                <a:latin typeface="맑은 고딕"/>
                <a:ea typeface="맑은 고딕"/>
              </a:rPr>
              <a:t>리스크</a:t>
            </a:r>
          </a:p>
        </p:txBody>
      </p:sp>
      <p:sp>
        <p:nvSpPr>
          <p:cNvPr id="171" name="Rectangle 170"/>
          <p:cNvSpPr/>
          <p:nvPr/>
        </p:nvSpPr>
        <p:spPr>
          <a:xfrm>
            <a:off x="7022592" y="4197096"/>
            <a:ext cx="7772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증거 수준</a:t>
            </a:r>
          </a:p>
        </p:txBody>
      </p:sp>
      <p:sp>
        <p:nvSpPr>
          <p:cNvPr id="172" name="Rectangle 171"/>
          <p:cNvSpPr/>
          <p:nvPr/>
        </p:nvSpPr>
        <p:spPr>
          <a:xfrm>
            <a:off x="7799831" y="4197096"/>
            <a:ext cx="1755648"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P1~P4 끝단 실행 [A]</a:t>
            </a:r>
          </a:p>
        </p:txBody>
      </p:sp>
      <p:sp>
        <p:nvSpPr>
          <p:cNvPr id="173" name="Rectangle 172"/>
          <p:cNvSpPr/>
          <p:nvPr/>
        </p:nvSpPr>
        <p:spPr>
          <a:xfrm>
            <a:off x="9555480" y="4197096"/>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설계안, 미구현 [C]</a:t>
            </a:r>
          </a:p>
        </p:txBody>
      </p:sp>
      <p:sp>
        <p:nvSpPr>
          <p:cNvPr id="174" name="Rectangle 173"/>
          <p:cNvSpPr/>
          <p:nvPr/>
        </p:nvSpPr>
        <p:spPr>
          <a:xfrm>
            <a:off x="11292840" y="4197096"/>
            <a:ext cx="70408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1안 유리</a:t>
            </a:r>
          </a:p>
        </p:txBody>
      </p:sp>
      <p:sp>
        <p:nvSpPr>
          <p:cNvPr id="175" name="Rectangle 174"/>
          <p:cNvSpPr/>
          <p:nvPr/>
        </p:nvSpPr>
        <p:spPr>
          <a:xfrm>
            <a:off x="6492240" y="4453128"/>
            <a:ext cx="530352" cy="256032"/>
          </a:xfrm>
          <a:prstGeom prst="rect">
            <a:avLst/>
          </a:prstGeom>
          <a:solidFill>
            <a:srgbClr val="F2F2F2"/>
          </a:solidFill>
          <a:ln w="6350">
            <a:solidFill>
              <a:srgbClr val="BFBFBF"/>
            </a:solidFill>
          </a:ln>
          <a:effectLst/>
        </p:spPr>
        <p:txBody>
          <a:bodyPr rtlCol="0" anchor="ctr"/>
          <a:lstStyle/>
          <a:p>
            <a:pPr algn="ctr"/>
          </a:p>
        </p:txBody>
      </p:sp>
      <p:sp>
        <p:nvSpPr>
          <p:cNvPr id="176" name="Rectangle 175"/>
          <p:cNvSpPr/>
          <p:nvPr/>
        </p:nvSpPr>
        <p:spPr>
          <a:xfrm>
            <a:off x="7022592" y="4453128"/>
            <a:ext cx="7772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업스트림 의존</a:t>
            </a:r>
          </a:p>
        </p:txBody>
      </p:sp>
      <p:sp>
        <p:nvSpPr>
          <p:cNvPr id="177" name="Rectangle 176"/>
          <p:cNvSpPr/>
          <p:nvPr/>
        </p:nvSpPr>
        <p:spPr>
          <a:xfrm>
            <a:off x="7799831" y="4453128"/>
            <a:ext cx="1755648"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2F5597"/>
                </a:solidFill>
                <a:latin typeface="맑은 고딕"/>
                <a:ea typeface="맑은 고딕"/>
              </a:rPr>
              <a:t>wrapper·수정이 OSS 동작에 의존</a:t>
            </a:r>
          </a:p>
        </p:txBody>
      </p:sp>
      <p:sp>
        <p:nvSpPr>
          <p:cNvPr id="178" name="Rectangle 177"/>
          <p:cNvSpPr/>
          <p:nvPr/>
        </p:nvSpPr>
        <p:spPr>
          <a:xfrm>
            <a:off x="9555480" y="4453128"/>
            <a:ext cx="1737360" cy="256032"/>
          </a:xfrm>
          <a:prstGeom prst="rect">
            <a:avLst/>
          </a:prstGeom>
          <a:solidFill>
            <a:srgbClr val="FBE5D6"/>
          </a:solidFill>
          <a:ln w="6350">
            <a:solidFill>
              <a:srgbClr val="BFBFBF"/>
            </a:solidFill>
          </a:ln>
          <a:effectLst/>
        </p:spPr>
        <p:txBody>
          <a:bodyPr rtlCol="0" anchor="ctr" wrap="square" lIns="64008" tIns="27432" rIns="45720" bIns="27432"/>
          <a:lstStyle/>
          <a:p>
            <a:pPr algn="l"/>
            <a:r>
              <a:rPr sz="750" b="1">
                <a:solidFill>
                  <a:srgbClr val="C55A11"/>
                </a:solidFill>
                <a:latin typeface="맑은 고딕"/>
                <a:ea typeface="맑은 고딕"/>
              </a:rPr>
              <a:t>OSS 의존 없음 (vLLM 계약만)</a:t>
            </a:r>
          </a:p>
        </p:txBody>
      </p:sp>
      <p:sp>
        <p:nvSpPr>
          <p:cNvPr id="179" name="Rectangle 178"/>
          <p:cNvSpPr/>
          <p:nvPr/>
        </p:nvSpPr>
        <p:spPr>
          <a:xfrm>
            <a:off x="11292840" y="4453128"/>
            <a:ext cx="704088" cy="256032"/>
          </a:xfrm>
          <a:prstGeom prst="rect">
            <a:avLst/>
          </a:prstGeom>
          <a:solidFill>
            <a:srgbClr val="FBE5D6"/>
          </a:solidFill>
          <a:ln w="6350">
            <a:solidFill>
              <a:srgbClr val="BFBFBF"/>
            </a:solidFill>
          </a:ln>
          <a:effectLst/>
        </p:spPr>
        <p:txBody>
          <a:bodyPr rtlCol="0" anchor="ctr" wrap="square" lIns="64008" tIns="27432" rIns="45720" bIns="27432"/>
          <a:lstStyle/>
          <a:p>
            <a:pPr algn="ctr"/>
            <a:r>
              <a:rPr sz="750" b="1">
                <a:solidFill>
                  <a:srgbClr val="C55A11"/>
                </a:solidFill>
                <a:latin typeface="맑은 고딕"/>
                <a:ea typeface="맑은 고딕"/>
              </a:rPr>
              <a:t>2안 유리</a:t>
            </a:r>
          </a:p>
        </p:txBody>
      </p:sp>
      <p:sp>
        <p:nvSpPr>
          <p:cNvPr id="180" name="Rectangle 179"/>
          <p:cNvSpPr/>
          <p:nvPr/>
        </p:nvSpPr>
        <p:spPr>
          <a:xfrm>
            <a:off x="6492240" y="4709160"/>
            <a:ext cx="530352" cy="256032"/>
          </a:xfrm>
          <a:prstGeom prst="rect">
            <a:avLst/>
          </a:prstGeom>
          <a:solidFill>
            <a:srgbClr val="F2F2F2"/>
          </a:solidFill>
          <a:ln w="6350">
            <a:solidFill>
              <a:srgbClr val="BFBFBF"/>
            </a:solidFill>
          </a:ln>
          <a:effectLst/>
        </p:spPr>
        <p:txBody>
          <a:bodyPr rtlCol="0" anchor="ctr"/>
          <a:lstStyle/>
          <a:p>
            <a:pPr algn="ctr"/>
          </a:p>
        </p:txBody>
      </p:sp>
      <p:sp>
        <p:nvSpPr>
          <p:cNvPr id="181" name="Rectangle 180"/>
          <p:cNvSpPr/>
          <p:nvPr/>
        </p:nvSpPr>
        <p:spPr>
          <a:xfrm>
            <a:off x="7022592" y="4709160"/>
            <a:ext cx="7772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미검증 가정</a:t>
            </a:r>
          </a:p>
        </p:txBody>
      </p:sp>
      <p:sp>
        <p:nvSpPr>
          <p:cNvPr id="182" name="Rectangle 181"/>
          <p:cNvSpPr/>
          <p:nvPr/>
        </p:nvSpPr>
        <p:spPr>
          <a:xfrm>
            <a:off x="7799831" y="4709160"/>
            <a:ext cx="1755648"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지연 크기 미측정 (E1)</a:t>
            </a:r>
          </a:p>
        </p:txBody>
      </p:sp>
      <p:sp>
        <p:nvSpPr>
          <p:cNvPr id="183" name="Rectangle 182"/>
          <p:cNvSpPr/>
          <p:nvPr/>
        </p:nvSpPr>
        <p:spPr>
          <a:xfrm>
            <a:off x="9555480" y="4709160"/>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지연 이점·구현량·신선도 미측정</a:t>
            </a:r>
          </a:p>
        </p:txBody>
      </p:sp>
      <p:sp>
        <p:nvSpPr>
          <p:cNvPr id="184" name="Rectangle 183"/>
          <p:cNvSpPr/>
          <p:nvPr/>
        </p:nvSpPr>
        <p:spPr>
          <a:xfrm>
            <a:off x="11292840" y="4709160"/>
            <a:ext cx="70408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1안 유리</a:t>
            </a:r>
          </a:p>
        </p:txBody>
      </p:sp>
      <p:sp>
        <p:nvSpPr>
          <p:cNvPr id="185" name="Rectangle 184"/>
          <p:cNvSpPr/>
          <p:nvPr/>
        </p:nvSpPr>
        <p:spPr>
          <a:xfrm>
            <a:off x="6492240" y="5020056"/>
            <a:ext cx="5504688" cy="329184"/>
          </a:xfrm>
          <a:prstGeom prst="rect">
            <a:avLst/>
          </a:prstGeom>
          <a:solidFill>
            <a:srgbClr val="FFFBEA"/>
          </a:solidFill>
          <a:ln w="12700">
            <a:solidFill>
              <a:srgbClr val="BF9000"/>
            </a:solidFill>
          </a:ln>
          <a:effectLst/>
        </p:spPr>
        <p:txBody>
          <a:bodyPr rtlCol="0" anchor="ctr" wrap="square" lIns="64008" tIns="18288" rIns="45720" bIns="18288"/>
          <a:lstStyle/>
          <a:p>
            <a:pPr algn="l"/>
            <a:r>
              <a:rPr sz="800" b="1">
                <a:solidFill>
                  <a:srgbClr val="C00000"/>
                </a:solidFill>
                <a:latin typeface="맑은 고딕"/>
                <a:ea typeface="맑은 고딕"/>
              </a:rPr>
              <a:t>선택 규칙  </a:t>
            </a:r>
            <a:r>
              <a:rPr sz="750" b="0">
                <a:solidFill>
                  <a:srgbClr val="000000"/>
                </a:solidFill>
                <a:latin typeface="맑은 고딕"/>
                <a:ea typeface="맑은 고딕"/>
              </a:rPr>
              <a:t>① 별 합계 → ② 동점이면 QA 우선순위(Q1&gt;Q2&gt;Q3&gt;Q4)로 처음 갈리는 QA → Q2 지연에서 갈림 → 2안 (우선순위가 Q4&gt;Q2면 1안)</a:t>
            </a:r>
          </a:p>
        </p:txBody>
      </p:sp>
      <p:sp>
        <p:nvSpPr>
          <p:cNvPr id="186" name="Rectangle 185"/>
          <p:cNvSpPr/>
          <p:nvPr/>
        </p:nvSpPr>
        <p:spPr>
          <a:xfrm>
            <a:off x="246888" y="5468112"/>
            <a:ext cx="11750040" cy="804672"/>
          </a:xfrm>
          <a:prstGeom prst="rect">
            <a:avLst/>
          </a:prstGeom>
          <a:solidFill>
            <a:srgbClr val="FFFBEA"/>
          </a:solidFill>
          <a:ln w="12700">
            <a:solidFill>
              <a:srgbClr val="BF9000"/>
            </a:solidFill>
          </a:ln>
          <a:effectLst/>
        </p:spPr>
        <p:txBody>
          <a:bodyPr rtlCol="0" anchor="ctr"/>
          <a:lstStyle/>
          <a:p>
            <a:pPr algn="ctr"/>
          </a:p>
        </p:txBody>
      </p:sp>
      <p:sp>
        <p:nvSpPr>
          <p:cNvPr id="187" name="TextBox 186"/>
          <p:cNvSpPr txBox="1"/>
          <p:nvPr/>
        </p:nvSpPr>
        <p:spPr>
          <a:xfrm>
            <a:off x="338328" y="5504688"/>
            <a:ext cx="11567160" cy="749808"/>
          </a:xfrm>
          <a:prstGeom prst="rect">
            <a:avLst/>
          </a:prstGeom>
          <a:noFill/>
        </p:spPr>
        <p:txBody>
          <a:bodyPr wrap="square" anchor="t" lIns="0" tIns="0" rIns="0" bIns="0">
            <a:spAutoFit/>
          </a:bodyPr>
          <a:lstStyle/>
          <a:p>
            <a:pPr algn="l"/>
            <a:r>
              <a:rPr sz="950" b="1">
                <a:solidFill>
                  <a:srgbClr val="C00000"/>
                </a:solidFill>
                <a:latin typeface="맑은 고딕"/>
                <a:ea typeface="맑은 고딕"/>
              </a:rPr>
              <a:t>결론  </a:t>
            </a:r>
            <a:r>
              <a:rPr sz="950" b="1">
                <a:solidFill>
                  <a:srgbClr val="000000"/>
                </a:solidFill>
                <a:latin typeface="맑은 고딕"/>
                <a:ea typeface="맑은 고딕"/>
              </a:rPr>
              <a:t>QA 4개는 9 대 9 동점이고 제약·리스크는 1안이 우위다. 동점은 QA 우선순위가 정하므로 Q2 지연에서 갈려 2안(자체 구현)을 선택한다.</a:t>
            </a:r>
          </a:p>
          <a:p>
            <a:pPr algn="l"/>
            <a:r>
              <a:rPr sz="850" b="0">
                <a:solidFill>
                  <a:srgbClr val="000000"/>
                </a:solidFill>
                <a:latin typeface="맑은 고딕"/>
                <a:ea typeface="맑은 고딕"/>
              </a:rPr>
              <a:t>· 직접 개발(2안)은 지연을, OSS 확장(1안)은 확장성을 얻고, 변경·유지 용이성은 흡수(1안) 대 통제(2안)로 동등하다.</a:t>
            </a:r>
          </a:p>
          <a:p>
            <a:pPr algn="l"/>
            <a:r>
              <a:rPr sz="850" b="0">
                <a:solidFill>
                  <a:srgbClr val="000000"/>
                </a:solidFill>
                <a:latin typeface="맑은 고딕"/>
                <a:ea typeface="맑은 고딕"/>
              </a:rPr>
              <a:t>· 선택 조건: 지연 우위는 측정 전 가설이므로 E1(1안에서 hop 증분 측정)을 먼저 한다. hop이 잡음 수준이면 Q2가 동률이 되어 1안으로 돌아간다.</a:t>
            </a:r>
          </a:p>
          <a:p>
            <a:pPr algn="l"/>
            <a:r>
              <a:rPr sz="850" b="0">
                <a:solidFill>
                  <a:srgbClr val="000000"/>
                </a:solidFill>
                <a:latin typeface="맑은 고딕"/>
                <a:ea typeface="맑은 고딕"/>
              </a:rPr>
              <a:t>· 감수하는 비용: 구현 부담(6/6)·증거 수준(설계안)은 QA 밖이지만 표에 남기고, 1안(P1~P4 실행 확인)을 fallback으로 유지한다.</a:t>
            </a:r>
          </a:p>
        </p:txBody>
      </p:sp>
      <p:sp>
        <p:nvSpPr>
          <p:cNvPr id="188" name="TextBox 187"/>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●●●=우수 ●○○=취약, 구조 논증 기반 가설 [C]. 확정 실험: E1(결정 경로 지연) · E3(상태 신선도) · E4(end-to-end Goodput). 제약·리스크는 별 합계에 넣지 않는다. 이전 평가와의 차이·사유는 설계 문서 §7.4.2, 선택 규칙은 §7.4.4.</a:t>
            </a:r>
          </a:p>
        </p:txBody>
      </p:sp>
    </p:spTree>
    <p:extLst>
      <p:ext uri="{BB962C8B-B14F-4D97-AF65-F5344CB8AC3E}">
        <p14:creationId xmlns:p14="http://schemas.microsoft.com/office/powerpoint/2010/main" val="339240157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3667</Words>
  <Application>Microsoft Office PowerPoint</Application>
  <PresentationFormat>와이드스크린</PresentationFormat>
  <Paragraphs>385</Paragraphs>
  <Slides>4</Slides>
  <Notes>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vt:i4>
      </vt:variant>
    </vt:vector>
  </HeadingPairs>
  <TitlesOfParts>
    <vt:vector size="8" baseType="lpstr">
      <vt:lpstr>맑은 고딕</vt:lpstr>
      <vt:lpstr>Arial</vt:lpstr>
      <vt:lpstr>Wingdings</vt:lpstr>
      <vt:lpstr>Office 테마</vt:lpstr>
      <vt:lpstr>DP0. 요청 조율 구조 (Orchestration) - 배경</vt:lpstr>
      <vt:lpstr>DP0. 여러 서버를 묶는 요청 조율 구조 - 배경</vt:lpstr>
      <vt:lpstr>DP0. 요청 조율 구조 - 요구사항</vt:lpstr>
      <vt:lpstr>DP0. 요청 조율 계층 (Orchestration) 설계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DP0. 요청 조율 구조 (Orchestration) - 배경</dc:title>
  <dc:creator>Myeong Woo Kim</dc:creator>
  <cp:lastModifiedBy>Myeong Woo Kim</cp:lastModifiedBy>
  <cp:revision>1</cp:revision>
  <dcterms:created xsi:type="dcterms:W3CDTF">2026-10-06T13:08:44Z</dcterms:created>
  <dcterms:modified xsi:type="dcterms:W3CDTF">2026-10-06T13:09:01Z</dcterms:modified>
</cp:coreProperties>
</file>
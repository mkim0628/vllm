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639" r:id="rId2"/>
    <p:sldId id="641" r:id="rId3"/>
    <p:sldId id="697" r:id="rId4"/>
    <p:sldId id="558" r:id="rId5"/>
    <p:sldId id="698" r:id="rId11"/>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06" autoAdjust="0"/>
    <p:restoredTop sz="94660"/>
  </p:normalViewPr>
  <p:slideViewPr>
    <p:cSldViewPr snapToGrid="0">
      <p:cViewPr varScale="1">
        <p:scale>
          <a:sx n="90" d="100"/>
          <a:sy n="90" d="100"/>
        </p:scale>
        <p:origin x="132"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E1C3EA-E54E-452B-BF39-31AE508A1EC4}" type="datetimeFigureOut">
              <a:rPr lang="ko-KR" altLang="en-US" smtClean="0"/>
              <a:t>2026-10-06</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0E541-7D41-41DD-B971-E4DBBB729B43}" type="slidenum">
              <a:rPr lang="ko-KR" altLang="en-US" smtClean="0"/>
              <a:t>‹#›</a:t>
            </a:fld>
            <a:endParaRPr lang="ko-KR" altLang="en-US"/>
          </a:p>
        </p:txBody>
      </p:sp>
    </p:spTree>
    <p:extLst>
      <p:ext uri="{BB962C8B-B14F-4D97-AF65-F5344CB8AC3E}">
        <p14:creationId xmlns:p14="http://schemas.microsoft.com/office/powerpoint/2010/main" val="401889780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배경 - 서버 1대 안에서 서버 여러 대로]</a:t>
            </a:r>
          </a:p>
          <a:p>
            <a:r>
              <a:t>먼저 왼쪽입니다. LLM을 돌리는 추론 서버(vLLM 인스턴스) 1대 안에는 GPU의 HBM, 호스트의 DRAM, 그리고 최근 등장한 CXL-PNM, HBF, SSD-PIM 같은 신규 메모리가 섞여 있습니다. 일반 SW로 비유하면 L1/L2 캐시, 메모리, SSD처럼 속도는 빠르고 용량은 작은 것부터 느리고 큰 것까지 계층이 있는 것과 같습니다. LLM이 이전 입력을 다시 계산하지 않으려고 저장해 두는 중간 결과를 KV 캐시라고 부르는데, 이것을 어느 메모리에 두느냐가 성능을 좌우합니다. 이 서버 1대 안의 결정이 지금까지 진행한 DP1~DP4의 범위입니다.</a:t>
            </a:r>
          </a:p>
          <a:p>
            <a:r>
              <a:t>오른쪽은 이 서버를 여러 대, 즉 Rack 규모로 늘렸을 때입니다. 서버마다 메모리 사용 상태와 KV 캐시를 가진 상태가 다르기 때문에, 같은 요청도 어느 서버로 보내느냐에 따라 성능이 크게 달라집니다. 입력 처리(Prefill)와 응답 생성(Decode)을 서로 다른 서버에서 나눠 실행하거나 서버끼리 KV 캐시를 주고받는 일도 생깁니다.</a:t>
            </a:r>
          </a:p>
          <a:p>
            <a:r>
              <a:t>이런 서버 간 결정, 즉 요청 라우팅, Prefill/Decode 분리, KV 공유, 서버 확장을 맡는 것이 요청 조율 계층(Orchestration)입니다. 웹 서비스의 로드밸런서와 스케줄러를 합친 역할입니다. vLLM은 서버 1대 안까지만 다루고, llm-d와 Dynamo 같은 오픈소스가 서버들을 묶는 계층을 제공하므로 두 쪽의 축이 다릅니다. 이 계층을 이기종 메모리 상태까지 반영하도록 어떻게 구성할지가 DP0이고, 다음 장에서 현재 구조와 목표 구조로 정리합니다.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1</a:t>
            </a:fld>
            <a:endParaRPr lang="ko-KR" altLang="en-US"/>
          </a:p>
        </p:txBody>
      </p:sp>
    </p:spTree>
    <p:extLst>
      <p:ext uri="{BB962C8B-B14F-4D97-AF65-F5344CB8AC3E}">
        <p14:creationId xmlns:p14="http://schemas.microsoft.com/office/powerpoint/2010/main" val="3516125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[DP0 배경 - As-Is와 To-Be]</a:t>
            </a:r>
          </a:p>
          <a:p>
            <a:r>
              <a:t>먼저 용어 하나만 짚겠습니다. 저희 시스템은 LLM을 실제로 돌리는 서버(vLLM 인스턴스)가 여러 대 있고, 그 앞에서 요청을 나눠 주는 '요청 조율 계층'이 있습니다. 웹 서비스의 로드밸런서와 스케줄러를 합친 역할입니다. 각 서버는 이전 대화의 중간 결과(KV 캐시)를 HBM, DRAM, CXL 같은 서로 다른 속도의 메모리에 나눠 보관합니다.</a:t>
            </a:r>
          </a:p>
          <a:p>
            <a:r>
              <a:t>왼쪽 As-Is가 지금의 오픈소스(llm-d, Dynamo) 방식입니다. 조율기가 후보 서버에 점수를 매겨 하나를 고르는데, 메모리 종류별 점수가 'GPU 1.0, CPU 0.8'처럼 고정 값입니다. Prefill/Decode(입력 처리와 응답 생성)를 다른 서버에서 나눠 실행할지도 고정 기준으로 정합니다. 정작 서버 안의 메모리 사용량이나 전송 대기 같은 실시간 상태는 판단에 들어가지 않고, 새 메모리(CXL, HBF)는 구분조차 못 합니다. 즉 서버 안에서 애써 얻은 성능 이득이 요청 배분 단계에서 사라질 수 있습니다.</a:t>
            </a:r>
          </a:p>
          <a:p>
            <a:r>
              <a:t>오른쪽 To-Be는 같은 여섯 가지 기능 블록(요청 수신·중계, 서버 선택 로직, 상태 수집, 흐름 제어, Prefill/Decode 조율, 서버 발견·확장)을 유지합니다. 다만 상태 수집에 메모리 종류별 캐시 보유 위치와 사용량·전송 대기 수치를 추가하고, 서버 선택 로직이 이를 비용으로 환산해 판단하게 합니다. 모니터링 메트릭을 읽어 라우팅에 반영하는 구조라고 보시면 됩니다. 이것이 설계 쟁점 1이고, 처리량과 첫 응답 시간(TTFT)을 높이기 위한 설계입니다.</a:t>
            </a:r>
          </a:p>
          <a:p>
            <a:r>
              <a:t>새 메모리나 정책이 생기거나 서버가 늘어도 기존 구조를 바꾸지 않아야 하므로 확장 지점이 필요합니다. 이것이 설계 쟁점 2이고, 변경 용이성과 서버를 늘릴 때의 확장성을 위한 것입니다. 이 확장 지점을 오픈소스를 확장해서 만들지 직접 구현할지가 다음 장들의 1안과 2안입니다.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7696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설계 결정이 풀어야 할 문제를 일반 소프트웨어의 요구사항 분류로 정리한 것입니다. 왼쪽은 기능 요구사항, 즉 '무엇을 해야 하나'입니다. 여러 추론 서버(vLLM 인스턴스) 앞단에서 로드밸런서처럼 요청을 어느 서버로 보낼지 고르고(F1), 서버가 알려 주는 메모리 상태를 모으고(F2), 입력 처리(Prefill)와 응답 생성(Decode)을 서버를 나눠 실행할지 정하고(F3), 서버에 메모리 사용 지시를 내리고(F4), 과부하를 조절하고(F5), 서버 증감을 자동 반영(F6)합니다. 이 중 F5, F6은 오픈소스가 이미 제공하고, 우리가 더해야 할 부분은 F1~F4에서 이기종 메모리 상태를 반영하는 부분입니다. 가운데는 비기능 요구사항(품질 속성)으로 '얼마나 잘 해야 하나'입니다. 처리량, 응답 지연(첫 응답까지 시간), 변경 용이성, 서버를 늘릴 때의 확장성 네 가지를 측정 지표와 함께 정했습니다. 목표 수치는 기준선(baseline)을 측정한 뒤 확정하며, 현재는 가설 단계입니다. 자원 활용률과 모델 정확도는 후보 간 차이를 가르지 못해 품질 속성에서 제외했고, 정확도는 제약 C3으로 처리합니다. 오른쪽은 제약사항으로 '못 건드리는 조건'입니다. vLLM 고정, GPU 서버 2대 환경, 정확도 불변, 오픈소스 업스트림 추적, 서버 내부 설계와의 인터페이스 고정, 5개 정책 표현 가능입니다. 한 줄로 말하면, 서버 내부의 메모리 상태를 반영해 요청을 배분하되 품질 목표를 만족하고 이 제약 안에서 해결하는 것입니다.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[DP0 설계 - 구조(컴포넌트 뷰)]</a:t>
            </a:r>
          </a:p>
          <a:p>
            <a:r>
              <a:t>두 후보를 같은 기능 블록(A~F)과 같은 표기로 그렸습니다. 회색은 우리가 못 바꾸는 vLLM입니다.</a:t>
            </a:r>
          </a:p>
          <a:p>
            <a:r>
              <a:t>1안(왼쪽)은 오픈소스(llm-d)를 그대로 쓰고 우리 로직만 얹습니다. 프록시가 요청을 받아 Router(결정 프로세스)에 원격으로 물어보고(②, 원격 호출 1회), 선택된 서버 옆의 P/D 보조 프로세스가 Prefill 서버를 호출해 P/D를 조율합니다. 노란색이 우리가 추가하는 부분(P1·P2는 설정, P3·P4는 확장 모듈)이고, 빨간 테두리는 기존 모듈을 고쳐야 하는 유일한 곳(P/D 경로의 노드 지시, P5)입니다.</a:t>
            </a:r>
          </a:p>
          <a:p>
            <a:r>
              <a:t>2안(오른쪽)은 전부 우리가 소유하는 계층형 구조입니다. 한 프로세스 안에 Ingress, Pipeline(Admission → PolicyEngine → P/D 조율), State Plane(상태 저장소, 이벤트 구독, 메트릭 수집, 서버 등록)을 나눴고, 정책은 PolicyEngine의 SPI(P1~P3 Scorer, P4 Planner)로 꽂고, 상태는 읽기 전용 StateView 인터페이스로만 읽습니다. 이전 안은 단일 프로세스·정적 설정의 최소 구성이어서 확장성이 일방적으로 약했는데, 이번에는 상태를 공유하지 않는 레플리카 여러 개를 L4 로드밸런서 뒤에 두고 etcd로 서버를 등록하는 구성으로 같은 노력 수준에서 비교합니다. 구현은 되어 있지 않은 설계안입니다.</a:t>
            </a:r>
          </a:p>
          <a:p>
            <a:r>
              <a:t>후보 2가 한 프로세스인 이유: 우리에게 필요한 것은 요청 파싱, 서버 선택, P/D 조율, 토큰 스트림 중계 같은 LLM 전용 기능뿐이고 인증·다중 프로토콜 같은 범용 프록시 기능은 필요하지 않습니다. 그래서 프록시와 결정 로직을 나눌 이유가 없고, 합쳐서 원격 호출 1회를 없앱니다(범용 기능이 나중에 필요하면 앞단 로드밸런서에 맡깁니다).</a:t>
            </a:r>
          </a:p>
          <a:p>
            <a:r>
              <a:t>아래 표의 D1~D3이 두 안을 가르는 세 가지 설계 결정입니다: 결정을 어디서 하는가, P/D 조율을 어디서 하는가, 기능을 누가 소유하는가. 다음 장에서 이 결정들이 품질 속성을 어떻게 맞바꾸는지 봅니다.</a:t>
            </a:r>
          </a:p>
        </p:txBody>
      </p:sp>
      <p:sp>
        <p:nvSpPr>
          <p:cNvPr id="4" name="슬라이드 번호 개체 틀 3"/>
          <p:cNvSpPr>
            <a:spLocks noGrp="1"/>
          </p:cNvSpPr>
          <p:nvPr>
            <p:ph type="sldNum" sz="quarter" idx="10"/>
          </p:nvPr>
        </p:nvSpPr>
        <p:spPr/>
        <p:txBody>
          <a:bodyPr/>
          <a:lstStyle/>
          <a:p>
            <a:fld id="{4EDA8945-F465-465D-B259-7A4F968DC8D5}" type="slidenum">
              <a:rPr lang="ko-KR" altLang="en-US" smtClean="0"/>
              <a:t>4</a:t>
            </a:fld>
            <a:endParaRPr lang="ko-KR" altLang="en-US"/>
          </a:p>
        </p:txBody>
      </p:sp>
    </p:spTree>
    <p:extLst>
      <p:ext uri="{BB962C8B-B14F-4D97-AF65-F5344CB8AC3E}">
        <p14:creationId xmlns:p14="http://schemas.microsoft.com/office/powerpoint/2010/main" val="2840117195"/>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[DP0 설계 - Tradeoff]</a:t>
            </a:r>
          </a:p>
          <a:p>
            <a:r>
              <a:t>이전 평가는 1안이 4개 QA 중 3개에서 앞서 사실상 1안이 지배하는 구조였습니다. 원인은 2안을 단일 프로세스·정적 설정의 최소 구성으로 그려서 확장성과 흐름 제어가 일방적으로 약했던 것입니다. 그래서 2안을 레플리카·etcd를 포함한 같은 노력 수준으로 다시 설계했고, 변경 용이성은 시나리오 S1~S6 단위로 다시 셌습니다. 수치를 결론에 맞춘 것이 아니라 정의를 바로잡은 것이고, 이전 값과 사유는 설계 문서에 남겼습니다.</a:t>
            </a:r>
          </a:p>
          <a:p>
            <a:r>
              <a:t>왼쪽은 설계 결정 세 개가 각각 어떤 QA를 얻고 잃는지입니다. D1 결정 위치: 프로세스 내부 호출은 지연에 유리하지만 결정 부하가 Router 확장에 묶입니다. D2 P/D 조율 위치: 중앙에 두면 전역 시야와 노드 지시(P5) 전달에 유리하지만 Router가 데이터 경로 안에 들어와 병목이 됩니다. D3 기능 소유: OSS 재사용은 신규 기능과 업스트림 흡수에 유리하고, 직접 소유는 우리 로직 변경(S2~S4)에 유리합니다.</a:t>
            </a:r>
          </a:p>
          <a:p>
            <a:r>
              <a:t>오른쪽 결과는 별 합계가 9 대 9 동점입니다. 처리량은 교차(정상 부하·P/D 경로는 2안, 과부하는 1안), 지연은 2안, 변경 용이성은 3:3으로 성격만 다르고, 확장성은 1안입니다. QA 밖 비용도 구현 부담은 1안, 운영 환경 부담(Kubernetes·프록시·자체 Router 이미지)은 2안이 유리해 서로 반대입니다. 그래서 한쪽이 지배하지 않는 tradeoff입니다.</a:t>
            </a:r>
          </a:p>
          <a:p>
            <a:r>
              <a:t>단, 이 평가는 전부 구조 논증에 기반한 가설이고 지연 차이의 크기는 측정하지 못했습니다. E1에서 hop 증분이 잡음 수준이면 2안의 지연 이점이 사라져 1안이 다시 지배합니다. 현재 기본 경로는 실제 실행으로 확인한 1안이고, 2안은 E1 결과와 QA 우선순위 확정에 따라 전환하는 헤지입니다. QA 우선순위(특히 지연 vs 확장성)는 아직 정해지지 않았으며 결정이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08F72DF-0A6E-4BB1-9AF3-0B57D393794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519E4493-1667-49E0-B5EA-DB2FD465570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AC821CC-5A9B-4C5E-AAD1-A650C162F565}"/>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B52A243A-6613-412A-9D3E-B9BED4388468}"/>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11D0221-4EE1-4624-ABF8-E501EABF11CA}"/>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045708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6A52700-1789-44C5-816F-13DB6B767E9B}"/>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3EFD225-F1E6-4272-A0F5-155257D23594}"/>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8B7EE7E-EACD-4207-85CD-50800CADA25E}"/>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4BD3B317-3E3C-492F-A129-DB40DA0749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E75BDABB-FF3A-4FD0-9D22-9C63C8C4F8F6}"/>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818037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D6DFBA3-FA0D-4D5B-855A-A08A490A6FB8}"/>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7AEA5B3-8897-42AE-8A22-316A83429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F5DEDABC-9725-4AB8-B170-8135D3CDE0C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A93DE6A-79B1-4CC2-83F6-A1701D74CCB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C9E4FAD-2C0F-433E-AA41-688DE858785C}"/>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1829455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CE727-CFAF-44B4-95BD-2D851766280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B023465-6B5C-4B80-942B-6AB74CDC6EE1}"/>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377A53C2-4C34-4495-B75D-3103A78B250A}"/>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9532012A-BC4A-443C-8376-492ECD42B41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0E7EBC6A-4127-41D0-BDC8-92E1A79C7853}"/>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080DEB-0701-416C-B5E9-A1380B6A3BE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508819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DE72EFB-3CF5-4FFB-9CBD-1BAB59C050AF}"/>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3BD84F06-7DB4-4DF5-96A0-397DE480BD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D4FE31E-E8D7-4B51-98F1-84E159D3632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09FC50E-E18A-46FE-8848-381C61947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F5DE3E36-7031-4AA6-94D3-6FFC67422A5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BE94F64D-ED04-453B-A77B-91ED8729106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8" name="바닥글 개체 틀 7">
            <a:extLst>
              <a:ext uri="{FF2B5EF4-FFF2-40B4-BE49-F238E27FC236}">
                <a16:creationId xmlns:a16="http://schemas.microsoft.com/office/drawing/2014/main" id="{B0330CAE-B9FD-4933-BDF8-53ECD9E3F38F}"/>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61EC2C36-FF82-4E6B-8B1F-D1FD9EE7AB1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464917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80356BA-34BF-49C1-88AA-4FF1B6F09D32}"/>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D192383-2FEF-4B70-B55B-06B2E9A4B2D3}"/>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4" name="바닥글 개체 틀 3">
            <a:extLst>
              <a:ext uri="{FF2B5EF4-FFF2-40B4-BE49-F238E27FC236}">
                <a16:creationId xmlns:a16="http://schemas.microsoft.com/office/drawing/2014/main" id="{EE3EB5D8-A999-4E8D-8D82-FAF51998E858}"/>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EC924E0-2EC1-4149-B4DF-51E02C956559}"/>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80968343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DBFDA6D-ABBB-4E28-9974-E5DD4B26F0BB}"/>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3" name="바닥글 개체 틀 2">
            <a:extLst>
              <a:ext uri="{FF2B5EF4-FFF2-40B4-BE49-F238E27FC236}">
                <a16:creationId xmlns:a16="http://schemas.microsoft.com/office/drawing/2014/main" id="{B308F9DF-EE39-4541-9E48-FE8CE763BFD6}"/>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DB3201E-5078-4D69-BB6A-B5A031DE1DD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277777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230D62B-90E5-46EE-A9BD-7AA6D7A28E0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27463079-0DD3-43CB-B974-E48455A809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D7757BD2-96C2-4966-91B0-8278388D1A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77543097-E883-4E4F-9F74-478CF9329BFC}"/>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B80B0BD0-7318-4ED4-958A-0515E1D4CA6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84FF451A-9472-416B-9EBC-41DB57C9209F}"/>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23565152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F6A5FCE-64C1-4A71-831E-57FE25E889AD}"/>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252F6508-D532-461F-8F84-BE63E1444E3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7A615DF-26AD-4EF7-AF7F-E46797250BC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51ED3DDA-27C5-411A-9524-317A386C2579}"/>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6" name="바닥글 개체 틀 5">
            <a:extLst>
              <a:ext uri="{FF2B5EF4-FFF2-40B4-BE49-F238E27FC236}">
                <a16:creationId xmlns:a16="http://schemas.microsoft.com/office/drawing/2014/main" id="{930D698A-82D4-4D30-961A-504E4F6B4F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42B9886D-3104-4B61-A084-BB7684B36BC5}"/>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3708733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78CDF2-D33B-474D-BBD8-B173F06831A4}"/>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380378E0-E900-43D7-A0FB-966009102231}"/>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FA1946C-DDDE-4C9D-BB24-215F7E731FBD}"/>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754C24E-50B3-4503-A19E-F23174B8D37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5F9F7F3-41C2-4555-8A5F-90DB614662A1}"/>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0856128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AE2EE8DA-7A79-4A28-ADAA-F491B4FCE37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A3DD7F8F-1FEB-458A-914F-97DFE3258859}"/>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566EC6B-D184-461B-A131-D4976F7969F0}"/>
              </a:ext>
            </a:extLst>
          </p:cNvPr>
          <p:cNvSpPr>
            <a:spLocks noGrp="1"/>
          </p:cNvSpPr>
          <p:nvPr>
            <p:ph type="dt" sz="half" idx="10"/>
          </p:nvPr>
        </p:nvSpPr>
        <p:spPr/>
        <p:txBody>
          <a:body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0F58F7EC-E805-491C-9DBB-DEE7B780808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E65E65E-6DB4-4BB3-A263-5FC8D986E693}"/>
              </a:ext>
            </a:extLst>
          </p:cNvPr>
          <p:cNvSpPr>
            <a:spLocks noGrp="1"/>
          </p:cNvSpPr>
          <p:nvPr>
            <p:ph type="sldNum" sz="quarter" idx="12"/>
          </p:nvPr>
        </p:nvSpPr>
        <p:spPr/>
        <p:txBody>
          <a:body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19790157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grpSp>
        <p:nvGrpSpPr>
          <p:cNvPr id="3" name="그룹 2">
            <a:extLst>
              <a:ext uri="{FF2B5EF4-FFF2-40B4-BE49-F238E27FC236}">
                <a16:creationId xmlns:a16="http://schemas.microsoft.com/office/drawing/2014/main" id="{BF6FB25F-7B1E-410A-903C-9DE680EED1C3}"/>
              </a:ext>
            </a:extLst>
          </p:cNvPr>
          <p:cNvGrpSpPr/>
          <p:nvPr userDrawn="1"/>
        </p:nvGrpSpPr>
        <p:grpSpPr>
          <a:xfrm>
            <a:off x="7995393" y="137379"/>
            <a:ext cx="4006094" cy="357521"/>
            <a:chOff x="7522576" y="137379"/>
            <a:chExt cx="4478924" cy="357521"/>
          </a:xfrm>
        </p:grpSpPr>
        <p:sp>
          <p:nvSpPr>
            <p:cNvPr id="22" name="갈매기형 수장 21"/>
            <p:cNvSpPr/>
            <p:nvPr userDrawn="1"/>
          </p:nvSpPr>
          <p:spPr>
            <a:xfrm>
              <a:off x="7522576" y="137379"/>
              <a:ext cx="1031887" cy="357521"/>
            </a:xfrm>
            <a:prstGeom prst="chevron">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r>
                <a:rPr lang="ko-KR" altLang="en-US" sz="1000" b="1" dirty="0">
                  <a:solidFill>
                    <a:schemeClr val="bg1"/>
                  </a:solidFill>
                </a:rPr>
                <a:t>과제 소개</a:t>
              </a:r>
            </a:p>
          </p:txBody>
        </p:sp>
        <p:sp>
          <p:nvSpPr>
            <p:cNvPr id="23" name="갈매기형 수장 22"/>
            <p:cNvSpPr/>
            <p:nvPr userDrawn="1"/>
          </p:nvSpPr>
          <p:spPr>
            <a:xfrm>
              <a:off x="84150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요구사항</a:t>
              </a:r>
            </a:p>
          </p:txBody>
        </p:sp>
        <p:sp>
          <p:nvSpPr>
            <p:cNvPr id="25" name="갈매기형 수장 24"/>
            <p:cNvSpPr/>
            <p:nvPr userDrawn="1"/>
          </p:nvSpPr>
          <p:spPr>
            <a:xfrm>
              <a:off x="9313975"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설계</a:t>
              </a:r>
            </a:p>
          </p:txBody>
        </p:sp>
        <p:sp>
          <p:nvSpPr>
            <p:cNvPr id="26" name="갈매기형 수장 25"/>
            <p:cNvSpPr/>
            <p:nvPr userDrawn="1"/>
          </p:nvSpPr>
          <p:spPr>
            <a:xfrm>
              <a:off x="10206457" y="137379"/>
              <a:ext cx="1031887"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구현</a:t>
              </a:r>
              <a:r>
                <a:rPr lang="en-US" altLang="ko-KR" sz="1000" b="1" dirty="0">
                  <a:solidFill>
                    <a:schemeClr val="bg1"/>
                  </a:solidFill>
                </a:rPr>
                <a:t>/</a:t>
              </a:r>
              <a:r>
                <a:rPr lang="ko-KR" altLang="en-US" sz="1000" b="1" dirty="0">
                  <a:solidFill>
                    <a:schemeClr val="bg1"/>
                  </a:solidFill>
                </a:rPr>
                <a:t>검증</a:t>
              </a:r>
            </a:p>
          </p:txBody>
        </p:sp>
        <p:sp>
          <p:nvSpPr>
            <p:cNvPr id="27" name="갈매기형 수장 26"/>
            <p:cNvSpPr/>
            <p:nvPr userDrawn="1"/>
          </p:nvSpPr>
          <p:spPr>
            <a:xfrm>
              <a:off x="11105815" y="137379"/>
              <a:ext cx="892483" cy="357521"/>
            </a:xfrm>
            <a:prstGeom prst="chevron">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r>
                <a:rPr lang="ko-KR" altLang="en-US" sz="1000" b="1" dirty="0">
                  <a:solidFill>
                    <a:schemeClr val="bg1"/>
                  </a:solidFill>
                </a:rPr>
                <a:t>결론</a:t>
              </a:r>
            </a:p>
          </p:txBody>
        </p:sp>
        <p:sp>
          <p:nvSpPr>
            <p:cNvPr id="29" name="직사각형 28"/>
            <p:cNvSpPr/>
            <p:nvPr userDrawn="1"/>
          </p:nvSpPr>
          <p:spPr>
            <a:xfrm>
              <a:off x="11789373" y="137379"/>
              <a:ext cx="212127" cy="357521"/>
            </a:xfrm>
            <a:prstGeom prst="rect">
              <a:avLst/>
            </a:prstGeom>
            <a:ln>
              <a:noFill/>
            </a:ln>
          </p:spPr>
          <p:style>
            <a:lnRef idx="1">
              <a:schemeClr val="accent3"/>
            </a:lnRef>
            <a:fillRef idx="2">
              <a:schemeClr val="accent3"/>
            </a:fillRef>
            <a:effectRef idx="1">
              <a:schemeClr val="accent3"/>
            </a:effectRef>
            <a:fontRef idx="minor">
              <a:schemeClr val="dk1"/>
            </a:fontRef>
          </p:style>
          <p:txBody>
            <a:bodyPr lIns="0" tIns="0" rIns="0" bIns="0" rtlCol="0" anchor="ctr"/>
            <a:lstStyle/>
            <a:p>
              <a:pPr lvl="0" algn="ctr"/>
              <a:endParaRPr lang="ko-KR" altLang="en-US" sz="1000" b="1">
                <a:solidFill>
                  <a:schemeClr val="bg1"/>
                </a:solidFill>
              </a:endParaRPr>
            </a:p>
          </p:txBody>
        </p:sp>
        <p:sp>
          <p:nvSpPr>
            <p:cNvPr id="30" name="직사각형 29"/>
            <p:cNvSpPr/>
            <p:nvPr userDrawn="1"/>
          </p:nvSpPr>
          <p:spPr>
            <a:xfrm>
              <a:off x="7528835" y="137379"/>
              <a:ext cx="212127" cy="357521"/>
            </a:xfrm>
            <a:prstGeom prst="rect">
              <a:avLst/>
            </a:prstGeom>
            <a:solidFill>
              <a:schemeClr val="tx1">
                <a:lumMod val="65000"/>
                <a:lumOff val="35000"/>
              </a:schemeClr>
            </a:solidFill>
            <a:ln>
              <a:noFill/>
            </a:ln>
          </p:spPr>
          <p:style>
            <a:lnRef idx="2">
              <a:schemeClr val="dk1">
                <a:shade val="50000"/>
              </a:schemeClr>
            </a:lnRef>
            <a:fillRef idx="1">
              <a:schemeClr val="dk1"/>
            </a:fillRef>
            <a:effectRef idx="0">
              <a:schemeClr val="dk1"/>
            </a:effectRef>
            <a:fontRef idx="minor">
              <a:schemeClr val="lt1"/>
            </a:fontRef>
          </p:style>
          <p:txBody>
            <a:bodyPr lIns="0" tIns="0" rIns="0" bIns="0" rtlCol="0" anchor="ctr"/>
            <a:lstStyle/>
            <a:p>
              <a:pPr lvl="0" algn="ctr"/>
              <a:endParaRPr lang="ko-KR" altLang="en-US" sz="1000" b="1" dirty="0">
                <a:solidFill>
                  <a:schemeClr val="bg1"/>
                </a:solidFill>
              </a:endParaRPr>
            </a:p>
          </p:txBody>
        </p:sp>
      </p:gr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23</a:t>
            </a:r>
            <a:endParaRPr lang="ko-KR" altLang="en-US" sz="1200" dirty="0">
              <a:solidFill>
                <a:schemeClr val="bg1">
                  <a:lumMod val="50000"/>
                </a:schemeClr>
              </a:solidFill>
            </a:endParaRPr>
          </a:p>
        </p:txBody>
      </p:sp>
    </p:spTree>
    <p:extLst>
      <p:ext uri="{BB962C8B-B14F-4D97-AF65-F5344CB8AC3E}">
        <p14:creationId xmlns:p14="http://schemas.microsoft.com/office/powerpoint/2010/main" val="3464337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1DB9F16-EC21-46AD-80D9-C11054F0F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175FC75F-5418-4D50-8197-2B1BBC2A3D0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8C442E-14C8-411D-8ADD-5A8ED6C3B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156246C-1037-487A-9F65-066721A3EE1F}" type="datetimeFigureOut">
              <a:rPr lang="ko-KR" altLang="en-US" smtClean="0"/>
              <a:t>2026-10-06</a:t>
            </a:fld>
            <a:endParaRPr lang="ko-KR" altLang="en-US"/>
          </a:p>
        </p:txBody>
      </p:sp>
      <p:sp>
        <p:nvSpPr>
          <p:cNvPr id="5" name="바닥글 개체 틀 4">
            <a:extLst>
              <a:ext uri="{FF2B5EF4-FFF2-40B4-BE49-F238E27FC236}">
                <a16:creationId xmlns:a16="http://schemas.microsoft.com/office/drawing/2014/main" id="{ED53B9C5-9776-4696-A162-63A8D20BD1C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2D47E8E8-547C-4585-9B60-66F5B59D43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7CA0C55-56F4-4A5A-9AEA-E7C1296B58F7}" type="slidenum">
              <a:rPr lang="ko-KR" altLang="en-US" smtClean="0"/>
              <a:t>‹#›</a:t>
            </a:fld>
            <a:endParaRPr lang="ko-KR" altLang="en-US"/>
          </a:p>
        </p:txBody>
      </p:sp>
    </p:spTree>
    <p:extLst>
      <p:ext uri="{BB962C8B-B14F-4D97-AF65-F5344CB8AC3E}">
        <p14:creationId xmlns:p14="http://schemas.microsoft.com/office/powerpoint/2010/main" val="7170805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6775451" cy="365125"/>
          </a:xfrm>
        </p:spPr>
        <p:txBody>
          <a:bodyPr/>
          <a:lstStyle/>
          <a:p>
            <a:r>
              <a:rPr lang="en-US" altLang="ko-KR" dirty="0"/>
              <a:t>DP0. 요청 조율 구조 (Orchestration) - 배경</a:t>
            </a:r>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4" name="직사각형 93">
            <a:extLst>
              <a:ext uri="{FF2B5EF4-FFF2-40B4-BE49-F238E27FC236}">
                <a16:creationId xmlns:a16="http://schemas.microsoft.com/office/drawing/2014/main" id="{E3784E02-153A-49F1-A2CD-CE4252048DE7}"/>
              </a:ext>
            </a:extLst>
          </p:cNvPr>
          <p:cNvSpPr/>
          <p:nvPr/>
        </p:nvSpPr>
        <p:spPr>
          <a:xfrm>
            <a:off x="6160372" y="849834"/>
            <a:ext cx="5694021" cy="549961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5" name="모서리가 둥근 직사각형 217">
            <a:extLst>
              <a:ext uri="{FF2B5EF4-FFF2-40B4-BE49-F238E27FC236}">
                <a16:creationId xmlns:a16="http://schemas.microsoft.com/office/drawing/2014/main" id="{63A3E9B0-7066-45A1-BE5D-E8DD4EAEDB03}"/>
              </a:ext>
            </a:extLst>
          </p:cNvPr>
          <p:cNvSpPr/>
          <p:nvPr/>
        </p:nvSpPr>
        <p:spPr>
          <a:xfrm>
            <a:off x="7210115" y="740708"/>
            <a:ext cx="3749552" cy="285015"/>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200" b="1" dirty="0"/>
              <a:t>② 서버 여러 대로 확장 (Rack Scale)</a:t>
            </a:r>
          </a:p>
        </p:txBody>
      </p:sp>
      <p:grpSp>
        <p:nvGrpSpPr>
          <p:cNvPr id="91" name="그룹 90">
            <a:extLst>
              <a:ext uri="{FF2B5EF4-FFF2-40B4-BE49-F238E27FC236}">
                <a16:creationId xmlns:a16="http://schemas.microsoft.com/office/drawing/2014/main" id="{6A78737F-A253-4CE8-B9A2-72B91FF65732}"/>
              </a:ext>
            </a:extLst>
          </p:cNvPr>
          <p:cNvGrpSpPr/>
          <p:nvPr/>
        </p:nvGrpSpPr>
        <p:grpSpPr>
          <a:xfrm>
            <a:off x="295158" y="731684"/>
            <a:ext cx="5674740" cy="5650065"/>
            <a:chOff x="211958" y="3093998"/>
            <a:chExt cx="6173884" cy="5288499"/>
          </a:xfrm>
        </p:grpSpPr>
        <p:sp>
          <p:nvSpPr>
            <p:cNvPr id="92" name="직사각형 91">
              <a:extLst>
                <a:ext uri="{FF2B5EF4-FFF2-40B4-BE49-F238E27FC236}">
                  <a16:creationId xmlns:a16="http://schemas.microsoft.com/office/drawing/2014/main" id="{14E0C7FA-AF01-4522-B324-5D5122403813}"/>
                </a:ext>
              </a:extLst>
            </p:cNvPr>
            <p:cNvSpPr/>
            <p:nvPr/>
          </p:nvSpPr>
          <p:spPr>
            <a:xfrm>
              <a:off x="211958" y="3255024"/>
              <a:ext cx="6173884" cy="5127473"/>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3" name="모서리가 둥근 직사각형 212">
              <a:extLst>
                <a:ext uri="{FF2B5EF4-FFF2-40B4-BE49-F238E27FC236}">
                  <a16:creationId xmlns:a16="http://schemas.microsoft.com/office/drawing/2014/main" id="{1104C980-3417-4022-8A1E-A71193CA465E}"/>
                </a:ext>
              </a:extLst>
            </p:cNvPr>
            <p:cNvSpPr/>
            <p:nvPr/>
          </p:nvSpPr>
          <p:spPr>
            <a:xfrm>
              <a:off x="1275530" y="3093998"/>
              <a:ext cx="4046740" cy="276747"/>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ko-KR" altLang="en-US" sz="1200" b="1" dirty="0"/>
                <a:t>① 서버 1대 안: 이기종 메모리 환경</a:t>
              </a:r>
            </a:p>
          </p:txBody>
        </p:sp>
      </p:grpSp>
      <p:sp>
        <p:nvSpPr>
          <p:cNvPr id="102" name="TextBox 101"/>
          <p:cNvSpPr txBox="1"/>
          <p:nvPr/>
        </p:nvSpPr>
        <p:spPr>
          <a:xfrm>
            <a:off x="457200" y="1152144"/>
            <a:ext cx="5349240" cy="640080"/>
          </a:xfrm>
          <a:prstGeom prst="rect">
            <a:avLst/>
          </a:prstGeom>
          <a:noFill/>
        </p:spPr>
        <p:txBody>
          <a:bodyPr wrap="square" lIns="0" tIns="0" rIns="0" bIns="0" anchor="t">
            <a:spAutoFit/>
          </a:bodyPr>
          <a:lstStyle/>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신규 메모리(HBF, CXL-PNM, SSD-PIM 등)가 등장해 서버 1대 안에 </a:t>
            </a:r>
            <a:r>
              <a:rPr sz="1050" b="1" i="0">
                <a:solidFill>
                  <a:srgbClr val="2E75B6"/>
                </a:solidFill>
                <a:latin typeface="맑은 고딕"/>
                <a:ea typeface="맑은 고딕"/>
              </a:rPr>
              <a:t>속도·용량·기능이 다른 메모리가 혼재</a:t>
            </a:r>
          </a:p>
          <a:p>
            <a:pPr algn="l">
              <a:lnSpc>
                <a:spcPct val="112000"/>
              </a:lnSpc>
            </a:pPr>
            <a:r>
              <a:rPr sz="1050" b="1" i="0">
                <a:solidFill>
                  <a:srgbClr val="2E75B6"/>
                </a:solidFill>
                <a:latin typeface="맑은 고딕"/>
                <a:ea typeface="맑은 고딕"/>
              </a:rPr>
              <a:t>✓ </a:t>
            </a:r>
            <a:r>
              <a:rPr sz="1050" b="0" i="0">
                <a:solidFill>
                  <a:srgbClr val="404040"/>
                </a:solidFill>
                <a:latin typeface="맑은 고딕"/>
                <a:ea typeface="맑은 고딕"/>
              </a:rPr>
              <a:t>KV 캐시 등 AI 데이터를 </a:t>
            </a:r>
            <a:r>
              <a:rPr sz="1050" b="1" i="0">
                <a:solidFill>
                  <a:srgbClr val="2E75B6"/>
                </a:solidFill>
                <a:latin typeface="맑은 고딕"/>
                <a:ea typeface="맑은 고딕"/>
              </a:rPr>
              <a:t>어느 메모리에 두느냐</a:t>
            </a:r>
            <a:r>
              <a:rPr sz="1050" b="0" i="0">
                <a:solidFill>
                  <a:srgbClr val="404040"/>
                </a:solidFill>
                <a:latin typeface="맑은 고딕"/>
                <a:ea typeface="맑은 고딕"/>
              </a:rPr>
              <a:t>가 성능을 좌우</a:t>
            </a:r>
          </a:p>
        </p:txBody>
      </p:sp>
      <p:sp>
        <p:nvSpPr>
          <p:cNvPr id="103" name="Rectangle 102"/>
          <p:cNvSpPr/>
          <p:nvPr/>
        </p:nvSpPr>
        <p:spPr>
          <a:xfrm>
            <a:off x="502920" y="1847088"/>
            <a:ext cx="525780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4" name="Rectangle 103"/>
          <p:cNvSpPr/>
          <p:nvPr/>
        </p:nvSpPr>
        <p:spPr>
          <a:xfrm>
            <a:off x="594360" y="1920240"/>
            <a:ext cx="5074920" cy="2377440"/>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ectangle 104"/>
          <p:cNvSpPr/>
          <p:nvPr/>
        </p:nvSpPr>
        <p:spPr>
          <a:xfrm>
            <a:off x="594360" y="1920240"/>
            <a:ext cx="3017520"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«server» 추론 서버 1대 (vLLM 인스턴스)</a:t>
            </a:r>
          </a:p>
        </p:txBody>
      </p:sp>
      <p:sp>
        <p:nvSpPr>
          <p:cNvPr id="106" name="Rounded Rectangle 105"/>
          <p:cNvSpPr/>
          <p:nvPr/>
        </p:nvSpPr>
        <p:spPr>
          <a:xfrm>
            <a:off x="4343400" y="1938528"/>
            <a:ext cx="1261872" cy="164592"/>
          </a:xfrm>
          <a:prstGeom prst="roundRect">
            <a:avLst>
              <a:gd name="adj" fmla="val 30000"/>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C55A11"/>
                </a:solidFill>
                <a:latin typeface="맑은 고딕"/>
                <a:ea typeface="맑은 고딕"/>
              </a:rPr>
              <a:t>주황 = 신규 메모리</a:t>
            </a:r>
          </a:p>
        </p:txBody>
      </p:sp>
      <p:sp>
        <p:nvSpPr>
          <p:cNvPr id="107" name="Rectangle 106"/>
          <p:cNvSpPr/>
          <p:nvPr/>
        </p:nvSpPr>
        <p:spPr>
          <a:xfrm>
            <a:off x="822960" y="2194560"/>
            <a:ext cx="4572000" cy="38404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vLLM 실행 엔진</a:t>
            </a:r>
          </a:p>
          <a:p>
            <a:pPr algn="ctr"/>
            <a:r>
              <a:rPr sz="700" b="0" i="0">
                <a:solidFill>
                  <a:srgbClr val="000000"/>
                </a:solidFill>
                <a:latin typeface="맑은 고딕"/>
                <a:ea typeface="맑은 고딕"/>
              </a:rPr>
              <a:t>KV 캐시를 만들고 메모리 계층에 배치·이동</a:t>
            </a:r>
          </a:p>
        </p:txBody>
      </p:sp>
      <p:sp>
        <p:nvSpPr>
          <p:cNvPr id="108" name="Rectangle 107"/>
          <p:cNvSpPr/>
          <p:nvPr/>
        </p:nvSpPr>
        <p:spPr>
          <a:xfrm>
            <a:off x="777240"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777240"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0" name="Rectangle 109"/>
          <p:cNvSpPr/>
          <p:nvPr/>
        </p:nvSpPr>
        <p:spPr>
          <a:xfrm>
            <a:off x="731520" y="2834640"/>
            <a:ext cx="141732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1" name="Rectangle 110"/>
          <p:cNvSpPr/>
          <p:nvPr/>
        </p:nvSpPr>
        <p:spPr>
          <a:xfrm>
            <a:off x="731520" y="2834640"/>
            <a:ext cx="281635"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GPU</a:t>
            </a:r>
          </a:p>
        </p:txBody>
      </p:sp>
      <p:sp>
        <p:nvSpPr>
          <p:cNvPr id="112" name="Rectangle 111"/>
          <p:cNvSpPr/>
          <p:nvPr/>
        </p:nvSpPr>
        <p:spPr>
          <a:xfrm>
            <a:off x="868680" y="3154680"/>
            <a:ext cx="1170432"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HBM</a:t>
            </a:r>
          </a:p>
          <a:p>
            <a:pPr algn="ctr"/>
            <a:r>
              <a:rPr sz="700" b="0" i="0">
                <a:solidFill>
                  <a:srgbClr val="000000"/>
                </a:solidFill>
                <a:latin typeface="맑은 고딕"/>
                <a:ea typeface="맑은 고딕"/>
              </a:rPr>
              <a:t>BW 최고 · 용량 소</a:t>
            </a:r>
          </a:p>
          <a:p>
            <a:pPr algn="ctr"/>
            <a:r>
              <a:rPr sz="700" b="0" i="0">
                <a:solidFill>
                  <a:srgbClr val="000000"/>
                </a:solidFill>
                <a:latin typeface="맑은 고딕"/>
                <a:ea typeface="맑은 고딕"/>
              </a:rPr>
              <a:t>(KV 캐시 1순위)</a:t>
            </a:r>
          </a:p>
        </p:txBody>
      </p:sp>
      <p:sp>
        <p:nvSpPr>
          <p:cNvPr id="113" name="Rectangle 112"/>
          <p:cNvSpPr/>
          <p:nvPr/>
        </p:nvSpPr>
        <p:spPr>
          <a:xfrm>
            <a:off x="822959"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4" name="Rectangle 113"/>
          <p:cNvSpPr/>
          <p:nvPr/>
        </p:nvSpPr>
        <p:spPr>
          <a:xfrm>
            <a:off x="822959"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5" name="Rectangle 114"/>
          <p:cNvSpPr/>
          <p:nvPr/>
        </p:nvSpPr>
        <p:spPr>
          <a:xfrm>
            <a:off x="2487168" y="2834640"/>
            <a:ext cx="1325880" cy="138988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6" name="Rectangle 115"/>
          <p:cNvSpPr/>
          <p:nvPr/>
        </p:nvSpPr>
        <p:spPr>
          <a:xfrm>
            <a:off x="2487168" y="2834640"/>
            <a:ext cx="687628"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CPU / 호스트</a:t>
            </a:r>
          </a:p>
        </p:txBody>
      </p:sp>
      <p:sp>
        <p:nvSpPr>
          <p:cNvPr id="117" name="Rectangle 116"/>
          <p:cNvSpPr/>
          <p:nvPr/>
        </p:nvSpPr>
        <p:spPr>
          <a:xfrm>
            <a:off x="2624328" y="3154680"/>
            <a:ext cx="1097280" cy="68580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DRAM</a:t>
            </a:r>
          </a:p>
          <a:p>
            <a:pPr algn="ctr"/>
            <a:r>
              <a:rPr sz="700" b="0" i="0">
                <a:solidFill>
                  <a:srgbClr val="000000"/>
                </a:solidFill>
                <a:latin typeface="맑은 고딕"/>
                <a:ea typeface="맑은 고딕"/>
              </a:rPr>
              <a:t>범용 · 중간 BW</a:t>
            </a:r>
          </a:p>
          <a:p>
            <a:pPr algn="ctr"/>
            <a:r>
              <a:rPr sz="700" b="0" i="0">
                <a:solidFill>
                  <a:srgbClr val="000000"/>
                </a:solidFill>
                <a:latin typeface="맑은 고딕"/>
                <a:ea typeface="맑은 고딕"/>
              </a:rPr>
              <a:t>(KV 캐시 2순위)</a:t>
            </a:r>
          </a:p>
        </p:txBody>
      </p:sp>
      <p:sp>
        <p:nvSpPr>
          <p:cNvPr id="118" name="Rectangle 117"/>
          <p:cNvSpPr/>
          <p:nvPr/>
        </p:nvSpPr>
        <p:spPr>
          <a:xfrm>
            <a:off x="2578608" y="320954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9" name="Rectangle 118"/>
          <p:cNvSpPr/>
          <p:nvPr/>
        </p:nvSpPr>
        <p:spPr>
          <a:xfrm>
            <a:off x="2578608" y="330098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0" name="Rectangle 119"/>
          <p:cNvSpPr/>
          <p:nvPr/>
        </p:nvSpPr>
        <p:spPr>
          <a:xfrm>
            <a:off x="4114800" y="2834640"/>
            <a:ext cx="1417320" cy="1389888"/>
          </a:xfrm>
          <a:prstGeom prst="rect">
            <a:avLst/>
          </a:prstGeom>
          <a:solidFill>
            <a:srgbClr val="FFFFFF"/>
          </a:solidFill>
          <a:ln w="1587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114800" y="2834640"/>
            <a:ext cx="921715"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확장 메모리 (신규)</a:t>
            </a:r>
          </a:p>
        </p:txBody>
      </p:sp>
      <p:sp>
        <p:nvSpPr>
          <p:cNvPr id="122" name="Rectangle 121"/>
          <p:cNvSpPr/>
          <p:nvPr/>
        </p:nvSpPr>
        <p:spPr>
          <a:xfrm>
            <a:off x="4251960" y="3044952"/>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CXL-PNM</a:t>
            </a:r>
          </a:p>
          <a:p>
            <a:pPr algn="ctr"/>
            <a:r>
              <a:rPr sz="650" b="0" i="0">
                <a:solidFill>
                  <a:srgbClr val="000000"/>
                </a:solidFill>
                <a:latin typeface="맑은 고딕"/>
                <a:ea typeface="맑은 고딕"/>
              </a:rPr>
              <a:t>연산 가능 · 확장 용량</a:t>
            </a:r>
          </a:p>
        </p:txBody>
      </p:sp>
      <p:sp>
        <p:nvSpPr>
          <p:cNvPr id="123" name="Rectangle 122"/>
          <p:cNvSpPr/>
          <p:nvPr/>
        </p:nvSpPr>
        <p:spPr>
          <a:xfrm>
            <a:off x="4206240" y="309981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4" name="Rectangle 123"/>
          <p:cNvSpPr/>
          <p:nvPr/>
        </p:nvSpPr>
        <p:spPr>
          <a:xfrm>
            <a:off x="4206240" y="3191256"/>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51960" y="3438144"/>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HBF</a:t>
            </a:r>
          </a:p>
          <a:p>
            <a:pPr algn="ctr"/>
            <a:r>
              <a:rPr sz="650" b="0" i="0">
                <a:solidFill>
                  <a:srgbClr val="000000"/>
                </a:solidFill>
                <a:latin typeface="맑은 고딕"/>
                <a:ea typeface="맑은 고딕"/>
              </a:rPr>
              <a:t>대용량 · Read 위주</a:t>
            </a:r>
          </a:p>
        </p:txBody>
      </p:sp>
      <p:sp>
        <p:nvSpPr>
          <p:cNvPr id="126" name="Rectangle 125"/>
          <p:cNvSpPr/>
          <p:nvPr/>
        </p:nvSpPr>
        <p:spPr>
          <a:xfrm>
            <a:off x="4206240" y="349300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7" name="Rectangle 126"/>
          <p:cNvSpPr/>
          <p:nvPr/>
        </p:nvSpPr>
        <p:spPr>
          <a:xfrm>
            <a:off x="4206240" y="3584448"/>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8" name="Rectangle 127"/>
          <p:cNvSpPr/>
          <p:nvPr/>
        </p:nvSpPr>
        <p:spPr>
          <a:xfrm>
            <a:off x="4251960" y="3831336"/>
            <a:ext cx="1207008" cy="347472"/>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SSD-PIM</a:t>
            </a:r>
          </a:p>
          <a:p>
            <a:pPr algn="ctr"/>
            <a:r>
              <a:rPr sz="650" b="0" i="0">
                <a:solidFill>
                  <a:srgbClr val="000000"/>
                </a:solidFill>
                <a:latin typeface="맑은 고딕"/>
                <a:ea typeface="맑은 고딕"/>
              </a:rPr>
              <a:t>초대용량 · 낮은 BW</a:t>
            </a:r>
          </a:p>
        </p:txBody>
      </p:sp>
      <p:sp>
        <p:nvSpPr>
          <p:cNvPr id="129" name="Rectangle 128"/>
          <p:cNvSpPr/>
          <p:nvPr/>
        </p:nvSpPr>
        <p:spPr>
          <a:xfrm>
            <a:off x="4206240" y="3886200"/>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0" name="Rectangle 129"/>
          <p:cNvSpPr/>
          <p:nvPr/>
        </p:nvSpPr>
        <p:spPr>
          <a:xfrm>
            <a:off x="4206240" y="3977639"/>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131" name="Connector 130"/>
          <p:cNvCxnSpPr/>
          <p:nvPr/>
        </p:nvCxnSpPr>
        <p:spPr>
          <a:xfrm>
            <a:off x="17373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2" name="Oval 131"/>
          <p:cNvSpPr/>
          <p:nvPr/>
        </p:nvSpPr>
        <p:spPr>
          <a:xfrm>
            <a:off x="16596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33" name="TextBox 132"/>
          <p:cNvSpPr txBox="1"/>
          <p:nvPr/>
        </p:nvSpPr>
        <p:spPr>
          <a:xfrm>
            <a:off x="1828800" y="2610611"/>
            <a:ext cx="82296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계산 중 접근</a:t>
            </a:r>
          </a:p>
        </p:txBody>
      </p:sp>
      <p:cxnSp>
        <p:nvCxnSpPr>
          <p:cNvPr id="134" name="Connector 133"/>
          <p:cNvCxnSpPr/>
          <p:nvPr/>
        </p:nvCxnSpPr>
        <p:spPr>
          <a:xfrm>
            <a:off x="3566160" y="2578608"/>
            <a:ext cx="0" cy="57607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5" name="Oval 134"/>
          <p:cNvSpPr/>
          <p:nvPr/>
        </p:nvSpPr>
        <p:spPr>
          <a:xfrm>
            <a:off x="3488436" y="278892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sp>
        <p:nvSpPr>
          <p:cNvPr id="136" name="TextBox 135"/>
          <p:cNvSpPr txBox="1"/>
          <p:nvPr/>
        </p:nvSpPr>
        <p:spPr>
          <a:xfrm>
            <a:off x="3657600" y="2610611"/>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37" name="Connector 136"/>
          <p:cNvCxnSpPr/>
          <p:nvPr/>
        </p:nvCxnSpPr>
        <p:spPr>
          <a:xfrm>
            <a:off x="4718304" y="2578608"/>
            <a:ext cx="0" cy="25603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38" name="Oval 137"/>
          <p:cNvSpPr/>
          <p:nvPr/>
        </p:nvSpPr>
        <p:spPr>
          <a:xfrm>
            <a:off x="4640580" y="262890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39" name="TextBox 138"/>
          <p:cNvSpPr txBox="1"/>
          <p:nvPr/>
        </p:nvSpPr>
        <p:spPr>
          <a:xfrm>
            <a:off x="4809744" y="2615184"/>
            <a:ext cx="4572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접근</a:t>
            </a:r>
          </a:p>
        </p:txBody>
      </p:sp>
      <p:cxnSp>
        <p:nvCxnSpPr>
          <p:cNvPr id="140" name="Connector 139"/>
          <p:cNvCxnSpPr/>
          <p:nvPr/>
        </p:nvCxnSpPr>
        <p:spPr>
          <a:xfrm>
            <a:off x="2039112" y="3611880"/>
            <a:ext cx="585216" cy="0"/>
          </a:xfrm>
          <a:prstGeom prst="line">
            <a:avLst/>
          </a:prstGeom>
          <a:ln w="15875">
            <a:solidFill>
              <a:srgbClr val="2E75B6"/>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1" name="Oval 140"/>
          <p:cNvSpPr/>
          <p:nvPr/>
        </p:nvSpPr>
        <p:spPr>
          <a:xfrm>
            <a:off x="2253996" y="3534156"/>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sp>
        <p:nvSpPr>
          <p:cNvPr id="142" name="TextBox 141"/>
          <p:cNvSpPr txBox="1"/>
          <p:nvPr/>
        </p:nvSpPr>
        <p:spPr>
          <a:xfrm>
            <a:off x="2103120" y="3703320"/>
            <a:ext cx="548640" cy="164592"/>
          </a:xfrm>
          <a:prstGeom prst="rect">
            <a:avLst/>
          </a:prstGeom>
          <a:noFill/>
        </p:spPr>
        <p:txBody>
          <a:bodyPr wrap="square" lIns="0" tIns="0" rIns="0" bIns="0" anchor="t">
            <a:spAutoFit/>
          </a:bodyPr>
          <a:lstStyle/>
          <a:p>
            <a:pPr algn="ctr"/>
            <a:r>
              <a:rPr sz="700" b="1" i="0">
                <a:solidFill>
                  <a:srgbClr val="2E75B6"/>
                </a:solidFill>
                <a:latin typeface="맑은 고딕"/>
                <a:ea typeface="맑은 고딕"/>
              </a:rPr>
              <a:t>PCIe</a:t>
            </a:r>
          </a:p>
        </p:txBody>
      </p:sp>
      <p:cxnSp>
        <p:nvCxnSpPr>
          <p:cNvPr id="143" name="Connector 142"/>
          <p:cNvCxnSpPr/>
          <p:nvPr/>
        </p:nvCxnSpPr>
        <p:spPr>
          <a:xfrm>
            <a:off x="3721608" y="3611880"/>
            <a:ext cx="530352"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144" name="Oval 143"/>
          <p:cNvSpPr/>
          <p:nvPr/>
        </p:nvSpPr>
        <p:spPr>
          <a:xfrm>
            <a:off x="3909060" y="3534156"/>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5</a:t>
            </a:r>
          </a:p>
        </p:txBody>
      </p:sp>
      <p:sp>
        <p:nvSpPr>
          <p:cNvPr id="145" name="TextBox 144"/>
          <p:cNvSpPr txBox="1"/>
          <p:nvPr/>
        </p:nvSpPr>
        <p:spPr>
          <a:xfrm>
            <a:off x="3721608" y="3703320"/>
            <a:ext cx="548640" cy="164592"/>
          </a:xfrm>
          <a:prstGeom prst="rect">
            <a:avLst/>
          </a:prstGeom>
          <a:noFill/>
        </p:spPr>
        <p:txBody>
          <a:bodyPr wrap="square" lIns="0" tIns="0" rIns="0" bIns="0" anchor="t">
            <a:spAutoFit/>
          </a:bodyPr>
          <a:lstStyle/>
          <a:p>
            <a:pPr algn="ctr"/>
            <a:r>
              <a:rPr sz="700" b="1" i="0">
                <a:solidFill>
                  <a:srgbClr val="C55A11"/>
                </a:solidFill>
                <a:latin typeface="맑은 고딕"/>
                <a:ea typeface="맑은 고딕"/>
              </a:rPr>
              <a:t>확장</a:t>
            </a:r>
          </a:p>
        </p:txBody>
      </p:sp>
      <p:sp>
        <p:nvSpPr>
          <p:cNvPr id="146" name="TextBox 145"/>
          <p:cNvSpPr txBox="1"/>
          <p:nvPr/>
        </p:nvSpPr>
        <p:spPr>
          <a:xfrm>
            <a:off x="731520" y="4288536"/>
            <a:ext cx="4937760" cy="155448"/>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④⑤ KV 캐시가 메모리 계층 사이를 이동 (자주 쓰는 것은 위로, 오래된 것은 아래로)</a:t>
            </a:r>
          </a:p>
        </p:txBody>
      </p:sp>
      <p:sp>
        <p:nvSpPr>
          <p:cNvPr id="147" name="TextBox 146"/>
          <p:cNvSpPr txBox="1"/>
          <p:nvPr/>
        </p:nvSpPr>
        <p:spPr>
          <a:xfrm>
            <a:off x="566928" y="4453128"/>
            <a:ext cx="86868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빠름 · 작음</a:t>
            </a:r>
          </a:p>
        </p:txBody>
      </p:sp>
      <p:cxnSp>
        <p:nvCxnSpPr>
          <p:cNvPr id="148" name="Connector 147"/>
          <p:cNvCxnSpPr/>
          <p:nvPr/>
        </p:nvCxnSpPr>
        <p:spPr>
          <a:xfrm>
            <a:off x="1371600" y="4544568"/>
            <a:ext cx="3383280" cy="0"/>
          </a:xfrm>
          <a:prstGeom prst="line">
            <a:avLst/>
          </a:prstGeom>
          <a:ln w="15875">
            <a:solidFill>
              <a:srgbClr val="404040"/>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49" name="TextBox 148"/>
          <p:cNvSpPr txBox="1"/>
          <p:nvPr/>
        </p:nvSpPr>
        <p:spPr>
          <a:xfrm>
            <a:off x="4800600" y="4453128"/>
            <a:ext cx="914400" cy="182880"/>
          </a:xfrm>
          <a:prstGeom prst="rect">
            <a:avLst/>
          </a:prstGeom>
          <a:noFill/>
        </p:spPr>
        <p:txBody>
          <a:bodyPr wrap="square" lIns="0" tIns="0" rIns="0" bIns="0" anchor="t">
            <a:spAutoFit/>
          </a:bodyPr>
          <a:lstStyle/>
          <a:p>
            <a:pPr algn="l"/>
            <a:r>
              <a:rPr sz="700" b="1" i="0">
                <a:solidFill>
                  <a:srgbClr val="404040"/>
                </a:solidFill>
                <a:latin typeface="맑은 고딕"/>
                <a:ea typeface="맑은 고딕"/>
              </a:rPr>
              <a:t>느림 · 큼</a:t>
            </a:r>
          </a:p>
        </p:txBody>
      </p:sp>
      <p:sp>
        <p:nvSpPr>
          <p:cNvPr id="150" name="Rectangle 149"/>
          <p:cNvSpPr/>
          <p:nvPr/>
        </p:nvSpPr>
        <p:spPr>
          <a:xfrm>
            <a:off x="502920" y="4754880"/>
            <a:ext cx="525780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1" name="TextBox 150"/>
          <p:cNvSpPr txBox="1"/>
          <p:nvPr/>
        </p:nvSpPr>
        <p:spPr>
          <a:xfrm>
            <a:off x="621792" y="4782312"/>
            <a:ext cx="5074920" cy="987552"/>
          </a:xfrm>
          <a:prstGeom prst="rect">
            <a:avLst/>
          </a:prstGeom>
          <a:noFill/>
        </p:spPr>
        <p:txBody>
          <a:bodyPr wrap="square" lIns="0" tIns="0" rIns="0" bIns="0" anchor="t">
            <a:spAutoFit/>
          </a:bodyPr>
          <a:lstStyle/>
          <a:p>
            <a:pPr algn="l">
              <a:lnSpc>
                <a:spcPct val="110000"/>
              </a:lnSpc>
            </a:pPr>
            <a:r>
              <a:rPr sz="950" b="1" i="0">
                <a:solidFill>
                  <a:srgbClr val="2E75B6"/>
                </a:solidFill>
                <a:latin typeface="맑은 고딕"/>
                <a:ea typeface="맑은 고딕"/>
              </a:rPr>
              <a:t>DP1~DP4 = 서버 1대 안에서 내리는 결정 (서버 내부 결정)</a:t>
            </a:r>
          </a:p>
          <a:p>
            <a:pPr algn="l">
              <a:lnSpc>
                <a:spcPct val="110000"/>
              </a:lnSpc>
            </a:pPr>
            <a:r>
              <a:rPr sz="850" b="0" i="0">
                <a:solidFill>
                  <a:srgbClr val="404040"/>
                </a:solidFill>
                <a:latin typeface="맑은 고딕"/>
                <a:ea typeface="맑은 고딕"/>
              </a:rPr>
              <a:t>· DP1  이기종 메모리 기반 AI 데이터 배치: 어떤 데이터를 어느 메모리에?</a:t>
            </a:r>
          </a:p>
          <a:p>
            <a:pPr algn="l">
              <a:lnSpc>
                <a:spcPct val="110000"/>
              </a:lnSpc>
            </a:pPr>
            <a:r>
              <a:rPr sz="850" b="0" i="0">
                <a:solidFill>
                  <a:srgbClr val="404040"/>
                </a:solidFill>
                <a:latin typeface="맑은 고딕"/>
                <a:ea typeface="맑은 고딕"/>
              </a:rPr>
              <a:t>· DP2  Prefill(입력 처리) 실행: 어느 연산 자원에서?</a:t>
            </a:r>
          </a:p>
          <a:p>
            <a:pPr algn="l">
              <a:lnSpc>
                <a:spcPct val="110000"/>
              </a:lnSpc>
            </a:pPr>
            <a:r>
              <a:rPr sz="850" b="0" i="0">
                <a:solidFill>
                  <a:srgbClr val="404040"/>
                </a:solidFill>
                <a:latin typeface="맑은 고딕"/>
                <a:ea typeface="맑은 고딕"/>
              </a:rPr>
              <a:t>· DP3  Long Context KV Eviction &amp; Reuse  · DP4  Agent Tool-wait KV residency</a:t>
            </a:r>
          </a:p>
          <a:p>
            <a:pPr algn="l">
              <a:lnSpc>
                <a:spcPct val="110000"/>
              </a:lnSpc>
            </a:pPr>
            <a:r>
              <a:rPr sz="750" b="0" i="0">
                <a:solidFill>
                  <a:srgbClr val="404040"/>
                </a:solidFill>
                <a:latin typeface="맑은 고딕"/>
                <a:ea typeface="맑은 고딕"/>
              </a:rPr>
              <a:t>vLLM은 GPU 여러 장을 써도 '서버 내부 병렬화'까지만 담당</a:t>
            </a:r>
          </a:p>
        </p:txBody>
      </p:sp>
      <p:sp>
        <p:nvSpPr>
          <p:cNvPr id="152" name="TextBox 151"/>
          <p:cNvSpPr txBox="1"/>
          <p:nvPr/>
        </p:nvSpPr>
        <p:spPr>
          <a:xfrm>
            <a:off x="6327648" y="1152144"/>
            <a:ext cx="5394960" cy="640080"/>
          </a:xfrm>
          <a:prstGeom prst="rect">
            <a:avLst/>
          </a:prstGeom>
          <a:noFill/>
        </p:spPr>
        <p:txBody>
          <a:bodyPr wrap="square" lIns="0" tIns="0" rIns="0" bIns="0" anchor="t">
            <a:spAutoFit/>
          </a:bodyPr>
          <a:lstStyle/>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서버·GPU가 여러 대 → </a:t>
            </a:r>
            <a:r>
              <a:rPr sz="1050" b="1" i="0">
                <a:solidFill>
                  <a:srgbClr val="C55A11"/>
                </a:solidFill>
                <a:latin typeface="맑은 고딕"/>
                <a:ea typeface="맑은 고딕"/>
              </a:rPr>
              <a:t>서버마다 메모리 사용 상태·KV 캐시 보유 상태가 다름</a:t>
            </a:r>
          </a:p>
          <a:p>
            <a:pPr algn="l">
              <a:lnSpc>
                <a:spcPct val="112000"/>
              </a:lnSpc>
            </a:pPr>
            <a:r>
              <a:rPr sz="1050" b="1" i="0">
                <a:solidFill>
                  <a:srgbClr val="C55A11"/>
                </a:solidFill>
                <a:latin typeface="맑은 고딕"/>
                <a:ea typeface="맑은 고딕"/>
              </a:rPr>
              <a:t>✓ </a:t>
            </a:r>
            <a:r>
              <a:rPr sz="1050" b="0" i="0">
                <a:solidFill>
                  <a:srgbClr val="404040"/>
                </a:solidFill>
                <a:latin typeface="맑은 고딕"/>
                <a:ea typeface="맑은 고딕"/>
              </a:rPr>
              <a:t>같은 요청도 </a:t>
            </a:r>
            <a:r>
              <a:rPr sz="1050" b="1" i="0">
                <a:solidFill>
                  <a:srgbClr val="C55A11"/>
                </a:solidFill>
                <a:latin typeface="맑은 고딕"/>
                <a:ea typeface="맑은 고딕"/>
              </a:rPr>
              <a:t>어느 서버로 보내느냐</a:t>
            </a:r>
            <a:r>
              <a:rPr sz="1050" b="0" i="0">
                <a:solidFill>
                  <a:srgbClr val="404040"/>
                </a:solidFill>
                <a:latin typeface="맑은 고딕"/>
                <a:ea typeface="맑은 고딕"/>
              </a:rPr>
              <a:t>에 따라 성능이 달라짐</a:t>
            </a:r>
          </a:p>
        </p:txBody>
      </p:sp>
      <p:sp>
        <p:nvSpPr>
          <p:cNvPr id="153" name="Rectangle 152"/>
          <p:cNvSpPr/>
          <p:nvPr/>
        </p:nvSpPr>
        <p:spPr>
          <a:xfrm>
            <a:off x="6355080" y="1847088"/>
            <a:ext cx="5394960" cy="2788920"/>
          </a:xfrm>
          <a:prstGeom prst="rect">
            <a:avLst/>
          </a:prstGeom>
          <a:solidFill>
            <a:srgbClr val="FFFFFF"/>
          </a:solidFill>
          <a:ln w="12700">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4" name="Rounded Rectangle 153"/>
          <p:cNvSpPr/>
          <p:nvPr/>
        </p:nvSpPr>
        <p:spPr>
          <a:xfrm>
            <a:off x="6446520" y="2240280"/>
            <a:ext cx="713232"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800" b="1" i="0">
                <a:solidFill>
                  <a:srgbClr val="000000"/>
                </a:solidFill>
                <a:latin typeface="맑은 고딕"/>
                <a:ea typeface="맑은 고딕"/>
              </a:rPr>
              <a:t>Request</a:t>
            </a:r>
          </a:p>
        </p:txBody>
      </p:sp>
      <p:cxnSp>
        <p:nvCxnSpPr>
          <p:cNvPr id="155" name="Connector 154"/>
          <p:cNvCxnSpPr/>
          <p:nvPr/>
        </p:nvCxnSpPr>
        <p:spPr>
          <a:xfrm>
            <a:off x="7159752" y="2395728"/>
            <a:ext cx="24688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156" name="Oval 155"/>
          <p:cNvSpPr/>
          <p:nvPr/>
        </p:nvSpPr>
        <p:spPr>
          <a:xfrm>
            <a:off x="7205472" y="23180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157" name="Rectangle 156"/>
          <p:cNvSpPr/>
          <p:nvPr/>
        </p:nvSpPr>
        <p:spPr>
          <a:xfrm>
            <a:off x="7406640" y="1920240"/>
            <a:ext cx="4251960" cy="914400"/>
          </a:xfrm>
          <a:prstGeom prst="rect">
            <a:avLst/>
          </a:prstGeom>
          <a:solidFill>
            <a:srgbClr val="FFFFFF"/>
          </a:solidFill>
          <a:ln w="15875">
            <a:solidFill>
              <a:srgbClr val="C55A11"/>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8" name="Rectangle 157"/>
          <p:cNvSpPr/>
          <p:nvPr/>
        </p:nvSpPr>
        <p:spPr>
          <a:xfrm>
            <a:off x="7406640" y="1920240"/>
            <a:ext cx="3657600" cy="173736"/>
          </a:xfrm>
          <a:prstGeom prst="rect">
            <a:avLst/>
          </a:prstGeom>
          <a:solidFill>
            <a:srgbClr val="C55A11"/>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«layer» 요청 조율 계층 (Orchestration) - 현재 공백</a:t>
            </a:r>
          </a:p>
        </p:txBody>
      </p:sp>
      <p:sp>
        <p:nvSpPr>
          <p:cNvPr id="159" name="Rectangle 158"/>
          <p:cNvSpPr/>
          <p:nvPr/>
        </p:nvSpPr>
        <p:spPr>
          <a:xfrm>
            <a:off x="7543800"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요청 라우팅</a:t>
            </a:r>
          </a:p>
        </p:txBody>
      </p:sp>
      <p:sp>
        <p:nvSpPr>
          <p:cNvPr id="160" name="Rectangle 159"/>
          <p:cNvSpPr/>
          <p:nvPr/>
        </p:nvSpPr>
        <p:spPr>
          <a:xfrm>
            <a:off x="7498079"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1" name="Rectangle 160"/>
          <p:cNvSpPr/>
          <p:nvPr/>
        </p:nvSpPr>
        <p:spPr>
          <a:xfrm>
            <a:off x="7498079"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P/D 분리 배치</a:t>
            </a:r>
          </a:p>
        </p:txBody>
      </p:sp>
      <p:sp>
        <p:nvSpPr>
          <p:cNvPr id="163" name="Rectangle 162"/>
          <p:cNvSpPr/>
          <p:nvPr/>
        </p:nvSpPr>
        <p:spPr>
          <a:xfrm>
            <a:off x="8522208"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4" name="Rectangle 163"/>
          <p:cNvSpPr/>
          <p:nvPr/>
        </p:nvSpPr>
        <p:spPr>
          <a:xfrm>
            <a:off x="8522208"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5" name="Rectangle 164"/>
          <p:cNvSpPr/>
          <p:nvPr/>
        </p:nvSpPr>
        <p:spPr>
          <a:xfrm>
            <a:off x="9592056"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KV 공유</a:t>
            </a:r>
          </a:p>
        </p:txBody>
      </p:sp>
      <p:sp>
        <p:nvSpPr>
          <p:cNvPr id="166" name="Rectangle 165"/>
          <p:cNvSpPr/>
          <p:nvPr/>
        </p:nvSpPr>
        <p:spPr>
          <a:xfrm>
            <a:off x="9546336"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7" name="Rectangle 166"/>
          <p:cNvSpPr/>
          <p:nvPr/>
        </p:nvSpPr>
        <p:spPr>
          <a:xfrm>
            <a:off x="9546336"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8" name="Rectangle 167"/>
          <p:cNvSpPr/>
          <p:nvPr/>
        </p:nvSpPr>
        <p:spPr>
          <a:xfrm>
            <a:off x="10616184" y="2240280"/>
            <a:ext cx="914400" cy="457200"/>
          </a:xfrm>
          <a:prstGeom prst="rect">
            <a:avLst/>
          </a:prstGeom>
          <a:solidFill>
            <a:srgbClr val="FBE5D6"/>
          </a:solidFill>
          <a:ln w="12700">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00" b="1" i="0">
                <a:solidFill>
                  <a:srgbClr val="000000"/>
                </a:solidFill>
                <a:latin typeface="맑은 고딕"/>
                <a:ea typeface="맑은 고딕"/>
              </a:rPr>
              <a:t>서버 발견·확장</a:t>
            </a:r>
          </a:p>
        </p:txBody>
      </p:sp>
      <p:sp>
        <p:nvSpPr>
          <p:cNvPr id="169" name="Rectangle 168"/>
          <p:cNvSpPr/>
          <p:nvPr/>
        </p:nvSpPr>
        <p:spPr>
          <a:xfrm>
            <a:off x="10570463" y="229514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0" name="Rectangle 169"/>
          <p:cNvSpPr/>
          <p:nvPr/>
        </p:nvSpPr>
        <p:spPr>
          <a:xfrm>
            <a:off x="10570463" y="2386584"/>
            <a:ext cx="91440" cy="50292"/>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1" name="Rectangle 170"/>
          <p:cNvSpPr/>
          <p:nvPr/>
        </p:nvSpPr>
        <p:spPr>
          <a:xfrm>
            <a:off x="6446520" y="3090672"/>
            <a:ext cx="5212080" cy="1499616"/>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2" name="Rectangle 171"/>
          <p:cNvSpPr/>
          <p:nvPr/>
        </p:nvSpPr>
        <p:spPr>
          <a:xfrm>
            <a:off x="6446520" y="3090672"/>
            <a:ext cx="75712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50" b="1" i="0">
                <a:solidFill>
                  <a:srgbClr val="FFFFFF"/>
                </a:solidFill>
                <a:latin typeface="맑은 고딕"/>
                <a:ea typeface="맑은 고딕"/>
              </a:rPr>
              <a:t>«rack» Rack</a:t>
            </a:r>
          </a:p>
        </p:txBody>
      </p:sp>
      <p:sp>
        <p:nvSpPr>
          <p:cNvPr id="173" name="Rectangle 172"/>
          <p:cNvSpPr/>
          <p:nvPr/>
        </p:nvSpPr>
        <p:spPr>
          <a:xfrm>
            <a:off x="6528816"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4" name="Rectangle 173"/>
          <p:cNvSpPr/>
          <p:nvPr/>
        </p:nvSpPr>
        <p:spPr>
          <a:xfrm>
            <a:off x="6528816"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1 (vLLM)</a:t>
            </a:r>
          </a:p>
        </p:txBody>
      </p:sp>
      <p:sp>
        <p:nvSpPr>
          <p:cNvPr id="175" name="Rectangle 174"/>
          <p:cNvSpPr/>
          <p:nvPr/>
        </p:nvSpPr>
        <p:spPr>
          <a:xfrm>
            <a:off x="7498079"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176" name="TextBox 175"/>
          <p:cNvSpPr txBox="1"/>
          <p:nvPr/>
        </p:nvSpPr>
        <p:spPr>
          <a:xfrm>
            <a:off x="6565392"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77" name="Rectangle 176"/>
          <p:cNvSpPr/>
          <p:nvPr/>
        </p:nvSpPr>
        <p:spPr>
          <a:xfrm>
            <a:off x="6976872"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8" name="Rectangle 177"/>
          <p:cNvSpPr/>
          <p:nvPr/>
        </p:nvSpPr>
        <p:spPr>
          <a:xfrm>
            <a:off x="6976872" y="3721608"/>
            <a:ext cx="94640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79" name="TextBox 178"/>
          <p:cNvSpPr txBox="1"/>
          <p:nvPr/>
        </p:nvSpPr>
        <p:spPr>
          <a:xfrm>
            <a:off x="6565392"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80" name="Rectangle 179"/>
          <p:cNvSpPr/>
          <p:nvPr/>
        </p:nvSpPr>
        <p:spPr>
          <a:xfrm>
            <a:off x="6976872"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1" name="Rectangle 180"/>
          <p:cNvSpPr/>
          <p:nvPr/>
        </p:nvSpPr>
        <p:spPr>
          <a:xfrm>
            <a:off x="6976872" y="390448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2" name="TextBox 181"/>
          <p:cNvSpPr txBox="1"/>
          <p:nvPr/>
        </p:nvSpPr>
        <p:spPr>
          <a:xfrm>
            <a:off x="6565392"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183" name="Rectangle 182"/>
          <p:cNvSpPr/>
          <p:nvPr/>
        </p:nvSpPr>
        <p:spPr>
          <a:xfrm>
            <a:off x="6976872"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4" name="Rectangle 183"/>
          <p:cNvSpPr/>
          <p:nvPr/>
        </p:nvSpPr>
        <p:spPr>
          <a:xfrm>
            <a:off x="6976872" y="4087368"/>
            <a:ext cx="105156"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85" name="TextBox 184"/>
          <p:cNvSpPr txBox="1"/>
          <p:nvPr/>
        </p:nvSpPr>
        <p:spPr>
          <a:xfrm>
            <a:off x="6601968"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186" name="Connector 185"/>
          <p:cNvCxnSpPr/>
          <p:nvPr/>
        </p:nvCxnSpPr>
        <p:spPr>
          <a:xfrm>
            <a:off x="7351775"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187" name="Oval 186"/>
          <p:cNvSpPr/>
          <p:nvPr/>
        </p:nvSpPr>
        <p:spPr>
          <a:xfrm>
            <a:off x="7274051"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188" name="Connector 187"/>
          <p:cNvCxnSpPr/>
          <p:nvPr/>
        </p:nvCxnSpPr>
        <p:spPr>
          <a:xfrm flipV="1">
            <a:off x="7808975"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89" name="Oval 188"/>
          <p:cNvSpPr/>
          <p:nvPr/>
        </p:nvSpPr>
        <p:spPr>
          <a:xfrm>
            <a:off x="7731251"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190" name="Rectangle 189"/>
          <p:cNvSpPr/>
          <p:nvPr/>
        </p:nvSpPr>
        <p:spPr>
          <a:xfrm>
            <a:off x="8284463"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1" name="Rectangle 190"/>
          <p:cNvSpPr/>
          <p:nvPr/>
        </p:nvSpPr>
        <p:spPr>
          <a:xfrm>
            <a:off x="8284463"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2 (vLLM)</a:t>
            </a:r>
          </a:p>
        </p:txBody>
      </p:sp>
      <p:sp>
        <p:nvSpPr>
          <p:cNvPr id="192" name="Rectangle 191"/>
          <p:cNvSpPr/>
          <p:nvPr/>
        </p:nvSpPr>
        <p:spPr>
          <a:xfrm>
            <a:off x="9253728"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KV-B</a:t>
            </a:r>
          </a:p>
        </p:txBody>
      </p:sp>
      <p:sp>
        <p:nvSpPr>
          <p:cNvPr id="193" name="TextBox 192"/>
          <p:cNvSpPr txBox="1"/>
          <p:nvPr/>
        </p:nvSpPr>
        <p:spPr>
          <a:xfrm>
            <a:off x="8321039"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194" name="Rectangle 193"/>
          <p:cNvSpPr/>
          <p:nvPr/>
        </p:nvSpPr>
        <p:spPr>
          <a:xfrm>
            <a:off x="8732519"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5" name="Rectangle 194"/>
          <p:cNvSpPr/>
          <p:nvPr/>
        </p:nvSpPr>
        <p:spPr>
          <a:xfrm>
            <a:off x="8732519" y="3721608"/>
            <a:ext cx="420624"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6" name="TextBox 195"/>
          <p:cNvSpPr txBox="1"/>
          <p:nvPr/>
        </p:nvSpPr>
        <p:spPr>
          <a:xfrm>
            <a:off x="8321039"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197" name="Rectangle 196"/>
          <p:cNvSpPr/>
          <p:nvPr/>
        </p:nvSpPr>
        <p:spPr>
          <a:xfrm>
            <a:off x="8732519"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8" name="Rectangle 197"/>
          <p:cNvSpPr/>
          <p:nvPr/>
        </p:nvSpPr>
        <p:spPr>
          <a:xfrm>
            <a:off x="8732519" y="3904488"/>
            <a:ext cx="893826"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99" name="TextBox 198"/>
          <p:cNvSpPr txBox="1"/>
          <p:nvPr/>
        </p:nvSpPr>
        <p:spPr>
          <a:xfrm>
            <a:off x="8321039"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00" name="Rectangle 199"/>
          <p:cNvSpPr/>
          <p:nvPr/>
        </p:nvSpPr>
        <p:spPr>
          <a:xfrm>
            <a:off x="8732519"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1" name="Rectangle 200"/>
          <p:cNvSpPr/>
          <p:nvPr/>
        </p:nvSpPr>
        <p:spPr>
          <a:xfrm>
            <a:off x="8732519" y="4087368"/>
            <a:ext cx="525780"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2" name="TextBox 201"/>
          <p:cNvSpPr txBox="1"/>
          <p:nvPr/>
        </p:nvSpPr>
        <p:spPr>
          <a:xfrm>
            <a:off x="8357615"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03" name="Connector 202"/>
          <p:cNvCxnSpPr/>
          <p:nvPr/>
        </p:nvCxnSpPr>
        <p:spPr>
          <a:xfrm>
            <a:off x="9107424"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04" name="Oval 203"/>
          <p:cNvSpPr/>
          <p:nvPr/>
        </p:nvSpPr>
        <p:spPr>
          <a:xfrm>
            <a:off x="9029699"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05" name="Connector 204"/>
          <p:cNvCxnSpPr/>
          <p:nvPr/>
        </p:nvCxnSpPr>
        <p:spPr>
          <a:xfrm flipV="1">
            <a:off x="9564624"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6" name="Oval 205"/>
          <p:cNvSpPr/>
          <p:nvPr/>
        </p:nvSpPr>
        <p:spPr>
          <a:xfrm>
            <a:off x="9486899"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207" name="Rectangle 206"/>
          <p:cNvSpPr/>
          <p:nvPr/>
        </p:nvSpPr>
        <p:spPr>
          <a:xfrm>
            <a:off x="10040112" y="3310128"/>
            <a:ext cx="1554480" cy="102412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08" name="Rectangle 207"/>
          <p:cNvSpPr/>
          <p:nvPr/>
        </p:nvSpPr>
        <p:spPr>
          <a:xfrm>
            <a:off x="10040112" y="3310128"/>
            <a:ext cx="1283817"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«server» 서버 3 (vLLM)</a:t>
            </a:r>
          </a:p>
        </p:txBody>
      </p:sp>
      <p:sp>
        <p:nvSpPr>
          <p:cNvPr id="209" name="Rectangle 208"/>
          <p:cNvSpPr/>
          <p:nvPr/>
        </p:nvSpPr>
        <p:spPr>
          <a:xfrm>
            <a:off x="11009376" y="3520440"/>
            <a:ext cx="530352" cy="155448"/>
          </a:xfrm>
          <a:prstGeom prst="rect">
            <a:avLst/>
          </a:prstGeom>
          <a:solidFill>
            <a:srgbClr val="FBE5D6"/>
          </a:solidFill>
          <a:ln w="9525">
            <a:solidFill>
              <a:srgbClr val="C55A11"/>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00" b="1" i="0">
                <a:solidFill>
                  <a:srgbClr val="C55A11"/>
                </a:solidFill>
                <a:latin typeface="맑은 고딕"/>
                <a:ea typeface="맑은 고딕"/>
              </a:rPr>
              <a:t>KV-A</a:t>
            </a:r>
          </a:p>
        </p:txBody>
      </p:sp>
      <p:sp>
        <p:nvSpPr>
          <p:cNvPr id="210" name="TextBox 209"/>
          <p:cNvSpPr txBox="1"/>
          <p:nvPr/>
        </p:nvSpPr>
        <p:spPr>
          <a:xfrm>
            <a:off x="10076688" y="371246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HBM</a:t>
            </a:r>
          </a:p>
        </p:txBody>
      </p:sp>
      <p:sp>
        <p:nvSpPr>
          <p:cNvPr id="211" name="Rectangle 210"/>
          <p:cNvSpPr/>
          <p:nvPr/>
        </p:nvSpPr>
        <p:spPr>
          <a:xfrm>
            <a:off x="10488168" y="372160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2" name="Rectangle 211"/>
          <p:cNvSpPr/>
          <p:nvPr/>
        </p:nvSpPr>
        <p:spPr>
          <a:xfrm>
            <a:off x="10488168" y="3721608"/>
            <a:ext cx="210312"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3" name="TextBox 212"/>
          <p:cNvSpPr txBox="1"/>
          <p:nvPr/>
        </p:nvSpPr>
        <p:spPr>
          <a:xfrm>
            <a:off x="10076688" y="389534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DRAM</a:t>
            </a:r>
          </a:p>
        </p:txBody>
      </p:sp>
      <p:sp>
        <p:nvSpPr>
          <p:cNvPr id="214" name="Rectangle 213"/>
          <p:cNvSpPr/>
          <p:nvPr/>
        </p:nvSpPr>
        <p:spPr>
          <a:xfrm>
            <a:off x="10488168" y="390448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5" name="Rectangle 214"/>
          <p:cNvSpPr/>
          <p:nvPr/>
        </p:nvSpPr>
        <p:spPr>
          <a:xfrm>
            <a:off x="10488168" y="3904488"/>
            <a:ext cx="262890" cy="137160"/>
          </a:xfrm>
          <a:prstGeom prst="rect">
            <a:avLst/>
          </a:prstGeom>
          <a:solidFill>
            <a:srgbClr val="8FAADC"/>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6" name="TextBox 215"/>
          <p:cNvSpPr txBox="1"/>
          <p:nvPr/>
        </p:nvSpPr>
        <p:spPr>
          <a:xfrm>
            <a:off x="10076688" y="4078224"/>
            <a:ext cx="365760" cy="137160"/>
          </a:xfrm>
          <a:prstGeom prst="rect">
            <a:avLst/>
          </a:prstGeom>
          <a:noFill/>
        </p:spPr>
        <p:txBody>
          <a:bodyPr wrap="square" lIns="0" tIns="0" rIns="0" bIns="0" anchor="ctr">
            <a:spAutoFit/>
          </a:bodyPr>
          <a:lstStyle/>
          <a:p>
            <a:pPr algn="r"/>
            <a:r>
              <a:rPr sz="700" b="0" i="0">
                <a:solidFill>
                  <a:srgbClr val="404040"/>
                </a:solidFill>
                <a:latin typeface="맑은 고딕"/>
                <a:ea typeface="맑은 고딕"/>
              </a:rPr>
              <a:t>CXL</a:t>
            </a:r>
          </a:p>
        </p:txBody>
      </p:sp>
      <p:sp>
        <p:nvSpPr>
          <p:cNvPr id="217" name="Rectangle 216"/>
          <p:cNvSpPr/>
          <p:nvPr/>
        </p:nvSpPr>
        <p:spPr>
          <a:xfrm>
            <a:off x="10488168" y="4087368"/>
            <a:ext cx="1051560" cy="137160"/>
          </a:xfrm>
          <a:prstGeom prst="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8" name="Rectangle 217"/>
          <p:cNvSpPr/>
          <p:nvPr/>
        </p:nvSpPr>
        <p:spPr>
          <a:xfrm>
            <a:off x="10488168" y="4087368"/>
            <a:ext cx="946404" cy="137160"/>
          </a:xfrm>
          <a:prstGeom prst="rect">
            <a:avLst/>
          </a:prstGeom>
          <a:solidFill>
            <a:srgbClr val="F4B183"/>
          </a:solidFill>
          <a:ln>
            <a:no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19" name="TextBox 218"/>
          <p:cNvSpPr txBox="1"/>
          <p:nvPr/>
        </p:nvSpPr>
        <p:spPr>
          <a:xfrm>
            <a:off x="10113264" y="3511296"/>
            <a:ext cx="868680" cy="164592"/>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보유 KV →</a:t>
            </a:r>
          </a:p>
        </p:txBody>
      </p:sp>
      <p:cxnSp>
        <p:nvCxnSpPr>
          <p:cNvPr id="220" name="Connector 219"/>
          <p:cNvCxnSpPr/>
          <p:nvPr/>
        </p:nvCxnSpPr>
        <p:spPr>
          <a:xfrm>
            <a:off x="10863072" y="2834640"/>
            <a:ext cx="0" cy="475488"/>
          </a:xfrm>
          <a:prstGeom prst="line">
            <a:avLst/>
          </a:prstGeom>
          <a:ln w="15875">
            <a:solidFill>
              <a:srgbClr val="C55A11"/>
            </a:solidFill>
            <a:tailEnd type="triangle"/>
          </a:ln>
        </p:spPr>
        <p:style>
          <a:lnRef idx="2">
            <a:schemeClr val="accent1"/>
          </a:lnRef>
          <a:fillRef idx="0">
            <a:schemeClr val="accent1"/>
          </a:fillRef>
          <a:effectRef idx="1">
            <a:schemeClr val="accent1"/>
          </a:effectRef>
          <a:fontRef idx="minor">
            <a:schemeClr val="tx1"/>
          </a:fontRef>
        </p:style>
      </p:cxnSp>
      <p:sp>
        <p:nvSpPr>
          <p:cNvPr id="221" name="Oval 220"/>
          <p:cNvSpPr/>
          <p:nvPr/>
        </p:nvSpPr>
        <p:spPr>
          <a:xfrm>
            <a:off x="10785348" y="2994660"/>
            <a:ext cx="155448" cy="155448"/>
          </a:xfrm>
          <a:prstGeom prst="ellipse">
            <a:avLst/>
          </a:prstGeom>
          <a:solidFill>
            <a:srgbClr val="C55A11"/>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222" name="Connector 221"/>
          <p:cNvCxnSpPr/>
          <p:nvPr/>
        </p:nvCxnSpPr>
        <p:spPr>
          <a:xfrm flipV="1">
            <a:off x="11320272" y="2834640"/>
            <a:ext cx="0" cy="475488"/>
          </a:xfrm>
          <a:prstGeom prst="line">
            <a:avLst/>
          </a:prstGeom>
          <a:ln w="15875">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23" name="Oval 222"/>
          <p:cNvSpPr/>
          <p:nvPr/>
        </p:nvSpPr>
        <p:spPr>
          <a:xfrm>
            <a:off x="11242548" y="2994660"/>
            <a:ext cx="155448" cy="155448"/>
          </a:xfrm>
          <a:prstGeom prst="ellipse">
            <a:avLst/>
          </a:prstGeom>
          <a:solidFill>
            <a:srgbClr val="2E75B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cxnSp>
        <p:nvCxnSpPr>
          <p:cNvPr id="224" name="Connector 223"/>
          <p:cNvCxnSpPr/>
          <p:nvPr/>
        </p:nvCxnSpPr>
        <p:spPr>
          <a:xfrm>
            <a:off x="8074152"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5" name="Connector 224"/>
          <p:cNvCxnSpPr/>
          <p:nvPr/>
        </p:nvCxnSpPr>
        <p:spPr>
          <a:xfrm>
            <a:off x="9829799" y="4023360"/>
            <a:ext cx="219456" cy="0"/>
          </a:xfrm>
          <a:prstGeom prst="line">
            <a:avLst/>
          </a:prstGeom>
          <a:ln w="15875">
            <a:solidFill>
              <a:srgbClr val="C55A11"/>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sp>
        <p:nvSpPr>
          <p:cNvPr id="226" name="TextBox 225"/>
          <p:cNvSpPr txBox="1"/>
          <p:nvPr/>
        </p:nvSpPr>
        <p:spPr>
          <a:xfrm>
            <a:off x="6492240" y="4370832"/>
            <a:ext cx="5120640" cy="18288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서버 간 KV 캐시 전송 (NIXL, 점선)  ·  서버마다 메모리 점유율·보유 KV가 다름</a:t>
            </a:r>
          </a:p>
        </p:txBody>
      </p:sp>
      <p:sp>
        <p:nvSpPr>
          <p:cNvPr id="227" name="Rectangle 226"/>
          <p:cNvSpPr/>
          <p:nvPr/>
        </p:nvSpPr>
        <p:spPr>
          <a:xfrm>
            <a:off x="6355080" y="4754880"/>
            <a:ext cx="5394960" cy="1024128"/>
          </a:xfrm>
          <a:prstGeom prst="rect">
            <a:avLst/>
          </a:prstGeom>
          <a:solidFill>
            <a:srgbClr val="F2F2F2"/>
          </a:solidFill>
          <a:ln w="12700">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28" name="TextBox 227"/>
          <p:cNvSpPr txBox="1"/>
          <p:nvPr/>
        </p:nvSpPr>
        <p:spPr>
          <a:xfrm>
            <a:off x="6473952" y="4782312"/>
            <a:ext cx="5212080" cy="987552"/>
          </a:xfrm>
          <a:prstGeom prst="rect">
            <a:avLst/>
          </a:prstGeom>
          <a:noFill/>
        </p:spPr>
        <p:txBody>
          <a:bodyPr wrap="square" lIns="0" tIns="0" rIns="0" bIns="0" anchor="t">
            <a:spAutoFit/>
          </a:bodyPr>
          <a:lstStyle/>
          <a:p>
            <a:pPr algn="l">
              <a:lnSpc>
                <a:spcPct val="110000"/>
              </a:lnSpc>
            </a:pPr>
            <a:r>
              <a:rPr sz="950" b="1" i="0">
                <a:solidFill>
                  <a:srgbClr val="C55A11"/>
                </a:solidFill>
                <a:latin typeface="맑은 고딕"/>
                <a:ea typeface="맑은 고딕"/>
              </a:rPr>
              <a:t>서버 간에 새로 필요한 결정 (서버 간 결정)</a:t>
            </a:r>
          </a:p>
          <a:p>
            <a:pPr algn="l">
              <a:lnSpc>
                <a:spcPct val="110000"/>
              </a:lnSpc>
            </a:pPr>
            <a:r>
              <a:rPr sz="850" b="0" i="0">
                <a:solidFill>
                  <a:srgbClr val="404040"/>
                </a:solidFill>
                <a:latin typeface="맑은 고딕"/>
                <a:ea typeface="맑은 고딕"/>
              </a:rPr>
              <a:t>① 이 요청을 어느 서버로?  (서버별 KV 캐시 위치·메모리 점유가 상이)</a:t>
            </a:r>
          </a:p>
          <a:p>
            <a:pPr algn="l">
              <a:lnSpc>
                <a:spcPct val="110000"/>
              </a:lnSpc>
            </a:pPr>
            <a:r>
              <a:rPr sz="850" b="0" i="0">
                <a:solidFill>
                  <a:srgbClr val="404040"/>
                </a:solidFill>
                <a:latin typeface="맑은 고딕"/>
                <a:ea typeface="맑은 고딕"/>
              </a:rPr>
              <a:t>② Prefill/Decode를 서버 나눠 실행할지, Prefill은 어디서?  (KV 전송 비용)</a:t>
            </a:r>
          </a:p>
          <a:p>
            <a:pPr algn="l">
              <a:lnSpc>
                <a:spcPct val="110000"/>
              </a:lnSpc>
            </a:pPr>
            <a:r>
              <a:rPr sz="850" b="0" i="0">
                <a:solidFill>
                  <a:srgbClr val="404040"/>
                </a:solidFill>
                <a:latin typeface="맑은 고딕"/>
                <a:ea typeface="맑은 고딕"/>
              </a:rPr>
              <a:t>③ 서버 간 KV 공유·서버 확장은?</a:t>
            </a:r>
          </a:p>
          <a:p>
            <a:pPr algn="l">
              <a:lnSpc>
                <a:spcPct val="110000"/>
              </a:lnSpc>
            </a:pPr>
            <a:r>
              <a:rPr sz="750" b="0" i="0">
                <a:solidFill>
                  <a:srgbClr val="404040"/>
                </a:solidFill>
                <a:latin typeface="맑은 고딕"/>
                <a:ea typeface="맑은 고딕"/>
              </a:rPr>
              <a:t>vLLM = 서버 내부 병렬화 / llm-d·Dynamo = 서버들을 묶는 계층 → 다루는 축이 다름</a:t>
            </a:r>
          </a:p>
        </p:txBody>
      </p:sp>
      <p:sp>
        <p:nvSpPr>
          <p:cNvPr id="229" name="Rectangle 228"/>
          <p:cNvSpPr/>
          <p:nvPr/>
        </p:nvSpPr>
        <p:spPr>
          <a:xfrm>
            <a:off x="502920" y="5852160"/>
            <a:ext cx="525780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0" name="TextBox 229"/>
          <p:cNvSpPr txBox="1"/>
          <p:nvPr/>
        </p:nvSpPr>
        <p:spPr>
          <a:xfrm>
            <a:off x="566928" y="5861304"/>
            <a:ext cx="5138928" cy="457200"/>
          </a:xfrm>
          <a:prstGeom prst="rect">
            <a:avLst/>
          </a:prstGeom>
          <a:noFill/>
        </p:spPr>
        <p:txBody>
          <a:bodyPr wrap="square" lIns="0" tIns="0" rIns="0" bIns="0" anchor="t">
            <a:spAutoFit/>
          </a:bodyPr>
          <a:lstStyle/>
          <a:p>
            <a:pPr algn="l">
              <a:lnSpc>
                <a:spcPct val="100000"/>
              </a:lnSpc>
            </a:pPr>
            <a:r>
              <a:rPr sz="700" b="1" i="0">
                <a:solidFill>
                  <a:srgbClr val="2E75B6"/>
                </a:solidFill>
                <a:latin typeface="맑은 고딕"/>
                <a:ea typeface="맑은 고딕"/>
              </a:rPr>
              <a:t>용어 </a:t>
            </a:r>
            <a:r>
              <a:rPr sz="700" b="1" i="0">
                <a:solidFill>
                  <a:srgbClr val="404040"/>
                </a:solidFill>
                <a:latin typeface="맑은 고딕"/>
                <a:ea typeface="맑은 고딕"/>
              </a:rPr>
              <a:t>KV 캐시</a:t>
            </a:r>
            <a:r>
              <a:rPr sz="700" b="0" i="0">
                <a:solidFill>
                  <a:srgbClr val="404040"/>
                </a:solidFill>
                <a:latin typeface="맑은 고딕"/>
                <a:ea typeface="맑은 고딕"/>
              </a:rPr>
              <a:t> = LLM이 이전 입력을 다시 계산하지 않도록 저장한 중간 결과</a:t>
            </a:r>
          </a:p>
          <a:p>
            <a:pPr algn="l">
              <a:lnSpc>
                <a:spcPct val="100000"/>
              </a:lnSpc>
            </a:pPr>
            <a:r>
              <a:rPr sz="700" b="1" i="0">
                <a:solidFill>
                  <a:srgbClr val="404040"/>
                </a:solidFill>
                <a:latin typeface="맑은 고딕"/>
                <a:ea typeface="맑은 고딕"/>
              </a:rPr>
              <a:t>HBM·DRAM·CXL·HBF·SSD</a:t>
            </a:r>
            <a:r>
              <a:rPr sz="700" b="0" i="0">
                <a:solidFill>
                  <a:srgbClr val="404040"/>
                </a:solidFill>
                <a:latin typeface="맑은 고딕"/>
                <a:ea typeface="맑은 고딕"/>
              </a:rPr>
              <a:t> = 빠르고 작은 메모리 → 느리고 큰 메모리</a:t>
            </a:r>
          </a:p>
          <a:p>
            <a:pPr algn="l">
              <a:lnSpc>
                <a:spcPct val="100000"/>
              </a:lnSpc>
            </a:pPr>
            <a:r>
              <a:rPr sz="700" b="1" i="0">
                <a:solidFill>
                  <a:srgbClr val="404040"/>
                </a:solidFill>
                <a:latin typeface="맑은 고딕"/>
                <a:ea typeface="맑은 고딕"/>
              </a:rPr>
              <a:t>vLLM</a:t>
            </a:r>
            <a:r>
              <a:rPr sz="700" b="0" i="0">
                <a:solidFill>
                  <a:srgbClr val="404040"/>
                </a:solidFill>
                <a:latin typeface="맑은 고딕"/>
                <a:ea typeface="맑은 고딕"/>
              </a:rPr>
              <a:t> = LLM 추론 서버 소프트웨어  ·  </a:t>
            </a:r>
            <a:r>
              <a:rPr sz="700" b="1" i="0">
                <a:solidFill>
                  <a:srgbClr val="404040"/>
                </a:solidFill>
                <a:latin typeface="맑은 고딕"/>
                <a:ea typeface="맑은 고딕"/>
              </a:rPr>
              <a:t>Prefill</a:t>
            </a:r>
            <a:r>
              <a:rPr sz="700" b="0" i="0">
                <a:solidFill>
                  <a:srgbClr val="404040"/>
                </a:solidFill>
                <a:latin typeface="맑은 고딕"/>
                <a:ea typeface="맑은 고딕"/>
              </a:rPr>
              <a:t> = 입력 처리(계산 집약)</a:t>
            </a:r>
          </a:p>
        </p:txBody>
      </p:sp>
      <p:sp>
        <p:nvSpPr>
          <p:cNvPr id="231" name="Rectangle 230"/>
          <p:cNvSpPr/>
          <p:nvPr/>
        </p:nvSpPr>
        <p:spPr>
          <a:xfrm>
            <a:off x="6355080" y="5852160"/>
            <a:ext cx="5394960" cy="457200"/>
          </a:xfrm>
          <a:prstGeom prst="rect">
            <a:avLst/>
          </a:prstGeom>
          <a:solidFill>
            <a:srgbClr val="FFFFFF"/>
          </a:solidFill>
          <a:ln w="9525">
            <a:solidFill>
              <a:srgbClr val="7F7F7F"/>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232" name="TextBox 231"/>
          <p:cNvSpPr txBox="1"/>
          <p:nvPr/>
        </p:nvSpPr>
        <p:spPr>
          <a:xfrm>
            <a:off x="6419088" y="5861304"/>
            <a:ext cx="5266944" cy="457200"/>
          </a:xfrm>
          <a:prstGeom prst="rect">
            <a:avLst/>
          </a:prstGeom>
          <a:noFill/>
        </p:spPr>
        <p:txBody>
          <a:bodyPr wrap="square" lIns="0" tIns="0" rIns="0" bIns="0" anchor="t">
            <a:spAutoFit/>
          </a:bodyPr>
          <a:lstStyle/>
          <a:p>
            <a:pPr algn="l">
              <a:lnSpc>
                <a:spcPct val="100000"/>
              </a:lnSpc>
            </a:pPr>
            <a:r>
              <a:rPr sz="700" b="1" i="0">
                <a:solidFill>
                  <a:srgbClr val="C55A11"/>
                </a:solidFill>
                <a:latin typeface="맑은 고딕"/>
                <a:ea typeface="맑은 고딕"/>
              </a:rPr>
              <a:t>용어 </a:t>
            </a:r>
            <a:r>
              <a:rPr sz="700" b="1" i="0">
                <a:solidFill>
                  <a:srgbClr val="404040"/>
                </a:solidFill>
                <a:latin typeface="맑은 고딕"/>
                <a:ea typeface="맑은 고딕"/>
              </a:rPr>
              <a:t>Decode</a:t>
            </a:r>
            <a:r>
              <a:rPr sz="700" b="0" i="0">
                <a:solidFill>
                  <a:srgbClr val="404040"/>
                </a:solidFill>
                <a:latin typeface="맑은 고딕"/>
                <a:ea typeface="맑은 고딕"/>
              </a:rPr>
              <a:t> = 응답 생성(메모리 집약)  ·  </a:t>
            </a:r>
            <a:r>
              <a:rPr sz="700" b="1" i="0">
                <a:solidFill>
                  <a:srgbClr val="404040"/>
                </a:solidFill>
                <a:latin typeface="맑은 고딕"/>
                <a:ea typeface="맑은 고딕"/>
              </a:rPr>
              <a:t>P/D 분리</a:t>
            </a:r>
            <a:r>
              <a:rPr sz="700" b="0" i="0">
                <a:solidFill>
                  <a:srgbClr val="404040"/>
                </a:solidFill>
                <a:latin typeface="맑은 고딕"/>
                <a:ea typeface="맑은 고딕"/>
              </a:rPr>
              <a:t> = Prefill/Decode를 서로 다른 서버에서 실행</a:t>
            </a:r>
          </a:p>
          <a:p>
            <a:pPr algn="l">
              <a:lnSpc>
                <a:spcPct val="100000"/>
              </a:lnSpc>
            </a:pPr>
            <a:r>
              <a:rPr sz="700" b="1" i="0">
                <a:solidFill>
                  <a:srgbClr val="404040"/>
                </a:solidFill>
                <a:latin typeface="맑은 고딕"/>
                <a:ea typeface="맑은 고딕"/>
              </a:rPr>
              <a:t>NIXL</a:t>
            </a:r>
            <a:r>
              <a:rPr sz="700" b="0" i="0">
                <a:solidFill>
                  <a:srgbClr val="404040"/>
                </a:solidFill>
                <a:latin typeface="맑은 고딕"/>
                <a:ea typeface="맑은 고딕"/>
              </a:rPr>
              <a:t> = 서버 간 KV 캐시 전송  ·  </a:t>
            </a:r>
            <a:r>
              <a:rPr sz="700" b="1" i="0">
                <a:solidFill>
                  <a:srgbClr val="404040"/>
                </a:solidFill>
                <a:latin typeface="맑은 고딕"/>
                <a:ea typeface="맑은 고딕"/>
              </a:rPr>
              <a:t>Rack</a:t>
            </a:r>
            <a:r>
              <a:rPr sz="700" b="0" i="0">
                <a:solidFill>
                  <a:srgbClr val="404040"/>
                </a:solidFill>
                <a:latin typeface="맑은 고딕"/>
                <a:ea typeface="맑은 고딕"/>
              </a:rPr>
              <a:t> = 서버를 모아 둔 랙 단위</a:t>
            </a:r>
          </a:p>
          <a:p>
            <a:pPr algn="l">
              <a:lnSpc>
                <a:spcPct val="100000"/>
              </a:lnSpc>
            </a:pPr>
            <a:r>
              <a:rPr sz="700" b="1" i="0">
                <a:solidFill>
                  <a:srgbClr val="C55A11"/>
                </a:solidFill>
                <a:latin typeface="맑은 고딕"/>
                <a:ea typeface="맑은 고딕"/>
              </a:rPr>
              <a:t>번호 </a:t>
            </a:r>
            <a:r>
              <a:rPr sz="700" b="0" i="0">
                <a:solidFill>
                  <a:srgbClr val="404040"/>
                </a:solidFill>
                <a:latin typeface="맑은 고딕"/>
                <a:ea typeface="맑은 고딕"/>
              </a:rPr>
              <a:t>① 요청 수신  ② 요청 전달  ③ 상태 보고(KV 보유 이벤트·사용량 수치)</a:t>
            </a:r>
          </a:p>
        </p:txBody>
      </p:sp>
    </p:spTree>
    <p:extLst>
      <p:ext uri="{BB962C8B-B14F-4D97-AF65-F5344CB8AC3E}">
        <p14:creationId xmlns:p14="http://schemas.microsoft.com/office/powerpoint/2010/main" val="12556473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여러 서버를 묶는 요청 조율 구조 - 배경</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2</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013" name="DP2 9013"/>
          <p:cNvSpPr/>
          <p:nvPr/>
        </p:nvSpPr>
        <p:spPr>
          <a:xfrm>
            <a:off x="421320" y="1901952"/>
            <a:ext cx="256032" cy="256032"/>
          </a:xfrm>
          <a:prstGeom prst="rect">
            <a:avLst/>
          </a:prstGeom>
          <a:noFill/>
          <a:ln>
            <a:noFill/>
          </a:ln>
        </p:spPr>
        <p:txBody>
          <a:bodyPr wrap="square" lIns="9144" tIns="7315" rIns="9144" bIns="7315" anchor="ctr">
            <a:normAutofit/>
          </a:bodyPr>
          <a:lstStyle/>
          <a:p>
            <a:pPr algn="l">
              <a:lnSpc>
                <a:spcPct val="90000"/>
              </a:lnSpc>
            </a:pP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79" name="Text 22"/>
          <p:cNvSpPr/>
          <p:nvPr/>
        </p:nvSpPr>
        <p:spPr>
          <a:xfrm>
            <a:off x="359582" y="670519"/>
            <a:ext cx="11687638" cy="868680"/>
          </a:xfrm>
          <a:prstGeom prst="rect">
            <a:avLst/>
          </a:prstGeom>
          <a:noFill/>
          <a:ln/>
        </p:spPr>
        <p:txBody>
          <a:bodyPr wrap="square" lIns="0" tIns="0" rIns="0" bIns="0" rtlCol="0" anchor="t"/>
          <a:lstStyle/>
          <a:p>
            <a:pPr marL="285750" indent="-285750">
              <a:lnSpc>
                <a:spcPct val="150000"/>
              </a:lnSpc>
              <a:buFontTx/>
              <a:buChar char="-"/>
            </a:pPr>
            <a:r>
              <a:rPr lang="ko-KR" altLang="en-US" sz="1200" dirty="0">
                <a:solidFill>
                  <a:srgbClr val="404040"/>
                </a:solidFill>
                <a:latin typeface="맑은 고딕" panose="020B0503020000020004" pitchFamily="50" charset="-127"/>
              </a:rPr>
              <a:t>추론 서버 안의 이기종 메모리(HBM·DRAM·CXL 등) 이득이, 서버 간 요청 배분 단계에서 사라질 수 있음</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기존 OSS 요청 조율 계층(llm-d, Dynamo)은 메모리 종류별 점수와 P/D 분리 기준을 고정 값으로만 판단함</a:t>
            </a:r>
            <a:endParaRPr lang="en-US" altLang="ko-KR" sz="1200" dirty="0"/>
          </a:p>
          <a:p>
            <a:pPr marL="285750" indent="-285750">
              <a:lnSpc>
                <a:spcPct val="150000"/>
              </a:lnSpc>
              <a:buFontTx/>
              <a:buChar char="-"/>
            </a:pPr>
            <a:r>
              <a:rPr lang="ko-KR" altLang="en-US" sz="1200" dirty="0">
                <a:solidFill>
                  <a:srgbClr val="404040"/>
                </a:solidFill>
                <a:latin typeface="맑은 고딕" panose="020B0503020000020004" pitchFamily="50" charset="-127"/>
              </a:rPr>
              <a:t>서버 내부 상태(메모리 사용·전송 대기)를 반영해 요청을 배분하는 서버 간(클러스터) 조율 구조가 필요함</a:t>
            </a:r>
            <a:endParaRPr lang="en-US" altLang="ko-KR" sz="1200" dirty="0"/>
          </a:p>
        </p:txBody>
      </p:sp>
      <p:sp>
        <p:nvSpPr>
          <p:cNvPr id="166" name="Text 22"/>
          <p:cNvSpPr/>
          <p:nvPr/>
        </p:nvSpPr>
        <p:spPr>
          <a:xfrm>
            <a:off x="383682" y="6029277"/>
            <a:ext cx="11312059" cy="548567"/>
          </a:xfrm>
          <a:prstGeom prst="rect">
            <a:avLst/>
          </a:prstGeom>
          <a:noFill/>
          <a:ln/>
        </p:spPr>
        <p:txBody>
          <a:bodyPr wrap="square" lIns="0" tIns="0" rIns="0" bIns="0" rtlCol="0" anchor="t"/>
          <a:lstStyle/>
          <a:p>
            <a:pPr>
              <a:lnSpc>
                <a:spcPct val="125000"/>
              </a:lnSpc>
            </a:pPr>
            <a:r>
              <a:rPr sz="1200" b="1" i="0">
                <a:solidFill>
                  <a:srgbClr val="000000"/>
                </a:solidFill>
                <a:latin typeface="맑은 고딕"/>
                <a:ea typeface="맑은 고딕"/>
              </a:rPr>
              <a:t>설계 쟁점 1. </a:t>
            </a:r>
            <a:r>
              <a:rPr sz="1200" b="0" i="0">
                <a:solidFill>
                  <a:srgbClr val="000000"/>
                </a:solidFill>
                <a:latin typeface="맑은 고딕"/>
                <a:ea typeface="맑은 고딕"/>
              </a:rPr>
              <a:t>서버 내부 메모리 상태·비용을 반영한 요청 배분으로 </a:t>
            </a:r>
            <a:r>
              <a:rPr sz="1200" b="1" i="0">
                <a:solidFill>
                  <a:srgbClr val="0066FF"/>
                </a:solidFill>
                <a:latin typeface="맑은 고딕"/>
                <a:ea typeface="맑은 고딕"/>
              </a:rPr>
              <a:t>처리량(Throughput)·첫 응답 시간(TTFT) 최적화</a:t>
            </a:r>
          </a:p>
          <a:p>
            <a:pPr>
              <a:lnSpc>
                <a:spcPct val="125000"/>
              </a:lnSpc>
            </a:pPr>
            <a:r>
              <a:rPr sz="1200" b="1" i="0">
                <a:solidFill>
                  <a:srgbClr val="000000"/>
                </a:solidFill>
                <a:latin typeface="맑은 고딕"/>
                <a:ea typeface="맑은 고딕"/>
              </a:rPr>
              <a:t>설계 쟁점 2. </a:t>
            </a:r>
            <a:r>
              <a:rPr sz="1200" b="0" i="0">
                <a:solidFill>
                  <a:srgbClr val="000000"/>
                </a:solidFill>
                <a:latin typeface="맑은 고딕"/>
                <a:ea typeface="맑은 고딕"/>
              </a:rPr>
              <a:t>신규 메모리·정책 추가, 서버 증가 시 </a:t>
            </a:r>
            <a:r>
              <a:rPr sz="1200" b="1" i="0">
                <a:solidFill>
                  <a:srgbClr val="0066FF"/>
                </a:solidFill>
                <a:latin typeface="맑은 고딕"/>
                <a:ea typeface="맑은 고딕"/>
              </a:rPr>
              <a:t>기존 구조 변경 최소화(Modifiability)·확장성(Scalability)</a:t>
            </a:r>
          </a:p>
        </p:txBody>
      </p:sp>
      <p:grpSp>
        <p:nvGrpSpPr>
          <p:cNvPr id="2" name="그룹 1">
            <a:extLst>
              <a:ext uri="{FF2B5EF4-FFF2-40B4-BE49-F238E27FC236}">
                <a16:creationId xmlns:a16="http://schemas.microsoft.com/office/drawing/2014/main" id="{D8454C29-B532-49FE-99CE-60D79E51A037}"/>
              </a:ext>
            </a:extLst>
          </p:cNvPr>
          <p:cNvGrpSpPr/>
          <p:nvPr/>
        </p:nvGrpSpPr>
        <p:grpSpPr>
          <a:xfrm>
            <a:off x="6167674" y="1608313"/>
            <a:ext cx="5533854" cy="3803530"/>
            <a:chOff x="6167674" y="2324995"/>
            <a:chExt cx="5533854" cy="3086847"/>
          </a:xfrm>
        </p:grpSpPr>
        <p:sp>
          <p:nvSpPr>
            <p:cNvPr id="242" name="직사각형 241">
              <a:extLst>
                <a:ext uri="{FF2B5EF4-FFF2-40B4-BE49-F238E27FC236}">
                  <a16:creationId xmlns:a16="http://schemas.microsoft.com/office/drawing/2014/main" id="{E3784E02-153A-49F1-A2CD-CE4252048DE7}"/>
                </a:ext>
              </a:extLst>
            </p:cNvPr>
            <p:cNvSpPr/>
            <p:nvPr/>
          </p:nvSpPr>
          <p:spPr>
            <a:xfrm>
              <a:off x="6167674" y="2460335"/>
              <a:ext cx="5533854" cy="2951507"/>
            </a:xfrm>
            <a:prstGeom prst="rect">
              <a:avLst/>
            </a:prstGeom>
            <a:noFill/>
            <a:ln>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43" name="모서리가 둥근 직사각형 217">
              <a:extLst>
                <a:ext uri="{FF2B5EF4-FFF2-40B4-BE49-F238E27FC236}">
                  <a16:creationId xmlns:a16="http://schemas.microsoft.com/office/drawing/2014/main" id="{63A3E9B0-7066-45A1-BE5D-E8DD4EAEDB03}"/>
                </a:ext>
              </a:extLst>
            </p:cNvPr>
            <p:cNvSpPr/>
            <p:nvPr/>
          </p:nvSpPr>
          <p:spPr>
            <a:xfrm>
              <a:off x="6463335" y="2324995"/>
              <a:ext cx="4990654" cy="285015"/>
            </a:xfrm>
            <a:prstGeom prst="roundRect">
              <a:avLst/>
            </a:prstGeom>
            <a:solidFill>
              <a:schemeClr val="accent2">
                <a:lumMod val="20000"/>
                <a:lumOff val="80000"/>
              </a:schemeClr>
            </a:solidFill>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To-Be: 서버 내부 메모리 상태를 반영하는 조율</a:t>
              </a:r>
              <a:endParaRPr lang="ko-KR" altLang="en-US" sz="1100" b="1" dirty="0"/>
            </a:p>
          </p:txBody>
        </p:sp>
      </p:grpSp>
      <p:sp>
        <p:nvSpPr>
          <p:cNvPr id="244" name="DP2 9060">
            <a:extLst>
              <a:ext uri="{FF2B5EF4-FFF2-40B4-BE49-F238E27FC236}">
                <a16:creationId xmlns:a16="http://schemas.microsoft.com/office/drawing/2014/main" id="{EECDFEB7-7302-4965-B64A-4FA0853A126C}"/>
              </a:ext>
            </a:extLst>
          </p:cNvPr>
          <p:cNvSpPr/>
          <p:nvPr/>
        </p:nvSpPr>
        <p:spPr>
          <a:xfrm>
            <a:off x="5632858" y="3663076"/>
            <a:ext cx="438912" cy="457200"/>
          </a:xfrm>
          <a:prstGeom prst="rightArrow">
            <a:avLst/>
          </a:prstGeom>
          <a:solidFill>
            <a:srgbClr val="FFD966"/>
          </a:solidFill>
          <a:ln>
            <a:noFill/>
          </a:ln>
        </p:spPr>
        <p:txBody>
          <a:bodyPr wrap="square" lIns="27432" tIns="7315" rIns="27432" bIns="7315" anchor="ctr">
            <a:normAutofit fontScale="92500" lnSpcReduction="20000"/>
          </a:bodyPr>
          <a:lstStyle/>
          <a:p>
            <a:endParaRPr lang="ko-KR" altLang="en-US"/>
          </a:p>
        </p:txBody>
      </p:sp>
      <p:grpSp>
        <p:nvGrpSpPr>
          <p:cNvPr id="291" name="그룹 290">
            <a:extLst>
              <a:ext uri="{FF2B5EF4-FFF2-40B4-BE49-F238E27FC236}">
                <a16:creationId xmlns:a16="http://schemas.microsoft.com/office/drawing/2014/main" id="{6A78737F-A253-4CE8-B9A2-72B91FF65732}"/>
              </a:ext>
            </a:extLst>
          </p:cNvPr>
          <p:cNvGrpSpPr/>
          <p:nvPr/>
        </p:nvGrpSpPr>
        <p:grpSpPr>
          <a:xfrm>
            <a:off x="347472" y="1624275"/>
            <a:ext cx="5119877" cy="3787568"/>
            <a:chOff x="99695" y="3138920"/>
            <a:chExt cx="5315187" cy="3447912"/>
          </a:xfrm>
        </p:grpSpPr>
        <p:sp>
          <p:nvSpPr>
            <p:cNvPr id="350" name="직사각형 349">
              <a:extLst>
                <a:ext uri="{FF2B5EF4-FFF2-40B4-BE49-F238E27FC236}">
                  <a16:creationId xmlns:a16="http://schemas.microsoft.com/office/drawing/2014/main" id="{14E0C7FA-AF01-4522-B324-5D5122403813}"/>
                </a:ext>
              </a:extLst>
            </p:cNvPr>
            <p:cNvSpPr/>
            <p:nvPr/>
          </p:nvSpPr>
          <p:spPr>
            <a:xfrm>
              <a:off x="99695" y="3276197"/>
              <a:ext cx="5315187" cy="3310635"/>
            </a:xfrm>
            <a:prstGeom prst="rect">
              <a:avLst/>
            </a:prstGeom>
            <a:noFill/>
            <a:ln w="12700">
              <a:solidFill>
                <a:schemeClr val="tx1">
                  <a:lumMod val="50000"/>
                  <a:lumOff val="50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1" name="모서리가 둥근 직사각형 212">
              <a:extLst>
                <a:ext uri="{FF2B5EF4-FFF2-40B4-BE49-F238E27FC236}">
                  <a16:creationId xmlns:a16="http://schemas.microsoft.com/office/drawing/2014/main" id="{1104C980-3417-4022-8A1E-A71193CA465E}"/>
                </a:ext>
              </a:extLst>
            </p:cNvPr>
            <p:cNvSpPr/>
            <p:nvPr/>
          </p:nvSpPr>
          <p:spPr>
            <a:xfrm>
              <a:off x="760121" y="3138920"/>
              <a:ext cx="4046740" cy="290631"/>
            </a:xfrm>
            <a:prstGeom prst="roundRect">
              <a:avLst/>
            </a:prstGeom>
            <a:solidFill>
              <a:schemeClr val="bg1">
                <a:lumMod val="95000"/>
              </a:schemeClr>
            </a:solidFill>
            <a:ln w="12700"/>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ko-KR" sz="1100" b="1" dirty="0"/>
                <a:t>As-Is: 기존 OSS 요청 조율 구조 (고정 값 판단)</a:t>
              </a:r>
              <a:endParaRPr lang="ko-KR" altLang="en-US" sz="1100" b="1" dirty="0"/>
            </a:p>
          </p:txBody>
        </p:sp>
      </p:grpSp>
      <p:sp>
        <p:nvSpPr>
          <p:cNvPr id="87" name="DP2 9014">
            <a:extLst>
              <a:ext uri="{FF2B5EF4-FFF2-40B4-BE49-F238E27FC236}">
                <a16:creationId xmlns:a16="http://schemas.microsoft.com/office/drawing/2014/main" id="{BAB6A9C5-DE6C-4B40-9E12-B57562177C2D}"/>
              </a:ext>
            </a:extLst>
          </p:cNvPr>
          <p:cNvSpPr/>
          <p:nvPr/>
        </p:nvSpPr>
        <p:spPr>
          <a:xfrm>
            <a:off x="697262" y="5665175"/>
            <a:ext cx="10972800" cy="256032"/>
          </a:xfrm>
          <a:prstGeom prst="rect">
            <a:avLst/>
          </a:prstGeom>
          <a:noFill/>
          <a:ln>
            <a:noFill/>
          </a:ln>
        </p:spPr>
        <p:txBody>
          <a:bodyPr wrap="square" lIns="9144" tIns="7315" rIns="9144" bIns="7315" anchor="ctr">
            <a:noAutofit/>
          </a:bodyPr>
          <a:lstStyle/>
          <a:p>
            <a:pPr>
              <a:lnSpc>
                <a:spcPct val="90000"/>
              </a:lnSpc>
            </a:pPr>
            <a:r>
              <a:rPr lang="en-US" altLang="ko-KR" sz="1200" b="1" dirty="0">
                <a:solidFill>
                  <a:srgbClr val="0066FF"/>
                </a:solidFill>
                <a:latin typeface="맑은 고딕" panose="020B0503020000020004" pitchFamily="50" charset="-127"/>
                <a:ea typeface="맑은 고딕" panose="020B0503020000020004" pitchFamily="50" charset="-127"/>
                <a:sym typeface="Wingdings" panose="05000000000000000000" pitchFamily="2" charset="2"/>
              </a:rPr>
              <a:t> 이기종 메모리 환경에서 서버 내부 메모리 상태·비용을 반영한 서버 간 요청 조율 구조 필요</a:t>
            </a:r>
            <a:endParaRPr lang="ko-KR" altLang="en-US" sz="1200" b="1" i="0" dirty="0">
              <a:solidFill>
                <a:srgbClr val="0066FF"/>
              </a:solidFill>
              <a:latin typeface="맑은 고딕" panose="020B0503020000020004" pitchFamily="50" charset="-127"/>
              <a:ea typeface="맑은 고딕" panose="020B0503020000020004" pitchFamily="50" charset="-127"/>
            </a:endParaRPr>
          </a:p>
        </p:txBody>
      </p:sp>
      <p:sp>
        <p:nvSpPr>
          <p:cNvPr id="88" name="오른쪽 화살표 39">
            <a:extLst>
              <a:ext uri="{FF2B5EF4-FFF2-40B4-BE49-F238E27FC236}">
                <a16:creationId xmlns:a16="http://schemas.microsoft.com/office/drawing/2014/main" id="{0C02C4F3-EB01-4664-B739-CF69604C5390}"/>
              </a:ext>
            </a:extLst>
          </p:cNvPr>
          <p:cNvSpPr/>
          <p:nvPr/>
        </p:nvSpPr>
        <p:spPr>
          <a:xfrm>
            <a:off x="284845" y="5625163"/>
            <a:ext cx="412417" cy="27623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014" name="Rounded Rectangle 9013"/>
          <p:cNvSpPr/>
          <p:nvPr/>
        </p:nvSpPr>
        <p:spPr>
          <a:xfrm>
            <a:off x="475488" y="2286000"/>
            <a:ext cx="676656" cy="310896"/>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cxnSp>
        <p:nvCxnSpPr>
          <p:cNvPr id="9015" name="Connector 9014"/>
          <p:cNvCxnSpPr/>
          <p:nvPr/>
        </p:nvCxnSpPr>
        <p:spPr>
          <a:xfrm>
            <a:off x="1152144" y="2441448"/>
            <a:ext cx="173736"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16" name="Oval 9015"/>
          <p:cNvSpPr/>
          <p:nvPr/>
        </p:nvSpPr>
        <p:spPr>
          <a:xfrm>
            <a:off x="1161288" y="236372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17" name="Rectangle 9016"/>
          <p:cNvSpPr/>
          <p:nvPr/>
        </p:nvSpPr>
        <p:spPr>
          <a:xfrm>
            <a:off x="1325880" y="1956816"/>
            <a:ext cx="3977639" cy="1664208"/>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18" name="Rectangle 9017"/>
          <p:cNvSpPr/>
          <p:nvPr/>
        </p:nvSpPr>
        <p:spPr>
          <a:xfrm>
            <a:off x="1325880" y="1956816"/>
            <a:ext cx="3361334"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«process» 요청 조율기 (Router)  llm-d Router · Dynamo KV Router</a:t>
            </a:r>
          </a:p>
        </p:txBody>
      </p:sp>
      <p:sp>
        <p:nvSpPr>
          <p:cNvPr id="9019" name="Rectangle 9018"/>
          <p:cNvSpPr/>
          <p:nvPr/>
        </p:nvSpPr>
        <p:spPr>
          <a:xfrm>
            <a:off x="1435608" y="2286000"/>
            <a:ext cx="914400" cy="56692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요청 수신</a:t>
            </a:r>
          </a:p>
          <a:p>
            <a:pPr algn="ctr"/>
            <a:r>
              <a:rPr sz="700" b="0" i="0">
                <a:solidFill>
                  <a:srgbClr val="000000"/>
                </a:solidFill>
                <a:latin typeface="맑은 고딕"/>
                <a:ea typeface="맑은 고딕"/>
              </a:rPr>
              <a:t/>
            </a:r>
          </a:p>
        </p:txBody>
      </p:sp>
      <p:sp>
        <p:nvSpPr>
          <p:cNvPr id="9020" name="Rectangle 9019"/>
          <p:cNvSpPr/>
          <p:nvPr/>
        </p:nvSpPr>
        <p:spPr>
          <a:xfrm>
            <a:off x="1389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1" name="Rectangle 9020"/>
          <p:cNvSpPr/>
          <p:nvPr/>
        </p:nvSpPr>
        <p:spPr>
          <a:xfrm>
            <a:off x="1389888" y="243230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2" name="Rectangle 9021"/>
          <p:cNvSpPr/>
          <p:nvPr/>
        </p:nvSpPr>
        <p:spPr>
          <a:xfrm>
            <a:off x="2578608" y="2194560"/>
            <a:ext cx="137160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서버 선택 (Scheduler)</a:t>
            </a:r>
          </a:p>
          <a:p>
            <a:pPr algn="ctr"/>
            <a:r>
              <a:rPr sz="680" b="0" i="0">
                <a:solidFill>
                  <a:srgbClr val="000000"/>
                </a:solidFill>
                <a:latin typeface="맑은 고딕"/>
                <a:ea typeface="맑은 고딕"/>
              </a:rPr>
              <a:t>후보 서버에 점수를</a:t>
            </a:r>
          </a:p>
          <a:p>
            <a:pPr algn="ctr"/>
            <a:r>
              <a:rPr sz="680" b="0" i="0">
                <a:solidFill>
                  <a:srgbClr val="000000"/>
                </a:solidFill>
                <a:latin typeface="맑은 고딕"/>
                <a:ea typeface="맑은 고딕"/>
              </a:rPr>
              <a:t>매겨 선택</a:t>
            </a:r>
          </a:p>
          <a:p>
            <a:pPr algn="ctr"/>
            <a:r>
              <a:rPr sz="680" b="0" i="0">
                <a:solidFill>
                  <a:srgbClr val="000000"/>
                </a:solidFill>
                <a:latin typeface="맑은 고딕"/>
                <a:ea typeface="맑은 고딕"/>
              </a:rPr>
              <a:t>· 메모리 종류별 점수:</a:t>
            </a:r>
          </a:p>
          <a:p>
            <a:pPr algn="ctr"/>
            <a:r>
              <a:rPr sz="680" b="0" i="0">
                <a:solidFill>
                  <a:srgbClr val="000000"/>
                </a:solidFill>
                <a:latin typeface="맑은 고딕"/>
                <a:ea typeface="맑은 고딕"/>
              </a:rPr>
              <a:t>  고정 값 (GPU 1.0 /</a:t>
            </a:r>
          </a:p>
          <a:p>
            <a:pPr algn="ctr"/>
            <a:r>
              <a:rPr sz="680" b="0" i="0">
                <a:solidFill>
                  <a:srgbClr val="000000"/>
                </a:solidFill>
                <a:latin typeface="맑은 고딕"/>
                <a:ea typeface="맑은 고딕"/>
              </a:rPr>
              <a:t>  CPU 0.8 …)</a:t>
            </a:r>
          </a:p>
          <a:p>
            <a:pPr algn="ctr"/>
            <a:r>
              <a:rPr sz="680" b="0" i="0">
                <a:solidFill>
                  <a:srgbClr val="000000"/>
                </a:solidFill>
                <a:latin typeface="맑은 고딕"/>
                <a:ea typeface="맑은 고딕"/>
              </a:rPr>
              <a:t>· Prefill/Decode 분리:</a:t>
            </a:r>
          </a:p>
          <a:p>
            <a:pPr algn="ctr"/>
            <a:r>
              <a:rPr sz="680" b="0" i="0">
                <a:solidFill>
                  <a:srgbClr val="000000"/>
                </a:solidFill>
                <a:latin typeface="맑은 고딕"/>
                <a:ea typeface="맑은 고딕"/>
              </a:rPr>
              <a:t>  고정 기준</a:t>
            </a:r>
          </a:p>
        </p:txBody>
      </p:sp>
      <p:sp>
        <p:nvSpPr>
          <p:cNvPr id="9023" name="Rectangle 9022"/>
          <p:cNvSpPr/>
          <p:nvPr/>
        </p:nvSpPr>
        <p:spPr>
          <a:xfrm>
            <a:off x="253288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4" name="Rectangle 9023"/>
          <p:cNvSpPr/>
          <p:nvPr/>
        </p:nvSpPr>
        <p:spPr>
          <a:xfrm>
            <a:off x="253288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5" name="Rectangle 9024"/>
          <p:cNvSpPr/>
          <p:nvPr/>
        </p:nvSpPr>
        <p:spPr>
          <a:xfrm>
            <a:off x="4133087" y="2194560"/>
            <a:ext cx="1097280" cy="1325880"/>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30" b="1" i="0">
                <a:solidFill>
                  <a:srgbClr val="000000"/>
                </a:solidFill>
                <a:latin typeface="맑은 고딕"/>
                <a:ea typeface="맑은 고딕"/>
              </a:rPr>
              <a:t>상태 저장소</a:t>
            </a:r>
          </a:p>
          <a:p>
            <a:pPr algn="ctr"/>
            <a:r>
              <a:rPr sz="680" b="0" i="0">
                <a:solidFill>
                  <a:srgbClr val="000000"/>
                </a:solidFill>
                <a:latin typeface="맑은 고딕"/>
                <a:ea typeface="맑은 고딕"/>
              </a:rPr>
              <a:t/>
            </a:r>
          </a:p>
          <a:p>
            <a:pPr algn="ctr"/>
            <a:r>
              <a:rPr sz="680" b="0" i="0">
                <a:solidFill>
                  <a:srgbClr val="000000"/>
                </a:solidFill>
                <a:latin typeface="맑은 고딕"/>
                <a:ea typeface="맑은 고딕"/>
              </a:rPr>
              <a:t>· KV 캐시 보유</a:t>
            </a:r>
          </a:p>
          <a:p>
            <a:pPr algn="ctr"/>
            <a:r>
              <a:rPr sz="680" b="0" i="0">
                <a:solidFill>
                  <a:srgbClr val="000000"/>
                </a:solidFill>
                <a:latin typeface="맑은 고딕"/>
                <a:ea typeface="맑은 고딕"/>
              </a:rPr>
              <a:t>  위치</a:t>
            </a:r>
          </a:p>
          <a:p>
            <a:pPr algn="ctr"/>
            <a:r>
              <a:rPr sz="680" b="0" i="0">
                <a:solidFill>
                  <a:srgbClr val="000000"/>
                </a:solidFill>
                <a:latin typeface="맑은 고딕"/>
                <a:ea typeface="맑은 고딕"/>
              </a:rPr>
              <a:t>· 부하 수치</a:t>
            </a:r>
          </a:p>
          <a:p>
            <a:pPr algn="ctr"/>
            <a:r>
              <a:rPr sz="680" b="0" i="0">
                <a:solidFill>
                  <a:srgbClr val="000000"/>
                </a:solidFill>
                <a:latin typeface="맑은 고딕"/>
                <a:ea typeface="맑은 고딕"/>
              </a:rPr>
              <a:t>  (대기열·사용률)</a:t>
            </a:r>
          </a:p>
        </p:txBody>
      </p:sp>
      <p:sp>
        <p:nvSpPr>
          <p:cNvPr id="9026" name="Rectangle 9025"/>
          <p:cNvSpPr/>
          <p:nvPr/>
        </p:nvSpPr>
        <p:spPr>
          <a:xfrm>
            <a:off x="4087368" y="224942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27" name="Rectangle 9026"/>
          <p:cNvSpPr/>
          <p:nvPr/>
        </p:nvSpPr>
        <p:spPr>
          <a:xfrm>
            <a:off x="4087368" y="2340864"/>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28" name="Connector 9027"/>
          <p:cNvCxnSpPr/>
          <p:nvPr/>
        </p:nvCxnSpPr>
        <p:spPr>
          <a:xfrm>
            <a:off x="2350008" y="2569464"/>
            <a:ext cx="228600"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29" name="Oval 9028"/>
          <p:cNvSpPr/>
          <p:nvPr/>
        </p:nvSpPr>
        <p:spPr>
          <a:xfrm>
            <a:off x="2386584" y="2491740"/>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30" name="Connector 9029"/>
          <p:cNvCxnSpPr/>
          <p:nvPr/>
        </p:nvCxnSpPr>
        <p:spPr>
          <a:xfrm flipH="1">
            <a:off x="3950208" y="2834640"/>
            <a:ext cx="182879"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1" name="Oval 9030"/>
          <p:cNvSpPr/>
          <p:nvPr/>
        </p:nvSpPr>
        <p:spPr>
          <a:xfrm>
            <a:off x="3963924" y="275691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sp>
        <p:nvSpPr>
          <p:cNvPr id="9032" name="Rectangle 9031"/>
          <p:cNvSpPr/>
          <p:nvPr/>
        </p:nvSpPr>
        <p:spPr>
          <a:xfrm>
            <a:off x="1325880" y="3840480"/>
            <a:ext cx="3977639" cy="603504"/>
          </a:xfrm>
          <a:prstGeom prst="rect">
            <a:avLst/>
          </a:prstGeom>
          <a:solidFill>
            <a:srgbClr val="FFFFFF"/>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3" name="Rectangle 9032"/>
          <p:cNvSpPr/>
          <p:nvPr/>
        </p:nvSpPr>
        <p:spPr>
          <a:xfrm>
            <a:off x="1325880" y="38404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34" name="Rectangle 9033"/>
          <p:cNvSpPr/>
          <p:nvPr/>
        </p:nvSpPr>
        <p:spPr>
          <a:xfrm>
            <a:off x="1435608" y="4087368"/>
            <a:ext cx="2057400" cy="292608"/>
          </a:xfrm>
          <a:prstGeom prst="rect">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 관리 · 메모리 계층</a:t>
            </a:r>
          </a:p>
        </p:txBody>
      </p:sp>
      <p:sp>
        <p:nvSpPr>
          <p:cNvPr id="9035" name="Rectangle 9034"/>
          <p:cNvSpPr/>
          <p:nvPr/>
        </p:nvSpPr>
        <p:spPr>
          <a:xfrm>
            <a:off x="1389888" y="414223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6" name="Rectangle 9035"/>
          <p:cNvSpPr/>
          <p:nvPr/>
        </p:nvSpPr>
        <p:spPr>
          <a:xfrm>
            <a:off x="1389888" y="4233671"/>
            <a:ext cx="91440" cy="50292"/>
          </a:xfrm>
          <a:prstGeom prst="rect">
            <a:avLst/>
          </a:prstGeom>
          <a:solidFill>
            <a:srgbClr val="F2F2F2"/>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37" name="Rectangle 9036"/>
          <p:cNvSpPr/>
          <p:nvPr/>
        </p:nvSpPr>
        <p:spPr>
          <a:xfrm>
            <a:off x="3675887" y="4087368"/>
            <a:ext cx="1554480" cy="292608"/>
          </a:xfrm>
          <a:prstGeom prst="rect">
            <a:avLst/>
          </a:prstGeom>
          <a:solidFill>
            <a:srgbClr val="FFFFFF"/>
          </a:solidFill>
          <a:ln w="15875">
            <a:solidFill>
              <a:srgbClr val="C00000"/>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00" b="1" i="0">
                <a:solidFill>
                  <a:srgbClr val="C00000"/>
                </a:solidFill>
                <a:latin typeface="맑은 고딕"/>
                <a:ea typeface="맑은 고딕"/>
              </a:rPr>
              <a:t>메모리 사용·전송 대기 (미노출)</a:t>
            </a:r>
          </a:p>
        </p:txBody>
      </p:sp>
      <p:cxnSp>
        <p:nvCxnSpPr>
          <p:cNvPr id="9038" name="Connector 9037"/>
          <p:cNvCxnSpPr/>
          <p:nvPr/>
        </p:nvCxnSpPr>
        <p:spPr>
          <a:xfrm>
            <a:off x="326440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39" name="Oval 9038"/>
          <p:cNvSpPr/>
          <p:nvPr/>
        </p:nvSpPr>
        <p:spPr>
          <a:xfrm>
            <a:off x="318668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40" name="TextBox 9039"/>
          <p:cNvSpPr txBox="1"/>
          <p:nvPr/>
        </p:nvSpPr>
        <p:spPr>
          <a:xfrm>
            <a:off x="3392424" y="3639312"/>
            <a:ext cx="731520" cy="182880"/>
          </a:xfrm>
          <a:prstGeom prst="rect">
            <a:avLst/>
          </a:prstGeom>
          <a:noFill/>
        </p:spPr>
        <p:txBody>
          <a:bodyPr wrap="square" lIns="0" tIns="0" rIns="0" bIns="0" anchor="t">
            <a:spAutoFit/>
          </a:bodyPr>
          <a:lstStyle/>
          <a:p>
            <a:pPr algn="l"/>
            <a:r>
              <a:rPr sz="650" b="1" i="0">
                <a:solidFill>
                  <a:srgbClr val="404040"/>
                </a:solidFill>
                <a:latin typeface="맑은 고딕"/>
                <a:ea typeface="맑은 고딕"/>
              </a:rPr>
              <a:t>요청 전달</a:t>
            </a:r>
          </a:p>
        </p:txBody>
      </p:sp>
      <p:cxnSp>
        <p:nvCxnSpPr>
          <p:cNvPr id="9041" name="Connector 9040"/>
          <p:cNvCxnSpPr/>
          <p:nvPr/>
        </p:nvCxnSpPr>
        <p:spPr>
          <a:xfrm flipV="1">
            <a:off x="4773168" y="3621024"/>
            <a:ext cx="0" cy="219456"/>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42" name="Oval 9041"/>
          <p:cNvSpPr/>
          <p:nvPr/>
        </p:nvSpPr>
        <p:spPr>
          <a:xfrm>
            <a:off x="4695444" y="365302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sp>
        <p:nvSpPr>
          <p:cNvPr id="9043" name="TextBox 9042"/>
          <p:cNvSpPr txBox="1"/>
          <p:nvPr/>
        </p:nvSpPr>
        <p:spPr>
          <a:xfrm>
            <a:off x="3767328" y="3639312"/>
            <a:ext cx="914400" cy="182880"/>
          </a:xfrm>
          <a:prstGeom prst="rect">
            <a:avLst/>
          </a:prstGeom>
          <a:noFill/>
        </p:spPr>
        <p:txBody>
          <a:bodyPr wrap="square" lIns="0" tIns="0" rIns="0" bIns="0" anchor="t">
            <a:spAutoFit/>
          </a:bodyPr>
          <a:lstStyle/>
          <a:p>
            <a:pPr algn="r"/>
            <a:r>
              <a:rPr sz="650" b="1" i="0">
                <a:solidFill>
                  <a:srgbClr val="404040"/>
                </a:solidFill>
                <a:latin typeface="맑은 고딕"/>
                <a:ea typeface="맑은 고딕"/>
              </a:rPr>
              <a:t>상태 이벤트</a:t>
            </a:r>
          </a:p>
        </p:txBody>
      </p:sp>
      <p:sp>
        <p:nvSpPr>
          <p:cNvPr id="9044" name="Rectangle 9043"/>
          <p:cNvSpPr/>
          <p:nvPr/>
        </p:nvSpPr>
        <p:spPr>
          <a:xfrm>
            <a:off x="475488" y="4572000"/>
            <a:ext cx="4846320" cy="530352"/>
          </a:xfrm>
          <a:prstGeom prst="rect">
            <a:avLst/>
          </a:prstGeom>
          <a:solidFill>
            <a:srgbClr val="FFFFFF"/>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5" name="TextBox 9044"/>
          <p:cNvSpPr txBox="1"/>
          <p:nvPr/>
        </p:nvSpPr>
        <p:spPr>
          <a:xfrm>
            <a:off x="566928" y="4599432"/>
            <a:ext cx="4663440" cy="493776"/>
          </a:xfrm>
          <a:prstGeom prst="rect">
            <a:avLst/>
          </a:prstGeom>
          <a:noFill/>
        </p:spPr>
        <p:txBody>
          <a:bodyPr wrap="square" lIns="0" tIns="0" rIns="0" bIns="0" anchor="t">
            <a:spAutoFit/>
          </a:bodyPr>
          <a:lstStyle/>
          <a:p>
            <a:pPr algn="l">
              <a:lnSpc>
                <a:spcPct val="100000"/>
              </a:lnSpc>
            </a:pPr>
            <a:r>
              <a:rPr sz="750" b="1" i="0">
                <a:solidFill>
                  <a:srgbClr val="C00000"/>
                </a:solidFill>
                <a:latin typeface="맑은 고딕"/>
                <a:ea typeface="맑은 고딕"/>
              </a:rPr>
              <a:t>① </a:t>
            </a:r>
            <a:r>
              <a:rPr sz="750" b="0" i="0">
                <a:solidFill>
                  <a:srgbClr val="404040"/>
                </a:solidFill>
                <a:latin typeface="맑은 고딕"/>
                <a:ea typeface="맑은 고딕"/>
              </a:rPr>
              <a:t>메모리 점수가 고정 값 → 사용량·전송 대기·신규 메모리(CXL/HBF) 미반영</a:t>
            </a:r>
          </a:p>
          <a:p>
            <a:pPr algn="l">
              <a:lnSpc>
                <a:spcPct val="100000"/>
              </a:lnSpc>
            </a:pPr>
            <a:r>
              <a:rPr sz="750" b="1" i="0">
                <a:solidFill>
                  <a:srgbClr val="C00000"/>
                </a:solidFill>
                <a:latin typeface="맑은 고딕"/>
                <a:ea typeface="맑은 고딕"/>
              </a:rPr>
              <a:t>② </a:t>
            </a:r>
            <a:r>
              <a:rPr sz="750" b="0" i="0">
                <a:solidFill>
                  <a:srgbClr val="404040"/>
                </a:solidFill>
                <a:latin typeface="맑은 고딕"/>
                <a:ea typeface="맑은 고딕"/>
              </a:rPr>
              <a:t>Prefill/Decode 분리가 고정 기준 → KV 캐시 이동 비용 미고려</a:t>
            </a:r>
          </a:p>
          <a:p>
            <a:pPr algn="l">
              <a:lnSpc>
                <a:spcPct val="100000"/>
              </a:lnSpc>
            </a:pPr>
            <a:r>
              <a:rPr sz="750" b="1" i="0">
                <a:solidFill>
                  <a:srgbClr val="C00000"/>
                </a:solidFill>
                <a:latin typeface="맑은 고딕"/>
                <a:ea typeface="맑은 고딕"/>
              </a:rPr>
              <a:t>③ </a:t>
            </a:r>
            <a:r>
              <a:rPr sz="750" b="0" i="0">
                <a:solidFill>
                  <a:srgbClr val="404040"/>
                </a:solidFill>
                <a:latin typeface="맑은 고딕"/>
                <a:ea typeface="맑은 고딕"/>
              </a:rPr>
              <a:t>서버별 지시(kv_load_tiers 등)가 P/D 경로에서 덮어써지거나 전달 경로 없음</a:t>
            </a:r>
          </a:p>
        </p:txBody>
      </p:sp>
      <p:sp>
        <p:nvSpPr>
          <p:cNvPr id="9046" name="TextBox 9045"/>
          <p:cNvSpPr txBox="1"/>
          <p:nvPr/>
        </p:nvSpPr>
        <p:spPr>
          <a:xfrm>
            <a:off x="475488" y="5138928"/>
            <a:ext cx="4846320" cy="246888"/>
          </a:xfrm>
          <a:prstGeom prst="rect">
            <a:avLst/>
          </a:prstGeom>
          <a:noFill/>
        </p:spPr>
        <p:txBody>
          <a:bodyPr wrap="square" lIns="0" tIns="0" rIns="0" bIns="0" anchor="t">
            <a:spAutoFit/>
          </a:bodyPr>
          <a:lstStyle/>
          <a:p>
            <a:pPr algn="l"/>
            <a:r>
              <a:rPr sz="700" b="1" i="0">
                <a:solidFill>
                  <a:srgbClr val="2E75B6"/>
                </a:solidFill>
                <a:latin typeface="맑은 고딕"/>
                <a:ea typeface="맑은 고딕"/>
              </a:rPr>
              <a:t>용어  </a:t>
            </a:r>
            <a:r>
              <a:rPr sz="700" b="0" i="0">
                <a:solidFill>
                  <a:srgbClr val="404040"/>
                </a:solidFill>
                <a:latin typeface="맑은 고딕"/>
                <a:ea typeface="맑은 고딕"/>
              </a:rPr>
              <a:t>KV 캐시: LLM이 이전 입력을 다시 계산하지 않도록 저장한 중간 결과 · Prefill: 입력 처리(계산 집약) / Decode: 응답 생성(메모리 집약) · TTFT: 첫 응답까지 걸리는 시간</a:t>
            </a:r>
          </a:p>
        </p:txBody>
      </p:sp>
      <p:sp>
        <p:nvSpPr>
          <p:cNvPr id="9047" name="Rounded Rectangle 9046"/>
          <p:cNvSpPr/>
          <p:nvPr/>
        </p:nvSpPr>
        <p:spPr>
          <a:xfrm>
            <a:off x="6309360" y="1883664"/>
            <a:ext cx="676656" cy="256032"/>
          </a:xfrm>
          <a:prstGeom prst="roundRect">
            <a:avLst>
              <a:gd name="adj" fmla="val 20000"/>
            </a:avLst>
          </a:prstGeom>
          <a:solidFill>
            <a:srgbClr val="F2F2F2"/>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9144" tIns="9144" rIns="9144" bIns="9144" rtlCol="0" anchor="ctr"/>
          <a:lstStyle/>
          <a:p>
            <a:pPr algn="ctr"/>
            <a:r>
              <a:rPr sz="750" b="1" i="0">
                <a:solidFill>
                  <a:srgbClr val="000000"/>
                </a:solidFill>
                <a:latin typeface="맑은 고딕"/>
                <a:ea typeface="맑은 고딕"/>
              </a:rPr>
              <a:t>Request</a:t>
            </a:r>
          </a:p>
        </p:txBody>
      </p:sp>
      <p:sp>
        <p:nvSpPr>
          <p:cNvPr id="9048" name="Rectangle 9047"/>
          <p:cNvSpPr/>
          <p:nvPr/>
        </p:nvSpPr>
        <p:spPr>
          <a:xfrm>
            <a:off x="6309360" y="2304288"/>
            <a:ext cx="5285232" cy="2011680"/>
          </a:xfrm>
          <a:prstGeom prst="rect">
            <a:avLst/>
          </a:prstGeom>
          <a:solidFill>
            <a:srgbClr val="DAE3F3"/>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49" name="Rectangle 9048"/>
          <p:cNvSpPr/>
          <p:nvPr/>
        </p:nvSpPr>
        <p:spPr>
          <a:xfrm>
            <a:off x="6309360" y="2304288"/>
            <a:ext cx="3010204" cy="173736"/>
          </a:xfrm>
          <a:prstGeom prst="rect">
            <a:avLst/>
          </a:prstGeom>
          <a:solidFill>
            <a:srgbClr val="2E75B6"/>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«system» 요청 조율 계층 (Orchestration) - 이기종 메모리 반영</a:t>
            </a:r>
          </a:p>
        </p:txBody>
      </p:sp>
      <p:cxnSp>
        <p:nvCxnSpPr>
          <p:cNvPr id="9050" name="Connector 9049"/>
          <p:cNvCxnSpPr/>
          <p:nvPr/>
        </p:nvCxnSpPr>
        <p:spPr>
          <a:xfrm>
            <a:off x="6647688" y="2139696"/>
            <a:ext cx="0" cy="164592"/>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51" name="Oval 9050"/>
          <p:cNvSpPr/>
          <p:nvPr/>
        </p:nvSpPr>
        <p:spPr>
          <a:xfrm>
            <a:off x="6569964" y="2144268"/>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1</a:t>
            </a:r>
          </a:p>
        </p:txBody>
      </p:sp>
      <p:sp>
        <p:nvSpPr>
          <p:cNvPr id="9052" name="Rectangle 9051"/>
          <p:cNvSpPr/>
          <p:nvPr/>
        </p:nvSpPr>
        <p:spPr>
          <a:xfrm>
            <a:off x="6382512"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3" name="Rectangle 9052"/>
          <p:cNvSpPr/>
          <p:nvPr/>
        </p:nvSpPr>
        <p:spPr>
          <a:xfrm>
            <a:off x="6382512" y="2542032"/>
            <a:ext cx="1572768"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실행 기반 (Substrate)</a:t>
            </a:r>
          </a:p>
        </p:txBody>
      </p:sp>
      <p:sp>
        <p:nvSpPr>
          <p:cNvPr id="9054" name="Rectangle 9053"/>
          <p:cNvSpPr/>
          <p:nvPr/>
        </p:nvSpPr>
        <p:spPr>
          <a:xfrm>
            <a:off x="8138160" y="2542032"/>
            <a:ext cx="1572768"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5" name="Rectangle 9054"/>
          <p:cNvSpPr/>
          <p:nvPr/>
        </p:nvSpPr>
        <p:spPr>
          <a:xfrm>
            <a:off x="8138160" y="2542032"/>
            <a:ext cx="133502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판단 (Decision)</a:t>
            </a:r>
          </a:p>
        </p:txBody>
      </p:sp>
      <p:sp>
        <p:nvSpPr>
          <p:cNvPr id="9056" name="Rectangle 9055"/>
          <p:cNvSpPr/>
          <p:nvPr/>
        </p:nvSpPr>
        <p:spPr>
          <a:xfrm>
            <a:off x="9893808" y="2542032"/>
            <a:ext cx="1627632" cy="1700784"/>
          </a:xfrm>
          <a:prstGeom prst="rect">
            <a:avLst/>
          </a:prstGeom>
          <a:solidFill>
            <a:srgbClr val="FFFFFF"/>
          </a:solidFill>
          <a:ln w="1587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57" name="Rectangle 9056"/>
          <p:cNvSpPr/>
          <p:nvPr/>
        </p:nvSpPr>
        <p:spPr>
          <a:xfrm>
            <a:off x="9893808" y="2542032"/>
            <a:ext cx="1181404" cy="173736"/>
          </a:xfrm>
          <a:prstGeom prst="rect">
            <a:avLst/>
          </a:prstGeom>
          <a:solidFill>
            <a:srgbClr val="2F5597"/>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650" b="1" i="0">
                <a:solidFill>
                  <a:srgbClr val="FFFFFF"/>
                </a:solidFill>
                <a:latin typeface="맑은 고딕"/>
                <a:ea typeface="맑은 고딕"/>
              </a:rPr>
              <a:t>«plane» 상태 (State)</a:t>
            </a:r>
          </a:p>
        </p:txBody>
      </p:sp>
      <p:sp>
        <p:nvSpPr>
          <p:cNvPr id="9058" name="Rectangle 9057"/>
          <p:cNvSpPr/>
          <p:nvPr/>
        </p:nvSpPr>
        <p:spPr>
          <a:xfrm>
            <a:off x="6492240"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A 요청 수신·중계</a:t>
            </a:r>
          </a:p>
        </p:txBody>
      </p:sp>
      <p:sp>
        <p:nvSpPr>
          <p:cNvPr id="9059" name="Rectangle 9058"/>
          <p:cNvSpPr/>
          <p:nvPr/>
        </p:nvSpPr>
        <p:spPr>
          <a:xfrm>
            <a:off x="6446520"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0" name="Rectangle 9059"/>
          <p:cNvSpPr/>
          <p:nvPr/>
        </p:nvSpPr>
        <p:spPr>
          <a:xfrm>
            <a:off x="6446520"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1" name="Rectangle 9060"/>
          <p:cNvSpPr/>
          <p:nvPr/>
        </p:nvSpPr>
        <p:spPr>
          <a:xfrm>
            <a:off x="6492240" y="3310128"/>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E Prefill/Decode 조율</a:t>
            </a:r>
          </a:p>
          <a:p>
            <a:pPr algn="ctr"/>
            <a:r>
              <a:rPr sz="700" b="0" i="0">
                <a:solidFill>
                  <a:srgbClr val="000000"/>
                </a:solidFill>
                <a:latin typeface="맑은 고딕"/>
                <a:ea typeface="맑은 고딕"/>
              </a:rPr>
              <a:t>서버별 지시 전달</a:t>
            </a:r>
          </a:p>
        </p:txBody>
      </p:sp>
      <p:sp>
        <p:nvSpPr>
          <p:cNvPr id="9062" name="Rectangle 9061"/>
          <p:cNvSpPr/>
          <p:nvPr/>
        </p:nvSpPr>
        <p:spPr>
          <a:xfrm>
            <a:off x="6446520"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3" name="Rectangle 9062"/>
          <p:cNvSpPr/>
          <p:nvPr/>
        </p:nvSpPr>
        <p:spPr>
          <a:xfrm>
            <a:off x="6446520"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4" name="Rectangle 9063"/>
          <p:cNvSpPr/>
          <p:nvPr/>
        </p:nvSpPr>
        <p:spPr>
          <a:xfrm>
            <a:off x="6492240" y="3840480"/>
            <a:ext cx="1325880" cy="310896"/>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F 서버 발견·확장</a:t>
            </a:r>
          </a:p>
        </p:txBody>
      </p:sp>
      <p:sp>
        <p:nvSpPr>
          <p:cNvPr id="9065" name="Rectangle 9064"/>
          <p:cNvSpPr/>
          <p:nvPr/>
        </p:nvSpPr>
        <p:spPr>
          <a:xfrm>
            <a:off x="6446520" y="3895344"/>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6" name="Rectangle 9065"/>
          <p:cNvSpPr/>
          <p:nvPr/>
        </p:nvSpPr>
        <p:spPr>
          <a:xfrm>
            <a:off x="6446520" y="3986783"/>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7" name="Rectangle 9066"/>
          <p:cNvSpPr/>
          <p:nvPr/>
        </p:nvSpPr>
        <p:spPr>
          <a:xfrm>
            <a:off x="8247888" y="2779776"/>
            <a:ext cx="1325880" cy="420624"/>
          </a:xfrm>
          <a:prstGeom prst="rect">
            <a:avLst/>
          </a:prstGeom>
          <a:solidFill>
            <a:srgbClr val="DAE3F3"/>
          </a:solidFill>
          <a:ln w="12700">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D 흐름 제어</a:t>
            </a:r>
          </a:p>
        </p:txBody>
      </p:sp>
      <p:sp>
        <p:nvSpPr>
          <p:cNvPr id="9068" name="Rectangle 9067"/>
          <p:cNvSpPr/>
          <p:nvPr/>
        </p:nvSpPr>
        <p:spPr>
          <a:xfrm>
            <a:off x="8202167"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69" name="Rectangle 9068"/>
          <p:cNvSpPr/>
          <p:nvPr/>
        </p:nvSpPr>
        <p:spPr>
          <a:xfrm>
            <a:off x="8202167"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0" name="Rectangle 9069"/>
          <p:cNvSpPr/>
          <p:nvPr/>
        </p:nvSpPr>
        <p:spPr>
          <a:xfrm>
            <a:off x="8247888" y="3310128"/>
            <a:ext cx="1325880" cy="841248"/>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B 서버 선택 로직</a:t>
            </a:r>
          </a:p>
          <a:p>
            <a:pPr algn="ctr"/>
            <a:r>
              <a:rPr sz="700" b="0" i="0">
                <a:solidFill>
                  <a:srgbClr val="000000"/>
                </a:solidFill>
                <a:latin typeface="맑은 고딕"/>
                <a:ea typeface="맑은 고딕"/>
              </a:rPr>
              <a:t>메모리 비용 기반 점수</a:t>
            </a:r>
          </a:p>
          <a:p>
            <a:pPr algn="ctr"/>
            <a:r>
              <a:rPr sz="700" b="0" i="0">
                <a:solidFill>
                  <a:srgbClr val="000000"/>
                </a:solidFill>
                <a:latin typeface="맑은 고딕"/>
                <a:ea typeface="맑은 고딕"/>
              </a:rPr>
              <a:t>비용 기반 P/D 분리 판단</a:t>
            </a:r>
          </a:p>
        </p:txBody>
      </p:sp>
      <p:sp>
        <p:nvSpPr>
          <p:cNvPr id="9071" name="Rectangle 9070"/>
          <p:cNvSpPr/>
          <p:nvPr/>
        </p:nvSpPr>
        <p:spPr>
          <a:xfrm>
            <a:off x="8202167" y="336499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2" name="Rectangle 9071"/>
          <p:cNvSpPr/>
          <p:nvPr/>
        </p:nvSpPr>
        <p:spPr>
          <a:xfrm>
            <a:off x="8202167" y="3456432"/>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3" name="Rectangle 9072"/>
          <p:cNvSpPr/>
          <p:nvPr/>
        </p:nvSpPr>
        <p:spPr>
          <a:xfrm>
            <a:off x="10003536" y="2779776"/>
            <a:ext cx="1417320" cy="640080"/>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C 상태 수집</a:t>
            </a:r>
          </a:p>
          <a:p>
            <a:pPr algn="ctr"/>
            <a:r>
              <a:rPr sz="700" b="0" i="0">
                <a:solidFill>
                  <a:srgbClr val="000000"/>
                </a:solidFill>
                <a:latin typeface="맑은 고딕"/>
                <a:ea typeface="맑은 고딕"/>
              </a:rPr>
              <a:t>KV 캐시 보유 위치</a:t>
            </a:r>
          </a:p>
          <a:p>
            <a:pPr algn="ctr"/>
            <a:r>
              <a:rPr sz="700" b="0" i="0">
                <a:solidFill>
                  <a:srgbClr val="000000"/>
                </a:solidFill>
                <a:latin typeface="맑은 고딕"/>
                <a:ea typeface="맑은 고딕"/>
              </a:rPr>
              <a:t>(메모리 종류별)</a:t>
            </a:r>
          </a:p>
        </p:txBody>
      </p:sp>
      <p:sp>
        <p:nvSpPr>
          <p:cNvPr id="9074" name="Rectangle 9073"/>
          <p:cNvSpPr/>
          <p:nvPr/>
        </p:nvSpPr>
        <p:spPr>
          <a:xfrm>
            <a:off x="9957816" y="283464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5" name="Rectangle 9074"/>
          <p:cNvSpPr/>
          <p:nvPr/>
        </p:nvSpPr>
        <p:spPr>
          <a:xfrm>
            <a:off x="9957816" y="2926080"/>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6" name="Rectangle 9075"/>
          <p:cNvSpPr/>
          <p:nvPr/>
        </p:nvSpPr>
        <p:spPr>
          <a:xfrm>
            <a:off x="10003536" y="3529584"/>
            <a:ext cx="1417320" cy="621792"/>
          </a:xfrm>
          <a:prstGeom prst="rect">
            <a:avLst/>
          </a:prstGeom>
          <a:solidFill>
            <a:srgbClr val="DAE3F3"/>
          </a:solidFill>
          <a:ln w="222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메모리 상태 수치</a:t>
            </a:r>
          </a:p>
          <a:p>
            <a:pPr algn="ctr"/>
            <a:r>
              <a:rPr sz="700" b="0" i="0">
                <a:solidFill>
                  <a:srgbClr val="000000"/>
                </a:solidFill>
                <a:latin typeface="맑은 고딕"/>
                <a:ea typeface="맑은 고딕"/>
              </a:rPr>
              <a:t>사용량·전송 대기</a:t>
            </a:r>
          </a:p>
        </p:txBody>
      </p:sp>
      <p:sp>
        <p:nvSpPr>
          <p:cNvPr id="9077" name="Rectangle 9076"/>
          <p:cNvSpPr/>
          <p:nvPr/>
        </p:nvSpPr>
        <p:spPr>
          <a:xfrm>
            <a:off x="9957816" y="3584448"/>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78" name="Rectangle 9077"/>
          <p:cNvSpPr/>
          <p:nvPr/>
        </p:nvSpPr>
        <p:spPr>
          <a:xfrm>
            <a:off x="9957816" y="3675887"/>
            <a:ext cx="91440" cy="50292"/>
          </a:xfrm>
          <a:prstGeom prst="rect">
            <a:avLst/>
          </a:prstGeom>
          <a:solidFill>
            <a:srgbClr val="DAE3F3"/>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79" name="Connector 9078"/>
          <p:cNvCxnSpPr/>
          <p:nvPr/>
        </p:nvCxnSpPr>
        <p:spPr>
          <a:xfrm>
            <a:off x="7818120" y="2990088"/>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0" name="Oval 9079"/>
          <p:cNvSpPr/>
          <p:nvPr/>
        </p:nvSpPr>
        <p:spPr>
          <a:xfrm>
            <a:off x="7955279" y="291236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2</a:t>
            </a:r>
          </a:p>
        </p:txBody>
      </p:sp>
      <p:cxnSp>
        <p:nvCxnSpPr>
          <p:cNvPr id="9081" name="Connector 9080"/>
          <p:cNvCxnSpPr/>
          <p:nvPr/>
        </p:nvCxnSpPr>
        <p:spPr>
          <a:xfrm>
            <a:off x="8906256" y="3200400"/>
            <a:ext cx="0" cy="109728"/>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cxnSp>
        <p:nvCxnSpPr>
          <p:cNvPr id="9082" name="Connector 9081"/>
          <p:cNvCxnSpPr/>
          <p:nvPr/>
        </p:nvCxnSpPr>
        <p:spPr>
          <a:xfrm flipH="1">
            <a:off x="9573768" y="3749039"/>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3" name="Oval 9082"/>
          <p:cNvSpPr/>
          <p:nvPr/>
        </p:nvSpPr>
        <p:spPr>
          <a:xfrm>
            <a:off x="9710928" y="3671315"/>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8</a:t>
            </a:r>
          </a:p>
        </p:txBody>
      </p:sp>
      <p:cxnSp>
        <p:nvCxnSpPr>
          <p:cNvPr id="9084" name="Connector 9083"/>
          <p:cNvCxnSpPr/>
          <p:nvPr/>
        </p:nvCxnSpPr>
        <p:spPr>
          <a:xfrm flipH="1">
            <a:off x="7818120" y="3611880"/>
            <a:ext cx="429768" cy="0"/>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85" name="Oval 9084"/>
          <p:cNvSpPr/>
          <p:nvPr/>
        </p:nvSpPr>
        <p:spPr>
          <a:xfrm>
            <a:off x="7955279" y="353415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3</a:t>
            </a:r>
          </a:p>
        </p:txBody>
      </p:sp>
      <p:sp>
        <p:nvSpPr>
          <p:cNvPr id="9086" name="Rounded Rectangle 9085"/>
          <p:cNvSpPr/>
          <p:nvPr/>
        </p:nvSpPr>
        <p:spPr>
          <a:xfrm>
            <a:off x="10991088" y="2340864"/>
            <a:ext cx="566928" cy="173736"/>
          </a:xfrm>
          <a:prstGeom prst="roundRect">
            <a:avLst>
              <a:gd name="adj" fmla="val 30000"/>
            </a:avLst>
          </a:prstGeom>
          <a:solidFill>
            <a:srgbClr val="FFFFFF"/>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9144" tIns="0" rIns="9144" bIns="0" rtlCol="0" anchor="ctr"/>
          <a:lstStyle/>
          <a:p>
            <a:pPr algn="ctr"/>
            <a:r>
              <a:rPr sz="700" b="1" i="0">
                <a:solidFill>
                  <a:srgbClr val="2E75B6"/>
                </a:solidFill>
                <a:latin typeface="맑은 고딕"/>
                <a:ea typeface="맑은 고딕"/>
              </a:rPr>
              <a:t>쟁점 1</a:t>
            </a:r>
          </a:p>
        </p:txBody>
      </p:sp>
      <p:sp>
        <p:nvSpPr>
          <p:cNvPr id="9087" name="Rectangle 9086"/>
          <p:cNvSpPr/>
          <p:nvPr/>
        </p:nvSpPr>
        <p:spPr>
          <a:xfrm>
            <a:off x="6309360" y="4526280"/>
            <a:ext cx="5285232" cy="457200"/>
          </a:xfrm>
          <a:prstGeom prst="rect">
            <a:avLst/>
          </a:prstGeom>
          <a:solidFill>
            <a:srgbClr val="F2F2F2"/>
          </a:solidFill>
          <a:ln w="1587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88" name="Rectangle 9087"/>
          <p:cNvSpPr/>
          <p:nvPr/>
        </p:nvSpPr>
        <p:spPr>
          <a:xfrm>
            <a:off x="6309360" y="4526280"/>
            <a:ext cx="2311603" cy="173736"/>
          </a:xfrm>
          <a:prstGeom prst="rect">
            <a:avLst/>
          </a:prstGeom>
          <a:solidFill>
            <a:srgbClr val="404040"/>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45720" tIns="0" rIns="18288" bIns="0" rtlCol="0" anchor="ctr"/>
          <a:lstStyle/>
          <a:p>
            <a:pPr algn="l"/>
            <a:r>
              <a:rPr sz="700" b="1" i="0">
                <a:solidFill>
                  <a:srgbClr val="FFFFFF"/>
                </a:solidFill>
                <a:latin typeface="맑은 고딕"/>
                <a:ea typeface="맑은 고딕"/>
              </a:rPr>
              <a:t>«pod» 추론 서버 ×N (vLLM 인스턴스, 서버 내부)</a:t>
            </a:r>
          </a:p>
        </p:txBody>
      </p:sp>
      <p:sp>
        <p:nvSpPr>
          <p:cNvPr id="9089" name="Rectangle 9088"/>
          <p:cNvSpPr/>
          <p:nvPr/>
        </p:nvSpPr>
        <p:spPr>
          <a:xfrm>
            <a:off x="6419088" y="4736592"/>
            <a:ext cx="228600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캐시·메모리 계층 (HBM·DRAM·CXL)</a:t>
            </a:r>
          </a:p>
        </p:txBody>
      </p:sp>
      <p:sp>
        <p:nvSpPr>
          <p:cNvPr id="9090" name="Rectangle 9089"/>
          <p:cNvSpPr/>
          <p:nvPr/>
        </p:nvSpPr>
        <p:spPr>
          <a:xfrm>
            <a:off x="6373368"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1" name="Rectangle 9090"/>
          <p:cNvSpPr/>
          <p:nvPr/>
        </p:nvSpPr>
        <p:spPr>
          <a:xfrm>
            <a:off x="6373368"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2" name="Rectangle 9091"/>
          <p:cNvSpPr/>
          <p:nvPr/>
        </p:nvSpPr>
        <p:spPr>
          <a:xfrm>
            <a:off x="8915400" y="4736592"/>
            <a:ext cx="2560320" cy="219456"/>
          </a:xfrm>
          <a:prstGeom prst="rect">
            <a:avLst/>
          </a:prstGeom>
          <a:solidFill>
            <a:srgbClr val="FFFFFF"/>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64008" tIns="18288" rIns="27432" bIns="18288" rtlCol="0" anchor="ctr"/>
          <a:lstStyle/>
          <a:p>
            <a:pPr algn="ctr"/>
            <a:r>
              <a:rPr sz="750" b="1" i="0">
                <a:solidFill>
                  <a:srgbClr val="000000"/>
                </a:solidFill>
                <a:latin typeface="맑은 고딕"/>
                <a:ea typeface="맑은 고딕"/>
              </a:rPr>
              <a:t>KV 이벤트 · 메트릭 · 전송 정보 · NIXL</a:t>
            </a:r>
          </a:p>
        </p:txBody>
      </p:sp>
      <p:sp>
        <p:nvSpPr>
          <p:cNvPr id="9093" name="Rectangle 9092"/>
          <p:cNvSpPr/>
          <p:nvPr/>
        </p:nvSpPr>
        <p:spPr>
          <a:xfrm>
            <a:off x="8869680" y="479145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9094" name="Rectangle 9093"/>
          <p:cNvSpPr/>
          <p:nvPr/>
        </p:nvSpPr>
        <p:spPr>
          <a:xfrm>
            <a:off x="8869680" y="4882895"/>
            <a:ext cx="91440" cy="50292"/>
          </a:xfrm>
          <a:prstGeom prst="rect">
            <a:avLst/>
          </a:prstGeom>
          <a:solidFill>
            <a:srgbClr val="FFFFFF"/>
          </a:solidFill>
          <a:ln w="9525">
            <a:solidFill>
              <a:srgbClr val="404040"/>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cxnSp>
        <p:nvCxnSpPr>
          <p:cNvPr id="9095" name="Connector 9094"/>
          <p:cNvCxnSpPr/>
          <p:nvPr/>
        </p:nvCxnSpPr>
        <p:spPr>
          <a:xfrm>
            <a:off x="7150608"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6" name="Oval 9095"/>
          <p:cNvSpPr/>
          <p:nvPr/>
        </p:nvSpPr>
        <p:spPr>
          <a:xfrm>
            <a:off x="7072884"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4</a:t>
            </a:r>
          </a:p>
        </p:txBody>
      </p:sp>
      <p:cxnSp>
        <p:nvCxnSpPr>
          <p:cNvPr id="9097" name="Connector 9096"/>
          <p:cNvCxnSpPr/>
          <p:nvPr/>
        </p:nvCxnSpPr>
        <p:spPr>
          <a:xfrm flipV="1">
            <a:off x="10698480" y="4151376"/>
            <a:ext cx="0" cy="374904"/>
          </a:xfrm>
          <a:prstGeom prst="line">
            <a:avLst/>
          </a:prstGeom>
          <a:ln w="15875">
            <a:solidFill>
              <a:srgbClr val="404040"/>
            </a:solidFill>
            <a:tailEnd type="triangle"/>
          </a:ln>
        </p:spPr>
        <p:style>
          <a:lnRef idx="2">
            <a:schemeClr val="accent1"/>
          </a:lnRef>
          <a:fillRef idx="0">
            <a:schemeClr val="accent1"/>
          </a:fillRef>
          <a:effectRef idx="1">
            <a:schemeClr val="accent1"/>
          </a:effectRef>
          <a:fontRef idx="minor">
            <a:schemeClr val="tx1"/>
          </a:fontRef>
        </p:style>
      </p:cxnSp>
      <p:sp>
        <p:nvSpPr>
          <p:cNvPr id="9098" name="Oval 9097"/>
          <p:cNvSpPr/>
          <p:nvPr/>
        </p:nvSpPr>
        <p:spPr>
          <a:xfrm>
            <a:off x="10620755" y="4261104"/>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6</a:t>
            </a:r>
          </a:p>
        </p:txBody>
      </p:sp>
      <p:cxnSp>
        <p:nvCxnSpPr>
          <p:cNvPr id="9099" name="Connector 9098"/>
          <p:cNvCxnSpPr/>
          <p:nvPr/>
        </p:nvCxnSpPr>
        <p:spPr>
          <a:xfrm>
            <a:off x="7772400" y="4023360"/>
            <a:ext cx="0" cy="502920"/>
          </a:xfrm>
          <a:prstGeom prst="line">
            <a:avLst/>
          </a:prstGeom>
          <a:ln w="15875">
            <a:solidFill>
              <a:srgbClr val="40404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100" name="Oval 9099"/>
          <p:cNvSpPr/>
          <p:nvPr/>
        </p:nvSpPr>
        <p:spPr>
          <a:xfrm>
            <a:off x="7694675" y="4197096"/>
            <a:ext cx="155448" cy="155448"/>
          </a:xfrm>
          <a:prstGeom prst="ellipse">
            <a:avLst/>
          </a:prstGeom>
          <a:solidFill>
            <a:srgbClr val="404040"/>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650" b="1" i="0">
                <a:solidFill>
                  <a:srgbClr val="FFFFFF"/>
                </a:solidFill>
                <a:latin typeface="맑은 고딕"/>
                <a:ea typeface="맑은 고딕"/>
              </a:rPr>
              <a:t>7</a:t>
            </a:r>
          </a:p>
        </p:txBody>
      </p:sp>
      <p:sp>
        <p:nvSpPr>
          <p:cNvPr id="9101" name="TextBox 9100"/>
          <p:cNvSpPr txBox="1"/>
          <p:nvPr/>
        </p:nvSpPr>
        <p:spPr>
          <a:xfrm>
            <a:off x="6309360" y="5029200"/>
            <a:ext cx="5303520" cy="128016"/>
          </a:xfrm>
          <a:prstGeom prst="rect">
            <a:avLst/>
          </a:prstGeom>
          <a:noFill/>
        </p:spPr>
        <p:txBody>
          <a:bodyPr wrap="square" lIns="0" tIns="0" rIns="0" bIns="0" anchor="t">
            <a:spAutoFit/>
          </a:bodyPr>
          <a:lstStyle/>
          <a:p>
            <a:pPr algn="l"/>
            <a:r>
              <a:rPr sz="700" b="0" i="0">
                <a:solidFill>
                  <a:srgbClr val="404040"/>
                </a:solidFill>
                <a:latin typeface="맑은 고딕"/>
                <a:ea typeface="맑은 고딕"/>
              </a:rPr>
              <a:t>① 요청  ② 결정 요청  ③ 선택 결과  ④ 요청+서버별 지시  ⑥ 상태 이벤트·수치  ⑦ 서버 발견  ⑧ 상태 조회</a:t>
            </a:r>
          </a:p>
        </p:txBody>
      </p:sp>
      <p:sp>
        <p:nvSpPr>
          <p:cNvPr id="9102" name="Rounded Rectangle 9101"/>
          <p:cNvSpPr/>
          <p:nvPr/>
        </p:nvSpPr>
        <p:spPr>
          <a:xfrm>
            <a:off x="6309360" y="5175504"/>
            <a:ext cx="5285232" cy="219456"/>
          </a:xfrm>
          <a:prstGeom prst="roundRect">
            <a:avLst>
              <a:gd name="adj" fmla="val 20000"/>
            </a:avLst>
          </a:prstGeom>
          <a:solidFill>
            <a:srgbClr val="FFFFFF"/>
          </a:solidFill>
          <a:ln w="15875">
            <a:solidFill>
              <a:srgbClr val="2E75B6"/>
            </a:solidFill>
            <a:prstDash val="dash"/>
          </a:ln>
          <a:effectLst/>
        </p:spPr>
        <p:style>
          <a:lnRef idx="1">
            <a:schemeClr val="accent1"/>
          </a:lnRef>
          <a:fillRef idx="3">
            <a:schemeClr val="accent1"/>
          </a:fillRef>
          <a:effectRef idx="2">
            <a:schemeClr val="accent1"/>
          </a:effectRef>
          <a:fontRef idx="minor">
            <a:schemeClr val="lt1"/>
          </a:fontRef>
        </p:style>
        <p:txBody>
          <a:bodyPr wrap="square" lIns="18288" tIns="9144" rIns="18288" bIns="9144" rtlCol="0" anchor="ctr"/>
          <a:lstStyle/>
          <a:p>
            <a:pPr algn="ctr"/>
            <a:r>
              <a:rPr sz="700" b="1" i="0">
                <a:solidFill>
                  <a:srgbClr val="2E75B6"/>
                </a:solidFill>
                <a:latin typeface="맑은 고딕"/>
                <a:ea typeface="맑은 고딕"/>
              </a:rPr>
              <a:t>쟁점 2  </a:t>
            </a:r>
            <a:r>
              <a:rPr sz="700" b="0" i="0">
                <a:solidFill>
                  <a:srgbClr val="000000"/>
                </a:solidFill>
                <a:latin typeface="맑은 고딕"/>
                <a:ea typeface="맑은 고딕"/>
              </a:rPr>
              <a:t>확장 지점: 신규 메모리·정책을 확장 모듈(plug-in)로 추가 (OSS 확장 vs 자체 구현)</a:t>
            </a:r>
          </a:p>
        </p:txBody>
      </p:sp>
    </p:spTree>
    <p:extLst>
      <p:ext uri="{BB962C8B-B14F-4D97-AF65-F5344CB8AC3E}">
        <p14:creationId xmlns:p14="http://schemas.microsoft.com/office/powerpoint/2010/main" val="27026381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8128859" cy="365125"/>
          </a:xfrm>
        </p:spPr>
        <p:txBody>
          <a:bodyPr/>
          <a:lstStyle/>
          <a:p>
            <a:r>
              <a:rPr lang="en-US" altLang="ko-KR" dirty="0"/>
              <a:t>DP0. 요청 조율 구조 - 요구사항</a:t>
            </a: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3</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102" name="Rectangle 101"/>
          <p:cNvSpPr/>
          <p:nvPr/>
        </p:nvSpPr>
        <p:spPr>
          <a:xfrm>
            <a:off x="320040" y="932688"/>
            <a:ext cx="4343400" cy="4754880"/>
          </a:xfrm>
          <a:prstGeom prst="rect">
            <a:avLst/>
          </a:prstGeom>
          <a:solidFill>
            <a:srgbClr val="FFFFFF"/>
          </a:solidFill>
          <a:ln w="15875">
            <a:solidFill>
              <a:srgbClr val="1F4E79"/>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3" name="Rounded Rectangle 102"/>
          <p:cNvSpPr/>
          <p:nvPr/>
        </p:nvSpPr>
        <p:spPr>
          <a:xfrm>
            <a:off x="429768" y="886968"/>
            <a:ext cx="4123944" cy="274320"/>
          </a:xfrm>
          <a:prstGeom prst="roundRect">
            <a:avLst>
              <a:gd name="adj" fmla="val 50000"/>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기능 요구사항 (무엇을 해야 하나)  F1~F6</a:t>
            </a:r>
          </a:p>
        </p:txBody>
      </p:sp>
      <p:sp>
        <p:nvSpPr>
          <p:cNvPr id="104" name="Rectangle 103"/>
          <p:cNvSpPr/>
          <p:nvPr/>
        </p:nvSpPr>
        <p:spPr>
          <a:xfrm>
            <a:off x="4754880" y="932688"/>
            <a:ext cx="3611880" cy="4754880"/>
          </a:xfrm>
          <a:prstGeom prst="rect">
            <a:avLst/>
          </a:prstGeom>
          <a:solidFill>
            <a:srgbClr val="FFFFFF"/>
          </a:solidFill>
          <a:ln w="15875">
            <a:solidFill>
              <a:srgbClr val="843C0C"/>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5" name="Rounded Rectangle 104"/>
          <p:cNvSpPr/>
          <p:nvPr/>
        </p:nvSpPr>
        <p:spPr>
          <a:xfrm>
            <a:off x="4864608" y="886968"/>
            <a:ext cx="3392424" cy="274320"/>
          </a:xfrm>
          <a:prstGeom prst="roundRect">
            <a:avLst>
              <a:gd name="adj" fmla="val 50000"/>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품질 속성 QA (얼마나 잘 해야 하나)  Q1~Q4</a:t>
            </a:r>
          </a:p>
        </p:txBody>
      </p:sp>
      <p:sp>
        <p:nvSpPr>
          <p:cNvPr id="106" name="Rectangle 105"/>
          <p:cNvSpPr/>
          <p:nvPr/>
        </p:nvSpPr>
        <p:spPr>
          <a:xfrm>
            <a:off x="8458200" y="932688"/>
            <a:ext cx="3410712" cy="4754880"/>
          </a:xfrm>
          <a:prstGeom prst="rect">
            <a:avLst/>
          </a:prstGeom>
          <a:solidFill>
            <a:srgbClr val="FFFFFF"/>
          </a:solidFill>
          <a:ln w="15875">
            <a:solidFill>
              <a:srgbClr val="375623"/>
            </a:solidFill>
            <a:prstDash val="dash"/>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7" name="Rounded Rectangle 106"/>
          <p:cNvSpPr/>
          <p:nvPr/>
        </p:nvSpPr>
        <p:spPr>
          <a:xfrm>
            <a:off x="8567928" y="886968"/>
            <a:ext cx="3191256" cy="274320"/>
          </a:xfrm>
          <a:prstGeom prst="roundRect">
            <a:avLst>
              <a:gd name="adj" fmla="val 50000"/>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1" i="0">
                <a:solidFill>
                  <a:srgbClr val="FFFFFF"/>
                </a:solidFill>
                <a:latin typeface="맑은 고딕"/>
                <a:ea typeface="맑은 고딕"/>
              </a:rPr>
              <a:t>제약사항 (지켜야 하는 조건)  C1~C6</a:t>
            </a:r>
          </a:p>
        </p:txBody>
      </p:sp>
      <p:sp>
        <p:nvSpPr>
          <p:cNvPr id="108" name="Rectangle 107"/>
          <p:cNvSpPr/>
          <p:nvPr/>
        </p:nvSpPr>
        <p:spPr>
          <a:xfrm>
            <a:off x="429768" y="129844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09" name="Rectangle 108"/>
          <p:cNvSpPr/>
          <p:nvPr/>
        </p:nvSpPr>
        <p:spPr>
          <a:xfrm>
            <a:off x="429768" y="129844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F1</a:t>
            </a:r>
          </a:p>
        </p:txBody>
      </p:sp>
      <p:sp>
        <p:nvSpPr>
          <p:cNvPr id="110" name="TextBox 109"/>
          <p:cNvSpPr txBox="1"/>
          <p:nvPr/>
        </p:nvSpPr>
        <p:spPr>
          <a:xfrm>
            <a:off x="896112" y="130759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 라우팅</a:t>
            </a:r>
          </a:p>
          <a:p>
            <a:pPr algn="l">
              <a:lnSpc>
                <a:spcPct val="95000"/>
              </a:lnSpc>
            </a:pPr>
            <a:r>
              <a:rPr sz="800" b="0" i="0">
                <a:solidFill>
                  <a:srgbClr val="262626"/>
                </a:solidFill>
                <a:latin typeface="맑은 고딕"/>
                <a:ea typeface="맑은 고딕"/>
              </a:rPr>
              <a:t>요청을 처리할 서버(vLLM 인스턴스) 고르기 - 서버별 KV 캐시 보유 위치·부하 반영</a:t>
            </a:r>
          </a:p>
        </p:txBody>
      </p:sp>
      <p:sp>
        <p:nvSpPr>
          <p:cNvPr id="111" name="Rounded Rectangle 110"/>
          <p:cNvSpPr/>
          <p:nvPr/>
        </p:nvSpPr>
        <p:spPr>
          <a:xfrm>
            <a:off x="3968496" y="1495043"/>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 결정</a:t>
            </a:r>
          </a:p>
        </p:txBody>
      </p:sp>
      <p:sp>
        <p:nvSpPr>
          <p:cNvPr id="112" name="Rectangle 111"/>
          <p:cNvSpPr/>
          <p:nvPr/>
        </p:nvSpPr>
        <p:spPr>
          <a:xfrm>
            <a:off x="429768" y="1993391"/>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3" name="Rectangle 112"/>
          <p:cNvSpPr/>
          <p:nvPr/>
        </p:nvSpPr>
        <p:spPr>
          <a:xfrm>
            <a:off x="429768" y="1993391"/>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F2</a:t>
            </a:r>
          </a:p>
        </p:txBody>
      </p:sp>
      <p:sp>
        <p:nvSpPr>
          <p:cNvPr id="114" name="TextBox 113"/>
          <p:cNvSpPr txBox="1"/>
          <p:nvPr/>
        </p:nvSpPr>
        <p:spPr>
          <a:xfrm>
            <a:off x="896112" y="2002535"/>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메모리 상태 수집</a:t>
            </a:r>
          </a:p>
          <a:p>
            <a:pPr algn="l">
              <a:lnSpc>
                <a:spcPct val="95000"/>
              </a:lnSpc>
            </a:pPr>
            <a:r>
              <a:rPr sz="800" b="0" i="0">
                <a:solidFill>
                  <a:srgbClr val="262626"/>
                </a:solidFill>
                <a:latin typeface="맑은 고딕"/>
                <a:ea typeface="맑은 고딕"/>
              </a:rPr>
              <a:t>서버가 알려 주는 KV 캐시 위치·메모리 사용량 수집, 신규 메모리(CXL·HBF) 구분</a:t>
            </a:r>
          </a:p>
        </p:txBody>
      </p:sp>
      <p:sp>
        <p:nvSpPr>
          <p:cNvPr id="115" name="Rounded Rectangle 114"/>
          <p:cNvSpPr/>
          <p:nvPr/>
        </p:nvSpPr>
        <p:spPr>
          <a:xfrm>
            <a:off x="3968496" y="2189987"/>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C 수집</a:t>
            </a:r>
          </a:p>
        </p:txBody>
      </p:sp>
      <p:sp>
        <p:nvSpPr>
          <p:cNvPr id="116" name="Rectangle 115"/>
          <p:cNvSpPr/>
          <p:nvPr/>
        </p:nvSpPr>
        <p:spPr>
          <a:xfrm>
            <a:off x="429768" y="2688336"/>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17" name="Rectangle 116"/>
          <p:cNvSpPr/>
          <p:nvPr/>
        </p:nvSpPr>
        <p:spPr>
          <a:xfrm>
            <a:off x="429768" y="2688336"/>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F3</a:t>
            </a:r>
          </a:p>
        </p:txBody>
      </p:sp>
      <p:sp>
        <p:nvSpPr>
          <p:cNvPr id="118" name="TextBox 117"/>
          <p:cNvSpPr txBox="1"/>
          <p:nvPr/>
        </p:nvSpPr>
        <p:spPr>
          <a:xfrm>
            <a:off x="896112" y="2697479"/>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Prefill/Decode(P/D) 분리 결정</a:t>
            </a:r>
          </a:p>
          <a:p>
            <a:pPr algn="l">
              <a:lnSpc>
                <a:spcPct val="95000"/>
              </a:lnSpc>
            </a:pPr>
            <a:r>
              <a:rPr sz="800" b="0" i="0">
                <a:solidFill>
                  <a:srgbClr val="262626"/>
                </a:solidFill>
                <a:latin typeface="맑은 고딕"/>
                <a:ea typeface="맑은 고딕"/>
              </a:rPr>
              <a:t>입력 처리(Prefill)와 응답 생성(Decode)을 서버 나눠 실행할지 결정, KV 전송 정보 전달</a:t>
            </a:r>
          </a:p>
        </p:txBody>
      </p:sp>
      <p:sp>
        <p:nvSpPr>
          <p:cNvPr id="119" name="Rounded Rectangle 118"/>
          <p:cNvSpPr/>
          <p:nvPr/>
        </p:nvSpPr>
        <p:spPr>
          <a:xfrm>
            <a:off x="3968496" y="2884932"/>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B·E 조율</a:t>
            </a:r>
          </a:p>
        </p:txBody>
      </p:sp>
      <p:sp>
        <p:nvSpPr>
          <p:cNvPr id="120" name="Rectangle 119"/>
          <p:cNvSpPr/>
          <p:nvPr/>
        </p:nvSpPr>
        <p:spPr>
          <a:xfrm>
            <a:off x="429768" y="3383280"/>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1" name="Rectangle 120"/>
          <p:cNvSpPr/>
          <p:nvPr/>
        </p:nvSpPr>
        <p:spPr>
          <a:xfrm>
            <a:off x="429768" y="3383280"/>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F4</a:t>
            </a:r>
          </a:p>
        </p:txBody>
      </p:sp>
      <p:sp>
        <p:nvSpPr>
          <p:cNvPr id="122" name="TextBox 121"/>
          <p:cNvSpPr txBox="1"/>
          <p:nvPr/>
        </p:nvSpPr>
        <p:spPr>
          <a:xfrm>
            <a:off x="896112" y="3392424"/>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요청별 서버 지시</a:t>
            </a:r>
          </a:p>
          <a:p>
            <a:pPr algn="l">
              <a:lnSpc>
                <a:spcPct val="95000"/>
              </a:lnSpc>
            </a:pPr>
            <a:r>
              <a:rPr sz="800" b="0" i="0">
                <a:solidFill>
                  <a:srgbClr val="262626"/>
                </a:solidFill>
                <a:latin typeface="맑은 고딕"/>
                <a:ea typeface="맑은 고딕"/>
              </a:rPr>
              <a:t>서버에 "KV를 어느 메모리에서 몇 토큰까지 불러올지" 지시 전달</a:t>
            </a:r>
          </a:p>
        </p:txBody>
      </p:sp>
      <p:sp>
        <p:nvSpPr>
          <p:cNvPr id="123" name="Rounded Rectangle 122"/>
          <p:cNvSpPr/>
          <p:nvPr/>
        </p:nvSpPr>
        <p:spPr>
          <a:xfrm>
            <a:off x="3968496" y="3579876"/>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E 조율</a:t>
            </a:r>
          </a:p>
        </p:txBody>
      </p:sp>
      <p:sp>
        <p:nvSpPr>
          <p:cNvPr id="124" name="Rectangle 123"/>
          <p:cNvSpPr/>
          <p:nvPr/>
        </p:nvSpPr>
        <p:spPr>
          <a:xfrm>
            <a:off x="429768" y="4078224"/>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5" name="Rectangle 124"/>
          <p:cNvSpPr/>
          <p:nvPr/>
        </p:nvSpPr>
        <p:spPr>
          <a:xfrm>
            <a:off x="429768" y="4078224"/>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F5</a:t>
            </a:r>
          </a:p>
        </p:txBody>
      </p:sp>
      <p:sp>
        <p:nvSpPr>
          <p:cNvPr id="126" name="TextBox 125"/>
          <p:cNvSpPr txBox="1"/>
          <p:nvPr/>
        </p:nvSpPr>
        <p:spPr>
          <a:xfrm>
            <a:off x="896112" y="4087368"/>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흐름 제어</a:t>
            </a:r>
          </a:p>
          <a:p>
            <a:pPr algn="l">
              <a:lnSpc>
                <a:spcPct val="95000"/>
              </a:lnSpc>
            </a:pPr>
            <a:r>
              <a:rPr sz="800" b="0" i="0">
                <a:solidFill>
                  <a:srgbClr val="262626"/>
                </a:solidFill>
                <a:latin typeface="맑은 고딕"/>
                <a:ea typeface="맑은 고딕"/>
              </a:rPr>
              <a:t>과부하 시 요청 대기·우선순위·거절로 서비스 목표(SLO) 유지</a:t>
            </a:r>
          </a:p>
        </p:txBody>
      </p:sp>
      <p:sp>
        <p:nvSpPr>
          <p:cNvPr id="127" name="Rounded Rectangle 126"/>
          <p:cNvSpPr/>
          <p:nvPr/>
        </p:nvSpPr>
        <p:spPr>
          <a:xfrm>
            <a:off x="3968496" y="4274820"/>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D 흐름</a:t>
            </a:r>
          </a:p>
        </p:txBody>
      </p:sp>
      <p:sp>
        <p:nvSpPr>
          <p:cNvPr id="128" name="Rectangle 127"/>
          <p:cNvSpPr/>
          <p:nvPr/>
        </p:nvSpPr>
        <p:spPr>
          <a:xfrm>
            <a:off x="429768" y="4773168"/>
            <a:ext cx="4123944" cy="630936"/>
          </a:xfrm>
          <a:prstGeom prst="rect">
            <a:avLst/>
          </a:prstGeom>
          <a:solidFill>
            <a:srgbClr val="DDEBF7"/>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29" name="Rectangle 128"/>
          <p:cNvSpPr/>
          <p:nvPr/>
        </p:nvSpPr>
        <p:spPr>
          <a:xfrm>
            <a:off x="429768" y="4773168"/>
            <a:ext cx="420624" cy="630936"/>
          </a:xfrm>
          <a:prstGeom prst="rect">
            <a:avLst/>
          </a:prstGeom>
          <a:solidFill>
            <a:srgbClr val="1F4E79"/>
          </a:solidFill>
          <a:ln w="12700">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F6</a:t>
            </a:r>
          </a:p>
        </p:txBody>
      </p:sp>
      <p:sp>
        <p:nvSpPr>
          <p:cNvPr id="130" name="TextBox 129"/>
          <p:cNvSpPr txBox="1"/>
          <p:nvPr/>
        </p:nvSpPr>
        <p:spPr>
          <a:xfrm>
            <a:off x="896112" y="4782312"/>
            <a:ext cx="3063239" cy="612647"/>
          </a:xfrm>
          <a:prstGeom prst="rect">
            <a:avLst/>
          </a:prstGeom>
          <a:noFill/>
        </p:spPr>
        <p:txBody>
          <a:bodyPr wrap="square" lIns="0" tIns="0" rIns="0" bIns="0" anchor="ctr">
            <a:spAutoFit/>
          </a:bodyPr>
          <a:lstStyle/>
          <a:p>
            <a:pPr algn="l">
              <a:lnSpc>
                <a:spcPct val="95000"/>
              </a:lnSpc>
            </a:pPr>
            <a:r>
              <a:rPr sz="900" b="1" i="0">
                <a:solidFill>
                  <a:srgbClr val="1F4E79"/>
                </a:solidFill>
                <a:latin typeface="맑은 고딕"/>
                <a:ea typeface="맑은 고딕"/>
              </a:rPr>
              <a:t>서버 발견·확장</a:t>
            </a:r>
          </a:p>
          <a:p>
            <a:pPr algn="l">
              <a:lnSpc>
                <a:spcPct val="95000"/>
              </a:lnSpc>
            </a:pPr>
            <a:r>
              <a:rPr sz="800" b="0" i="0">
                <a:solidFill>
                  <a:srgbClr val="262626"/>
                </a:solidFill>
                <a:latin typeface="맑은 고딕"/>
                <a:ea typeface="맑은 고딕"/>
              </a:rPr>
              <a:t>서버가 추가·제거되면 자동 감지해 요청 대상에 반영</a:t>
            </a:r>
          </a:p>
        </p:txBody>
      </p:sp>
      <p:sp>
        <p:nvSpPr>
          <p:cNvPr id="131" name="Rounded Rectangle 130"/>
          <p:cNvSpPr/>
          <p:nvPr/>
        </p:nvSpPr>
        <p:spPr>
          <a:xfrm>
            <a:off x="3968496" y="4969764"/>
            <a:ext cx="530352" cy="237744"/>
          </a:xfrm>
          <a:prstGeom prst="round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750" b="1" i="0">
                <a:solidFill>
                  <a:srgbClr val="1F4E79"/>
                </a:solidFill>
                <a:latin typeface="맑은 고딕"/>
                <a:ea typeface="맑은 고딕"/>
              </a:rPr>
              <a:t>F 발견</a:t>
            </a:r>
          </a:p>
        </p:txBody>
      </p:sp>
      <p:sp>
        <p:nvSpPr>
          <p:cNvPr id="132" name="TextBox 131"/>
          <p:cNvSpPr txBox="1"/>
          <p:nvPr/>
        </p:nvSpPr>
        <p:spPr>
          <a:xfrm>
            <a:off x="429768" y="5440680"/>
            <a:ext cx="4123944"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A 요청 경로(수신·중계)는 모든 F의 전제. llm-d 기본 제공: F5·F6, F1~F3 기본형</a:t>
            </a:r>
          </a:p>
        </p:txBody>
      </p:sp>
      <p:sp>
        <p:nvSpPr>
          <p:cNvPr id="133" name="Rectangle 132"/>
          <p:cNvSpPr/>
          <p:nvPr/>
        </p:nvSpPr>
        <p:spPr>
          <a:xfrm>
            <a:off x="4864608" y="1298448"/>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4" name="Rectangle 133"/>
          <p:cNvSpPr/>
          <p:nvPr/>
        </p:nvSpPr>
        <p:spPr>
          <a:xfrm>
            <a:off x="4864608" y="1298448"/>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Q1</a:t>
            </a:r>
          </a:p>
        </p:txBody>
      </p:sp>
      <p:sp>
        <p:nvSpPr>
          <p:cNvPr id="135" name="TextBox 134"/>
          <p:cNvSpPr txBox="1"/>
          <p:nvPr/>
        </p:nvSpPr>
        <p:spPr>
          <a:xfrm>
            <a:off x="5330952" y="1307592"/>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처리량 (Throughput)</a:t>
            </a:r>
          </a:p>
          <a:p>
            <a:pPr algn="l">
              <a:lnSpc>
                <a:spcPct val="95000"/>
              </a:lnSpc>
            </a:pPr>
            <a:r>
              <a:rPr sz="800" b="0" i="0">
                <a:solidFill>
                  <a:srgbClr val="262626"/>
                </a:solidFill>
                <a:latin typeface="맑은 고딕"/>
                <a:ea typeface="맑은 고딕"/>
              </a:rPr>
              <a:t>지표: SLO를 지키는 최대 처리량 (Goodput)</a:t>
            </a:r>
          </a:p>
          <a:p>
            <a:pPr algn="l">
              <a:lnSpc>
                <a:spcPct val="95000"/>
              </a:lnSpc>
            </a:pPr>
            <a:r>
              <a:rPr sz="800" b="0" i="0">
                <a:solidFill>
                  <a:srgbClr val="262626"/>
                </a:solidFill>
                <a:latin typeface="맑은 고딕"/>
                <a:ea typeface="맑은 고딕"/>
              </a:rPr>
              <a:t>목표: OSS 기본 설정 대비 향상 (수치는 측정 후 확정)</a:t>
            </a:r>
          </a:p>
        </p:txBody>
      </p:sp>
      <p:sp>
        <p:nvSpPr>
          <p:cNvPr id="136" name="Rectangle 135"/>
          <p:cNvSpPr/>
          <p:nvPr/>
        </p:nvSpPr>
        <p:spPr>
          <a:xfrm>
            <a:off x="4864608" y="2139696"/>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37" name="Rectangle 136"/>
          <p:cNvSpPr/>
          <p:nvPr/>
        </p:nvSpPr>
        <p:spPr>
          <a:xfrm>
            <a:off x="4864608" y="2139696"/>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Q2</a:t>
            </a:r>
          </a:p>
        </p:txBody>
      </p:sp>
      <p:sp>
        <p:nvSpPr>
          <p:cNvPr id="138" name="TextBox 137"/>
          <p:cNvSpPr txBox="1"/>
          <p:nvPr/>
        </p:nvSpPr>
        <p:spPr>
          <a:xfrm>
            <a:off x="5330952" y="2148839"/>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응답 지연 (Latency)</a:t>
            </a:r>
          </a:p>
          <a:p>
            <a:pPr algn="l">
              <a:lnSpc>
                <a:spcPct val="95000"/>
              </a:lnSpc>
            </a:pPr>
            <a:r>
              <a:rPr sz="800" b="0" i="0">
                <a:solidFill>
                  <a:srgbClr val="262626"/>
                </a:solidFill>
                <a:latin typeface="맑은 고딕"/>
                <a:ea typeface="맑은 고딕"/>
              </a:rPr>
              <a:t>지표: 첫 응답 시간 (TTFT), 조율 계층 추가 시간</a:t>
            </a:r>
          </a:p>
          <a:p>
            <a:pPr algn="l">
              <a:lnSpc>
                <a:spcPct val="95000"/>
              </a:lnSpc>
            </a:pPr>
            <a:r>
              <a:rPr sz="800" b="0" i="0">
                <a:solidFill>
                  <a:srgbClr val="262626"/>
                </a:solidFill>
                <a:latin typeface="맑은 고딕"/>
                <a:ea typeface="맑은 고딕"/>
              </a:rPr>
              <a:t>목표: 추가 시간이 허용 한도 이내 (한도는 측정 후 확정)</a:t>
            </a:r>
          </a:p>
        </p:txBody>
      </p:sp>
      <p:sp>
        <p:nvSpPr>
          <p:cNvPr id="139" name="Rectangle 138"/>
          <p:cNvSpPr/>
          <p:nvPr/>
        </p:nvSpPr>
        <p:spPr>
          <a:xfrm>
            <a:off x="4864608" y="2980944"/>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0" name="Rectangle 139"/>
          <p:cNvSpPr/>
          <p:nvPr/>
        </p:nvSpPr>
        <p:spPr>
          <a:xfrm>
            <a:off x="4864608" y="2980944"/>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Q3</a:t>
            </a:r>
          </a:p>
        </p:txBody>
      </p:sp>
      <p:sp>
        <p:nvSpPr>
          <p:cNvPr id="141" name="TextBox 140"/>
          <p:cNvSpPr txBox="1"/>
          <p:nvPr/>
        </p:nvSpPr>
        <p:spPr>
          <a:xfrm>
            <a:off x="5330952" y="2990087"/>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변경 용이성 (Modifiability)</a:t>
            </a:r>
          </a:p>
          <a:p>
            <a:pPr algn="l">
              <a:lnSpc>
                <a:spcPct val="95000"/>
              </a:lnSpc>
            </a:pPr>
            <a:r>
              <a:rPr sz="800" b="0" i="0">
                <a:solidFill>
                  <a:srgbClr val="262626"/>
                </a:solidFill>
                <a:latin typeface="맑은 고딕"/>
                <a:ea typeface="맑은 고딕"/>
              </a:rPr>
              <a:t>지표: 새 메모리·정책 추가 시 변경 범위 (수정 모듈 수 등)</a:t>
            </a:r>
          </a:p>
          <a:p>
            <a:pPr algn="l">
              <a:lnSpc>
                <a:spcPct val="95000"/>
              </a:lnSpc>
            </a:pPr>
            <a:r>
              <a:rPr sz="800" b="0" i="0">
                <a:solidFill>
                  <a:srgbClr val="262626"/>
                </a:solidFill>
                <a:latin typeface="맑은 고딕"/>
                <a:ea typeface="맑은 고딕"/>
              </a:rPr>
              <a:t>목표: 새 메모리는 설정만, 새 정책은 확장 모듈(plugin)로</a:t>
            </a:r>
          </a:p>
        </p:txBody>
      </p:sp>
      <p:sp>
        <p:nvSpPr>
          <p:cNvPr id="142" name="Rectangle 141"/>
          <p:cNvSpPr/>
          <p:nvPr/>
        </p:nvSpPr>
        <p:spPr>
          <a:xfrm>
            <a:off x="4864608" y="3822191"/>
            <a:ext cx="3392424" cy="786384"/>
          </a:xfrm>
          <a:prstGeom prst="rect">
            <a:avLst/>
          </a:prstGeom>
          <a:solidFill>
            <a:srgbClr val="FCE9DA"/>
          </a:solidFill>
          <a:ln w="9525">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3" name="Rectangle 142"/>
          <p:cNvSpPr/>
          <p:nvPr/>
        </p:nvSpPr>
        <p:spPr>
          <a:xfrm>
            <a:off x="4864608" y="3822191"/>
            <a:ext cx="420624" cy="786384"/>
          </a:xfrm>
          <a:prstGeom prst="rect">
            <a:avLst/>
          </a:prstGeom>
          <a:solidFill>
            <a:srgbClr val="843C0C"/>
          </a:solidFill>
          <a:ln w="12700">
            <a:solidFill>
              <a:srgbClr val="843C0C"/>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Q4</a:t>
            </a:r>
          </a:p>
        </p:txBody>
      </p:sp>
      <p:sp>
        <p:nvSpPr>
          <p:cNvPr id="144" name="TextBox 143"/>
          <p:cNvSpPr txBox="1"/>
          <p:nvPr/>
        </p:nvSpPr>
        <p:spPr>
          <a:xfrm>
            <a:off x="5330952" y="3831335"/>
            <a:ext cx="2898648" cy="768096"/>
          </a:xfrm>
          <a:prstGeom prst="rect">
            <a:avLst/>
          </a:prstGeom>
          <a:noFill/>
        </p:spPr>
        <p:txBody>
          <a:bodyPr wrap="square" lIns="0" tIns="0" rIns="0" bIns="0" anchor="ctr">
            <a:spAutoFit/>
          </a:bodyPr>
          <a:lstStyle/>
          <a:p>
            <a:pPr algn="l">
              <a:lnSpc>
                <a:spcPct val="95000"/>
              </a:lnSpc>
            </a:pPr>
            <a:r>
              <a:rPr sz="900" b="1" i="0">
                <a:solidFill>
                  <a:srgbClr val="843C0C"/>
                </a:solidFill>
                <a:latin typeface="맑은 고딕"/>
                <a:ea typeface="맑은 고딕"/>
              </a:rPr>
              <a:t>확장성 (Scalability)</a:t>
            </a:r>
          </a:p>
          <a:p>
            <a:pPr algn="l">
              <a:lnSpc>
                <a:spcPct val="95000"/>
              </a:lnSpc>
            </a:pPr>
            <a:r>
              <a:rPr sz="800" b="0" i="0">
                <a:solidFill>
                  <a:srgbClr val="262626"/>
                </a:solidFill>
                <a:latin typeface="맑은 고딕"/>
                <a:ea typeface="맑은 고딕"/>
              </a:rPr>
              <a:t>지표: 서버 N배 시 처리량이 N배의 몇 %</a:t>
            </a:r>
          </a:p>
          <a:p>
            <a:pPr algn="l">
              <a:lnSpc>
                <a:spcPct val="95000"/>
              </a:lnSpc>
            </a:pPr>
            <a:r>
              <a:rPr sz="800" b="0" i="0">
                <a:solidFill>
                  <a:srgbClr val="262626"/>
                </a:solidFill>
                <a:latin typeface="맑은 고딕"/>
                <a:ea typeface="맑은 고딕"/>
              </a:rPr>
              <a:t>목표: 병목 없이 확장 (분석·시뮬레이션)</a:t>
            </a:r>
          </a:p>
        </p:txBody>
      </p:sp>
      <p:sp>
        <p:nvSpPr>
          <p:cNvPr id="145" name="Rectangle 144"/>
          <p:cNvSpPr/>
          <p:nvPr/>
        </p:nvSpPr>
        <p:spPr>
          <a:xfrm>
            <a:off x="4864608" y="4681727"/>
            <a:ext cx="3392424" cy="914400"/>
          </a:xfrm>
          <a:prstGeom prst="rect">
            <a:avLst/>
          </a:prstGeom>
          <a:solidFill>
            <a:srgbClr val="F2F2F2"/>
          </a:solidFill>
          <a:ln w="9525">
            <a:solidFill>
              <a:srgbClr val="7F7F7F"/>
            </a:solidFill>
            <a:prstDash val="dash"/>
          </a:ln>
          <a:effectLst/>
        </p:spPr>
        <p:style>
          <a:lnRef idx="1">
            <a:schemeClr val="accent1"/>
          </a:lnRef>
          <a:fillRef idx="3">
            <a:schemeClr val="accent1"/>
          </a:fillRef>
          <a:effectRef idx="2">
            <a:schemeClr val="accent1"/>
          </a:effectRef>
          <a:fontRef idx="minor">
            <a:schemeClr val="lt1"/>
          </a:fontRef>
        </p:style>
        <p:txBody>
          <a:bodyPr wrap="square" lIns="73152" tIns="27432" rIns="54864" bIns="27432" rtlCol="0" anchor="ctr"/>
          <a:lstStyle/>
          <a:p>
            <a:pPr algn="l">
              <a:lnSpc>
                <a:spcPct val="95000"/>
              </a:lnSpc>
            </a:pPr>
            <a:r>
              <a:rPr sz="850" b="1" i="0">
                <a:solidFill>
                  <a:srgbClr val="404040"/>
                </a:solidFill>
                <a:latin typeface="맑은 고딕"/>
                <a:ea typeface="맑은 고딕"/>
              </a:rPr>
              <a:t>제외한 QA 2개</a:t>
            </a:r>
          </a:p>
          <a:p>
            <a:pPr algn="l">
              <a:lnSpc>
                <a:spcPct val="95000"/>
              </a:lnSpc>
            </a:pPr>
            <a:r>
              <a:rPr sz="750" b="0" i="0">
                <a:solidFill>
                  <a:srgbClr val="000000"/>
                </a:solidFill>
                <a:latin typeface="맑은 고딕"/>
                <a:ea typeface="맑은 고딕"/>
              </a:rPr>
              <a:t>· Resource Utilization: 라우팅 품질의 결과라 Q1과 같은 원인 → 독립 판별력 없음, 로그로만 기록</a:t>
            </a:r>
          </a:p>
          <a:p>
            <a:pPr algn="l">
              <a:lnSpc>
                <a:spcPct val="95000"/>
              </a:lnSpc>
            </a:pPr>
            <a:r>
              <a:rPr sz="750" b="0" i="0">
                <a:solidFill>
                  <a:srgbClr val="000000"/>
                </a:solidFill>
                <a:latin typeface="맑은 고딕"/>
                <a:ea typeface="맑은 고딕"/>
              </a:rPr>
              <a:t>· Functional Correctness(모델 정확도): 후보 간 차이 없음 → QA 대신 제약 C3로 처리</a:t>
            </a:r>
          </a:p>
        </p:txBody>
      </p:sp>
      <p:sp>
        <p:nvSpPr>
          <p:cNvPr id="146" name="Rectangle 145"/>
          <p:cNvSpPr/>
          <p:nvPr/>
        </p:nvSpPr>
        <p:spPr>
          <a:xfrm>
            <a:off x="8567928" y="129844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47" name="Rectangle 146"/>
          <p:cNvSpPr/>
          <p:nvPr/>
        </p:nvSpPr>
        <p:spPr>
          <a:xfrm>
            <a:off x="8567928" y="129844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C1</a:t>
            </a:r>
          </a:p>
        </p:txBody>
      </p:sp>
      <p:sp>
        <p:nvSpPr>
          <p:cNvPr id="148" name="TextBox 147"/>
          <p:cNvSpPr txBox="1"/>
          <p:nvPr/>
        </p:nvSpPr>
        <p:spPr>
          <a:xfrm>
            <a:off x="9034272" y="130759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추론 엔진은 vLLM으로 고정</a:t>
            </a:r>
          </a:p>
          <a:p>
            <a:pPr algn="l">
              <a:lnSpc>
                <a:spcPct val="95000"/>
              </a:lnSpc>
            </a:pPr>
            <a:r>
              <a:rPr sz="800" b="0" i="0">
                <a:solidFill>
                  <a:srgbClr val="262626"/>
                </a:solidFill>
                <a:latin typeface="맑은 고딕"/>
                <a:ea typeface="맑은 고딕"/>
              </a:rPr>
              <a:t>엔진 교체는 DP가 아닌 전제 조건</a:t>
            </a:r>
          </a:p>
        </p:txBody>
      </p:sp>
      <p:sp>
        <p:nvSpPr>
          <p:cNvPr id="149" name="Rectangle 148"/>
          <p:cNvSpPr/>
          <p:nvPr/>
        </p:nvSpPr>
        <p:spPr>
          <a:xfrm>
            <a:off x="8567928" y="1993391"/>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0" name="Rectangle 149"/>
          <p:cNvSpPr/>
          <p:nvPr/>
        </p:nvSpPr>
        <p:spPr>
          <a:xfrm>
            <a:off x="8567928" y="1993391"/>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C2</a:t>
            </a:r>
          </a:p>
        </p:txBody>
      </p:sp>
      <p:sp>
        <p:nvSpPr>
          <p:cNvPr id="151" name="TextBox 150"/>
          <p:cNvSpPr txBox="1"/>
          <p:nvPr/>
        </p:nvSpPr>
        <p:spPr>
          <a:xfrm>
            <a:off x="9034272" y="2002535"/>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실험 환경: GPU 8장 서버 2대</a:t>
            </a:r>
          </a:p>
          <a:p>
            <a:pPr algn="l">
              <a:lnSpc>
                <a:spcPct val="95000"/>
              </a:lnSpc>
            </a:pPr>
            <a:r>
              <a:rPr sz="800" b="0" i="0">
                <a:solidFill>
                  <a:srgbClr val="262626"/>
                </a:solidFill>
                <a:latin typeface="맑은 고딕"/>
                <a:ea typeface="맑은 고딕"/>
              </a:rPr>
              <a:t>Kubernetes 숙련도 낮음, 서버 간 RDMA 미확인 → Q4는 실측 불가</a:t>
            </a:r>
          </a:p>
        </p:txBody>
      </p:sp>
      <p:sp>
        <p:nvSpPr>
          <p:cNvPr id="152" name="Rectangle 151"/>
          <p:cNvSpPr/>
          <p:nvPr/>
        </p:nvSpPr>
        <p:spPr>
          <a:xfrm>
            <a:off x="8567928" y="2688336"/>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3" name="Rectangle 152"/>
          <p:cNvSpPr/>
          <p:nvPr/>
        </p:nvSpPr>
        <p:spPr>
          <a:xfrm>
            <a:off x="8567928" y="2688336"/>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C3</a:t>
            </a:r>
          </a:p>
        </p:txBody>
      </p:sp>
      <p:sp>
        <p:nvSpPr>
          <p:cNvPr id="154" name="TextBox 153"/>
          <p:cNvSpPr txBox="1"/>
          <p:nvPr/>
        </p:nvSpPr>
        <p:spPr>
          <a:xfrm>
            <a:off x="9034272" y="2697479"/>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정확도 불변 (손실 없음)</a:t>
            </a:r>
          </a:p>
          <a:p>
            <a:pPr algn="l">
              <a:lnSpc>
                <a:spcPct val="95000"/>
              </a:lnSpc>
            </a:pPr>
            <a:r>
              <a:rPr sz="800" b="0" i="0">
                <a:solidFill>
                  <a:srgbClr val="262626"/>
                </a:solidFill>
                <a:latin typeface="맑은 고딕"/>
                <a:ea typeface="맑은 고딕"/>
              </a:rPr>
              <a:t>손실형 압축·근사 적중 금지, 어느 후보든 출력 동일</a:t>
            </a:r>
          </a:p>
        </p:txBody>
      </p:sp>
      <p:sp>
        <p:nvSpPr>
          <p:cNvPr id="155" name="Rectangle 154"/>
          <p:cNvSpPr/>
          <p:nvPr/>
        </p:nvSpPr>
        <p:spPr>
          <a:xfrm>
            <a:off x="8567928" y="3383280"/>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6" name="Rectangle 155"/>
          <p:cNvSpPr/>
          <p:nvPr/>
        </p:nvSpPr>
        <p:spPr>
          <a:xfrm>
            <a:off x="8567928" y="3383280"/>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C4</a:t>
            </a:r>
          </a:p>
        </p:txBody>
      </p:sp>
      <p:sp>
        <p:nvSpPr>
          <p:cNvPr id="157" name="TextBox 156"/>
          <p:cNvSpPr txBox="1"/>
          <p:nvPr/>
        </p:nvSpPr>
        <p:spPr>
          <a:xfrm>
            <a:off x="9034272" y="3392424"/>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OSS 업스트림 추적 가능</a:t>
            </a:r>
          </a:p>
          <a:p>
            <a:pPr algn="l">
              <a:lnSpc>
                <a:spcPct val="95000"/>
              </a:lnSpc>
            </a:pPr>
            <a:r>
              <a:rPr sz="800" b="0" i="0">
                <a:solidFill>
                  <a:srgbClr val="262626"/>
                </a:solidFill>
                <a:latin typeface="맑은 고딕"/>
                <a:ea typeface="맑은 고딕"/>
              </a:rPr>
              <a:t>포크 최소화, 공개 확장 지점(설정·plugin) 위주</a:t>
            </a:r>
          </a:p>
        </p:txBody>
      </p:sp>
      <p:sp>
        <p:nvSpPr>
          <p:cNvPr id="158" name="Rectangle 157"/>
          <p:cNvSpPr/>
          <p:nvPr/>
        </p:nvSpPr>
        <p:spPr>
          <a:xfrm>
            <a:off x="8567928" y="4078224"/>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59" name="Rectangle 158"/>
          <p:cNvSpPr/>
          <p:nvPr/>
        </p:nvSpPr>
        <p:spPr>
          <a:xfrm>
            <a:off x="8567928" y="4078224"/>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C5</a:t>
            </a:r>
          </a:p>
        </p:txBody>
      </p:sp>
      <p:sp>
        <p:nvSpPr>
          <p:cNvPr id="160" name="TextBox 159"/>
          <p:cNvSpPr txBox="1"/>
          <p:nvPr/>
        </p:nvSpPr>
        <p:spPr>
          <a:xfrm>
            <a:off x="9034272" y="4087368"/>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서버 내부(DP1~DP4)와 접점 고정</a:t>
            </a:r>
          </a:p>
          <a:p>
            <a:pPr algn="l">
              <a:lnSpc>
                <a:spcPct val="95000"/>
              </a:lnSpc>
            </a:pPr>
            <a:r>
              <a:rPr sz="800" b="0" i="0">
                <a:solidFill>
                  <a:srgbClr val="262626"/>
                </a:solidFill>
                <a:latin typeface="맑은 고딕"/>
                <a:ea typeface="맑은 고딕"/>
              </a:rPr>
              <a:t>KV 이벤트·메트릭·KV 전송 정보(NIXL)를 계약으로 유지 → 병렬 진행</a:t>
            </a:r>
          </a:p>
        </p:txBody>
      </p:sp>
      <p:sp>
        <p:nvSpPr>
          <p:cNvPr id="161" name="Rectangle 160"/>
          <p:cNvSpPr/>
          <p:nvPr/>
        </p:nvSpPr>
        <p:spPr>
          <a:xfrm>
            <a:off x="8567928" y="4773168"/>
            <a:ext cx="3191256" cy="630936"/>
          </a:xfrm>
          <a:prstGeom prst="rect">
            <a:avLst/>
          </a:prstGeom>
          <a:solidFill>
            <a:srgbClr val="E2EFDA"/>
          </a:solidFill>
          <a:ln w="9525">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endParaRPr/>
          </a:p>
        </p:txBody>
      </p:sp>
      <p:sp>
        <p:nvSpPr>
          <p:cNvPr id="162" name="Rectangle 161"/>
          <p:cNvSpPr/>
          <p:nvPr/>
        </p:nvSpPr>
        <p:spPr>
          <a:xfrm>
            <a:off x="8567928" y="4773168"/>
            <a:ext cx="420624" cy="630936"/>
          </a:xfrm>
          <a:prstGeom prst="rect">
            <a:avLst/>
          </a:prstGeom>
          <a:solidFill>
            <a:srgbClr val="375623"/>
          </a:solidFill>
          <a:ln w="12700">
            <a:solidFill>
              <a:srgbClr val="375623"/>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i="0">
                <a:solidFill>
                  <a:srgbClr val="FFFFFF"/>
                </a:solidFill>
                <a:latin typeface="맑은 고딕"/>
                <a:ea typeface="맑은 고딕"/>
              </a:rPr>
              <a:t>C6</a:t>
            </a:r>
          </a:p>
        </p:txBody>
      </p:sp>
      <p:sp>
        <p:nvSpPr>
          <p:cNvPr id="163" name="TextBox 162"/>
          <p:cNvSpPr txBox="1"/>
          <p:nvPr/>
        </p:nvSpPr>
        <p:spPr>
          <a:xfrm>
            <a:off x="9034272" y="4782312"/>
            <a:ext cx="2697480" cy="612647"/>
          </a:xfrm>
          <a:prstGeom prst="rect">
            <a:avLst/>
          </a:prstGeom>
          <a:noFill/>
        </p:spPr>
        <p:txBody>
          <a:bodyPr wrap="square" lIns="0" tIns="0" rIns="0" bIns="0" anchor="ctr">
            <a:spAutoFit/>
          </a:bodyPr>
          <a:lstStyle/>
          <a:p>
            <a:pPr algn="l">
              <a:lnSpc>
                <a:spcPct val="95000"/>
              </a:lnSpc>
            </a:pPr>
            <a:r>
              <a:rPr sz="900" b="1" i="0">
                <a:solidFill>
                  <a:srgbClr val="375623"/>
                </a:solidFill>
                <a:latin typeface="맑은 고딕"/>
                <a:ea typeface="맑은 고딕"/>
              </a:rPr>
              <a:t>정책 P1~P5를 모두 표현 가능</a:t>
            </a:r>
          </a:p>
          <a:p>
            <a:pPr algn="l">
              <a:lnSpc>
                <a:spcPct val="95000"/>
              </a:lnSpc>
            </a:pPr>
            <a:r>
              <a:rPr sz="800" b="0" i="0">
                <a:solidFill>
                  <a:srgbClr val="262626"/>
                </a:solidFill>
                <a:latin typeface="맑은 고딕"/>
                <a:ea typeface="맑은 고딕"/>
              </a:rPr>
              <a:t>표현이 막히면 서버 내부 성능 이득이 서버 간에서 손실</a:t>
            </a:r>
          </a:p>
        </p:txBody>
      </p:sp>
      <p:sp>
        <p:nvSpPr>
          <p:cNvPr id="164" name="TextBox 163"/>
          <p:cNvSpPr txBox="1"/>
          <p:nvPr/>
        </p:nvSpPr>
        <p:spPr>
          <a:xfrm>
            <a:off x="8567928" y="5440680"/>
            <a:ext cx="3191256" cy="274320"/>
          </a:xfrm>
          <a:prstGeom prst="rect">
            <a:avLst/>
          </a:prstGeom>
          <a:noFill/>
        </p:spPr>
        <p:txBody>
          <a:bodyPr wrap="square" lIns="0" tIns="0" rIns="0" bIns="0" anchor="t">
            <a:spAutoFit/>
          </a:bodyPr>
          <a:lstStyle/>
          <a:p>
            <a:pPr algn="l"/>
            <a:r>
              <a:rPr sz="750" b="0" i="0">
                <a:solidFill>
                  <a:srgbClr val="404040"/>
                </a:solidFill>
                <a:latin typeface="맑은 고딕"/>
                <a:ea typeface="맑은 고딕"/>
              </a:rPr>
              <a:t>※ P1~P5: 조율 계층에 넣을 5가지 판단 로직 (설계 슬라이드)</a:t>
            </a:r>
          </a:p>
        </p:txBody>
      </p:sp>
      <p:sp>
        <p:nvSpPr>
          <p:cNvPr id="165" name="Rectangle 164"/>
          <p:cNvSpPr/>
          <p:nvPr/>
        </p:nvSpPr>
        <p:spPr>
          <a:xfrm>
            <a:off x="320040" y="5852160"/>
            <a:ext cx="11548872"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l"/>
            <a:r>
              <a:rPr sz="1050" b="1" i="0">
                <a:solidFill>
                  <a:srgbClr val="2F5597"/>
                </a:solidFill>
                <a:latin typeface="맑은 고딕"/>
                <a:ea typeface="맑은 고딕"/>
              </a:rPr>
              <a:t>→ 핵심: </a:t>
            </a:r>
            <a:r>
              <a:rPr sz="950" b="1" i="0">
                <a:solidFill>
                  <a:srgbClr val="2F5597"/>
                </a:solidFill>
                <a:latin typeface="맑은 고딕"/>
                <a:ea typeface="맑은 고딕"/>
              </a:rPr>
              <a:t>서버 내부 메모리 상태를 반영해 요청을 배분(F1~F4)하되, 처리량·첫 응답 시간·변경 용이성·확장성(Q1~Q4)을 만족하고, vLLM 고정·2노드 환경·정확도 불변(C1~C3) 안에서 해결</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요청 조율 계층 (Orchestration) 설계 - 구조</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서버 간(클러스터) 요청을 조율하는 계층의 컴포넌트 뷰</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Rectangle 101"/>
          <p:cNvSpPr/>
          <p:nvPr/>
        </p:nvSpPr>
        <p:spPr>
          <a:xfrm>
            <a:off x="246888" y="1042415"/>
            <a:ext cx="868680" cy="566928"/>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설계 안</a:t>
            </a:r>
          </a:p>
        </p:txBody>
      </p:sp>
      <p:sp>
        <p:nvSpPr>
          <p:cNvPr id="103" name="Rectangle 102"/>
          <p:cNvSpPr/>
          <p:nvPr/>
        </p:nvSpPr>
        <p:spPr>
          <a:xfrm>
            <a:off x="1115568" y="1042415"/>
            <a:ext cx="5394960" cy="566928"/>
          </a:xfrm>
          <a:prstGeom prst="rect">
            <a:avLst/>
          </a:prstGeom>
          <a:solidFill>
            <a:srgbClr val="FFFFFF"/>
          </a:solidFill>
          <a:ln w="6350">
            <a:solidFill>
              <a:srgbClr val="BFBFBF"/>
            </a:solidFill>
          </a:ln>
          <a:effectLst/>
        </p:spPr>
        <p:txBody>
          <a:bodyPr rtlCol="0" anchor="ctr"/>
          <a:lstStyle/>
          <a:p>
            <a:pPr algn="ctr"/>
          </a:p>
        </p:txBody>
      </p:sp>
      <p:sp>
        <p:nvSpPr>
          <p:cNvPr id="104" name="Rectangle 103"/>
          <p:cNvSpPr/>
          <p:nvPr/>
        </p:nvSpPr>
        <p:spPr>
          <a:xfrm>
            <a:off x="6510528" y="1042415"/>
            <a:ext cx="5486399" cy="566928"/>
          </a:xfrm>
          <a:prstGeom prst="rect">
            <a:avLst/>
          </a:prstGeom>
          <a:solidFill>
            <a:srgbClr val="FFFFFF"/>
          </a:solidFill>
          <a:ln w="6350">
            <a:solidFill>
              <a:srgbClr val="BFBFBF"/>
            </a:solidFill>
          </a:ln>
          <a:effectLst/>
        </p:spPr>
        <p:txBody>
          <a:bodyPr rtlCol="0" anchor="ctr"/>
          <a:lstStyle/>
          <a:p>
            <a:pPr algn="ctr"/>
          </a:p>
        </p:txBody>
      </p:sp>
      <p:sp>
        <p:nvSpPr>
          <p:cNvPr id="105" name="TextBox 104"/>
          <p:cNvSpPr txBox="1"/>
          <p:nvPr/>
        </p:nvSpPr>
        <p:spPr>
          <a:xfrm>
            <a:off x="1188720" y="1069848"/>
            <a:ext cx="521208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(1안) OSS 확장 구조  </a:t>
            </a:r>
            <a:r>
              <a:rPr sz="850" b="0">
                <a:solidFill>
                  <a:srgbClr val="404040"/>
                </a:solidFill>
                <a:latin typeface="맑은 고딕"/>
                <a:ea typeface="맑은 고딕"/>
              </a:rPr>
              <a:t>(llm-d 기준: 기존 모듈 + 우리 확장)</a:t>
            </a:r>
          </a:p>
        </p:txBody>
      </p:sp>
      <p:sp>
        <p:nvSpPr>
          <p:cNvPr id="106" name="TextBox 105"/>
          <p:cNvSpPr txBox="1"/>
          <p:nvPr/>
        </p:nvSpPr>
        <p:spPr>
          <a:xfrm>
            <a:off x="1188720" y="1325880"/>
            <a:ext cx="521208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“검증된 OSS 위에 설정·확장 모듈(plugin)로 이기종 메모리 인지 정책을 얹는 구조”</a:t>
            </a:r>
          </a:p>
        </p:txBody>
      </p:sp>
      <p:sp>
        <p:nvSpPr>
          <p:cNvPr id="107" name="TextBox 106"/>
          <p:cNvSpPr txBox="1"/>
          <p:nvPr/>
        </p:nvSpPr>
        <p:spPr>
          <a:xfrm>
            <a:off x="6583680" y="1069848"/>
            <a:ext cx="5303520" cy="228600"/>
          </a:xfrm>
          <a:prstGeom prst="rect">
            <a:avLst/>
          </a:prstGeom>
          <a:noFill/>
        </p:spPr>
        <p:txBody>
          <a:bodyPr wrap="square" anchor="t" lIns="0" tIns="0" rIns="0" bIns="0">
            <a:spAutoFit/>
          </a:bodyPr>
          <a:lstStyle/>
          <a:p>
            <a:pPr algn="l"/>
            <a:r>
              <a:rPr sz="1200" b="1">
                <a:solidFill>
                  <a:srgbClr val="000000"/>
                </a:solidFill>
                <a:latin typeface="맑은 고딕"/>
                <a:ea typeface="맑은 고딕"/>
              </a:rPr>
              <a:t>(2안) 자체 구현 구조  </a:t>
            </a:r>
            <a:r>
              <a:rPr sz="850" b="0">
                <a:solidFill>
                  <a:srgbClr val="404040"/>
                </a:solidFill>
                <a:latin typeface="맑은 고딕"/>
                <a:ea typeface="맑은 고딕"/>
              </a:rPr>
              <a:t>(Own Router: 계층형 · 레플리카 확장)</a:t>
            </a:r>
          </a:p>
        </p:txBody>
      </p:sp>
      <p:sp>
        <p:nvSpPr>
          <p:cNvPr id="108" name="TextBox 107"/>
          <p:cNvSpPr txBox="1"/>
          <p:nvPr/>
        </p:nvSpPr>
        <p:spPr>
          <a:xfrm>
            <a:off x="6583680" y="1325880"/>
            <a:ext cx="5349240" cy="256032"/>
          </a:xfrm>
          <a:prstGeom prst="rect">
            <a:avLst/>
          </a:prstGeom>
          <a:noFill/>
        </p:spPr>
        <p:txBody>
          <a:bodyPr wrap="square" anchor="t" lIns="0" tIns="0" rIns="0" bIns="0">
            <a:spAutoFit/>
          </a:bodyPr>
          <a:lstStyle/>
          <a:p>
            <a:pPr algn="l"/>
            <a:r>
              <a:rPr sz="900" b="0">
                <a:solidFill>
                  <a:srgbClr val="404040"/>
                </a:solidFill>
                <a:latin typeface="맑은 고딕"/>
                <a:ea typeface="맑은 고딕"/>
              </a:rPr>
              <a:t>“결정·상태·P/D 조율을 한 프로세스에 모아 호출 경로를 줄이고, 레플리카로 늘리는 구조”</a:t>
            </a:r>
          </a:p>
        </p:txBody>
      </p:sp>
      <p:sp>
        <p:nvSpPr>
          <p:cNvPr id="109" name="Rectangle 108"/>
          <p:cNvSpPr/>
          <p:nvPr/>
        </p:nvSpPr>
        <p:spPr>
          <a:xfrm>
            <a:off x="246888" y="1609344"/>
            <a:ext cx="868680" cy="3529584"/>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구조</a:t>
            </a:r>
          </a:p>
        </p:txBody>
      </p:sp>
      <p:sp>
        <p:nvSpPr>
          <p:cNvPr id="110" name="Rectangle 109"/>
          <p:cNvSpPr/>
          <p:nvPr/>
        </p:nvSpPr>
        <p:spPr>
          <a:xfrm>
            <a:off x="1115568" y="1609344"/>
            <a:ext cx="5394960" cy="3529584"/>
          </a:xfrm>
          <a:prstGeom prst="rect">
            <a:avLst/>
          </a:prstGeom>
          <a:solidFill>
            <a:srgbClr val="FFFFFF"/>
          </a:solidFill>
          <a:ln w="6350">
            <a:solidFill>
              <a:srgbClr val="BFBFBF"/>
            </a:solidFill>
          </a:ln>
          <a:effectLst/>
        </p:spPr>
        <p:txBody>
          <a:bodyPr rtlCol="0" anchor="ctr"/>
          <a:lstStyle/>
          <a:p>
            <a:pPr algn="ctr"/>
          </a:p>
        </p:txBody>
      </p:sp>
      <p:sp>
        <p:nvSpPr>
          <p:cNvPr id="111" name="Rectangle 110"/>
          <p:cNvSpPr/>
          <p:nvPr/>
        </p:nvSpPr>
        <p:spPr>
          <a:xfrm>
            <a:off x="6510528" y="1609344"/>
            <a:ext cx="5486399" cy="3529584"/>
          </a:xfrm>
          <a:prstGeom prst="rect">
            <a:avLst/>
          </a:prstGeom>
          <a:solidFill>
            <a:srgbClr val="FFFFFF"/>
          </a:solidFill>
          <a:ln w="6350">
            <a:solidFill>
              <a:srgbClr val="BFBFBF"/>
            </a:solidFill>
          </a:ln>
          <a:effectLst/>
        </p:spPr>
        <p:txBody>
          <a:bodyPr rtlCol="0" anchor="ctr"/>
          <a:lstStyle/>
          <a:p>
            <a:pPr algn="ctr"/>
          </a:p>
        </p:txBody>
      </p:sp>
      <p:cxnSp>
        <p:nvCxnSpPr>
          <p:cNvPr id="112" name="Connector 111"/>
          <p:cNvCxnSpPr/>
          <p:nvPr/>
        </p:nvCxnSpPr>
        <p:spPr>
          <a:xfrm>
            <a:off x="2103120" y="2752344"/>
            <a:ext cx="2971800" cy="0"/>
          </a:xfrm>
          <a:prstGeom prst="line">
            <a:avLst/>
          </a:prstGeom>
          <a:ln w="12700">
            <a:solidFill>
              <a:srgbClr val="404040"/>
            </a:solidFill>
            <a:tailEnd type="triangle"/>
          </a:ln>
        </p:spPr>
      </p:cxnSp>
      <p:sp>
        <p:nvSpPr>
          <p:cNvPr id="113" name="Rectangle 112"/>
          <p:cNvSpPr/>
          <p:nvPr/>
        </p:nvSpPr>
        <p:spPr>
          <a:xfrm>
            <a:off x="1234440" y="1719072"/>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14" name="Rectangle 113"/>
          <p:cNvSpPr/>
          <p:nvPr/>
        </p:nvSpPr>
        <p:spPr>
          <a:xfrm>
            <a:off x="1188720" y="2203704"/>
            <a:ext cx="960120" cy="868680"/>
          </a:xfrm>
          <a:prstGeom prst="rect">
            <a:avLst/>
          </a:prstGeom>
          <a:solidFill>
            <a:srgbClr val="FFFFFF"/>
          </a:solidFill>
          <a:ln w="15875">
            <a:solidFill>
              <a:srgbClr val="2E75B6"/>
            </a:solidFill>
          </a:ln>
          <a:effectLst/>
        </p:spPr>
        <p:txBody>
          <a:bodyPr rtlCol="0" anchor="ctr"/>
          <a:lstStyle/>
          <a:p>
            <a:pPr algn="ctr"/>
          </a:p>
        </p:txBody>
      </p:sp>
      <p:sp>
        <p:nvSpPr>
          <p:cNvPr id="115" name="Rectangle 114"/>
          <p:cNvSpPr/>
          <p:nvPr/>
        </p:nvSpPr>
        <p:spPr>
          <a:xfrm>
            <a:off x="1188720" y="220370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«proxy» 프록시</a:t>
            </a:r>
          </a:p>
        </p:txBody>
      </p:sp>
      <p:sp>
        <p:nvSpPr>
          <p:cNvPr id="116" name="Rectangle 115"/>
          <p:cNvSpPr/>
          <p:nvPr/>
        </p:nvSpPr>
        <p:spPr>
          <a:xfrm>
            <a:off x="1298448" y="245059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A 요청 경로</a:t>
            </a:r>
          </a:p>
          <a:p>
            <a:pPr algn="ctr"/>
            <a:r>
              <a:rPr sz="750" b="0">
                <a:solidFill>
                  <a:srgbClr val="000000"/>
                </a:solidFill>
                <a:latin typeface="맑은 고딕"/>
                <a:ea typeface="맑은 고딕"/>
              </a:rPr>
              <a:t>결정 호출 client</a:t>
            </a:r>
          </a:p>
        </p:txBody>
      </p:sp>
      <p:sp>
        <p:nvSpPr>
          <p:cNvPr id="117" name="Rectangle 116"/>
          <p:cNvSpPr/>
          <p:nvPr/>
        </p:nvSpPr>
        <p:spPr>
          <a:xfrm>
            <a:off x="1252728" y="2542032"/>
            <a:ext cx="91440" cy="54864"/>
          </a:xfrm>
          <a:prstGeom prst="rect">
            <a:avLst/>
          </a:prstGeom>
          <a:solidFill>
            <a:srgbClr val="DAE3F3"/>
          </a:solidFill>
          <a:ln w="9525">
            <a:solidFill>
              <a:srgbClr val="2F5597"/>
            </a:solidFill>
          </a:ln>
          <a:effectLst/>
        </p:spPr>
        <p:txBody>
          <a:bodyPr rtlCol="0" anchor="ctr"/>
          <a:lstStyle/>
          <a:p>
            <a:pPr algn="ctr"/>
          </a:p>
        </p:txBody>
      </p:sp>
      <p:sp>
        <p:nvSpPr>
          <p:cNvPr id="118" name="Rectangle 117"/>
          <p:cNvSpPr/>
          <p:nvPr/>
        </p:nvSpPr>
        <p:spPr>
          <a:xfrm>
            <a:off x="1252728" y="2679192"/>
            <a:ext cx="91440" cy="54864"/>
          </a:xfrm>
          <a:prstGeom prst="rect">
            <a:avLst/>
          </a:prstGeom>
          <a:solidFill>
            <a:srgbClr val="DAE3F3"/>
          </a:solidFill>
          <a:ln w="9525">
            <a:solidFill>
              <a:srgbClr val="2F5597"/>
            </a:solidFill>
          </a:ln>
          <a:effectLst/>
        </p:spPr>
        <p:txBody>
          <a:bodyPr rtlCol="0" anchor="ctr"/>
          <a:lstStyle/>
          <a:p>
            <a:pPr algn="ctr"/>
          </a:p>
        </p:txBody>
      </p:sp>
      <p:sp>
        <p:nvSpPr>
          <p:cNvPr id="119" name="Rectangle 118"/>
          <p:cNvSpPr/>
          <p:nvPr/>
        </p:nvSpPr>
        <p:spPr>
          <a:xfrm>
            <a:off x="1188720" y="3712464"/>
            <a:ext cx="960120" cy="868680"/>
          </a:xfrm>
          <a:prstGeom prst="rect">
            <a:avLst/>
          </a:prstGeom>
          <a:solidFill>
            <a:srgbClr val="FFFFFF"/>
          </a:solidFill>
          <a:ln w="15875">
            <a:solidFill>
              <a:srgbClr val="2E75B6"/>
            </a:solidFill>
          </a:ln>
          <a:effectLst/>
        </p:spPr>
        <p:txBody>
          <a:bodyPr rtlCol="0" anchor="ctr"/>
          <a:lstStyle/>
          <a:p>
            <a:pPr algn="ctr"/>
          </a:p>
        </p:txBody>
      </p:sp>
      <p:sp>
        <p:nvSpPr>
          <p:cNvPr id="120" name="Rectangle 119"/>
          <p:cNvSpPr/>
          <p:nvPr/>
        </p:nvSpPr>
        <p:spPr>
          <a:xfrm>
            <a:off x="1188720" y="3712464"/>
            <a:ext cx="96012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«control» K8s</a:t>
            </a:r>
          </a:p>
        </p:txBody>
      </p:sp>
      <p:sp>
        <p:nvSpPr>
          <p:cNvPr id="121" name="Rectangle 120"/>
          <p:cNvSpPr/>
          <p:nvPr/>
        </p:nvSpPr>
        <p:spPr>
          <a:xfrm>
            <a:off x="1298448" y="3959352"/>
            <a:ext cx="804672" cy="457200"/>
          </a:xfrm>
          <a:prstGeom prst="rect">
            <a:avLst/>
          </a:prstGeom>
          <a:solidFill>
            <a:srgbClr val="DAE3F3"/>
          </a:solidFill>
          <a:ln w="12700">
            <a:solidFill>
              <a:srgbClr val="2F5597"/>
            </a:solidFill>
          </a:ln>
          <a:effectLst/>
        </p:spPr>
        <p:txBody>
          <a:bodyPr rtlCol="0" anchor="ctr" wrap="square" lIns="36576" tIns="18288" rIns="36576" bIns="18288"/>
          <a:lstStyle/>
          <a:p>
            <a:pPr algn="ctr"/>
            <a:r>
              <a:rPr sz="850" b="1">
                <a:solidFill>
                  <a:srgbClr val="000000"/>
                </a:solidFill>
                <a:latin typeface="맑은 고딕"/>
                <a:ea typeface="맑은 고딕"/>
              </a:rPr>
              <a:t>F 서버 발견</a:t>
            </a:r>
          </a:p>
          <a:p>
            <a:pPr algn="ctr"/>
            <a:r>
              <a:rPr sz="750" b="0">
                <a:solidFill>
                  <a:srgbClr val="000000"/>
                </a:solidFill>
                <a:latin typeface="맑은 고딕"/>
                <a:ea typeface="맑은 고딕"/>
              </a:rPr>
              <a:t>서버 풀</a:t>
            </a:r>
          </a:p>
        </p:txBody>
      </p:sp>
      <p:sp>
        <p:nvSpPr>
          <p:cNvPr id="122" name="Rectangle 121"/>
          <p:cNvSpPr/>
          <p:nvPr/>
        </p:nvSpPr>
        <p:spPr>
          <a:xfrm>
            <a:off x="1252728" y="4050791"/>
            <a:ext cx="91440" cy="54864"/>
          </a:xfrm>
          <a:prstGeom prst="rect">
            <a:avLst/>
          </a:prstGeom>
          <a:solidFill>
            <a:srgbClr val="DAE3F3"/>
          </a:solidFill>
          <a:ln w="9525">
            <a:solidFill>
              <a:srgbClr val="2F5597"/>
            </a:solidFill>
          </a:ln>
          <a:effectLst/>
        </p:spPr>
        <p:txBody>
          <a:bodyPr rtlCol="0" anchor="ctr"/>
          <a:lstStyle/>
          <a:p>
            <a:pPr algn="ctr"/>
          </a:p>
        </p:txBody>
      </p:sp>
      <p:sp>
        <p:nvSpPr>
          <p:cNvPr id="123" name="Rectangle 122"/>
          <p:cNvSpPr/>
          <p:nvPr/>
        </p:nvSpPr>
        <p:spPr>
          <a:xfrm>
            <a:off x="1252728" y="4187952"/>
            <a:ext cx="91440" cy="54864"/>
          </a:xfrm>
          <a:prstGeom prst="rect">
            <a:avLst/>
          </a:prstGeom>
          <a:solidFill>
            <a:srgbClr val="DAE3F3"/>
          </a:solidFill>
          <a:ln w="9525">
            <a:solidFill>
              <a:srgbClr val="2F5597"/>
            </a:solidFill>
          </a:ln>
          <a:effectLst/>
        </p:spPr>
        <p:txBody>
          <a:bodyPr rtlCol="0" anchor="ctr"/>
          <a:lstStyle/>
          <a:p>
            <a:pPr algn="ctr"/>
          </a:p>
        </p:txBody>
      </p:sp>
      <p:sp>
        <p:nvSpPr>
          <p:cNvPr id="124" name="Rectangle 123"/>
          <p:cNvSpPr/>
          <p:nvPr/>
        </p:nvSpPr>
        <p:spPr>
          <a:xfrm>
            <a:off x="2395728" y="1746504"/>
            <a:ext cx="2395728" cy="2834640"/>
          </a:xfrm>
          <a:prstGeom prst="rect">
            <a:avLst/>
          </a:prstGeom>
          <a:solidFill>
            <a:srgbClr val="FFFFFF"/>
          </a:solidFill>
          <a:ln w="15875">
            <a:solidFill>
              <a:srgbClr val="2F5597"/>
            </a:solidFill>
          </a:ln>
          <a:effectLst/>
        </p:spPr>
        <p:txBody>
          <a:bodyPr rtlCol="0" anchor="ctr"/>
          <a:lstStyle/>
          <a:p>
            <a:pPr algn="ctr"/>
          </a:p>
        </p:txBody>
      </p:sp>
      <p:sp>
        <p:nvSpPr>
          <p:cNvPr id="125" name="Rectangle 124"/>
          <p:cNvSpPr/>
          <p:nvPr/>
        </p:nvSpPr>
        <p:spPr>
          <a:xfrm>
            <a:off x="2395728" y="1746504"/>
            <a:ext cx="2395728" cy="173736"/>
          </a:xfrm>
          <a:prstGeom prst="rect">
            <a:avLst/>
          </a:prstGeom>
          <a:solidFill>
            <a:srgbClr val="2F5597"/>
          </a:solidFill>
          <a:ln w="12700">
            <a:solidFill>
              <a:srgbClr val="2F5597"/>
            </a:solidFill>
          </a:ln>
          <a:effectLst/>
        </p:spPr>
        <p:txBody>
          <a:bodyPr rtlCol="0" anchor="ctr" wrap="square" lIns="45720" tIns="0" rIns="18288" bIns="0"/>
          <a:lstStyle/>
          <a:p>
            <a:pPr algn="l"/>
            <a:r>
              <a:rPr sz="800" b="1">
                <a:solidFill>
                  <a:srgbClr val="FFFFFF"/>
                </a:solidFill>
                <a:latin typeface="맑은 고딕"/>
                <a:ea typeface="맑은 고딕"/>
              </a:rPr>
              <a:t>«process» Router  (llm-d 기준, Go)</a:t>
            </a:r>
          </a:p>
        </p:txBody>
      </p:sp>
      <p:sp>
        <p:nvSpPr>
          <p:cNvPr id="126" name="Rectangle 125"/>
          <p:cNvSpPr/>
          <p:nvPr/>
        </p:nvSpPr>
        <p:spPr>
          <a:xfrm>
            <a:off x="2542032" y="1993392"/>
            <a:ext cx="77724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요청 핸들러</a:t>
            </a:r>
          </a:p>
          <a:p>
            <a:pPr algn="ctr"/>
            <a:r>
              <a:rPr sz="700" b="0">
                <a:solidFill>
                  <a:srgbClr val="000000"/>
                </a:solidFill>
                <a:latin typeface="맑은 고딕"/>
                <a:ea typeface="맑은 고딕"/>
              </a:rPr>
              <a:t>요청 제어</a:t>
            </a:r>
          </a:p>
        </p:txBody>
      </p:sp>
      <p:sp>
        <p:nvSpPr>
          <p:cNvPr id="127" name="Rectangle 126"/>
          <p:cNvSpPr/>
          <p:nvPr/>
        </p:nvSpPr>
        <p:spPr>
          <a:xfrm>
            <a:off x="2496312"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28" name="Rectangle 127"/>
          <p:cNvSpPr/>
          <p:nvPr/>
        </p:nvSpPr>
        <p:spPr>
          <a:xfrm>
            <a:off x="2496312" y="2185416"/>
            <a:ext cx="91440" cy="54864"/>
          </a:xfrm>
          <a:prstGeom prst="rect">
            <a:avLst/>
          </a:prstGeom>
          <a:solidFill>
            <a:srgbClr val="DAE3F3"/>
          </a:solidFill>
          <a:ln w="9525">
            <a:solidFill>
              <a:srgbClr val="2F5597"/>
            </a:solidFill>
          </a:ln>
          <a:effectLst/>
        </p:spPr>
        <p:txBody>
          <a:bodyPr rtlCol="0" anchor="ctr"/>
          <a:lstStyle/>
          <a:p>
            <a:pPr algn="ctr"/>
          </a:p>
        </p:txBody>
      </p:sp>
      <p:sp>
        <p:nvSpPr>
          <p:cNvPr id="129" name="Rectangle 128"/>
          <p:cNvSpPr/>
          <p:nvPr/>
        </p:nvSpPr>
        <p:spPr>
          <a:xfrm>
            <a:off x="3438144" y="1993392"/>
            <a:ext cx="868680" cy="3840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D 흐름 제어</a:t>
            </a:r>
          </a:p>
          <a:p>
            <a:pPr algn="ctr"/>
            <a:r>
              <a:rPr sz="700" b="0">
                <a:solidFill>
                  <a:srgbClr val="000000"/>
                </a:solidFill>
                <a:latin typeface="맑은 고딕"/>
                <a:ea typeface="맑은 고딕"/>
              </a:rPr>
              <a:t>admission · queue</a:t>
            </a:r>
          </a:p>
        </p:txBody>
      </p:sp>
      <p:sp>
        <p:nvSpPr>
          <p:cNvPr id="130" name="Rectangle 129"/>
          <p:cNvSpPr/>
          <p:nvPr/>
        </p:nvSpPr>
        <p:spPr>
          <a:xfrm>
            <a:off x="3392424" y="2070201"/>
            <a:ext cx="91440" cy="54864"/>
          </a:xfrm>
          <a:prstGeom prst="rect">
            <a:avLst/>
          </a:prstGeom>
          <a:solidFill>
            <a:srgbClr val="DAE3F3"/>
          </a:solidFill>
          <a:ln w="9525">
            <a:solidFill>
              <a:srgbClr val="2F5597"/>
            </a:solidFill>
          </a:ln>
          <a:effectLst/>
        </p:spPr>
        <p:txBody>
          <a:bodyPr rtlCol="0" anchor="ctr"/>
          <a:lstStyle/>
          <a:p>
            <a:pPr algn="ctr"/>
          </a:p>
        </p:txBody>
      </p:sp>
      <p:sp>
        <p:nvSpPr>
          <p:cNvPr id="131" name="Rectangle 130"/>
          <p:cNvSpPr/>
          <p:nvPr/>
        </p:nvSpPr>
        <p:spPr>
          <a:xfrm>
            <a:off x="3392424" y="2185416"/>
            <a:ext cx="91440" cy="54864"/>
          </a:xfrm>
          <a:prstGeom prst="rect">
            <a:avLst/>
          </a:prstGeom>
          <a:solidFill>
            <a:srgbClr val="DAE3F3"/>
          </a:solidFill>
          <a:ln w="9525">
            <a:solidFill>
              <a:srgbClr val="2F5597"/>
            </a:solidFill>
          </a:ln>
          <a:effectLst/>
        </p:spPr>
        <p:txBody>
          <a:bodyPr rtlCol="0" anchor="ctr"/>
          <a:lstStyle/>
          <a:p>
            <a:pPr algn="ctr"/>
          </a:p>
        </p:txBody>
      </p:sp>
      <p:cxnSp>
        <p:nvCxnSpPr>
          <p:cNvPr id="132" name="Connector 131"/>
          <p:cNvCxnSpPr/>
          <p:nvPr/>
        </p:nvCxnSpPr>
        <p:spPr>
          <a:xfrm>
            <a:off x="3319272" y="2185416"/>
            <a:ext cx="73152" cy="0"/>
          </a:xfrm>
          <a:prstGeom prst="line">
            <a:avLst/>
          </a:prstGeom>
          <a:ln w="15875">
            <a:solidFill>
              <a:srgbClr val="404040"/>
            </a:solidFill>
            <a:tailEnd type="triangle"/>
          </a:ln>
        </p:spPr>
      </p:cxnSp>
      <p:sp>
        <p:nvSpPr>
          <p:cNvPr id="133" name="Rectangle 132"/>
          <p:cNvSpPr/>
          <p:nvPr/>
        </p:nvSpPr>
        <p:spPr>
          <a:xfrm>
            <a:off x="2468880" y="2523744"/>
            <a:ext cx="1426464" cy="1920240"/>
          </a:xfrm>
          <a:prstGeom prst="rect">
            <a:avLst/>
          </a:prstGeom>
          <a:solidFill>
            <a:srgbClr val="FFFFFF"/>
          </a:solidFill>
          <a:ln w="12700">
            <a:solidFill>
              <a:srgbClr val="2F5597"/>
            </a:solidFill>
          </a:ln>
          <a:effectLst/>
        </p:spPr>
        <p:txBody>
          <a:bodyPr rtlCol="0" anchor="ctr"/>
          <a:lstStyle/>
          <a:p>
            <a:pPr algn="ctr"/>
          </a:p>
        </p:txBody>
      </p:sp>
      <p:sp>
        <p:nvSpPr>
          <p:cNvPr id="134" name="Rectangle 133"/>
          <p:cNvSpPr/>
          <p:nvPr/>
        </p:nvSpPr>
        <p:spPr>
          <a:xfrm>
            <a:off x="2468880" y="2523744"/>
            <a:ext cx="142646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B Scheduler</a:t>
            </a:r>
          </a:p>
        </p:txBody>
      </p:sp>
      <p:sp>
        <p:nvSpPr>
          <p:cNvPr id="135" name="TextBox 134"/>
          <p:cNvSpPr txBox="1"/>
          <p:nvPr/>
        </p:nvSpPr>
        <p:spPr>
          <a:xfrm>
            <a:off x="2505456" y="2706624"/>
            <a:ext cx="1371600" cy="109728"/>
          </a:xfrm>
          <a:prstGeom prst="rect">
            <a:avLst/>
          </a:prstGeom>
          <a:noFill/>
        </p:spPr>
        <p:txBody>
          <a:bodyPr wrap="square" anchor="t" lIns="0" tIns="0" rIns="0" bIns="0">
            <a:spAutoFit/>
          </a:bodyPr>
          <a:lstStyle/>
          <a:p>
            <a:pPr algn="ctr"/>
            <a:r>
              <a:rPr sz="650" b="0">
                <a:solidFill>
                  <a:srgbClr val="404040"/>
                </a:solidFill>
                <a:latin typeface="맑은 고딕"/>
                <a:ea typeface="맑은 고딕"/>
              </a:rPr>
              <a:t>Filter → Score → Pick</a:t>
            </a:r>
          </a:p>
        </p:txBody>
      </p:sp>
      <p:sp>
        <p:nvSpPr>
          <p:cNvPr id="136" name="Rectangle 135"/>
          <p:cNvSpPr/>
          <p:nvPr/>
        </p:nvSpPr>
        <p:spPr>
          <a:xfrm>
            <a:off x="2542032" y="2843784"/>
            <a:ext cx="1280160" cy="3657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Scorer 플러그인</a:t>
            </a:r>
          </a:p>
          <a:p>
            <a:pPr algn="ctr"/>
            <a:r>
              <a:rPr sz="750" b="0">
                <a:solidFill>
                  <a:srgbClr val="000000"/>
                </a:solidFill>
                <a:latin typeface="맑은 고딕"/>
                <a:ea typeface="맑은 고딕"/>
              </a:rPr>
              <a:t>★P3 비용 기반 점수</a:t>
            </a:r>
          </a:p>
        </p:txBody>
      </p:sp>
      <p:sp>
        <p:nvSpPr>
          <p:cNvPr id="137" name="Rectangle 136"/>
          <p:cNvSpPr/>
          <p:nvPr/>
        </p:nvSpPr>
        <p:spPr>
          <a:xfrm>
            <a:off x="2542032" y="3255264"/>
            <a:ext cx="1280160" cy="47548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P/D 판단 모듈</a:t>
            </a:r>
          </a:p>
          <a:p>
            <a:pPr algn="ctr"/>
            <a:r>
              <a:rPr sz="750" b="0">
                <a:solidFill>
                  <a:srgbClr val="000000"/>
                </a:solidFill>
                <a:latin typeface="맑은 고딕"/>
                <a:ea typeface="맑은 고딕"/>
              </a:rPr>
              <a:t>★P4 비용 기반 P/D 판단</a:t>
            </a:r>
          </a:p>
          <a:p>
            <a:pPr algn="ctr"/>
            <a:r>
              <a:rPr sz="650" b="0">
                <a:solidFill>
                  <a:srgbClr val="404040"/>
                </a:solidFill>
                <a:latin typeface="맑은 고딕"/>
                <a:ea typeface="맑은 고딕"/>
              </a:rPr>
              <a:t>(기존 P/D 모듈을 감싸는 wrapper)</a:t>
            </a:r>
          </a:p>
        </p:txBody>
      </p:sp>
      <p:sp>
        <p:nvSpPr>
          <p:cNvPr id="138" name="Rectangle 137"/>
          <p:cNvSpPr/>
          <p:nvPr/>
        </p:nvSpPr>
        <p:spPr>
          <a:xfrm>
            <a:off x="2542032" y="3776472"/>
            <a:ext cx="1280160" cy="594360"/>
          </a:xfrm>
          <a:prstGeom prst="rect">
            <a:avLst/>
          </a:prstGeom>
          <a:solidFill>
            <a:srgbClr val="FFF2CC"/>
          </a:solidFill>
          <a:ln w="19050">
            <a:solidFill>
              <a:srgbClr val="BF9000"/>
            </a:solidFill>
          </a:ln>
          <a:effectLst/>
        </p:spPr>
        <p:txBody>
          <a:bodyPr rtlCol="0" anchor="ctr" wrap="square" lIns="36576" tIns="18288" rIns="36576" bIns="18288"/>
          <a:lstStyle/>
          <a:p>
            <a:pPr algn="ctr"/>
            <a:r>
              <a:rPr sz="750" b="1">
                <a:solidFill>
                  <a:srgbClr val="000000"/>
                </a:solidFill>
                <a:latin typeface="맑은 고딕"/>
                <a:ea typeface="맑은 고딕"/>
              </a:rPr>
              <a:t>요청 전처리 훅</a:t>
            </a:r>
          </a:p>
          <a:p>
            <a:pPr algn="ctr"/>
            <a:r>
              <a:rPr sz="750" b="0">
                <a:solidFill>
                  <a:srgbClr val="000000"/>
                </a:solidFill>
                <a:latin typeface="맑은 고딕"/>
                <a:ea typeface="맑은 고딕"/>
              </a:rPr>
              <a:t>★P5 노드 지시</a:t>
            </a:r>
          </a:p>
          <a:p>
            <a:pPr algn="ctr"/>
            <a:r>
              <a:rPr sz="650" b="0">
                <a:solidFill>
                  <a:srgbClr val="404040"/>
                </a:solidFill>
                <a:latin typeface="맑은 고딕"/>
                <a:ea typeface="맑은 고딕"/>
              </a:rPr>
              <a:t>(일반 경로 body 변경)</a:t>
            </a:r>
          </a:p>
        </p:txBody>
      </p:sp>
      <p:cxnSp>
        <p:nvCxnSpPr>
          <p:cNvPr id="139" name="Connector 138"/>
          <p:cNvCxnSpPr/>
          <p:nvPr/>
        </p:nvCxnSpPr>
        <p:spPr>
          <a:xfrm>
            <a:off x="3840480" y="2377440"/>
            <a:ext cx="0" cy="146304"/>
          </a:xfrm>
          <a:prstGeom prst="line">
            <a:avLst/>
          </a:prstGeom>
          <a:ln w="15875">
            <a:solidFill>
              <a:srgbClr val="404040"/>
            </a:solidFill>
            <a:tailEnd type="triangle"/>
          </a:ln>
        </p:spPr>
      </p:cxnSp>
      <p:sp>
        <p:nvSpPr>
          <p:cNvPr id="140" name="Rectangle 139"/>
          <p:cNvSpPr/>
          <p:nvPr/>
        </p:nvSpPr>
        <p:spPr>
          <a:xfrm>
            <a:off x="4023360" y="2523744"/>
            <a:ext cx="713232" cy="1920240"/>
          </a:xfrm>
          <a:prstGeom prst="rect">
            <a:avLst/>
          </a:prstGeom>
          <a:solidFill>
            <a:srgbClr val="FFFFFF"/>
          </a:solidFill>
          <a:ln w="12700">
            <a:solidFill>
              <a:srgbClr val="2F5597"/>
            </a:solidFill>
          </a:ln>
          <a:effectLst/>
        </p:spPr>
        <p:txBody>
          <a:bodyPr rtlCol="0" anchor="ctr"/>
          <a:lstStyle/>
          <a:p>
            <a:pPr algn="ctr"/>
          </a:p>
        </p:txBody>
      </p:sp>
      <p:sp>
        <p:nvSpPr>
          <p:cNvPr id="141" name="Rectangle 140"/>
          <p:cNvSpPr/>
          <p:nvPr/>
        </p:nvSpPr>
        <p:spPr>
          <a:xfrm>
            <a:off x="4023360" y="2523744"/>
            <a:ext cx="713232" cy="173736"/>
          </a:xfrm>
          <a:prstGeom prst="rect">
            <a:avLst/>
          </a:prstGeom>
          <a:solidFill>
            <a:srgbClr val="2F5597"/>
          </a:solidFill>
          <a:ln w="12700">
            <a:solidFill>
              <a:srgbClr val="2F5597"/>
            </a:solidFill>
          </a:ln>
          <a:effectLst/>
        </p:spPr>
        <p:txBody>
          <a:bodyPr rtlCol="0" anchor="ctr" wrap="square" lIns="27432" tIns="0" rIns="0" bIns="0"/>
          <a:lstStyle/>
          <a:p>
            <a:pPr algn="l"/>
            <a:r>
              <a:rPr sz="700" b="1">
                <a:solidFill>
                  <a:srgbClr val="FFFFFF"/>
                </a:solidFill>
                <a:latin typeface="맑은 고딕"/>
                <a:ea typeface="맑은 고딕"/>
              </a:rPr>
              <a:t>C 상태 계층</a:t>
            </a:r>
          </a:p>
        </p:txBody>
      </p:sp>
      <p:sp>
        <p:nvSpPr>
          <p:cNvPr id="142" name="Rectangle 141"/>
          <p:cNvSpPr/>
          <p:nvPr/>
        </p:nvSpPr>
        <p:spPr>
          <a:xfrm>
            <a:off x="4069080" y="2752344"/>
            <a:ext cx="621792" cy="502920"/>
          </a:xfrm>
          <a:prstGeom prst="rect">
            <a:avLst/>
          </a:prstGeom>
          <a:solidFill>
            <a:srgbClr val="DAE3F3"/>
          </a:solidFill>
          <a:ln w="12700">
            <a:solidFill>
              <a:srgbClr val="2F5597"/>
            </a:solidFill>
          </a:ln>
          <a:effectLst/>
        </p:spPr>
        <p:txBody>
          <a:bodyPr rtlCol="0" anchor="ctr" wrap="square" lIns="36576" tIns="18288" rIns="36576" bIns="18288"/>
          <a:lstStyle/>
          <a:p>
            <a:pPr algn="ctr"/>
            <a:r>
              <a:rPr sz="750" b="1">
                <a:solidFill>
                  <a:srgbClr val="000000"/>
                </a:solidFill>
                <a:latin typeface="맑은 고딕"/>
                <a:ea typeface="맑은 고딕"/>
              </a:rPr>
              <a:t>KV Indexer</a:t>
            </a:r>
          </a:p>
          <a:p>
            <a:pPr algn="ctr"/>
            <a:r>
              <a:rPr sz="650" b="0">
                <a:solidFill>
                  <a:srgbClr val="404040"/>
                </a:solidFill>
                <a:latin typeface="맑은 고딕"/>
                <a:ea typeface="맑은 고딕"/>
              </a:rPr>
              <a:t>KV 위치 목록</a:t>
            </a:r>
          </a:p>
        </p:txBody>
      </p:sp>
      <p:sp>
        <p:nvSpPr>
          <p:cNvPr id="143" name="Rectangle 142"/>
          <p:cNvSpPr/>
          <p:nvPr/>
        </p:nvSpPr>
        <p:spPr>
          <a:xfrm>
            <a:off x="4069080" y="3328416"/>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★P1</a:t>
            </a:r>
          </a:p>
          <a:p>
            <a:pPr algn="ctr"/>
            <a:r>
              <a:rPr sz="650" b="0">
                <a:solidFill>
                  <a:srgbClr val="000000"/>
                </a:solidFill>
                <a:latin typeface="맑은 고딕"/>
                <a:ea typeface="맑은 고딕"/>
              </a:rPr>
              <a:t>메모리 종류 가중치</a:t>
            </a:r>
          </a:p>
          <a:p>
            <a:pPr algn="ctr"/>
            <a:r>
              <a:rPr sz="650" b="0">
                <a:solidFill>
                  <a:srgbClr val="404040"/>
                </a:solidFill>
                <a:latin typeface="맑은 고딕"/>
                <a:ea typeface="맑은 고딕"/>
              </a:rPr>
              <a:t>(설정)</a:t>
            </a:r>
          </a:p>
        </p:txBody>
      </p:sp>
      <p:sp>
        <p:nvSpPr>
          <p:cNvPr id="144" name="Rectangle 143"/>
          <p:cNvSpPr/>
          <p:nvPr/>
        </p:nvSpPr>
        <p:spPr>
          <a:xfrm>
            <a:off x="4069080" y="3895344"/>
            <a:ext cx="621792" cy="502920"/>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50" b="1">
                <a:solidFill>
                  <a:srgbClr val="000000"/>
                </a:solidFill>
                <a:latin typeface="맑은 고딕"/>
                <a:ea typeface="맑은 고딕"/>
              </a:rPr>
              <a:t>★P2</a:t>
            </a:r>
          </a:p>
          <a:p>
            <a:pPr algn="ctr"/>
            <a:r>
              <a:rPr sz="650" b="0">
                <a:solidFill>
                  <a:srgbClr val="000000"/>
                </a:solidFill>
                <a:latin typeface="맑은 고딕"/>
                <a:ea typeface="맑은 고딕"/>
              </a:rPr>
              <a:t>실시간 상태 수치</a:t>
            </a:r>
          </a:p>
          <a:p>
            <a:pPr algn="ctr"/>
            <a:r>
              <a:rPr sz="650" b="0">
                <a:solidFill>
                  <a:srgbClr val="404040"/>
                </a:solidFill>
                <a:latin typeface="맑은 고딕"/>
                <a:ea typeface="맑은 고딕"/>
              </a:rPr>
              <a:t>(설정)</a:t>
            </a:r>
          </a:p>
        </p:txBody>
      </p:sp>
      <p:cxnSp>
        <p:nvCxnSpPr>
          <p:cNvPr id="145" name="Connector 144"/>
          <p:cNvCxnSpPr/>
          <p:nvPr/>
        </p:nvCxnSpPr>
        <p:spPr>
          <a:xfrm flipH="1">
            <a:off x="3895344" y="3163824"/>
            <a:ext cx="128016" cy="0"/>
          </a:xfrm>
          <a:prstGeom prst="line">
            <a:avLst/>
          </a:prstGeom>
          <a:ln w="15875">
            <a:solidFill>
              <a:srgbClr val="404040"/>
            </a:solidFill>
            <a:tailEnd type="triangle"/>
          </a:ln>
        </p:spPr>
      </p:cxnSp>
      <p:sp>
        <p:nvSpPr>
          <p:cNvPr id="146" name="Oval 145"/>
          <p:cNvSpPr/>
          <p:nvPr/>
        </p:nvSpPr>
        <p:spPr>
          <a:xfrm>
            <a:off x="3881628" y="294894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8</a:t>
            </a:r>
          </a:p>
        </p:txBody>
      </p:sp>
      <p:sp>
        <p:nvSpPr>
          <p:cNvPr id="147" name="Rectangle 146"/>
          <p:cNvSpPr/>
          <p:nvPr/>
        </p:nvSpPr>
        <p:spPr>
          <a:xfrm>
            <a:off x="5010912" y="1746504"/>
            <a:ext cx="1371600" cy="1554480"/>
          </a:xfrm>
          <a:prstGeom prst="rect">
            <a:avLst/>
          </a:prstGeom>
          <a:solidFill>
            <a:srgbClr val="FFFFFF"/>
          </a:solidFill>
          <a:ln w="15875">
            <a:solidFill>
              <a:srgbClr val="2E75B6"/>
            </a:solidFill>
          </a:ln>
          <a:effectLst/>
        </p:spPr>
        <p:txBody>
          <a:bodyPr rtlCol="0" anchor="ctr"/>
          <a:lstStyle/>
          <a:p>
            <a:pPr algn="ctr"/>
          </a:p>
        </p:txBody>
      </p:sp>
      <p:sp>
        <p:nvSpPr>
          <p:cNvPr id="148" name="Rectangle 147"/>
          <p:cNvSpPr/>
          <p:nvPr/>
        </p:nvSpPr>
        <p:spPr>
          <a:xfrm>
            <a:off x="5010912" y="17465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Decode 서버</a:t>
            </a:r>
          </a:p>
        </p:txBody>
      </p:sp>
      <p:sp>
        <p:nvSpPr>
          <p:cNvPr id="149" name="Rectangle 148"/>
          <p:cNvSpPr/>
          <p:nvPr/>
        </p:nvSpPr>
        <p:spPr>
          <a:xfrm>
            <a:off x="5074920" y="1975104"/>
            <a:ext cx="1243584" cy="822960"/>
          </a:xfrm>
          <a:prstGeom prst="rect">
            <a:avLst/>
          </a:prstGeom>
          <a:solidFill>
            <a:srgbClr val="FFFFFF"/>
          </a:solidFill>
          <a:ln w="12700">
            <a:solidFill>
              <a:srgbClr val="2F5597"/>
            </a:solidFill>
          </a:ln>
          <a:effectLst/>
        </p:spPr>
        <p:txBody>
          <a:bodyPr rtlCol="0" anchor="ctr"/>
          <a:lstStyle/>
          <a:p>
            <a:pPr algn="ctr"/>
          </a:p>
        </p:txBody>
      </p:sp>
      <p:sp>
        <p:nvSpPr>
          <p:cNvPr id="150" name="Rectangle 149"/>
          <p:cNvSpPr/>
          <p:nvPr/>
        </p:nvSpPr>
        <p:spPr>
          <a:xfrm>
            <a:off x="5074920" y="1975104"/>
            <a:ext cx="1243584" cy="173736"/>
          </a:xfrm>
          <a:prstGeom prst="rect">
            <a:avLst/>
          </a:prstGeom>
          <a:solidFill>
            <a:srgbClr val="2F5597"/>
          </a:solidFill>
          <a:ln w="12700">
            <a:solidFill>
              <a:srgbClr val="2F5597"/>
            </a:solidFill>
          </a:ln>
          <a:effectLst/>
        </p:spPr>
        <p:txBody>
          <a:bodyPr rtlCol="0" anchor="ctr" wrap="square" lIns="36576" tIns="0" rIns="0" bIns="0"/>
          <a:lstStyle/>
          <a:p>
            <a:pPr algn="l"/>
            <a:r>
              <a:rPr sz="750" b="1">
                <a:solidFill>
                  <a:srgbClr val="FFFFFF"/>
                </a:solidFill>
                <a:latin typeface="맑은 고딕"/>
                <a:ea typeface="맑은 고딕"/>
              </a:rPr>
              <a:t>E P/D 보조 프로세스</a:t>
            </a:r>
          </a:p>
        </p:txBody>
      </p:sp>
      <p:sp>
        <p:nvSpPr>
          <p:cNvPr id="151" name="Rectangle 150"/>
          <p:cNvSpPr/>
          <p:nvPr/>
        </p:nvSpPr>
        <p:spPr>
          <a:xfrm>
            <a:off x="5120640" y="2194560"/>
            <a:ext cx="1152144" cy="548640"/>
          </a:xfrm>
          <a:prstGeom prst="rect">
            <a:avLst/>
          </a:prstGeom>
          <a:solidFill>
            <a:srgbClr val="FFFFFF"/>
          </a:solidFill>
          <a:ln w="22225">
            <a:solidFill>
              <a:srgbClr val="C00000"/>
            </a:solidFill>
          </a:ln>
          <a:effectLst/>
        </p:spPr>
        <p:txBody>
          <a:bodyPr rtlCol="0" anchor="ctr" wrap="square" lIns="36576" tIns="18288" rIns="36576" bIns="18288"/>
          <a:lstStyle/>
          <a:p>
            <a:pPr algn="ctr"/>
            <a:r>
              <a:rPr sz="750" b="1">
                <a:solidFill>
                  <a:srgbClr val="000000"/>
                </a:solidFill>
                <a:latin typeface="맑은 고딕"/>
                <a:ea typeface="맑은 고딕"/>
              </a:rPr>
              <a:t>★P5 노드 지시</a:t>
            </a:r>
          </a:p>
          <a:p>
            <a:pPr algn="ctr"/>
            <a:r>
              <a:rPr sz="700" b="0">
                <a:solidFill>
                  <a:srgbClr val="000000"/>
                </a:solidFill>
                <a:latin typeface="맑은 고딕"/>
                <a:ea typeface="맑은 고딕"/>
              </a:rPr>
              <a:t>P/D 경로: 보조 프로세스 수정</a:t>
            </a:r>
          </a:p>
          <a:p>
            <a:pPr algn="ctr"/>
            <a:r>
              <a:rPr sz="650" b="0">
                <a:solidFill>
                  <a:srgbClr val="404040"/>
                </a:solidFill>
                <a:latin typeface="맑은 고딕"/>
                <a:ea typeface="맑은 고딕"/>
              </a:rPr>
              <a:t>kv_transfer_params 조립</a:t>
            </a:r>
          </a:p>
        </p:txBody>
      </p:sp>
      <p:sp>
        <p:nvSpPr>
          <p:cNvPr id="152" name="Rectangle 151"/>
          <p:cNvSpPr/>
          <p:nvPr/>
        </p:nvSpPr>
        <p:spPr>
          <a:xfrm>
            <a:off x="5074920" y="2889504"/>
            <a:ext cx="1243584" cy="34747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(decode)</a:t>
            </a:r>
          </a:p>
        </p:txBody>
      </p:sp>
      <p:sp>
        <p:nvSpPr>
          <p:cNvPr id="153" name="Rectangle 152"/>
          <p:cNvSpPr/>
          <p:nvPr/>
        </p:nvSpPr>
        <p:spPr>
          <a:xfrm>
            <a:off x="5010912" y="3575304"/>
            <a:ext cx="1371600" cy="1005840"/>
          </a:xfrm>
          <a:prstGeom prst="rect">
            <a:avLst/>
          </a:prstGeom>
          <a:solidFill>
            <a:srgbClr val="FFFFFF"/>
          </a:solidFill>
          <a:ln w="15875">
            <a:solidFill>
              <a:srgbClr val="2E75B6"/>
            </a:solidFill>
          </a:ln>
          <a:effectLst/>
        </p:spPr>
        <p:txBody>
          <a:bodyPr rtlCol="0" anchor="ctr"/>
          <a:lstStyle/>
          <a:p>
            <a:pPr algn="ctr"/>
          </a:p>
        </p:txBody>
      </p:sp>
      <p:sp>
        <p:nvSpPr>
          <p:cNvPr id="154" name="Rectangle 153"/>
          <p:cNvSpPr/>
          <p:nvPr/>
        </p:nvSpPr>
        <p:spPr>
          <a:xfrm>
            <a:off x="5010912" y="3575304"/>
            <a:ext cx="1371600" cy="173736"/>
          </a:xfrm>
          <a:prstGeom prst="rect">
            <a:avLst/>
          </a:prstGeom>
          <a:solidFill>
            <a:srgbClr val="2E75B6"/>
          </a:solidFill>
          <a:ln w="12700">
            <a:solidFill>
              <a:srgbClr val="2E75B6"/>
            </a:solidFill>
          </a:ln>
          <a:effectLst/>
        </p:spPr>
        <p:txBody>
          <a:bodyPr rtlCol="0" anchor="ctr" wrap="square" lIns="45720" tIns="0" rIns="18288" bIns="0"/>
          <a:lstStyle/>
          <a:p>
            <a:pPr algn="l"/>
            <a:r>
              <a:rPr sz="800" b="1">
                <a:solidFill>
                  <a:srgbClr val="FFFFFF"/>
                </a:solidFill>
                <a:latin typeface="맑은 고딕"/>
                <a:ea typeface="맑은 고딕"/>
              </a:rPr>
              <a:t>«pod» Prefill 서버</a:t>
            </a:r>
          </a:p>
        </p:txBody>
      </p:sp>
      <p:sp>
        <p:nvSpPr>
          <p:cNvPr id="155" name="Rectangle 154"/>
          <p:cNvSpPr/>
          <p:nvPr/>
        </p:nvSpPr>
        <p:spPr>
          <a:xfrm>
            <a:off x="5074920" y="3803904"/>
            <a:ext cx="1243584" cy="7132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 (prefill)</a:t>
            </a:r>
          </a:p>
          <a:p>
            <a:pPr algn="ctr"/>
            <a:r>
              <a:rPr sz="700" b="0">
                <a:solidFill>
                  <a:srgbClr val="404040"/>
                </a:solidFill>
                <a:latin typeface="맑은 고딕"/>
                <a:ea typeface="맑은 고딕"/>
              </a:rPr>
              <a:t>KV events · /metrics</a:t>
            </a:r>
          </a:p>
        </p:txBody>
      </p:sp>
      <p:cxnSp>
        <p:nvCxnSpPr>
          <p:cNvPr id="156" name="Connector 155"/>
          <p:cNvCxnSpPr/>
          <p:nvPr/>
        </p:nvCxnSpPr>
        <p:spPr>
          <a:xfrm>
            <a:off x="1517904" y="1975104"/>
            <a:ext cx="0" cy="228600"/>
          </a:xfrm>
          <a:prstGeom prst="line">
            <a:avLst/>
          </a:prstGeom>
          <a:ln w="15875">
            <a:solidFill>
              <a:srgbClr val="404040"/>
            </a:solidFill>
            <a:tailEnd type="triangle"/>
          </a:ln>
        </p:spPr>
      </p:cxnSp>
      <p:sp>
        <p:nvSpPr>
          <p:cNvPr id="157" name="Oval 156"/>
          <p:cNvSpPr/>
          <p:nvPr/>
        </p:nvSpPr>
        <p:spPr>
          <a:xfrm>
            <a:off x="1275588" y="2016252"/>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cxnSp>
        <p:nvCxnSpPr>
          <p:cNvPr id="158" name="Connector 157"/>
          <p:cNvCxnSpPr/>
          <p:nvPr/>
        </p:nvCxnSpPr>
        <p:spPr>
          <a:xfrm flipV="1">
            <a:off x="2103120" y="2185416"/>
            <a:ext cx="438912" cy="384048"/>
          </a:xfrm>
          <a:prstGeom prst="line">
            <a:avLst/>
          </a:prstGeom>
          <a:ln w="15875">
            <a:solidFill>
              <a:srgbClr val="404040"/>
            </a:solidFill>
            <a:headEnd type="triangle"/>
            <a:tailEnd type="triangle"/>
          </a:ln>
        </p:spPr>
      </p:cxnSp>
      <p:sp>
        <p:nvSpPr>
          <p:cNvPr id="159" name="Oval 158"/>
          <p:cNvSpPr/>
          <p:nvPr/>
        </p:nvSpPr>
        <p:spPr>
          <a:xfrm>
            <a:off x="2208276" y="2226564"/>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160" name="Oval 159"/>
          <p:cNvSpPr/>
          <p:nvPr/>
        </p:nvSpPr>
        <p:spPr>
          <a:xfrm>
            <a:off x="4823460" y="26746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161" name="Connector 160"/>
          <p:cNvCxnSpPr/>
          <p:nvPr/>
        </p:nvCxnSpPr>
        <p:spPr>
          <a:xfrm>
            <a:off x="6053328" y="3236976"/>
            <a:ext cx="0" cy="566928"/>
          </a:xfrm>
          <a:prstGeom prst="line">
            <a:avLst/>
          </a:prstGeom>
          <a:ln w="15875">
            <a:solidFill>
              <a:srgbClr val="404040"/>
            </a:solidFill>
            <a:headEnd type="triangle"/>
            <a:tailEnd type="triangle"/>
          </a:ln>
        </p:spPr>
      </p:cxnSp>
      <p:sp>
        <p:nvSpPr>
          <p:cNvPr id="162" name="Oval 161"/>
          <p:cNvSpPr/>
          <p:nvPr/>
        </p:nvSpPr>
        <p:spPr>
          <a:xfrm>
            <a:off x="579272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sp>
        <p:nvSpPr>
          <p:cNvPr id="163" name="Oval 162"/>
          <p:cNvSpPr/>
          <p:nvPr/>
        </p:nvSpPr>
        <p:spPr>
          <a:xfrm>
            <a:off x="6158484" y="336042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cxnSp>
        <p:nvCxnSpPr>
          <p:cNvPr id="164" name="Connector 163"/>
          <p:cNvCxnSpPr/>
          <p:nvPr/>
        </p:nvCxnSpPr>
        <p:spPr>
          <a:xfrm flipH="1">
            <a:off x="4736592" y="4169664"/>
            <a:ext cx="338328" cy="0"/>
          </a:xfrm>
          <a:prstGeom prst="line">
            <a:avLst/>
          </a:prstGeom>
          <a:ln w="15875">
            <a:solidFill>
              <a:srgbClr val="404040"/>
            </a:solidFill>
            <a:tailEnd type="triangle"/>
          </a:ln>
        </p:spPr>
      </p:cxnSp>
      <p:sp>
        <p:nvSpPr>
          <p:cNvPr id="165" name="Oval 164"/>
          <p:cNvSpPr/>
          <p:nvPr/>
        </p:nvSpPr>
        <p:spPr>
          <a:xfrm>
            <a:off x="4823460" y="3927348"/>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166" name="Connector 165"/>
          <p:cNvCxnSpPr/>
          <p:nvPr/>
        </p:nvCxnSpPr>
        <p:spPr>
          <a:xfrm>
            <a:off x="2148840" y="4187952"/>
            <a:ext cx="246888" cy="0"/>
          </a:xfrm>
          <a:prstGeom prst="line">
            <a:avLst/>
          </a:prstGeom>
          <a:ln w="15875">
            <a:solidFill>
              <a:srgbClr val="404040"/>
            </a:solidFill>
            <a:prstDash val="dash"/>
            <a:tailEnd type="triangle"/>
          </a:ln>
        </p:spPr>
      </p:cxnSp>
      <p:sp>
        <p:nvSpPr>
          <p:cNvPr id="167" name="Oval 166"/>
          <p:cNvSpPr/>
          <p:nvPr/>
        </p:nvSpPr>
        <p:spPr>
          <a:xfrm>
            <a:off x="2199132" y="3954780"/>
            <a:ext cx="155448" cy="155448"/>
          </a:xfrm>
          <a:prstGeom prst="ellipse">
            <a:avLst/>
          </a:prstGeom>
          <a:solidFill>
            <a:srgbClr val="404040"/>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sp>
        <p:nvSpPr>
          <p:cNvPr id="168" name="Rectangle 167"/>
          <p:cNvSpPr/>
          <p:nvPr/>
        </p:nvSpPr>
        <p:spPr>
          <a:xfrm>
            <a:off x="1188720" y="4626864"/>
            <a:ext cx="1261872" cy="155448"/>
          </a:xfrm>
          <a:prstGeom prst="rect">
            <a:avLst/>
          </a:prstGeom>
          <a:solidFill>
            <a:srgbClr val="DAE3F3"/>
          </a:solidFill>
          <a:ln w="12700">
            <a:solidFill>
              <a:srgbClr val="2F5597"/>
            </a:solidFill>
          </a:ln>
          <a:effectLst/>
        </p:spPr>
        <p:txBody>
          <a:bodyPr rtlCol="0" anchor="ctr" wrap="square" lIns="36576" tIns="18288" rIns="36576" bIns="18288"/>
          <a:lstStyle/>
          <a:p>
            <a:pPr algn="ctr"/>
            <a:r>
              <a:rPr sz="700" b="1">
                <a:solidFill>
                  <a:srgbClr val="000000"/>
                </a:solidFill>
                <a:latin typeface="맑은 고딕"/>
                <a:ea typeface="맑은 고딕"/>
              </a:rPr>
              <a:t>기존 OSS 그대로</a:t>
            </a:r>
          </a:p>
        </p:txBody>
      </p:sp>
      <p:sp>
        <p:nvSpPr>
          <p:cNvPr id="169" name="Rectangle 168"/>
          <p:cNvSpPr/>
          <p:nvPr/>
        </p:nvSpPr>
        <p:spPr>
          <a:xfrm>
            <a:off x="2505456" y="4626864"/>
            <a:ext cx="1261872" cy="155448"/>
          </a:xfrm>
          <a:prstGeom prst="rect">
            <a:avLst/>
          </a:prstGeom>
          <a:solidFill>
            <a:srgbClr val="FFF2CC"/>
          </a:solidFill>
          <a:ln w="19050">
            <a:solidFill>
              <a:srgbClr val="BF9000"/>
            </a:solidFill>
          </a:ln>
          <a:effectLst/>
        </p:spPr>
        <p:txBody>
          <a:bodyPr rtlCol="0" anchor="ctr" wrap="square" lIns="36576" tIns="18288" rIns="36576" bIns="18288"/>
          <a:lstStyle/>
          <a:p>
            <a:pPr algn="ctr"/>
            <a:r>
              <a:rPr sz="700" b="1">
                <a:solidFill>
                  <a:srgbClr val="000000"/>
                </a:solidFill>
                <a:latin typeface="맑은 고딕"/>
                <a:ea typeface="맑은 고딕"/>
              </a:rPr>
              <a:t>★ 확장 모듈(plugin)</a:t>
            </a:r>
          </a:p>
        </p:txBody>
      </p:sp>
      <p:sp>
        <p:nvSpPr>
          <p:cNvPr id="170" name="Rectangle 169"/>
          <p:cNvSpPr/>
          <p:nvPr/>
        </p:nvSpPr>
        <p:spPr>
          <a:xfrm>
            <a:off x="3822191" y="4626864"/>
            <a:ext cx="1261872" cy="155448"/>
          </a:xfrm>
          <a:prstGeom prst="rect">
            <a:avLst/>
          </a:prstGeom>
          <a:solidFill>
            <a:srgbClr val="FFFFFF"/>
          </a:solidFill>
          <a:ln w="19050">
            <a:solidFill>
              <a:srgbClr val="BF9000"/>
            </a:solidFill>
            <a:prstDash val="dash"/>
          </a:ln>
          <a:effectLst/>
        </p:spPr>
        <p:txBody>
          <a:bodyPr rtlCol="0" anchor="ctr" wrap="square" lIns="36576" tIns="18288" rIns="36576" bIns="18288"/>
          <a:lstStyle/>
          <a:p>
            <a:pPr algn="ctr"/>
            <a:r>
              <a:rPr sz="700" b="1">
                <a:solidFill>
                  <a:srgbClr val="000000"/>
                </a:solidFill>
                <a:latin typeface="맑은 고딕"/>
                <a:ea typeface="맑은 고딕"/>
              </a:rPr>
              <a:t>★ 설정만 변경</a:t>
            </a:r>
          </a:p>
        </p:txBody>
      </p:sp>
      <p:sp>
        <p:nvSpPr>
          <p:cNvPr id="171" name="Rectangle 170"/>
          <p:cNvSpPr/>
          <p:nvPr/>
        </p:nvSpPr>
        <p:spPr>
          <a:xfrm>
            <a:off x="5138928" y="4626864"/>
            <a:ext cx="1261872" cy="155448"/>
          </a:xfrm>
          <a:prstGeom prst="rect">
            <a:avLst/>
          </a:prstGeom>
          <a:solidFill>
            <a:srgbClr val="FFFFFF"/>
          </a:solidFill>
          <a:ln w="22225">
            <a:solidFill>
              <a:srgbClr val="C00000"/>
            </a:solidFill>
          </a:ln>
          <a:effectLst/>
        </p:spPr>
        <p:txBody>
          <a:bodyPr rtlCol="0" anchor="ctr" wrap="square" lIns="36576" tIns="18288" rIns="36576" bIns="18288"/>
          <a:lstStyle/>
          <a:p>
            <a:pPr algn="ctr"/>
            <a:r>
              <a:rPr sz="700" b="1">
                <a:solidFill>
                  <a:srgbClr val="000000"/>
                </a:solidFill>
                <a:latin typeface="맑은 고딕"/>
                <a:ea typeface="맑은 고딕"/>
              </a:rPr>
              <a:t>★ 기존 모듈 수정(patch)</a:t>
            </a:r>
          </a:p>
        </p:txBody>
      </p:sp>
      <p:sp>
        <p:nvSpPr>
          <p:cNvPr id="172" name="TextBox 171"/>
          <p:cNvSpPr txBox="1"/>
          <p:nvPr/>
        </p:nvSpPr>
        <p:spPr>
          <a:xfrm>
            <a:off x="1188720" y="4809744"/>
            <a:ext cx="521208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결정 요청(프록시 → Router 원격 호출 1회 추가) ③ 선택된 서버 + 헤더를 P/D 보조 프로세스로 전달(Router를 거치지 않음) ④ Prefill 요청 + KV 전송 정보 ⑤ 서버 간 KV 전송(NIXL) ⑥ KV 이벤트·/metrics(두 pod 공통) ⑦ 서버 발견 ⑧ 상태 조회</a:t>
            </a:r>
          </a:p>
        </p:txBody>
      </p:sp>
      <p:sp>
        <p:nvSpPr>
          <p:cNvPr id="173" name="Rectangle 172"/>
          <p:cNvSpPr/>
          <p:nvPr/>
        </p:nvSpPr>
        <p:spPr>
          <a:xfrm>
            <a:off x="6583680" y="2020824"/>
            <a:ext cx="566928" cy="256032"/>
          </a:xfrm>
          <a:prstGeom prst="rect">
            <a:avLst/>
          </a:prstGeom>
          <a:solidFill>
            <a:srgbClr val="FFFFFF"/>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Client</a:t>
            </a:r>
          </a:p>
        </p:txBody>
      </p:sp>
      <p:sp>
        <p:nvSpPr>
          <p:cNvPr id="174" name="Rectangle 173"/>
          <p:cNvSpPr/>
          <p:nvPr/>
        </p:nvSpPr>
        <p:spPr>
          <a:xfrm>
            <a:off x="6583680" y="2569464"/>
            <a:ext cx="566928" cy="36576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L4 LB</a:t>
            </a:r>
          </a:p>
          <a:p>
            <a:pPr algn="ctr"/>
            <a:r>
              <a:rPr sz="650" b="0">
                <a:solidFill>
                  <a:srgbClr val="404040"/>
                </a:solidFill>
                <a:latin typeface="맑은 고딕"/>
                <a:ea typeface="맑은 고딕"/>
              </a:rPr>
              <a:t>상태 비의존</a:t>
            </a:r>
          </a:p>
        </p:txBody>
      </p:sp>
      <p:cxnSp>
        <p:nvCxnSpPr>
          <p:cNvPr id="175" name="Connector 174"/>
          <p:cNvCxnSpPr/>
          <p:nvPr/>
        </p:nvCxnSpPr>
        <p:spPr>
          <a:xfrm>
            <a:off x="6867144" y="2276856"/>
            <a:ext cx="0" cy="292608"/>
          </a:xfrm>
          <a:prstGeom prst="line">
            <a:avLst/>
          </a:prstGeom>
          <a:ln w="15875">
            <a:solidFill>
              <a:srgbClr val="404040"/>
            </a:solidFill>
            <a:tailEnd type="triangle"/>
          </a:ln>
        </p:spPr>
      </p:cxnSp>
      <p:sp>
        <p:nvSpPr>
          <p:cNvPr id="176" name="Oval 175"/>
          <p:cNvSpPr/>
          <p:nvPr/>
        </p:nvSpPr>
        <p:spPr>
          <a:xfrm>
            <a:off x="6789420" y="234543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1</a:t>
            </a:r>
          </a:p>
        </p:txBody>
      </p:sp>
      <p:sp>
        <p:nvSpPr>
          <p:cNvPr id="177" name="Rectangle 176"/>
          <p:cNvSpPr/>
          <p:nvPr/>
        </p:nvSpPr>
        <p:spPr>
          <a:xfrm>
            <a:off x="6583680" y="3163824"/>
            <a:ext cx="640080" cy="685800"/>
          </a:xfrm>
          <a:prstGeom prst="rect">
            <a:avLst/>
          </a:prstGeom>
          <a:solidFill>
            <a:srgbClr val="FFF7F0"/>
          </a:solidFill>
          <a:ln w="9525">
            <a:solidFill>
              <a:srgbClr val="C55A11"/>
            </a:solidFill>
          </a:ln>
          <a:effectLst/>
        </p:spPr>
        <p:txBody>
          <a:bodyPr rtlCol="0" anchor="ctr" wrap="square" lIns="36576" tIns="27432" rIns="27432" bIns="27432"/>
          <a:lstStyle/>
          <a:p>
            <a:pPr algn="l"/>
            <a:r>
              <a:rPr sz="700" b="1">
                <a:solidFill>
                  <a:srgbClr val="C55A11"/>
                </a:solidFill>
                <a:latin typeface="맑은 고딕"/>
                <a:ea typeface="맑은 고딕"/>
              </a:rPr>
              <a:t>레플리카 ×R</a:t>
            </a:r>
          </a:p>
          <a:p>
            <a:pPr algn="l"/>
            <a:r>
              <a:rPr sz="650" b="0">
                <a:solidFill>
                  <a:srgbClr val="000000"/>
                </a:solidFill>
                <a:latin typeface="맑은 고딕"/>
                <a:ea typeface="맑은 고딕"/>
              </a:rPr>
              <a:t>각자 이벤트 구독 → 독립 index</a:t>
            </a:r>
          </a:p>
        </p:txBody>
      </p:sp>
      <p:sp>
        <p:nvSpPr>
          <p:cNvPr id="178" name="Rectangle 177"/>
          <p:cNvSpPr/>
          <p:nvPr/>
        </p:nvSpPr>
        <p:spPr>
          <a:xfrm>
            <a:off x="6583680" y="4096512"/>
            <a:ext cx="640080" cy="384048"/>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etcd</a:t>
            </a:r>
          </a:p>
          <a:p>
            <a:pPr algn="ctr"/>
            <a:r>
              <a:rPr sz="650" b="0">
                <a:solidFill>
                  <a:srgbClr val="404040"/>
                </a:solidFill>
                <a:latin typeface="맑은 고딕"/>
                <a:ea typeface="맑은 고딕"/>
              </a:rPr>
              <a:t>Registry 저장소</a:t>
            </a:r>
          </a:p>
        </p:txBody>
      </p:sp>
      <p:sp>
        <p:nvSpPr>
          <p:cNvPr id="179" name="Rectangle 178"/>
          <p:cNvSpPr/>
          <p:nvPr/>
        </p:nvSpPr>
        <p:spPr>
          <a:xfrm>
            <a:off x="7315200" y="1700784"/>
            <a:ext cx="3456432" cy="2880360"/>
          </a:xfrm>
          <a:prstGeom prst="rect">
            <a:avLst/>
          </a:prstGeom>
          <a:solidFill>
            <a:srgbClr val="FFFFFF"/>
          </a:solidFill>
          <a:ln w="15875">
            <a:solidFill>
              <a:srgbClr val="C55A11"/>
            </a:solidFill>
          </a:ln>
          <a:effectLst/>
        </p:spPr>
        <p:txBody>
          <a:bodyPr rtlCol="0" anchor="ctr"/>
          <a:lstStyle/>
          <a:p>
            <a:pPr algn="ctr"/>
          </a:p>
        </p:txBody>
      </p:sp>
      <p:sp>
        <p:nvSpPr>
          <p:cNvPr id="180" name="Rectangle 179"/>
          <p:cNvSpPr/>
          <p:nvPr/>
        </p:nvSpPr>
        <p:spPr>
          <a:xfrm>
            <a:off x="7315200" y="1700784"/>
            <a:ext cx="3456432" cy="173736"/>
          </a:xfrm>
          <a:prstGeom prst="rect">
            <a:avLst/>
          </a:prstGeom>
          <a:solidFill>
            <a:srgbClr val="C55A11"/>
          </a:solidFill>
          <a:ln w="12700">
            <a:solidFill>
              <a:srgbClr val="C55A11"/>
            </a:solidFill>
          </a:ln>
          <a:effectLst/>
        </p:spPr>
        <p:txBody>
          <a:bodyPr rtlCol="0" anchor="ctr" wrap="square" lIns="45720" tIns="0" rIns="18288" bIns="0"/>
          <a:lstStyle/>
          <a:p>
            <a:pPr algn="l"/>
            <a:r>
              <a:rPr sz="800" b="1">
                <a:solidFill>
                  <a:srgbClr val="FFFFFF"/>
                </a:solidFill>
                <a:latin typeface="맑은 고딕"/>
                <a:ea typeface="맑은 고딕"/>
              </a:rPr>
              <a:t>«process» Own Router 레플리카  (Go/Python)</a:t>
            </a:r>
          </a:p>
        </p:txBody>
      </p:sp>
      <p:cxnSp>
        <p:nvCxnSpPr>
          <p:cNvPr id="181" name="Connector 180"/>
          <p:cNvCxnSpPr/>
          <p:nvPr/>
        </p:nvCxnSpPr>
        <p:spPr>
          <a:xfrm flipV="1">
            <a:off x="7150608" y="2157984"/>
            <a:ext cx="347471" cy="594360"/>
          </a:xfrm>
          <a:prstGeom prst="line">
            <a:avLst/>
          </a:prstGeom>
          <a:ln w="15875">
            <a:solidFill>
              <a:srgbClr val="404040"/>
            </a:solidFill>
            <a:tailEnd type="triangle"/>
          </a:ln>
        </p:spPr>
      </p:cxnSp>
      <p:sp>
        <p:nvSpPr>
          <p:cNvPr id="182" name="Rectangle 181"/>
          <p:cNvSpPr/>
          <p:nvPr/>
        </p:nvSpPr>
        <p:spPr>
          <a:xfrm>
            <a:off x="7370064" y="1929384"/>
            <a:ext cx="3346703" cy="502920"/>
          </a:xfrm>
          <a:prstGeom prst="rect">
            <a:avLst/>
          </a:prstGeom>
          <a:solidFill>
            <a:srgbClr val="FFFFFF"/>
          </a:solidFill>
          <a:ln w="6350">
            <a:solidFill>
              <a:srgbClr val="C55A11"/>
            </a:solidFill>
            <a:prstDash val="dash"/>
          </a:ln>
          <a:effectLst/>
        </p:spPr>
        <p:txBody>
          <a:bodyPr rtlCol="0" anchor="ctr"/>
          <a:lstStyle/>
          <a:p>
            <a:pPr algn="ctr"/>
          </a:p>
        </p:txBody>
      </p:sp>
      <p:sp>
        <p:nvSpPr>
          <p:cNvPr id="183" name="TextBox 182"/>
          <p:cNvSpPr txBox="1"/>
          <p:nvPr/>
        </p:nvSpPr>
        <p:spPr>
          <a:xfrm>
            <a:off x="7406640" y="1947672"/>
            <a:ext cx="54864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Ingress</a:t>
            </a:r>
          </a:p>
        </p:txBody>
      </p:sp>
      <p:sp>
        <p:nvSpPr>
          <p:cNvPr id="184" name="Rectangle 183"/>
          <p:cNvSpPr/>
          <p:nvPr/>
        </p:nvSpPr>
        <p:spPr>
          <a:xfrm>
            <a:off x="7589520" y="2048256"/>
            <a:ext cx="3017520" cy="329184"/>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A Ingress / API</a:t>
            </a:r>
          </a:p>
          <a:p>
            <a:pPr algn="ctr"/>
            <a:r>
              <a:rPr sz="650" b="0">
                <a:solidFill>
                  <a:srgbClr val="000000"/>
                </a:solidFill>
                <a:latin typeface="맑은 고딕"/>
                <a:ea typeface="맑은 고딕"/>
              </a:rPr>
              <a:t>OpenAI API 파서 · 스트리밍 프록시</a:t>
            </a:r>
          </a:p>
        </p:txBody>
      </p:sp>
      <p:sp>
        <p:nvSpPr>
          <p:cNvPr id="185" name="Rectangle 184"/>
          <p:cNvSpPr/>
          <p:nvPr/>
        </p:nvSpPr>
        <p:spPr>
          <a:xfrm>
            <a:off x="7543800" y="2114092"/>
            <a:ext cx="91440" cy="54864"/>
          </a:xfrm>
          <a:prstGeom prst="rect">
            <a:avLst/>
          </a:prstGeom>
          <a:solidFill>
            <a:srgbClr val="FBE5D6"/>
          </a:solidFill>
          <a:ln w="9525">
            <a:solidFill>
              <a:srgbClr val="C55A11"/>
            </a:solidFill>
          </a:ln>
          <a:effectLst/>
        </p:spPr>
        <p:txBody>
          <a:bodyPr rtlCol="0" anchor="ctr"/>
          <a:lstStyle/>
          <a:p>
            <a:pPr algn="ctr"/>
          </a:p>
        </p:txBody>
      </p:sp>
      <p:sp>
        <p:nvSpPr>
          <p:cNvPr id="186" name="Rectangle 185"/>
          <p:cNvSpPr/>
          <p:nvPr/>
        </p:nvSpPr>
        <p:spPr>
          <a:xfrm>
            <a:off x="7543800" y="2212848"/>
            <a:ext cx="91440" cy="54864"/>
          </a:xfrm>
          <a:prstGeom prst="rect">
            <a:avLst/>
          </a:prstGeom>
          <a:solidFill>
            <a:srgbClr val="FBE5D6"/>
          </a:solidFill>
          <a:ln w="9525">
            <a:solidFill>
              <a:srgbClr val="C55A11"/>
            </a:solidFill>
          </a:ln>
          <a:effectLst/>
        </p:spPr>
        <p:txBody>
          <a:bodyPr rtlCol="0" anchor="ctr"/>
          <a:lstStyle/>
          <a:p>
            <a:pPr algn="ctr"/>
          </a:p>
        </p:txBody>
      </p:sp>
      <p:sp>
        <p:nvSpPr>
          <p:cNvPr id="187" name="Rectangle 186"/>
          <p:cNvSpPr/>
          <p:nvPr/>
        </p:nvSpPr>
        <p:spPr>
          <a:xfrm>
            <a:off x="7370064" y="2523744"/>
            <a:ext cx="3346703" cy="1024128"/>
          </a:xfrm>
          <a:prstGeom prst="rect">
            <a:avLst/>
          </a:prstGeom>
          <a:solidFill>
            <a:srgbClr val="FFFFFF"/>
          </a:solidFill>
          <a:ln w="6350">
            <a:solidFill>
              <a:srgbClr val="C55A11"/>
            </a:solidFill>
            <a:prstDash val="dash"/>
          </a:ln>
          <a:effectLst/>
        </p:spPr>
        <p:txBody>
          <a:bodyPr rtlCol="0" anchor="ctr"/>
          <a:lstStyle/>
          <a:p>
            <a:pPr algn="ctr"/>
          </a:p>
        </p:txBody>
      </p:sp>
      <p:sp>
        <p:nvSpPr>
          <p:cNvPr id="188" name="TextBox 187"/>
          <p:cNvSpPr txBox="1"/>
          <p:nvPr/>
        </p:nvSpPr>
        <p:spPr>
          <a:xfrm>
            <a:off x="7406640" y="2542032"/>
            <a:ext cx="109728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Pipeline</a:t>
            </a:r>
          </a:p>
        </p:txBody>
      </p:sp>
      <p:sp>
        <p:nvSpPr>
          <p:cNvPr id="189" name="Rectangle 188"/>
          <p:cNvSpPr/>
          <p:nvPr/>
        </p:nvSpPr>
        <p:spPr>
          <a:xfrm>
            <a:off x="7498079" y="2724912"/>
            <a:ext cx="749808"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D Admission</a:t>
            </a:r>
          </a:p>
          <a:p>
            <a:pPr algn="ctr"/>
            <a:r>
              <a:rPr sz="650" b="0">
                <a:solidFill>
                  <a:srgbClr val="000000"/>
                </a:solidFill>
                <a:latin typeface="맑은 고딕"/>
                <a:ea typeface="맑은 고딕"/>
              </a:rPr>
              <a:t>Queue 정책</a:t>
            </a:r>
          </a:p>
          <a:p>
            <a:pPr algn="ctr"/>
            <a:r>
              <a:rPr sz="650" b="0">
                <a:solidFill>
                  <a:srgbClr val="000000"/>
                </a:solidFill>
                <a:latin typeface="맑은 고딕"/>
                <a:ea typeface="맑은 고딕"/>
              </a:rPr>
              <a:t>(최소: 임계값</a:t>
            </a:r>
          </a:p>
          <a:p>
            <a:pPr algn="ctr"/>
            <a:r>
              <a:rPr sz="650" b="0">
                <a:solidFill>
                  <a:srgbClr val="000000"/>
                </a:solidFill>
                <a:latin typeface="맑은 고딕"/>
                <a:ea typeface="맑은 고딕"/>
              </a:rPr>
              <a:t>+ FCFS)</a:t>
            </a:r>
          </a:p>
        </p:txBody>
      </p:sp>
      <p:sp>
        <p:nvSpPr>
          <p:cNvPr id="190" name="Rectangle 189"/>
          <p:cNvSpPr/>
          <p:nvPr/>
        </p:nvSpPr>
        <p:spPr>
          <a:xfrm>
            <a:off x="7452359"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1" name="Rectangle 190"/>
          <p:cNvSpPr/>
          <p:nvPr/>
        </p:nvSpPr>
        <p:spPr>
          <a:xfrm>
            <a:off x="7452359"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2" name="Rectangle 191"/>
          <p:cNvSpPr/>
          <p:nvPr/>
        </p:nvSpPr>
        <p:spPr>
          <a:xfrm>
            <a:off x="8385048" y="2724912"/>
            <a:ext cx="1280160"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B PolicyEngine</a:t>
            </a:r>
          </a:p>
          <a:p>
            <a:pPr algn="ctr"/>
            <a:r>
              <a:rPr sz="650" b="0">
                <a:solidFill>
                  <a:srgbClr val="000000"/>
                </a:solidFill>
                <a:latin typeface="맑은 고딕"/>
                <a:ea typeface="맑은 고딕"/>
              </a:rPr>
              <a:t>Selector:</a:t>
            </a:r>
          </a:p>
          <a:p>
            <a:pPr algn="ctr"/>
            <a:r>
              <a:rPr sz="650" b="0">
                <a:solidFill>
                  <a:srgbClr val="000000"/>
                </a:solidFill>
                <a:latin typeface="맑은 고딕"/>
                <a:ea typeface="맑은 고딕"/>
              </a:rPr>
              <a:t>Filter→Score→Pick</a:t>
            </a:r>
          </a:p>
          <a:p>
            <a:pPr algn="ctr"/>
            <a:r>
              <a:rPr sz="650" b="0">
                <a:solidFill>
                  <a:srgbClr val="000000"/>
                </a:solidFill>
                <a:latin typeface="맑은 고딕"/>
                <a:ea typeface="맑은 고딕"/>
              </a:rPr>
              <a:t>Policy SPI: P1~P3 Scorer</a:t>
            </a:r>
          </a:p>
          <a:p>
            <a:pPr algn="ctr"/>
            <a:r>
              <a:rPr sz="650" b="0">
                <a:solidFill>
                  <a:srgbClr val="000000"/>
                </a:solidFill>
                <a:latin typeface="맑은 고딕"/>
                <a:ea typeface="맑은 고딕"/>
              </a:rPr>
              <a:t>P4 PD-Planner</a:t>
            </a:r>
          </a:p>
        </p:txBody>
      </p:sp>
      <p:sp>
        <p:nvSpPr>
          <p:cNvPr id="193" name="Rectangle 192"/>
          <p:cNvSpPr/>
          <p:nvPr/>
        </p:nvSpPr>
        <p:spPr>
          <a:xfrm>
            <a:off x="8339327"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4" name="Rectangle 193"/>
          <p:cNvSpPr/>
          <p:nvPr/>
        </p:nvSpPr>
        <p:spPr>
          <a:xfrm>
            <a:off x="8339327" y="3090672"/>
            <a:ext cx="91440" cy="54864"/>
          </a:xfrm>
          <a:prstGeom prst="rect">
            <a:avLst/>
          </a:prstGeom>
          <a:solidFill>
            <a:srgbClr val="FBE5D6"/>
          </a:solidFill>
          <a:ln w="9525">
            <a:solidFill>
              <a:srgbClr val="C55A11"/>
            </a:solidFill>
          </a:ln>
          <a:effectLst/>
        </p:spPr>
        <p:txBody>
          <a:bodyPr rtlCol="0" anchor="ctr"/>
          <a:lstStyle/>
          <a:p>
            <a:pPr algn="ctr"/>
          </a:p>
        </p:txBody>
      </p:sp>
      <p:sp>
        <p:nvSpPr>
          <p:cNvPr id="195" name="Rectangle 194"/>
          <p:cNvSpPr/>
          <p:nvPr/>
        </p:nvSpPr>
        <p:spPr>
          <a:xfrm>
            <a:off x="9802368" y="2724912"/>
            <a:ext cx="877824" cy="73152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E P/D 조율</a:t>
            </a:r>
          </a:p>
          <a:p>
            <a:pPr algn="ctr"/>
            <a:r>
              <a:rPr sz="650" b="0">
                <a:solidFill>
                  <a:srgbClr val="000000"/>
                </a:solidFill>
                <a:latin typeface="맑은 고딕"/>
                <a:ea typeface="맑은 고딕"/>
              </a:rPr>
              <a:t>PD Orchestrator</a:t>
            </a:r>
          </a:p>
          <a:p>
            <a:pPr algn="ctr"/>
            <a:r>
              <a:rPr sz="650" b="0">
                <a:solidFill>
                  <a:srgbClr val="000000"/>
                </a:solidFill>
                <a:latin typeface="맑은 고딕"/>
                <a:ea typeface="맑은 고딕"/>
              </a:rPr>
              <a:t>P5 Directive</a:t>
            </a:r>
          </a:p>
          <a:p>
            <a:pPr algn="ctr"/>
            <a:r>
              <a:rPr sz="650" b="0">
                <a:solidFill>
                  <a:srgbClr val="000000"/>
                </a:solidFill>
                <a:latin typeface="맑은 고딕"/>
                <a:ea typeface="맑은 고딕"/>
              </a:rPr>
              <a:t>커넥터: agg·P/D·P2P</a:t>
            </a:r>
          </a:p>
        </p:txBody>
      </p:sp>
      <p:sp>
        <p:nvSpPr>
          <p:cNvPr id="196" name="Rectangle 195"/>
          <p:cNvSpPr/>
          <p:nvPr/>
        </p:nvSpPr>
        <p:spPr>
          <a:xfrm>
            <a:off x="9756648" y="2871216"/>
            <a:ext cx="91440" cy="54864"/>
          </a:xfrm>
          <a:prstGeom prst="rect">
            <a:avLst/>
          </a:prstGeom>
          <a:solidFill>
            <a:srgbClr val="FBE5D6"/>
          </a:solidFill>
          <a:ln w="9525">
            <a:solidFill>
              <a:srgbClr val="C55A11"/>
            </a:solidFill>
          </a:ln>
          <a:effectLst/>
        </p:spPr>
        <p:txBody>
          <a:bodyPr rtlCol="0" anchor="ctr"/>
          <a:lstStyle/>
          <a:p>
            <a:pPr algn="ctr"/>
          </a:p>
        </p:txBody>
      </p:sp>
      <p:sp>
        <p:nvSpPr>
          <p:cNvPr id="197" name="Rectangle 196"/>
          <p:cNvSpPr/>
          <p:nvPr/>
        </p:nvSpPr>
        <p:spPr>
          <a:xfrm>
            <a:off x="9756648" y="3090672"/>
            <a:ext cx="91440" cy="54864"/>
          </a:xfrm>
          <a:prstGeom prst="rect">
            <a:avLst/>
          </a:prstGeom>
          <a:solidFill>
            <a:srgbClr val="FBE5D6"/>
          </a:solidFill>
          <a:ln w="9525">
            <a:solidFill>
              <a:srgbClr val="C55A11"/>
            </a:solidFill>
          </a:ln>
          <a:effectLst/>
        </p:spPr>
        <p:txBody>
          <a:bodyPr rtlCol="0" anchor="ctr"/>
          <a:lstStyle/>
          <a:p>
            <a:pPr algn="ctr"/>
          </a:p>
        </p:txBody>
      </p:sp>
      <p:cxnSp>
        <p:nvCxnSpPr>
          <p:cNvPr id="198" name="Connector 197"/>
          <p:cNvCxnSpPr/>
          <p:nvPr/>
        </p:nvCxnSpPr>
        <p:spPr>
          <a:xfrm>
            <a:off x="8247888" y="3090672"/>
            <a:ext cx="91440" cy="0"/>
          </a:xfrm>
          <a:prstGeom prst="line">
            <a:avLst/>
          </a:prstGeom>
          <a:ln w="15875">
            <a:solidFill>
              <a:srgbClr val="C55A11"/>
            </a:solidFill>
            <a:tailEnd type="triangle"/>
          </a:ln>
        </p:spPr>
      </p:cxnSp>
      <p:cxnSp>
        <p:nvCxnSpPr>
          <p:cNvPr id="199" name="Connector 198"/>
          <p:cNvCxnSpPr/>
          <p:nvPr/>
        </p:nvCxnSpPr>
        <p:spPr>
          <a:xfrm>
            <a:off x="9665208" y="3090672"/>
            <a:ext cx="91440" cy="0"/>
          </a:xfrm>
          <a:prstGeom prst="line">
            <a:avLst/>
          </a:prstGeom>
          <a:ln w="15875">
            <a:solidFill>
              <a:srgbClr val="C55A11"/>
            </a:solidFill>
            <a:tailEnd type="triangle"/>
          </a:ln>
        </p:spPr>
      </p:cxnSp>
      <p:cxnSp>
        <p:nvCxnSpPr>
          <p:cNvPr id="200" name="Connector 199"/>
          <p:cNvCxnSpPr/>
          <p:nvPr/>
        </p:nvCxnSpPr>
        <p:spPr>
          <a:xfrm>
            <a:off x="7872983" y="2377440"/>
            <a:ext cx="0" cy="347472"/>
          </a:xfrm>
          <a:prstGeom prst="line">
            <a:avLst/>
          </a:prstGeom>
          <a:ln w="15875">
            <a:solidFill>
              <a:srgbClr val="C55A11"/>
            </a:solidFill>
            <a:tailEnd type="triangle"/>
          </a:ln>
        </p:spPr>
      </p:cxnSp>
      <p:sp>
        <p:nvSpPr>
          <p:cNvPr id="201" name="Oval 200"/>
          <p:cNvSpPr/>
          <p:nvPr/>
        </p:nvSpPr>
        <p:spPr>
          <a:xfrm>
            <a:off x="7795259" y="247345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2</a:t>
            </a:r>
          </a:p>
        </p:txBody>
      </p:sp>
      <p:sp>
        <p:nvSpPr>
          <p:cNvPr id="202" name="Rectangle 201"/>
          <p:cNvSpPr/>
          <p:nvPr/>
        </p:nvSpPr>
        <p:spPr>
          <a:xfrm>
            <a:off x="7370064" y="3621024"/>
            <a:ext cx="3346703" cy="905256"/>
          </a:xfrm>
          <a:prstGeom prst="rect">
            <a:avLst/>
          </a:prstGeom>
          <a:solidFill>
            <a:srgbClr val="FFFFFF"/>
          </a:solidFill>
          <a:ln w="6350">
            <a:solidFill>
              <a:srgbClr val="C55A11"/>
            </a:solidFill>
            <a:prstDash val="dash"/>
          </a:ln>
          <a:effectLst/>
        </p:spPr>
        <p:txBody>
          <a:bodyPr rtlCol="0" anchor="ctr"/>
          <a:lstStyle/>
          <a:p>
            <a:pPr algn="ctr"/>
          </a:p>
        </p:txBody>
      </p:sp>
      <p:sp>
        <p:nvSpPr>
          <p:cNvPr id="203" name="TextBox 202"/>
          <p:cNvSpPr txBox="1"/>
          <p:nvPr/>
        </p:nvSpPr>
        <p:spPr>
          <a:xfrm>
            <a:off x="7406640" y="3639312"/>
            <a:ext cx="914400" cy="109728"/>
          </a:xfrm>
          <a:prstGeom prst="rect">
            <a:avLst/>
          </a:prstGeom>
          <a:noFill/>
        </p:spPr>
        <p:txBody>
          <a:bodyPr wrap="square" anchor="t" lIns="0" tIns="0" rIns="0" bIns="0">
            <a:spAutoFit/>
          </a:bodyPr>
          <a:lstStyle/>
          <a:p>
            <a:pPr algn="l"/>
            <a:r>
              <a:rPr sz="650" b="1">
                <a:solidFill>
                  <a:srgbClr val="C55A11"/>
                </a:solidFill>
                <a:latin typeface="맑은 고딕"/>
                <a:ea typeface="맑은 고딕"/>
              </a:rPr>
              <a:t>State Plane</a:t>
            </a:r>
          </a:p>
        </p:txBody>
      </p:sp>
      <p:sp>
        <p:nvSpPr>
          <p:cNvPr id="204" name="Rectangle 203"/>
          <p:cNvSpPr/>
          <p:nvPr/>
        </p:nvSpPr>
        <p:spPr>
          <a:xfrm>
            <a:off x="7498079" y="3803904"/>
            <a:ext cx="713232"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750" b="1">
                <a:solidFill>
                  <a:srgbClr val="000000"/>
                </a:solidFill>
                <a:latin typeface="맑은 고딕"/>
                <a:ea typeface="맑은 고딕"/>
              </a:rPr>
              <a:t>F Registry</a:t>
            </a:r>
          </a:p>
          <a:p>
            <a:pPr algn="ctr"/>
            <a:r>
              <a:rPr sz="650" b="0">
                <a:solidFill>
                  <a:srgbClr val="000000"/>
                </a:solidFill>
                <a:latin typeface="맑은 고딕"/>
                <a:ea typeface="맑은 고딕"/>
              </a:rPr>
              <a:t>etcd watch</a:t>
            </a:r>
          </a:p>
          <a:p>
            <a:pPr algn="ctr"/>
            <a:r>
              <a:rPr sz="650" b="0">
                <a:solidFill>
                  <a:srgbClr val="000000"/>
                </a:solidFill>
                <a:latin typeface="맑은 고딕"/>
                <a:ea typeface="맑은 고딕"/>
              </a:rPr>
              <a:t>정적 설정</a:t>
            </a:r>
          </a:p>
        </p:txBody>
      </p:sp>
      <p:sp>
        <p:nvSpPr>
          <p:cNvPr id="205" name="Rectangle 204"/>
          <p:cNvSpPr/>
          <p:nvPr/>
        </p:nvSpPr>
        <p:spPr>
          <a:xfrm>
            <a:off x="7452359"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6" name="Rectangle 205"/>
          <p:cNvSpPr/>
          <p:nvPr/>
        </p:nvSpPr>
        <p:spPr>
          <a:xfrm>
            <a:off x="7452359"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07" name="Rectangle 206"/>
          <p:cNvSpPr/>
          <p:nvPr/>
        </p:nvSpPr>
        <p:spPr>
          <a:xfrm>
            <a:off x="8385048" y="3803904"/>
            <a:ext cx="1280160" cy="640080"/>
          </a:xfrm>
          <a:prstGeom prst="rect">
            <a:avLst/>
          </a:prstGeom>
          <a:solidFill>
            <a:srgbClr val="FBE5D6"/>
          </a:solidFill>
          <a:ln w="12700">
            <a:solidFill>
              <a:srgbClr val="C55A11"/>
            </a:solidFill>
          </a:ln>
          <a:effectLst/>
        </p:spPr>
        <p:txBody>
          <a:bodyPr rtlCol="0" anchor="ctr" wrap="square" lIns="36576" tIns="18288" rIns="36576" bIns="18288"/>
          <a:lstStyle/>
          <a:p>
            <a:pPr algn="ctr"/>
            <a:r>
              <a:rPr sz="800" b="1">
                <a:solidFill>
                  <a:srgbClr val="000000"/>
                </a:solidFill>
                <a:latin typeface="맑은 고딕"/>
                <a:ea typeface="맑은 고딕"/>
              </a:rPr>
              <a:t>C State Store</a:t>
            </a:r>
          </a:p>
          <a:p>
            <a:pPr algn="ctr"/>
            <a:r>
              <a:rPr sz="650" b="0">
                <a:solidFill>
                  <a:srgbClr val="000000"/>
                </a:solidFill>
                <a:latin typeface="맑은 고딕"/>
                <a:ea typeface="맑은 고딕"/>
              </a:rPr>
              <a:t>KV Index (tier 인지)</a:t>
            </a:r>
          </a:p>
          <a:p>
            <a:pPr algn="ctr"/>
            <a:r>
              <a:rPr sz="650" b="0">
                <a:solidFill>
                  <a:srgbClr val="000000"/>
                </a:solidFill>
                <a:latin typeface="맑은 고딕"/>
                <a:ea typeface="맑은 고딕"/>
              </a:rPr>
              <a:t>Metrics Snapshot</a:t>
            </a:r>
          </a:p>
          <a:p>
            <a:pPr algn="ctr"/>
            <a:r>
              <a:rPr sz="650" b="0">
                <a:solidFill>
                  <a:srgbClr val="000000"/>
                </a:solidFill>
                <a:latin typeface="맑은 고딕"/>
                <a:ea typeface="맑은 고딕"/>
              </a:rPr>
              <a:t>Cost Model (BW·점유)</a:t>
            </a:r>
          </a:p>
        </p:txBody>
      </p:sp>
      <p:sp>
        <p:nvSpPr>
          <p:cNvPr id="208" name="Rectangle 207"/>
          <p:cNvSpPr/>
          <p:nvPr/>
        </p:nvSpPr>
        <p:spPr>
          <a:xfrm>
            <a:off x="8339327" y="3931920"/>
            <a:ext cx="91440" cy="54864"/>
          </a:xfrm>
          <a:prstGeom prst="rect">
            <a:avLst/>
          </a:prstGeom>
          <a:solidFill>
            <a:srgbClr val="FBE5D6"/>
          </a:solidFill>
          <a:ln w="9525">
            <a:solidFill>
              <a:srgbClr val="C55A11"/>
            </a:solidFill>
          </a:ln>
          <a:effectLst/>
        </p:spPr>
        <p:txBody>
          <a:bodyPr rtlCol="0" anchor="ctr"/>
          <a:lstStyle/>
          <a:p>
            <a:pPr algn="ctr"/>
          </a:p>
        </p:txBody>
      </p:sp>
      <p:sp>
        <p:nvSpPr>
          <p:cNvPr id="209" name="Rectangle 208"/>
          <p:cNvSpPr/>
          <p:nvPr/>
        </p:nvSpPr>
        <p:spPr>
          <a:xfrm>
            <a:off x="8339327" y="4123944"/>
            <a:ext cx="91440" cy="54864"/>
          </a:xfrm>
          <a:prstGeom prst="rect">
            <a:avLst/>
          </a:prstGeom>
          <a:solidFill>
            <a:srgbClr val="FBE5D6"/>
          </a:solidFill>
          <a:ln w="9525">
            <a:solidFill>
              <a:srgbClr val="C55A11"/>
            </a:solidFill>
          </a:ln>
          <a:effectLst/>
        </p:spPr>
        <p:txBody>
          <a:bodyPr rtlCol="0" anchor="ctr"/>
          <a:lstStyle/>
          <a:p>
            <a:pPr algn="ctr"/>
          </a:p>
        </p:txBody>
      </p:sp>
      <p:sp>
        <p:nvSpPr>
          <p:cNvPr id="210" name="Rectangle 209"/>
          <p:cNvSpPr/>
          <p:nvPr/>
        </p:nvSpPr>
        <p:spPr>
          <a:xfrm>
            <a:off x="9802368" y="3803904"/>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Event Subscriber</a:t>
            </a:r>
          </a:p>
        </p:txBody>
      </p:sp>
      <p:sp>
        <p:nvSpPr>
          <p:cNvPr id="211" name="Rectangle 210"/>
          <p:cNvSpPr/>
          <p:nvPr/>
        </p:nvSpPr>
        <p:spPr>
          <a:xfrm>
            <a:off x="9756648" y="3862425"/>
            <a:ext cx="91440" cy="54864"/>
          </a:xfrm>
          <a:prstGeom prst="rect">
            <a:avLst/>
          </a:prstGeom>
          <a:solidFill>
            <a:srgbClr val="FBE5D6"/>
          </a:solidFill>
          <a:ln w="9525">
            <a:solidFill>
              <a:srgbClr val="C55A11"/>
            </a:solidFill>
          </a:ln>
          <a:effectLst/>
        </p:spPr>
        <p:txBody>
          <a:bodyPr rtlCol="0" anchor="ctr"/>
          <a:lstStyle/>
          <a:p>
            <a:pPr algn="ctr"/>
          </a:p>
        </p:txBody>
      </p:sp>
      <p:sp>
        <p:nvSpPr>
          <p:cNvPr id="212" name="Rectangle 211"/>
          <p:cNvSpPr/>
          <p:nvPr/>
        </p:nvSpPr>
        <p:spPr>
          <a:xfrm>
            <a:off x="9756648" y="3950208"/>
            <a:ext cx="91440" cy="54864"/>
          </a:xfrm>
          <a:prstGeom prst="rect">
            <a:avLst/>
          </a:prstGeom>
          <a:solidFill>
            <a:srgbClr val="FBE5D6"/>
          </a:solidFill>
          <a:ln w="9525">
            <a:solidFill>
              <a:srgbClr val="C55A11"/>
            </a:solidFill>
          </a:ln>
          <a:effectLst/>
        </p:spPr>
        <p:txBody>
          <a:bodyPr rtlCol="0" anchor="ctr"/>
          <a:lstStyle/>
          <a:p>
            <a:pPr algn="ctr"/>
          </a:p>
        </p:txBody>
      </p:sp>
      <p:sp>
        <p:nvSpPr>
          <p:cNvPr id="213" name="Rectangle 212"/>
          <p:cNvSpPr/>
          <p:nvPr/>
        </p:nvSpPr>
        <p:spPr>
          <a:xfrm>
            <a:off x="9802368" y="4151376"/>
            <a:ext cx="877824" cy="292608"/>
          </a:xfrm>
          <a:prstGeom prst="rect">
            <a:avLst/>
          </a:prstGeom>
          <a:solidFill>
            <a:srgbClr val="FBE5D6"/>
          </a:solidFill>
          <a:ln w="12700">
            <a:solidFill>
              <a:srgbClr val="C55A11"/>
            </a:solidFill>
          </a:ln>
          <a:effectLst/>
        </p:spPr>
        <p:txBody>
          <a:bodyPr rtlCol="0" anchor="ctr" wrap="square" lIns="36576" tIns="18288" rIns="36576" bIns="18288"/>
          <a:lstStyle/>
          <a:p>
            <a:pPr algn="ctr"/>
            <a:r>
              <a:rPr sz="650" b="1">
                <a:solidFill>
                  <a:srgbClr val="000000"/>
                </a:solidFill>
                <a:latin typeface="맑은 고딕"/>
                <a:ea typeface="맑은 고딕"/>
              </a:rPr>
              <a:t>Metrics Poller</a:t>
            </a:r>
          </a:p>
        </p:txBody>
      </p:sp>
      <p:sp>
        <p:nvSpPr>
          <p:cNvPr id="214" name="Rectangle 213"/>
          <p:cNvSpPr/>
          <p:nvPr/>
        </p:nvSpPr>
        <p:spPr>
          <a:xfrm>
            <a:off x="9756648" y="4209897"/>
            <a:ext cx="91440" cy="54864"/>
          </a:xfrm>
          <a:prstGeom prst="rect">
            <a:avLst/>
          </a:prstGeom>
          <a:solidFill>
            <a:srgbClr val="FBE5D6"/>
          </a:solidFill>
          <a:ln w="9525">
            <a:solidFill>
              <a:srgbClr val="C55A11"/>
            </a:solidFill>
          </a:ln>
          <a:effectLst/>
        </p:spPr>
        <p:txBody>
          <a:bodyPr rtlCol="0" anchor="ctr"/>
          <a:lstStyle/>
          <a:p>
            <a:pPr algn="ctr"/>
          </a:p>
        </p:txBody>
      </p:sp>
      <p:sp>
        <p:nvSpPr>
          <p:cNvPr id="215" name="Rectangle 214"/>
          <p:cNvSpPr/>
          <p:nvPr/>
        </p:nvSpPr>
        <p:spPr>
          <a:xfrm>
            <a:off x="9756648" y="4297680"/>
            <a:ext cx="91440" cy="54864"/>
          </a:xfrm>
          <a:prstGeom prst="rect">
            <a:avLst/>
          </a:prstGeom>
          <a:solidFill>
            <a:srgbClr val="FBE5D6"/>
          </a:solidFill>
          <a:ln w="9525">
            <a:solidFill>
              <a:srgbClr val="C55A11"/>
            </a:solidFill>
          </a:ln>
          <a:effectLst/>
        </p:spPr>
        <p:txBody>
          <a:bodyPr rtlCol="0" anchor="ctr"/>
          <a:lstStyle/>
          <a:p>
            <a:pPr algn="ctr"/>
          </a:p>
        </p:txBody>
      </p:sp>
      <p:cxnSp>
        <p:nvCxnSpPr>
          <p:cNvPr id="216" name="Connector 215"/>
          <p:cNvCxnSpPr/>
          <p:nvPr/>
        </p:nvCxnSpPr>
        <p:spPr>
          <a:xfrm>
            <a:off x="8211312" y="4123944"/>
            <a:ext cx="128016" cy="0"/>
          </a:xfrm>
          <a:prstGeom prst="line">
            <a:avLst/>
          </a:prstGeom>
          <a:ln w="15875">
            <a:solidFill>
              <a:srgbClr val="C55A11"/>
            </a:solidFill>
            <a:prstDash val="dash"/>
            <a:tailEnd type="triangle"/>
          </a:ln>
        </p:spPr>
      </p:cxnSp>
      <p:sp>
        <p:nvSpPr>
          <p:cNvPr id="217" name="Oval 216"/>
          <p:cNvSpPr/>
          <p:nvPr/>
        </p:nvSpPr>
        <p:spPr>
          <a:xfrm>
            <a:off x="8197596" y="390906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7</a:t>
            </a:r>
          </a:p>
        </p:txBody>
      </p:sp>
      <p:cxnSp>
        <p:nvCxnSpPr>
          <p:cNvPr id="218" name="Connector 217"/>
          <p:cNvCxnSpPr/>
          <p:nvPr/>
        </p:nvCxnSpPr>
        <p:spPr>
          <a:xfrm flipH="1">
            <a:off x="9665208" y="3950208"/>
            <a:ext cx="91440" cy="0"/>
          </a:xfrm>
          <a:prstGeom prst="line">
            <a:avLst/>
          </a:prstGeom>
          <a:ln w="15875">
            <a:solidFill>
              <a:srgbClr val="C55A11"/>
            </a:solidFill>
            <a:tailEnd type="triangle"/>
          </a:ln>
        </p:spPr>
      </p:cxnSp>
      <p:cxnSp>
        <p:nvCxnSpPr>
          <p:cNvPr id="219" name="Connector 218"/>
          <p:cNvCxnSpPr/>
          <p:nvPr/>
        </p:nvCxnSpPr>
        <p:spPr>
          <a:xfrm flipH="1">
            <a:off x="9665208" y="4297680"/>
            <a:ext cx="91440" cy="0"/>
          </a:xfrm>
          <a:prstGeom prst="line">
            <a:avLst/>
          </a:prstGeom>
          <a:ln w="15875">
            <a:solidFill>
              <a:srgbClr val="C55A11"/>
            </a:solidFill>
            <a:tailEnd type="triangle"/>
          </a:ln>
        </p:spPr>
      </p:cxnSp>
      <p:cxnSp>
        <p:nvCxnSpPr>
          <p:cNvPr id="220" name="Connector 219"/>
          <p:cNvCxnSpPr/>
          <p:nvPr/>
        </p:nvCxnSpPr>
        <p:spPr>
          <a:xfrm flipV="1">
            <a:off x="9025128" y="3456432"/>
            <a:ext cx="0" cy="347472"/>
          </a:xfrm>
          <a:prstGeom prst="line">
            <a:avLst/>
          </a:prstGeom>
          <a:ln w="15875">
            <a:solidFill>
              <a:srgbClr val="C55A11"/>
            </a:solidFill>
            <a:tailEnd type="triangle"/>
          </a:ln>
        </p:spPr>
      </p:cxnSp>
      <p:sp>
        <p:nvSpPr>
          <p:cNvPr id="221" name="Oval 220"/>
          <p:cNvSpPr/>
          <p:nvPr/>
        </p:nvSpPr>
        <p:spPr>
          <a:xfrm>
            <a:off x="8983980" y="3589020"/>
            <a:ext cx="82296" cy="82296"/>
          </a:xfrm>
          <a:prstGeom prst="ellipse">
            <a:avLst/>
          </a:prstGeom>
          <a:solidFill>
            <a:srgbClr val="FFFFFF"/>
          </a:solidFill>
          <a:ln w="12700">
            <a:solidFill>
              <a:srgbClr val="C55A11"/>
            </a:solidFill>
          </a:ln>
          <a:effectLst/>
        </p:spPr>
        <p:txBody>
          <a:bodyPr rtlCol="0" anchor="ctr"/>
          <a:lstStyle/>
          <a:p>
            <a:pPr algn="ctr"/>
          </a:p>
        </p:txBody>
      </p:sp>
      <p:sp>
        <p:nvSpPr>
          <p:cNvPr id="222" name="TextBox 221"/>
          <p:cNvSpPr txBox="1"/>
          <p:nvPr/>
        </p:nvSpPr>
        <p:spPr>
          <a:xfrm>
            <a:off x="9098280" y="3575304"/>
            <a:ext cx="822960" cy="109728"/>
          </a:xfrm>
          <a:prstGeom prst="rect">
            <a:avLst/>
          </a:prstGeom>
          <a:noFill/>
        </p:spPr>
        <p:txBody>
          <a:bodyPr wrap="square" anchor="t" lIns="0" tIns="0" rIns="0" bIns="0">
            <a:spAutoFit/>
          </a:bodyPr>
          <a:lstStyle/>
          <a:p>
            <a:pPr algn="l"/>
            <a:r>
              <a:rPr sz="650" b="0">
                <a:solidFill>
                  <a:srgbClr val="C55A11"/>
                </a:solidFill>
                <a:latin typeface="맑은 고딕"/>
                <a:ea typeface="맑은 고딕"/>
              </a:rPr>
              <a:t>StateView(읽기)</a:t>
            </a:r>
          </a:p>
        </p:txBody>
      </p:sp>
      <p:sp>
        <p:nvSpPr>
          <p:cNvPr id="223" name="Oval 222"/>
          <p:cNvSpPr/>
          <p:nvPr/>
        </p:nvSpPr>
        <p:spPr>
          <a:xfrm>
            <a:off x="8700515" y="3634740"/>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6</a:t>
            </a:r>
          </a:p>
        </p:txBody>
      </p:sp>
      <p:cxnSp>
        <p:nvCxnSpPr>
          <p:cNvPr id="224" name="Connector 223"/>
          <p:cNvCxnSpPr/>
          <p:nvPr/>
        </p:nvCxnSpPr>
        <p:spPr>
          <a:xfrm flipH="1">
            <a:off x="7223760" y="4288536"/>
            <a:ext cx="274319" cy="0"/>
          </a:xfrm>
          <a:prstGeom prst="line">
            <a:avLst/>
          </a:prstGeom>
          <a:ln w="15875">
            <a:solidFill>
              <a:srgbClr val="C55A11"/>
            </a:solidFill>
            <a:prstDash val="dash"/>
            <a:tailEnd type="triangle"/>
          </a:ln>
        </p:spPr>
      </p:cxnSp>
      <p:sp>
        <p:nvSpPr>
          <p:cNvPr id="225" name="Rectangle 224"/>
          <p:cNvSpPr/>
          <p:nvPr/>
        </p:nvSpPr>
        <p:spPr>
          <a:xfrm>
            <a:off x="10927080" y="1700784"/>
            <a:ext cx="1005840" cy="1261872"/>
          </a:xfrm>
          <a:prstGeom prst="rect">
            <a:avLst/>
          </a:prstGeom>
          <a:solidFill>
            <a:srgbClr val="FFFFFF"/>
          </a:solidFill>
          <a:ln w="15875">
            <a:solidFill>
              <a:srgbClr val="7F7F7F"/>
            </a:solidFill>
          </a:ln>
          <a:effectLst/>
        </p:spPr>
        <p:txBody>
          <a:bodyPr rtlCol="0" anchor="ctr"/>
          <a:lstStyle/>
          <a:p>
            <a:pPr algn="ctr"/>
          </a:p>
        </p:txBody>
      </p:sp>
      <p:sp>
        <p:nvSpPr>
          <p:cNvPr id="226" name="Rectangle 225"/>
          <p:cNvSpPr/>
          <p:nvPr/>
        </p:nvSpPr>
        <p:spPr>
          <a:xfrm>
            <a:off x="10927080" y="170078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27" name="Rectangle 226"/>
          <p:cNvSpPr/>
          <p:nvPr/>
        </p:nvSpPr>
        <p:spPr>
          <a:xfrm>
            <a:off x="10991088" y="1947672"/>
            <a:ext cx="877824" cy="941832"/>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prefill</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sp>
        <p:nvSpPr>
          <p:cNvPr id="228" name="Rectangle 227"/>
          <p:cNvSpPr/>
          <p:nvPr/>
        </p:nvSpPr>
        <p:spPr>
          <a:xfrm>
            <a:off x="10927080" y="3163824"/>
            <a:ext cx="1005840" cy="1325880"/>
          </a:xfrm>
          <a:prstGeom prst="rect">
            <a:avLst/>
          </a:prstGeom>
          <a:solidFill>
            <a:srgbClr val="FFFFFF"/>
          </a:solidFill>
          <a:ln w="15875">
            <a:solidFill>
              <a:srgbClr val="7F7F7F"/>
            </a:solidFill>
          </a:ln>
          <a:effectLst/>
        </p:spPr>
        <p:txBody>
          <a:bodyPr rtlCol="0" anchor="ctr"/>
          <a:lstStyle/>
          <a:p>
            <a:pPr algn="ctr"/>
          </a:p>
        </p:txBody>
      </p:sp>
      <p:sp>
        <p:nvSpPr>
          <p:cNvPr id="229" name="Rectangle 228"/>
          <p:cNvSpPr/>
          <p:nvPr/>
        </p:nvSpPr>
        <p:spPr>
          <a:xfrm>
            <a:off x="10927080" y="3163824"/>
            <a:ext cx="1005840" cy="173736"/>
          </a:xfrm>
          <a:prstGeom prst="rect">
            <a:avLst/>
          </a:prstGeom>
          <a:solidFill>
            <a:srgbClr val="7F7F7F"/>
          </a:solidFill>
          <a:ln w="12700">
            <a:solidFill>
              <a:srgbClr val="7F7F7F"/>
            </a:solidFill>
          </a:ln>
          <a:effectLst/>
        </p:spPr>
        <p:txBody>
          <a:bodyPr rtlCol="0" anchor="ctr" wrap="square" lIns="45720" tIns="0" rIns="18288" bIns="0"/>
          <a:lstStyle/>
          <a:p>
            <a:pPr algn="l"/>
            <a:r>
              <a:rPr sz="800" b="1">
                <a:solidFill>
                  <a:srgbClr val="FFFFFF"/>
                </a:solidFill>
                <a:latin typeface="맑은 고딕"/>
                <a:ea typeface="맑은 고딕"/>
              </a:rPr>
              <a:t>«pod» vLLM</a:t>
            </a:r>
          </a:p>
        </p:txBody>
      </p:sp>
      <p:sp>
        <p:nvSpPr>
          <p:cNvPr id="230" name="Rectangle 229"/>
          <p:cNvSpPr/>
          <p:nvPr/>
        </p:nvSpPr>
        <p:spPr>
          <a:xfrm>
            <a:off x="10991088" y="3410712"/>
            <a:ext cx="877824" cy="1005840"/>
          </a:xfrm>
          <a:prstGeom prst="rect">
            <a:avLst/>
          </a:prstGeom>
          <a:solidFill>
            <a:srgbClr val="F2F2F2"/>
          </a:solidFill>
          <a:ln w="12700">
            <a:solidFill>
              <a:srgbClr val="7F7F7F"/>
            </a:solidFill>
          </a:ln>
          <a:effectLst/>
        </p:spPr>
        <p:txBody>
          <a:bodyPr rtlCol="0" anchor="ctr" wrap="square" lIns="36576" tIns="18288" rIns="36576" bIns="18288"/>
          <a:lstStyle/>
          <a:p>
            <a:pPr algn="ctr"/>
            <a:r>
              <a:rPr sz="800" b="1">
                <a:solidFill>
                  <a:srgbClr val="000000"/>
                </a:solidFill>
                <a:latin typeface="맑은 고딕"/>
                <a:ea typeface="맑은 고딕"/>
              </a:rPr>
              <a:t>vLLM</a:t>
            </a:r>
          </a:p>
          <a:p>
            <a:pPr algn="ctr"/>
            <a:r>
              <a:rPr sz="750" b="0">
                <a:solidFill>
                  <a:srgbClr val="000000"/>
                </a:solidFill>
                <a:latin typeface="맑은 고딕"/>
                <a:ea typeface="맑은 고딕"/>
              </a:rPr>
              <a:t>decode</a:t>
            </a:r>
          </a:p>
          <a:p>
            <a:pPr algn="ctr"/>
            <a:r>
              <a:rPr sz="650" b="0">
                <a:solidFill>
                  <a:srgbClr val="404040"/>
                </a:solidFill>
                <a:latin typeface="맑은 고딕"/>
                <a:ea typeface="맑은 고딕"/>
              </a:rPr>
              <a:t>KV events</a:t>
            </a:r>
          </a:p>
          <a:p>
            <a:pPr algn="ctr"/>
            <a:r>
              <a:rPr sz="650" b="0">
                <a:solidFill>
                  <a:srgbClr val="404040"/>
                </a:solidFill>
                <a:latin typeface="맑은 고딕"/>
                <a:ea typeface="맑은 고딕"/>
              </a:rPr>
              <a:t>/metrics</a:t>
            </a:r>
          </a:p>
        </p:txBody>
      </p:sp>
      <p:cxnSp>
        <p:nvCxnSpPr>
          <p:cNvPr id="231" name="Connector 230"/>
          <p:cNvCxnSpPr/>
          <p:nvPr/>
        </p:nvCxnSpPr>
        <p:spPr>
          <a:xfrm>
            <a:off x="11731752" y="2889504"/>
            <a:ext cx="0" cy="521208"/>
          </a:xfrm>
          <a:prstGeom prst="line">
            <a:avLst/>
          </a:prstGeom>
          <a:ln w="15875">
            <a:solidFill>
              <a:srgbClr val="404040"/>
            </a:solidFill>
            <a:headEnd type="triangle"/>
            <a:tailEnd type="triangle"/>
          </a:ln>
        </p:spPr>
      </p:cxnSp>
      <p:sp>
        <p:nvSpPr>
          <p:cNvPr id="232" name="Oval 231"/>
          <p:cNvSpPr/>
          <p:nvPr/>
        </p:nvSpPr>
        <p:spPr>
          <a:xfrm>
            <a:off x="11397995" y="2985516"/>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4</a:t>
            </a:r>
          </a:p>
        </p:txBody>
      </p:sp>
      <p:cxnSp>
        <p:nvCxnSpPr>
          <p:cNvPr id="233" name="Connector 232"/>
          <p:cNvCxnSpPr/>
          <p:nvPr/>
        </p:nvCxnSpPr>
        <p:spPr>
          <a:xfrm flipV="1">
            <a:off x="10680192" y="2295144"/>
            <a:ext cx="310896" cy="502920"/>
          </a:xfrm>
          <a:prstGeom prst="line">
            <a:avLst/>
          </a:prstGeom>
          <a:ln w="15875">
            <a:solidFill>
              <a:srgbClr val="404040"/>
            </a:solidFill>
            <a:tailEnd type="triangle"/>
          </a:ln>
        </p:spPr>
      </p:cxnSp>
      <p:sp>
        <p:nvSpPr>
          <p:cNvPr id="234" name="Oval 233"/>
          <p:cNvSpPr/>
          <p:nvPr/>
        </p:nvSpPr>
        <p:spPr>
          <a:xfrm>
            <a:off x="10730484" y="2519172"/>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3</a:t>
            </a:r>
          </a:p>
        </p:txBody>
      </p:sp>
      <p:cxnSp>
        <p:nvCxnSpPr>
          <p:cNvPr id="235" name="Connector 234"/>
          <p:cNvCxnSpPr/>
          <p:nvPr/>
        </p:nvCxnSpPr>
        <p:spPr>
          <a:xfrm flipH="1">
            <a:off x="10680192" y="4032504"/>
            <a:ext cx="310896" cy="0"/>
          </a:xfrm>
          <a:prstGeom prst="line">
            <a:avLst/>
          </a:prstGeom>
          <a:ln w="15875">
            <a:solidFill>
              <a:srgbClr val="404040"/>
            </a:solidFill>
            <a:prstDash val="dash"/>
            <a:tailEnd type="triangle"/>
          </a:ln>
        </p:spPr>
      </p:cxnSp>
      <p:sp>
        <p:nvSpPr>
          <p:cNvPr id="236" name="Oval 235"/>
          <p:cNvSpPr/>
          <p:nvPr/>
        </p:nvSpPr>
        <p:spPr>
          <a:xfrm>
            <a:off x="10767059" y="3790188"/>
            <a:ext cx="155448" cy="155448"/>
          </a:xfrm>
          <a:prstGeom prst="ellipse">
            <a:avLst/>
          </a:prstGeom>
          <a:solidFill>
            <a:srgbClr val="C55A11"/>
          </a:solidFill>
          <a:ln w="9525">
            <a:solidFill>
              <a:srgbClr val="FFFFFF"/>
            </a:solidFill>
          </a:ln>
          <a:effectLst/>
        </p:spPr>
        <p:txBody>
          <a:bodyPr rtlCol="0" anchor="ctr" wrap="square" lIns="0" tIns="0" rIns="0" bIns="0"/>
          <a:lstStyle/>
          <a:p>
            <a:pPr algn="ctr"/>
            <a:r>
              <a:rPr sz="650" b="1">
                <a:solidFill>
                  <a:srgbClr val="FFFFFF"/>
                </a:solidFill>
                <a:latin typeface="맑은 고딕"/>
                <a:ea typeface="맑은 고딕"/>
              </a:rPr>
              <a:t>5</a:t>
            </a:r>
          </a:p>
        </p:txBody>
      </p:sp>
      <p:sp>
        <p:nvSpPr>
          <p:cNvPr id="237" name="Rectangle 236"/>
          <p:cNvSpPr/>
          <p:nvPr/>
        </p:nvSpPr>
        <p:spPr>
          <a:xfrm>
            <a:off x="6583680" y="4626864"/>
            <a:ext cx="1554480" cy="155448"/>
          </a:xfrm>
          <a:prstGeom prst="rect">
            <a:avLst/>
          </a:prstGeom>
          <a:solidFill>
            <a:srgbClr val="FBE5D6"/>
          </a:solidFill>
          <a:ln w="1905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전부 우리가 직접 개발</a:t>
            </a:r>
          </a:p>
        </p:txBody>
      </p:sp>
      <p:sp>
        <p:nvSpPr>
          <p:cNvPr id="238" name="Rectangle 237"/>
          <p:cNvSpPr/>
          <p:nvPr/>
        </p:nvSpPr>
        <p:spPr>
          <a:xfrm>
            <a:off x="8211312" y="4626864"/>
            <a:ext cx="1554480" cy="155448"/>
          </a:xfrm>
          <a:prstGeom prst="rect">
            <a:avLst/>
          </a:prstGeom>
          <a:solidFill>
            <a:srgbClr val="FFFFFF"/>
          </a:solidFill>
          <a:ln w="12700">
            <a:solidFill>
              <a:srgbClr val="C55A11"/>
            </a:solidFill>
          </a:ln>
          <a:effectLst/>
        </p:spPr>
        <p:txBody>
          <a:bodyPr rtlCol="0" anchor="ctr" wrap="square" lIns="36576" tIns="18288" rIns="36576" bIns="18288"/>
          <a:lstStyle/>
          <a:p>
            <a:pPr algn="ctr"/>
            <a:r>
              <a:rPr sz="700" b="1">
                <a:solidFill>
                  <a:srgbClr val="000000"/>
                </a:solidFill>
                <a:latin typeface="맑은 고딕"/>
                <a:ea typeface="맑은 고딕"/>
              </a:rPr>
              <a:t>○ 인터페이스(SPI / StateView)</a:t>
            </a:r>
          </a:p>
        </p:txBody>
      </p:sp>
      <p:sp>
        <p:nvSpPr>
          <p:cNvPr id="239" name="Rectangle 238"/>
          <p:cNvSpPr/>
          <p:nvPr/>
        </p:nvSpPr>
        <p:spPr>
          <a:xfrm>
            <a:off x="9838944" y="4626864"/>
            <a:ext cx="1005840" cy="155448"/>
          </a:xfrm>
          <a:prstGeom prst="rect">
            <a:avLst/>
          </a:prstGeom>
          <a:solidFill>
            <a:srgbClr val="F2F2F2"/>
          </a:solidFill>
          <a:ln w="12700">
            <a:solidFill>
              <a:srgbClr val="7F7F7F"/>
            </a:solidFill>
          </a:ln>
          <a:effectLst/>
        </p:spPr>
        <p:txBody>
          <a:bodyPr rtlCol="0" anchor="ctr" wrap="square" lIns="36576" tIns="18288" rIns="36576" bIns="18288"/>
          <a:lstStyle/>
          <a:p>
            <a:pPr algn="ctr"/>
            <a:r>
              <a:rPr sz="700" b="1">
                <a:solidFill>
                  <a:srgbClr val="000000"/>
                </a:solidFill>
                <a:latin typeface="맑은 고딕"/>
                <a:ea typeface="맑은 고딕"/>
              </a:rPr>
              <a:t>외부 고정(vLLM)</a:t>
            </a:r>
          </a:p>
        </p:txBody>
      </p:sp>
      <p:sp>
        <p:nvSpPr>
          <p:cNvPr id="240" name="TextBox 239"/>
          <p:cNvSpPr txBox="1"/>
          <p:nvPr/>
        </p:nvSpPr>
        <p:spPr>
          <a:xfrm>
            <a:off x="6583680" y="4809744"/>
            <a:ext cx="5349240" cy="329184"/>
          </a:xfrm>
          <a:prstGeom prst="rect">
            <a:avLst/>
          </a:prstGeom>
          <a:noFill/>
        </p:spPr>
        <p:txBody>
          <a:bodyPr wrap="square" anchor="t" lIns="0" tIns="0" rIns="0" bIns="0">
            <a:spAutoFit/>
          </a:bodyPr>
          <a:lstStyle/>
          <a:p>
            <a:pPr algn="l"/>
            <a:r>
              <a:rPr sz="700" b="0">
                <a:solidFill>
                  <a:srgbClr val="404040"/>
                </a:solidFill>
                <a:latin typeface="맑은 고딕"/>
                <a:ea typeface="맑은 고딕"/>
              </a:rPr>
              <a:t>① HTTP ② 프로세스 내부 호출(원격 호출 없음) ③ Prefill/Decode 요청 + kv_transfer_params 직접 조립 ④ 서버 간 KV 전송(NIXL) ⑤ KV 이벤트(ZMQ)·/metrics(두 pod 공통) ⑥ 상태 조회 ⑦ 서버 발견. 레플리카 간 index sync는 옵션</a:t>
            </a:r>
          </a:p>
        </p:txBody>
      </p:sp>
      <p:sp>
        <p:nvSpPr>
          <p:cNvPr id="241" name="Rectangle 240"/>
          <p:cNvSpPr/>
          <p:nvPr/>
        </p:nvSpPr>
        <p:spPr>
          <a:xfrm>
            <a:off x="246888" y="5138928"/>
            <a:ext cx="868680" cy="1097280"/>
          </a:xfrm>
          <a:prstGeom prst="rect">
            <a:avLst/>
          </a:prstGeom>
          <a:solidFill>
            <a:srgbClr val="F2F2F2"/>
          </a:solidFill>
          <a:ln w="6350">
            <a:solidFill>
              <a:srgbClr val="BFBFBF"/>
            </a:solidFill>
          </a:ln>
          <a:effectLst/>
        </p:spPr>
        <p:txBody>
          <a:bodyPr rtlCol="0" anchor="ctr" wrap="square" lIns="64008" tIns="27432" rIns="45720" bIns="27432"/>
          <a:lstStyle/>
          <a:p>
            <a:pPr algn="ctr"/>
            <a:r>
              <a:rPr sz="900" b="0">
                <a:solidFill>
                  <a:srgbClr val="7F7F7F"/>
                </a:solidFill>
                <a:latin typeface="맑은 고딕"/>
                <a:ea typeface="맑은 고딕"/>
              </a:rPr>
              <a:t>핵심 설계 결정</a:t>
            </a:r>
          </a:p>
          <a:p>
            <a:pPr algn="ctr"/>
            <a:r>
              <a:rPr sz="700" b="0">
                <a:solidFill>
                  <a:srgbClr val="7F7F7F"/>
                </a:solidFill>
                <a:latin typeface="맑은 고딕"/>
                <a:ea typeface="맑은 고딕"/>
              </a:rPr>
              <a:t>(→ 다음 장 Tradeoff)</a:t>
            </a:r>
          </a:p>
        </p:txBody>
      </p:sp>
      <p:sp>
        <p:nvSpPr>
          <p:cNvPr id="242" name="Rectangle 241"/>
          <p:cNvSpPr/>
          <p:nvPr/>
        </p:nvSpPr>
        <p:spPr>
          <a:xfrm>
            <a:off x="1115568" y="5138928"/>
            <a:ext cx="5394960" cy="1097280"/>
          </a:xfrm>
          <a:prstGeom prst="rect">
            <a:avLst/>
          </a:prstGeom>
          <a:solidFill>
            <a:srgbClr val="FFFFFF"/>
          </a:solidFill>
          <a:ln w="6350">
            <a:solidFill>
              <a:srgbClr val="BFBFBF"/>
            </a:solidFill>
          </a:ln>
          <a:effectLst/>
        </p:spPr>
        <p:txBody>
          <a:bodyPr rtlCol="0" anchor="ctr"/>
          <a:lstStyle/>
          <a:p>
            <a:pPr algn="ctr"/>
          </a:p>
        </p:txBody>
      </p:sp>
      <p:sp>
        <p:nvSpPr>
          <p:cNvPr id="243" name="Rectangle 242"/>
          <p:cNvSpPr/>
          <p:nvPr/>
        </p:nvSpPr>
        <p:spPr>
          <a:xfrm>
            <a:off x="6510528" y="5138928"/>
            <a:ext cx="5486399" cy="1097280"/>
          </a:xfrm>
          <a:prstGeom prst="rect">
            <a:avLst/>
          </a:prstGeom>
          <a:solidFill>
            <a:srgbClr val="FFFFFF"/>
          </a:solidFill>
          <a:ln w="6350">
            <a:solidFill>
              <a:srgbClr val="BFBFBF"/>
            </a:solidFill>
          </a:ln>
          <a:effectLst/>
        </p:spPr>
        <p:txBody>
          <a:bodyPr rtlCol="0" anchor="ctr"/>
          <a:lstStyle/>
          <a:p>
            <a:pPr algn="ctr"/>
          </a:p>
        </p:txBody>
      </p:sp>
      <p:sp>
        <p:nvSpPr>
          <p:cNvPr id="244" name="Rectangle 243"/>
          <p:cNvSpPr/>
          <p:nvPr/>
        </p:nvSpPr>
        <p:spPr>
          <a:xfrm>
            <a:off x="1170432" y="5193792"/>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5" name="Rectangle 244"/>
          <p:cNvSpPr/>
          <p:nvPr/>
        </p:nvSpPr>
        <p:spPr>
          <a:xfrm>
            <a:off x="2084832" y="5193792"/>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별도 프로세스 (프록시 → Router 원격 호출 1회)</a:t>
            </a:r>
          </a:p>
        </p:txBody>
      </p:sp>
      <p:sp>
        <p:nvSpPr>
          <p:cNvPr id="246" name="Rectangle 245"/>
          <p:cNvSpPr/>
          <p:nvPr/>
        </p:nvSpPr>
        <p:spPr>
          <a:xfrm>
            <a:off x="6565392" y="5193792"/>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D1 결정 위치</a:t>
            </a:r>
          </a:p>
        </p:txBody>
      </p:sp>
      <p:sp>
        <p:nvSpPr>
          <p:cNvPr id="247" name="Rectangle 246"/>
          <p:cNvSpPr/>
          <p:nvPr/>
        </p:nvSpPr>
        <p:spPr>
          <a:xfrm>
            <a:off x="7479792" y="5193792"/>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프로세스 내부 호출 (원격 호출 없음) - 필요한 건 LLM 기능뿐이라 범용 프록시 분리가 불필요</a:t>
            </a:r>
          </a:p>
        </p:txBody>
      </p:sp>
      <p:sp>
        <p:nvSpPr>
          <p:cNvPr id="248" name="Rectangle 247"/>
          <p:cNvSpPr/>
          <p:nvPr/>
        </p:nvSpPr>
        <p:spPr>
          <a:xfrm>
            <a:off x="1170432" y="5532120"/>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49" name="Rectangle 248"/>
          <p:cNvSpPr/>
          <p:nvPr/>
        </p:nvSpPr>
        <p:spPr>
          <a:xfrm>
            <a:off x="2084832" y="5532120"/>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분산: decode 서버 옆 P/D 보조 프로세스 (Router는 데이터 경로 밖)</a:t>
            </a:r>
          </a:p>
        </p:txBody>
      </p:sp>
      <p:sp>
        <p:nvSpPr>
          <p:cNvPr id="250" name="Rectangle 249"/>
          <p:cNvSpPr/>
          <p:nvPr/>
        </p:nvSpPr>
        <p:spPr>
          <a:xfrm>
            <a:off x="6565392" y="5532120"/>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D2 P/D 조율 위치</a:t>
            </a:r>
          </a:p>
        </p:txBody>
      </p:sp>
      <p:sp>
        <p:nvSpPr>
          <p:cNvPr id="251" name="Rectangle 250"/>
          <p:cNvSpPr/>
          <p:nvPr/>
        </p:nvSpPr>
        <p:spPr>
          <a:xfrm>
            <a:off x="7479792" y="5532120"/>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중앙: Router 내부 PD Orchestrator (Router가 경로 안)</a:t>
            </a:r>
          </a:p>
        </p:txBody>
      </p:sp>
      <p:sp>
        <p:nvSpPr>
          <p:cNvPr id="252" name="Rectangle 251"/>
          <p:cNvSpPr/>
          <p:nvPr/>
        </p:nvSpPr>
        <p:spPr>
          <a:xfrm>
            <a:off x="1170432" y="5870448"/>
            <a:ext cx="896112" cy="292608"/>
          </a:xfrm>
          <a:prstGeom prst="rect">
            <a:avLst/>
          </a:prstGeom>
          <a:solidFill>
            <a:srgbClr val="2F5597"/>
          </a:solidFill>
          <a:ln w="12700">
            <a:solidFill>
              <a:srgbClr val="2F5597"/>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3" name="Rectangle 252"/>
          <p:cNvSpPr/>
          <p:nvPr/>
        </p:nvSpPr>
        <p:spPr>
          <a:xfrm>
            <a:off x="2084832" y="5870448"/>
            <a:ext cx="4297680" cy="292608"/>
          </a:xfrm>
          <a:prstGeom prst="rect">
            <a:avLst/>
          </a:prstGeom>
          <a:solidFill>
            <a:srgbClr val="DAE3F3"/>
          </a:solidFill>
          <a:ln w="9525">
            <a:solidFill>
              <a:srgbClr val="2F5597"/>
            </a:solidFill>
          </a:ln>
          <a:effectLst/>
        </p:spPr>
        <p:txBody>
          <a:bodyPr rtlCol="0" anchor="ctr" wrap="square" lIns="54864" tIns="0" rIns="36576" bIns="0"/>
          <a:lstStyle/>
          <a:p>
            <a:pPr algn="l"/>
            <a:r>
              <a:rPr sz="800" b="0">
                <a:solidFill>
                  <a:srgbClr val="000000"/>
                </a:solidFill>
                <a:latin typeface="맑은 고딕"/>
                <a:ea typeface="맑은 고딕"/>
              </a:rPr>
              <a:t>OSS 재사용 + 확장 (우리 소유 블록 3/6: B·C 확장, E 수정)</a:t>
            </a:r>
          </a:p>
        </p:txBody>
      </p:sp>
      <p:sp>
        <p:nvSpPr>
          <p:cNvPr id="254" name="Rectangle 253"/>
          <p:cNvSpPr/>
          <p:nvPr/>
        </p:nvSpPr>
        <p:spPr>
          <a:xfrm>
            <a:off x="6565392" y="5870448"/>
            <a:ext cx="896112" cy="292608"/>
          </a:xfrm>
          <a:prstGeom prst="rect">
            <a:avLst/>
          </a:prstGeom>
          <a:solidFill>
            <a:srgbClr val="C55A11"/>
          </a:solidFill>
          <a:ln w="12700">
            <a:solidFill>
              <a:srgbClr val="C55A11"/>
            </a:solidFill>
          </a:ln>
          <a:effectLst/>
        </p:spPr>
        <p:txBody>
          <a:bodyPr rtlCol="0" anchor="ctr" wrap="square" lIns="27432" tIns="0" rIns="27432" bIns="0"/>
          <a:lstStyle/>
          <a:p>
            <a:pPr algn="ctr"/>
            <a:r>
              <a:rPr sz="750" b="1">
                <a:solidFill>
                  <a:srgbClr val="FFFFFF"/>
                </a:solidFill>
                <a:latin typeface="맑은 고딕"/>
                <a:ea typeface="맑은 고딕"/>
              </a:rPr>
              <a:t>D3 기능 소유</a:t>
            </a:r>
          </a:p>
        </p:txBody>
      </p:sp>
      <p:sp>
        <p:nvSpPr>
          <p:cNvPr id="255" name="Rectangle 254"/>
          <p:cNvSpPr/>
          <p:nvPr/>
        </p:nvSpPr>
        <p:spPr>
          <a:xfrm>
            <a:off x="7479792" y="5870448"/>
            <a:ext cx="4462272" cy="292608"/>
          </a:xfrm>
          <a:prstGeom prst="rect">
            <a:avLst/>
          </a:prstGeom>
          <a:solidFill>
            <a:srgbClr val="FBE5D6"/>
          </a:solidFill>
          <a:ln w="9525">
            <a:solidFill>
              <a:srgbClr val="C55A11"/>
            </a:solidFill>
          </a:ln>
          <a:effectLst/>
        </p:spPr>
        <p:txBody>
          <a:bodyPr rtlCol="0" anchor="ctr" wrap="square" lIns="54864" tIns="0" rIns="36576" bIns="0"/>
          <a:lstStyle/>
          <a:p>
            <a:pPr algn="l"/>
            <a:r>
              <a:rPr sz="800" b="0">
                <a:solidFill>
                  <a:srgbClr val="000000"/>
                </a:solidFill>
                <a:latin typeface="맑은 고딕"/>
                <a:ea typeface="맑은 고딕"/>
              </a:rPr>
              <a:t>전부 직접 소유 (6/6) + 레플리카·etcd 직접 구성</a:t>
            </a:r>
          </a:p>
        </p:txBody>
      </p:sp>
      <p:sp>
        <p:nvSpPr>
          <p:cNvPr id="256" name="TextBox 255"/>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후보 2는 설계안이며 구현되지 않았다(구현량·성능은 추정). 근거 수준 [C] 구조 논증, [A] = llm-d 합성 백엔드 실행. 용어: P/D = Prefill(입력 처리)/Decode(응답 생성) 분리 · plugin = 기존 코드를 안 고치고 끼우는 확장 모듈</a:t>
            </a:r>
          </a:p>
        </p:txBody>
      </p:sp>
    </p:spTree>
    <p:extLst>
      <p:ext uri="{BB962C8B-B14F-4D97-AF65-F5344CB8AC3E}">
        <p14:creationId xmlns:p14="http://schemas.microsoft.com/office/powerpoint/2010/main" val="33924015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제목 2"/>
          <p:cNvSpPr>
            <a:spLocks noGrp="1"/>
          </p:cNvSpPr>
          <p:nvPr>
            <p:ph type="title"/>
          </p:nvPr>
        </p:nvSpPr>
        <p:spPr>
          <a:xfrm>
            <a:off x="234949" y="137379"/>
            <a:ext cx="7631530" cy="365125"/>
          </a:xfrm>
        </p:spPr>
        <p:txBody>
          <a:bodyPr/>
          <a:lstStyle/>
          <a:p>
            <a:r>
              <a:rPr lang="en-US" altLang="ko-KR" dirty="0"/>
              <a:t>DP0. 설계 안 Tradeoff - 1안 vs 2안</a:t>
            </a:r>
          </a:p>
        </p:txBody>
      </p:sp>
      <p:sp>
        <p:nvSpPr>
          <p:cNvPr id="5" name="직사각형 4"/>
          <p:cNvSpPr/>
          <p:nvPr/>
        </p:nvSpPr>
        <p:spPr>
          <a:xfrm>
            <a:off x="234949" y="596176"/>
            <a:ext cx="11747501" cy="396603"/>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TextBox 7"/>
          <p:cNvSpPr txBox="1"/>
          <p:nvPr/>
        </p:nvSpPr>
        <p:spPr>
          <a:xfrm>
            <a:off x="469760" y="627926"/>
            <a:ext cx="7592951" cy="307777"/>
          </a:xfrm>
          <a:prstGeom prst="rect">
            <a:avLst/>
          </a:prstGeom>
          <a:noFill/>
        </p:spPr>
        <p:txBody>
          <a:bodyPr wrap="square" rtlCol="0">
            <a:spAutoFit/>
          </a:bodyPr>
          <a:lstStyle/>
          <a:p>
            <a:pPr lvl="0">
              <a:defRPr/>
            </a:pPr>
            <a:r>
              <a:rPr lang="ko-KR" altLang="en-US" sz="1400" b="1" dirty="0" err="1">
                <a:solidFill>
                  <a:schemeClr val="bg1"/>
                </a:solidFill>
              </a:rPr>
              <a:t>설계 결정(D1~D3)이 QA를 어떻게 맞바꾸는가</a:t>
            </a:r>
            <a:endParaRPr lang="ko-KR" altLang="en-US" sz="1400" b="1" dirty="0">
              <a:solidFill>
                <a:schemeClr val="bg1"/>
              </a:solidFill>
            </a:endParaRPr>
          </a:p>
        </p:txBody>
      </p:sp>
      <p:sp>
        <p:nvSpPr>
          <p:cNvPr id="39" name="직사각형 38"/>
          <p:cNvSpPr/>
          <p:nvPr/>
        </p:nvSpPr>
        <p:spPr>
          <a:xfrm>
            <a:off x="403086" y="678726"/>
            <a:ext cx="66675" cy="216270"/>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48" name="모서리가 둥근 직사각형 47"/>
          <p:cNvSpPr/>
          <p:nvPr/>
        </p:nvSpPr>
        <p:spPr>
          <a:xfrm>
            <a:off x="10177272" y="629703"/>
            <a:ext cx="868680" cy="321123"/>
          </a:xfrm>
          <a:prstGeom prst="roundRect">
            <a:avLst/>
          </a:prstGeom>
          <a:solidFill>
            <a:schemeClr val="accent2">
              <a:lumMod val="50000"/>
            </a:schemeClr>
          </a:solidFill>
        </p:spPr>
        <p:style>
          <a:lnRef idx="0">
            <a:schemeClr val="accent2"/>
          </a:lnRef>
          <a:fillRef idx="3">
            <a:schemeClr val="accent2"/>
          </a:fillRef>
          <a:effectRef idx="3">
            <a:schemeClr val="accent2"/>
          </a:effectRef>
          <a:fontRef idx="minor">
            <a:schemeClr val="lt1"/>
          </a:fontRef>
        </p:style>
        <p:txBody>
          <a:bodyPr rIns="0" rtlCol="0" anchor="ctr"/>
          <a:lstStyle/>
          <a:p>
            <a:r>
              <a:rPr lang="en-US" altLang="ko-KR" sz="900" b="1" dirty="0">
                <a:latin typeface="맑은 고딕" panose="020B0503020000020004" pitchFamily="50" charset="-127"/>
              </a:rPr>
              <a:t>Q1~Q4</a:t>
            </a:r>
            <a:endParaRPr lang="ko-KR" altLang="en-US" sz="900" b="1" dirty="0">
              <a:latin typeface="맑은 고딕" panose="020B0503020000020004" pitchFamily="50" charset="-127"/>
              <a:ea typeface="맑은 고딕" panose="020B0503020000020004" pitchFamily="50" charset="-127"/>
            </a:endParaRPr>
          </a:p>
        </p:txBody>
      </p:sp>
      <p:sp>
        <p:nvSpPr>
          <p:cNvPr id="38" name="모서리가 둥근 직사각형 37"/>
          <p:cNvSpPr/>
          <p:nvPr/>
        </p:nvSpPr>
        <p:spPr>
          <a:xfrm>
            <a:off x="9235440" y="627572"/>
            <a:ext cx="868680" cy="323254"/>
          </a:xfrm>
          <a:prstGeom prst="roundRect">
            <a:avLst/>
          </a:prstGeom>
          <a:solidFill>
            <a:schemeClr val="accent5">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F1~F4</a:t>
            </a:r>
            <a:endParaRPr lang="ko-KR" altLang="en-US" sz="900" b="1" dirty="0">
              <a:latin typeface="맑은 고딕" panose="020B0503020000020004" pitchFamily="50" charset="-127"/>
              <a:ea typeface="맑은 고딕" panose="020B0503020000020004" pitchFamily="50" charset="-127"/>
            </a:endParaRPr>
          </a:p>
        </p:txBody>
      </p:sp>
      <p:sp>
        <p:nvSpPr>
          <p:cNvPr id="70" name="모서리가 둥근 직사각형 69"/>
          <p:cNvSpPr/>
          <p:nvPr/>
        </p:nvSpPr>
        <p:spPr>
          <a:xfrm>
            <a:off x="11119104" y="627572"/>
            <a:ext cx="868680" cy="323254"/>
          </a:xfrm>
          <a:prstGeom prst="roundRect">
            <a:avLst/>
          </a:prstGeom>
          <a:solidFill>
            <a:schemeClr val="accent6">
              <a:lumMod val="50000"/>
            </a:schemeClr>
          </a:solidFill>
        </p:spPr>
        <p:style>
          <a:lnRef idx="0">
            <a:schemeClr val="accent1"/>
          </a:lnRef>
          <a:fillRef idx="3">
            <a:schemeClr val="accent1"/>
          </a:fillRef>
          <a:effectRef idx="3">
            <a:schemeClr val="accent1"/>
          </a:effectRef>
          <a:fontRef idx="minor">
            <a:schemeClr val="lt1"/>
          </a:fontRef>
        </p:style>
        <p:txBody>
          <a:bodyPr rtlCol="0" anchor="ctr"/>
          <a:lstStyle/>
          <a:p>
            <a:r>
              <a:rPr lang="en-US" altLang="ko-KR" sz="900" b="1" dirty="0">
                <a:latin typeface="맑은 고딕" panose="020B0503020000020004" pitchFamily="50" charset="-127"/>
                <a:ea typeface="맑은 고딕" panose="020B0503020000020004" pitchFamily="50" charset="-127"/>
              </a:rPr>
              <a:t>C1~C6</a:t>
            </a:r>
            <a:endParaRPr lang="ko-KR" altLang="en-US" sz="900" b="1" dirty="0">
              <a:latin typeface="맑은 고딕" panose="020B0503020000020004" pitchFamily="50" charset="-127"/>
              <a:ea typeface="맑은 고딕" panose="020B0503020000020004" pitchFamily="50" charset="-127"/>
            </a:endParaRPr>
          </a:p>
        </p:txBody>
      </p:sp>
      <p:sp>
        <p:nvSpPr>
          <p:cNvPr id="57" name="슬라이드 번호 개체 틀 1"/>
          <p:cNvSpPr>
            <a:spLocks noGrp="1"/>
          </p:cNvSpPr>
          <p:nvPr>
            <p:ph type="sldNum" sz="quarter" idx="4"/>
          </p:nvPr>
        </p:nvSpPr>
        <p:spPr>
          <a:xfrm>
            <a:off x="5620080" y="6597650"/>
            <a:ext cx="456466" cy="209550"/>
          </a:xfrm>
        </p:spPr>
        <p:txBody>
          <a:bodyPr/>
          <a:lstStyle/>
          <a:p>
            <a:fld id="{7F889C64-266A-4D07-AD8F-5B592E61CCE1}" type="slidenum">
              <a:rPr lang="ko-KR" altLang="en-US" smtClean="0"/>
              <a:pPr/>
              <a:t>4</a:t>
            </a:fld>
            <a:endParaRPr lang="ko-KR" altLang="en-US" dirty="0"/>
          </a:p>
        </p:txBody>
      </p:sp>
      <p:cxnSp>
        <p:nvCxnSpPr>
          <p:cNvPr id="59" name="직선 연결선 58"/>
          <p:cNvCxnSpPr/>
          <p:nvPr/>
        </p:nvCxnSpPr>
        <p:spPr>
          <a:xfrm>
            <a:off x="8383231"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0" name="직선 연결선 59"/>
          <p:cNvCxnSpPr/>
          <p:nvPr/>
        </p:nvCxnSpPr>
        <p:spPr>
          <a:xfrm>
            <a:off x="8461250"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1" name="직선 연결선 60"/>
          <p:cNvCxnSpPr/>
          <p:nvPr/>
        </p:nvCxnSpPr>
        <p:spPr>
          <a:xfrm>
            <a:off x="8539269" y="457197"/>
            <a:ext cx="58597"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2" name="직선 연결선 61"/>
          <p:cNvCxnSpPr/>
          <p:nvPr/>
        </p:nvCxnSpPr>
        <p:spPr>
          <a:xfrm>
            <a:off x="8617288"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3" name="직선 연결선 62"/>
          <p:cNvCxnSpPr/>
          <p:nvPr/>
        </p:nvCxnSpPr>
        <p:spPr>
          <a:xfrm>
            <a:off x="8695307"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4" name="직선 연결선 63"/>
          <p:cNvCxnSpPr/>
          <p:nvPr/>
        </p:nvCxnSpPr>
        <p:spPr>
          <a:xfrm>
            <a:off x="8773326"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67" name="직선 연결선 66"/>
          <p:cNvCxnSpPr/>
          <p:nvPr/>
        </p:nvCxnSpPr>
        <p:spPr>
          <a:xfrm>
            <a:off x="8851345"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7" name="직선 연결선 96"/>
          <p:cNvCxnSpPr/>
          <p:nvPr/>
        </p:nvCxnSpPr>
        <p:spPr>
          <a:xfrm>
            <a:off x="8929364"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98" name="직선 연결선 97"/>
          <p:cNvCxnSpPr/>
          <p:nvPr/>
        </p:nvCxnSpPr>
        <p:spPr>
          <a:xfrm>
            <a:off x="900738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101" name="직선 연결선 100"/>
          <p:cNvCxnSpPr/>
          <p:nvPr/>
        </p:nvCxnSpPr>
        <p:spPr>
          <a:xfrm>
            <a:off x="9085403" y="457197"/>
            <a:ext cx="58597" cy="0"/>
          </a:xfrm>
          <a:prstGeom prst="line">
            <a:avLst/>
          </a:prstGeom>
          <a:ln w="28575">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4" name="직사각형 3"/>
          <p:cNvSpPr/>
          <p:nvPr/>
        </p:nvSpPr>
        <p:spPr>
          <a:xfrm>
            <a:off x="6291415" y="180689"/>
            <a:ext cx="1541832" cy="276999"/>
          </a:xfrm>
          <a:prstGeom prst="rect">
            <a:avLst/>
          </a:prstGeom>
        </p:spPr>
        <p:txBody>
          <a:bodyPr wrap="none">
            <a:spAutoFit/>
          </a:bodyPr>
          <a:lstStyle/>
          <a:p>
            <a:r>
              <a:rPr lang="en-US" altLang="ko-KR" sz="1200" b="1" dirty="0"/>
              <a:t>(Where to locate?)</a:t>
            </a:r>
            <a:endParaRPr lang="ko-KR" altLang="en-US" sz="1200" dirty="0"/>
          </a:p>
        </p:txBody>
      </p:sp>
      <p:sp>
        <p:nvSpPr>
          <p:cNvPr id="102" name="TextBox 101"/>
          <p:cNvSpPr txBox="1"/>
          <p:nvPr/>
        </p:nvSpPr>
        <p:spPr>
          <a:xfrm>
            <a:off x="246888" y="1042415"/>
            <a:ext cx="6035040"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① 설계 결정마다 한 QA를 얻으면 다른 QA를 잃는다</a:t>
            </a:r>
          </a:p>
        </p:txBody>
      </p:sp>
      <p:sp>
        <p:nvSpPr>
          <p:cNvPr id="103" name="Rectangle 102"/>
          <p:cNvSpPr/>
          <p:nvPr/>
        </p:nvSpPr>
        <p:spPr>
          <a:xfrm>
            <a:off x="246888" y="1280160"/>
            <a:ext cx="91440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설계 결정</a:t>
            </a:r>
          </a:p>
        </p:txBody>
      </p:sp>
      <p:sp>
        <p:nvSpPr>
          <p:cNvPr id="104" name="Rectangle 103"/>
          <p:cNvSpPr/>
          <p:nvPr/>
        </p:nvSpPr>
        <p:spPr>
          <a:xfrm>
            <a:off x="116128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1안 선택 → 얻는 것 / 잃는 것</a:t>
            </a:r>
          </a:p>
        </p:txBody>
      </p:sp>
      <p:sp>
        <p:nvSpPr>
          <p:cNvPr id="105" name="Rectangle 104"/>
          <p:cNvSpPr/>
          <p:nvPr/>
        </p:nvSpPr>
        <p:spPr>
          <a:xfrm>
            <a:off x="3721608" y="1280160"/>
            <a:ext cx="256032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50" b="1">
                <a:solidFill>
                  <a:srgbClr val="FFFFFF"/>
                </a:solidFill>
                <a:latin typeface="맑은 고딕"/>
                <a:ea typeface="맑은 고딕"/>
              </a:rPr>
              <a:t>2안 선택 → 얻는 것 / 잃는 것</a:t>
            </a:r>
          </a:p>
        </p:txBody>
      </p:sp>
      <p:sp>
        <p:nvSpPr>
          <p:cNvPr id="106" name="Rectangle 105"/>
          <p:cNvSpPr/>
          <p:nvPr/>
        </p:nvSpPr>
        <p:spPr>
          <a:xfrm>
            <a:off x="246888" y="1517904"/>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D1</a:t>
            </a:r>
          </a:p>
          <a:p>
            <a:pPr algn="ctr"/>
            <a:r>
              <a:rPr sz="800" b="0">
                <a:solidFill>
                  <a:srgbClr val="404040"/>
                </a:solidFill>
                <a:latin typeface="맑은 고딕"/>
                <a:ea typeface="맑은 고딕"/>
              </a:rPr>
              <a:t>결정 위치</a:t>
            </a:r>
          </a:p>
        </p:txBody>
      </p:sp>
      <p:sp>
        <p:nvSpPr>
          <p:cNvPr id="107" name="Rectangle 106"/>
          <p:cNvSpPr/>
          <p:nvPr/>
        </p:nvSpPr>
        <p:spPr>
          <a:xfrm>
            <a:off x="116128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08" name="Rectangle 107"/>
          <p:cNvSpPr/>
          <p:nvPr/>
        </p:nvSpPr>
        <p:spPr>
          <a:xfrm>
            <a:off x="1207008" y="1554480"/>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별도 프로세스(프록시 → Router)</a:t>
            </a:r>
          </a:p>
        </p:txBody>
      </p:sp>
      <p:sp>
        <p:nvSpPr>
          <p:cNvPr id="109" name="TextBox 108"/>
          <p:cNvSpPr txBox="1"/>
          <p:nvPr/>
        </p:nvSpPr>
        <p:spPr>
          <a:xfrm>
            <a:off x="122529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결정기를 독립 복제·격리</a:t>
            </a:r>
          </a:p>
        </p:txBody>
      </p:sp>
      <p:sp>
        <p:nvSpPr>
          <p:cNvPr id="110" name="TextBox 109"/>
          <p:cNvSpPr txBox="1"/>
          <p:nvPr/>
        </p:nvSpPr>
        <p:spPr>
          <a:xfrm>
            <a:off x="122529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Q2 </a:t>
            </a:r>
            <a:r>
              <a:rPr sz="850" b="0">
                <a:solidFill>
                  <a:srgbClr val="000000"/>
                </a:solidFill>
                <a:latin typeface="맑은 고딕"/>
                <a:ea typeface="맑은 고딕"/>
              </a:rPr>
              <a:t>원격 호출 1회 + 보조 프로세스 경유</a:t>
            </a:r>
          </a:p>
        </p:txBody>
      </p:sp>
      <p:sp>
        <p:nvSpPr>
          <p:cNvPr id="111" name="Rectangle 110"/>
          <p:cNvSpPr/>
          <p:nvPr/>
        </p:nvSpPr>
        <p:spPr>
          <a:xfrm>
            <a:off x="3721608" y="1517904"/>
            <a:ext cx="2560320" cy="1051560"/>
          </a:xfrm>
          <a:prstGeom prst="rect">
            <a:avLst/>
          </a:prstGeom>
          <a:solidFill>
            <a:srgbClr val="FFFFFF"/>
          </a:solidFill>
          <a:ln w="6350">
            <a:solidFill>
              <a:srgbClr val="BFBFBF"/>
            </a:solidFill>
          </a:ln>
          <a:effectLst/>
        </p:spPr>
        <p:txBody>
          <a:bodyPr rtlCol="0" anchor="ctr"/>
          <a:lstStyle/>
          <a:p>
            <a:pPr algn="ctr"/>
          </a:p>
        </p:txBody>
      </p:sp>
      <p:sp>
        <p:nvSpPr>
          <p:cNvPr id="112" name="Rectangle 111"/>
          <p:cNvSpPr/>
          <p:nvPr/>
        </p:nvSpPr>
        <p:spPr>
          <a:xfrm>
            <a:off x="3767328" y="1554480"/>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프로세스 내부</a:t>
            </a:r>
          </a:p>
        </p:txBody>
      </p:sp>
      <p:sp>
        <p:nvSpPr>
          <p:cNvPr id="113" name="TextBox 112"/>
          <p:cNvSpPr txBox="1"/>
          <p:nvPr/>
        </p:nvSpPr>
        <p:spPr>
          <a:xfrm>
            <a:off x="3785616" y="179222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Q2 </a:t>
            </a:r>
            <a:r>
              <a:rPr sz="850" b="0">
                <a:solidFill>
                  <a:srgbClr val="000000"/>
                </a:solidFill>
                <a:latin typeface="맑은 고딕"/>
                <a:ea typeface="맑은 고딕"/>
              </a:rPr>
              <a:t>hop 제거 (E1 측정 전 가설)</a:t>
            </a:r>
          </a:p>
        </p:txBody>
      </p:sp>
      <p:sp>
        <p:nvSpPr>
          <p:cNvPr id="114" name="TextBox 113"/>
          <p:cNvSpPr txBox="1"/>
          <p:nvPr/>
        </p:nvSpPr>
        <p:spPr>
          <a:xfrm>
            <a:off x="3785616" y="217627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결정 부하가 Router 스케일에 묶임</a:t>
            </a:r>
          </a:p>
        </p:txBody>
      </p:sp>
      <p:sp>
        <p:nvSpPr>
          <p:cNvPr id="115" name="Rectangle 114"/>
          <p:cNvSpPr/>
          <p:nvPr/>
        </p:nvSpPr>
        <p:spPr>
          <a:xfrm>
            <a:off x="246888" y="256946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D2</a:t>
            </a:r>
          </a:p>
          <a:p>
            <a:pPr algn="ctr"/>
            <a:r>
              <a:rPr sz="800" b="0">
                <a:solidFill>
                  <a:srgbClr val="404040"/>
                </a:solidFill>
                <a:latin typeface="맑은 고딕"/>
                <a:ea typeface="맑은 고딕"/>
              </a:rPr>
              <a:t>P/D 조율</a:t>
            </a:r>
          </a:p>
        </p:txBody>
      </p:sp>
      <p:sp>
        <p:nvSpPr>
          <p:cNvPr id="116" name="Rectangle 115"/>
          <p:cNvSpPr/>
          <p:nvPr/>
        </p:nvSpPr>
        <p:spPr>
          <a:xfrm>
            <a:off x="116128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17" name="Rectangle 116"/>
          <p:cNvSpPr/>
          <p:nvPr/>
        </p:nvSpPr>
        <p:spPr>
          <a:xfrm>
            <a:off x="1207008" y="260603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분산: decode 옆 보조 프로세스</a:t>
            </a:r>
          </a:p>
        </p:txBody>
      </p:sp>
      <p:sp>
        <p:nvSpPr>
          <p:cNvPr id="118" name="TextBox 117"/>
          <p:cNvSpPr txBox="1"/>
          <p:nvPr/>
        </p:nvSpPr>
        <p:spPr>
          <a:xfrm>
            <a:off x="122529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Q4 </a:t>
            </a:r>
            <a:r>
              <a:rPr sz="850" b="0">
                <a:solidFill>
                  <a:srgbClr val="000000"/>
                </a:solidFill>
                <a:latin typeface="맑은 고딕"/>
                <a:ea typeface="맑은 고딕"/>
              </a:rPr>
              <a:t>Router가 P/D 데이터 경로 밖 → 병목·SPOF 회피</a:t>
            </a:r>
          </a:p>
        </p:txBody>
      </p:sp>
      <p:sp>
        <p:nvSpPr>
          <p:cNvPr id="119" name="TextBox 118"/>
          <p:cNvSpPr txBox="1"/>
          <p:nvPr/>
        </p:nvSpPr>
        <p:spPr>
          <a:xfrm>
            <a:off x="122529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Q1·Q3 </a:t>
            </a:r>
            <a:r>
              <a:rPr sz="850" b="0">
                <a:solidFill>
                  <a:srgbClr val="000000"/>
                </a:solidFill>
                <a:latin typeface="맑은 고딕"/>
                <a:ea typeface="맑은 고딕"/>
              </a:rPr>
              <a:t>P/D 경로 노드 지시(P5)는 보조 프로세스 수정</a:t>
            </a:r>
          </a:p>
        </p:txBody>
      </p:sp>
      <p:sp>
        <p:nvSpPr>
          <p:cNvPr id="120" name="Rectangle 119"/>
          <p:cNvSpPr/>
          <p:nvPr/>
        </p:nvSpPr>
        <p:spPr>
          <a:xfrm>
            <a:off x="3721608" y="256946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1" name="Rectangle 120"/>
          <p:cNvSpPr/>
          <p:nvPr/>
        </p:nvSpPr>
        <p:spPr>
          <a:xfrm>
            <a:off x="3767328" y="260603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중앙: Router 내부</a:t>
            </a:r>
          </a:p>
        </p:txBody>
      </p:sp>
      <p:sp>
        <p:nvSpPr>
          <p:cNvPr id="122" name="TextBox 121"/>
          <p:cNvSpPr txBox="1"/>
          <p:nvPr/>
        </p:nvSpPr>
        <p:spPr>
          <a:xfrm>
            <a:off x="3785616" y="2843783"/>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Q1·Q3 </a:t>
            </a:r>
            <a:r>
              <a:rPr sz="850" b="0">
                <a:solidFill>
                  <a:srgbClr val="000000"/>
                </a:solidFill>
                <a:latin typeface="맑은 고딕"/>
                <a:ea typeface="맑은 고딕"/>
              </a:rPr>
              <a:t>전역 시야, P5 직접 전달, prefill 결과 보고 decode 지정(설계 가능)</a:t>
            </a:r>
          </a:p>
        </p:txBody>
      </p:sp>
      <p:sp>
        <p:nvSpPr>
          <p:cNvPr id="123" name="TextBox 122"/>
          <p:cNvSpPr txBox="1"/>
          <p:nvPr/>
        </p:nvSpPr>
        <p:spPr>
          <a:xfrm>
            <a:off x="3785616" y="3227831"/>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Q4 </a:t>
            </a:r>
            <a:r>
              <a:rPr sz="850" b="0">
                <a:solidFill>
                  <a:srgbClr val="000000"/>
                </a:solidFill>
                <a:latin typeface="맑은 고딕"/>
                <a:ea typeface="맑은 고딕"/>
              </a:rPr>
              <a:t>Router가 경로 안 → 레플리카·상태 동기화 직접 구축</a:t>
            </a:r>
          </a:p>
        </p:txBody>
      </p:sp>
      <p:sp>
        <p:nvSpPr>
          <p:cNvPr id="124" name="Rectangle 123"/>
          <p:cNvSpPr/>
          <p:nvPr/>
        </p:nvSpPr>
        <p:spPr>
          <a:xfrm>
            <a:off x="246888" y="3621023"/>
            <a:ext cx="914400" cy="1051560"/>
          </a:xfrm>
          <a:prstGeom prst="rect">
            <a:avLst/>
          </a:prstGeom>
          <a:solidFill>
            <a:srgbClr val="F2F2F2"/>
          </a:solidFill>
          <a:ln w="6350">
            <a:solidFill>
              <a:srgbClr val="BFBFBF"/>
            </a:solidFill>
          </a:ln>
          <a:effectLst/>
        </p:spPr>
        <p:txBody>
          <a:bodyPr rtlCol="0" anchor="ctr" wrap="square" lIns="36576" tIns="18288" rIns="36576" bIns="18288"/>
          <a:lstStyle/>
          <a:p>
            <a:pPr algn="ctr"/>
            <a:r>
              <a:rPr sz="1000" b="1">
                <a:solidFill>
                  <a:srgbClr val="000000"/>
                </a:solidFill>
                <a:latin typeface="맑은 고딕"/>
                <a:ea typeface="맑은 고딕"/>
              </a:rPr>
              <a:t>D3</a:t>
            </a:r>
          </a:p>
          <a:p>
            <a:pPr algn="ctr"/>
            <a:r>
              <a:rPr sz="800" b="0">
                <a:solidFill>
                  <a:srgbClr val="404040"/>
                </a:solidFill>
                <a:latin typeface="맑은 고딕"/>
                <a:ea typeface="맑은 고딕"/>
              </a:rPr>
              <a:t>기능 소유</a:t>
            </a:r>
          </a:p>
        </p:txBody>
      </p:sp>
      <p:sp>
        <p:nvSpPr>
          <p:cNvPr id="125" name="Rectangle 124"/>
          <p:cNvSpPr/>
          <p:nvPr/>
        </p:nvSpPr>
        <p:spPr>
          <a:xfrm>
            <a:off x="116128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26" name="Rectangle 125"/>
          <p:cNvSpPr/>
          <p:nvPr/>
        </p:nvSpPr>
        <p:spPr>
          <a:xfrm>
            <a:off x="1207008" y="3657599"/>
            <a:ext cx="2468880" cy="182880"/>
          </a:xfrm>
          <a:prstGeom prst="rect">
            <a:avLst/>
          </a:prstGeom>
          <a:solidFill>
            <a:srgbClr val="2F5597"/>
          </a:solidFill>
          <a:ln w="12700">
            <a:solidFill>
              <a:srgbClr val="2F5597"/>
            </a:solidFill>
          </a:ln>
          <a:effectLst/>
        </p:spPr>
        <p:txBody>
          <a:bodyPr rtlCol="0" anchor="ctr" wrap="square" lIns="45720" tIns="0" rIns="0" bIns="0"/>
          <a:lstStyle/>
          <a:p>
            <a:pPr algn="l"/>
            <a:r>
              <a:rPr sz="850" b="1">
                <a:solidFill>
                  <a:srgbClr val="FFFFFF"/>
                </a:solidFill>
                <a:latin typeface="맑은 고딕"/>
                <a:ea typeface="맑은 고딕"/>
              </a:rPr>
              <a:t>OSS 재사용 + 확장</a:t>
            </a:r>
          </a:p>
        </p:txBody>
      </p:sp>
      <p:sp>
        <p:nvSpPr>
          <p:cNvPr id="127" name="TextBox 126"/>
          <p:cNvSpPr txBox="1"/>
          <p:nvPr/>
        </p:nvSpPr>
        <p:spPr>
          <a:xfrm>
            <a:off x="122529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S1·S5·S6(설정·업스트림 흡수·신기능)  ＋Q1 과부하 시 흐름 제어 기본</a:t>
            </a:r>
          </a:p>
        </p:txBody>
      </p:sp>
      <p:sp>
        <p:nvSpPr>
          <p:cNvPr id="128" name="TextBox 127"/>
          <p:cNvSpPr txBox="1"/>
          <p:nvPr/>
        </p:nvSpPr>
        <p:spPr>
          <a:xfrm>
            <a:off x="122529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 </a:t>
            </a:r>
            <a:r>
              <a:rPr sz="850" b="0">
                <a:solidFill>
                  <a:srgbClr val="000000"/>
                </a:solidFill>
                <a:latin typeface="맑은 고딕"/>
                <a:ea typeface="맑은 고딕"/>
              </a:rPr>
              <a:t>S3·S4: wrapper가 OSS 동작에 의존, 자체 Router 이미지 운영</a:t>
            </a:r>
          </a:p>
        </p:txBody>
      </p:sp>
      <p:sp>
        <p:nvSpPr>
          <p:cNvPr id="129" name="Rectangle 128"/>
          <p:cNvSpPr/>
          <p:nvPr/>
        </p:nvSpPr>
        <p:spPr>
          <a:xfrm>
            <a:off x="3721608" y="3621023"/>
            <a:ext cx="2560320" cy="1051560"/>
          </a:xfrm>
          <a:prstGeom prst="rect">
            <a:avLst/>
          </a:prstGeom>
          <a:solidFill>
            <a:srgbClr val="FFFFFF"/>
          </a:solidFill>
          <a:ln w="6350">
            <a:solidFill>
              <a:srgbClr val="BFBFBF"/>
            </a:solidFill>
          </a:ln>
          <a:effectLst/>
        </p:spPr>
        <p:txBody>
          <a:bodyPr rtlCol="0" anchor="ctr"/>
          <a:lstStyle/>
          <a:p>
            <a:pPr algn="ctr"/>
          </a:p>
        </p:txBody>
      </p:sp>
      <p:sp>
        <p:nvSpPr>
          <p:cNvPr id="130" name="Rectangle 129"/>
          <p:cNvSpPr/>
          <p:nvPr/>
        </p:nvSpPr>
        <p:spPr>
          <a:xfrm>
            <a:off x="3767328" y="3657599"/>
            <a:ext cx="2468880" cy="182880"/>
          </a:xfrm>
          <a:prstGeom prst="rect">
            <a:avLst/>
          </a:prstGeom>
          <a:solidFill>
            <a:srgbClr val="C55A11"/>
          </a:solidFill>
          <a:ln w="12700">
            <a:solidFill>
              <a:srgbClr val="C55A11"/>
            </a:solidFill>
          </a:ln>
          <a:effectLst/>
        </p:spPr>
        <p:txBody>
          <a:bodyPr rtlCol="0" anchor="ctr" wrap="square" lIns="45720" tIns="0" rIns="0" bIns="0"/>
          <a:lstStyle/>
          <a:p>
            <a:pPr algn="l"/>
            <a:r>
              <a:rPr sz="850" b="1">
                <a:solidFill>
                  <a:srgbClr val="FFFFFF"/>
                </a:solidFill>
                <a:latin typeface="맑은 고딕"/>
                <a:ea typeface="맑은 고딕"/>
              </a:rPr>
              <a:t>직접 소유</a:t>
            </a:r>
          </a:p>
        </p:txBody>
      </p:sp>
      <p:sp>
        <p:nvSpPr>
          <p:cNvPr id="131" name="TextBox 130"/>
          <p:cNvSpPr txBox="1"/>
          <p:nvPr/>
        </p:nvSpPr>
        <p:spPr>
          <a:xfrm>
            <a:off x="3785616" y="3895344"/>
            <a:ext cx="2432304" cy="365760"/>
          </a:xfrm>
          <a:prstGeom prst="rect">
            <a:avLst/>
          </a:prstGeom>
          <a:noFill/>
        </p:spPr>
        <p:txBody>
          <a:bodyPr wrap="square" anchor="t" lIns="0" tIns="0" rIns="0" bIns="0">
            <a:spAutoFit/>
          </a:bodyPr>
          <a:lstStyle/>
          <a:p>
            <a:pPr algn="l"/>
            <a:r>
              <a:rPr sz="850" b="1">
                <a:solidFill>
                  <a:srgbClr val="548235"/>
                </a:solidFill>
                <a:latin typeface="맑은 고딕"/>
                <a:ea typeface="맑은 고딕"/>
              </a:rPr>
              <a:t>＋ Q3 </a:t>
            </a:r>
            <a:r>
              <a:rPr sz="850" b="0">
                <a:solidFill>
                  <a:srgbClr val="000000"/>
                </a:solidFill>
                <a:latin typeface="맑은 고딕"/>
                <a:ea typeface="맑은 고딕"/>
              </a:rPr>
              <a:t>S2~S4(비용 함수·P/D 정책·노드 지시)를 한 코드베이스에서 통제</a:t>
            </a:r>
          </a:p>
        </p:txBody>
      </p:sp>
      <p:sp>
        <p:nvSpPr>
          <p:cNvPr id="132" name="TextBox 131"/>
          <p:cNvSpPr txBox="1"/>
          <p:nvPr/>
        </p:nvSpPr>
        <p:spPr>
          <a:xfrm>
            <a:off x="3785616" y="4279392"/>
            <a:ext cx="2432304" cy="365760"/>
          </a:xfrm>
          <a:prstGeom prst="rect">
            <a:avLst/>
          </a:prstGeom>
          <a:noFill/>
        </p:spPr>
        <p:txBody>
          <a:bodyPr wrap="square" anchor="t" lIns="0" tIns="0" rIns="0" bIns="0">
            <a:spAutoFit/>
          </a:bodyPr>
          <a:lstStyle/>
          <a:p>
            <a:pPr algn="l"/>
            <a:r>
              <a:rPr sz="850" b="1">
                <a:solidFill>
                  <a:srgbClr val="C00000"/>
                </a:solidFill>
                <a:latin typeface="맑은 고딕"/>
                <a:ea typeface="맑은 고딕"/>
              </a:rPr>
              <a:t>－ Q3·Q1 </a:t>
            </a:r>
            <a:r>
              <a:rPr sz="850" b="0">
                <a:solidFill>
                  <a:srgbClr val="000000"/>
                </a:solidFill>
                <a:latin typeface="맑은 고딕"/>
                <a:ea typeface="맑은 고딕"/>
              </a:rPr>
              <a:t>S5·S6 직접 추적·구현, 과부하 admission 직접 구현</a:t>
            </a:r>
          </a:p>
        </p:txBody>
      </p:sp>
      <p:sp>
        <p:nvSpPr>
          <p:cNvPr id="133" name="TextBox 132"/>
          <p:cNvSpPr txBox="1"/>
          <p:nvPr/>
        </p:nvSpPr>
        <p:spPr>
          <a:xfrm>
            <a:off x="246888" y="4709159"/>
            <a:ext cx="6035040" cy="274320"/>
          </a:xfrm>
          <a:prstGeom prst="rect">
            <a:avLst/>
          </a:prstGeom>
          <a:noFill/>
        </p:spPr>
        <p:txBody>
          <a:bodyPr wrap="square" anchor="t" lIns="0" tIns="0" rIns="0" bIns="0">
            <a:spAutoFit/>
          </a:bodyPr>
          <a:lstStyle/>
          <a:p>
            <a:pPr algn="l"/>
            <a:r>
              <a:rPr sz="750" b="1">
                <a:solidFill>
                  <a:srgbClr val="000000"/>
                </a:solidFill>
                <a:latin typeface="맑은 고딕"/>
                <a:ea typeface="맑은 고딕"/>
              </a:rPr>
              <a:t>Q1</a:t>
            </a:r>
            <a:r>
              <a:rPr sz="750" b="0">
                <a:solidFill>
                  <a:srgbClr val="404040"/>
                </a:solidFill>
                <a:latin typeface="맑은 고딕"/>
                <a:ea typeface="맑은 고딕"/>
              </a:rPr>
              <a:t> 처리량  </a:t>
            </a:r>
            <a:r>
              <a:rPr sz="750" b="1">
                <a:solidFill>
                  <a:srgbClr val="000000"/>
                </a:solidFill>
                <a:latin typeface="맑은 고딕"/>
                <a:ea typeface="맑은 고딕"/>
              </a:rPr>
              <a:t>Q2</a:t>
            </a:r>
            <a:r>
              <a:rPr sz="750" b="0">
                <a:solidFill>
                  <a:srgbClr val="404040"/>
                </a:solidFill>
                <a:latin typeface="맑은 고딕"/>
                <a:ea typeface="맑은 고딕"/>
              </a:rPr>
              <a:t> 지연  </a:t>
            </a:r>
            <a:r>
              <a:rPr sz="750" b="1">
                <a:solidFill>
                  <a:srgbClr val="000000"/>
                </a:solidFill>
                <a:latin typeface="맑은 고딕"/>
                <a:ea typeface="맑은 고딕"/>
              </a:rPr>
              <a:t>Q3</a:t>
            </a:r>
            <a:r>
              <a:rPr sz="750" b="0">
                <a:solidFill>
                  <a:srgbClr val="404040"/>
                </a:solidFill>
                <a:latin typeface="맑은 고딕"/>
                <a:ea typeface="맑은 고딕"/>
              </a:rPr>
              <a:t> 변경 용이성(S1 새 tier · S2 비용 함수 · S3 P/D 정책 · S4 노드 지시 · S5 vLLM/NIXL 변경 · S6 신규 기능)  </a:t>
            </a:r>
            <a:r>
              <a:rPr sz="750" b="1">
                <a:solidFill>
                  <a:srgbClr val="000000"/>
                </a:solidFill>
                <a:latin typeface="맑은 고딕"/>
                <a:ea typeface="맑은 고딕"/>
              </a:rPr>
              <a:t>Q4</a:t>
            </a:r>
            <a:r>
              <a:rPr sz="750" b="0">
                <a:solidFill>
                  <a:srgbClr val="404040"/>
                </a:solidFill>
                <a:latin typeface="맑은 고딕"/>
                <a:ea typeface="맑은 고딕"/>
              </a:rPr>
              <a:t> 확장성</a:t>
            </a:r>
          </a:p>
        </p:txBody>
      </p:sp>
      <p:sp>
        <p:nvSpPr>
          <p:cNvPr id="134" name="TextBox 133"/>
          <p:cNvSpPr txBox="1"/>
          <p:nvPr/>
        </p:nvSpPr>
        <p:spPr>
          <a:xfrm>
            <a:off x="6492240" y="1042415"/>
            <a:ext cx="5504688" cy="201168"/>
          </a:xfrm>
          <a:prstGeom prst="rect">
            <a:avLst/>
          </a:prstGeom>
          <a:noFill/>
        </p:spPr>
        <p:txBody>
          <a:bodyPr wrap="square" anchor="t" lIns="0" tIns="0" rIns="0" bIns="0">
            <a:spAutoFit/>
          </a:bodyPr>
          <a:lstStyle/>
          <a:p>
            <a:pPr algn="l"/>
            <a:r>
              <a:rPr sz="1050" b="1">
                <a:solidFill>
                  <a:srgbClr val="000000"/>
                </a:solidFill>
                <a:latin typeface="맑은 고딕"/>
                <a:ea typeface="맑은 고딕"/>
              </a:rPr>
              <a:t>② QA 평가 (전부 가설 [C], 측정 전)</a:t>
            </a:r>
          </a:p>
        </p:txBody>
      </p:sp>
      <p:sp>
        <p:nvSpPr>
          <p:cNvPr id="135" name="Rectangle 134"/>
          <p:cNvSpPr/>
          <p:nvPr/>
        </p:nvSpPr>
        <p:spPr>
          <a:xfrm>
            <a:off x="6492240" y="1280160"/>
            <a:ext cx="1005840"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QA</a:t>
            </a:r>
          </a:p>
        </p:txBody>
      </p:sp>
      <p:sp>
        <p:nvSpPr>
          <p:cNvPr id="136" name="Rectangle 135"/>
          <p:cNvSpPr/>
          <p:nvPr/>
        </p:nvSpPr>
        <p:spPr>
          <a:xfrm>
            <a:off x="7498079" y="1280160"/>
            <a:ext cx="987552" cy="237744"/>
          </a:xfrm>
          <a:prstGeom prst="rect">
            <a:avLst/>
          </a:prstGeom>
          <a:solidFill>
            <a:srgbClr val="2F5597"/>
          </a:solidFill>
          <a:ln w="12700">
            <a:solidFill>
              <a:srgbClr val="2F5597"/>
            </a:solidFill>
          </a:ln>
          <a:effectLst/>
        </p:spPr>
        <p:txBody>
          <a:bodyPr rtlCol="0" anchor="ctr" wrap="square" lIns="36576" tIns="18288" rIns="36576" bIns="18288"/>
          <a:lstStyle/>
          <a:p>
            <a:pPr algn="ctr"/>
            <a:r>
              <a:rPr sz="800" b="1">
                <a:solidFill>
                  <a:srgbClr val="FFFFFF"/>
                </a:solidFill>
                <a:latin typeface="맑은 고딕"/>
                <a:ea typeface="맑은 고딕"/>
              </a:rPr>
              <a:t>1안 (OSS 확장)</a:t>
            </a:r>
          </a:p>
        </p:txBody>
      </p:sp>
      <p:sp>
        <p:nvSpPr>
          <p:cNvPr id="137" name="Rectangle 136"/>
          <p:cNvSpPr/>
          <p:nvPr/>
        </p:nvSpPr>
        <p:spPr>
          <a:xfrm>
            <a:off x="8485632" y="1280160"/>
            <a:ext cx="987552" cy="237744"/>
          </a:xfrm>
          <a:prstGeom prst="rect">
            <a:avLst/>
          </a:prstGeom>
          <a:solidFill>
            <a:srgbClr val="C55A11"/>
          </a:solidFill>
          <a:ln w="12700">
            <a:solidFill>
              <a:srgbClr val="C55A11"/>
            </a:solidFill>
          </a:ln>
          <a:effectLst/>
        </p:spPr>
        <p:txBody>
          <a:bodyPr rtlCol="0" anchor="ctr" wrap="square" lIns="36576" tIns="18288" rIns="36576" bIns="18288"/>
          <a:lstStyle/>
          <a:p>
            <a:pPr algn="ctr"/>
            <a:r>
              <a:rPr sz="800" b="1">
                <a:solidFill>
                  <a:srgbClr val="FFFFFF"/>
                </a:solidFill>
                <a:latin typeface="맑은 고딕"/>
                <a:ea typeface="맑은 고딕"/>
              </a:rPr>
              <a:t>2안 (자체)</a:t>
            </a:r>
          </a:p>
        </p:txBody>
      </p:sp>
      <p:sp>
        <p:nvSpPr>
          <p:cNvPr id="138" name="Rectangle 137"/>
          <p:cNvSpPr/>
          <p:nvPr/>
        </p:nvSpPr>
        <p:spPr>
          <a:xfrm>
            <a:off x="9473184" y="1280160"/>
            <a:ext cx="2523744" cy="237744"/>
          </a:xfrm>
          <a:prstGeom prst="rect">
            <a:avLst/>
          </a:prstGeom>
          <a:solidFill>
            <a:srgbClr val="404040"/>
          </a:solidFill>
          <a:ln w="12700">
            <a:solidFill>
              <a:srgbClr val="404040"/>
            </a:solidFill>
          </a:ln>
          <a:effectLst/>
        </p:spPr>
        <p:txBody>
          <a:bodyPr rtlCol="0" anchor="ctr" wrap="square" lIns="36576" tIns="18288" rIns="36576" bIns="18288"/>
          <a:lstStyle/>
          <a:p>
            <a:pPr algn="ctr"/>
            <a:r>
              <a:rPr sz="800" b="1">
                <a:solidFill>
                  <a:srgbClr val="FFFFFF"/>
                </a:solidFill>
                <a:latin typeface="맑은 고딕"/>
                <a:ea typeface="맑은 고딕"/>
              </a:rPr>
              <a:t>왜 (메커니즘 · 확정할 실험)</a:t>
            </a:r>
          </a:p>
        </p:txBody>
      </p:sp>
      <p:sp>
        <p:nvSpPr>
          <p:cNvPr id="139" name="Rectangle 138"/>
          <p:cNvSpPr/>
          <p:nvPr/>
        </p:nvSpPr>
        <p:spPr>
          <a:xfrm>
            <a:off x="6492240" y="1517904"/>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Q1 처리량</a:t>
            </a:r>
          </a:p>
        </p:txBody>
      </p:sp>
      <p:sp>
        <p:nvSpPr>
          <p:cNvPr id="140" name="Rectangle 139"/>
          <p:cNvSpPr/>
          <p:nvPr/>
        </p:nvSpPr>
        <p:spPr>
          <a:xfrm>
            <a:off x="7498079" y="1517904"/>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1" name="Rectangle 140"/>
          <p:cNvSpPr/>
          <p:nvPr/>
        </p:nvSpPr>
        <p:spPr>
          <a:xfrm>
            <a:off x="8485632" y="1517904"/>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2" name="Rectangle 141"/>
          <p:cNvSpPr/>
          <p:nvPr/>
        </p:nvSpPr>
        <p:spPr>
          <a:xfrm>
            <a:off x="9473184" y="1517904"/>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교차: 정상 부하·P/D 경로는 2안(P5 직접 전달), 과부하는 1안(흐름 제어 기본 제공). E4</a:t>
            </a:r>
          </a:p>
        </p:txBody>
      </p:sp>
      <p:sp>
        <p:nvSpPr>
          <p:cNvPr id="143" name="Rectangle 142"/>
          <p:cNvSpPr/>
          <p:nvPr/>
        </p:nvSpPr>
        <p:spPr>
          <a:xfrm>
            <a:off x="6492240" y="2139696"/>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Q2 지연 (TTFT)</a:t>
            </a:r>
          </a:p>
        </p:txBody>
      </p:sp>
      <p:sp>
        <p:nvSpPr>
          <p:cNvPr id="144" name="Rectangle 143"/>
          <p:cNvSpPr/>
          <p:nvPr/>
        </p:nvSpPr>
        <p:spPr>
          <a:xfrm>
            <a:off x="7498079" y="2139696"/>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5" name="Rectangle 144"/>
          <p:cNvSpPr/>
          <p:nvPr/>
        </p:nvSpPr>
        <p:spPr>
          <a:xfrm>
            <a:off x="8485632" y="2139696"/>
            <a:ext cx="987552" cy="621792"/>
          </a:xfrm>
          <a:prstGeom prst="rect">
            <a:avLst/>
          </a:prstGeom>
          <a:solidFill>
            <a:srgbClr val="FBE5D6"/>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46" name="Rectangle 145"/>
          <p:cNvSpPr/>
          <p:nvPr/>
        </p:nvSpPr>
        <p:spPr>
          <a:xfrm>
            <a:off x="9473184" y="2139696"/>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2안: 원격 호출 1회·보조 프로세스 경유 제거. 크기 미측정이라 가장 약한 근거. E1</a:t>
            </a:r>
          </a:p>
        </p:txBody>
      </p:sp>
      <p:sp>
        <p:nvSpPr>
          <p:cNvPr id="147" name="Rectangle 146"/>
          <p:cNvSpPr/>
          <p:nvPr/>
        </p:nvSpPr>
        <p:spPr>
          <a:xfrm>
            <a:off x="6492240" y="2761488"/>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Q3 변경 용이성</a:t>
            </a:r>
          </a:p>
        </p:txBody>
      </p:sp>
      <p:sp>
        <p:nvSpPr>
          <p:cNvPr id="148" name="Rectangle 147"/>
          <p:cNvSpPr/>
          <p:nvPr/>
        </p:nvSpPr>
        <p:spPr>
          <a:xfrm>
            <a:off x="7498079" y="2761488"/>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49" name="Rectangle 148"/>
          <p:cNvSpPr/>
          <p:nvPr/>
        </p:nvSpPr>
        <p:spPr>
          <a:xfrm>
            <a:off x="8485632" y="2761488"/>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0" name="Rectangle 149"/>
          <p:cNvSpPr/>
          <p:nvPr/>
        </p:nvSpPr>
        <p:spPr>
          <a:xfrm>
            <a:off x="9473184" y="2761488"/>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S1·S5·S6은 1안, S2·S3·S4는 2안 (3:3). 변경의 성격이 다름: 흡수 vs 통제</a:t>
            </a:r>
          </a:p>
        </p:txBody>
      </p:sp>
      <p:sp>
        <p:nvSpPr>
          <p:cNvPr id="151" name="Rectangle 150"/>
          <p:cNvSpPr/>
          <p:nvPr/>
        </p:nvSpPr>
        <p:spPr>
          <a:xfrm>
            <a:off x="6492240" y="3383280"/>
            <a:ext cx="1005840" cy="621792"/>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Q4 확장성</a:t>
            </a:r>
          </a:p>
        </p:txBody>
      </p:sp>
      <p:sp>
        <p:nvSpPr>
          <p:cNvPr id="152" name="Rectangle 151"/>
          <p:cNvSpPr/>
          <p:nvPr/>
        </p:nvSpPr>
        <p:spPr>
          <a:xfrm>
            <a:off x="7498079" y="3383280"/>
            <a:ext cx="987552" cy="621792"/>
          </a:xfrm>
          <a:prstGeom prst="rect">
            <a:avLst/>
          </a:prstGeom>
          <a:solidFill>
            <a:srgbClr val="DAE3F3"/>
          </a:solidFill>
          <a:ln w="6350">
            <a:solidFill>
              <a:srgbClr val="BFBFBF"/>
            </a:solidFill>
          </a:ln>
          <a:effectLst/>
        </p:spPr>
        <p:txBody>
          <a:bodyPr rtlCol="0" anchor="ctr" wrap="square" lIns="64008" tIns="27432" rIns="45720" bIns="27432"/>
          <a:lstStyle/>
          <a:p>
            <a:pPr algn="ctr"/>
            <a:r>
              <a:rPr sz="1200" b="1">
                <a:solidFill>
                  <a:srgbClr val="2F5597"/>
                </a:solidFill>
                <a:latin typeface="맑은 고딕"/>
                <a:ea typeface="맑은 고딕"/>
              </a:rPr>
              <a:t>●●●</a:t>
            </a:r>
          </a:p>
        </p:txBody>
      </p:sp>
      <p:sp>
        <p:nvSpPr>
          <p:cNvPr id="153" name="Rectangle 152"/>
          <p:cNvSpPr/>
          <p:nvPr/>
        </p:nvSpPr>
        <p:spPr>
          <a:xfrm>
            <a:off x="8485632" y="3383280"/>
            <a:ext cx="987552" cy="621792"/>
          </a:xfrm>
          <a:prstGeom prst="rect">
            <a:avLst/>
          </a:prstGeom>
          <a:solidFill>
            <a:srgbClr val="FFFFFF"/>
          </a:solidFill>
          <a:ln w="6350">
            <a:solidFill>
              <a:srgbClr val="BFBFBF"/>
            </a:solidFill>
          </a:ln>
          <a:effectLst/>
        </p:spPr>
        <p:txBody>
          <a:bodyPr rtlCol="0" anchor="ctr" wrap="square" lIns="64008" tIns="27432" rIns="45720" bIns="27432"/>
          <a:lstStyle/>
          <a:p>
            <a:pPr algn="ctr"/>
            <a:r>
              <a:rPr sz="1200" b="1">
                <a:solidFill>
                  <a:srgbClr val="C55A11"/>
                </a:solidFill>
                <a:latin typeface="맑은 고딕"/>
                <a:ea typeface="맑은 고딕"/>
              </a:rPr>
              <a:t>●●○</a:t>
            </a:r>
          </a:p>
        </p:txBody>
      </p:sp>
      <p:sp>
        <p:nvSpPr>
          <p:cNvPr id="154" name="Rectangle 153"/>
          <p:cNvSpPr/>
          <p:nvPr/>
        </p:nvSpPr>
        <p:spPr>
          <a:xfrm>
            <a:off x="9473184" y="3383280"/>
            <a:ext cx="2523744" cy="621792"/>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0">
                <a:solidFill>
                  <a:srgbClr val="000000"/>
                </a:solidFill>
                <a:latin typeface="맑은 고딕"/>
                <a:ea typeface="맑은 고딕"/>
              </a:rPr>
              <a:t>1안: K8s 복제·서버 풀·흐름 제어 검증됨. 2안: 레플리카·HA·sync 직접 구축, 2노드 실측 불가</a:t>
            </a:r>
          </a:p>
        </p:txBody>
      </p:sp>
      <p:sp>
        <p:nvSpPr>
          <p:cNvPr id="155" name="Rectangle 154"/>
          <p:cNvSpPr/>
          <p:nvPr/>
        </p:nvSpPr>
        <p:spPr>
          <a:xfrm>
            <a:off x="6492240" y="4005072"/>
            <a:ext cx="1005840" cy="310896"/>
          </a:xfrm>
          <a:prstGeom prst="rect">
            <a:avLst/>
          </a:prstGeom>
          <a:solidFill>
            <a:srgbClr val="F2F2F2"/>
          </a:solidFill>
          <a:ln w="6350">
            <a:solidFill>
              <a:srgbClr val="BFBFBF"/>
            </a:solidFill>
          </a:ln>
          <a:effectLst/>
        </p:spPr>
        <p:txBody>
          <a:bodyPr rtlCol="0" anchor="ctr" wrap="square" lIns="64008" tIns="27432" rIns="45720" bIns="27432"/>
          <a:lstStyle/>
          <a:p>
            <a:pPr algn="l"/>
            <a:r>
              <a:rPr sz="850" b="1">
                <a:solidFill>
                  <a:srgbClr val="000000"/>
                </a:solidFill>
                <a:latin typeface="맑은 고딕"/>
                <a:ea typeface="맑은 고딕"/>
              </a:rPr>
              <a:t>별 합계</a:t>
            </a:r>
          </a:p>
        </p:txBody>
      </p:sp>
      <p:sp>
        <p:nvSpPr>
          <p:cNvPr id="156" name="Rectangle 155"/>
          <p:cNvSpPr/>
          <p:nvPr/>
        </p:nvSpPr>
        <p:spPr>
          <a:xfrm>
            <a:off x="7498079" y="4005072"/>
            <a:ext cx="987552" cy="310896"/>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2F5597"/>
                </a:solidFill>
                <a:latin typeface="맑은 고딕"/>
                <a:ea typeface="맑은 고딕"/>
              </a:rPr>
              <a:t>9 / 12</a:t>
            </a:r>
          </a:p>
        </p:txBody>
      </p:sp>
      <p:sp>
        <p:nvSpPr>
          <p:cNvPr id="157" name="Rectangle 156"/>
          <p:cNvSpPr/>
          <p:nvPr/>
        </p:nvSpPr>
        <p:spPr>
          <a:xfrm>
            <a:off x="8485632" y="4005072"/>
            <a:ext cx="987552" cy="310896"/>
          </a:xfrm>
          <a:prstGeom prst="rect">
            <a:avLst/>
          </a:prstGeom>
          <a:solidFill>
            <a:srgbClr val="FFFFFF"/>
          </a:solidFill>
          <a:ln w="6350">
            <a:solidFill>
              <a:srgbClr val="BFBFBF"/>
            </a:solidFill>
          </a:ln>
          <a:effectLst/>
        </p:spPr>
        <p:txBody>
          <a:bodyPr rtlCol="0" anchor="ctr" wrap="square" lIns="64008" tIns="27432" rIns="45720" bIns="27432"/>
          <a:lstStyle/>
          <a:p>
            <a:pPr algn="ctr"/>
            <a:r>
              <a:rPr sz="1000" b="1">
                <a:solidFill>
                  <a:srgbClr val="C55A11"/>
                </a:solidFill>
                <a:latin typeface="맑은 고딕"/>
                <a:ea typeface="맑은 고딕"/>
              </a:rPr>
              <a:t>9 / 12</a:t>
            </a:r>
          </a:p>
        </p:txBody>
      </p:sp>
      <p:sp>
        <p:nvSpPr>
          <p:cNvPr id="158" name="Rectangle 157"/>
          <p:cNvSpPr/>
          <p:nvPr/>
        </p:nvSpPr>
        <p:spPr>
          <a:xfrm>
            <a:off x="9473184" y="4005072"/>
            <a:ext cx="2523744" cy="310896"/>
          </a:xfrm>
          <a:prstGeom prst="rect">
            <a:avLst/>
          </a:prstGeom>
          <a:solidFill>
            <a:srgbClr val="FFFFFF"/>
          </a:solidFill>
          <a:ln w="6350">
            <a:solidFill>
              <a:srgbClr val="BFBFBF"/>
            </a:solidFill>
          </a:ln>
          <a:effectLst/>
        </p:spPr>
        <p:txBody>
          <a:bodyPr rtlCol="0" anchor="ctr" wrap="square" lIns="64008" tIns="27432" rIns="45720" bIns="27432"/>
          <a:lstStyle/>
          <a:p>
            <a:pPr algn="l"/>
            <a:r>
              <a:rPr sz="750" b="1">
                <a:solidFill>
                  <a:srgbClr val="C00000"/>
                </a:solidFill>
                <a:latin typeface="맑은 고딕"/>
                <a:ea typeface="맑은 고딕"/>
              </a:rPr>
              <a:t>동점 → QA만으로는 우열 없음 (QA 우선순위 미정)</a:t>
            </a:r>
          </a:p>
        </p:txBody>
      </p:sp>
      <p:sp>
        <p:nvSpPr>
          <p:cNvPr id="159" name="TextBox 158"/>
          <p:cNvSpPr txBox="1"/>
          <p:nvPr/>
        </p:nvSpPr>
        <p:spPr>
          <a:xfrm>
            <a:off x="6492240" y="4389120"/>
            <a:ext cx="5504688" cy="182880"/>
          </a:xfrm>
          <a:prstGeom prst="rect">
            <a:avLst/>
          </a:prstGeom>
          <a:noFill/>
        </p:spPr>
        <p:txBody>
          <a:bodyPr wrap="square" anchor="t" lIns="0" tIns="0" rIns="0" bIns="0">
            <a:spAutoFit/>
          </a:bodyPr>
          <a:lstStyle/>
          <a:p>
            <a:pPr algn="l"/>
            <a:r>
              <a:rPr sz="850" b="1">
                <a:solidFill>
                  <a:srgbClr val="000000"/>
                </a:solidFill>
                <a:latin typeface="맑은 고딕"/>
                <a:ea typeface="맑은 고딕"/>
              </a:rPr>
              <a:t>QA 밖 비용 (프로젝트 제약)</a:t>
            </a:r>
          </a:p>
        </p:txBody>
      </p:sp>
      <p:sp>
        <p:nvSpPr>
          <p:cNvPr id="160" name="Rectangle 159"/>
          <p:cNvSpPr/>
          <p:nvPr/>
        </p:nvSpPr>
        <p:spPr>
          <a:xfrm>
            <a:off x="6492240" y="4590288"/>
            <a:ext cx="10058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구현·개발 부담</a:t>
            </a:r>
          </a:p>
        </p:txBody>
      </p:sp>
      <p:sp>
        <p:nvSpPr>
          <p:cNvPr id="161" name="Rectangle 160"/>
          <p:cNvSpPr/>
          <p:nvPr/>
        </p:nvSpPr>
        <p:spPr>
          <a:xfrm>
            <a:off x="7498079" y="4590288"/>
            <a:ext cx="449884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800" b="1">
                <a:solidFill>
                  <a:srgbClr val="2F5597"/>
                </a:solidFill>
                <a:latin typeface="맑은 고딕"/>
                <a:ea typeface="맑은 고딕"/>
              </a:rPr>
              <a:t>1안 유리 — 우리 소유 블록 3/6</a:t>
            </a:r>
            <a:r>
              <a:rPr sz="800" b="0">
                <a:solidFill>
                  <a:srgbClr val="7F7F7F"/>
                </a:solidFill>
                <a:latin typeface="맑은 고딕"/>
                <a:ea typeface="맑은 고딕"/>
              </a:rPr>
              <a:t>   |   </a:t>
            </a:r>
            <a:r>
              <a:rPr sz="800" b="0">
                <a:solidFill>
                  <a:srgbClr val="C55A11"/>
                </a:solidFill>
                <a:latin typeface="맑은 고딕"/>
                <a:ea typeface="맑은 고딕"/>
              </a:rPr>
              <a:t>2안 불리 — 6/6 + 레플리카·HA</a:t>
            </a:r>
          </a:p>
        </p:txBody>
      </p:sp>
      <p:sp>
        <p:nvSpPr>
          <p:cNvPr id="162" name="Rectangle 161"/>
          <p:cNvSpPr/>
          <p:nvPr/>
        </p:nvSpPr>
        <p:spPr>
          <a:xfrm>
            <a:off x="6492240" y="4919472"/>
            <a:ext cx="1005840" cy="329184"/>
          </a:xfrm>
          <a:prstGeom prst="rect">
            <a:avLst/>
          </a:prstGeom>
          <a:solidFill>
            <a:srgbClr val="F2F2F2"/>
          </a:solidFill>
          <a:ln w="6350">
            <a:solidFill>
              <a:srgbClr val="BFBFBF"/>
            </a:solidFill>
          </a:ln>
          <a:effectLst/>
        </p:spPr>
        <p:txBody>
          <a:bodyPr rtlCol="0" anchor="ctr" wrap="square" lIns="64008" tIns="27432" rIns="45720" bIns="27432"/>
          <a:lstStyle/>
          <a:p>
            <a:pPr algn="l"/>
            <a:r>
              <a:rPr sz="800" b="1">
                <a:solidFill>
                  <a:srgbClr val="000000"/>
                </a:solidFill>
                <a:latin typeface="맑은 고딕"/>
                <a:ea typeface="맑은 고딕"/>
              </a:rPr>
              <a:t>운영 환경 부담</a:t>
            </a:r>
          </a:p>
        </p:txBody>
      </p:sp>
      <p:sp>
        <p:nvSpPr>
          <p:cNvPr id="163" name="Rectangle 162"/>
          <p:cNvSpPr/>
          <p:nvPr/>
        </p:nvSpPr>
        <p:spPr>
          <a:xfrm>
            <a:off x="7498079" y="4919472"/>
            <a:ext cx="4498848" cy="329184"/>
          </a:xfrm>
          <a:prstGeom prst="rect">
            <a:avLst/>
          </a:prstGeom>
          <a:solidFill>
            <a:srgbClr val="FFFFFF"/>
          </a:solidFill>
          <a:ln w="6350">
            <a:solidFill>
              <a:srgbClr val="BFBFBF"/>
            </a:solidFill>
          </a:ln>
          <a:effectLst/>
        </p:spPr>
        <p:txBody>
          <a:bodyPr rtlCol="0" anchor="ctr" wrap="square" lIns="64008" tIns="27432" rIns="45720" bIns="27432"/>
          <a:lstStyle/>
          <a:p>
            <a:pPr algn="l"/>
            <a:r>
              <a:rPr sz="800" b="0">
                <a:solidFill>
                  <a:srgbClr val="2F5597"/>
                </a:solidFill>
                <a:latin typeface="맑은 고딕"/>
                <a:ea typeface="맑은 고딕"/>
              </a:rPr>
              <a:t>1안 불리 — K8s·프록시·자체 Router 이미지(C2)</a:t>
            </a:r>
            <a:r>
              <a:rPr sz="800" b="0">
                <a:solidFill>
                  <a:srgbClr val="7F7F7F"/>
                </a:solidFill>
                <a:latin typeface="맑은 고딕"/>
                <a:ea typeface="맑은 고딕"/>
              </a:rPr>
              <a:t>   |   </a:t>
            </a:r>
            <a:r>
              <a:rPr sz="800" b="1">
                <a:solidFill>
                  <a:srgbClr val="C55A11"/>
                </a:solidFill>
                <a:latin typeface="맑은 고딕"/>
                <a:ea typeface="맑은 고딕"/>
              </a:rPr>
              <a:t>2안 유리 — K8s·프록시 불필요</a:t>
            </a:r>
          </a:p>
        </p:txBody>
      </p:sp>
      <p:sp>
        <p:nvSpPr>
          <p:cNvPr id="164" name="Rectangle 163"/>
          <p:cNvSpPr/>
          <p:nvPr/>
        </p:nvSpPr>
        <p:spPr>
          <a:xfrm>
            <a:off x="246888" y="5468112"/>
            <a:ext cx="11750040" cy="786384"/>
          </a:xfrm>
          <a:prstGeom prst="rect">
            <a:avLst/>
          </a:prstGeom>
          <a:solidFill>
            <a:srgbClr val="FFFBEA"/>
          </a:solidFill>
          <a:ln w="12700">
            <a:solidFill>
              <a:srgbClr val="BF9000"/>
            </a:solidFill>
          </a:ln>
          <a:effectLst/>
        </p:spPr>
        <p:txBody>
          <a:bodyPr rtlCol="0" anchor="ctr"/>
          <a:lstStyle/>
          <a:p>
            <a:pPr algn="ctr"/>
          </a:p>
        </p:txBody>
      </p:sp>
      <p:sp>
        <p:nvSpPr>
          <p:cNvPr id="165" name="TextBox 164"/>
          <p:cNvSpPr txBox="1"/>
          <p:nvPr/>
        </p:nvSpPr>
        <p:spPr>
          <a:xfrm>
            <a:off x="338328" y="5513832"/>
            <a:ext cx="11567160" cy="841248"/>
          </a:xfrm>
          <a:prstGeom prst="rect">
            <a:avLst/>
          </a:prstGeom>
          <a:noFill/>
        </p:spPr>
        <p:txBody>
          <a:bodyPr wrap="square" anchor="t" lIns="0" tIns="0" rIns="0" bIns="0">
            <a:spAutoFit/>
          </a:bodyPr>
          <a:lstStyle/>
          <a:p>
            <a:pPr algn="l"/>
            <a:r>
              <a:rPr sz="950" b="1">
                <a:solidFill>
                  <a:srgbClr val="C00000"/>
                </a:solidFill>
                <a:latin typeface="맑은 고딕"/>
                <a:ea typeface="맑은 고딕"/>
              </a:rPr>
              <a:t>결론  </a:t>
            </a:r>
            <a:r>
              <a:rPr sz="950" b="1">
                <a:solidFill>
                  <a:srgbClr val="000000"/>
                </a:solidFill>
                <a:latin typeface="맑은 고딕"/>
                <a:ea typeface="맑은 고딕"/>
              </a:rPr>
              <a:t>QA 합계는 동점이고 비용 항목도 서로 반대 방향이므로 tradeoff가 성립한다. 한쪽이 지배하지 않는다.</a:t>
            </a:r>
          </a:p>
          <a:p>
            <a:pPr algn="l"/>
            <a:r>
              <a:rPr sz="850" b="0">
                <a:solidFill>
                  <a:srgbClr val="000000"/>
                </a:solidFill>
                <a:latin typeface="맑은 고딕"/>
                <a:ea typeface="맑은 고딕"/>
              </a:rPr>
              <a:t>· 기본 경로 = 1안(llm-d 확장): P1~P4를 실제 실행으로 확인한 [A] 경로가 있고, 2안은 설계안뿐이라 증거가 비대칭이다. 2안은 실험으로 확정되는 헤지로 둔다.</a:t>
            </a:r>
          </a:p>
          <a:p>
            <a:pPr algn="l"/>
            <a:r>
              <a:rPr sz="850" b="0">
                <a:solidFill>
                  <a:srgbClr val="000000"/>
                </a:solidFill>
                <a:latin typeface="맑은 고딕"/>
                <a:ea typeface="맑은 고딕"/>
              </a:rPr>
              <a:t>· 2안으로 전환: E1에서 hop 증분이 TTFT 목표 대비 허용 불가 · P/D 경로 P5가 성능에 필수인데 보조 프로세스 수정 유지가 불가 · QA 우선순위를 Latency 우선으로 확정할 때.</a:t>
            </a:r>
          </a:p>
          <a:p>
            <a:pPr algn="l"/>
            <a:r>
              <a:rPr sz="850" b="0">
                <a:solidFill>
                  <a:srgbClr val="000000"/>
                </a:solidFill>
                <a:latin typeface="맑은 고딕"/>
                <a:ea typeface="맑은 고딕"/>
              </a:rPr>
              <a:t>· 붕괴 조건: E1에서 hop 증분이 측정 잡음 수준이면 Q2가 동률이 되어 1안이 다시 지배한다. 2안의 레플리카 일관성 구현이 예상보다 크면 Q4가 ●○○로 내려간다.</a:t>
            </a:r>
          </a:p>
        </p:txBody>
      </p:sp>
      <p:sp>
        <p:nvSpPr>
          <p:cNvPr id="166" name="TextBox 165"/>
          <p:cNvSpPr txBox="1"/>
          <p:nvPr/>
        </p:nvSpPr>
        <p:spPr>
          <a:xfrm>
            <a:off x="246888" y="6309360"/>
            <a:ext cx="11750040" cy="128016"/>
          </a:xfrm>
          <a:prstGeom prst="rect">
            <a:avLst/>
          </a:prstGeom>
          <a:noFill/>
        </p:spPr>
        <p:txBody>
          <a:bodyPr wrap="square" anchor="t" lIns="0" tIns="0" rIns="0" bIns="0">
            <a:spAutoFit/>
          </a:bodyPr>
          <a:lstStyle/>
          <a:p>
            <a:pPr algn="l"/>
            <a:r>
              <a:rPr sz="700" b="0">
                <a:solidFill>
                  <a:srgbClr val="404040"/>
                </a:solidFill>
                <a:latin typeface="맑은 고딕"/>
                <a:ea typeface="맑은 고딕"/>
              </a:rPr>
              <a:t>※ ●●●=우수 ●○○=취약, 모두 구조 논증 기반 가설 [C]. 확정 실험: E1(결정 경로 지연) · E3(상태 신선도) · E4(end-to-end Goodput). 이전 평가(1안 10 vs 2안 8)와의 차이·사유는 설계 문서 §7.4 개정 기록.</a:t>
            </a:r>
          </a:p>
        </p:txBody>
      </p:sp>
    </p:spTree>
    <p:extLst>
      <p:ext uri="{BB962C8B-B14F-4D97-AF65-F5344CB8AC3E}">
        <p14:creationId xmlns:p14="http://schemas.microsoft.com/office/powerpoint/2010/main" val="339240157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3667</Words>
  <Application>Microsoft Office PowerPoint</Application>
  <PresentationFormat>와이드스크린</PresentationFormat>
  <Paragraphs>385</Paragraphs>
  <Slides>4</Slides>
  <Notes>4</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vt:i4>
      </vt:variant>
    </vt:vector>
  </HeadingPairs>
  <TitlesOfParts>
    <vt:vector size="8" baseType="lpstr">
      <vt:lpstr>맑은 고딕</vt:lpstr>
      <vt:lpstr>Arial</vt:lpstr>
      <vt:lpstr>Wingdings</vt:lpstr>
      <vt:lpstr>Office 테마</vt:lpstr>
      <vt:lpstr>DP0. 요청 조율 구조 (Orchestration) - 배경</vt:lpstr>
      <vt:lpstr>DP0. 여러 서버를 묶는 요청 조율 구조 - 배경</vt:lpstr>
      <vt:lpstr>DP0. 요청 조율 구조 - 요구사항</vt:lpstr>
      <vt:lpstr>DP0. 요청 조율 계층 (Orchestration) 설계</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DP0. 요청 조율 구조 (Orchestration) - 배경</dc:title>
  <dc:creator>Myeong Woo Kim</dc:creator>
  <cp:lastModifiedBy>Myeong Woo Kim</cp:lastModifiedBy>
  <cp:revision>1</cp:revision>
  <dcterms:created xsi:type="dcterms:W3CDTF">2026-10-06T13:08:44Z</dcterms:created>
  <dcterms:modified xsi:type="dcterms:W3CDTF">2026-10-06T13:09:01Z</dcterms:modified>
</cp:coreProperties>
</file>
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9" r:id="rId12"/>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6.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Strategy 패턴으로 갈아 끼웁니다. 점수·비용 함수·P/D 정책을 같은 인터페이스의 구현체로 두고 설정으로 교체하므로 Router 본체와 파이프라인은 그대로입니다.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P5 범위: 도식의 P5는 지시의 송신(오케스트레이션)입니다. 지시를 받아 실행하는 쪽은 vLLM(엔진)이고 두 안 공통 선결이며, P/D 보조 프로세스는 엔진이 아니라 오케스트레이션 소프트웨어입니다.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변경 용이성(Q3) 시나리오 S1~S6]</a:t>
            </a:r>
          </a:p>
          <a:p>
            <a:r>
              <a:t>변경 용이성은 요구가 바뀔 때 무엇을 얼마나 바꿔야 하는지로 잽니다. 변경 시나리오 6개를 두 안에 대어 봤습니다.</a:t>
            </a:r>
          </a:p>
          <a:p>
            <a:r>
              <a:t>1안이 앞서는 것은 S1(새 메모리 종류 추가: 설정 표에 이름만 추가), S5(vLLM·NIXL 계약 변경: 오픈소스가 대신 따라감), S6(신규 기능: 오픈소스가 제공)입니다. 환경 변화와 신기능을 오픈소스가 흡수해 주는 쪽입니다.</a:t>
            </a:r>
          </a:p>
          <a:p>
            <a:r>
              <a:t>2안이 앞서는 것은 S2(비용 함수 교체), S3(P/D 정책 교체), S4(노드 지시 추가)입니다. 우리 로직을 한 코드베이스에서 Strategy 구현체 교체로 바꾸기 때문에 오픈소스 구조의 제약(기존 모듈 동작 의존, 보조 프로세스 수정, 별도 이미지)을 받지 않습니다. 통제하는 쪽입니다.</a:t>
            </a:r>
          </a:p>
          <a:p>
            <a:r>
              <a:t>그래서 3 대 3으로 동등하고 별은 둘 다 ●●○입니다. 업스트림 추종(S5)과 신기능 확보(S6)는 변경·유지 용이성의 일부이므로 QA 안에 넣었고, 구현 부담과 증거 수준은 QA 밖 제약·리스크로 따로 둡니다.</a:t>
            </a:r>
          </a:p>
          <a:p>
            <a:r>
              <a:t>S4는 오케스트레이션 측 변경만 비교합니다. 새 지시 키를 vLLM이 이해하게 하는 변경은 어느 안이든 똑같이 필요한 공통 선결입니다.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2안을 최소 구성으로 그려서 1안이 사실상 지배하는 구조였습니다. 2안을 레플리카·etcd·흐름 제어를 포함한 같은 노력 수준으로 다시 설계했고, 변경 용이성은 원래 정의(S1~S6, 변경·유지 용이성)로 고정했습니다. 구현 부담·증거 수준 같은 제약·리스크는 QA가 아니라 별도로 병기합니다. 품질 속성은 완성된 시스템의 성질이고 비용은 그것을 만드는 자원이며, 증거 수준은 별점과 독립이라는 규칙이 있고, 유지 부담은 이미 변경 용이성 안에 있기 때문입니다. 별 경계와 QA 지표, 공통 QA 문서는 바꾸지 않았습니다.</a:t>
            </a:r>
          </a:p>
          <a:p>
            <a:r>
              <a:t>왼쪽은 설계 결정 세 개가 무엇을 얻고 잃는지입니다. D1 결정 위치는 지연 대 확장성, D2 P/D 조율 위치는 노드 지시·전역 시야 대 병목 회피, D3 기능 소유는 통제 대 흡수와 구현 부담입니다.</a:t>
            </a:r>
          </a:p>
          <a:p>
            <a:r>
              <a:t>오른쪽 QA 4개는 9 대 9 동점입니다. 처리량은 동등, 지연은 2안, 변경·유지 용이성은 동등(3 대 3), 확장성은 1안입니다. 동점이면 QA 우선순위가 정합니다. 우선순위는 Q1 처리량, Q2 지연, Q3 변경 용이성, Q4 확장성 순이고, 처음으로 갈리는 Q2 지연에서 2안이 앞서 2안을 선택합니다. 우선순위가 확장성 우선으로 뒤집히면 1안입니다.</a:t>
            </a:r>
          </a:p>
          <a:p>
            <a:r>
              <a:t>다만 지연 차이의 크기는 측정하지 못했습니다. 그래서 선택은 E1 확인 후 확정합니다. 1안에서 원격 호출 hop 증분을 재서 잡음 수준이면 지연이 동률이 되어 1안으로 돌아갑니다. 2안의 구현 부담(6/6)과 증거 수준(설계안)은 QA 밖이지만 표에 남기고 알고 감수합니다. 1안은 실행 확인된 경로라 fallback으로 유지합니다.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설계 - 구조·장단점</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 (2안은 Strategy 패턴 적용)</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438912"/>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438912"/>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438912"/>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0704"/>
            <a:ext cx="521208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280160"/>
            <a:ext cx="521208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0704"/>
            <a:ext cx="5303520" cy="201168"/>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한 프로세스 · Strategy 패턴 · 레플리카 확장)</a:t>
            </a:r>
          </a:p>
        </p:txBody>
      </p:sp>
      <p:sp>
        <p:nvSpPr>
          <p:cNvPr id="108" name="TextBox 107"/>
          <p:cNvSpPr txBox="1"/>
          <p:nvPr/>
        </p:nvSpPr>
        <p:spPr>
          <a:xfrm>
            <a:off x="6583680" y="1280160"/>
            <a:ext cx="5349240" cy="182880"/>
          </a:xfrm>
          <a:prstGeom prst="rect">
            <a:avLst/>
          </a:prstGeom>
          <a:noFill/>
        </p:spPr>
        <p:txBody>
          <a:bodyPr wrap="square" anchor="t" lIns="0" tIns="0" rIns="0" bIns="0">
            <a:spAutoFit/>
          </a:bodyPr>
          <a:lstStyle/>
          <a:p>
            <a:pPr algn="l"/>
            <a:r>
              <a:rPr sz="850" b="0">
                <a:solidFill>
                  <a:srgbClr val="404040"/>
                </a:solidFill>
                <a:latin typeface="맑은 고딕"/>
                <a:ea typeface="맑은 고딕"/>
              </a:rPr>
              <a:t>“결정·상태·P/D 조율을 한 프로세스에 모으고, 정책은 Strategy 패턴으로 갈아 끼우는 구조”</a:t>
            </a:r>
          </a:p>
        </p:txBody>
      </p:sp>
      <p:sp>
        <p:nvSpPr>
          <p:cNvPr id="109" name="Rectangle 108"/>
          <p:cNvSpPr/>
          <p:nvPr/>
        </p:nvSpPr>
        <p:spPr>
          <a:xfrm>
            <a:off x="246888" y="1481328"/>
            <a:ext cx="868680" cy="329184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481328"/>
            <a:ext cx="5394960" cy="3291840"/>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481328"/>
            <a:ext cx="5486399" cy="3291840"/>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587752"/>
            <a:ext cx="2971800" cy="0"/>
          </a:xfrm>
          <a:prstGeom prst="line">
            <a:avLst/>
          </a:prstGeom>
          <a:ln w="12700">
            <a:solidFill>
              <a:srgbClr val="404040"/>
            </a:solidFill>
            <a:tailEnd type="triangle"/>
          </a:ln>
        </p:spPr>
      </p:cxnSp>
      <p:sp>
        <p:nvSpPr>
          <p:cNvPr id="113" name="Rectangle 112"/>
          <p:cNvSpPr/>
          <p:nvPr/>
        </p:nvSpPr>
        <p:spPr>
          <a:xfrm>
            <a:off x="123444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039112"/>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03911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28600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377440"/>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514600"/>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547872"/>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547872"/>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794760"/>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3886200"/>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023360"/>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581912"/>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581912"/>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828800"/>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020824"/>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828800"/>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1905609"/>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020824"/>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020824"/>
            <a:ext cx="73152" cy="0"/>
          </a:xfrm>
          <a:prstGeom prst="line">
            <a:avLst/>
          </a:prstGeom>
          <a:ln w="15875">
            <a:solidFill>
              <a:srgbClr val="404040"/>
            </a:solidFill>
            <a:tailEnd type="triangle"/>
          </a:ln>
        </p:spPr>
      </p:cxnSp>
      <p:sp>
        <p:nvSpPr>
          <p:cNvPr id="133" name="Rectangle 132"/>
          <p:cNvSpPr/>
          <p:nvPr/>
        </p:nvSpPr>
        <p:spPr>
          <a:xfrm>
            <a:off x="2468880" y="2359152"/>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359152"/>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542032"/>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679192"/>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090672"/>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611880"/>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지시 송신</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212848"/>
            <a:ext cx="0" cy="146304"/>
          </a:xfrm>
          <a:prstGeom prst="line">
            <a:avLst/>
          </a:prstGeom>
          <a:ln w="15875">
            <a:solidFill>
              <a:srgbClr val="404040"/>
            </a:solidFill>
            <a:tailEnd type="triangle"/>
          </a:ln>
        </p:spPr>
      </p:cxnSp>
      <p:sp>
        <p:nvSpPr>
          <p:cNvPr id="140" name="Rectangle 139"/>
          <p:cNvSpPr/>
          <p:nvPr/>
        </p:nvSpPr>
        <p:spPr>
          <a:xfrm>
            <a:off x="4023360" y="2359152"/>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359152"/>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587752"/>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16382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730752"/>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2999232"/>
            <a:ext cx="128016" cy="0"/>
          </a:xfrm>
          <a:prstGeom prst="line">
            <a:avLst/>
          </a:prstGeom>
          <a:ln w="15875">
            <a:solidFill>
              <a:srgbClr val="404040"/>
            </a:solidFill>
            <a:tailEnd type="triangle"/>
          </a:ln>
        </p:spPr>
      </p:cxnSp>
      <p:sp>
        <p:nvSpPr>
          <p:cNvPr id="146" name="Oval 145"/>
          <p:cNvSpPr/>
          <p:nvPr/>
        </p:nvSpPr>
        <p:spPr>
          <a:xfrm>
            <a:off x="3881628" y="2784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581912"/>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5819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810512"/>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810512"/>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029968"/>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지시 송신</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724912"/>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410712"/>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410712"/>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639312"/>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810512"/>
            <a:ext cx="0" cy="228600"/>
          </a:xfrm>
          <a:prstGeom prst="line">
            <a:avLst/>
          </a:prstGeom>
          <a:ln w="15875">
            <a:solidFill>
              <a:srgbClr val="404040"/>
            </a:solidFill>
            <a:tailEnd type="triangle"/>
          </a:ln>
        </p:spPr>
      </p:cxnSp>
      <p:sp>
        <p:nvSpPr>
          <p:cNvPr id="157" name="Oval 156"/>
          <p:cNvSpPr/>
          <p:nvPr/>
        </p:nvSpPr>
        <p:spPr>
          <a:xfrm>
            <a:off x="1275588" y="185166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020824"/>
            <a:ext cx="438912" cy="384048"/>
          </a:xfrm>
          <a:prstGeom prst="line">
            <a:avLst/>
          </a:prstGeom>
          <a:ln w="15875">
            <a:solidFill>
              <a:srgbClr val="404040"/>
            </a:solidFill>
            <a:headEnd type="triangle"/>
            <a:tailEnd type="triangle"/>
          </a:ln>
        </p:spPr>
      </p:cxnSp>
      <p:sp>
        <p:nvSpPr>
          <p:cNvPr id="159" name="Oval 158"/>
          <p:cNvSpPr/>
          <p:nvPr/>
        </p:nvSpPr>
        <p:spPr>
          <a:xfrm>
            <a:off x="2208276" y="206197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5100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072384"/>
            <a:ext cx="0" cy="566928"/>
          </a:xfrm>
          <a:prstGeom prst="line">
            <a:avLst/>
          </a:prstGeom>
          <a:ln w="15875">
            <a:solidFill>
              <a:srgbClr val="404040"/>
            </a:solidFill>
            <a:headEnd type="triangle"/>
            <a:tailEnd type="triangle"/>
          </a:ln>
        </p:spPr>
      </p:cxnSp>
      <p:sp>
        <p:nvSpPr>
          <p:cNvPr id="162" name="Oval 161"/>
          <p:cNvSpPr/>
          <p:nvPr/>
        </p:nvSpPr>
        <p:spPr>
          <a:xfrm>
            <a:off x="579272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19582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005072"/>
            <a:ext cx="338328" cy="0"/>
          </a:xfrm>
          <a:prstGeom prst="line">
            <a:avLst/>
          </a:prstGeom>
          <a:ln w="15875">
            <a:solidFill>
              <a:srgbClr val="404040"/>
            </a:solidFill>
            <a:tailEnd type="triangle"/>
          </a:ln>
        </p:spPr>
      </p:cxnSp>
      <p:sp>
        <p:nvSpPr>
          <p:cNvPr id="165" name="Oval 164"/>
          <p:cNvSpPr/>
          <p:nvPr/>
        </p:nvSpPr>
        <p:spPr>
          <a:xfrm>
            <a:off x="4823460" y="3762756"/>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023360"/>
            <a:ext cx="246888" cy="0"/>
          </a:xfrm>
          <a:prstGeom prst="line">
            <a:avLst/>
          </a:prstGeom>
          <a:ln w="15875">
            <a:solidFill>
              <a:srgbClr val="404040"/>
            </a:solidFill>
            <a:prstDash val="dash"/>
            <a:tailEnd type="triangle"/>
          </a:ln>
        </p:spPr>
      </p:cxnSp>
      <p:sp>
        <p:nvSpPr>
          <p:cNvPr id="167" name="Oval 166"/>
          <p:cNvSpPr/>
          <p:nvPr/>
        </p:nvSpPr>
        <p:spPr>
          <a:xfrm>
            <a:off x="2199132" y="379018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6583680" y="1554480"/>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69" name="Rectangle 168"/>
          <p:cNvSpPr/>
          <p:nvPr/>
        </p:nvSpPr>
        <p:spPr>
          <a:xfrm>
            <a:off x="6583680" y="20391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0" name="Connector 169"/>
          <p:cNvCxnSpPr/>
          <p:nvPr/>
        </p:nvCxnSpPr>
        <p:spPr>
          <a:xfrm>
            <a:off x="6867144" y="1810512"/>
            <a:ext cx="0" cy="228600"/>
          </a:xfrm>
          <a:prstGeom prst="line">
            <a:avLst/>
          </a:prstGeom>
          <a:ln w="15875">
            <a:solidFill>
              <a:srgbClr val="404040"/>
            </a:solidFill>
            <a:tailEnd type="triangle"/>
          </a:ln>
        </p:spPr>
      </p:cxnSp>
      <p:sp>
        <p:nvSpPr>
          <p:cNvPr id="171" name="Oval 170"/>
          <p:cNvSpPr/>
          <p:nvPr/>
        </p:nvSpPr>
        <p:spPr>
          <a:xfrm>
            <a:off x="6643116" y="1842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2" name="Rectangle 171"/>
          <p:cNvSpPr/>
          <p:nvPr/>
        </p:nvSpPr>
        <p:spPr>
          <a:xfrm>
            <a:off x="6583680" y="3410712"/>
            <a:ext cx="566928"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00" b="0">
                <a:solidFill>
                  <a:srgbClr val="404040"/>
                </a:solidFill>
                <a:latin typeface="맑은 고딕"/>
                <a:ea typeface="맑은 고딕"/>
              </a:rPr>
              <a:t>Registry 저장소</a:t>
            </a:r>
          </a:p>
        </p:txBody>
      </p:sp>
      <p:sp>
        <p:nvSpPr>
          <p:cNvPr id="173" name="Rectangle 172"/>
          <p:cNvSpPr/>
          <p:nvPr/>
        </p:nvSpPr>
        <p:spPr>
          <a:xfrm>
            <a:off x="7242048" y="1536192"/>
            <a:ext cx="3566160" cy="2852928"/>
          </a:xfrm>
          <a:prstGeom prst="rect">
            <a:avLst/>
          </a:prstGeom>
          <a:solidFill>
            <a:srgbClr val="FFFFFF"/>
          </a:solidFill>
          <a:ln w="25400">
            <a:solidFill>
              <a:srgbClr val="C55A11"/>
            </a:solidFill>
          </a:ln>
          <a:effectLst/>
        </p:spPr>
        <p:txBody>
          <a:bodyPr rtlCol="0" anchor="ctr"/>
          <a:lstStyle/>
          <a:p>
            <a:pPr algn="ctr"/>
          </a:p>
        </p:txBody>
      </p:sp>
      <p:sp>
        <p:nvSpPr>
          <p:cNvPr id="174" name="Rectangle 173"/>
          <p:cNvSpPr/>
          <p:nvPr/>
        </p:nvSpPr>
        <p:spPr>
          <a:xfrm>
            <a:off x="7242048" y="1536192"/>
            <a:ext cx="3566160" cy="182880"/>
          </a:xfrm>
          <a:prstGeom prst="rect">
            <a:avLst/>
          </a:prstGeom>
          <a:solidFill>
            <a:srgbClr val="C55A11"/>
          </a:solidFill>
          <a:ln w="12700">
            <a:solidFill>
              <a:srgbClr val="C55A11"/>
            </a:solidFill>
          </a:ln>
          <a:effectLst/>
        </p:spPr>
        <p:txBody>
          <a:bodyPr rtlCol="0" anchor="ctr" wrap="square" lIns="45720" tIns="0" rIns="0" bIns="0"/>
          <a:lstStyle/>
          <a:p>
            <a:pPr algn="l"/>
            <a:r>
              <a:rPr sz="750" b="1">
                <a:solidFill>
                  <a:srgbClr val="FFFFFF"/>
                </a:solidFill>
                <a:latin typeface="맑은 고딕"/>
                <a:ea typeface="맑은 고딕"/>
              </a:rPr>
              <a:t>«process» Own Router  (한 프로세스)</a:t>
            </a:r>
          </a:p>
        </p:txBody>
      </p:sp>
      <p:sp>
        <p:nvSpPr>
          <p:cNvPr id="175" name="Rectangle 174"/>
          <p:cNvSpPr/>
          <p:nvPr/>
        </p:nvSpPr>
        <p:spPr>
          <a:xfrm>
            <a:off x="10104120" y="1563624"/>
            <a:ext cx="658368" cy="128016"/>
          </a:xfrm>
          <a:prstGeom prst="rect">
            <a:avLst/>
          </a:prstGeom>
          <a:solidFill>
            <a:srgbClr val="FFFFFF"/>
          </a:solidFill>
          <a:ln w="12700">
            <a:solidFill>
              <a:srgbClr val="FFFFFF"/>
            </a:solidFill>
          </a:ln>
          <a:effectLst/>
        </p:spPr>
        <p:txBody>
          <a:bodyPr rtlCol="0" anchor="ctr" wrap="square" lIns="0" tIns="0" rIns="0" bIns="0"/>
          <a:lstStyle/>
          <a:p>
            <a:pPr algn="ctr"/>
            <a:r>
              <a:rPr sz="650" b="1">
                <a:solidFill>
                  <a:srgbClr val="C55A11"/>
                </a:solidFill>
                <a:latin typeface="맑은 고딕"/>
                <a:ea typeface="맑은 고딕"/>
              </a:rPr>
              <a:t>×R 레플리카</a:t>
            </a:r>
          </a:p>
        </p:txBody>
      </p:sp>
      <p:cxnSp>
        <p:nvCxnSpPr>
          <p:cNvPr id="176" name="Connector 175"/>
          <p:cNvCxnSpPr/>
          <p:nvPr/>
        </p:nvCxnSpPr>
        <p:spPr>
          <a:xfrm flipV="1">
            <a:off x="7150608" y="1993392"/>
            <a:ext cx="182880" cy="237744"/>
          </a:xfrm>
          <a:prstGeom prst="line">
            <a:avLst/>
          </a:prstGeom>
          <a:ln w="12700">
            <a:solidFill>
              <a:srgbClr val="404040"/>
            </a:solidFill>
            <a:tailEnd type="triangle"/>
          </a:ln>
        </p:spPr>
      </p:cxnSp>
      <p:sp>
        <p:nvSpPr>
          <p:cNvPr id="177" name="Rectangle 176"/>
          <p:cNvSpPr/>
          <p:nvPr/>
        </p:nvSpPr>
        <p:spPr>
          <a:xfrm>
            <a:off x="7333488" y="1810512"/>
            <a:ext cx="713232"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A Ingress</a:t>
            </a:r>
          </a:p>
          <a:p>
            <a:pPr algn="ctr"/>
            <a:r>
              <a:rPr sz="650" b="0">
                <a:solidFill>
                  <a:srgbClr val="000000"/>
                </a:solidFill>
                <a:latin typeface="맑은 고딕"/>
                <a:ea typeface="맑은 고딕"/>
              </a:rPr>
              <a:t>요청 수신·중계</a:t>
            </a:r>
          </a:p>
        </p:txBody>
      </p:sp>
      <p:sp>
        <p:nvSpPr>
          <p:cNvPr id="178" name="Rectangle 177"/>
          <p:cNvSpPr/>
          <p:nvPr/>
        </p:nvSpPr>
        <p:spPr>
          <a:xfrm>
            <a:off x="8138160" y="1810512"/>
            <a:ext cx="658368"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650" b="0">
                <a:solidFill>
                  <a:srgbClr val="000000"/>
                </a:solidFill>
                <a:latin typeface="맑은 고딕"/>
                <a:ea typeface="맑은 고딕"/>
              </a:rPr>
              <a:t>admission</a:t>
            </a:r>
          </a:p>
        </p:txBody>
      </p:sp>
      <p:sp>
        <p:nvSpPr>
          <p:cNvPr id="179" name="Rectangle 178"/>
          <p:cNvSpPr/>
          <p:nvPr/>
        </p:nvSpPr>
        <p:spPr>
          <a:xfrm>
            <a:off x="8887968" y="1810512"/>
            <a:ext cx="841248"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B Selector</a:t>
            </a:r>
          </a:p>
          <a:p>
            <a:pPr algn="ctr"/>
            <a:r>
              <a:rPr sz="650" b="0">
                <a:solidFill>
                  <a:srgbClr val="000000"/>
                </a:solidFill>
                <a:latin typeface="맑은 고딕"/>
                <a:ea typeface="맑은 고딕"/>
              </a:rPr>
              <a:t>후보 서버 선택</a:t>
            </a:r>
          </a:p>
        </p:txBody>
      </p:sp>
      <p:sp>
        <p:nvSpPr>
          <p:cNvPr id="180" name="Rectangle 179"/>
          <p:cNvSpPr/>
          <p:nvPr/>
        </p:nvSpPr>
        <p:spPr>
          <a:xfrm>
            <a:off x="9820656" y="1810512"/>
            <a:ext cx="822960"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E P/D 조율</a:t>
            </a:r>
          </a:p>
          <a:p>
            <a:pPr algn="ctr"/>
            <a:r>
              <a:rPr sz="650" b="0">
                <a:solidFill>
                  <a:srgbClr val="000000"/>
                </a:solidFill>
                <a:latin typeface="맑은 고딕"/>
                <a:ea typeface="맑은 고딕"/>
              </a:rPr>
              <a:t>P5 지시 송신</a:t>
            </a:r>
          </a:p>
        </p:txBody>
      </p:sp>
      <p:cxnSp>
        <p:nvCxnSpPr>
          <p:cNvPr id="181" name="Connector 180"/>
          <p:cNvCxnSpPr/>
          <p:nvPr/>
        </p:nvCxnSpPr>
        <p:spPr>
          <a:xfrm>
            <a:off x="8046720" y="2002536"/>
            <a:ext cx="91440" cy="0"/>
          </a:xfrm>
          <a:prstGeom prst="line">
            <a:avLst/>
          </a:prstGeom>
          <a:ln w="15875">
            <a:solidFill>
              <a:srgbClr val="C55A11"/>
            </a:solidFill>
            <a:tailEnd type="triangle"/>
          </a:ln>
        </p:spPr>
      </p:cxnSp>
      <p:cxnSp>
        <p:nvCxnSpPr>
          <p:cNvPr id="182" name="Connector 181"/>
          <p:cNvCxnSpPr/>
          <p:nvPr/>
        </p:nvCxnSpPr>
        <p:spPr>
          <a:xfrm>
            <a:off x="8796528" y="2002536"/>
            <a:ext cx="91440" cy="0"/>
          </a:xfrm>
          <a:prstGeom prst="line">
            <a:avLst/>
          </a:prstGeom>
          <a:ln w="15875">
            <a:solidFill>
              <a:srgbClr val="C55A11"/>
            </a:solidFill>
            <a:tailEnd type="triangle"/>
          </a:ln>
        </p:spPr>
      </p:cxnSp>
      <p:cxnSp>
        <p:nvCxnSpPr>
          <p:cNvPr id="183" name="Connector 182"/>
          <p:cNvCxnSpPr/>
          <p:nvPr/>
        </p:nvCxnSpPr>
        <p:spPr>
          <a:xfrm>
            <a:off x="9729216" y="2002536"/>
            <a:ext cx="91440" cy="0"/>
          </a:xfrm>
          <a:prstGeom prst="line">
            <a:avLst/>
          </a:prstGeom>
          <a:ln w="15875">
            <a:solidFill>
              <a:srgbClr val="C55A11"/>
            </a:solidFill>
            <a:tailEnd type="triangle"/>
          </a:ln>
        </p:spPr>
      </p:cxnSp>
      <p:sp>
        <p:nvSpPr>
          <p:cNvPr id="184" name="Oval 183"/>
          <p:cNvSpPr/>
          <p:nvPr/>
        </p:nvSpPr>
        <p:spPr>
          <a:xfrm>
            <a:off x="8014715" y="171450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85" name="Rectangle 184"/>
          <p:cNvSpPr/>
          <p:nvPr/>
        </p:nvSpPr>
        <p:spPr>
          <a:xfrm>
            <a:off x="8366760" y="2450592"/>
            <a:ext cx="1828800" cy="384048"/>
          </a:xfrm>
          <a:prstGeom prst="rect">
            <a:avLst/>
          </a:prstGeom>
          <a:solidFill>
            <a:srgbClr val="EDE7F6"/>
          </a:solidFill>
          <a:ln w="22225">
            <a:solidFill>
              <a:srgbClr val="5E35B1"/>
            </a:solidFill>
          </a:ln>
          <a:effectLst/>
        </p:spPr>
        <p:txBody>
          <a:bodyPr rtlCol="0" anchor="ctr" wrap="square" lIns="36576" tIns="18288" rIns="36576" bIns="18288"/>
          <a:lstStyle/>
          <a:p>
            <a:pPr algn="ctr"/>
            <a:r>
              <a:rPr sz="750" b="1">
                <a:solidFill>
                  <a:srgbClr val="5E35B1"/>
                </a:solidFill>
                <a:latin typeface="맑은 고딕"/>
                <a:ea typeface="맑은 고딕"/>
              </a:rPr>
              <a:t>«interface» ScoreStrategy</a:t>
            </a:r>
          </a:p>
          <a:p>
            <a:pPr algn="ctr"/>
            <a:r>
              <a:rPr sz="700" b="0">
                <a:solidFill>
                  <a:srgbClr val="000000"/>
                </a:solidFill>
                <a:latin typeface="맑은 고딕"/>
                <a:ea typeface="맑은 고딕"/>
              </a:rPr>
              <a:t>score(요청, 상태)</a:t>
            </a:r>
          </a:p>
        </p:txBody>
      </p:sp>
      <p:cxnSp>
        <p:nvCxnSpPr>
          <p:cNvPr id="186" name="Connector 185"/>
          <p:cNvCxnSpPr/>
          <p:nvPr/>
        </p:nvCxnSpPr>
        <p:spPr>
          <a:xfrm>
            <a:off x="9308592" y="2194560"/>
            <a:ext cx="0" cy="256032"/>
          </a:xfrm>
          <a:prstGeom prst="line">
            <a:avLst/>
          </a:prstGeom>
          <a:ln w="19050">
            <a:solidFill>
              <a:srgbClr val="5E35B1"/>
            </a:solidFill>
            <a:tailEnd type="triangle"/>
          </a:ln>
        </p:spPr>
      </p:cxnSp>
      <p:sp>
        <p:nvSpPr>
          <p:cNvPr id="187" name="TextBox 186"/>
          <p:cNvSpPr txBox="1"/>
          <p:nvPr/>
        </p:nvSpPr>
        <p:spPr>
          <a:xfrm>
            <a:off x="9363456" y="2249424"/>
            <a:ext cx="822960" cy="128016"/>
          </a:xfrm>
          <a:prstGeom prst="rect">
            <a:avLst/>
          </a:prstGeom>
          <a:noFill/>
        </p:spPr>
        <p:txBody>
          <a:bodyPr wrap="square" anchor="t" lIns="0" tIns="0" rIns="0" bIns="0">
            <a:spAutoFit/>
          </a:bodyPr>
          <a:lstStyle/>
          <a:p>
            <a:pPr algn="l"/>
            <a:r>
              <a:rPr sz="650" b="1">
                <a:solidFill>
                  <a:srgbClr val="5E35B1"/>
                </a:solidFill>
                <a:latin typeface="맑은 고딕"/>
                <a:ea typeface="맑은 고딕"/>
              </a:rPr>
              <a:t>uses</a:t>
            </a:r>
          </a:p>
        </p:txBody>
      </p:sp>
      <p:sp>
        <p:nvSpPr>
          <p:cNvPr id="188" name="Isosceles Triangle 187"/>
          <p:cNvSpPr/>
          <p:nvPr/>
        </p:nvSpPr>
        <p:spPr>
          <a:xfrm>
            <a:off x="9235440" y="2834640"/>
            <a:ext cx="146304" cy="128016"/>
          </a:xfrm>
          <a:prstGeom prst="triangle">
            <a:avLst/>
          </a:prstGeom>
          <a:solidFill>
            <a:srgbClr val="FFFFFF"/>
          </a:solidFill>
          <a:ln w="15875">
            <a:solidFill>
              <a:srgbClr val="5E35B1"/>
            </a:solidFill>
          </a:ln>
          <a:effectLst/>
        </p:spPr>
        <p:txBody>
          <a:bodyPr rtlCol="0" anchor="ctr"/>
          <a:lstStyle/>
          <a:p>
            <a:pPr algn="ctr"/>
          </a:p>
        </p:txBody>
      </p:sp>
      <p:sp>
        <p:nvSpPr>
          <p:cNvPr id="189" name="TextBox 188"/>
          <p:cNvSpPr txBox="1"/>
          <p:nvPr/>
        </p:nvSpPr>
        <p:spPr>
          <a:xfrm>
            <a:off x="9509760" y="2843784"/>
            <a:ext cx="1097280" cy="128016"/>
          </a:xfrm>
          <a:prstGeom prst="rect">
            <a:avLst/>
          </a:prstGeom>
          <a:noFill/>
        </p:spPr>
        <p:txBody>
          <a:bodyPr wrap="square" anchor="t" lIns="0" tIns="0" rIns="0" bIns="0">
            <a:spAutoFit/>
          </a:bodyPr>
          <a:lstStyle/>
          <a:p>
            <a:pPr algn="l"/>
            <a:r>
              <a:rPr sz="650" b="1">
                <a:solidFill>
                  <a:srgbClr val="5E35B1"/>
                </a:solidFill>
                <a:latin typeface="맑은 고딕"/>
                <a:ea typeface="맑은 고딕"/>
              </a:rPr>
              <a:t>implements (구현)</a:t>
            </a:r>
          </a:p>
        </p:txBody>
      </p:sp>
      <p:cxnSp>
        <p:nvCxnSpPr>
          <p:cNvPr id="190" name="Connector 189"/>
          <p:cNvCxnSpPr/>
          <p:nvPr/>
        </p:nvCxnSpPr>
        <p:spPr>
          <a:xfrm>
            <a:off x="8343900" y="3054096"/>
            <a:ext cx="1956816" cy="0"/>
          </a:xfrm>
          <a:prstGeom prst="line">
            <a:avLst/>
          </a:prstGeom>
          <a:ln w="12700">
            <a:solidFill>
              <a:srgbClr val="5E35B1"/>
            </a:solidFill>
            <a:prstDash val="dash"/>
          </a:ln>
        </p:spPr>
      </p:cxnSp>
      <p:cxnSp>
        <p:nvCxnSpPr>
          <p:cNvPr id="191" name="Connector 190"/>
          <p:cNvCxnSpPr/>
          <p:nvPr/>
        </p:nvCxnSpPr>
        <p:spPr>
          <a:xfrm flipV="1">
            <a:off x="9308592" y="2962656"/>
            <a:ext cx="0" cy="91440"/>
          </a:xfrm>
          <a:prstGeom prst="line">
            <a:avLst/>
          </a:prstGeom>
          <a:ln w="12700">
            <a:solidFill>
              <a:srgbClr val="5E35B1"/>
            </a:solidFill>
            <a:prstDash val="dash"/>
            <a:tailEnd type="triangle"/>
          </a:ln>
        </p:spPr>
      </p:cxnSp>
      <p:cxnSp>
        <p:nvCxnSpPr>
          <p:cNvPr id="192" name="Connector 191"/>
          <p:cNvCxnSpPr/>
          <p:nvPr/>
        </p:nvCxnSpPr>
        <p:spPr>
          <a:xfrm flipV="1">
            <a:off x="8343900" y="3054096"/>
            <a:ext cx="0" cy="109728"/>
          </a:xfrm>
          <a:prstGeom prst="line">
            <a:avLst/>
          </a:prstGeom>
          <a:ln w="12700">
            <a:solidFill>
              <a:srgbClr val="5E35B1"/>
            </a:solidFill>
            <a:prstDash val="dash"/>
          </a:ln>
        </p:spPr>
      </p:cxnSp>
      <p:sp>
        <p:nvSpPr>
          <p:cNvPr id="193" name="Rectangle 192"/>
          <p:cNvSpPr/>
          <p:nvPr/>
        </p:nvSpPr>
        <p:spPr>
          <a:xfrm>
            <a:off x="7909560" y="3163824"/>
            <a:ext cx="868680"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P1 TierWeight</a:t>
            </a:r>
          </a:p>
          <a:p>
            <a:pPr algn="ctr"/>
            <a:r>
              <a:rPr sz="650" b="0">
                <a:solidFill>
                  <a:srgbClr val="000000"/>
                </a:solidFill>
                <a:latin typeface="맑은 고딕"/>
                <a:ea typeface="맑은 고딕"/>
              </a:rPr>
              <a:t>메모리 종류 가중치</a:t>
            </a:r>
          </a:p>
        </p:txBody>
      </p:sp>
      <p:cxnSp>
        <p:nvCxnSpPr>
          <p:cNvPr id="194" name="Connector 193"/>
          <p:cNvCxnSpPr/>
          <p:nvPr/>
        </p:nvCxnSpPr>
        <p:spPr>
          <a:xfrm flipV="1">
            <a:off x="9322308" y="3054096"/>
            <a:ext cx="0" cy="109728"/>
          </a:xfrm>
          <a:prstGeom prst="line">
            <a:avLst/>
          </a:prstGeom>
          <a:ln w="12700">
            <a:solidFill>
              <a:srgbClr val="5E35B1"/>
            </a:solidFill>
            <a:prstDash val="dash"/>
          </a:ln>
        </p:spPr>
      </p:cxnSp>
      <p:sp>
        <p:nvSpPr>
          <p:cNvPr id="195" name="Rectangle 194"/>
          <p:cNvSpPr/>
          <p:nvPr/>
        </p:nvSpPr>
        <p:spPr>
          <a:xfrm>
            <a:off x="8887968" y="3163824"/>
            <a:ext cx="868680"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P2 LiveState</a:t>
            </a:r>
          </a:p>
          <a:p>
            <a:pPr algn="ctr"/>
            <a:r>
              <a:rPr sz="650" b="0">
                <a:solidFill>
                  <a:srgbClr val="000000"/>
                </a:solidFill>
                <a:latin typeface="맑은 고딕"/>
                <a:ea typeface="맑은 고딕"/>
              </a:rPr>
              <a:t>실시간 상태 반영</a:t>
            </a:r>
          </a:p>
        </p:txBody>
      </p:sp>
      <p:cxnSp>
        <p:nvCxnSpPr>
          <p:cNvPr id="196" name="Connector 195"/>
          <p:cNvCxnSpPr/>
          <p:nvPr/>
        </p:nvCxnSpPr>
        <p:spPr>
          <a:xfrm flipV="1">
            <a:off x="10300716" y="3054096"/>
            <a:ext cx="0" cy="109728"/>
          </a:xfrm>
          <a:prstGeom prst="line">
            <a:avLst/>
          </a:prstGeom>
          <a:ln w="12700">
            <a:solidFill>
              <a:srgbClr val="5E35B1"/>
            </a:solidFill>
            <a:prstDash val="dash"/>
          </a:ln>
        </p:spPr>
      </p:cxnSp>
      <p:sp>
        <p:nvSpPr>
          <p:cNvPr id="197" name="Rectangle 196"/>
          <p:cNvSpPr/>
          <p:nvPr/>
        </p:nvSpPr>
        <p:spPr>
          <a:xfrm>
            <a:off x="9866376" y="3163824"/>
            <a:ext cx="868680" cy="3840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P3 CostBased</a:t>
            </a:r>
          </a:p>
          <a:p>
            <a:pPr algn="ctr"/>
            <a:r>
              <a:rPr sz="650" b="0">
                <a:solidFill>
                  <a:srgbClr val="000000"/>
                </a:solidFill>
                <a:latin typeface="맑은 고딕"/>
                <a:ea typeface="맑은 고딕"/>
              </a:rPr>
              <a:t>비용 기반 점수</a:t>
            </a:r>
          </a:p>
        </p:txBody>
      </p:sp>
      <p:sp>
        <p:nvSpPr>
          <p:cNvPr id="198" name="TextBox 197"/>
          <p:cNvSpPr txBox="1"/>
          <p:nvPr/>
        </p:nvSpPr>
        <p:spPr>
          <a:xfrm>
            <a:off x="7406640" y="3584448"/>
            <a:ext cx="2651760" cy="128016"/>
          </a:xfrm>
          <a:prstGeom prst="rect">
            <a:avLst/>
          </a:prstGeom>
          <a:noFill/>
        </p:spPr>
        <p:txBody>
          <a:bodyPr wrap="square" anchor="t" lIns="0" tIns="0" rIns="0" bIns="0">
            <a:spAutoFit/>
          </a:bodyPr>
          <a:lstStyle/>
          <a:p>
            <a:pPr algn="l"/>
            <a:r>
              <a:rPr sz="650" b="1">
                <a:solidFill>
                  <a:srgbClr val="5E35B1"/>
                </a:solidFill>
                <a:latin typeface="맑은 고딕"/>
                <a:ea typeface="맑은 고딕"/>
              </a:rPr>
              <a:t>«Strategy» 구현체만 교체 · P4(P/D 판단)도 같은 방식</a:t>
            </a:r>
          </a:p>
        </p:txBody>
      </p:sp>
      <p:sp>
        <p:nvSpPr>
          <p:cNvPr id="199" name="Rectangle 198"/>
          <p:cNvSpPr/>
          <p:nvPr/>
        </p:nvSpPr>
        <p:spPr>
          <a:xfrm>
            <a:off x="7333488" y="3776472"/>
            <a:ext cx="128016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F 서버 발견</a:t>
            </a:r>
          </a:p>
          <a:p>
            <a:pPr algn="ctr"/>
            <a:r>
              <a:rPr sz="650" b="0">
                <a:solidFill>
                  <a:srgbClr val="000000"/>
                </a:solidFill>
                <a:latin typeface="맑은 고딕"/>
                <a:ea typeface="맑은 고딕"/>
              </a:rPr>
              <a:t>etcd watch</a:t>
            </a:r>
          </a:p>
        </p:txBody>
      </p:sp>
      <p:sp>
        <p:nvSpPr>
          <p:cNvPr id="200" name="Rectangle 199"/>
          <p:cNvSpPr/>
          <p:nvPr/>
        </p:nvSpPr>
        <p:spPr>
          <a:xfrm>
            <a:off x="8778240" y="3776472"/>
            <a:ext cx="1737360" cy="457200"/>
          </a:xfrm>
          <a:prstGeom prst="rect">
            <a:avLst/>
          </a:prstGeom>
          <a:solidFill>
            <a:srgbClr val="FBE5D6"/>
          </a:solidFill>
          <a:ln w="1905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C 상태 저장소</a:t>
            </a:r>
          </a:p>
          <a:p>
            <a:pPr algn="ctr"/>
            <a:r>
              <a:rPr sz="650" b="0">
                <a:solidFill>
                  <a:srgbClr val="000000"/>
                </a:solidFill>
                <a:latin typeface="맑은 고딕"/>
                <a:ea typeface="맑은 고딕"/>
              </a:rPr>
              <a:t>KV index · 메트릭 (정책이 조회)</a:t>
            </a:r>
          </a:p>
        </p:txBody>
      </p:sp>
      <p:cxnSp>
        <p:nvCxnSpPr>
          <p:cNvPr id="201" name="Connector 200"/>
          <p:cNvCxnSpPr/>
          <p:nvPr/>
        </p:nvCxnSpPr>
        <p:spPr>
          <a:xfrm flipV="1">
            <a:off x="10287000" y="3547872"/>
            <a:ext cx="0" cy="228600"/>
          </a:xfrm>
          <a:prstGeom prst="line">
            <a:avLst/>
          </a:prstGeom>
          <a:ln w="15875">
            <a:solidFill>
              <a:srgbClr val="C55A11"/>
            </a:solidFill>
            <a:tailEnd type="triangle"/>
          </a:ln>
        </p:spPr>
      </p:cxnSp>
      <p:sp>
        <p:nvSpPr>
          <p:cNvPr id="202" name="Oval 201"/>
          <p:cNvSpPr/>
          <p:nvPr/>
        </p:nvSpPr>
        <p:spPr>
          <a:xfrm>
            <a:off x="10392155" y="3598163"/>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03" name="Connector 202"/>
          <p:cNvCxnSpPr/>
          <p:nvPr/>
        </p:nvCxnSpPr>
        <p:spPr>
          <a:xfrm>
            <a:off x="7150608" y="3547872"/>
            <a:ext cx="182880" cy="320040"/>
          </a:xfrm>
          <a:prstGeom prst="line">
            <a:avLst/>
          </a:prstGeom>
          <a:ln w="12700">
            <a:solidFill>
              <a:srgbClr val="C55A11"/>
            </a:solidFill>
            <a:prstDash val="dash"/>
            <a:tailEnd type="triangle"/>
          </a:ln>
        </p:spPr>
      </p:cxnSp>
      <p:sp>
        <p:nvSpPr>
          <p:cNvPr id="204" name="Oval 203"/>
          <p:cNvSpPr/>
          <p:nvPr/>
        </p:nvSpPr>
        <p:spPr>
          <a:xfrm>
            <a:off x="7164324" y="361645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cxnSp>
        <p:nvCxnSpPr>
          <p:cNvPr id="205" name="Connector 204"/>
          <p:cNvCxnSpPr/>
          <p:nvPr/>
        </p:nvCxnSpPr>
        <p:spPr>
          <a:xfrm>
            <a:off x="8613648" y="4005072"/>
            <a:ext cx="164592" cy="0"/>
          </a:xfrm>
          <a:prstGeom prst="line">
            <a:avLst/>
          </a:prstGeom>
          <a:ln w="12700">
            <a:solidFill>
              <a:srgbClr val="C55A11"/>
            </a:solidFill>
            <a:prstDash val="dash"/>
            <a:tailEnd type="triangle"/>
          </a:ln>
        </p:spPr>
      </p:cxnSp>
      <p:sp>
        <p:nvSpPr>
          <p:cNvPr id="206" name="Rectangle 205"/>
          <p:cNvSpPr/>
          <p:nvPr/>
        </p:nvSpPr>
        <p:spPr>
          <a:xfrm>
            <a:off x="10954512" y="1536192"/>
            <a:ext cx="914400" cy="1234440"/>
          </a:xfrm>
          <a:prstGeom prst="rect">
            <a:avLst/>
          </a:prstGeom>
          <a:solidFill>
            <a:srgbClr val="FFFFFF"/>
          </a:solidFill>
          <a:ln w="15875">
            <a:solidFill>
              <a:srgbClr val="7F7F7F"/>
            </a:solidFill>
          </a:ln>
          <a:effectLst/>
        </p:spPr>
        <p:txBody>
          <a:bodyPr rtlCol="0" anchor="ctr"/>
          <a:lstStyle/>
          <a:p>
            <a:pPr algn="ctr"/>
          </a:p>
        </p:txBody>
      </p:sp>
      <p:sp>
        <p:nvSpPr>
          <p:cNvPr id="207" name="Rectangle 206"/>
          <p:cNvSpPr/>
          <p:nvPr/>
        </p:nvSpPr>
        <p:spPr>
          <a:xfrm>
            <a:off x="10954512" y="153619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08" name="Rectangle 207"/>
          <p:cNvSpPr/>
          <p:nvPr/>
        </p:nvSpPr>
        <p:spPr>
          <a:xfrm>
            <a:off x="11009376" y="1764792"/>
            <a:ext cx="804672"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09" name="Rectangle 208"/>
          <p:cNvSpPr/>
          <p:nvPr/>
        </p:nvSpPr>
        <p:spPr>
          <a:xfrm>
            <a:off x="10954512" y="2999232"/>
            <a:ext cx="914400" cy="1371600"/>
          </a:xfrm>
          <a:prstGeom prst="rect">
            <a:avLst/>
          </a:prstGeom>
          <a:solidFill>
            <a:srgbClr val="FFFFFF"/>
          </a:solidFill>
          <a:ln w="15875">
            <a:solidFill>
              <a:srgbClr val="7F7F7F"/>
            </a:solidFill>
          </a:ln>
          <a:effectLst/>
        </p:spPr>
        <p:txBody>
          <a:bodyPr rtlCol="0" anchor="ctr"/>
          <a:lstStyle/>
          <a:p>
            <a:pPr algn="ctr"/>
          </a:p>
        </p:txBody>
      </p:sp>
      <p:sp>
        <p:nvSpPr>
          <p:cNvPr id="210" name="Rectangle 209"/>
          <p:cNvSpPr/>
          <p:nvPr/>
        </p:nvSpPr>
        <p:spPr>
          <a:xfrm>
            <a:off x="10954512" y="2999232"/>
            <a:ext cx="91440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11" name="Rectangle 210"/>
          <p:cNvSpPr/>
          <p:nvPr/>
        </p:nvSpPr>
        <p:spPr>
          <a:xfrm>
            <a:off x="11009376" y="3227832"/>
            <a:ext cx="804672" cy="107899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12" name="Connector 211"/>
          <p:cNvCxnSpPr/>
          <p:nvPr/>
        </p:nvCxnSpPr>
        <p:spPr>
          <a:xfrm>
            <a:off x="11411712" y="2770632"/>
            <a:ext cx="0" cy="457200"/>
          </a:xfrm>
          <a:prstGeom prst="line">
            <a:avLst/>
          </a:prstGeom>
          <a:ln w="15875">
            <a:solidFill>
              <a:srgbClr val="404040"/>
            </a:solidFill>
            <a:headEnd type="triangle"/>
            <a:tailEnd type="triangle"/>
          </a:ln>
        </p:spPr>
      </p:cxnSp>
      <p:sp>
        <p:nvSpPr>
          <p:cNvPr id="213" name="Oval 212"/>
          <p:cNvSpPr/>
          <p:nvPr/>
        </p:nvSpPr>
        <p:spPr>
          <a:xfrm>
            <a:off x="11553443" y="279349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14" name="Connector 213"/>
          <p:cNvCxnSpPr/>
          <p:nvPr/>
        </p:nvCxnSpPr>
        <p:spPr>
          <a:xfrm>
            <a:off x="10643616" y="2002536"/>
            <a:ext cx="365760" cy="173736"/>
          </a:xfrm>
          <a:prstGeom prst="line">
            <a:avLst/>
          </a:prstGeom>
          <a:ln w="15875">
            <a:solidFill>
              <a:srgbClr val="404040"/>
            </a:solidFill>
            <a:tailEnd type="triangle"/>
          </a:ln>
        </p:spPr>
      </p:cxnSp>
      <p:sp>
        <p:nvSpPr>
          <p:cNvPr id="215" name="Oval 214"/>
          <p:cNvSpPr/>
          <p:nvPr/>
        </p:nvSpPr>
        <p:spPr>
          <a:xfrm>
            <a:off x="10730484" y="18516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16" name="Connector 215"/>
          <p:cNvCxnSpPr/>
          <p:nvPr/>
        </p:nvCxnSpPr>
        <p:spPr>
          <a:xfrm flipH="1">
            <a:off x="9646920" y="4315968"/>
            <a:ext cx="1362456" cy="0"/>
          </a:xfrm>
          <a:prstGeom prst="line">
            <a:avLst/>
          </a:prstGeom>
          <a:ln w="12700">
            <a:solidFill>
              <a:srgbClr val="404040"/>
            </a:solidFill>
            <a:prstDash val="dash"/>
          </a:ln>
        </p:spPr>
      </p:cxnSp>
      <p:cxnSp>
        <p:nvCxnSpPr>
          <p:cNvPr id="217" name="Connector 216"/>
          <p:cNvCxnSpPr/>
          <p:nvPr/>
        </p:nvCxnSpPr>
        <p:spPr>
          <a:xfrm flipV="1">
            <a:off x="9646920" y="4233672"/>
            <a:ext cx="0" cy="82296"/>
          </a:xfrm>
          <a:prstGeom prst="line">
            <a:avLst/>
          </a:prstGeom>
          <a:ln w="12700">
            <a:solidFill>
              <a:srgbClr val="404040"/>
            </a:solidFill>
            <a:prstDash val="dash"/>
            <a:tailEnd type="triangle"/>
          </a:ln>
        </p:spPr>
      </p:cxnSp>
      <p:sp>
        <p:nvSpPr>
          <p:cNvPr id="218" name="Oval 217"/>
          <p:cNvSpPr/>
          <p:nvPr/>
        </p:nvSpPr>
        <p:spPr>
          <a:xfrm>
            <a:off x="10730484" y="411022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19" name="Rectangle 218"/>
          <p:cNvSpPr/>
          <p:nvPr/>
        </p:nvSpPr>
        <p:spPr>
          <a:xfrm>
            <a:off x="1188720" y="4471416"/>
            <a:ext cx="1261872" cy="146304"/>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220" name="Rectangle 219"/>
          <p:cNvSpPr/>
          <p:nvPr/>
        </p:nvSpPr>
        <p:spPr>
          <a:xfrm>
            <a:off x="2505456" y="4471416"/>
            <a:ext cx="1261872" cy="146304"/>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221" name="Rectangle 220"/>
          <p:cNvSpPr/>
          <p:nvPr/>
        </p:nvSpPr>
        <p:spPr>
          <a:xfrm>
            <a:off x="3822191" y="4471416"/>
            <a:ext cx="1261872" cy="146304"/>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222" name="Rectangle 221"/>
          <p:cNvSpPr/>
          <p:nvPr/>
        </p:nvSpPr>
        <p:spPr>
          <a:xfrm>
            <a:off x="5138928" y="4471416"/>
            <a:ext cx="1261872" cy="146304"/>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223" name="Rectangle 222"/>
          <p:cNvSpPr/>
          <p:nvPr/>
        </p:nvSpPr>
        <p:spPr>
          <a:xfrm>
            <a:off x="6583680" y="4471416"/>
            <a:ext cx="1554480" cy="146304"/>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24" name="Rectangle 223"/>
          <p:cNvSpPr/>
          <p:nvPr/>
        </p:nvSpPr>
        <p:spPr>
          <a:xfrm>
            <a:off x="8211312" y="4471416"/>
            <a:ext cx="2697480" cy="146304"/>
          </a:xfrm>
          <a:prstGeom prst="rect">
            <a:avLst/>
          </a:prstGeom>
          <a:solidFill>
            <a:srgbClr val="EDE7F6"/>
          </a:solidFill>
          <a:ln w="12700">
            <a:solidFill>
              <a:srgbClr val="5E35B1"/>
            </a:solidFill>
          </a:ln>
          <a:effectLst/>
        </p:spPr>
        <p:txBody>
          <a:bodyPr rtlCol="0" anchor="ctr" wrap="square" lIns="36576" tIns="18288" rIns="36576" bIns="18288"/>
          <a:lstStyle/>
          <a:p>
            <a:pPr algn="ctr"/>
            <a:r>
              <a:rPr sz="650" b="1">
                <a:solidFill>
                  <a:srgbClr val="5E35B1"/>
                </a:solidFill>
                <a:latin typeface="맑은 고딕"/>
                <a:ea typeface="맑은 고딕"/>
              </a:rPr>
              <a:t>디자인 패턴: Strategy (uses ▸ interface ◂ △ implements)</a:t>
            </a:r>
          </a:p>
        </p:txBody>
      </p:sp>
      <p:sp>
        <p:nvSpPr>
          <p:cNvPr id="225" name="Rectangle 224"/>
          <p:cNvSpPr/>
          <p:nvPr/>
        </p:nvSpPr>
        <p:spPr>
          <a:xfrm>
            <a:off x="10972800" y="4471416"/>
            <a:ext cx="868680" cy="146304"/>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26" name="TextBox 225"/>
          <p:cNvSpPr txBox="1"/>
          <p:nvPr/>
        </p:nvSpPr>
        <p:spPr>
          <a:xfrm>
            <a:off x="1188720" y="4636008"/>
            <a:ext cx="10698480" cy="128016"/>
          </a:xfrm>
          <a:prstGeom prst="rect">
            <a:avLst/>
          </a:prstGeom>
          <a:noFill/>
        </p:spPr>
        <p:txBody>
          <a:bodyPr wrap="square" anchor="t" lIns="0" tIns="0" rIns="0" bIns="0">
            <a:spAutoFit/>
          </a:bodyPr>
          <a:lstStyle/>
          <a:p>
            <a:pPr algn="l"/>
            <a:r>
              <a:rPr sz="650" b="0">
                <a:solidFill>
                  <a:srgbClr val="404040"/>
                </a:solidFill>
                <a:latin typeface="맑은 고딕"/>
                <a:ea typeface="맑은 고딕"/>
              </a:rPr>
              <a:t>① 요청 ② 결정 요청(1안: 프록시 → Router 원격 호출 1회 / 2안: 프로세스 내부 호출) ③ 선택·P/D 전달 ④ 서버 간 KV 전송(NIXL) ⑤ KV 이벤트·메트릭 ⑥ 상태 조회 ⑦ 서버 발견</a:t>
            </a:r>
          </a:p>
        </p:txBody>
      </p:sp>
      <p:sp>
        <p:nvSpPr>
          <p:cNvPr id="227" name="Rectangle 226"/>
          <p:cNvSpPr/>
          <p:nvPr/>
        </p:nvSpPr>
        <p:spPr>
          <a:xfrm>
            <a:off x="246888" y="4800600"/>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548235"/>
                </a:solidFill>
                <a:latin typeface="맑은 고딕"/>
                <a:ea typeface="맑은 고딕"/>
              </a:rPr>
              <a:t>장점</a:t>
            </a:r>
          </a:p>
        </p:txBody>
      </p:sp>
      <p:sp>
        <p:nvSpPr>
          <p:cNvPr id="228" name="Rectangle 227"/>
          <p:cNvSpPr/>
          <p:nvPr/>
        </p:nvSpPr>
        <p:spPr>
          <a:xfrm>
            <a:off x="1115568" y="4800600"/>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검증된 OSS 재사용: 요청 경로·KV 인덱스·흐름 제어 (P1~P4 plugin 실행 확인 [A])</a:t>
            </a:r>
          </a:p>
          <a:p>
            <a:pPr algn="l"/>
            <a:r>
              <a:rPr sz="750" b="0">
                <a:solidFill>
                  <a:srgbClr val="000000"/>
                </a:solidFill>
                <a:latin typeface="맑은 고딕"/>
                <a:ea typeface="맑은 고딕"/>
              </a:rPr>
              <a:t>▪ 서버 풀 자동 발견·복제로 서버 증설에 유리 (K8s)</a:t>
            </a:r>
          </a:p>
          <a:p>
            <a:pPr algn="l"/>
            <a:r>
              <a:rPr sz="750" b="0">
                <a:solidFill>
                  <a:srgbClr val="000000"/>
                </a:solidFill>
                <a:latin typeface="맑은 고딕"/>
                <a:ea typeface="맑은 고딕"/>
              </a:rPr>
              <a:t>▪ 구현·유지 부담 적음: 우리 소유 3/6 블록, 계약·신기능은 OSS가 추종</a:t>
            </a:r>
          </a:p>
        </p:txBody>
      </p:sp>
      <p:sp>
        <p:nvSpPr>
          <p:cNvPr id="229" name="Rectangle 228"/>
          <p:cNvSpPr/>
          <p:nvPr/>
        </p:nvSpPr>
        <p:spPr>
          <a:xfrm>
            <a:off x="6510528" y="4800600"/>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한 프로세스 내부 호출: 원격 호출·보조 프로세스 경유 없음 (지연 유리, 가설)</a:t>
            </a:r>
          </a:p>
          <a:p>
            <a:pPr algn="l"/>
            <a:r>
              <a:rPr sz="750" b="0">
                <a:solidFill>
                  <a:srgbClr val="000000"/>
                </a:solidFill>
                <a:latin typeface="맑은 고딕"/>
                <a:ea typeface="맑은 고딕"/>
              </a:rPr>
              <a:t>▪ Strategy 패턴: 점수·비용 함수·P/D 정책을 구현체 교체로 변경, 파이프라인은 불변</a:t>
            </a:r>
          </a:p>
          <a:p>
            <a:pPr algn="l"/>
            <a:r>
              <a:rPr sz="750" b="0">
                <a:solidFill>
                  <a:srgbClr val="000000"/>
                </a:solidFill>
                <a:latin typeface="맑은 고딕"/>
                <a:ea typeface="맑은 고딕"/>
              </a:rPr>
              <a:t>▪ K8s·프록시 불필요, OSS 업스트림 의존 없음</a:t>
            </a:r>
          </a:p>
        </p:txBody>
      </p:sp>
      <p:sp>
        <p:nvSpPr>
          <p:cNvPr id="230" name="Rectangle 229"/>
          <p:cNvSpPr/>
          <p:nvPr/>
        </p:nvSpPr>
        <p:spPr>
          <a:xfrm>
            <a:off x="246888" y="5404104"/>
            <a:ext cx="868680" cy="60350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1">
                <a:solidFill>
                  <a:srgbClr val="C00000"/>
                </a:solidFill>
                <a:latin typeface="맑은 고딕"/>
                <a:ea typeface="맑은 고딕"/>
              </a:rPr>
              <a:t>단점</a:t>
            </a:r>
          </a:p>
        </p:txBody>
      </p:sp>
      <p:sp>
        <p:nvSpPr>
          <p:cNvPr id="231" name="Rectangle 230"/>
          <p:cNvSpPr/>
          <p:nvPr/>
        </p:nvSpPr>
        <p:spPr>
          <a:xfrm>
            <a:off x="1115568" y="5404104"/>
            <a:ext cx="5394960"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프록시 → Router 원격 호출 1회 + 보조 프로세스 경유 → TTFT 증가 (가설)</a:t>
            </a:r>
          </a:p>
          <a:p>
            <a:pPr algn="l"/>
            <a:r>
              <a:rPr sz="750" b="0">
                <a:solidFill>
                  <a:srgbClr val="000000"/>
                </a:solidFill>
                <a:latin typeface="맑은 고딕"/>
                <a:ea typeface="맑은 고딕"/>
              </a:rPr>
              <a:t>▪ P/D 경로 노드 지시(P5)는 보조 프로세스 수정(patch), wrapper는 OSS 동작에 의존</a:t>
            </a:r>
          </a:p>
          <a:p>
            <a:pPr algn="l"/>
            <a:r>
              <a:rPr sz="750" b="0">
                <a:solidFill>
                  <a:srgbClr val="000000"/>
                </a:solidFill>
                <a:latin typeface="맑은 고딕"/>
                <a:ea typeface="맑은 고딕"/>
              </a:rPr>
              <a:t>▪ K8s·프록시·자체 Router 이미지 운영 부담</a:t>
            </a:r>
          </a:p>
        </p:txBody>
      </p:sp>
      <p:sp>
        <p:nvSpPr>
          <p:cNvPr id="232" name="Rectangle 231"/>
          <p:cNvSpPr/>
          <p:nvPr/>
        </p:nvSpPr>
        <p:spPr>
          <a:xfrm>
            <a:off x="6510528" y="5404104"/>
            <a:ext cx="5486399" cy="60350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 6개 블록 전부 직접 구현·유지 (레플리카·LB·HA·흐름 제어 포함), 설계안뿐</a:t>
            </a:r>
          </a:p>
          <a:p>
            <a:pPr algn="l"/>
            <a:r>
              <a:rPr sz="750" b="0">
                <a:solidFill>
                  <a:srgbClr val="000000"/>
                </a:solidFill>
                <a:latin typeface="맑은 고딕"/>
                <a:ea typeface="맑은 고딕"/>
              </a:rPr>
              <a:t>▪ vLLM·NIXL 계약 추종·신기능 구현은 전부 우리 몫</a:t>
            </a:r>
          </a:p>
          <a:p>
            <a:pPr algn="l"/>
            <a:r>
              <a:rPr sz="750" b="0">
                <a:solidFill>
                  <a:srgbClr val="000000"/>
                </a:solidFill>
                <a:latin typeface="맑은 고딕"/>
                <a:ea typeface="맑은 고딕"/>
              </a:rPr>
              <a:t>▪ Router가 P/D 경로 안 → 병목·SPOF 위험, 확장성은 직접 구축·미검증</a:t>
            </a:r>
          </a:p>
        </p:txBody>
      </p:sp>
      <p:sp>
        <p:nvSpPr>
          <p:cNvPr id="233" name="TextBox 232"/>
          <p:cNvSpPr txBox="1"/>
          <p:nvPr/>
        </p:nvSpPr>
        <p:spPr>
          <a:xfrm>
            <a:off x="246888" y="6044184"/>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2안은 설계안이며 구현되지 않았다(구현량·성능은 추정). 근거 수준 [C] 구조 논증, [A] = llm-d 합성 백엔드 실행. 용어: P/D = Prefill(입력 처리)/Decode(응답 생성) 분리 · plugin = 기존 코드를 안 고치고 끼우는 확장 모듈</a:t>
            </a:r>
          </a:p>
        </p:txBody>
      </p:sp>
      <p:sp>
        <p:nvSpPr>
          <p:cNvPr id="234" name="TextBox 233"/>
          <p:cNvSpPr txBox="1"/>
          <p:nvPr/>
        </p:nvSpPr>
        <p:spPr>
          <a:xfrm>
            <a:off x="246888" y="617220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★P5 = 지시의 '송신'(오케스트레이션 범위). 수신·실행은 vLLM(엔진) 공통 선결(C5 접점 계약). P/D 보조 프로세스는 엔진이 아니라 오케스트레이션 소프트웨어다. 디자인 패턴: Strategy = Selector(Context)가 인터페이스를 참조(uses)하고 정책 구현체(P1~P3, P/D 판단 P4)가 이를 구현(implements, △)해 설정으로 교체. 박스는 프로세스가 아니라 한 프로세스 안의 모듈이고, 프로세스 경계는 굵은 바깥 박스.</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변경 용이성 (Q3) 시나리오 S1~S6</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요구가 바뀔 때 무엇을 바꾸는가: 흡수(1안) 대 통제(2안)</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228600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시나리오</a:t>
            </a:r>
          </a:p>
        </p:txBody>
      </p:sp>
      <p:sp>
        <p:nvSpPr>
          <p:cNvPr id="103" name="Rectangle 102"/>
          <p:cNvSpPr/>
          <p:nvPr/>
        </p:nvSpPr>
        <p:spPr>
          <a:xfrm>
            <a:off x="2532888" y="1042415"/>
            <a:ext cx="4023360" cy="274320"/>
          </a:xfrm>
          <a:prstGeom prst="rect">
            <a:avLst/>
          </a:prstGeom>
          <a:solidFill>
            <a:srgbClr val="2F5597"/>
          </a:solidFill>
          <a:ln w="12700">
            <a:solidFill>
              <a:srgbClr val="2F5597"/>
            </a:solidFill>
          </a:ln>
          <a:effectLst/>
        </p:spPr>
        <p:txBody>
          <a:bodyPr rtlCol="0" anchor="ctr" wrap="square" lIns="36576" tIns="18288" rIns="36576" bIns="18288"/>
          <a:lstStyle/>
          <a:p>
            <a:pPr algn="ctr"/>
            <a:r>
              <a:rPr sz="900" b="1">
                <a:solidFill>
                  <a:srgbClr val="FFFFFF"/>
                </a:solidFill>
                <a:latin typeface="맑은 고딕"/>
                <a:ea typeface="맑은 고딕"/>
              </a:rPr>
              <a:t>(1안) OSS 확장: 무엇을 바꾸나</a:t>
            </a:r>
          </a:p>
        </p:txBody>
      </p:sp>
      <p:sp>
        <p:nvSpPr>
          <p:cNvPr id="104" name="Rectangle 103"/>
          <p:cNvSpPr/>
          <p:nvPr/>
        </p:nvSpPr>
        <p:spPr>
          <a:xfrm>
            <a:off x="6556248" y="1042415"/>
            <a:ext cx="4023360" cy="274320"/>
          </a:xfrm>
          <a:prstGeom prst="rect">
            <a:avLst/>
          </a:prstGeom>
          <a:solidFill>
            <a:srgbClr val="C55A11"/>
          </a:solidFill>
          <a:ln w="12700">
            <a:solidFill>
              <a:srgbClr val="C55A11"/>
            </a:solidFill>
          </a:ln>
          <a:effectLst/>
        </p:spPr>
        <p:txBody>
          <a:bodyPr rtlCol="0" anchor="ctr" wrap="square" lIns="36576" tIns="18288" rIns="36576" bIns="18288"/>
          <a:lstStyle/>
          <a:p>
            <a:pPr algn="ctr"/>
            <a:r>
              <a:rPr sz="900" b="1">
                <a:solidFill>
                  <a:srgbClr val="FFFFFF"/>
                </a:solidFill>
                <a:latin typeface="맑은 고딕"/>
                <a:ea typeface="맑은 고딕"/>
              </a:rPr>
              <a:t>(2안) 자체 구현: 무엇을 바꾸나</a:t>
            </a:r>
          </a:p>
        </p:txBody>
      </p:sp>
      <p:sp>
        <p:nvSpPr>
          <p:cNvPr id="105" name="Rectangle 104"/>
          <p:cNvSpPr/>
          <p:nvPr/>
        </p:nvSpPr>
        <p:spPr>
          <a:xfrm>
            <a:off x="10579608" y="1042415"/>
            <a:ext cx="1417320" cy="274320"/>
          </a:xfrm>
          <a:prstGeom prst="rect">
            <a:avLst/>
          </a:prstGeom>
          <a:solidFill>
            <a:srgbClr val="404040"/>
          </a:solidFill>
          <a:ln w="12700">
            <a:solidFill>
              <a:srgbClr val="404040"/>
            </a:solidFill>
          </a:ln>
          <a:effectLst/>
        </p:spPr>
        <p:txBody>
          <a:bodyPr rtlCol="0" anchor="ctr" wrap="square" lIns="36576" tIns="18288" rIns="36576" bIns="18288"/>
          <a:lstStyle/>
          <a:p>
            <a:pPr algn="ctr"/>
            <a:r>
              <a:rPr sz="900" b="1">
                <a:solidFill>
                  <a:srgbClr val="FFFFFF"/>
                </a:solidFill>
                <a:latin typeface="맑은 고딕"/>
                <a:ea typeface="맑은 고딕"/>
              </a:rPr>
              <a:t>변경 비용 우위</a:t>
            </a:r>
          </a:p>
        </p:txBody>
      </p:sp>
      <p:sp>
        <p:nvSpPr>
          <p:cNvPr id="106" name="Rectangle 105"/>
          <p:cNvSpPr/>
          <p:nvPr/>
        </p:nvSpPr>
        <p:spPr>
          <a:xfrm>
            <a:off x="246888" y="1316736"/>
            <a:ext cx="2286000" cy="585216"/>
          </a:xfrm>
          <a:prstGeom prst="rect">
            <a:avLst/>
          </a:prstGeom>
          <a:solidFill>
            <a:srgbClr val="F2F2F2"/>
          </a:solidFill>
          <a:ln w="6350">
            <a:solidFill>
              <a:srgbClr val="BFBFBF"/>
            </a:solidFill>
          </a:ln>
          <a:effectLst/>
        </p:spPr>
        <p:txBody>
          <a:bodyPr rtlCol="0" anchor="ctr"/>
          <a:lstStyle/>
          <a:p>
            <a:pPr algn="ctr"/>
          </a:p>
        </p:txBody>
      </p:sp>
      <p:sp>
        <p:nvSpPr>
          <p:cNvPr id="107" name="TextBox 106"/>
          <p:cNvSpPr txBox="1"/>
          <p:nvPr/>
        </p:nvSpPr>
        <p:spPr>
          <a:xfrm>
            <a:off x="320040" y="138074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S1</a:t>
            </a:r>
          </a:p>
        </p:txBody>
      </p:sp>
      <p:sp>
        <p:nvSpPr>
          <p:cNvPr id="108" name="TextBox 107"/>
          <p:cNvSpPr txBox="1"/>
          <p:nvPr/>
        </p:nvSpPr>
        <p:spPr>
          <a:xfrm>
            <a:off x="749808" y="138988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새 tier 매체 추가</a:t>
            </a:r>
          </a:p>
          <a:p>
            <a:pPr algn="l"/>
            <a:r>
              <a:rPr sz="750" b="0">
                <a:solidFill>
                  <a:srgbClr val="404040"/>
                </a:solidFill>
                <a:latin typeface="맑은 고딕"/>
                <a:ea typeface="맑은 고딕"/>
              </a:rPr>
              <a:t>예: CXL·HBF를 점수에 반영</a:t>
            </a:r>
          </a:p>
        </p:txBody>
      </p:sp>
      <p:sp>
        <p:nvSpPr>
          <p:cNvPr id="109" name="Rectangle 108"/>
          <p:cNvSpPr/>
          <p:nvPr/>
        </p:nvSpPr>
        <p:spPr>
          <a:xfrm>
            <a:off x="253288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0" name="Rectangle 109"/>
          <p:cNvSpPr/>
          <p:nvPr/>
        </p:nvSpPr>
        <p:spPr>
          <a:xfrm>
            <a:off x="2606040" y="1380744"/>
            <a:ext cx="749808" cy="182880"/>
          </a:xfrm>
          <a:prstGeom prst="rect">
            <a:avLst/>
          </a:prstGeom>
          <a:solidFill>
            <a:srgbClr val="FFF2CC"/>
          </a:solidFill>
          <a:ln w="15875">
            <a:solidFill>
              <a:srgbClr val="BF9000"/>
            </a:solidFill>
            <a:prstDash val="dash"/>
          </a:ln>
          <a:effectLst/>
        </p:spPr>
        <p:txBody>
          <a:bodyPr rtlCol="0" anchor="ctr" wrap="square" lIns="18288" tIns="0" rIns="18288" bIns="0"/>
          <a:lstStyle/>
          <a:p>
            <a:pPr algn="ctr"/>
            <a:r>
              <a:rPr sz="750" b="1">
                <a:solidFill>
                  <a:srgbClr val="000000"/>
                </a:solidFill>
                <a:latin typeface="맑은 고딕"/>
                <a:ea typeface="맑은 고딕"/>
              </a:rPr>
              <a:t>설정</a:t>
            </a:r>
          </a:p>
        </p:txBody>
      </p:sp>
      <p:sp>
        <p:nvSpPr>
          <p:cNvPr id="111" name="TextBox 110"/>
          <p:cNvSpPr txBox="1"/>
          <p:nvPr/>
        </p:nvSpPr>
        <p:spPr>
          <a:xfrm>
            <a:off x="342900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메모리 종류 가중치 표에 이름·값만 추가. 재빌드 불필요 (기본 목록 밖 이름은 가중치 설정 필요)</a:t>
            </a:r>
          </a:p>
        </p:txBody>
      </p:sp>
      <p:sp>
        <p:nvSpPr>
          <p:cNvPr id="112" name="Rectangle 111"/>
          <p:cNvSpPr/>
          <p:nvPr/>
        </p:nvSpPr>
        <p:spPr>
          <a:xfrm>
            <a:off x="6556248" y="1316736"/>
            <a:ext cx="4023360" cy="585216"/>
          </a:xfrm>
          <a:prstGeom prst="rect">
            <a:avLst/>
          </a:prstGeom>
          <a:solidFill>
            <a:srgbClr val="FFFFFF"/>
          </a:solidFill>
          <a:ln w="6350">
            <a:solidFill>
              <a:srgbClr val="BFBFBF"/>
            </a:solidFill>
          </a:ln>
          <a:effectLst/>
        </p:spPr>
        <p:txBody>
          <a:bodyPr rtlCol="0" anchor="ctr"/>
          <a:lstStyle/>
          <a:p>
            <a:pPr algn="ctr"/>
          </a:p>
        </p:txBody>
      </p:sp>
      <p:sp>
        <p:nvSpPr>
          <p:cNvPr id="113" name="Rectangle 112"/>
          <p:cNvSpPr/>
          <p:nvPr/>
        </p:nvSpPr>
        <p:spPr>
          <a:xfrm>
            <a:off x="6629400" y="138074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14" name="TextBox 113"/>
          <p:cNvSpPr txBox="1"/>
          <p:nvPr/>
        </p:nvSpPr>
        <p:spPr>
          <a:xfrm>
            <a:off x="7452360" y="1371600"/>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Store 가중치 테이블 + Scorer 코드 수정, 재배포 (소규모)</a:t>
            </a:r>
          </a:p>
        </p:txBody>
      </p:sp>
      <p:sp>
        <p:nvSpPr>
          <p:cNvPr id="115" name="Rectangle 114"/>
          <p:cNvSpPr/>
          <p:nvPr/>
        </p:nvSpPr>
        <p:spPr>
          <a:xfrm>
            <a:off x="10579608" y="131673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(설정만)</a:t>
            </a:r>
          </a:p>
        </p:txBody>
      </p:sp>
      <p:sp>
        <p:nvSpPr>
          <p:cNvPr id="116" name="Rectangle 115"/>
          <p:cNvSpPr/>
          <p:nvPr/>
        </p:nvSpPr>
        <p:spPr>
          <a:xfrm>
            <a:off x="246888" y="1901952"/>
            <a:ext cx="2286000" cy="585216"/>
          </a:xfrm>
          <a:prstGeom prst="rect">
            <a:avLst/>
          </a:prstGeom>
          <a:solidFill>
            <a:srgbClr val="F2F2F2"/>
          </a:solidFill>
          <a:ln w="6350">
            <a:solidFill>
              <a:srgbClr val="BFBFBF"/>
            </a:solidFill>
          </a:ln>
          <a:effectLst/>
        </p:spPr>
        <p:txBody>
          <a:bodyPr rtlCol="0" anchor="ctr"/>
          <a:lstStyle/>
          <a:p>
            <a:pPr algn="ctr"/>
          </a:p>
        </p:txBody>
      </p:sp>
      <p:sp>
        <p:nvSpPr>
          <p:cNvPr id="117" name="TextBox 116"/>
          <p:cNvSpPr txBox="1"/>
          <p:nvPr/>
        </p:nvSpPr>
        <p:spPr>
          <a:xfrm>
            <a:off x="320040" y="1965960"/>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S2</a:t>
            </a:r>
          </a:p>
        </p:txBody>
      </p:sp>
      <p:sp>
        <p:nvSpPr>
          <p:cNvPr id="118" name="TextBox 117"/>
          <p:cNvSpPr txBox="1"/>
          <p:nvPr/>
        </p:nvSpPr>
        <p:spPr>
          <a:xfrm>
            <a:off x="749808" y="1975104"/>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비용 함수 교체</a:t>
            </a:r>
          </a:p>
          <a:p>
            <a:pPr algn="l"/>
            <a:r>
              <a:rPr sz="750" b="0">
                <a:solidFill>
                  <a:srgbClr val="404040"/>
                </a:solidFill>
                <a:latin typeface="맑은 고딕"/>
                <a:ea typeface="맑은 고딕"/>
              </a:rPr>
              <a:t>재계산 비용 대 tier 전송 비용</a:t>
            </a:r>
          </a:p>
        </p:txBody>
      </p:sp>
      <p:sp>
        <p:nvSpPr>
          <p:cNvPr id="119" name="Rectangle 118"/>
          <p:cNvSpPr/>
          <p:nvPr/>
        </p:nvSpPr>
        <p:spPr>
          <a:xfrm>
            <a:off x="253288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0" name="Rectangle 119"/>
          <p:cNvSpPr/>
          <p:nvPr/>
        </p:nvSpPr>
        <p:spPr>
          <a:xfrm>
            <a:off x="2606040" y="1965960"/>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21" name="TextBox 120"/>
          <p:cNvSpPr txBox="1"/>
          <p:nvPr/>
        </p:nvSpPr>
        <p:spPr>
          <a:xfrm>
            <a:off x="342900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Scorer 플러그인 교체. 별도 Router 이미지를 빌드·배포해야 함</a:t>
            </a:r>
          </a:p>
        </p:txBody>
      </p:sp>
      <p:sp>
        <p:nvSpPr>
          <p:cNvPr id="122" name="Rectangle 121"/>
          <p:cNvSpPr/>
          <p:nvPr/>
        </p:nvSpPr>
        <p:spPr>
          <a:xfrm>
            <a:off x="6556248" y="1901952"/>
            <a:ext cx="4023360" cy="585216"/>
          </a:xfrm>
          <a:prstGeom prst="rect">
            <a:avLst/>
          </a:prstGeom>
          <a:solidFill>
            <a:srgbClr val="FFFFFF"/>
          </a:solidFill>
          <a:ln w="6350">
            <a:solidFill>
              <a:srgbClr val="BFBFBF"/>
            </a:solidFill>
          </a:ln>
          <a:effectLst/>
        </p:spPr>
        <p:txBody>
          <a:bodyPr rtlCol="0" anchor="ctr"/>
          <a:lstStyle/>
          <a:p>
            <a:pPr algn="ctr"/>
          </a:p>
        </p:txBody>
      </p:sp>
      <p:sp>
        <p:nvSpPr>
          <p:cNvPr id="123" name="Rectangle 122"/>
          <p:cNvSpPr/>
          <p:nvPr/>
        </p:nvSpPr>
        <p:spPr>
          <a:xfrm>
            <a:off x="6629400" y="1965960"/>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24" name="TextBox 123"/>
          <p:cNvSpPr txBox="1"/>
          <p:nvPr/>
        </p:nvSpPr>
        <p:spPr>
          <a:xfrm>
            <a:off x="7452360" y="1956816"/>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Score Strategy 구현체 교체. 한 저장소·한 배포</a:t>
            </a:r>
          </a:p>
        </p:txBody>
      </p:sp>
      <p:sp>
        <p:nvSpPr>
          <p:cNvPr id="125" name="Rectangle 124"/>
          <p:cNvSpPr/>
          <p:nvPr/>
        </p:nvSpPr>
        <p:spPr>
          <a:xfrm>
            <a:off x="10579608" y="1901952"/>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 (소폭)</a:t>
            </a:r>
          </a:p>
        </p:txBody>
      </p:sp>
      <p:sp>
        <p:nvSpPr>
          <p:cNvPr id="126" name="Rectangle 125"/>
          <p:cNvSpPr/>
          <p:nvPr/>
        </p:nvSpPr>
        <p:spPr>
          <a:xfrm>
            <a:off x="246888" y="2487168"/>
            <a:ext cx="2286000" cy="585216"/>
          </a:xfrm>
          <a:prstGeom prst="rect">
            <a:avLst/>
          </a:prstGeom>
          <a:solidFill>
            <a:srgbClr val="F2F2F2"/>
          </a:solidFill>
          <a:ln w="6350">
            <a:solidFill>
              <a:srgbClr val="BFBFBF"/>
            </a:solidFill>
          </a:ln>
          <a:effectLst/>
        </p:spPr>
        <p:txBody>
          <a:bodyPr rtlCol="0" anchor="ctr"/>
          <a:lstStyle/>
          <a:p>
            <a:pPr algn="ctr"/>
          </a:p>
        </p:txBody>
      </p:sp>
      <p:sp>
        <p:nvSpPr>
          <p:cNvPr id="127" name="TextBox 126"/>
          <p:cNvSpPr txBox="1"/>
          <p:nvPr/>
        </p:nvSpPr>
        <p:spPr>
          <a:xfrm>
            <a:off x="320040" y="2551176"/>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S3</a:t>
            </a:r>
          </a:p>
        </p:txBody>
      </p:sp>
      <p:sp>
        <p:nvSpPr>
          <p:cNvPr id="128" name="TextBox 127"/>
          <p:cNvSpPr txBox="1"/>
          <p:nvPr/>
        </p:nvSpPr>
        <p:spPr>
          <a:xfrm>
            <a:off x="749808" y="2560320"/>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P/D 결정 정책 교체</a:t>
            </a:r>
          </a:p>
          <a:p>
            <a:pPr algn="l"/>
            <a:r>
              <a:rPr sz="750" b="0">
                <a:solidFill>
                  <a:srgbClr val="404040"/>
                </a:solidFill>
                <a:latin typeface="맑은 고딕"/>
                <a:ea typeface="맑은 고딕"/>
              </a:rPr>
              <a:t>prefill/decode 분리 기준 변경</a:t>
            </a:r>
          </a:p>
        </p:txBody>
      </p:sp>
      <p:sp>
        <p:nvSpPr>
          <p:cNvPr id="129" name="Rectangle 128"/>
          <p:cNvSpPr/>
          <p:nvPr/>
        </p:nvSpPr>
        <p:spPr>
          <a:xfrm>
            <a:off x="253288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2606040" y="2551176"/>
            <a:ext cx="749808" cy="182880"/>
          </a:xfrm>
          <a:prstGeom prst="rect">
            <a:avLst/>
          </a:prstGeom>
          <a:solidFill>
            <a:srgbClr val="FFF2CC"/>
          </a:solidFill>
          <a:ln w="15875">
            <a:solidFill>
              <a:srgbClr val="BF9000"/>
            </a:solidFill>
          </a:ln>
          <a:effectLst/>
        </p:spPr>
        <p:txBody>
          <a:bodyPr rtlCol="0" anchor="ctr" wrap="square" lIns="18288" tIns="0" rIns="18288" bIns="0"/>
          <a:lstStyle/>
          <a:p>
            <a:pPr algn="ctr"/>
            <a:r>
              <a:rPr sz="750" b="1">
                <a:solidFill>
                  <a:srgbClr val="000000"/>
                </a:solidFill>
                <a:latin typeface="맑은 고딕"/>
                <a:ea typeface="맑은 고딕"/>
              </a:rPr>
              <a:t>plugin</a:t>
            </a:r>
          </a:p>
        </p:txBody>
      </p:sp>
      <p:sp>
        <p:nvSpPr>
          <p:cNvPr id="131" name="TextBox 130"/>
          <p:cNvSpPr txBox="1"/>
          <p:nvPr/>
        </p:nvSpPr>
        <p:spPr>
          <a:xfrm>
            <a:off x="342900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 판단 wrapper 교체. 기존 모듈의 동작에 의존 → 업스트림 변경 시 깨질 수 있음</a:t>
            </a:r>
          </a:p>
        </p:txBody>
      </p:sp>
      <p:sp>
        <p:nvSpPr>
          <p:cNvPr id="132" name="Rectangle 131"/>
          <p:cNvSpPr/>
          <p:nvPr/>
        </p:nvSpPr>
        <p:spPr>
          <a:xfrm>
            <a:off x="6556248" y="2487168"/>
            <a:ext cx="4023360" cy="585216"/>
          </a:xfrm>
          <a:prstGeom prst="rect">
            <a:avLst/>
          </a:prstGeom>
          <a:solidFill>
            <a:srgbClr val="FFFFFF"/>
          </a:solidFill>
          <a:ln w="6350">
            <a:solidFill>
              <a:srgbClr val="BFBFBF"/>
            </a:solidFill>
          </a:ln>
          <a:effectLst/>
        </p:spPr>
        <p:txBody>
          <a:bodyPr rtlCol="0" anchor="ctr"/>
          <a:lstStyle/>
          <a:p>
            <a:pPr algn="ctr"/>
          </a:p>
        </p:txBody>
      </p:sp>
      <p:sp>
        <p:nvSpPr>
          <p:cNvPr id="133" name="Rectangle 132"/>
          <p:cNvSpPr/>
          <p:nvPr/>
        </p:nvSpPr>
        <p:spPr>
          <a:xfrm>
            <a:off x="6629400" y="2551176"/>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34" name="TextBox 133"/>
          <p:cNvSpPr txBox="1"/>
          <p:nvPr/>
        </p:nvSpPr>
        <p:spPr>
          <a:xfrm>
            <a:off x="7452360" y="2542032"/>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PDPlan Strategy 구현체 교체</a:t>
            </a:r>
          </a:p>
        </p:txBody>
      </p:sp>
      <p:sp>
        <p:nvSpPr>
          <p:cNvPr id="135" name="Rectangle 134"/>
          <p:cNvSpPr/>
          <p:nvPr/>
        </p:nvSpPr>
        <p:spPr>
          <a:xfrm>
            <a:off x="10579608" y="2487168"/>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36" name="Rectangle 135"/>
          <p:cNvSpPr/>
          <p:nvPr/>
        </p:nvSpPr>
        <p:spPr>
          <a:xfrm>
            <a:off x="246888" y="3072384"/>
            <a:ext cx="2286000" cy="585216"/>
          </a:xfrm>
          <a:prstGeom prst="rect">
            <a:avLst/>
          </a:prstGeom>
          <a:solidFill>
            <a:srgbClr val="F2F2F2"/>
          </a:solidFill>
          <a:ln w="6350">
            <a:solidFill>
              <a:srgbClr val="BFBFBF"/>
            </a:solidFill>
          </a:ln>
          <a:effectLst/>
        </p:spPr>
        <p:txBody>
          <a:bodyPr rtlCol="0" anchor="ctr"/>
          <a:lstStyle/>
          <a:p>
            <a:pPr algn="ctr"/>
          </a:p>
        </p:txBody>
      </p:sp>
      <p:sp>
        <p:nvSpPr>
          <p:cNvPr id="137" name="TextBox 136"/>
          <p:cNvSpPr txBox="1"/>
          <p:nvPr/>
        </p:nvSpPr>
        <p:spPr>
          <a:xfrm>
            <a:off x="320040" y="3136392"/>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S4</a:t>
            </a:r>
          </a:p>
        </p:txBody>
      </p:sp>
      <p:sp>
        <p:nvSpPr>
          <p:cNvPr id="138" name="TextBox 137"/>
          <p:cNvSpPr txBox="1"/>
          <p:nvPr/>
        </p:nvSpPr>
        <p:spPr>
          <a:xfrm>
            <a:off x="749808" y="3145536"/>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노드 지시 항목 추가</a:t>
            </a:r>
          </a:p>
          <a:p>
            <a:pPr algn="l"/>
            <a:r>
              <a:rPr sz="750" b="0">
                <a:solidFill>
                  <a:srgbClr val="404040"/>
                </a:solidFill>
                <a:latin typeface="맑은 고딕"/>
                <a:ea typeface="맑은 고딕"/>
              </a:rPr>
              <a:t>예: 새 지시 키를 vLLM에 전달</a:t>
            </a:r>
          </a:p>
        </p:txBody>
      </p:sp>
      <p:sp>
        <p:nvSpPr>
          <p:cNvPr id="139" name="Rectangle 138"/>
          <p:cNvSpPr/>
          <p:nvPr/>
        </p:nvSpPr>
        <p:spPr>
          <a:xfrm>
            <a:off x="253288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0" name="Rectangle 139"/>
          <p:cNvSpPr/>
          <p:nvPr/>
        </p:nvSpPr>
        <p:spPr>
          <a:xfrm>
            <a:off x="2606040" y="3136392"/>
            <a:ext cx="749808" cy="182880"/>
          </a:xfrm>
          <a:prstGeom prst="rect">
            <a:avLst/>
          </a:prstGeom>
          <a:solidFill>
            <a:srgbClr val="FFFFFF"/>
          </a:solidFill>
          <a:ln w="19050">
            <a:solidFill>
              <a:srgbClr val="C00000"/>
            </a:solidFill>
          </a:ln>
          <a:effectLst/>
        </p:spPr>
        <p:txBody>
          <a:bodyPr rtlCol="0" anchor="ctr" wrap="square" lIns="18288" tIns="0" rIns="18288" bIns="0"/>
          <a:lstStyle/>
          <a:p>
            <a:pPr algn="ctr"/>
            <a:r>
              <a:rPr sz="750" b="1">
                <a:solidFill>
                  <a:srgbClr val="000000"/>
                </a:solidFill>
                <a:latin typeface="맑은 고딕"/>
                <a:ea typeface="맑은 고딕"/>
              </a:rPr>
              <a:t>수정</a:t>
            </a:r>
          </a:p>
        </p:txBody>
      </p:sp>
      <p:sp>
        <p:nvSpPr>
          <p:cNvPr id="141" name="TextBox 140"/>
          <p:cNvSpPr txBox="1"/>
          <p:nvPr/>
        </p:nvSpPr>
        <p:spPr>
          <a:xfrm>
            <a:off x="342900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일반 경로는 plugin, P/D 경로는 P/D 보조 프로세스를 수정(patch)해야 함</a:t>
            </a:r>
          </a:p>
        </p:txBody>
      </p:sp>
      <p:sp>
        <p:nvSpPr>
          <p:cNvPr id="142" name="Rectangle 141"/>
          <p:cNvSpPr/>
          <p:nvPr/>
        </p:nvSpPr>
        <p:spPr>
          <a:xfrm>
            <a:off x="6556248" y="3072384"/>
            <a:ext cx="4023360" cy="585216"/>
          </a:xfrm>
          <a:prstGeom prst="rect">
            <a:avLst/>
          </a:prstGeom>
          <a:solidFill>
            <a:srgbClr val="FFFFFF"/>
          </a:solidFill>
          <a:ln w="6350">
            <a:solidFill>
              <a:srgbClr val="BFBFBF"/>
            </a:solidFill>
          </a:ln>
          <a:effectLst/>
        </p:spPr>
        <p:txBody>
          <a:bodyPr rtlCol="0" anchor="ctr"/>
          <a:lstStyle/>
          <a:p>
            <a:pPr algn="ctr"/>
          </a:p>
        </p:txBody>
      </p:sp>
      <p:sp>
        <p:nvSpPr>
          <p:cNvPr id="143" name="Rectangle 142"/>
          <p:cNvSpPr/>
          <p:nvPr/>
        </p:nvSpPr>
        <p:spPr>
          <a:xfrm>
            <a:off x="6629400" y="3136392"/>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코드</a:t>
            </a:r>
          </a:p>
        </p:txBody>
      </p:sp>
      <p:sp>
        <p:nvSpPr>
          <p:cNvPr id="144" name="TextBox 143"/>
          <p:cNvSpPr txBox="1"/>
          <p:nvPr/>
        </p:nvSpPr>
        <p:spPr>
          <a:xfrm>
            <a:off x="7452360" y="3127248"/>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Directive Builder에 항목 추가 (경로 구분 없음)</a:t>
            </a:r>
          </a:p>
        </p:txBody>
      </p:sp>
      <p:sp>
        <p:nvSpPr>
          <p:cNvPr id="145" name="Rectangle 144"/>
          <p:cNvSpPr/>
          <p:nvPr/>
        </p:nvSpPr>
        <p:spPr>
          <a:xfrm>
            <a:off x="10579608" y="3072384"/>
            <a:ext cx="1417320" cy="585216"/>
          </a:xfrm>
          <a:prstGeom prst="rect">
            <a:avLst/>
          </a:prstGeom>
          <a:solidFill>
            <a:srgbClr val="FBE5D6"/>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2안 유리</a:t>
            </a:r>
          </a:p>
          <a:p>
            <a:pPr algn="ctr"/>
            <a:r>
              <a:rPr sz="750" b="0">
                <a:solidFill>
                  <a:srgbClr val="404040"/>
                </a:solidFill>
                <a:latin typeface="맑은 고딕"/>
                <a:ea typeface="맑은 고딕"/>
              </a:rPr>
              <a:t>통제</a:t>
            </a:r>
          </a:p>
        </p:txBody>
      </p:sp>
      <p:sp>
        <p:nvSpPr>
          <p:cNvPr id="146" name="Rectangle 145"/>
          <p:cNvSpPr/>
          <p:nvPr/>
        </p:nvSpPr>
        <p:spPr>
          <a:xfrm>
            <a:off x="246888" y="3657600"/>
            <a:ext cx="2286000" cy="585216"/>
          </a:xfrm>
          <a:prstGeom prst="rect">
            <a:avLst/>
          </a:prstGeom>
          <a:solidFill>
            <a:srgbClr val="F2F2F2"/>
          </a:solidFill>
          <a:ln w="6350">
            <a:solidFill>
              <a:srgbClr val="BFBFBF"/>
            </a:solidFill>
          </a:ln>
          <a:effectLst/>
        </p:spPr>
        <p:txBody>
          <a:bodyPr rtlCol="0" anchor="ctr"/>
          <a:lstStyle/>
          <a:p>
            <a:pPr algn="ctr"/>
          </a:p>
        </p:txBody>
      </p:sp>
      <p:sp>
        <p:nvSpPr>
          <p:cNvPr id="147" name="TextBox 146"/>
          <p:cNvSpPr txBox="1"/>
          <p:nvPr/>
        </p:nvSpPr>
        <p:spPr>
          <a:xfrm>
            <a:off x="320040" y="3721608"/>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S5</a:t>
            </a:r>
          </a:p>
        </p:txBody>
      </p:sp>
      <p:sp>
        <p:nvSpPr>
          <p:cNvPr id="148" name="TextBox 147"/>
          <p:cNvSpPr txBox="1"/>
          <p:nvPr/>
        </p:nvSpPr>
        <p:spPr>
          <a:xfrm>
            <a:off x="749808" y="3730752"/>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vLLM·NIXL 계약 변경 대응</a:t>
            </a:r>
          </a:p>
          <a:p>
            <a:pPr algn="l"/>
            <a:r>
              <a:rPr sz="750" b="0">
                <a:solidFill>
                  <a:srgbClr val="404040"/>
                </a:solidFill>
                <a:latin typeface="맑은 고딕"/>
                <a:ea typeface="맑은 고딕"/>
              </a:rPr>
              <a:t>이벤트·메트릭·전송 정보 형식이 바뀜</a:t>
            </a:r>
          </a:p>
        </p:txBody>
      </p:sp>
      <p:sp>
        <p:nvSpPr>
          <p:cNvPr id="149" name="Rectangle 148"/>
          <p:cNvSpPr/>
          <p:nvPr/>
        </p:nvSpPr>
        <p:spPr>
          <a:xfrm>
            <a:off x="253288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0" name="Rectangle 149"/>
          <p:cNvSpPr/>
          <p:nvPr/>
        </p:nvSpPr>
        <p:spPr>
          <a:xfrm>
            <a:off x="2606040" y="3721608"/>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51" name="TextBox 150"/>
          <p:cNvSpPr txBox="1"/>
          <p:nvPr/>
        </p:nvSpPr>
        <p:spPr>
          <a:xfrm>
            <a:off x="342900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상태 계층·보조 프로세스를 추종. 우리 plugin·수정분만 재적용·재검증</a:t>
            </a:r>
          </a:p>
        </p:txBody>
      </p:sp>
      <p:sp>
        <p:nvSpPr>
          <p:cNvPr id="152" name="Rectangle 151"/>
          <p:cNvSpPr/>
          <p:nvPr/>
        </p:nvSpPr>
        <p:spPr>
          <a:xfrm>
            <a:off x="6556248" y="3657600"/>
            <a:ext cx="4023360" cy="585216"/>
          </a:xfrm>
          <a:prstGeom prst="rect">
            <a:avLst/>
          </a:prstGeom>
          <a:solidFill>
            <a:srgbClr val="FFFFFF"/>
          </a:solidFill>
          <a:ln w="6350">
            <a:solidFill>
              <a:srgbClr val="BFBFBF"/>
            </a:solidFill>
          </a:ln>
          <a:effectLst/>
        </p:spPr>
        <p:txBody>
          <a:bodyPr rtlCol="0" anchor="ctr"/>
          <a:lstStyle/>
          <a:p>
            <a:pPr algn="ctr"/>
          </a:p>
        </p:txBody>
      </p:sp>
      <p:sp>
        <p:nvSpPr>
          <p:cNvPr id="153" name="Rectangle 152"/>
          <p:cNvSpPr/>
          <p:nvPr/>
        </p:nvSpPr>
        <p:spPr>
          <a:xfrm>
            <a:off x="6629400" y="3721608"/>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54" name="TextBox 153"/>
          <p:cNvSpPr txBox="1"/>
          <p:nvPr/>
        </p:nvSpPr>
        <p:spPr>
          <a:xfrm>
            <a:off x="7452360" y="3712463"/>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State Plane·Dispatcher를 우리가 직접 추종</a:t>
            </a:r>
          </a:p>
        </p:txBody>
      </p:sp>
      <p:sp>
        <p:nvSpPr>
          <p:cNvPr id="155" name="Rectangle 154"/>
          <p:cNvSpPr/>
          <p:nvPr/>
        </p:nvSpPr>
        <p:spPr>
          <a:xfrm>
            <a:off x="10579608" y="3657600"/>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 (부분)</a:t>
            </a:r>
          </a:p>
        </p:txBody>
      </p:sp>
      <p:sp>
        <p:nvSpPr>
          <p:cNvPr id="156" name="Rectangle 155"/>
          <p:cNvSpPr/>
          <p:nvPr/>
        </p:nvSpPr>
        <p:spPr>
          <a:xfrm>
            <a:off x="246888" y="4242816"/>
            <a:ext cx="2286000" cy="585216"/>
          </a:xfrm>
          <a:prstGeom prst="rect">
            <a:avLst/>
          </a:prstGeom>
          <a:solidFill>
            <a:srgbClr val="F2F2F2"/>
          </a:solidFill>
          <a:ln w="6350">
            <a:solidFill>
              <a:srgbClr val="BFBFBF"/>
            </a:solidFill>
          </a:ln>
          <a:effectLst/>
        </p:spPr>
        <p:txBody>
          <a:bodyPr rtlCol="0" anchor="ctr"/>
          <a:lstStyle/>
          <a:p>
            <a:pPr algn="ctr"/>
          </a:p>
        </p:txBody>
      </p:sp>
      <p:sp>
        <p:nvSpPr>
          <p:cNvPr id="157" name="TextBox 156"/>
          <p:cNvSpPr txBox="1"/>
          <p:nvPr/>
        </p:nvSpPr>
        <p:spPr>
          <a:xfrm>
            <a:off x="320040" y="4306824"/>
            <a:ext cx="411480" cy="457200"/>
          </a:xfrm>
          <a:prstGeom prst="rect">
            <a:avLst/>
          </a:prstGeom>
          <a:noFill/>
        </p:spPr>
        <p:txBody>
          <a:bodyPr wrap="square" anchor="ctr" lIns="0" tIns="0" rIns="0" bIns="0">
            <a:spAutoFit/>
          </a:bodyPr>
          <a:lstStyle/>
          <a:p>
            <a:pPr algn="l"/>
            <a:r>
              <a:rPr sz="1400" b="1">
                <a:solidFill>
                  <a:srgbClr val="404040"/>
                </a:solidFill>
                <a:latin typeface="맑은 고딕"/>
                <a:ea typeface="맑은 고딕"/>
              </a:rPr>
              <a:t>S6</a:t>
            </a:r>
          </a:p>
        </p:txBody>
      </p:sp>
      <p:sp>
        <p:nvSpPr>
          <p:cNvPr id="158" name="TextBox 157"/>
          <p:cNvSpPr txBox="1"/>
          <p:nvPr/>
        </p:nvSpPr>
        <p:spPr>
          <a:xfrm>
            <a:off x="749808" y="4315968"/>
            <a:ext cx="1737360" cy="457200"/>
          </a:xfrm>
          <a:prstGeom prst="rect">
            <a:avLst/>
          </a:prstGeom>
          <a:noFill/>
        </p:spPr>
        <p:txBody>
          <a:bodyPr wrap="square" anchor="t" lIns="0" tIns="0" rIns="0" bIns="0">
            <a:spAutoFit/>
          </a:bodyPr>
          <a:lstStyle/>
          <a:p>
            <a:pPr algn="l"/>
            <a:r>
              <a:rPr sz="950" b="1">
                <a:solidFill>
                  <a:srgbClr val="000000"/>
                </a:solidFill>
                <a:latin typeface="맑은 고딕"/>
                <a:ea typeface="맑은 고딕"/>
              </a:rPr>
              <a:t>신규 기능 추가</a:t>
            </a:r>
          </a:p>
          <a:p>
            <a:pPr algn="l"/>
            <a:r>
              <a:rPr sz="750" b="0">
                <a:solidFill>
                  <a:srgbClr val="404040"/>
                </a:solidFill>
                <a:latin typeface="맑은 고딕"/>
                <a:ea typeface="맑은 고딕"/>
              </a:rPr>
              <a:t>예: 흐름 제어 고도화, multi-cluster</a:t>
            </a:r>
          </a:p>
        </p:txBody>
      </p:sp>
      <p:sp>
        <p:nvSpPr>
          <p:cNvPr id="159" name="Rectangle 158"/>
          <p:cNvSpPr/>
          <p:nvPr/>
        </p:nvSpPr>
        <p:spPr>
          <a:xfrm>
            <a:off x="253288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0" name="Rectangle 159"/>
          <p:cNvSpPr/>
          <p:nvPr/>
        </p:nvSpPr>
        <p:spPr>
          <a:xfrm>
            <a:off x="2606040" y="4306824"/>
            <a:ext cx="749808" cy="182880"/>
          </a:xfrm>
          <a:prstGeom prst="rect">
            <a:avLst/>
          </a:prstGeom>
          <a:solidFill>
            <a:srgbClr val="DAE3F3"/>
          </a:solidFill>
          <a:ln w="12700">
            <a:solidFill>
              <a:srgbClr val="2F5597"/>
            </a:solidFill>
          </a:ln>
          <a:effectLst/>
        </p:spPr>
        <p:txBody>
          <a:bodyPr rtlCol="0" anchor="ctr" wrap="square" lIns="18288" tIns="0" rIns="18288" bIns="0"/>
          <a:lstStyle/>
          <a:p>
            <a:pPr algn="ctr"/>
            <a:r>
              <a:rPr sz="750" b="1">
                <a:solidFill>
                  <a:srgbClr val="000000"/>
                </a:solidFill>
                <a:latin typeface="맑은 고딕"/>
                <a:ea typeface="맑은 고딕"/>
              </a:rPr>
              <a:t>OSS</a:t>
            </a:r>
          </a:p>
        </p:txBody>
      </p:sp>
      <p:sp>
        <p:nvSpPr>
          <p:cNvPr id="161" name="TextBox 160"/>
          <p:cNvSpPr txBox="1"/>
          <p:nvPr/>
        </p:nvSpPr>
        <p:spPr>
          <a:xfrm>
            <a:off x="342900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OSS가 제공하는 기능을 설정으로 사용</a:t>
            </a:r>
          </a:p>
        </p:txBody>
      </p:sp>
      <p:sp>
        <p:nvSpPr>
          <p:cNvPr id="162" name="Rectangle 161"/>
          <p:cNvSpPr/>
          <p:nvPr/>
        </p:nvSpPr>
        <p:spPr>
          <a:xfrm>
            <a:off x="6556248" y="4242816"/>
            <a:ext cx="4023360" cy="585216"/>
          </a:xfrm>
          <a:prstGeom prst="rect">
            <a:avLst/>
          </a:prstGeom>
          <a:solidFill>
            <a:srgbClr val="FFFFFF"/>
          </a:solidFill>
          <a:ln w="6350">
            <a:solidFill>
              <a:srgbClr val="BFBFBF"/>
            </a:solidFill>
          </a:ln>
          <a:effectLst/>
        </p:spPr>
        <p:txBody>
          <a:bodyPr rtlCol="0" anchor="ctr"/>
          <a:lstStyle/>
          <a:p>
            <a:pPr algn="ctr"/>
          </a:p>
        </p:txBody>
      </p:sp>
      <p:sp>
        <p:nvSpPr>
          <p:cNvPr id="163" name="Rectangle 162"/>
          <p:cNvSpPr/>
          <p:nvPr/>
        </p:nvSpPr>
        <p:spPr>
          <a:xfrm>
            <a:off x="6629400" y="4306824"/>
            <a:ext cx="749808" cy="182880"/>
          </a:xfrm>
          <a:prstGeom prst="rect">
            <a:avLst/>
          </a:prstGeom>
          <a:solidFill>
            <a:srgbClr val="FBE5D6"/>
          </a:solidFill>
          <a:ln w="12700">
            <a:solidFill>
              <a:srgbClr val="C55A11"/>
            </a:solidFill>
          </a:ln>
          <a:effectLst/>
        </p:spPr>
        <p:txBody>
          <a:bodyPr rtlCol="0" anchor="ctr" wrap="square" lIns="18288" tIns="0" rIns="18288" bIns="0"/>
          <a:lstStyle/>
          <a:p>
            <a:pPr algn="ctr"/>
            <a:r>
              <a:rPr sz="750" b="1">
                <a:solidFill>
                  <a:srgbClr val="000000"/>
                </a:solidFill>
                <a:latin typeface="맑은 고딕"/>
                <a:ea typeface="맑은 고딕"/>
              </a:rPr>
              <a:t>직접</a:t>
            </a:r>
          </a:p>
        </p:txBody>
      </p:sp>
      <p:sp>
        <p:nvSpPr>
          <p:cNvPr id="164" name="TextBox 163"/>
          <p:cNvSpPr txBox="1"/>
          <p:nvPr/>
        </p:nvSpPr>
        <p:spPr>
          <a:xfrm>
            <a:off x="7452360" y="4297679"/>
            <a:ext cx="3054096" cy="493776"/>
          </a:xfrm>
          <a:prstGeom prst="rect">
            <a:avLst/>
          </a:prstGeom>
          <a:noFill/>
        </p:spPr>
        <p:txBody>
          <a:bodyPr wrap="square" anchor="ctr" lIns="0" tIns="0" rIns="0" bIns="0">
            <a:spAutoFit/>
          </a:bodyPr>
          <a:lstStyle/>
          <a:p>
            <a:pPr algn="l"/>
            <a:r>
              <a:rPr sz="850" b="0">
                <a:solidFill>
                  <a:srgbClr val="000000"/>
                </a:solidFill>
                <a:latin typeface="맑은 고딕"/>
                <a:ea typeface="맑은 고딕"/>
              </a:rPr>
              <a:t>직접 구현</a:t>
            </a:r>
          </a:p>
        </p:txBody>
      </p:sp>
      <p:sp>
        <p:nvSpPr>
          <p:cNvPr id="165" name="Rectangle 164"/>
          <p:cNvSpPr/>
          <p:nvPr/>
        </p:nvSpPr>
        <p:spPr>
          <a:xfrm>
            <a:off x="10579608" y="4242816"/>
            <a:ext cx="1417320" cy="585216"/>
          </a:xfrm>
          <a:prstGeom prst="rect">
            <a:avLst/>
          </a:prstGeom>
          <a:solidFill>
            <a:srgbClr val="DAE3F3"/>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1안 유리</a:t>
            </a:r>
          </a:p>
          <a:p>
            <a:pPr algn="ctr"/>
            <a:r>
              <a:rPr sz="750" b="0">
                <a:solidFill>
                  <a:srgbClr val="404040"/>
                </a:solidFill>
                <a:latin typeface="맑은 고딕"/>
                <a:ea typeface="맑은 고딕"/>
              </a:rPr>
              <a:t>흡수</a:t>
            </a:r>
          </a:p>
        </p:txBody>
      </p:sp>
      <p:sp>
        <p:nvSpPr>
          <p:cNvPr id="166" name="Rectangle 165"/>
          <p:cNvSpPr/>
          <p:nvPr/>
        </p:nvSpPr>
        <p:spPr>
          <a:xfrm>
            <a:off x="246888" y="4937759"/>
            <a:ext cx="3794760" cy="502920"/>
          </a:xfrm>
          <a:prstGeom prst="rect">
            <a:avLst/>
          </a:prstGeom>
          <a:solidFill>
            <a:srgbClr val="DAE3F3"/>
          </a:solidFill>
          <a:ln w="15875">
            <a:solidFill>
              <a:srgbClr val="2F5597"/>
            </a:solidFill>
          </a:ln>
          <a:effectLst/>
        </p:spPr>
        <p:txBody>
          <a:bodyPr rtlCol="0" anchor="ctr" wrap="square" lIns="36576" tIns="18288" rIns="36576" bIns="18288"/>
          <a:lstStyle/>
          <a:p>
            <a:pPr algn="ctr"/>
            <a:r>
              <a:rPr sz="1000" b="1">
                <a:solidFill>
                  <a:srgbClr val="2F5597"/>
                </a:solidFill>
                <a:latin typeface="맑은 고딕"/>
                <a:ea typeface="맑은 고딕"/>
              </a:rPr>
              <a:t>1안 우위: S1 · S5 · S6</a:t>
            </a:r>
          </a:p>
          <a:p>
            <a:pPr algn="ctr"/>
            <a:r>
              <a:rPr sz="850" b="0">
                <a:solidFill>
                  <a:srgbClr val="000000"/>
                </a:solidFill>
                <a:latin typeface="맑은 고딕"/>
                <a:ea typeface="맑은 고딕"/>
              </a:rPr>
              <a:t>환경 변화·신기능을 OSS가 흡수</a:t>
            </a:r>
          </a:p>
        </p:txBody>
      </p:sp>
      <p:sp>
        <p:nvSpPr>
          <p:cNvPr id="167" name="Rectangle 166"/>
          <p:cNvSpPr/>
          <p:nvPr/>
        </p:nvSpPr>
        <p:spPr>
          <a:xfrm>
            <a:off x="4224527" y="4937759"/>
            <a:ext cx="3794760" cy="502920"/>
          </a:xfrm>
          <a:prstGeom prst="rect">
            <a:avLst/>
          </a:prstGeom>
          <a:solidFill>
            <a:srgbClr val="FBE5D6"/>
          </a:solidFill>
          <a:ln w="15875">
            <a:solidFill>
              <a:srgbClr val="C55A11"/>
            </a:solidFill>
          </a:ln>
          <a:effectLst/>
        </p:spPr>
        <p:txBody>
          <a:bodyPr rtlCol="0" anchor="ctr" wrap="square" lIns="36576" tIns="18288" rIns="36576" bIns="18288"/>
          <a:lstStyle/>
          <a:p>
            <a:pPr algn="ctr"/>
            <a:r>
              <a:rPr sz="1000" b="1">
                <a:solidFill>
                  <a:srgbClr val="C55A11"/>
                </a:solidFill>
                <a:latin typeface="맑은 고딕"/>
                <a:ea typeface="맑은 고딕"/>
              </a:rPr>
              <a:t>2안 우위: S2 · S3 · S4</a:t>
            </a:r>
          </a:p>
          <a:p>
            <a:pPr algn="ctr"/>
            <a:r>
              <a:rPr sz="850" b="0">
                <a:solidFill>
                  <a:srgbClr val="000000"/>
                </a:solidFill>
                <a:latin typeface="맑은 고딕"/>
                <a:ea typeface="맑은 고딕"/>
              </a:rPr>
              <a:t>우리 로직(비용 함수·P/D 정책·노드 지시)을 통제</a:t>
            </a:r>
          </a:p>
        </p:txBody>
      </p:sp>
      <p:sp>
        <p:nvSpPr>
          <p:cNvPr id="168" name="Rectangle 167"/>
          <p:cNvSpPr/>
          <p:nvPr/>
        </p:nvSpPr>
        <p:spPr>
          <a:xfrm>
            <a:off x="8202167" y="4937759"/>
            <a:ext cx="3794760" cy="502920"/>
          </a:xfrm>
          <a:prstGeom prst="rect">
            <a:avLst/>
          </a:prstGeom>
          <a:solidFill>
            <a:srgbClr val="FFFBEA"/>
          </a:solidFill>
          <a:ln w="15875">
            <a:solidFill>
              <a:srgbClr val="BF9000"/>
            </a:solidFill>
          </a:ln>
          <a:effectLst/>
        </p:spPr>
        <p:txBody>
          <a:bodyPr rtlCol="0" anchor="ctr" wrap="square" lIns="36576" tIns="18288" rIns="36576" bIns="18288"/>
          <a:lstStyle/>
          <a:p>
            <a:pPr algn="ctr"/>
            <a:r>
              <a:rPr sz="1000" b="1">
                <a:solidFill>
                  <a:srgbClr val="C00000"/>
                </a:solidFill>
                <a:latin typeface="맑은 고딕"/>
                <a:ea typeface="맑은 고딕"/>
              </a:rPr>
              <a:t>3 대 3 → Q3 변경·유지 용이성 동등</a:t>
            </a:r>
          </a:p>
          <a:p>
            <a:pPr algn="ctr"/>
            <a:r>
              <a:rPr sz="850" b="0">
                <a:solidFill>
                  <a:srgbClr val="000000"/>
                </a:solidFill>
                <a:latin typeface="맑은 고딕"/>
                <a:ea typeface="맑은 고딕"/>
              </a:rPr>
              <a:t>1안 ●●○  /  2안 ●●○  (성격만 다름)</a:t>
            </a:r>
          </a:p>
        </p:txBody>
      </p:sp>
      <p:sp>
        <p:nvSpPr>
          <p:cNvPr id="169" name="Rectangle 168"/>
          <p:cNvSpPr/>
          <p:nvPr/>
        </p:nvSpPr>
        <p:spPr>
          <a:xfrm>
            <a:off x="246888" y="5559551"/>
            <a:ext cx="11750040" cy="566928"/>
          </a:xfrm>
          <a:prstGeom prst="rect">
            <a:avLst/>
          </a:prstGeom>
          <a:solidFill>
            <a:srgbClr val="FFFFFF"/>
          </a:solidFill>
          <a:ln w="9525">
            <a:solidFill>
              <a:srgbClr val="7F7F7F"/>
            </a:solidFill>
          </a:ln>
          <a:effectLst/>
        </p:spPr>
        <p:txBody>
          <a:bodyPr rtlCol="0" anchor="ctr"/>
          <a:lstStyle/>
          <a:p>
            <a:pPr algn="ctr"/>
          </a:p>
        </p:txBody>
      </p:sp>
      <p:sp>
        <p:nvSpPr>
          <p:cNvPr id="170" name="TextBox 169"/>
          <p:cNvSpPr txBox="1"/>
          <p:nvPr/>
        </p:nvSpPr>
        <p:spPr>
          <a:xfrm>
            <a:off x="338328" y="5605271"/>
            <a:ext cx="11567160" cy="50292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S4의 범위  </a:t>
            </a:r>
            <a:r>
              <a:rPr sz="850" b="0">
                <a:solidFill>
                  <a:srgbClr val="000000"/>
                </a:solidFill>
                <a:latin typeface="맑은 고딕"/>
                <a:ea typeface="맑은 고딕"/>
              </a:rPr>
              <a:t>비교는 오케스트레이션 측 변경만 센다. 새 지시 키를 vLLM(엔진)이 이해·실행하게 하는 변경은 어느 안을 택해도 똑같이 필요한 공통 선결(C5 접점 계약)이라 후보를 가르지 않는다.</a:t>
            </a:r>
          </a:p>
          <a:p>
            <a:pPr algn="l"/>
            <a:r>
              <a:rPr sz="850" b="1">
                <a:solidFill>
                  <a:srgbClr val="C00000"/>
                </a:solidFill>
                <a:latin typeface="맑은 고딕"/>
                <a:ea typeface="맑은 고딕"/>
              </a:rPr>
              <a:t>유지 부담은 Q3 안에  </a:t>
            </a:r>
            <a:r>
              <a:rPr sz="850" b="0">
                <a:solidFill>
                  <a:srgbClr val="000000"/>
                </a:solidFill>
                <a:latin typeface="맑은 고딕"/>
                <a:ea typeface="맑은 고딕"/>
              </a:rPr>
              <a:t>업스트림 추종(S5)과 신기능 확보(S6)는 변경·유지 용이성의 일부라 Q3에 포함한다. 구현 부담·증거 수준은 QA 밖 제약·리스크로 따로 둔다.</a:t>
            </a:r>
          </a:p>
        </p:txBody>
      </p:sp>
      <p:sp>
        <p:nvSpPr>
          <p:cNvPr id="171" name="TextBox 170"/>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가설 [C] (일부 [A]: P1~P4 plugin은 합성 백엔드로 끝단 실행). 시나리오 가중치는 정하지 않았다. 용어: plugin = 기존 코드를 안 고치고 끼우는 확장 모듈 · patch = 기존 모듈 수정</a:t>
            </a:r>
          </a:p>
        </p:txBody>
      </p:sp>
    </p:spTree>
    <p:extLst>
      <p:ext uri="{BB962C8B-B14F-4D97-AF65-F5344CB8AC3E}">
        <p14:creationId xmlns:p14="http://schemas.microsoft.com/office/powerpoint/2010/main" val="3392401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QA와 제약·리스크를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쪽을 얻으면 다른 쪽을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P5를 수정 없이 전달, 결정 정책 자유</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Q3·제약 </a:t>
            </a:r>
            <a:r>
              <a:rPr sz="850" b="0">
                <a:solidFill>
                  <a:srgbClr val="000000"/>
                </a:solidFill>
                <a:latin typeface="맑은 고딕"/>
                <a:ea typeface="맑은 고딕"/>
              </a:rPr>
              <a:t>S1·S5·S6: 설정만, 계약·신기능은 OSS가 흡수. 구현 부담↓, 실행 확인 [A]</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S2~S4: wrapper가 OSS 동작에 의존, 보조 프로세스 수정, 자체 이미지</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 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Q3·제약 </a:t>
            </a:r>
            <a:r>
              <a:rPr sz="850" b="0">
                <a:solidFill>
                  <a:srgbClr val="000000"/>
                </a:solidFill>
                <a:latin typeface="맑은 고딕"/>
                <a:ea typeface="맑은 고딕"/>
              </a:rPr>
              <a:t>S1·S5·S6 직접 부담, 6/6 직접 구현, 설계안뿐</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(4개, 별 합계) + 제약·리스크 (합계에 넣지 않음)</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 정책 P1~P5는 둘 다 표현 가능. 2안은 P/D 경로 P5를 수정 없이 전달하나 효과 미확인. E4</a:t>
            </a:r>
          </a:p>
        </p:txBody>
      </p:sp>
      <p:sp>
        <p:nvSpPr>
          <p:cNvPr id="143" name="Rectangle 142"/>
          <p:cNvSpPr/>
          <p:nvPr/>
        </p:nvSpPr>
        <p:spPr>
          <a:xfrm>
            <a:off x="6492240" y="1938528"/>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1938528"/>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1938528"/>
            <a:ext cx="987552" cy="420624"/>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1938528"/>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359152"/>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변경·유지 용이성</a:t>
            </a:r>
          </a:p>
        </p:txBody>
      </p:sp>
      <p:sp>
        <p:nvSpPr>
          <p:cNvPr id="148" name="Rectangle 147"/>
          <p:cNvSpPr/>
          <p:nvPr/>
        </p:nvSpPr>
        <p:spPr>
          <a:xfrm>
            <a:off x="7498079"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359152"/>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359152"/>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동등(3 대 3): S1·S5·S6은 1안(흡수), S2·S3·S4는 2안(통제). 앞 장 S1~S6</a:t>
            </a:r>
          </a:p>
        </p:txBody>
      </p:sp>
      <p:sp>
        <p:nvSpPr>
          <p:cNvPr id="151" name="Rectangle 150"/>
          <p:cNvSpPr/>
          <p:nvPr/>
        </p:nvSpPr>
        <p:spPr>
          <a:xfrm>
            <a:off x="6492240" y="2779776"/>
            <a:ext cx="1005840" cy="420624"/>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2779776"/>
            <a:ext cx="987552" cy="420624"/>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2779776"/>
            <a:ext cx="987552" cy="420624"/>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2779776"/>
            <a:ext cx="2523744" cy="420624"/>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 직접 구축, 2노드 실측 불가</a:t>
            </a:r>
          </a:p>
        </p:txBody>
      </p:sp>
      <p:sp>
        <p:nvSpPr>
          <p:cNvPr id="155" name="Rectangle 154"/>
          <p:cNvSpPr/>
          <p:nvPr/>
        </p:nvSpPr>
        <p:spPr>
          <a:xfrm>
            <a:off x="6492240" y="3200400"/>
            <a:ext cx="10058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3200400"/>
            <a:ext cx="987552" cy="256032"/>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3200400"/>
            <a:ext cx="2523744"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우선순위로 Q2에서 갈림 → 2안</a:t>
            </a:r>
          </a:p>
        </p:txBody>
      </p:sp>
      <p:sp>
        <p:nvSpPr>
          <p:cNvPr id="159" name="TextBox 158"/>
          <p:cNvSpPr txBox="1"/>
          <p:nvPr/>
        </p:nvSpPr>
        <p:spPr>
          <a:xfrm>
            <a:off x="6492240" y="3483864"/>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제약 · 리스크 (QA 밖, 별 합계에 넣지 않음, 우위만 표시)</a:t>
            </a:r>
          </a:p>
        </p:txBody>
      </p:sp>
      <p:sp>
        <p:nvSpPr>
          <p:cNvPr id="160" name="Rectangle 159"/>
          <p:cNvSpPr/>
          <p:nvPr/>
        </p:nvSpPr>
        <p:spPr>
          <a:xfrm>
            <a:off x="6492240" y="3685032"/>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비용</a:t>
            </a:r>
          </a:p>
        </p:txBody>
      </p:sp>
      <p:sp>
        <p:nvSpPr>
          <p:cNvPr id="161" name="Rectangle 160"/>
          <p:cNvSpPr/>
          <p:nvPr/>
        </p:nvSpPr>
        <p:spPr>
          <a:xfrm>
            <a:off x="7022592" y="3685032"/>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 부담</a:t>
            </a:r>
          </a:p>
        </p:txBody>
      </p:sp>
      <p:sp>
        <p:nvSpPr>
          <p:cNvPr id="162" name="Rectangle 161"/>
          <p:cNvSpPr/>
          <p:nvPr/>
        </p:nvSpPr>
        <p:spPr>
          <a:xfrm>
            <a:off x="7799831" y="3685032"/>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소유 블록 3/6 + Router 이미지</a:t>
            </a:r>
          </a:p>
        </p:txBody>
      </p:sp>
      <p:sp>
        <p:nvSpPr>
          <p:cNvPr id="163" name="Rectangle 162"/>
          <p:cNvSpPr/>
          <p:nvPr/>
        </p:nvSpPr>
        <p:spPr>
          <a:xfrm>
            <a:off x="9555480" y="3685032"/>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6/6 + 레플리카·HA·흐름 제어</a:t>
            </a:r>
          </a:p>
        </p:txBody>
      </p:sp>
      <p:sp>
        <p:nvSpPr>
          <p:cNvPr id="164" name="Rectangle 163"/>
          <p:cNvSpPr/>
          <p:nvPr/>
        </p:nvSpPr>
        <p:spPr>
          <a:xfrm>
            <a:off x="11292840" y="3685032"/>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65" name="Rectangle 164"/>
          <p:cNvSpPr/>
          <p:nvPr/>
        </p:nvSpPr>
        <p:spPr>
          <a:xfrm>
            <a:off x="6492240" y="3941064"/>
            <a:ext cx="530352" cy="256032"/>
          </a:xfrm>
          <a:prstGeom prst="rect">
            <a:avLst/>
          </a:prstGeom>
          <a:solidFill>
            <a:srgbClr val="F2F2F2"/>
          </a:solidFill>
          <a:ln w="6350">
            <a:solidFill>
              <a:srgbClr val="BFBFBF"/>
            </a:solidFill>
          </a:ln>
          <a:effectLst/>
        </p:spPr>
        <p:txBody>
          <a:bodyPr rtlCol="0" anchor="ctr"/>
          <a:lstStyle/>
          <a:p>
            <a:pPr algn="ctr"/>
          </a:p>
        </p:txBody>
      </p:sp>
      <p:sp>
        <p:nvSpPr>
          <p:cNvPr id="166" name="Rectangle 165"/>
          <p:cNvSpPr/>
          <p:nvPr/>
        </p:nvSpPr>
        <p:spPr>
          <a:xfrm>
            <a:off x="7022592" y="3941064"/>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a:t>
            </a:r>
          </a:p>
        </p:txBody>
      </p:sp>
      <p:sp>
        <p:nvSpPr>
          <p:cNvPr id="167" name="Rectangle 166"/>
          <p:cNvSpPr/>
          <p:nvPr/>
        </p:nvSpPr>
        <p:spPr>
          <a:xfrm>
            <a:off x="7799831" y="3941064"/>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K8s·프록시·자체 이미지 (C2)</a:t>
            </a:r>
          </a:p>
        </p:txBody>
      </p:sp>
      <p:sp>
        <p:nvSpPr>
          <p:cNvPr id="168" name="Rectangle 167"/>
          <p:cNvSpPr/>
          <p:nvPr/>
        </p:nvSpPr>
        <p:spPr>
          <a:xfrm>
            <a:off x="9555480" y="3941064"/>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K8s·프록시 불필요</a:t>
            </a:r>
          </a:p>
        </p:txBody>
      </p:sp>
      <p:sp>
        <p:nvSpPr>
          <p:cNvPr id="169" name="Rectangle 168"/>
          <p:cNvSpPr/>
          <p:nvPr/>
        </p:nvSpPr>
        <p:spPr>
          <a:xfrm>
            <a:off x="11292840" y="3941064"/>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70" name="Rectangle 169"/>
          <p:cNvSpPr/>
          <p:nvPr/>
        </p:nvSpPr>
        <p:spPr>
          <a:xfrm>
            <a:off x="6492240" y="4197096"/>
            <a:ext cx="530352" cy="256032"/>
          </a:xfrm>
          <a:prstGeom prst="rect">
            <a:avLst/>
          </a:prstGeom>
          <a:solidFill>
            <a:srgbClr val="F2F2F2"/>
          </a:solidFill>
          <a:ln w="6350">
            <a:solidFill>
              <a:srgbClr val="BFBFBF"/>
            </a:solidFill>
          </a:ln>
          <a:effectLst/>
        </p:spPr>
        <p:txBody>
          <a:bodyPr rtlCol="0" anchor="ctr" wrap="square" lIns="64008" tIns="27432" rIns="45720" bIns="27432"/>
          <a:lstStyle/>
          <a:p>
            <a:pPr algn="ctr"/>
            <a:r>
              <a:rPr sz="800" b="1">
                <a:solidFill>
                  <a:srgbClr val="000000"/>
                </a:solidFill>
                <a:latin typeface="맑은 고딕"/>
                <a:ea typeface="맑은 고딕"/>
              </a:rPr>
              <a:t>리스크</a:t>
            </a:r>
          </a:p>
        </p:txBody>
      </p:sp>
      <p:sp>
        <p:nvSpPr>
          <p:cNvPr id="171" name="Rectangle 170"/>
          <p:cNvSpPr/>
          <p:nvPr/>
        </p:nvSpPr>
        <p:spPr>
          <a:xfrm>
            <a:off x="7022592" y="4197096"/>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증거 수준</a:t>
            </a:r>
          </a:p>
        </p:txBody>
      </p:sp>
      <p:sp>
        <p:nvSpPr>
          <p:cNvPr id="172" name="Rectangle 171"/>
          <p:cNvSpPr/>
          <p:nvPr/>
        </p:nvSpPr>
        <p:spPr>
          <a:xfrm>
            <a:off x="7799831" y="4197096"/>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P1~P4 끝단 실행 [A]</a:t>
            </a:r>
          </a:p>
        </p:txBody>
      </p:sp>
      <p:sp>
        <p:nvSpPr>
          <p:cNvPr id="173" name="Rectangle 172"/>
          <p:cNvSpPr/>
          <p:nvPr/>
        </p:nvSpPr>
        <p:spPr>
          <a:xfrm>
            <a:off x="9555480" y="4197096"/>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설계안, 미구현 [C]</a:t>
            </a:r>
          </a:p>
        </p:txBody>
      </p:sp>
      <p:sp>
        <p:nvSpPr>
          <p:cNvPr id="174" name="Rectangle 173"/>
          <p:cNvSpPr/>
          <p:nvPr/>
        </p:nvSpPr>
        <p:spPr>
          <a:xfrm>
            <a:off x="11292840" y="4197096"/>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75" name="Rectangle 174"/>
          <p:cNvSpPr/>
          <p:nvPr/>
        </p:nvSpPr>
        <p:spPr>
          <a:xfrm>
            <a:off x="6492240" y="4453128"/>
            <a:ext cx="530352" cy="256032"/>
          </a:xfrm>
          <a:prstGeom prst="rect">
            <a:avLst/>
          </a:prstGeom>
          <a:solidFill>
            <a:srgbClr val="F2F2F2"/>
          </a:solidFill>
          <a:ln w="6350">
            <a:solidFill>
              <a:srgbClr val="BFBFBF"/>
            </a:solidFill>
          </a:ln>
          <a:effectLst/>
        </p:spPr>
        <p:txBody>
          <a:bodyPr rtlCol="0" anchor="ctr"/>
          <a:lstStyle/>
          <a:p>
            <a:pPr algn="ctr"/>
          </a:p>
        </p:txBody>
      </p:sp>
      <p:sp>
        <p:nvSpPr>
          <p:cNvPr id="176" name="Rectangle 175"/>
          <p:cNvSpPr/>
          <p:nvPr/>
        </p:nvSpPr>
        <p:spPr>
          <a:xfrm>
            <a:off x="7022592" y="4453128"/>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업스트림 의존</a:t>
            </a:r>
          </a:p>
        </p:txBody>
      </p:sp>
      <p:sp>
        <p:nvSpPr>
          <p:cNvPr id="177" name="Rectangle 176"/>
          <p:cNvSpPr/>
          <p:nvPr/>
        </p:nvSpPr>
        <p:spPr>
          <a:xfrm>
            <a:off x="7799831" y="4453128"/>
            <a:ext cx="1755648"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2F5597"/>
                </a:solidFill>
                <a:latin typeface="맑은 고딕"/>
                <a:ea typeface="맑은 고딕"/>
              </a:rPr>
              <a:t>wrapper·수정이 OSS 동작에 의존</a:t>
            </a:r>
          </a:p>
        </p:txBody>
      </p:sp>
      <p:sp>
        <p:nvSpPr>
          <p:cNvPr id="178" name="Rectangle 177"/>
          <p:cNvSpPr/>
          <p:nvPr/>
        </p:nvSpPr>
        <p:spPr>
          <a:xfrm>
            <a:off x="9555480" y="4453128"/>
            <a:ext cx="1737360" cy="256032"/>
          </a:xfrm>
          <a:prstGeom prst="rect">
            <a:avLst/>
          </a:prstGeom>
          <a:solidFill>
            <a:srgbClr val="FBE5D6"/>
          </a:solidFill>
          <a:ln w="6350">
            <a:solidFill>
              <a:srgbClr val="BFBFBF"/>
            </a:solidFill>
          </a:ln>
          <a:effectLst/>
        </p:spPr>
        <p:txBody>
          <a:bodyPr rtlCol="0" anchor="ctr" wrap="square" lIns="64008" tIns="27432" rIns="45720" bIns="27432"/>
          <a:lstStyle/>
          <a:p>
            <a:pPr algn="l"/>
            <a:r>
              <a:rPr sz="750" b="1">
                <a:solidFill>
                  <a:srgbClr val="C55A11"/>
                </a:solidFill>
                <a:latin typeface="맑은 고딕"/>
                <a:ea typeface="맑은 고딕"/>
              </a:rPr>
              <a:t>OSS 의존 없음 (vLLM 계약만)</a:t>
            </a:r>
          </a:p>
        </p:txBody>
      </p:sp>
      <p:sp>
        <p:nvSpPr>
          <p:cNvPr id="179" name="Rectangle 178"/>
          <p:cNvSpPr/>
          <p:nvPr/>
        </p:nvSpPr>
        <p:spPr>
          <a:xfrm>
            <a:off x="11292840" y="4453128"/>
            <a:ext cx="704088" cy="256032"/>
          </a:xfrm>
          <a:prstGeom prst="rect">
            <a:avLst/>
          </a:prstGeom>
          <a:solidFill>
            <a:srgbClr val="FBE5D6"/>
          </a:solidFill>
          <a:ln w="6350">
            <a:solidFill>
              <a:srgbClr val="BFBFBF"/>
            </a:solidFill>
          </a:ln>
          <a:effectLst/>
        </p:spPr>
        <p:txBody>
          <a:bodyPr rtlCol="0" anchor="ctr" wrap="square" lIns="64008" tIns="27432" rIns="45720" bIns="27432"/>
          <a:lstStyle/>
          <a:p>
            <a:pPr algn="ctr"/>
            <a:r>
              <a:rPr sz="750" b="1">
                <a:solidFill>
                  <a:srgbClr val="C55A11"/>
                </a:solidFill>
                <a:latin typeface="맑은 고딕"/>
                <a:ea typeface="맑은 고딕"/>
              </a:rPr>
              <a:t>2안 유리</a:t>
            </a:r>
          </a:p>
        </p:txBody>
      </p:sp>
      <p:sp>
        <p:nvSpPr>
          <p:cNvPr id="180" name="Rectangle 179"/>
          <p:cNvSpPr/>
          <p:nvPr/>
        </p:nvSpPr>
        <p:spPr>
          <a:xfrm>
            <a:off x="6492240" y="4709160"/>
            <a:ext cx="530352" cy="256032"/>
          </a:xfrm>
          <a:prstGeom prst="rect">
            <a:avLst/>
          </a:prstGeom>
          <a:solidFill>
            <a:srgbClr val="F2F2F2"/>
          </a:solidFill>
          <a:ln w="6350">
            <a:solidFill>
              <a:srgbClr val="BFBFBF"/>
            </a:solidFill>
          </a:ln>
          <a:effectLst/>
        </p:spPr>
        <p:txBody>
          <a:bodyPr rtlCol="0" anchor="ctr"/>
          <a:lstStyle/>
          <a:p>
            <a:pPr algn="ctr"/>
          </a:p>
        </p:txBody>
      </p:sp>
      <p:sp>
        <p:nvSpPr>
          <p:cNvPr id="181" name="Rectangle 180"/>
          <p:cNvSpPr/>
          <p:nvPr/>
        </p:nvSpPr>
        <p:spPr>
          <a:xfrm>
            <a:off x="7022592" y="4709160"/>
            <a:ext cx="777240" cy="256032"/>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미검증 가정</a:t>
            </a:r>
          </a:p>
        </p:txBody>
      </p:sp>
      <p:sp>
        <p:nvSpPr>
          <p:cNvPr id="182" name="Rectangle 181"/>
          <p:cNvSpPr/>
          <p:nvPr/>
        </p:nvSpPr>
        <p:spPr>
          <a:xfrm>
            <a:off x="7799831" y="4709160"/>
            <a:ext cx="1755648" cy="256032"/>
          </a:xfrm>
          <a:prstGeom prst="rect">
            <a:avLst/>
          </a:prstGeom>
          <a:solidFill>
            <a:srgbClr val="DAE3F3"/>
          </a:solidFill>
          <a:ln w="6350">
            <a:solidFill>
              <a:srgbClr val="BFBFBF"/>
            </a:solidFill>
          </a:ln>
          <a:effectLst/>
        </p:spPr>
        <p:txBody>
          <a:bodyPr rtlCol="0" anchor="ctr" wrap="square" lIns="64008" tIns="27432" rIns="45720" bIns="27432"/>
          <a:lstStyle/>
          <a:p>
            <a:pPr algn="l"/>
            <a:r>
              <a:rPr sz="750" b="1">
                <a:solidFill>
                  <a:srgbClr val="2F5597"/>
                </a:solidFill>
                <a:latin typeface="맑은 고딕"/>
                <a:ea typeface="맑은 고딕"/>
              </a:rPr>
              <a:t>지연 크기 미측정 (E1)</a:t>
            </a:r>
          </a:p>
        </p:txBody>
      </p:sp>
      <p:sp>
        <p:nvSpPr>
          <p:cNvPr id="183" name="Rectangle 182"/>
          <p:cNvSpPr/>
          <p:nvPr/>
        </p:nvSpPr>
        <p:spPr>
          <a:xfrm>
            <a:off x="9555480" y="4709160"/>
            <a:ext cx="1737360" cy="25603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C55A11"/>
                </a:solidFill>
                <a:latin typeface="맑은 고딕"/>
                <a:ea typeface="맑은 고딕"/>
              </a:rPr>
              <a:t>지연 이점·구현량·신선도 미측정</a:t>
            </a:r>
          </a:p>
        </p:txBody>
      </p:sp>
      <p:sp>
        <p:nvSpPr>
          <p:cNvPr id="184" name="Rectangle 183"/>
          <p:cNvSpPr/>
          <p:nvPr/>
        </p:nvSpPr>
        <p:spPr>
          <a:xfrm>
            <a:off x="11292840" y="4709160"/>
            <a:ext cx="704088" cy="256032"/>
          </a:xfrm>
          <a:prstGeom prst="rect">
            <a:avLst/>
          </a:prstGeom>
          <a:solidFill>
            <a:srgbClr val="DAE3F3"/>
          </a:solidFill>
          <a:ln w="6350">
            <a:solidFill>
              <a:srgbClr val="BFBFBF"/>
            </a:solidFill>
          </a:ln>
          <a:effectLst/>
        </p:spPr>
        <p:txBody>
          <a:bodyPr rtlCol="0" anchor="ctr" wrap="square" lIns="64008" tIns="27432" rIns="45720" bIns="27432"/>
          <a:lstStyle/>
          <a:p>
            <a:pPr algn="ctr"/>
            <a:r>
              <a:rPr sz="750" b="1">
                <a:solidFill>
                  <a:srgbClr val="2F5597"/>
                </a:solidFill>
                <a:latin typeface="맑은 고딕"/>
                <a:ea typeface="맑은 고딕"/>
              </a:rPr>
              <a:t>1안 유리</a:t>
            </a:r>
          </a:p>
        </p:txBody>
      </p:sp>
      <p:sp>
        <p:nvSpPr>
          <p:cNvPr id="185" name="Rectangle 184"/>
          <p:cNvSpPr/>
          <p:nvPr/>
        </p:nvSpPr>
        <p:spPr>
          <a:xfrm>
            <a:off x="6492240" y="5020056"/>
            <a:ext cx="5504688" cy="329184"/>
          </a:xfrm>
          <a:prstGeom prst="rect">
            <a:avLst/>
          </a:prstGeom>
          <a:solidFill>
            <a:srgbClr val="FFFBEA"/>
          </a:solidFill>
          <a:ln w="12700">
            <a:solidFill>
              <a:srgbClr val="BF9000"/>
            </a:solidFill>
          </a:ln>
          <a:effectLst/>
        </p:spPr>
        <p:txBody>
          <a:bodyPr rtlCol="0" anchor="ctr" wrap="square" lIns="64008" tIns="18288" rIns="45720" bIns="18288"/>
          <a:lstStyle/>
          <a:p>
            <a:pPr algn="l"/>
            <a:r>
              <a:rPr sz="800" b="1">
                <a:solidFill>
                  <a:srgbClr val="C00000"/>
                </a:solidFill>
                <a:latin typeface="맑은 고딕"/>
                <a:ea typeface="맑은 고딕"/>
              </a:rPr>
              <a:t>선택 규칙  </a:t>
            </a:r>
            <a:r>
              <a:rPr sz="750" b="0">
                <a:solidFill>
                  <a:srgbClr val="000000"/>
                </a:solidFill>
                <a:latin typeface="맑은 고딕"/>
                <a:ea typeface="맑은 고딕"/>
              </a:rPr>
              <a:t>① 별 합계 → ② 동점이면 QA 우선순위(Q1&gt;Q2&gt;Q3&gt;Q4)로 처음 갈리는 QA → Q2 지연에서 갈림 → 2안 (우선순위가 Q4&gt;Q2면 1안)</a:t>
            </a:r>
          </a:p>
        </p:txBody>
      </p:sp>
      <p:sp>
        <p:nvSpPr>
          <p:cNvPr id="186" name="Rectangle 185"/>
          <p:cNvSpPr/>
          <p:nvPr/>
        </p:nvSpPr>
        <p:spPr>
          <a:xfrm>
            <a:off x="246888" y="5468112"/>
            <a:ext cx="11750040" cy="804672"/>
          </a:xfrm>
          <a:prstGeom prst="rect">
            <a:avLst/>
          </a:prstGeom>
          <a:solidFill>
            <a:srgbClr val="FFFBEA"/>
          </a:solidFill>
          <a:ln w="12700">
            <a:solidFill>
              <a:srgbClr val="BF9000"/>
            </a:solidFill>
          </a:ln>
          <a:effectLst/>
        </p:spPr>
        <p:txBody>
          <a:bodyPr rtlCol="0" anchor="ctr"/>
          <a:lstStyle/>
          <a:p>
            <a:pPr algn="ctr"/>
          </a:p>
        </p:txBody>
      </p:sp>
      <p:sp>
        <p:nvSpPr>
          <p:cNvPr id="187" name="TextBox 186"/>
          <p:cNvSpPr txBox="1"/>
          <p:nvPr/>
        </p:nvSpPr>
        <p:spPr>
          <a:xfrm>
            <a:off x="338328" y="5504688"/>
            <a:ext cx="11567160" cy="74980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4개는 9 대 9 동점이고 제약·리스크는 1안이 우위다. 동점은 QA 우선순위가 정하므로 Q2 지연에서 갈려 2안(자체 구현)을 선택한다.</a:t>
            </a:r>
          </a:p>
          <a:p>
            <a:pPr algn="l"/>
            <a:r>
              <a:rPr sz="850" b="0">
                <a:solidFill>
                  <a:srgbClr val="000000"/>
                </a:solidFill>
                <a:latin typeface="맑은 고딕"/>
                <a:ea typeface="맑은 고딕"/>
              </a:rPr>
              <a:t>· 직접 개발(2안)은 지연을, OSS 확장(1안)은 확장성을 얻고, 변경·유지 용이성은 흡수(1안) 대 통제(2안)로 동등하다.</a:t>
            </a:r>
          </a:p>
          <a:p>
            <a:pPr algn="l"/>
            <a:r>
              <a:rPr sz="850" b="0">
                <a:solidFill>
                  <a:srgbClr val="000000"/>
                </a:solidFill>
                <a:latin typeface="맑은 고딕"/>
                <a:ea typeface="맑은 고딕"/>
              </a:rPr>
              <a:t>· 선택 조건: 지연 우위는 측정 전 가설이므로 E1(1안에서 hop 증분 측정)을 먼저 한다. hop이 잡음 수준이면 Q2가 동률이 되어 1안으로 돌아간다.</a:t>
            </a:r>
          </a:p>
          <a:p>
            <a:pPr algn="l"/>
            <a:r>
              <a:rPr sz="850" b="0">
                <a:solidFill>
                  <a:srgbClr val="000000"/>
                </a:solidFill>
                <a:latin typeface="맑은 고딕"/>
                <a:ea typeface="맑은 고딕"/>
              </a:rPr>
              <a:t>· 감수하는 비용: 구현 부담(6/6)·증거 수준(설계안)은 QA 밖이지만 표에 남기고, 1안(P1~P4 실행 확인)을 fallback으로 유지한다.</a:t>
            </a:r>
          </a:p>
        </p:txBody>
      </p:sp>
      <p:sp>
        <p:nvSpPr>
          <p:cNvPr id="188" name="TextBox 187"/>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구조 논증 기반 가설 [C]. 확정 실험: E1(결정 경로 지연) · E3(상태 신선도) · E4(end-to-end Goodput). 제약·리스크는 별 합계에 넣지 않는다. 이전 평가와의 차이·사유는 설계 문서 §7.4.2, 선택 규칙은 §7.4.4.</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
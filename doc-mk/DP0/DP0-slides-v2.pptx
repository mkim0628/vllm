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llm-d를 그대로 쓰고 우리 로직만 얹습니다. Envoy가 요청을 받아 EPP(결정 프로세스)에 원격으로 물어보고(②, 원격 호출 1회), 선택된 서버의 decode pod 안 sidecar가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1안이 4개 QA 중 3개에서 앞서 사실상 1안이 지배하는 구조였습니다. 원인은 2안을 단일 프로세스·정적 설정의 최소 구성으로 그려서 확장성과 흐름 제어가 일방적으로 약했던 것입니다. 그래서 2안을 레플리카·etcd를 포함한 같은 노력 수준으로 다시 설계했고, 변경 용이성은 시나리오 S1~S6 단위로 다시 셌습니다. 수치를 결론에 맞춘 것이 아니라 정의를 바로잡은 것이고, 이전 값과 사유는 설계 문서에 남겼습니다.</a:t>
            </a:r>
          </a:p>
          <a:p>
            <a:r>
              <a:t>왼쪽은 설계 결정 세 개가 각각 어떤 QA를 얻고 잃는지입니다. D1 결정 위치: 프로세스 내부 호출은 지연에 유리하지만 결정 부하가 Router 확장에 묶입니다. D2 P/D 조율 위치: 중앙에 두면 전역 시야와 노드 지시(P5) 전달에 유리하지만 Router가 데이터 경로 안에 들어와 병목이 됩니다. D3 기능 소유: OSS 재사용은 신규 기능과 업스트림 흡수에 유리하고, 직접 소유는 우리 로직 변경(S2~S4)에 유리합니다.</a:t>
            </a:r>
          </a:p>
          <a:p>
            <a:r>
              <a:t>오른쪽 결과는 별 합계가 9 대 9 동점입니다. 처리량은 교차(정상 부하·P/D 경로는 2안, 과부하는 1안), 지연은 2안, 변경 용이성은 3:3으로 성격만 다르고, 확장성은 1안입니다. QA 밖 비용도 구현 부담은 1안, 운영 환경 부담(Kubernetes·Envoy·자체 EPP 이미지)은 2안이 유리해 서로 반대입니다. 그래서 한쪽이 지배하지 않는 tradeoff입니다.</a:t>
            </a:r>
          </a:p>
          <a:p>
            <a:r>
              <a:t>단, 이 평가는 전부 구조 논증에 기반한 가설이고 지연 차이의 크기는 측정하지 못했습니다. E1에서 hop 증분이 잡음 수준이면 2안의 지연 이점이 사라져 1안이 다시 지배합니다. 현재 기본 경로는 실제 실행으로 확인한 1안이고, 2안은 E1 결과와 QA 우선순위 확정에 따라 전환하는 헤지입니다. QA 우선순위(특히 지연 vs 확장성)는 아직 정해지지 않았으며 결정이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(Handler)</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(Data Layer)</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752344"/>
            <a:ext cx="2971800" cy="0"/>
          </a:xfrm>
          <a:prstGeom prst="line">
            <a:avLst/>
          </a:prstGeom>
          <a:ln w="12700">
            <a:solidFill>
              <a:srgbClr val="404040"/>
            </a:solidFill>
            <a:tailEnd type="triangle"/>
          </a:ln>
        </p:spPr>
      </p:cxnSp>
      <p:sp>
        <p:nvSpPr>
          <p:cNvPr id="113" name="Rectangle 112"/>
          <p:cNvSpPr/>
          <p:nvPr/>
        </p:nvSpPr>
        <p:spPr>
          <a:xfrm>
            <a:off x="1234440" y="1719072"/>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203704"/>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20370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Envoy</a:t>
            </a:r>
          </a:p>
        </p:txBody>
      </p:sp>
      <p:sp>
        <p:nvSpPr>
          <p:cNvPr id="116" name="Rectangle 115"/>
          <p:cNvSpPr/>
          <p:nvPr/>
        </p:nvSpPr>
        <p:spPr>
          <a:xfrm>
            <a:off x="1298448" y="245059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ext-proc client</a:t>
            </a:r>
          </a:p>
        </p:txBody>
      </p:sp>
      <p:sp>
        <p:nvSpPr>
          <p:cNvPr id="117" name="Rectangle 116"/>
          <p:cNvSpPr/>
          <p:nvPr/>
        </p:nvSpPr>
        <p:spPr>
          <a:xfrm>
            <a:off x="1252728" y="2542032"/>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679192"/>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712464"/>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71246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95935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InferencePool</a:t>
            </a:r>
          </a:p>
        </p:txBody>
      </p:sp>
      <p:sp>
        <p:nvSpPr>
          <p:cNvPr id="122" name="Rectangle 121"/>
          <p:cNvSpPr/>
          <p:nvPr/>
        </p:nvSpPr>
        <p:spPr>
          <a:xfrm>
            <a:off x="1252728" y="4050791"/>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187952"/>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746504"/>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746504"/>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«pod» EPP  (llm-d Router, Go)</a:t>
            </a:r>
          </a:p>
        </p:txBody>
      </p:sp>
      <p:sp>
        <p:nvSpPr>
          <p:cNvPr id="126" name="Rectangle 125"/>
          <p:cNvSpPr/>
          <p:nvPr/>
        </p:nvSpPr>
        <p:spPr>
          <a:xfrm>
            <a:off x="2542032" y="1993392"/>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Request Handler</a:t>
            </a:r>
          </a:p>
          <a:p>
            <a:pPr algn="ctr"/>
            <a:r>
              <a:rPr sz="700" b="0">
                <a:solidFill>
                  <a:srgbClr val="000000"/>
                </a:solidFill>
                <a:latin typeface="맑은 고딕"/>
                <a:ea typeface="맑은 고딕"/>
              </a:rPr>
              <a:t>Director</a:t>
            </a:r>
          </a:p>
        </p:txBody>
      </p:sp>
      <p:sp>
        <p:nvSpPr>
          <p:cNvPr id="127" name="Rectangle 126"/>
          <p:cNvSpPr/>
          <p:nvPr/>
        </p:nvSpPr>
        <p:spPr>
          <a:xfrm>
            <a:off x="2496312"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185416"/>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993392"/>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Flow Control</a:t>
            </a:r>
          </a:p>
          <a:p>
            <a:pPr algn="ctr"/>
            <a:r>
              <a:rPr sz="700" b="0">
                <a:solidFill>
                  <a:srgbClr val="000000"/>
                </a:solidFill>
                <a:latin typeface="맑은 고딕"/>
                <a:ea typeface="맑은 고딕"/>
              </a:rPr>
              <a:t>admission · queue</a:t>
            </a:r>
          </a:p>
        </p:txBody>
      </p:sp>
      <p:sp>
        <p:nvSpPr>
          <p:cNvPr id="130" name="Rectangle 129"/>
          <p:cNvSpPr/>
          <p:nvPr/>
        </p:nvSpPr>
        <p:spPr>
          <a:xfrm>
            <a:off x="3392424"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185416"/>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185416"/>
            <a:ext cx="73152" cy="0"/>
          </a:xfrm>
          <a:prstGeom prst="line">
            <a:avLst/>
          </a:prstGeom>
          <a:ln w="15875">
            <a:solidFill>
              <a:srgbClr val="404040"/>
            </a:solidFill>
            <a:tailEnd type="triangle"/>
          </a:ln>
        </p:spPr>
      </p:cxnSp>
      <p:sp>
        <p:nvSpPr>
          <p:cNvPr id="133" name="Rectangle 132"/>
          <p:cNvSpPr/>
          <p:nvPr/>
        </p:nvSpPr>
        <p:spPr>
          <a:xfrm>
            <a:off x="2468880" y="2523744"/>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523744"/>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706624"/>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843784"/>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255264"/>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ProfileHandler</a:t>
            </a:r>
          </a:p>
          <a:p>
            <a:pPr algn="ctr"/>
            <a:r>
              <a:rPr sz="750" b="0">
                <a:solidFill>
                  <a:srgbClr val="000000"/>
                </a:solidFill>
                <a:latin typeface="맑은 고딕"/>
                <a:ea typeface="맑은 고딕"/>
              </a:rPr>
              <a:t>★P4 P/D 판단 wrapper</a:t>
            </a:r>
          </a:p>
          <a:p>
            <a:pPr algn="ctr"/>
            <a:r>
              <a:rPr sz="650" b="0">
                <a:solidFill>
                  <a:srgbClr val="404040"/>
                </a:solidFill>
                <a:latin typeface="맑은 고딕"/>
                <a:ea typeface="맑은 고딕"/>
              </a:rPr>
              <a:t>(disagg.Handler embed)</a:t>
            </a:r>
          </a:p>
        </p:txBody>
      </p:sp>
      <p:sp>
        <p:nvSpPr>
          <p:cNvPr id="138" name="Rectangle 137"/>
          <p:cNvSpPr/>
          <p:nvPr/>
        </p:nvSpPr>
        <p:spPr>
          <a:xfrm>
            <a:off x="2542032" y="3776472"/>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PreRequest 훅</a:t>
            </a:r>
          </a:p>
          <a:p>
            <a:pPr algn="ctr"/>
            <a:r>
              <a:rPr sz="750" b="0">
                <a:solidFill>
                  <a:srgbClr val="000000"/>
                </a:solidFill>
                <a:latin typeface="맑은 고딕"/>
                <a:ea typeface="맑은 고딕"/>
              </a:rPr>
              <a:t>★P5 노드 지시</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377440"/>
            <a:ext cx="0" cy="146304"/>
          </a:xfrm>
          <a:prstGeom prst="line">
            <a:avLst/>
          </a:prstGeom>
          <a:ln w="15875">
            <a:solidFill>
              <a:srgbClr val="404040"/>
            </a:solidFill>
            <a:tailEnd type="triangle"/>
          </a:ln>
        </p:spPr>
      </p:cxnSp>
      <p:sp>
        <p:nvSpPr>
          <p:cNvPr id="140" name="Rectangle 139"/>
          <p:cNvSpPr/>
          <p:nvPr/>
        </p:nvSpPr>
        <p:spPr>
          <a:xfrm>
            <a:off x="4023360" y="2523744"/>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523744"/>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Data Layer</a:t>
            </a:r>
          </a:p>
        </p:txBody>
      </p:sp>
      <p:sp>
        <p:nvSpPr>
          <p:cNvPr id="142" name="Rectangle 141"/>
          <p:cNvSpPr/>
          <p:nvPr/>
        </p:nvSpPr>
        <p:spPr>
          <a:xfrm>
            <a:off x="4069080" y="2752344"/>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328416"/>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89534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3163824"/>
            <a:ext cx="128016" cy="0"/>
          </a:xfrm>
          <a:prstGeom prst="line">
            <a:avLst/>
          </a:prstGeom>
          <a:ln w="15875">
            <a:solidFill>
              <a:srgbClr val="404040"/>
            </a:solidFill>
            <a:tailEnd type="triangle"/>
          </a:ln>
        </p:spPr>
      </p:cxnSp>
      <p:sp>
        <p:nvSpPr>
          <p:cNvPr id="146" name="Oval 145"/>
          <p:cNvSpPr/>
          <p:nvPr/>
        </p:nvSpPr>
        <p:spPr>
          <a:xfrm>
            <a:off x="3881628" y="294894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746504"/>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7465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975104"/>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975104"/>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pd-sidecar</a:t>
            </a:r>
          </a:p>
        </p:txBody>
      </p:sp>
      <p:sp>
        <p:nvSpPr>
          <p:cNvPr id="151" name="Rectangle 150"/>
          <p:cNvSpPr/>
          <p:nvPr/>
        </p:nvSpPr>
        <p:spPr>
          <a:xfrm>
            <a:off x="5120640" y="2194560"/>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노드 지시</a:t>
            </a:r>
          </a:p>
          <a:p>
            <a:pPr algn="ctr"/>
            <a:r>
              <a:rPr sz="700" b="0">
                <a:solidFill>
                  <a:srgbClr val="000000"/>
                </a:solidFill>
                <a:latin typeface="맑은 고딕"/>
                <a:ea typeface="맑은 고딕"/>
              </a:rPr>
              <a:t>P/D 경로: sidecar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889504"/>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575304"/>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5753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803904"/>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975104"/>
            <a:ext cx="0" cy="228600"/>
          </a:xfrm>
          <a:prstGeom prst="line">
            <a:avLst/>
          </a:prstGeom>
          <a:ln w="15875">
            <a:solidFill>
              <a:srgbClr val="404040"/>
            </a:solidFill>
            <a:tailEnd type="triangle"/>
          </a:ln>
        </p:spPr>
      </p:cxnSp>
      <p:sp>
        <p:nvSpPr>
          <p:cNvPr id="157" name="Oval 156"/>
          <p:cNvSpPr/>
          <p:nvPr/>
        </p:nvSpPr>
        <p:spPr>
          <a:xfrm>
            <a:off x="1275588" y="201625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185416"/>
            <a:ext cx="438912" cy="384048"/>
          </a:xfrm>
          <a:prstGeom prst="line">
            <a:avLst/>
          </a:prstGeom>
          <a:ln w="15875">
            <a:solidFill>
              <a:srgbClr val="404040"/>
            </a:solidFill>
            <a:headEnd type="triangle"/>
            <a:tailEnd type="triangle"/>
          </a:ln>
        </p:spPr>
      </p:cxnSp>
      <p:sp>
        <p:nvSpPr>
          <p:cNvPr id="159" name="Oval 158"/>
          <p:cNvSpPr/>
          <p:nvPr/>
        </p:nvSpPr>
        <p:spPr>
          <a:xfrm>
            <a:off x="2208276" y="2226564"/>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6746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236976"/>
            <a:ext cx="0" cy="566928"/>
          </a:xfrm>
          <a:prstGeom prst="line">
            <a:avLst/>
          </a:prstGeom>
          <a:ln w="15875">
            <a:solidFill>
              <a:srgbClr val="404040"/>
            </a:solidFill>
            <a:headEnd type="triangle"/>
            <a:tailEnd type="triangle"/>
          </a:ln>
        </p:spPr>
      </p:cxnSp>
      <p:sp>
        <p:nvSpPr>
          <p:cNvPr id="162" name="Oval 161"/>
          <p:cNvSpPr/>
          <p:nvPr/>
        </p:nvSpPr>
        <p:spPr>
          <a:xfrm>
            <a:off x="579272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169664"/>
            <a:ext cx="338328" cy="0"/>
          </a:xfrm>
          <a:prstGeom prst="line">
            <a:avLst/>
          </a:prstGeom>
          <a:ln w="15875">
            <a:solidFill>
              <a:srgbClr val="404040"/>
            </a:solidFill>
            <a:tailEnd type="triangle"/>
          </a:ln>
        </p:spPr>
      </p:cxnSp>
      <p:sp>
        <p:nvSpPr>
          <p:cNvPr id="165" name="Oval 164"/>
          <p:cNvSpPr/>
          <p:nvPr/>
        </p:nvSpPr>
        <p:spPr>
          <a:xfrm>
            <a:off x="4823460" y="3927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187952"/>
            <a:ext cx="246888" cy="0"/>
          </a:xfrm>
          <a:prstGeom prst="line">
            <a:avLst/>
          </a:prstGeom>
          <a:ln w="15875">
            <a:solidFill>
              <a:srgbClr val="404040"/>
            </a:solidFill>
            <a:prstDash val="dash"/>
            <a:tailEnd type="triangle"/>
          </a:ln>
        </p:spPr>
      </p:cxnSp>
      <p:sp>
        <p:nvSpPr>
          <p:cNvPr id="167" name="Oval 166"/>
          <p:cNvSpPr/>
          <p:nvPr/>
        </p:nvSpPr>
        <p:spPr>
          <a:xfrm>
            <a:off x="2199132" y="395478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1188720" y="4626864"/>
            <a:ext cx="1261872" cy="1554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169" name="Rectangle 168"/>
          <p:cNvSpPr/>
          <p:nvPr/>
        </p:nvSpPr>
        <p:spPr>
          <a:xfrm>
            <a:off x="2505456" y="4626864"/>
            <a:ext cx="1261872" cy="15544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170" name="Rectangle 169"/>
          <p:cNvSpPr/>
          <p:nvPr/>
        </p:nvSpPr>
        <p:spPr>
          <a:xfrm>
            <a:off x="3822191" y="4626864"/>
            <a:ext cx="1261872" cy="155448"/>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171" name="Rectangle 170"/>
          <p:cNvSpPr/>
          <p:nvPr/>
        </p:nvSpPr>
        <p:spPr>
          <a:xfrm>
            <a:off x="5138928" y="4626864"/>
            <a:ext cx="1261872" cy="155448"/>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172" name="TextBox 171"/>
          <p:cNvSpPr txBox="1"/>
          <p:nvPr/>
        </p:nvSpPr>
        <p:spPr>
          <a:xfrm>
            <a:off x="1188720" y="4809744"/>
            <a:ext cx="521208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결정 요청(ext-proc gRPC: 원격 호출 1회 추가) ③ 선택된 서버 + 헤더를 sidecar로 전달(EPP를 거치지 않음) ④ Prefill 요청 + KV 전송 정보 ⑤ 서버 간 KV 전송(NIXL) ⑥ KV 이벤트·/metrics(두 pod 공통) ⑦ 서버 발견 ⑧ 상태 조회</a:t>
            </a:r>
          </a:p>
        </p:txBody>
      </p:sp>
      <p:sp>
        <p:nvSpPr>
          <p:cNvPr id="173" name="Rectangle 172"/>
          <p:cNvSpPr/>
          <p:nvPr/>
        </p:nvSpPr>
        <p:spPr>
          <a:xfrm>
            <a:off x="6583680" y="2020824"/>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74" name="Rectangle 173"/>
          <p:cNvSpPr/>
          <p:nvPr/>
        </p:nvSpPr>
        <p:spPr>
          <a:xfrm>
            <a:off x="6583680" y="2569464"/>
            <a:ext cx="566928" cy="36576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5" name="Connector 174"/>
          <p:cNvCxnSpPr/>
          <p:nvPr/>
        </p:nvCxnSpPr>
        <p:spPr>
          <a:xfrm>
            <a:off x="6867144" y="2276856"/>
            <a:ext cx="0" cy="292608"/>
          </a:xfrm>
          <a:prstGeom prst="line">
            <a:avLst/>
          </a:prstGeom>
          <a:ln w="15875">
            <a:solidFill>
              <a:srgbClr val="404040"/>
            </a:solidFill>
            <a:tailEnd type="triangle"/>
          </a:ln>
        </p:spPr>
      </p:cxnSp>
      <p:sp>
        <p:nvSpPr>
          <p:cNvPr id="176" name="Oval 175"/>
          <p:cNvSpPr/>
          <p:nvPr/>
        </p:nvSpPr>
        <p:spPr>
          <a:xfrm>
            <a:off x="6789420" y="234543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7" name="Rectangle 176"/>
          <p:cNvSpPr/>
          <p:nvPr/>
        </p:nvSpPr>
        <p:spPr>
          <a:xfrm>
            <a:off x="6583680" y="3163824"/>
            <a:ext cx="640080" cy="685800"/>
          </a:xfrm>
          <a:prstGeom prst="rect">
            <a:avLst/>
          </a:prstGeom>
          <a:solidFill>
            <a:srgbClr val="FFF7F0"/>
          </a:solidFill>
          <a:ln w="9525">
            <a:solidFill>
              <a:srgbClr val="C55A11"/>
            </a:solidFill>
          </a:ln>
          <a:effectLst/>
        </p:spPr>
        <p:txBody>
          <a:bodyPr rtlCol="0" anchor="ctr" wrap="square" lIns="36576" tIns="27432" rIns="27432" bIns="27432"/>
          <a:lstStyle/>
          <a:p>
            <a:pPr algn="l"/>
            <a:r>
              <a:rPr sz="700" b="1">
                <a:solidFill>
                  <a:srgbClr val="C55A11"/>
                </a:solidFill>
                <a:latin typeface="맑은 고딕"/>
                <a:ea typeface="맑은 고딕"/>
              </a:rPr>
              <a:t>레플리카 ×R</a:t>
            </a:r>
          </a:p>
          <a:p>
            <a:pPr algn="l"/>
            <a:r>
              <a:rPr sz="650" b="0">
                <a:solidFill>
                  <a:srgbClr val="000000"/>
                </a:solidFill>
                <a:latin typeface="맑은 고딕"/>
                <a:ea typeface="맑은 고딕"/>
              </a:rPr>
              <a:t>각자 이벤트 구독 → 독립 index</a:t>
            </a:r>
          </a:p>
        </p:txBody>
      </p:sp>
      <p:sp>
        <p:nvSpPr>
          <p:cNvPr id="178" name="Rectangle 177"/>
          <p:cNvSpPr/>
          <p:nvPr/>
        </p:nvSpPr>
        <p:spPr>
          <a:xfrm>
            <a:off x="6583680" y="4096512"/>
            <a:ext cx="64008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50" b="0">
                <a:solidFill>
                  <a:srgbClr val="404040"/>
                </a:solidFill>
                <a:latin typeface="맑은 고딕"/>
                <a:ea typeface="맑은 고딕"/>
              </a:rPr>
              <a:t>Registry 저장소</a:t>
            </a:r>
          </a:p>
        </p:txBody>
      </p:sp>
      <p:sp>
        <p:nvSpPr>
          <p:cNvPr id="179" name="Rectangle 178"/>
          <p:cNvSpPr/>
          <p:nvPr/>
        </p:nvSpPr>
        <p:spPr>
          <a:xfrm>
            <a:off x="7315200" y="1700784"/>
            <a:ext cx="3456432" cy="2880360"/>
          </a:xfrm>
          <a:prstGeom prst="rect">
            <a:avLst/>
          </a:prstGeom>
          <a:solidFill>
            <a:srgbClr val="FFFFFF"/>
          </a:solidFill>
          <a:ln w="15875">
            <a:solidFill>
              <a:srgbClr val="C55A11"/>
            </a:solidFill>
          </a:ln>
          <a:effectLst/>
        </p:spPr>
        <p:txBody>
          <a:bodyPr rtlCol="0" anchor="ctr"/>
          <a:lstStyle/>
          <a:p>
            <a:pPr algn="ctr"/>
          </a:p>
        </p:txBody>
      </p:sp>
      <p:sp>
        <p:nvSpPr>
          <p:cNvPr id="180" name="Rectangle 179"/>
          <p:cNvSpPr/>
          <p:nvPr/>
        </p:nvSpPr>
        <p:spPr>
          <a:xfrm>
            <a:off x="7315200" y="1700784"/>
            <a:ext cx="3456432"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Own Router 레플리카  (Go/Python)</a:t>
            </a:r>
          </a:p>
        </p:txBody>
      </p:sp>
      <p:cxnSp>
        <p:nvCxnSpPr>
          <p:cNvPr id="181" name="Connector 180"/>
          <p:cNvCxnSpPr/>
          <p:nvPr/>
        </p:nvCxnSpPr>
        <p:spPr>
          <a:xfrm flipV="1">
            <a:off x="7150608" y="2157984"/>
            <a:ext cx="347471" cy="594360"/>
          </a:xfrm>
          <a:prstGeom prst="line">
            <a:avLst/>
          </a:prstGeom>
          <a:ln w="15875">
            <a:solidFill>
              <a:srgbClr val="404040"/>
            </a:solidFill>
            <a:tailEnd type="triangle"/>
          </a:ln>
        </p:spPr>
      </p:cxnSp>
      <p:sp>
        <p:nvSpPr>
          <p:cNvPr id="182" name="Rectangle 181"/>
          <p:cNvSpPr/>
          <p:nvPr/>
        </p:nvSpPr>
        <p:spPr>
          <a:xfrm>
            <a:off x="7370064" y="1929384"/>
            <a:ext cx="3346703" cy="502920"/>
          </a:xfrm>
          <a:prstGeom prst="rect">
            <a:avLst/>
          </a:prstGeom>
          <a:solidFill>
            <a:srgbClr val="FFFFFF"/>
          </a:solidFill>
          <a:ln w="6350">
            <a:solidFill>
              <a:srgbClr val="C55A11"/>
            </a:solidFill>
            <a:prstDash val="dash"/>
          </a:ln>
          <a:effectLst/>
        </p:spPr>
        <p:txBody>
          <a:bodyPr rtlCol="0" anchor="ctr"/>
          <a:lstStyle/>
          <a:p>
            <a:pPr algn="ctr"/>
          </a:p>
        </p:txBody>
      </p:sp>
      <p:sp>
        <p:nvSpPr>
          <p:cNvPr id="183" name="TextBox 182"/>
          <p:cNvSpPr txBox="1"/>
          <p:nvPr/>
        </p:nvSpPr>
        <p:spPr>
          <a:xfrm>
            <a:off x="7406640" y="1947672"/>
            <a:ext cx="54864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Ingress</a:t>
            </a:r>
          </a:p>
        </p:txBody>
      </p:sp>
      <p:sp>
        <p:nvSpPr>
          <p:cNvPr id="184" name="Rectangle 183"/>
          <p:cNvSpPr/>
          <p:nvPr/>
        </p:nvSpPr>
        <p:spPr>
          <a:xfrm>
            <a:off x="7589520" y="2048256"/>
            <a:ext cx="3017520" cy="329184"/>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A Ingress / API</a:t>
            </a:r>
          </a:p>
          <a:p>
            <a:pPr algn="ctr"/>
            <a:r>
              <a:rPr sz="650" b="0">
                <a:solidFill>
                  <a:srgbClr val="000000"/>
                </a:solidFill>
                <a:latin typeface="맑은 고딕"/>
                <a:ea typeface="맑은 고딕"/>
              </a:rPr>
              <a:t>OpenAI API 파서 · 스트리밍 프록시</a:t>
            </a:r>
          </a:p>
        </p:txBody>
      </p:sp>
      <p:sp>
        <p:nvSpPr>
          <p:cNvPr id="185" name="Rectangle 184"/>
          <p:cNvSpPr/>
          <p:nvPr/>
        </p:nvSpPr>
        <p:spPr>
          <a:xfrm>
            <a:off x="7543800" y="2114092"/>
            <a:ext cx="91440" cy="54864"/>
          </a:xfrm>
          <a:prstGeom prst="rect">
            <a:avLst/>
          </a:prstGeom>
          <a:solidFill>
            <a:srgbClr val="FBE5D6"/>
          </a:solidFill>
          <a:ln w="9525">
            <a:solidFill>
              <a:srgbClr val="C55A11"/>
            </a:solidFill>
          </a:ln>
          <a:effectLst/>
        </p:spPr>
        <p:txBody>
          <a:bodyPr rtlCol="0" anchor="ctr"/>
          <a:lstStyle/>
          <a:p>
            <a:pPr algn="ctr"/>
          </a:p>
        </p:txBody>
      </p:sp>
      <p:sp>
        <p:nvSpPr>
          <p:cNvPr id="186" name="Rectangle 185"/>
          <p:cNvSpPr/>
          <p:nvPr/>
        </p:nvSpPr>
        <p:spPr>
          <a:xfrm>
            <a:off x="7543800" y="2212848"/>
            <a:ext cx="91440" cy="54864"/>
          </a:xfrm>
          <a:prstGeom prst="rect">
            <a:avLst/>
          </a:prstGeom>
          <a:solidFill>
            <a:srgbClr val="FBE5D6"/>
          </a:solidFill>
          <a:ln w="9525">
            <a:solidFill>
              <a:srgbClr val="C55A11"/>
            </a:solidFill>
          </a:ln>
          <a:effectLst/>
        </p:spPr>
        <p:txBody>
          <a:bodyPr rtlCol="0" anchor="ctr"/>
          <a:lstStyle/>
          <a:p>
            <a:pPr algn="ctr"/>
          </a:p>
        </p:txBody>
      </p:sp>
      <p:sp>
        <p:nvSpPr>
          <p:cNvPr id="187" name="Rectangle 186"/>
          <p:cNvSpPr/>
          <p:nvPr/>
        </p:nvSpPr>
        <p:spPr>
          <a:xfrm>
            <a:off x="7370064" y="2523744"/>
            <a:ext cx="3346703" cy="1024128"/>
          </a:xfrm>
          <a:prstGeom prst="rect">
            <a:avLst/>
          </a:prstGeom>
          <a:solidFill>
            <a:srgbClr val="FFFFFF"/>
          </a:solidFill>
          <a:ln w="6350">
            <a:solidFill>
              <a:srgbClr val="C55A11"/>
            </a:solidFill>
            <a:prstDash val="dash"/>
          </a:ln>
          <a:effectLst/>
        </p:spPr>
        <p:txBody>
          <a:bodyPr rtlCol="0" anchor="ctr"/>
          <a:lstStyle/>
          <a:p>
            <a:pPr algn="ctr"/>
          </a:p>
        </p:txBody>
      </p:sp>
      <p:sp>
        <p:nvSpPr>
          <p:cNvPr id="188" name="TextBox 187"/>
          <p:cNvSpPr txBox="1"/>
          <p:nvPr/>
        </p:nvSpPr>
        <p:spPr>
          <a:xfrm>
            <a:off x="7406640" y="2542032"/>
            <a:ext cx="109728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Pipeline</a:t>
            </a:r>
          </a:p>
        </p:txBody>
      </p:sp>
      <p:sp>
        <p:nvSpPr>
          <p:cNvPr id="189" name="Rectangle 188"/>
          <p:cNvSpPr/>
          <p:nvPr/>
        </p:nvSpPr>
        <p:spPr>
          <a:xfrm>
            <a:off x="7498079" y="2724912"/>
            <a:ext cx="749808"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D Admission</a:t>
            </a:r>
          </a:p>
          <a:p>
            <a:pPr algn="ctr"/>
            <a:r>
              <a:rPr sz="650" b="0">
                <a:solidFill>
                  <a:srgbClr val="000000"/>
                </a:solidFill>
                <a:latin typeface="맑은 고딕"/>
                <a:ea typeface="맑은 고딕"/>
              </a:rPr>
              <a:t>Queue 정책</a:t>
            </a:r>
          </a:p>
          <a:p>
            <a:pPr algn="ctr"/>
            <a:r>
              <a:rPr sz="650" b="0">
                <a:solidFill>
                  <a:srgbClr val="000000"/>
                </a:solidFill>
                <a:latin typeface="맑은 고딕"/>
                <a:ea typeface="맑은 고딕"/>
              </a:rPr>
              <a:t>(최소: 임계값</a:t>
            </a:r>
          </a:p>
          <a:p>
            <a:pPr algn="ctr"/>
            <a:r>
              <a:rPr sz="650" b="0">
                <a:solidFill>
                  <a:srgbClr val="000000"/>
                </a:solidFill>
                <a:latin typeface="맑은 고딕"/>
                <a:ea typeface="맑은 고딕"/>
              </a:rPr>
              <a:t>+ FCFS)</a:t>
            </a:r>
          </a:p>
        </p:txBody>
      </p:sp>
      <p:sp>
        <p:nvSpPr>
          <p:cNvPr id="190" name="Rectangle 189"/>
          <p:cNvSpPr/>
          <p:nvPr/>
        </p:nvSpPr>
        <p:spPr>
          <a:xfrm>
            <a:off x="7452359"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1" name="Rectangle 190"/>
          <p:cNvSpPr/>
          <p:nvPr/>
        </p:nvSpPr>
        <p:spPr>
          <a:xfrm>
            <a:off x="7452359"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2" name="Rectangle 191"/>
          <p:cNvSpPr/>
          <p:nvPr/>
        </p:nvSpPr>
        <p:spPr>
          <a:xfrm>
            <a:off x="8385048" y="2724912"/>
            <a:ext cx="1280160"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B PolicyEngine</a:t>
            </a:r>
          </a:p>
          <a:p>
            <a:pPr algn="ctr"/>
            <a:r>
              <a:rPr sz="650" b="0">
                <a:solidFill>
                  <a:srgbClr val="000000"/>
                </a:solidFill>
                <a:latin typeface="맑은 고딕"/>
                <a:ea typeface="맑은 고딕"/>
              </a:rPr>
              <a:t>Selector:</a:t>
            </a:r>
          </a:p>
          <a:p>
            <a:pPr algn="ctr"/>
            <a:r>
              <a:rPr sz="650" b="0">
                <a:solidFill>
                  <a:srgbClr val="000000"/>
                </a:solidFill>
                <a:latin typeface="맑은 고딕"/>
                <a:ea typeface="맑은 고딕"/>
              </a:rPr>
              <a:t>Filter→Score→Pick</a:t>
            </a:r>
          </a:p>
          <a:p>
            <a:pPr algn="ctr"/>
            <a:r>
              <a:rPr sz="650" b="0">
                <a:solidFill>
                  <a:srgbClr val="000000"/>
                </a:solidFill>
                <a:latin typeface="맑은 고딕"/>
                <a:ea typeface="맑은 고딕"/>
              </a:rPr>
              <a:t>Policy SPI: P1~P3 Scorer</a:t>
            </a:r>
          </a:p>
          <a:p>
            <a:pPr algn="ctr"/>
            <a:r>
              <a:rPr sz="650" b="0">
                <a:solidFill>
                  <a:srgbClr val="000000"/>
                </a:solidFill>
                <a:latin typeface="맑은 고딕"/>
                <a:ea typeface="맑은 고딕"/>
              </a:rPr>
              <a:t>P4 PD-Planner</a:t>
            </a:r>
          </a:p>
        </p:txBody>
      </p:sp>
      <p:sp>
        <p:nvSpPr>
          <p:cNvPr id="193" name="Rectangle 192"/>
          <p:cNvSpPr/>
          <p:nvPr/>
        </p:nvSpPr>
        <p:spPr>
          <a:xfrm>
            <a:off x="8339327"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4" name="Rectangle 193"/>
          <p:cNvSpPr/>
          <p:nvPr/>
        </p:nvSpPr>
        <p:spPr>
          <a:xfrm>
            <a:off x="8339327"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5" name="Rectangle 194"/>
          <p:cNvSpPr/>
          <p:nvPr/>
        </p:nvSpPr>
        <p:spPr>
          <a:xfrm>
            <a:off x="9802368" y="2724912"/>
            <a:ext cx="877824"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 P/D 조율</a:t>
            </a:r>
          </a:p>
          <a:p>
            <a:pPr algn="ctr"/>
            <a:r>
              <a:rPr sz="650" b="0">
                <a:solidFill>
                  <a:srgbClr val="000000"/>
                </a:solidFill>
                <a:latin typeface="맑은 고딕"/>
                <a:ea typeface="맑은 고딕"/>
              </a:rPr>
              <a:t>PD Orchestrator</a:t>
            </a:r>
          </a:p>
          <a:p>
            <a:pPr algn="ctr"/>
            <a:r>
              <a:rPr sz="650" b="0">
                <a:solidFill>
                  <a:srgbClr val="000000"/>
                </a:solidFill>
                <a:latin typeface="맑은 고딕"/>
                <a:ea typeface="맑은 고딕"/>
              </a:rPr>
              <a:t>P5 Directive</a:t>
            </a:r>
          </a:p>
          <a:p>
            <a:pPr algn="ctr"/>
            <a:r>
              <a:rPr sz="650" b="0">
                <a:solidFill>
                  <a:srgbClr val="000000"/>
                </a:solidFill>
                <a:latin typeface="맑은 고딕"/>
                <a:ea typeface="맑은 고딕"/>
              </a:rPr>
              <a:t>커넥터: agg·P/D·P2P</a:t>
            </a:r>
          </a:p>
        </p:txBody>
      </p:sp>
      <p:sp>
        <p:nvSpPr>
          <p:cNvPr id="196" name="Rectangle 195"/>
          <p:cNvSpPr/>
          <p:nvPr/>
        </p:nvSpPr>
        <p:spPr>
          <a:xfrm>
            <a:off x="9756648"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7" name="Rectangle 196"/>
          <p:cNvSpPr/>
          <p:nvPr/>
        </p:nvSpPr>
        <p:spPr>
          <a:xfrm>
            <a:off x="9756648" y="3090672"/>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98" name="Connector 197"/>
          <p:cNvCxnSpPr/>
          <p:nvPr/>
        </p:nvCxnSpPr>
        <p:spPr>
          <a:xfrm>
            <a:off x="8247888" y="3090672"/>
            <a:ext cx="91440" cy="0"/>
          </a:xfrm>
          <a:prstGeom prst="line">
            <a:avLst/>
          </a:prstGeom>
          <a:ln w="15875">
            <a:solidFill>
              <a:srgbClr val="C55A11"/>
            </a:solidFill>
            <a:tailEnd type="triangle"/>
          </a:ln>
        </p:spPr>
      </p:cxnSp>
      <p:cxnSp>
        <p:nvCxnSpPr>
          <p:cNvPr id="199" name="Connector 198"/>
          <p:cNvCxnSpPr/>
          <p:nvPr/>
        </p:nvCxnSpPr>
        <p:spPr>
          <a:xfrm>
            <a:off x="9665208" y="3090672"/>
            <a:ext cx="91440" cy="0"/>
          </a:xfrm>
          <a:prstGeom prst="line">
            <a:avLst/>
          </a:prstGeom>
          <a:ln w="15875">
            <a:solidFill>
              <a:srgbClr val="C55A11"/>
            </a:solidFill>
            <a:tailEnd type="triangle"/>
          </a:ln>
        </p:spPr>
      </p:cxnSp>
      <p:cxnSp>
        <p:nvCxnSpPr>
          <p:cNvPr id="200" name="Connector 199"/>
          <p:cNvCxnSpPr/>
          <p:nvPr/>
        </p:nvCxnSpPr>
        <p:spPr>
          <a:xfrm>
            <a:off x="7872983" y="2377440"/>
            <a:ext cx="0" cy="347472"/>
          </a:xfrm>
          <a:prstGeom prst="line">
            <a:avLst/>
          </a:prstGeom>
          <a:ln w="15875">
            <a:solidFill>
              <a:srgbClr val="C55A11"/>
            </a:solidFill>
            <a:tailEnd type="triangle"/>
          </a:ln>
        </p:spPr>
      </p:cxnSp>
      <p:sp>
        <p:nvSpPr>
          <p:cNvPr id="201" name="Oval 200"/>
          <p:cNvSpPr/>
          <p:nvPr/>
        </p:nvSpPr>
        <p:spPr>
          <a:xfrm>
            <a:off x="7795259" y="2473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2" name="Rectangle 201"/>
          <p:cNvSpPr/>
          <p:nvPr/>
        </p:nvSpPr>
        <p:spPr>
          <a:xfrm>
            <a:off x="7370064" y="3621024"/>
            <a:ext cx="3346703" cy="905256"/>
          </a:xfrm>
          <a:prstGeom prst="rect">
            <a:avLst/>
          </a:prstGeom>
          <a:solidFill>
            <a:srgbClr val="FFFFFF"/>
          </a:solidFill>
          <a:ln w="6350">
            <a:solidFill>
              <a:srgbClr val="C55A11"/>
            </a:solidFill>
            <a:prstDash val="dash"/>
          </a:ln>
          <a:effectLst/>
        </p:spPr>
        <p:txBody>
          <a:bodyPr rtlCol="0" anchor="ctr"/>
          <a:lstStyle/>
          <a:p>
            <a:pPr algn="ctr"/>
          </a:p>
        </p:txBody>
      </p:sp>
      <p:sp>
        <p:nvSpPr>
          <p:cNvPr id="203" name="TextBox 202"/>
          <p:cNvSpPr txBox="1"/>
          <p:nvPr/>
        </p:nvSpPr>
        <p:spPr>
          <a:xfrm>
            <a:off x="7406640" y="3639312"/>
            <a:ext cx="91440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State Plane</a:t>
            </a:r>
          </a:p>
        </p:txBody>
      </p:sp>
      <p:sp>
        <p:nvSpPr>
          <p:cNvPr id="204" name="Rectangle 203"/>
          <p:cNvSpPr/>
          <p:nvPr/>
        </p:nvSpPr>
        <p:spPr>
          <a:xfrm>
            <a:off x="7498079" y="3803904"/>
            <a:ext cx="713232"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Registry</a:t>
            </a:r>
          </a:p>
          <a:p>
            <a:pPr algn="ctr"/>
            <a:r>
              <a:rPr sz="650" b="0">
                <a:solidFill>
                  <a:srgbClr val="000000"/>
                </a:solidFill>
                <a:latin typeface="맑은 고딕"/>
                <a:ea typeface="맑은 고딕"/>
              </a:rPr>
              <a:t>etcd watch</a:t>
            </a:r>
          </a:p>
          <a:p>
            <a:pPr algn="ctr"/>
            <a:r>
              <a:rPr sz="650" b="0">
                <a:solidFill>
                  <a:srgbClr val="000000"/>
                </a:solidFill>
                <a:latin typeface="맑은 고딕"/>
                <a:ea typeface="맑은 고딕"/>
              </a:rPr>
              <a:t>정적 설정</a:t>
            </a:r>
          </a:p>
        </p:txBody>
      </p:sp>
      <p:sp>
        <p:nvSpPr>
          <p:cNvPr id="205" name="Rectangle 204"/>
          <p:cNvSpPr/>
          <p:nvPr/>
        </p:nvSpPr>
        <p:spPr>
          <a:xfrm>
            <a:off x="7452359"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6" name="Rectangle 205"/>
          <p:cNvSpPr/>
          <p:nvPr/>
        </p:nvSpPr>
        <p:spPr>
          <a:xfrm>
            <a:off x="7452359"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07" name="Rectangle 206"/>
          <p:cNvSpPr/>
          <p:nvPr/>
        </p:nvSpPr>
        <p:spPr>
          <a:xfrm>
            <a:off x="8385048" y="3803904"/>
            <a:ext cx="1280160"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C State Store</a:t>
            </a:r>
          </a:p>
          <a:p>
            <a:pPr algn="ctr"/>
            <a:r>
              <a:rPr sz="650" b="0">
                <a:solidFill>
                  <a:srgbClr val="000000"/>
                </a:solidFill>
                <a:latin typeface="맑은 고딕"/>
                <a:ea typeface="맑은 고딕"/>
              </a:rPr>
              <a:t>KV Index (tier 인지)</a:t>
            </a:r>
          </a:p>
          <a:p>
            <a:pPr algn="ctr"/>
            <a:r>
              <a:rPr sz="650" b="0">
                <a:solidFill>
                  <a:srgbClr val="000000"/>
                </a:solidFill>
                <a:latin typeface="맑은 고딕"/>
                <a:ea typeface="맑은 고딕"/>
              </a:rPr>
              <a:t>Metrics Snapshot</a:t>
            </a:r>
          </a:p>
          <a:p>
            <a:pPr algn="ctr"/>
            <a:r>
              <a:rPr sz="650" b="0">
                <a:solidFill>
                  <a:srgbClr val="000000"/>
                </a:solidFill>
                <a:latin typeface="맑은 고딕"/>
                <a:ea typeface="맑은 고딕"/>
              </a:rPr>
              <a:t>Cost Model (BW·점유)</a:t>
            </a:r>
          </a:p>
        </p:txBody>
      </p:sp>
      <p:sp>
        <p:nvSpPr>
          <p:cNvPr id="208" name="Rectangle 207"/>
          <p:cNvSpPr/>
          <p:nvPr/>
        </p:nvSpPr>
        <p:spPr>
          <a:xfrm>
            <a:off x="8339327"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9" name="Rectangle 208"/>
          <p:cNvSpPr/>
          <p:nvPr/>
        </p:nvSpPr>
        <p:spPr>
          <a:xfrm>
            <a:off x="8339327"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10" name="Rectangle 209"/>
          <p:cNvSpPr/>
          <p:nvPr/>
        </p:nvSpPr>
        <p:spPr>
          <a:xfrm>
            <a:off x="9802368" y="3803904"/>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Event Subscriber</a:t>
            </a:r>
          </a:p>
        </p:txBody>
      </p:sp>
      <p:sp>
        <p:nvSpPr>
          <p:cNvPr id="211" name="Rectangle 210"/>
          <p:cNvSpPr/>
          <p:nvPr/>
        </p:nvSpPr>
        <p:spPr>
          <a:xfrm>
            <a:off x="9756648" y="3862425"/>
            <a:ext cx="91440" cy="54864"/>
          </a:xfrm>
          <a:prstGeom prst="rect">
            <a:avLst/>
          </a:prstGeom>
          <a:solidFill>
            <a:srgbClr val="FBE5D6"/>
          </a:solidFill>
          <a:ln w="9525">
            <a:solidFill>
              <a:srgbClr val="C55A11"/>
            </a:solidFill>
          </a:ln>
          <a:effectLst/>
        </p:spPr>
        <p:txBody>
          <a:bodyPr rtlCol="0" anchor="ctr"/>
          <a:lstStyle/>
          <a:p>
            <a:pPr algn="ctr"/>
          </a:p>
        </p:txBody>
      </p:sp>
      <p:sp>
        <p:nvSpPr>
          <p:cNvPr id="212" name="Rectangle 211"/>
          <p:cNvSpPr/>
          <p:nvPr/>
        </p:nvSpPr>
        <p:spPr>
          <a:xfrm>
            <a:off x="9756648" y="3950208"/>
            <a:ext cx="91440" cy="54864"/>
          </a:xfrm>
          <a:prstGeom prst="rect">
            <a:avLst/>
          </a:prstGeom>
          <a:solidFill>
            <a:srgbClr val="FBE5D6"/>
          </a:solidFill>
          <a:ln w="9525">
            <a:solidFill>
              <a:srgbClr val="C55A11"/>
            </a:solidFill>
          </a:ln>
          <a:effectLst/>
        </p:spPr>
        <p:txBody>
          <a:bodyPr rtlCol="0" anchor="ctr"/>
          <a:lstStyle/>
          <a:p>
            <a:pPr algn="ctr"/>
          </a:p>
        </p:txBody>
      </p:sp>
      <p:sp>
        <p:nvSpPr>
          <p:cNvPr id="213" name="Rectangle 212"/>
          <p:cNvSpPr/>
          <p:nvPr/>
        </p:nvSpPr>
        <p:spPr>
          <a:xfrm>
            <a:off x="9802368" y="4151376"/>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Poller</a:t>
            </a:r>
          </a:p>
        </p:txBody>
      </p:sp>
      <p:sp>
        <p:nvSpPr>
          <p:cNvPr id="214" name="Rectangle 213"/>
          <p:cNvSpPr/>
          <p:nvPr/>
        </p:nvSpPr>
        <p:spPr>
          <a:xfrm>
            <a:off x="9756648" y="4209897"/>
            <a:ext cx="91440" cy="54864"/>
          </a:xfrm>
          <a:prstGeom prst="rect">
            <a:avLst/>
          </a:prstGeom>
          <a:solidFill>
            <a:srgbClr val="FBE5D6"/>
          </a:solidFill>
          <a:ln w="9525">
            <a:solidFill>
              <a:srgbClr val="C55A11"/>
            </a:solidFill>
          </a:ln>
          <a:effectLst/>
        </p:spPr>
        <p:txBody>
          <a:bodyPr rtlCol="0" anchor="ctr"/>
          <a:lstStyle/>
          <a:p>
            <a:pPr algn="ctr"/>
          </a:p>
        </p:txBody>
      </p:sp>
      <p:sp>
        <p:nvSpPr>
          <p:cNvPr id="215" name="Rectangle 214"/>
          <p:cNvSpPr/>
          <p:nvPr/>
        </p:nvSpPr>
        <p:spPr>
          <a:xfrm>
            <a:off x="9756648" y="429768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216" name="Connector 215"/>
          <p:cNvCxnSpPr/>
          <p:nvPr/>
        </p:nvCxnSpPr>
        <p:spPr>
          <a:xfrm>
            <a:off x="8211312" y="4123944"/>
            <a:ext cx="128016" cy="0"/>
          </a:xfrm>
          <a:prstGeom prst="line">
            <a:avLst/>
          </a:prstGeom>
          <a:ln w="15875">
            <a:solidFill>
              <a:srgbClr val="C55A11"/>
            </a:solidFill>
            <a:prstDash val="dash"/>
            <a:tailEnd type="triangle"/>
          </a:ln>
        </p:spPr>
      </p:cxnSp>
      <p:sp>
        <p:nvSpPr>
          <p:cNvPr id="217" name="Oval 216"/>
          <p:cNvSpPr/>
          <p:nvPr/>
        </p:nvSpPr>
        <p:spPr>
          <a:xfrm>
            <a:off x="8197596" y="39090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18" name="Connector 217"/>
          <p:cNvCxnSpPr/>
          <p:nvPr/>
        </p:nvCxnSpPr>
        <p:spPr>
          <a:xfrm flipH="1">
            <a:off x="9665208" y="3950208"/>
            <a:ext cx="91440" cy="0"/>
          </a:xfrm>
          <a:prstGeom prst="line">
            <a:avLst/>
          </a:prstGeom>
          <a:ln w="15875">
            <a:solidFill>
              <a:srgbClr val="C55A11"/>
            </a:solidFill>
            <a:tailEnd type="triangle"/>
          </a:ln>
        </p:spPr>
      </p:cxnSp>
      <p:cxnSp>
        <p:nvCxnSpPr>
          <p:cNvPr id="219" name="Connector 218"/>
          <p:cNvCxnSpPr/>
          <p:nvPr/>
        </p:nvCxnSpPr>
        <p:spPr>
          <a:xfrm flipH="1">
            <a:off x="9665208" y="4297680"/>
            <a:ext cx="91440" cy="0"/>
          </a:xfrm>
          <a:prstGeom prst="line">
            <a:avLst/>
          </a:prstGeom>
          <a:ln w="15875">
            <a:solidFill>
              <a:srgbClr val="C55A11"/>
            </a:solidFill>
            <a:tailEnd type="triangle"/>
          </a:ln>
        </p:spPr>
      </p:cxnSp>
      <p:cxnSp>
        <p:nvCxnSpPr>
          <p:cNvPr id="220" name="Connector 219"/>
          <p:cNvCxnSpPr/>
          <p:nvPr/>
        </p:nvCxnSpPr>
        <p:spPr>
          <a:xfrm flipV="1">
            <a:off x="9025128" y="3456432"/>
            <a:ext cx="0" cy="347472"/>
          </a:xfrm>
          <a:prstGeom prst="line">
            <a:avLst/>
          </a:prstGeom>
          <a:ln w="15875">
            <a:solidFill>
              <a:srgbClr val="C55A11"/>
            </a:solidFill>
            <a:tailEnd type="triangle"/>
          </a:ln>
        </p:spPr>
      </p:cxnSp>
      <p:sp>
        <p:nvSpPr>
          <p:cNvPr id="221" name="Oval 220"/>
          <p:cNvSpPr/>
          <p:nvPr/>
        </p:nvSpPr>
        <p:spPr>
          <a:xfrm>
            <a:off x="8983980" y="3589020"/>
            <a:ext cx="82296" cy="82296"/>
          </a:xfrm>
          <a:prstGeom prst="ellipse">
            <a:avLst/>
          </a:prstGeom>
          <a:solidFill>
            <a:srgbClr val="FFFFFF"/>
          </a:solidFill>
          <a:ln w="12700">
            <a:solidFill>
              <a:srgbClr val="C55A11"/>
            </a:solidFill>
          </a:ln>
          <a:effectLst/>
        </p:spPr>
        <p:txBody>
          <a:bodyPr rtlCol="0" anchor="ctr"/>
          <a:lstStyle/>
          <a:p>
            <a:pPr algn="ctr"/>
          </a:p>
        </p:txBody>
      </p:sp>
      <p:sp>
        <p:nvSpPr>
          <p:cNvPr id="222" name="TextBox 221"/>
          <p:cNvSpPr txBox="1"/>
          <p:nvPr/>
        </p:nvSpPr>
        <p:spPr>
          <a:xfrm>
            <a:off x="9098280" y="3575304"/>
            <a:ext cx="82296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StateView(읽기)</a:t>
            </a:r>
          </a:p>
        </p:txBody>
      </p:sp>
      <p:sp>
        <p:nvSpPr>
          <p:cNvPr id="223" name="Oval 222"/>
          <p:cNvSpPr/>
          <p:nvPr/>
        </p:nvSpPr>
        <p:spPr>
          <a:xfrm>
            <a:off x="8700515" y="363474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24" name="Connector 223"/>
          <p:cNvCxnSpPr/>
          <p:nvPr/>
        </p:nvCxnSpPr>
        <p:spPr>
          <a:xfrm flipH="1">
            <a:off x="7223760" y="4288536"/>
            <a:ext cx="274319" cy="0"/>
          </a:xfrm>
          <a:prstGeom prst="line">
            <a:avLst/>
          </a:prstGeom>
          <a:ln w="15875">
            <a:solidFill>
              <a:srgbClr val="C55A11"/>
            </a:solidFill>
            <a:prstDash val="dash"/>
            <a:tailEnd type="triangle"/>
          </a:ln>
        </p:spPr>
      </p:cxnSp>
      <p:sp>
        <p:nvSpPr>
          <p:cNvPr id="225" name="Rectangle 224"/>
          <p:cNvSpPr/>
          <p:nvPr/>
        </p:nvSpPr>
        <p:spPr>
          <a:xfrm>
            <a:off x="10927080" y="1700784"/>
            <a:ext cx="1005840" cy="1261872"/>
          </a:xfrm>
          <a:prstGeom prst="rect">
            <a:avLst/>
          </a:prstGeom>
          <a:solidFill>
            <a:srgbClr val="FFFFFF"/>
          </a:solidFill>
          <a:ln w="15875">
            <a:solidFill>
              <a:srgbClr val="7F7F7F"/>
            </a:solidFill>
          </a:ln>
          <a:effectLst/>
        </p:spPr>
        <p:txBody>
          <a:bodyPr rtlCol="0" anchor="ctr"/>
          <a:lstStyle/>
          <a:p>
            <a:pPr algn="ctr"/>
          </a:p>
        </p:txBody>
      </p:sp>
      <p:sp>
        <p:nvSpPr>
          <p:cNvPr id="226" name="Rectangle 225"/>
          <p:cNvSpPr/>
          <p:nvPr/>
        </p:nvSpPr>
        <p:spPr>
          <a:xfrm>
            <a:off x="10927080" y="170078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7" name="Rectangle 226"/>
          <p:cNvSpPr/>
          <p:nvPr/>
        </p:nvSpPr>
        <p:spPr>
          <a:xfrm>
            <a:off x="10991088" y="1947672"/>
            <a:ext cx="877824"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8" name="Rectangle 227"/>
          <p:cNvSpPr/>
          <p:nvPr/>
        </p:nvSpPr>
        <p:spPr>
          <a:xfrm>
            <a:off x="10927080" y="3163824"/>
            <a:ext cx="1005840" cy="1325880"/>
          </a:xfrm>
          <a:prstGeom prst="rect">
            <a:avLst/>
          </a:prstGeom>
          <a:solidFill>
            <a:srgbClr val="FFFFFF"/>
          </a:solidFill>
          <a:ln w="15875">
            <a:solidFill>
              <a:srgbClr val="7F7F7F"/>
            </a:solidFill>
          </a:ln>
          <a:effectLst/>
        </p:spPr>
        <p:txBody>
          <a:bodyPr rtlCol="0" anchor="ctr"/>
          <a:lstStyle/>
          <a:p>
            <a:pPr algn="ctr"/>
          </a:p>
        </p:txBody>
      </p:sp>
      <p:sp>
        <p:nvSpPr>
          <p:cNvPr id="229" name="Rectangle 228"/>
          <p:cNvSpPr/>
          <p:nvPr/>
        </p:nvSpPr>
        <p:spPr>
          <a:xfrm>
            <a:off x="10927080" y="316382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30" name="Rectangle 229"/>
          <p:cNvSpPr/>
          <p:nvPr/>
        </p:nvSpPr>
        <p:spPr>
          <a:xfrm>
            <a:off x="10991088" y="3410712"/>
            <a:ext cx="877824" cy="100584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31" name="Connector 230"/>
          <p:cNvCxnSpPr/>
          <p:nvPr/>
        </p:nvCxnSpPr>
        <p:spPr>
          <a:xfrm>
            <a:off x="11731752" y="2889504"/>
            <a:ext cx="0" cy="521208"/>
          </a:xfrm>
          <a:prstGeom prst="line">
            <a:avLst/>
          </a:prstGeom>
          <a:ln w="15875">
            <a:solidFill>
              <a:srgbClr val="404040"/>
            </a:solidFill>
            <a:headEnd type="triangle"/>
            <a:tailEnd type="triangle"/>
          </a:ln>
        </p:spPr>
      </p:cxnSp>
      <p:sp>
        <p:nvSpPr>
          <p:cNvPr id="232" name="Oval 231"/>
          <p:cNvSpPr/>
          <p:nvPr/>
        </p:nvSpPr>
        <p:spPr>
          <a:xfrm>
            <a:off x="11397995" y="2985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33" name="Connector 232"/>
          <p:cNvCxnSpPr/>
          <p:nvPr/>
        </p:nvCxnSpPr>
        <p:spPr>
          <a:xfrm flipV="1">
            <a:off x="10680192" y="2295144"/>
            <a:ext cx="310896" cy="502920"/>
          </a:xfrm>
          <a:prstGeom prst="line">
            <a:avLst/>
          </a:prstGeom>
          <a:ln w="15875">
            <a:solidFill>
              <a:srgbClr val="404040"/>
            </a:solidFill>
            <a:tailEnd type="triangle"/>
          </a:ln>
        </p:spPr>
      </p:cxnSp>
      <p:sp>
        <p:nvSpPr>
          <p:cNvPr id="234" name="Oval 233"/>
          <p:cNvSpPr/>
          <p:nvPr/>
        </p:nvSpPr>
        <p:spPr>
          <a:xfrm>
            <a:off x="10730484" y="25191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35" name="Connector 234"/>
          <p:cNvCxnSpPr/>
          <p:nvPr/>
        </p:nvCxnSpPr>
        <p:spPr>
          <a:xfrm flipH="1">
            <a:off x="10680192" y="4032504"/>
            <a:ext cx="310896" cy="0"/>
          </a:xfrm>
          <a:prstGeom prst="line">
            <a:avLst/>
          </a:prstGeom>
          <a:ln w="15875">
            <a:solidFill>
              <a:srgbClr val="404040"/>
            </a:solidFill>
            <a:prstDash val="dash"/>
            <a:tailEnd type="triangle"/>
          </a:ln>
        </p:spPr>
      </p:cxnSp>
      <p:sp>
        <p:nvSpPr>
          <p:cNvPr id="236" name="Oval 235"/>
          <p:cNvSpPr/>
          <p:nvPr/>
        </p:nvSpPr>
        <p:spPr>
          <a:xfrm>
            <a:off x="10767059" y="379018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7" name="Rectangle 236"/>
          <p:cNvSpPr/>
          <p:nvPr/>
        </p:nvSpPr>
        <p:spPr>
          <a:xfrm>
            <a:off x="6583680" y="4626864"/>
            <a:ext cx="1554480" cy="1554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8" name="Rectangle 237"/>
          <p:cNvSpPr/>
          <p:nvPr/>
        </p:nvSpPr>
        <p:spPr>
          <a:xfrm>
            <a:off x="8211312" y="4626864"/>
            <a:ext cx="1554480" cy="155448"/>
          </a:xfrm>
          <a:prstGeom prst="rect">
            <a:avLst/>
          </a:prstGeom>
          <a:solidFill>
            <a:srgbClr val="FFFFFF"/>
          </a:solidFill>
          <a:ln w="127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 인터페이스(SPI / StateView)</a:t>
            </a:r>
          </a:p>
        </p:txBody>
      </p:sp>
      <p:sp>
        <p:nvSpPr>
          <p:cNvPr id="239" name="Rectangle 238"/>
          <p:cNvSpPr/>
          <p:nvPr/>
        </p:nvSpPr>
        <p:spPr>
          <a:xfrm>
            <a:off x="9838944" y="4626864"/>
            <a:ext cx="1005840" cy="155448"/>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40" name="TextBox 239"/>
          <p:cNvSpPr txBox="1"/>
          <p:nvPr/>
        </p:nvSpPr>
        <p:spPr>
          <a:xfrm>
            <a:off x="6583680" y="4809744"/>
            <a:ext cx="534924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프로세스 내부 호출(원격 호출 없음) ③ Prefill/Decode 요청 + kv_transfer_params 직접 조립 ④ 서버 간 KV 전송(NIXL) ⑤ KV 이벤트(ZMQ)·/metrics(두 pod 공통) ⑥ 상태 조회 ⑦ 서버 발견. 레플리카 간 index sync는 옵션</a:t>
            </a:r>
          </a:p>
        </p:txBody>
      </p:sp>
      <p:sp>
        <p:nvSpPr>
          <p:cNvPr id="241" name="Rectangle 240"/>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42" name="Rectangle 241"/>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43" name="Rectangle 242"/>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44" name="Rectangle 243"/>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5" name="Rectangle 244"/>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(Envoy ext-proc, 원격 호출 1회)</a:t>
            </a:r>
          </a:p>
        </p:txBody>
      </p:sp>
      <p:sp>
        <p:nvSpPr>
          <p:cNvPr id="246" name="Rectangle 245"/>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7" name="Rectangle 246"/>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a:t>
            </a:r>
          </a:p>
        </p:txBody>
      </p:sp>
      <p:sp>
        <p:nvSpPr>
          <p:cNvPr id="248" name="Rectangle 247"/>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49" name="Rectangle 248"/>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pod의 pd-sidecar (Router는 데이터 경로 밖)</a:t>
            </a:r>
          </a:p>
        </p:txBody>
      </p:sp>
      <p:sp>
        <p:nvSpPr>
          <p:cNvPr id="250" name="Rectangle 249"/>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51" name="Rectangle 250"/>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52" name="Rectangle 251"/>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3" name="Rectangle 252"/>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patch)</a:t>
            </a:r>
          </a:p>
        </p:txBody>
      </p:sp>
      <p:sp>
        <p:nvSpPr>
          <p:cNvPr id="254" name="Rectangle 253"/>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5" name="Rectangle 254"/>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56" name="TextBox 25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QA를 얻으면 다른 QA를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프로세스(ext-proc)</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sidecar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pod sidecar</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sidecar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 직접 전달, prefill 결과 보고 decode 지정(설계 가능)</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S1·S5·S6(설정·업스트림 흡수·신기능)  ＋Q1 과부하 시 Flow Control 기본</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S3·S4: wrapper가 OSS 동작에 의존, 자체 EPP 이미지 운영</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Q3·Q1 </a:t>
            </a:r>
            <a:r>
              <a:rPr sz="850" b="0">
                <a:solidFill>
                  <a:srgbClr val="000000"/>
                </a:solidFill>
                <a:latin typeface="맑은 고딕"/>
                <a:ea typeface="맑은 고딕"/>
              </a:rPr>
              <a:t>S5·S6 직접 추적·구현, 과부하 admission 직접 구현</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(전부 가설 [C], 측정 전)</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교차: 정상 부하·P/D 경로는 2안(P5 직접 전달), 과부하는 1안(Flow Control 기본 제공). E4</a:t>
            </a:r>
          </a:p>
        </p:txBody>
      </p:sp>
      <p:sp>
        <p:nvSpPr>
          <p:cNvPr id="143" name="Rectangle 142"/>
          <p:cNvSpPr/>
          <p:nvPr/>
        </p:nvSpPr>
        <p:spPr>
          <a:xfrm>
            <a:off x="6492240" y="2139696"/>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2139696"/>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2139696"/>
            <a:ext cx="987552" cy="621792"/>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2139696"/>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1회·sidecar 경유 제거. 크기 미측정이라 가장 약한 근거. E1</a:t>
            </a:r>
          </a:p>
        </p:txBody>
      </p:sp>
      <p:sp>
        <p:nvSpPr>
          <p:cNvPr id="147" name="Rectangle 146"/>
          <p:cNvSpPr/>
          <p:nvPr/>
        </p:nvSpPr>
        <p:spPr>
          <a:xfrm>
            <a:off x="6492240" y="2761488"/>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 용이성</a:t>
            </a:r>
          </a:p>
        </p:txBody>
      </p:sp>
      <p:sp>
        <p:nvSpPr>
          <p:cNvPr id="148" name="Rectangle 147"/>
          <p:cNvSpPr/>
          <p:nvPr/>
        </p:nvSpPr>
        <p:spPr>
          <a:xfrm>
            <a:off x="7498079"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761488"/>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S1·S5·S6은 1안, S2·S3·S4는 2안 (3:3). 변경의 성격이 다름: 흡수 vs 통제</a:t>
            </a:r>
          </a:p>
        </p:txBody>
      </p:sp>
      <p:sp>
        <p:nvSpPr>
          <p:cNvPr id="151" name="Rectangle 150"/>
          <p:cNvSpPr/>
          <p:nvPr/>
        </p:nvSpPr>
        <p:spPr>
          <a:xfrm>
            <a:off x="6492240" y="3383280"/>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3383280"/>
            <a:ext cx="987552" cy="621792"/>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3383280"/>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3383280"/>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복제·InferencePool·Flow Control 검증됨. 2안: 레플리카·HA·sync 직접 구축, 2노드 실측 불가</a:t>
            </a:r>
          </a:p>
        </p:txBody>
      </p:sp>
      <p:sp>
        <p:nvSpPr>
          <p:cNvPr id="155" name="Rectangle 154"/>
          <p:cNvSpPr/>
          <p:nvPr/>
        </p:nvSpPr>
        <p:spPr>
          <a:xfrm>
            <a:off x="6492240" y="4005072"/>
            <a:ext cx="1005840" cy="310896"/>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4005072"/>
            <a:ext cx="2523744" cy="310896"/>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QA만으로는 우열 없음 (QA 우선순위 미정)</a:t>
            </a:r>
          </a:p>
        </p:txBody>
      </p:sp>
      <p:sp>
        <p:nvSpPr>
          <p:cNvPr id="159" name="TextBox 158"/>
          <p:cNvSpPr txBox="1"/>
          <p:nvPr/>
        </p:nvSpPr>
        <p:spPr>
          <a:xfrm>
            <a:off x="6492240" y="4389120"/>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QA 밖 비용 (프로젝트 제약)</a:t>
            </a:r>
          </a:p>
        </p:txBody>
      </p:sp>
      <p:sp>
        <p:nvSpPr>
          <p:cNvPr id="160" name="Rectangle 159"/>
          <p:cNvSpPr/>
          <p:nvPr/>
        </p:nvSpPr>
        <p:spPr>
          <a:xfrm>
            <a:off x="6492240" y="4590288"/>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구현·개발 부담</a:t>
            </a:r>
          </a:p>
        </p:txBody>
      </p:sp>
      <p:sp>
        <p:nvSpPr>
          <p:cNvPr id="161" name="Rectangle 160"/>
          <p:cNvSpPr/>
          <p:nvPr/>
        </p:nvSpPr>
        <p:spPr>
          <a:xfrm>
            <a:off x="7498079" y="4590288"/>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1">
                <a:solidFill>
                  <a:srgbClr val="2F5597"/>
                </a:solidFill>
                <a:latin typeface="맑은 고딕"/>
                <a:ea typeface="맑은 고딕"/>
              </a:rPr>
              <a:t>1안 유리 — 우리 소유 블록 3/6</a:t>
            </a:r>
            <a:r>
              <a:rPr sz="800" b="0">
                <a:solidFill>
                  <a:srgbClr val="7F7F7F"/>
                </a:solidFill>
                <a:latin typeface="맑은 고딕"/>
                <a:ea typeface="맑은 고딕"/>
              </a:rPr>
              <a:t>   |   </a:t>
            </a:r>
            <a:r>
              <a:rPr sz="800" b="0">
                <a:solidFill>
                  <a:srgbClr val="C55A11"/>
                </a:solidFill>
                <a:latin typeface="맑은 고딕"/>
                <a:ea typeface="맑은 고딕"/>
              </a:rPr>
              <a:t>2안 불리 — 6/6 + 레플리카·HA</a:t>
            </a:r>
          </a:p>
        </p:txBody>
      </p:sp>
      <p:sp>
        <p:nvSpPr>
          <p:cNvPr id="162" name="Rectangle 161"/>
          <p:cNvSpPr/>
          <p:nvPr/>
        </p:nvSpPr>
        <p:spPr>
          <a:xfrm>
            <a:off x="6492240" y="4919472"/>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 부담</a:t>
            </a:r>
          </a:p>
        </p:txBody>
      </p:sp>
      <p:sp>
        <p:nvSpPr>
          <p:cNvPr id="163" name="Rectangle 162"/>
          <p:cNvSpPr/>
          <p:nvPr/>
        </p:nvSpPr>
        <p:spPr>
          <a:xfrm>
            <a:off x="7498079" y="4919472"/>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0">
                <a:solidFill>
                  <a:srgbClr val="2F5597"/>
                </a:solidFill>
                <a:latin typeface="맑은 고딕"/>
                <a:ea typeface="맑은 고딕"/>
              </a:rPr>
              <a:t>1안 불리 — K8s·Envoy·자체 EPP 이미지(C2)</a:t>
            </a:r>
            <a:r>
              <a:rPr sz="800" b="0">
                <a:solidFill>
                  <a:srgbClr val="7F7F7F"/>
                </a:solidFill>
                <a:latin typeface="맑은 고딕"/>
                <a:ea typeface="맑은 고딕"/>
              </a:rPr>
              <a:t>   |   </a:t>
            </a:r>
            <a:r>
              <a:rPr sz="800" b="1">
                <a:solidFill>
                  <a:srgbClr val="C55A11"/>
                </a:solidFill>
                <a:latin typeface="맑은 고딕"/>
                <a:ea typeface="맑은 고딕"/>
              </a:rPr>
              <a:t>2안 유리 — K8s·Envoy 불필요</a:t>
            </a:r>
          </a:p>
        </p:txBody>
      </p:sp>
      <p:sp>
        <p:nvSpPr>
          <p:cNvPr id="164" name="Rectangle 163"/>
          <p:cNvSpPr/>
          <p:nvPr/>
        </p:nvSpPr>
        <p:spPr>
          <a:xfrm>
            <a:off x="246888" y="5468112"/>
            <a:ext cx="11750040" cy="786384"/>
          </a:xfrm>
          <a:prstGeom prst="rect">
            <a:avLst/>
          </a:prstGeom>
          <a:solidFill>
            <a:srgbClr val="FFFBEA"/>
          </a:solidFill>
          <a:ln w="12700">
            <a:solidFill>
              <a:srgbClr val="BF9000"/>
            </a:solidFill>
          </a:ln>
          <a:effectLst/>
        </p:spPr>
        <p:txBody>
          <a:bodyPr rtlCol="0" anchor="ctr"/>
          <a:lstStyle/>
          <a:p>
            <a:pPr algn="ctr"/>
          </a:p>
        </p:txBody>
      </p:sp>
      <p:sp>
        <p:nvSpPr>
          <p:cNvPr id="165" name="TextBox 164"/>
          <p:cNvSpPr txBox="1"/>
          <p:nvPr/>
        </p:nvSpPr>
        <p:spPr>
          <a:xfrm>
            <a:off x="338328" y="5513832"/>
            <a:ext cx="11567160" cy="84124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합계는 동점이고 비용 항목도 서로 반대 방향이므로 tradeoff가 성립한다. 한쪽이 지배하지 않는다.</a:t>
            </a:r>
          </a:p>
          <a:p>
            <a:pPr algn="l"/>
            <a:r>
              <a:rPr sz="850" b="0">
                <a:solidFill>
                  <a:srgbClr val="000000"/>
                </a:solidFill>
                <a:latin typeface="맑은 고딕"/>
                <a:ea typeface="맑은 고딕"/>
              </a:rPr>
              <a:t>· 기본 경로 = 1안(llm-d 확장): P1~P4를 실제 실행으로 확인한 [A] 경로가 있고, 2안은 설계안뿐이라 증거가 비대칭이다. 2안은 실험으로 확정되는 헤지로 둔다.</a:t>
            </a:r>
          </a:p>
          <a:p>
            <a:pPr algn="l"/>
            <a:r>
              <a:rPr sz="850" b="0">
                <a:solidFill>
                  <a:srgbClr val="000000"/>
                </a:solidFill>
                <a:latin typeface="맑은 고딕"/>
                <a:ea typeface="맑은 고딕"/>
              </a:rPr>
              <a:t>· 2안으로 전환: E1에서 hop 증분이 TTFT 목표 대비 허용 불가 · P/D 경로 P5가 성능에 필수인데 sidecar patch 유지가 불가 · QA 우선순위를 Latency 우선으로 확정할 때.</a:t>
            </a:r>
          </a:p>
          <a:p>
            <a:pPr algn="l"/>
            <a:r>
              <a:rPr sz="850" b="0">
                <a:solidFill>
                  <a:srgbClr val="000000"/>
                </a:solidFill>
                <a:latin typeface="맑은 고딕"/>
                <a:ea typeface="맑은 고딕"/>
              </a:rPr>
              <a:t>· 붕괴 조건: E1에서 hop 증분이 측정 잡음 수준이면 Q2가 동률이 되어 1안이 다시 지배한다. 2안의 레플리카 일관성 구현이 예상보다 크면 Q4가 ●○○로 내려간다.</a:t>
            </a:r>
          </a:p>
        </p:txBody>
      </p:sp>
      <p:sp>
        <p:nvSpPr>
          <p:cNvPr id="166" name="TextBox 16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모두 구조 논증 기반 가설 [C]. 확정 실험: E1(결정 경로 지연) · E3(상태 신선도) · E4(end-to-end Goodput). 이전 평가(1안 10 vs 2안 8)와의 차이·사유는 설계 문서 §7.4 개정 기록.</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
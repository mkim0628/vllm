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세 가지 패턴으로 갈아 끼웁니다. 각각 1안의 문제와 연결됩니다. Strategy는 점수·P/D 정책을 구현체 교체로 바꾸게 해서 1안의 plugin 역할을 합니다. Decorator는 노드 지시(P5)를 한 겹씩 덧붙여서 1안에서 보조 프로세스가 지시를 덮어쓰던 문제를 없앱니다. Adapter는 vLLM 계약을 한곳에 가둬서 1안에서 우리 확장이 OSS 내부 동작에 기대던 문제를 줄입니다.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디자인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디자인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디자인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77647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242048" y="1536192"/>
            <a:ext cx="3566160" cy="2834640"/>
          </a:xfrm>
          <a:prstGeom prst="rect">
            <a:avLst/>
          </a:prstGeom>
          <a:solidFill>
            <a:srgbClr val="FFFFFF"/>
          </a:solidFill>
          <a:ln w="19050">
            <a:solidFill>
              <a:srgbClr val="C55A11"/>
            </a:solidFill>
          </a:ln>
          <a:effectLst/>
        </p:spPr>
        <p:txBody>
          <a:bodyPr rtlCol="0" anchor="ctr"/>
          <a:lstStyle/>
          <a:p>
            <a:pPr algn="ctr"/>
          </a:p>
        </p:txBody>
      </p:sp>
      <p:sp>
        <p:nvSpPr>
          <p:cNvPr id="174" name="Rectangle 173"/>
          <p:cNvSpPr/>
          <p:nvPr/>
        </p:nvSpPr>
        <p:spPr>
          <a:xfrm>
            <a:off x="7242048" y="1536192"/>
            <a:ext cx="3566160" cy="164592"/>
          </a:xfrm>
          <a:prstGeom prst="rect">
            <a:avLst/>
          </a:prstGeom>
          <a:solidFill>
            <a:srgbClr val="C55A11"/>
          </a:solidFill>
          <a:ln w="12700">
            <a:solidFill>
              <a:srgbClr val="C55A11"/>
            </a:solidFill>
          </a:ln>
          <a:effectLst/>
        </p:spPr>
        <p:txBody>
          <a:bodyPr rtlCol="0" anchor="ctr" wrap="square" lIns="45720" tIns="0" rIns="0" bIns="0"/>
          <a:lstStyle/>
          <a:p>
            <a:pPr algn="l"/>
            <a:r>
              <a:rPr sz="700" b="1">
                <a:solidFill>
                  <a:srgbClr val="FFFFFF"/>
                </a:solidFill>
                <a:latin typeface="맑은 고딕"/>
                <a:ea typeface="맑은 고딕"/>
              </a:rPr>
              <a:t>«process» Own Router 레플리카 1개 (한 프로세스)</a:t>
            </a:r>
          </a:p>
        </p:txBody>
      </p:sp>
      <p:cxnSp>
        <p:nvCxnSpPr>
          <p:cNvPr id="175" name="Connector 174"/>
          <p:cNvCxnSpPr/>
          <p:nvPr/>
        </p:nvCxnSpPr>
        <p:spPr>
          <a:xfrm flipV="1">
            <a:off x="7150608" y="1993392"/>
            <a:ext cx="164592" cy="237744"/>
          </a:xfrm>
          <a:prstGeom prst="line">
            <a:avLst/>
          </a:prstGeom>
          <a:ln w="12700">
            <a:solidFill>
              <a:srgbClr val="404040"/>
            </a:solidFill>
            <a:tailEnd type="triangle"/>
          </a:ln>
        </p:spPr>
      </p:cxnSp>
      <p:sp>
        <p:nvSpPr>
          <p:cNvPr id="176" name="Rectangle 175"/>
          <p:cNvSpPr/>
          <p:nvPr/>
        </p:nvSpPr>
        <p:spPr>
          <a:xfrm>
            <a:off x="7333488" y="1755648"/>
            <a:ext cx="3383280" cy="2743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 / API   요청 파싱 · 스트리밍 중계</a:t>
            </a:r>
          </a:p>
        </p:txBody>
      </p:sp>
      <p:sp>
        <p:nvSpPr>
          <p:cNvPr id="177" name="Rectangle 176"/>
          <p:cNvSpPr/>
          <p:nvPr/>
        </p:nvSpPr>
        <p:spPr>
          <a:xfrm>
            <a:off x="7333488" y="2240280"/>
            <a:ext cx="86868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Admission</a:t>
            </a:r>
          </a:p>
        </p:txBody>
      </p:sp>
      <p:sp>
        <p:nvSpPr>
          <p:cNvPr id="178" name="Rectangle 177"/>
          <p:cNvSpPr/>
          <p:nvPr/>
        </p:nvSpPr>
        <p:spPr>
          <a:xfrm>
            <a:off x="8321040" y="2240280"/>
            <a:ext cx="105156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p:txBody>
      </p:sp>
      <p:sp>
        <p:nvSpPr>
          <p:cNvPr id="179" name="Rectangle 178"/>
          <p:cNvSpPr/>
          <p:nvPr/>
        </p:nvSpPr>
        <p:spPr>
          <a:xfrm>
            <a:off x="9491472" y="2240280"/>
            <a:ext cx="1225296"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Dispatcher</a:t>
            </a:r>
          </a:p>
        </p:txBody>
      </p:sp>
      <p:cxnSp>
        <p:nvCxnSpPr>
          <p:cNvPr id="180" name="Connector 179"/>
          <p:cNvCxnSpPr/>
          <p:nvPr/>
        </p:nvCxnSpPr>
        <p:spPr>
          <a:xfrm>
            <a:off x="8202168" y="2359152"/>
            <a:ext cx="118872" cy="0"/>
          </a:xfrm>
          <a:prstGeom prst="line">
            <a:avLst/>
          </a:prstGeom>
          <a:ln w="15875">
            <a:solidFill>
              <a:srgbClr val="C55A11"/>
            </a:solidFill>
            <a:tailEnd type="triangle"/>
          </a:ln>
        </p:spPr>
      </p:cxnSp>
      <p:cxnSp>
        <p:nvCxnSpPr>
          <p:cNvPr id="181" name="Connector 180"/>
          <p:cNvCxnSpPr/>
          <p:nvPr/>
        </p:nvCxnSpPr>
        <p:spPr>
          <a:xfrm>
            <a:off x="9372600" y="2359152"/>
            <a:ext cx="118872" cy="0"/>
          </a:xfrm>
          <a:prstGeom prst="line">
            <a:avLst/>
          </a:prstGeom>
          <a:ln w="15875">
            <a:solidFill>
              <a:srgbClr val="C55A11"/>
            </a:solidFill>
            <a:tailEnd type="triangle"/>
          </a:ln>
        </p:spPr>
      </p:cxnSp>
      <p:cxnSp>
        <p:nvCxnSpPr>
          <p:cNvPr id="182" name="Connector 181"/>
          <p:cNvCxnSpPr/>
          <p:nvPr/>
        </p:nvCxnSpPr>
        <p:spPr>
          <a:xfrm>
            <a:off x="7635240" y="2029968"/>
            <a:ext cx="0" cy="210312"/>
          </a:xfrm>
          <a:prstGeom prst="line">
            <a:avLst/>
          </a:prstGeom>
          <a:ln w="15875">
            <a:solidFill>
              <a:srgbClr val="C55A11"/>
            </a:solidFill>
            <a:tailEnd type="triangle"/>
          </a:ln>
        </p:spPr>
      </p:cxnSp>
      <p:sp>
        <p:nvSpPr>
          <p:cNvPr id="183" name="Oval 182"/>
          <p:cNvSpPr/>
          <p:nvPr/>
        </p:nvSpPr>
        <p:spPr>
          <a:xfrm>
            <a:off x="7712963" y="20619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4" name="Rectangle 183"/>
          <p:cNvSpPr/>
          <p:nvPr/>
        </p:nvSpPr>
        <p:spPr>
          <a:xfrm>
            <a:off x="7333488" y="2523744"/>
            <a:ext cx="16002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점수 정책 ↔ 1안 plugin 대응</a:t>
            </a:r>
          </a:p>
        </p:txBody>
      </p:sp>
      <p:sp>
        <p:nvSpPr>
          <p:cNvPr id="185" name="Rectangle 184"/>
          <p:cNvSpPr/>
          <p:nvPr/>
        </p:nvSpPr>
        <p:spPr>
          <a:xfrm>
            <a:off x="7333488" y="2679192"/>
            <a:ext cx="1783080" cy="713232"/>
          </a:xfrm>
          <a:prstGeom prst="rect">
            <a:avLst/>
          </a:prstGeom>
          <a:solidFill>
            <a:srgbClr val="FFFFFF"/>
          </a:solidFill>
          <a:ln w="15875">
            <a:solidFill>
              <a:srgbClr val="5E35B1"/>
            </a:solidFill>
          </a:ln>
          <a:effectLst/>
        </p:spPr>
        <p:txBody>
          <a:bodyPr rtlCol="0" anchor="ctr"/>
          <a:lstStyle/>
          <a:p>
            <a:pPr algn="ctr"/>
          </a:p>
        </p:txBody>
      </p:sp>
      <p:sp>
        <p:nvSpPr>
          <p:cNvPr id="186" name="TextBox 185"/>
          <p:cNvSpPr txBox="1"/>
          <p:nvPr/>
        </p:nvSpPr>
        <p:spPr>
          <a:xfrm>
            <a:off x="7370064" y="2697480"/>
            <a:ext cx="173736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ScoreStrategy</a:t>
            </a:r>
          </a:p>
        </p:txBody>
      </p:sp>
      <p:sp>
        <p:nvSpPr>
          <p:cNvPr id="187" name="Rectangle 186"/>
          <p:cNvSpPr/>
          <p:nvPr/>
        </p:nvSpPr>
        <p:spPr>
          <a:xfrm>
            <a:off x="7388352" y="2834640"/>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P1 TierWeightScorer</a:t>
            </a:r>
          </a:p>
        </p:txBody>
      </p:sp>
      <p:sp>
        <p:nvSpPr>
          <p:cNvPr id="188" name="Rectangle 187"/>
          <p:cNvSpPr/>
          <p:nvPr/>
        </p:nvSpPr>
        <p:spPr>
          <a:xfrm>
            <a:off x="7388352" y="3008376"/>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P2 LiveStateScorer</a:t>
            </a:r>
          </a:p>
        </p:txBody>
      </p:sp>
      <p:sp>
        <p:nvSpPr>
          <p:cNvPr id="189" name="Rectangle 188"/>
          <p:cNvSpPr/>
          <p:nvPr/>
        </p:nvSpPr>
        <p:spPr>
          <a:xfrm>
            <a:off x="7388352" y="3182112"/>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P3 CostBasedScorer</a:t>
            </a:r>
          </a:p>
        </p:txBody>
      </p:sp>
      <p:cxnSp>
        <p:nvCxnSpPr>
          <p:cNvPr id="190" name="Connector 189"/>
          <p:cNvCxnSpPr/>
          <p:nvPr/>
        </p:nvCxnSpPr>
        <p:spPr>
          <a:xfrm>
            <a:off x="8823960" y="2478024"/>
            <a:ext cx="0" cy="201168"/>
          </a:xfrm>
          <a:prstGeom prst="line">
            <a:avLst/>
          </a:prstGeom>
          <a:ln w="15875">
            <a:solidFill>
              <a:srgbClr val="5E35B1"/>
            </a:solidFill>
            <a:tailEnd type="triangle"/>
          </a:ln>
        </p:spPr>
      </p:cxnSp>
      <p:sp>
        <p:nvSpPr>
          <p:cNvPr id="191" name="Rectangle 190"/>
          <p:cNvSpPr/>
          <p:nvPr/>
        </p:nvSpPr>
        <p:spPr>
          <a:xfrm>
            <a:off x="9217152" y="2523744"/>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P/D 정책</a:t>
            </a:r>
          </a:p>
        </p:txBody>
      </p:sp>
      <p:sp>
        <p:nvSpPr>
          <p:cNvPr id="192" name="Rectangle 191"/>
          <p:cNvSpPr/>
          <p:nvPr/>
        </p:nvSpPr>
        <p:spPr>
          <a:xfrm>
            <a:off x="9217152" y="2679192"/>
            <a:ext cx="1536192" cy="365760"/>
          </a:xfrm>
          <a:prstGeom prst="rect">
            <a:avLst/>
          </a:prstGeom>
          <a:solidFill>
            <a:srgbClr val="FFFFFF"/>
          </a:solidFill>
          <a:ln w="15875">
            <a:solidFill>
              <a:srgbClr val="5E35B1"/>
            </a:solidFill>
          </a:ln>
          <a:effectLst/>
        </p:spPr>
        <p:txBody>
          <a:bodyPr rtlCol="0" anchor="ctr"/>
          <a:lstStyle/>
          <a:p>
            <a:pPr algn="ctr"/>
          </a:p>
        </p:txBody>
      </p:sp>
      <p:sp>
        <p:nvSpPr>
          <p:cNvPr id="193" name="TextBox 192"/>
          <p:cNvSpPr txBox="1"/>
          <p:nvPr/>
        </p:nvSpPr>
        <p:spPr>
          <a:xfrm>
            <a:off x="9253728" y="2697480"/>
            <a:ext cx="146304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PDPlanStrategy</a:t>
            </a:r>
          </a:p>
        </p:txBody>
      </p:sp>
      <p:sp>
        <p:nvSpPr>
          <p:cNvPr id="194" name="Rectangle 193"/>
          <p:cNvSpPr/>
          <p:nvPr/>
        </p:nvSpPr>
        <p:spPr>
          <a:xfrm>
            <a:off x="9272016" y="2852928"/>
            <a:ext cx="1426464"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P4 CostPDPlanner</a:t>
            </a:r>
          </a:p>
        </p:txBody>
      </p:sp>
      <p:cxnSp>
        <p:nvCxnSpPr>
          <p:cNvPr id="195" name="Connector 194"/>
          <p:cNvCxnSpPr/>
          <p:nvPr/>
        </p:nvCxnSpPr>
        <p:spPr>
          <a:xfrm>
            <a:off x="10104120" y="2478024"/>
            <a:ext cx="0" cy="201168"/>
          </a:xfrm>
          <a:prstGeom prst="line">
            <a:avLst/>
          </a:prstGeom>
          <a:ln w="15875">
            <a:solidFill>
              <a:srgbClr val="5E35B1"/>
            </a:solidFill>
            <a:tailEnd type="triangle"/>
          </a:ln>
        </p:spPr>
      </p:cxnSp>
      <p:sp>
        <p:nvSpPr>
          <p:cNvPr id="196" name="Rectangle 195"/>
          <p:cNvSpPr/>
          <p:nvPr/>
        </p:nvSpPr>
        <p:spPr>
          <a:xfrm>
            <a:off x="9217152" y="3090672"/>
            <a:ext cx="1536192"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«Decorator» P5 ↔ 1안 덮어쓰기 해결</a:t>
            </a:r>
          </a:p>
        </p:txBody>
      </p:sp>
      <p:sp>
        <p:nvSpPr>
          <p:cNvPr id="197" name="Rectangle 196"/>
          <p:cNvSpPr/>
          <p:nvPr/>
        </p:nvSpPr>
        <p:spPr>
          <a:xfrm>
            <a:off x="9217152" y="3236976"/>
            <a:ext cx="1536192" cy="1828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0">
                <a:solidFill>
                  <a:srgbClr val="000000"/>
                </a:solidFill>
                <a:latin typeface="맑은 고딕"/>
                <a:ea typeface="맑은 고딕"/>
              </a:rPr>
              <a:t>기본 ▸ +계층 ▸ +토큰 한도</a:t>
            </a:r>
          </a:p>
        </p:txBody>
      </p:sp>
      <p:sp>
        <p:nvSpPr>
          <p:cNvPr id="198" name="Rectangle 197"/>
          <p:cNvSpPr/>
          <p:nvPr/>
        </p:nvSpPr>
        <p:spPr>
          <a:xfrm>
            <a:off x="7333488" y="3657600"/>
            <a:ext cx="77724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Event</a:t>
            </a:r>
          </a:p>
          <a:p>
            <a:pPr algn="ctr"/>
            <a:r>
              <a:rPr sz="700" b="1">
                <a:solidFill>
                  <a:srgbClr val="000000"/>
                </a:solidFill>
                <a:latin typeface="맑은 고딕"/>
                <a:ea typeface="맑은 고딕"/>
              </a:rPr>
              <a:t>Subscriber</a:t>
            </a:r>
          </a:p>
        </p:txBody>
      </p:sp>
      <p:sp>
        <p:nvSpPr>
          <p:cNvPr id="199" name="Rectangle 198"/>
          <p:cNvSpPr/>
          <p:nvPr/>
        </p:nvSpPr>
        <p:spPr>
          <a:xfrm>
            <a:off x="8229600" y="3657600"/>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KV Index 갱신</a:t>
            </a:r>
          </a:p>
        </p:txBody>
      </p:sp>
      <p:cxnSp>
        <p:nvCxnSpPr>
          <p:cNvPr id="200" name="Connector 199"/>
          <p:cNvCxnSpPr/>
          <p:nvPr/>
        </p:nvCxnSpPr>
        <p:spPr>
          <a:xfrm flipV="1">
            <a:off x="8110728" y="3758184"/>
            <a:ext cx="118872" cy="64007"/>
          </a:xfrm>
          <a:prstGeom prst="line">
            <a:avLst/>
          </a:prstGeom>
          <a:ln w="12700">
            <a:solidFill>
              <a:srgbClr val="C55A11"/>
            </a:solidFill>
            <a:tailEnd type="triangle"/>
          </a:ln>
        </p:spPr>
      </p:cxnSp>
      <p:sp>
        <p:nvSpPr>
          <p:cNvPr id="201" name="Rectangle 200"/>
          <p:cNvSpPr/>
          <p:nvPr/>
        </p:nvSpPr>
        <p:spPr>
          <a:xfrm>
            <a:off x="8229600" y="3904487"/>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스냅샷</a:t>
            </a:r>
          </a:p>
        </p:txBody>
      </p:sp>
      <p:cxnSp>
        <p:nvCxnSpPr>
          <p:cNvPr id="202" name="Connector 201"/>
          <p:cNvCxnSpPr/>
          <p:nvPr/>
        </p:nvCxnSpPr>
        <p:spPr>
          <a:xfrm>
            <a:off x="8110728" y="3959352"/>
            <a:ext cx="118872" cy="45720"/>
          </a:xfrm>
          <a:prstGeom prst="line">
            <a:avLst/>
          </a:prstGeom>
          <a:ln w="12700">
            <a:solidFill>
              <a:srgbClr val="C55A11"/>
            </a:solidFill>
            <a:tailEnd type="triangle"/>
          </a:ln>
        </p:spPr>
      </p:cxnSp>
      <p:sp>
        <p:nvSpPr>
          <p:cNvPr id="203" name="Rectangle 202"/>
          <p:cNvSpPr/>
          <p:nvPr/>
        </p:nvSpPr>
        <p:spPr>
          <a:xfrm>
            <a:off x="9217152" y="3657600"/>
            <a:ext cx="73152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StateView</a:t>
            </a:r>
          </a:p>
          <a:p>
            <a:pPr algn="ctr"/>
            <a:r>
              <a:rPr sz="600" b="0">
                <a:solidFill>
                  <a:srgbClr val="404040"/>
                </a:solidFill>
                <a:latin typeface="맑은 고딕"/>
                <a:ea typeface="맑은 고딕"/>
              </a:rPr>
              <a:t>읽기 전용 조회</a:t>
            </a:r>
          </a:p>
        </p:txBody>
      </p:sp>
      <p:cxnSp>
        <p:nvCxnSpPr>
          <p:cNvPr id="204" name="Connector 203"/>
          <p:cNvCxnSpPr/>
          <p:nvPr/>
        </p:nvCxnSpPr>
        <p:spPr>
          <a:xfrm>
            <a:off x="9098280" y="3877056"/>
            <a:ext cx="118872" cy="0"/>
          </a:xfrm>
          <a:prstGeom prst="line">
            <a:avLst/>
          </a:prstGeom>
          <a:ln w="12700">
            <a:solidFill>
              <a:srgbClr val="C55A11"/>
            </a:solidFill>
            <a:tailEnd type="triangle"/>
          </a:ln>
        </p:spPr>
      </p:cxnSp>
      <p:cxnSp>
        <p:nvCxnSpPr>
          <p:cNvPr id="205" name="Connector 204"/>
          <p:cNvCxnSpPr/>
          <p:nvPr/>
        </p:nvCxnSpPr>
        <p:spPr>
          <a:xfrm flipH="1" flipV="1">
            <a:off x="8961120" y="3392424"/>
            <a:ext cx="548640" cy="265176"/>
          </a:xfrm>
          <a:prstGeom prst="line">
            <a:avLst/>
          </a:prstGeom>
          <a:ln w="15875">
            <a:solidFill>
              <a:srgbClr val="C55A11"/>
            </a:solidFill>
            <a:tailEnd type="triangle"/>
          </a:ln>
        </p:spPr>
      </p:cxnSp>
      <p:sp>
        <p:nvSpPr>
          <p:cNvPr id="206" name="Oval 205"/>
          <p:cNvSpPr/>
          <p:nvPr/>
        </p:nvSpPr>
        <p:spPr>
          <a:xfrm>
            <a:off x="9203436" y="34518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07" name="Connector 206"/>
          <p:cNvCxnSpPr/>
          <p:nvPr/>
        </p:nvCxnSpPr>
        <p:spPr>
          <a:xfrm flipV="1">
            <a:off x="9784080" y="3419856"/>
            <a:ext cx="0" cy="237744"/>
          </a:xfrm>
          <a:prstGeom prst="line">
            <a:avLst/>
          </a:prstGeom>
          <a:ln w="15875">
            <a:solidFill>
              <a:srgbClr val="C55A11"/>
            </a:solidFill>
            <a:tailEnd type="triangle"/>
          </a:ln>
        </p:spPr>
      </p:cxnSp>
      <p:sp>
        <p:nvSpPr>
          <p:cNvPr id="208" name="Rectangle 207"/>
          <p:cNvSpPr/>
          <p:nvPr/>
        </p:nvSpPr>
        <p:spPr>
          <a:xfrm>
            <a:off x="10021824" y="3657600"/>
            <a:ext cx="694944"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F Registry</a:t>
            </a:r>
          </a:p>
          <a:p>
            <a:pPr algn="ctr"/>
            <a:r>
              <a:rPr sz="600" b="0">
                <a:solidFill>
                  <a:srgbClr val="404040"/>
                </a:solidFill>
                <a:latin typeface="맑은 고딕"/>
                <a:ea typeface="맑은 고딕"/>
              </a:rPr>
              <a:t>etcd watch</a:t>
            </a:r>
          </a:p>
        </p:txBody>
      </p:sp>
      <p:cxnSp>
        <p:nvCxnSpPr>
          <p:cNvPr id="209" name="Connector 208"/>
          <p:cNvCxnSpPr/>
          <p:nvPr/>
        </p:nvCxnSpPr>
        <p:spPr>
          <a:xfrm>
            <a:off x="7150608" y="4165091"/>
            <a:ext cx="2999232" cy="0"/>
          </a:xfrm>
          <a:prstGeom prst="line">
            <a:avLst/>
          </a:prstGeom>
          <a:ln w="12700">
            <a:solidFill>
              <a:srgbClr val="C55A11"/>
            </a:solidFill>
            <a:prstDash val="dash"/>
          </a:ln>
        </p:spPr>
      </p:cxnSp>
      <p:cxnSp>
        <p:nvCxnSpPr>
          <p:cNvPr id="210" name="Connector 209"/>
          <p:cNvCxnSpPr/>
          <p:nvPr/>
        </p:nvCxnSpPr>
        <p:spPr>
          <a:xfrm flipV="1">
            <a:off x="10149840" y="4114800"/>
            <a:ext cx="0" cy="50291"/>
          </a:xfrm>
          <a:prstGeom prst="line">
            <a:avLst/>
          </a:prstGeom>
          <a:ln w="12700">
            <a:solidFill>
              <a:srgbClr val="C55A11"/>
            </a:solidFill>
            <a:tailEnd type="triangle"/>
          </a:ln>
        </p:spPr>
      </p:cxnSp>
      <p:sp>
        <p:nvSpPr>
          <p:cNvPr id="211" name="Oval 210"/>
          <p:cNvSpPr/>
          <p:nvPr/>
        </p:nvSpPr>
        <p:spPr>
          <a:xfrm>
            <a:off x="7109460" y="392734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212" name="Rectangle 211"/>
          <p:cNvSpPr/>
          <p:nvPr/>
        </p:nvSpPr>
        <p:spPr>
          <a:xfrm>
            <a:off x="7333488" y="4215384"/>
            <a:ext cx="141732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«Adapter» ↔ 1안 OSS 의존 해결</a:t>
            </a:r>
          </a:p>
        </p:txBody>
      </p:sp>
      <p:sp>
        <p:nvSpPr>
          <p:cNvPr id="213" name="Rectangle 212"/>
          <p:cNvSpPr/>
          <p:nvPr/>
        </p:nvSpPr>
        <p:spPr>
          <a:xfrm>
            <a:off x="8796528" y="4215384"/>
            <a:ext cx="1920240" cy="137160"/>
          </a:xfrm>
          <a:prstGeom prst="rect">
            <a:avLst/>
          </a:prstGeom>
          <a:solidFill>
            <a:srgbClr val="FFFFFF"/>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vLLM 계약: KV 이벤트 · /metrics · kv_params</a:t>
            </a:r>
          </a:p>
        </p:txBody>
      </p:sp>
      <p:sp>
        <p:nvSpPr>
          <p:cNvPr id="214" name="Rectangle 213"/>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15" name="Rectangle 214"/>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6" name="Rectangle 215"/>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17" name="Rectangle 216"/>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18" name="Rectangle 217"/>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9" name="Rectangle 218"/>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20" name="Connector 219"/>
          <p:cNvCxnSpPr/>
          <p:nvPr/>
        </p:nvCxnSpPr>
        <p:spPr>
          <a:xfrm>
            <a:off x="11411712" y="2770632"/>
            <a:ext cx="0" cy="457200"/>
          </a:xfrm>
          <a:prstGeom prst="line">
            <a:avLst/>
          </a:prstGeom>
          <a:ln w="15875">
            <a:solidFill>
              <a:srgbClr val="404040"/>
            </a:solidFill>
            <a:headEnd type="triangle"/>
            <a:tailEnd type="triangle"/>
          </a:ln>
        </p:spPr>
      </p:cxnSp>
      <p:sp>
        <p:nvSpPr>
          <p:cNvPr id="221" name="Oval 220"/>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22" name="Connector 221"/>
          <p:cNvCxnSpPr/>
          <p:nvPr/>
        </p:nvCxnSpPr>
        <p:spPr>
          <a:xfrm flipV="1">
            <a:off x="10716767" y="2194560"/>
            <a:ext cx="292609" cy="164592"/>
          </a:xfrm>
          <a:prstGeom prst="line">
            <a:avLst/>
          </a:prstGeom>
          <a:ln w="15875">
            <a:solidFill>
              <a:srgbClr val="404040"/>
            </a:solidFill>
            <a:tailEnd type="triangle"/>
          </a:ln>
        </p:spPr>
      </p:cxnSp>
      <p:sp>
        <p:nvSpPr>
          <p:cNvPr id="223" name="Oval 222"/>
          <p:cNvSpPr/>
          <p:nvPr/>
        </p:nvSpPr>
        <p:spPr>
          <a:xfrm>
            <a:off x="10785347" y="202539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24" name="Connector 223"/>
          <p:cNvCxnSpPr/>
          <p:nvPr/>
        </p:nvCxnSpPr>
        <p:spPr>
          <a:xfrm flipH="1">
            <a:off x="10716767" y="3822191"/>
            <a:ext cx="292609" cy="0"/>
          </a:xfrm>
          <a:prstGeom prst="line">
            <a:avLst/>
          </a:prstGeom>
          <a:ln w="15875">
            <a:solidFill>
              <a:srgbClr val="404040"/>
            </a:solidFill>
            <a:prstDash val="dash"/>
            <a:tailEnd type="triangle"/>
          </a:ln>
        </p:spPr>
      </p:cxnSp>
      <p:sp>
        <p:nvSpPr>
          <p:cNvPr id="225" name="Oval 224"/>
          <p:cNvSpPr/>
          <p:nvPr/>
        </p:nvSpPr>
        <p:spPr>
          <a:xfrm>
            <a:off x="10785347"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26" name="Rectangle 225"/>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27" name="Rectangle 226"/>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28" name="Rectangle 227"/>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29" name="Rectangle 228"/>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30" name="Rectangle 229"/>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1" name="Rectangle 230"/>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3개: 1안 문제에 대응 (Strategy·Decorator·Adapter)</a:t>
            </a:r>
          </a:p>
        </p:txBody>
      </p:sp>
      <p:sp>
        <p:nvSpPr>
          <p:cNvPr id="232" name="Rectangle 231"/>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33" name="TextBox 232"/>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34" name="Rectangle 233"/>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35" name="Rectangle 234"/>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36" name="Rectangle 235"/>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Strategy·Decorator로 정책·지시를 갈아 끼움: 비용 함수·P/D 정책·노드 지시를 한 코드베이스에서 변경, P/D 경로 P5도 덮어쓰기 없이 전달</a:t>
            </a:r>
          </a:p>
          <a:p>
            <a:pPr algn="l"/>
            <a:r>
              <a:rPr sz="750" b="0">
                <a:solidFill>
                  <a:srgbClr val="000000"/>
                </a:solidFill>
                <a:latin typeface="맑은 고딕"/>
                <a:ea typeface="맑은 고딕"/>
              </a:rPr>
              <a:t>▪ Adapter로 vLLM 계약 변경을 격리, OSS 내부 동작 의존 없음, K8s·프록시 불필요</a:t>
            </a:r>
          </a:p>
        </p:txBody>
      </p:sp>
      <p:sp>
        <p:nvSpPr>
          <p:cNvPr id="237" name="Rectangle 236"/>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38" name="Rectangle 237"/>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39" name="Rectangle 238"/>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추종·신기능은 우리 몫 (Adapter는 격리일 뿐 대신해 주지 않음)</a:t>
            </a:r>
          </a:p>
          <a:p>
            <a:pPr algn="l"/>
            <a:r>
              <a:rPr sz="750" b="0">
                <a:solidFill>
                  <a:srgbClr val="000000"/>
                </a:solidFill>
                <a:latin typeface="맑은 고딕"/>
                <a:ea typeface="맑은 고딕"/>
              </a:rPr>
              <a:t>▪ Router가 P/D 경로 안 → 병목·SPOF 위험, 확장성은 직접 구축·미검증</a:t>
            </a:r>
          </a:p>
        </p:txBody>
      </p:sp>
      <p:sp>
        <p:nvSpPr>
          <p:cNvPr id="240" name="TextBox 239"/>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41" name="TextBox 240"/>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패턴(1안 문제와 연결): Strategy = 정책 교체(1안 plugin에 대응), Decorator = P5 지시 조립(1안 P/D 경로 덮어쓰기 해결), Adapter = vLLM 계약 격리(1안 OSS 동작 의존 해결). 박스는 프로세스가 아니라 한 프로세스 안의 모듈이고, 프로세스 경계는 굵은 바깥 박스.</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
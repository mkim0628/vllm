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PolicyEngine의 SPI(P1~P3 Scorer, P4 Planner)로 꽂고, 상태는 읽기 전용 StateView 인터페이스로만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인터페이스(SPI)로 바꾸기 때문에 오픈소스 구조의 제약(기존 모듈 동작 의존, 보조 프로세스 수정, 별도 이미지)을 받지 않습니다. 통제하는 쪽입니다.</a:t>
            </a:r>
          </a:p>
          <a:p>
            <a:r>
              <a:t>그래서 3 대 3으로 동등하고 별은 둘 다 ●●○입니다.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 - 구조</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566928"/>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566928"/>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566928"/>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9848"/>
            <a:ext cx="521208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325880"/>
            <a:ext cx="521208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9848"/>
            <a:ext cx="530352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레플리카 확장)</a:t>
            </a:r>
          </a:p>
        </p:txBody>
      </p:sp>
      <p:sp>
        <p:nvSpPr>
          <p:cNvPr id="108" name="TextBox 107"/>
          <p:cNvSpPr txBox="1"/>
          <p:nvPr/>
        </p:nvSpPr>
        <p:spPr>
          <a:xfrm>
            <a:off x="6583680" y="1325880"/>
            <a:ext cx="534924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“결정·상태·P/D 조율을 한 프로세스에 모아 호출 경로를 줄이고, 레플리카로 늘리는 구조”</a:t>
            </a:r>
          </a:p>
        </p:txBody>
      </p:sp>
      <p:sp>
        <p:nvSpPr>
          <p:cNvPr id="109" name="Rectangle 108"/>
          <p:cNvSpPr/>
          <p:nvPr/>
        </p:nvSpPr>
        <p:spPr>
          <a:xfrm>
            <a:off x="246888" y="1609344"/>
            <a:ext cx="868680" cy="352958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609344"/>
            <a:ext cx="5394960" cy="3529584"/>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609344"/>
            <a:ext cx="5486399" cy="3529584"/>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752344"/>
            <a:ext cx="2971800" cy="0"/>
          </a:xfrm>
          <a:prstGeom prst="line">
            <a:avLst/>
          </a:prstGeom>
          <a:ln w="12700">
            <a:solidFill>
              <a:srgbClr val="404040"/>
            </a:solidFill>
            <a:tailEnd type="triangle"/>
          </a:ln>
        </p:spPr>
      </p:cxnSp>
      <p:sp>
        <p:nvSpPr>
          <p:cNvPr id="113" name="Rectangle 112"/>
          <p:cNvSpPr/>
          <p:nvPr/>
        </p:nvSpPr>
        <p:spPr>
          <a:xfrm>
            <a:off x="1234440" y="1719072"/>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203704"/>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20370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45059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542032"/>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679192"/>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712464"/>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71246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95935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4050791"/>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187952"/>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746504"/>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746504"/>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993392"/>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185416"/>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993392"/>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185416"/>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185416"/>
            <a:ext cx="73152" cy="0"/>
          </a:xfrm>
          <a:prstGeom prst="line">
            <a:avLst/>
          </a:prstGeom>
          <a:ln w="15875">
            <a:solidFill>
              <a:srgbClr val="404040"/>
            </a:solidFill>
            <a:tailEnd type="triangle"/>
          </a:ln>
        </p:spPr>
      </p:cxnSp>
      <p:sp>
        <p:nvSpPr>
          <p:cNvPr id="133" name="Rectangle 132"/>
          <p:cNvSpPr/>
          <p:nvPr/>
        </p:nvSpPr>
        <p:spPr>
          <a:xfrm>
            <a:off x="2468880" y="2523744"/>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523744"/>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706624"/>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843784"/>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255264"/>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776472"/>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377440"/>
            <a:ext cx="0" cy="146304"/>
          </a:xfrm>
          <a:prstGeom prst="line">
            <a:avLst/>
          </a:prstGeom>
          <a:ln w="15875">
            <a:solidFill>
              <a:srgbClr val="404040"/>
            </a:solidFill>
            <a:tailEnd type="triangle"/>
          </a:ln>
        </p:spPr>
      </p:cxnSp>
      <p:sp>
        <p:nvSpPr>
          <p:cNvPr id="140" name="Rectangle 139"/>
          <p:cNvSpPr/>
          <p:nvPr/>
        </p:nvSpPr>
        <p:spPr>
          <a:xfrm>
            <a:off x="4023360" y="2523744"/>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523744"/>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752344"/>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328416"/>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89534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3163824"/>
            <a:ext cx="128016" cy="0"/>
          </a:xfrm>
          <a:prstGeom prst="line">
            <a:avLst/>
          </a:prstGeom>
          <a:ln w="15875">
            <a:solidFill>
              <a:srgbClr val="404040"/>
            </a:solidFill>
            <a:tailEnd type="triangle"/>
          </a:ln>
        </p:spPr>
      </p:cxnSp>
      <p:sp>
        <p:nvSpPr>
          <p:cNvPr id="146" name="Oval 145"/>
          <p:cNvSpPr/>
          <p:nvPr/>
        </p:nvSpPr>
        <p:spPr>
          <a:xfrm>
            <a:off x="3881628" y="294894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746504"/>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7465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975104"/>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975104"/>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194560"/>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889504"/>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575304"/>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5753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803904"/>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975104"/>
            <a:ext cx="0" cy="228600"/>
          </a:xfrm>
          <a:prstGeom prst="line">
            <a:avLst/>
          </a:prstGeom>
          <a:ln w="15875">
            <a:solidFill>
              <a:srgbClr val="404040"/>
            </a:solidFill>
            <a:tailEnd type="triangle"/>
          </a:ln>
        </p:spPr>
      </p:cxnSp>
      <p:sp>
        <p:nvSpPr>
          <p:cNvPr id="157" name="Oval 156"/>
          <p:cNvSpPr/>
          <p:nvPr/>
        </p:nvSpPr>
        <p:spPr>
          <a:xfrm>
            <a:off x="1275588" y="201625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185416"/>
            <a:ext cx="438912" cy="384048"/>
          </a:xfrm>
          <a:prstGeom prst="line">
            <a:avLst/>
          </a:prstGeom>
          <a:ln w="15875">
            <a:solidFill>
              <a:srgbClr val="404040"/>
            </a:solidFill>
            <a:headEnd type="triangle"/>
            <a:tailEnd type="triangle"/>
          </a:ln>
        </p:spPr>
      </p:cxnSp>
      <p:sp>
        <p:nvSpPr>
          <p:cNvPr id="159" name="Oval 158"/>
          <p:cNvSpPr/>
          <p:nvPr/>
        </p:nvSpPr>
        <p:spPr>
          <a:xfrm>
            <a:off x="2208276" y="2226564"/>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6746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236976"/>
            <a:ext cx="0" cy="566928"/>
          </a:xfrm>
          <a:prstGeom prst="line">
            <a:avLst/>
          </a:prstGeom>
          <a:ln w="15875">
            <a:solidFill>
              <a:srgbClr val="404040"/>
            </a:solidFill>
            <a:headEnd type="triangle"/>
            <a:tailEnd type="triangle"/>
          </a:ln>
        </p:spPr>
      </p:cxnSp>
      <p:sp>
        <p:nvSpPr>
          <p:cNvPr id="162" name="Oval 161"/>
          <p:cNvSpPr/>
          <p:nvPr/>
        </p:nvSpPr>
        <p:spPr>
          <a:xfrm>
            <a:off x="579272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169664"/>
            <a:ext cx="338328" cy="0"/>
          </a:xfrm>
          <a:prstGeom prst="line">
            <a:avLst/>
          </a:prstGeom>
          <a:ln w="15875">
            <a:solidFill>
              <a:srgbClr val="404040"/>
            </a:solidFill>
            <a:tailEnd type="triangle"/>
          </a:ln>
        </p:spPr>
      </p:cxnSp>
      <p:sp>
        <p:nvSpPr>
          <p:cNvPr id="165" name="Oval 164"/>
          <p:cNvSpPr/>
          <p:nvPr/>
        </p:nvSpPr>
        <p:spPr>
          <a:xfrm>
            <a:off x="4823460" y="3927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187952"/>
            <a:ext cx="246888" cy="0"/>
          </a:xfrm>
          <a:prstGeom prst="line">
            <a:avLst/>
          </a:prstGeom>
          <a:ln w="15875">
            <a:solidFill>
              <a:srgbClr val="404040"/>
            </a:solidFill>
            <a:prstDash val="dash"/>
            <a:tailEnd type="triangle"/>
          </a:ln>
        </p:spPr>
      </p:cxnSp>
      <p:sp>
        <p:nvSpPr>
          <p:cNvPr id="167" name="Oval 166"/>
          <p:cNvSpPr/>
          <p:nvPr/>
        </p:nvSpPr>
        <p:spPr>
          <a:xfrm>
            <a:off x="2199132" y="395478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1188720" y="4626864"/>
            <a:ext cx="1261872" cy="1554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169" name="Rectangle 168"/>
          <p:cNvSpPr/>
          <p:nvPr/>
        </p:nvSpPr>
        <p:spPr>
          <a:xfrm>
            <a:off x="2505456" y="4626864"/>
            <a:ext cx="1261872" cy="15544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170" name="Rectangle 169"/>
          <p:cNvSpPr/>
          <p:nvPr/>
        </p:nvSpPr>
        <p:spPr>
          <a:xfrm>
            <a:off x="3822191" y="4626864"/>
            <a:ext cx="1261872" cy="155448"/>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171" name="Rectangle 170"/>
          <p:cNvSpPr/>
          <p:nvPr/>
        </p:nvSpPr>
        <p:spPr>
          <a:xfrm>
            <a:off x="5138928" y="4626864"/>
            <a:ext cx="1261872" cy="155448"/>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172" name="TextBox 171"/>
          <p:cNvSpPr txBox="1"/>
          <p:nvPr/>
        </p:nvSpPr>
        <p:spPr>
          <a:xfrm>
            <a:off x="1188720" y="4809744"/>
            <a:ext cx="521208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결정 요청(프록시 → Router 원격 호출 1회 추가) ③ 선택된 서버 + 헤더를 P/D 보조 프로세스로 전달(Router를 거치지 않음) ④ Prefill 요청 + KV 전송 정보 ⑤ 서버 간 KV 전송(NIXL) ⑥ KV 이벤트·/metrics(두 pod 공통) ⑦ 서버 발견 ⑧ 상태 조회</a:t>
            </a:r>
          </a:p>
        </p:txBody>
      </p:sp>
      <p:sp>
        <p:nvSpPr>
          <p:cNvPr id="173" name="Rectangle 172"/>
          <p:cNvSpPr/>
          <p:nvPr/>
        </p:nvSpPr>
        <p:spPr>
          <a:xfrm>
            <a:off x="6583680" y="2020824"/>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74" name="Rectangle 173"/>
          <p:cNvSpPr/>
          <p:nvPr/>
        </p:nvSpPr>
        <p:spPr>
          <a:xfrm>
            <a:off x="6583680" y="2569464"/>
            <a:ext cx="566928" cy="36576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5" name="Connector 174"/>
          <p:cNvCxnSpPr/>
          <p:nvPr/>
        </p:nvCxnSpPr>
        <p:spPr>
          <a:xfrm>
            <a:off x="6867144" y="2276856"/>
            <a:ext cx="0" cy="292608"/>
          </a:xfrm>
          <a:prstGeom prst="line">
            <a:avLst/>
          </a:prstGeom>
          <a:ln w="15875">
            <a:solidFill>
              <a:srgbClr val="404040"/>
            </a:solidFill>
            <a:tailEnd type="triangle"/>
          </a:ln>
        </p:spPr>
      </p:cxnSp>
      <p:sp>
        <p:nvSpPr>
          <p:cNvPr id="176" name="Oval 175"/>
          <p:cNvSpPr/>
          <p:nvPr/>
        </p:nvSpPr>
        <p:spPr>
          <a:xfrm>
            <a:off x="6789420" y="234543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7" name="Rectangle 176"/>
          <p:cNvSpPr/>
          <p:nvPr/>
        </p:nvSpPr>
        <p:spPr>
          <a:xfrm>
            <a:off x="6583680" y="3163824"/>
            <a:ext cx="640080" cy="685800"/>
          </a:xfrm>
          <a:prstGeom prst="rect">
            <a:avLst/>
          </a:prstGeom>
          <a:solidFill>
            <a:srgbClr val="FFF7F0"/>
          </a:solidFill>
          <a:ln w="9525">
            <a:solidFill>
              <a:srgbClr val="C55A11"/>
            </a:solidFill>
          </a:ln>
          <a:effectLst/>
        </p:spPr>
        <p:txBody>
          <a:bodyPr rtlCol="0" anchor="ctr" wrap="square" lIns="36576" tIns="27432" rIns="27432" bIns="27432"/>
          <a:lstStyle/>
          <a:p>
            <a:pPr algn="l"/>
            <a:r>
              <a:rPr sz="700" b="1">
                <a:solidFill>
                  <a:srgbClr val="C55A11"/>
                </a:solidFill>
                <a:latin typeface="맑은 고딕"/>
                <a:ea typeface="맑은 고딕"/>
              </a:rPr>
              <a:t>레플리카 ×R</a:t>
            </a:r>
          </a:p>
          <a:p>
            <a:pPr algn="l"/>
            <a:r>
              <a:rPr sz="650" b="0">
                <a:solidFill>
                  <a:srgbClr val="000000"/>
                </a:solidFill>
                <a:latin typeface="맑은 고딕"/>
                <a:ea typeface="맑은 고딕"/>
              </a:rPr>
              <a:t>각자 이벤트 구독 → 독립 index</a:t>
            </a:r>
          </a:p>
        </p:txBody>
      </p:sp>
      <p:sp>
        <p:nvSpPr>
          <p:cNvPr id="178" name="Rectangle 177"/>
          <p:cNvSpPr/>
          <p:nvPr/>
        </p:nvSpPr>
        <p:spPr>
          <a:xfrm>
            <a:off x="6583680" y="4096512"/>
            <a:ext cx="64008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50" b="0">
                <a:solidFill>
                  <a:srgbClr val="404040"/>
                </a:solidFill>
                <a:latin typeface="맑은 고딕"/>
                <a:ea typeface="맑은 고딕"/>
              </a:rPr>
              <a:t>Registry 저장소</a:t>
            </a:r>
          </a:p>
        </p:txBody>
      </p:sp>
      <p:sp>
        <p:nvSpPr>
          <p:cNvPr id="179" name="Rectangle 178"/>
          <p:cNvSpPr/>
          <p:nvPr/>
        </p:nvSpPr>
        <p:spPr>
          <a:xfrm>
            <a:off x="7315200" y="1700784"/>
            <a:ext cx="3456432" cy="2880360"/>
          </a:xfrm>
          <a:prstGeom prst="rect">
            <a:avLst/>
          </a:prstGeom>
          <a:solidFill>
            <a:srgbClr val="FFFFFF"/>
          </a:solidFill>
          <a:ln w="15875">
            <a:solidFill>
              <a:srgbClr val="C55A11"/>
            </a:solidFill>
          </a:ln>
          <a:effectLst/>
        </p:spPr>
        <p:txBody>
          <a:bodyPr rtlCol="0" anchor="ctr"/>
          <a:lstStyle/>
          <a:p>
            <a:pPr algn="ctr"/>
          </a:p>
        </p:txBody>
      </p:sp>
      <p:sp>
        <p:nvSpPr>
          <p:cNvPr id="180" name="Rectangle 179"/>
          <p:cNvSpPr/>
          <p:nvPr/>
        </p:nvSpPr>
        <p:spPr>
          <a:xfrm>
            <a:off x="7315200" y="1700784"/>
            <a:ext cx="3456432"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Own Router 레플리카  (Go/Python)</a:t>
            </a:r>
          </a:p>
        </p:txBody>
      </p:sp>
      <p:cxnSp>
        <p:nvCxnSpPr>
          <p:cNvPr id="181" name="Connector 180"/>
          <p:cNvCxnSpPr/>
          <p:nvPr/>
        </p:nvCxnSpPr>
        <p:spPr>
          <a:xfrm flipV="1">
            <a:off x="7150608" y="2157984"/>
            <a:ext cx="347471" cy="594360"/>
          </a:xfrm>
          <a:prstGeom prst="line">
            <a:avLst/>
          </a:prstGeom>
          <a:ln w="15875">
            <a:solidFill>
              <a:srgbClr val="404040"/>
            </a:solidFill>
            <a:tailEnd type="triangle"/>
          </a:ln>
        </p:spPr>
      </p:cxnSp>
      <p:sp>
        <p:nvSpPr>
          <p:cNvPr id="182" name="Rectangle 181"/>
          <p:cNvSpPr/>
          <p:nvPr/>
        </p:nvSpPr>
        <p:spPr>
          <a:xfrm>
            <a:off x="7370064" y="1929384"/>
            <a:ext cx="3346703" cy="502920"/>
          </a:xfrm>
          <a:prstGeom prst="rect">
            <a:avLst/>
          </a:prstGeom>
          <a:solidFill>
            <a:srgbClr val="FFFFFF"/>
          </a:solidFill>
          <a:ln w="6350">
            <a:solidFill>
              <a:srgbClr val="C55A11"/>
            </a:solidFill>
            <a:prstDash val="dash"/>
          </a:ln>
          <a:effectLst/>
        </p:spPr>
        <p:txBody>
          <a:bodyPr rtlCol="0" anchor="ctr"/>
          <a:lstStyle/>
          <a:p>
            <a:pPr algn="ctr"/>
          </a:p>
        </p:txBody>
      </p:sp>
      <p:sp>
        <p:nvSpPr>
          <p:cNvPr id="183" name="TextBox 182"/>
          <p:cNvSpPr txBox="1"/>
          <p:nvPr/>
        </p:nvSpPr>
        <p:spPr>
          <a:xfrm>
            <a:off x="7406640" y="1947672"/>
            <a:ext cx="54864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Ingress</a:t>
            </a:r>
          </a:p>
        </p:txBody>
      </p:sp>
      <p:sp>
        <p:nvSpPr>
          <p:cNvPr id="184" name="Rectangle 183"/>
          <p:cNvSpPr/>
          <p:nvPr/>
        </p:nvSpPr>
        <p:spPr>
          <a:xfrm>
            <a:off x="7589520" y="2048256"/>
            <a:ext cx="3017520" cy="329184"/>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A Ingress / API</a:t>
            </a:r>
          </a:p>
          <a:p>
            <a:pPr algn="ctr"/>
            <a:r>
              <a:rPr sz="650" b="0">
                <a:solidFill>
                  <a:srgbClr val="000000"/>
                </a:solidFill>
                <a:latin typeface="맑은 고딕"/>
                <a:ea typeface="맑은 고딕"/>
              </a:rPr>
              <a:t>OpenAI API 파서 · 스트리밍 프록시</a:t>
            </a:r>
          </a:p>
        </p:txBody>
      </p:sp>
      <p:sp>
        <p:nvSpPr>
          <p:cNvPr id="185" name="Rectangle 184"/>
          <p:cNvSpPr/>
          <p:nvPr/>
        </p:nvSpPr>
        <p:spPr>
          <a:xfrm>
            <a:off x="7543800" y="2114092"/>
            <a:ext cx="91440" cy="54864"/>
          </a:xfrm>
          <a:prstGeom prst="rect">
            <a:avLst/>
          </a:prstGeom>
          <a:solidFill>
            <a:srgbClr val="FBE5D6"/>
          </a:solidFill>
          <a:ln w="9525">
            <a:solidFill>
              <a:srgbClr val="C55A11"/>
            </a:solidFill>
          </a:ln>
          <a:effectLst/>
        </p:spPr>
        <p:txBody>
          <a:bodyPr rtlCol="0" anchor="ctr"/>
          <a:lstStyle/>
          <a:p>
            <a:pPr algn="ctr"/>
          </a:p>
        </p:txBody>
      </p:sp>
      <p:sp>
        <p:nvSpPr>
          <p:cNvPr id="186" name="Rectangle 185"/>
          <p:cNvSpPr/>
          <p:nvPr/>
        </p:nvSpPr>
        <p:spPr>
          <a:xfrm>
            <a:off x="7543800" y="2212848"/>
            <a:ext cx="91440" cy="54864"/>
          </a:xfrm>
          <a:prstGeom prst="rect">
            <a:avLst/>
          </a:prstGeom>
          <a:solidFill>
            <a:srgbClr val="FBE5D6"/>
          </a:solidFill>
          <a:ln w="9525">
            <a:solidFill>
              <a:srgbClr val="C55A11"/>
            </a:solidFill>
          </a:ln>
          <a:effectLst/>
        </p:spPr>
        <p:txBody>
          <a:bodyPr rtlCol="0" anchor="ctr"/>
          <a:lstStyle/>
          <a:p>
            <a:pPr algn="ctr"/>
          </a:p>
        </p:txBody>
      </p:sp>
      <p:sp>
        <p:nvSpPr>
          <p:cNvPr id="187" name="Rectangle 186"/>
          <p:cNvSpPr/>
          <p:nvPr/>
        </p:nvSpPr>
        <p:spPr>
          <a:xfrm>
            <a:off x="7370064" y="2523744"/>
            <a:ext cx="3346703" cy="1024128"/>
          </a:xfrm>
          <a:prstGeom prst="rect">
            <a:avLst/>
          </a:prstGeom>
          <a:solidFill>
            <a:srgbClr val="FFFFFF"/>
          </a:solidFill>
          <a:ln w="6350">
            <a:solidFill>
              <a:srgbClr val="C55A11"/>
            </a:solidFill>
            <a:prstDash val="dash"/>
          </a:ln>
          <a:effectLst/>
        </p:spPr>
        <p:txBody>
          <a:bodyPr rtlCol="0" anchor="ctr"/>
          <a:lstStyle/>
          <a:p>
            <a:pPr algn="ctr"/>
          </a:p>
        </p:txBody>
      </p:sp>
      <p:sp>
        <p:nvSpPr>
          <p:cNvPr id="188" name="TextBox 187"/>
          <p:cNvSpPr txBox="1"/>
          <p:nvPr/>
        </p:nvSpPr>
        <p:spPr>
          <a:xfrm>
            <a:off x="7406640" y="2542032"/>
            <a:ext cx="109728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Pipeline</a:t>
            </a:r>
          </a:p>
        </p:txBody>
      </p:sp>
      <p:sp>
        <p:nvSpPr>
          <p:cNvPr id="189" name="Rectangle 188"/>
          <p:cNvSpPr/>
          <p:nvPr/>
        </p:nvSpPr>
        <p:spPr>
          <a:xfrm>
            <a:off x="7498079" y="2724912"/>
            <a:ext cx="749808"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D Admission</a:t>
            </a:r>
          </a:p>
          <a:p>
            <a:pPr algn="ctr"/>
            <a:r>
              <a:rPr sz="650" b="0">
                <a:solidFill>
                  <a:srgbClr val="000000"/>
                </a:solidFill>
                <a:latin typeface="맑은 고딕"/>
                <a:ea typeface="맑은 고딕"/>
              </a:rPr>
              <a:t>대기·우선순위</a:t>
            </a:r>
          </a:p>
          <a:p>
            <a:pPr algn="ctr"/>
            <a:r>
              <a:rPr sz="650" b="0">
                <a:solidFill>
                  <a:srgbClr val="000000"/>
                </a:solidFill>
                <a:latin typeface="맑은 고딕"/>
                <a:ea typeface="맑은 고딕"/>
              </a:rPr>
              <a:t>·거절 정책</a:t>
            </a:r>
          </a:p>
          <a:p>
            <a:pPr algn="ctr"/>
            <a:r>
              <a:rPr sz="650" b="0">
                <a:solidFill>
                  <a:srgbClr val="000000"/>
                </a:solidFill>
                <a:latin typeface="맑은 고딕"/>
                <a:ea typeface="맑은 고딕"/>
              </a:rPr>
              <a:t>(직접 구현)</a:t>
            </a:r>
          </a:p>
        </p:txBody>
      </p:sp>
      <p:sp>
        <p:nvSpPr>
          <p:cNvPr id="190" name="Rectangle 189"/>
          <p:cNvSpPr/>
          <p:nvPr/>
        </p:nvSpPr>
        <p:spPr>
          <a:xfrm>
            <a:off x="7452359"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1" name="Rectangle 190"/>
          <p:cNvSpPr/>
          <p:nvPr/>
        </p:nvSpPr>
        <p:spPr>
          <a:xfrm>
            <a:off x="7452359"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2" name="Rectangle 191"/>
          <p:cNvSpPr/>
          <p:nvPr/>
        </p:nvSpPr>
        <p:spPr>
          <a:xfrm>
            <a:off x="8385048" y="2724912"/>
            <a:ext cx="1280160"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B PolicyEngine</a:t>
            </a:r>
          </a:p>
          <a:p>
            <a:pPr algn="ctr"/>
            <a:r>
              <a:rPr sz="650" b="0">
                <a:solidFill>
                  <a:srgbClr val="000000"/>
                </a:solidFill>
                <a:latin typeface="맑은 고딕"/>
                <a:ea typeface="맑은 고딕"/>
              </a:rPr>
              <a:t>Selector:</a:t>
            </a:r>
          </a:p>
          <a:p>
            <a:pPr algn="ctr"/>
            <a:r>
              <a:rPr sz="650" b="0">
                <a:solidFill>
                  <a:srgbClr val="000000"/>
                </a:solidFill>
                <a:latin typeface="맑은 고딕"/>
                <a:ea typeface="맑은 고딕"/>
              </a:rPr>
              <a:t>Filter→Score→Pick</a:t>
            </a:r>
          </a:p>
          <a:p>
            <a:pPr algn="ctr"/>
            <a:r>
              <a:rPr sz="650" b="0">
                <a:solidFill>
                  <a:srgbClr val="000000"/>
                </a:solidFill>
                <a:latin typeface="맑은 고딕"/>
                <a:ea typeface="맑은 고딕"/>
              </a:rPr>
              <a:t>Policy SPI: P1~P3 Scorer</a:t>
            </a:r>
          </a:p>
          <a:p>
            <a:pPr algn="ctr"/>
            <a:r>
              <a:rPr sz="650" b="0">
                <a:solidFill>
                  <a:srgbClr val="000000"/>
                </a:solidFill>
                <a:latin typeface="맑은 고딕"/>
                <a:ea typeface="맑은 고딕"/>
              </a:rPr>
              <a:t>P4 PD-Planner</a:t>
            </a:r>
          </a:p>
        </p:txBody>
      </p:sp>
      <p:sp>
        <p:nvSpPr>
          <p:cNvPr id="193" name="Rectangle 192"/>
          <p:cNvSpPr/>
          <p:nvPr/>
        </p:nvSpPr>
        <p:spPr>
          <a:xfrm>
            <a:off x="8339327"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4" name="Rectangle 193"/>
          <p:cNvSpPr/>
          <p:nvPr/>
        </p:nvSpPr>
        <p:spPr>
          <a:xfrm>
            <a:off x="8339327"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5" name="Rectangle 194"/>
          <p:cNvSpPr/>
          <p:nvPr/>
        </p:nvSpPr>
        <p:spPr>
          <a:xfrm>
            <a:off x="9802368" y="2724912"/>
            <a:ext cx="877824"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 P/D 조율</a:t>
            </a:r>
          </a:p>
          <a:p>
            <a:pPr algn="ctr"/>
            <a:r>
              <a:rPr sz="650" b="0">
                <a:solidFill>
                  <a:srgbClr val="000000"/>
                </a:solidFill>
                <a:latin typeface="맑은 고딕"/>
                <a:ea typeface="맑은 고딕"/>
              </a:rPr>
              <a:t>PD Orchestrator</a:t>
            </a:r>
          </a:p>
          <a:p>
            <a:pPr algn="ctr"/>
            <a:r>
              <a:rPr sz="650" b="0">
                <a:solidFill>
                  <a:srgbClr val="000000"/>
                </a:solidFill>
                <a:latin typeface="맑은 고딕"/>
                <a:ea typeface="맑은 고딕"/>
              </a:rPr>
              <a:t>P5 지시 송신</a:t>
            </a:r>
          </a:p>
          <a:p>
            <a:pPr algn="ctr"/>
            <a:r>
              <a:rPr sz="650" b="0">
                <a:solidFill>
                  <a:srgbClr val="000000"/>
                </a:solidFill>
                <a:latin typeface="맑은 고딕"/>
                <a:ea typeface="맑은 고딕"/>
              </a:rPr>
              <a:t>커넥터: agg·P/D·P2P</a:t>
            </a:r>
          </a:p>
        </p:txBody>
      </p:sp>
      <p:sp>
        <p:nvSpPr>
          <p:cNvPr id="196" name="Rectangle 195"/>
          <p:cNvSpPr/>
          <p:nvPr/>
        </p:nvSpPr>
        <p:spPr>
          <a:xfrm>
            <a:off x="9756648"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7" name="Rectangle 196"/>
          <p:cNvSpPr/>
          <p:nvPr/>
        </p:nvSpPr>
        <p:spPr>
          <a:xfrm>
            <a:off x="9756648" y="3090672"/>
            <a:ext cx="91440" cy="54864"/>
          </a:xfrm>
          <a:prstGeom prst="rect">
            <a:avLst/>
          </a:prstGeom>
          <a:solidFill>
            <a:srgbClr val="FBE5D6"/>
          </a:solidFill>
          <a:ln w="9525">
            <a:solidFill>
              <a:srgbClr val="C55A11"/>
            </a:solidFill>
          </a:ln>
          <a:effectLst/>
        </p:spPr>
        <p:txBody>
          <a:bodyPr rtlCol="0" anchor="ctr"/>
          <a:lstStyle/>
          <a:p>
            <a:pPr algn="ctr"/>
          </a:p>
        </p:txBody>
      </p:sp>
      <p:cxnSp>
        <p:nvCxnSpPr>
          <p:cNvPr id="198" name="Connector 197"/>
          <p:cNvCxnSpPr/>
          <p:nvPr/>
        </p:nvCxnSpPr>
        <p:spPr>
          <a:xfrm>
            <a:off x="8247888" y="3090672"/>
            <a:ext cx="91440" cy="0"/>
          </a:xfrm>
          <a:prstGeom prst="line">
            <a:avLst/>
          </a:prstGeom>
          <a:ln w="15875">
            <a:solidFill>
              <a:srgbClr val="C55A11"/>
            </a:solidFill>
            <a:tailEnd type="triangle"/>
          </a:ln>
        </p:spPr>
      </p:cxnSp>
      <p:cxnSp>
        <p:nvCxnSpPr>
          <p:cNvPr id="199" name="Connector 198"/>
          <p:cNvCxnSpPr/>
          <p:nvPr/>
        </p:nvCxnSpPr>
        <p:spPr>
          <a:xfrm>
            <a:off x="9665208" y="3090672"/>
            <a:ext cx="91440" cy="0"/>
          </a:xfrm>
          <a:prstGeom prst="line">
            <a:avLst/>
          </a:prstGeom>
          <a:ln w="15875">
            <a:solidFill>
              <a:srgbClr val="C55A11"/>
            </a:solidFill>
            <a:tailEnd type="triangle"/>
          </a:ln>
        </p:spPr>
      </p:cxnSp>
      <p:cxnSp>
        <p:nvCxnSpPr>
          <p:cNvPr id="200" name="Connector 199"/>
          <p:cNvCxnSpPr/>
          <p:nvPr/>
        </p:nvCxnSpPr>
        <p:spPr>
          <a:xfrm>
            <a:off x="7872983" y="2377440"/>
            <a:ext cx="0" cy="347472"/>
          </a:xfrm>
          <a:prstGeom prst="line">
            <a:avLst/>
          </a:prstGeom>
          <a:ln w="15875">
            <a:solidFill>
              <a:srgbClr val="C55A11"/>
            </a:solidFill>
            <a:tailEnd type="triangle"/>
          </a:ln>
        </p:spPr>
      </p:cxnSp>
      <p:sp>
        <p:nvSpPr>
          <p:cNvPr id="201" name="Oval 200"/>
          <p:cNvSpPr/>
          <p:nvPr/>
        </p:nvSpPr>
        <p:spPr>
          <a:xfrm>
            <a:off x="7795259" y="247345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202" name="Rectangle 201"/>
          <p:cNvSpPr/>
          <p:nvPr/>
        </p:nvSpPr>
        <p:spPr>
          <a:xfrm>
            <a:off x="7370064" y="3621024"/>
            <a:ext cx="3346703" cy="905256"/>
          </a:xfrm>
          <a:prstGeom prst="rect">
            <a:avLst/>
          </a:prstGeom>
          <a:solidFill>
            <a:srgbClr val="FFFFFF"/>
          </a:solidFill>
          <a:ln w="6350">
            <a:solidFill>
              <a:srgbClr val="C55A11"/>
            </a:solidFill>
            <a:prstDash val="dash"/>
          </a:ln>
          <a:effectLst/>
        </p:spPr>
        <p:txBody>
          <a:bodyPr rtlCol="0" anchor="ctr"/>
          <a:lstStyle/>
          <a:p>
            <a:pPr algn="ctr"/>
          </a:p>
        </p:txBody>
      </p:sp>
      <p:sp>
        <p:nvSpPr>
          <p:cNvPr id="203" name="TextBox 202"/>
          <p:cNvSpPr txBox="1"/>
          <p:nvPr/>
        </p:nvSpPr>
        <p:spPr>
          <a:xfrm>
            <a:off x="7406640" y="3639312"/>
            <a:ext cx="91440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State Plane</a:t>
            </a:r>
          </a:p>
        </p:txBody>
      </p:sp>
      <p:sp>
        <p:nvSpPr>
          <p:cNvPr id="204" name="Rectangle 203"/>
          <p:cNvSpPr/>
          <p:nvPr/>
        </p:nvSpPr>
        <p:spPr>
          <a:xfrm>
            <a:off x="7498079" y="3803904"/>
            <a:ext cx="713232"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F Registry</a:t>
            </a:r>
          </a:p>
          <a:p>
            <a:pPr algn="ctr"/>
            <a:r>
              <a:rPr sz="650" b="0">
                <a:solidFill>
                  <a:srgbClr val="000000"/>
                </a:solidFill>
                <a:latin typeface="맑은 고딕"/>
                <a:ea typeface="맑은 고딕"/>
              </a:rPr>
              <a:t>etcd watch</a:t>
            </a:r>
          </a:p>
          <a:p>
            <a:pPr algn="ctr"/>
            <a:r>
              <a:rPr sz="650" b="0">
                <a:solidFill>
                  <a:srgbClr val="000000"/>
                </a:solidFill>
                <a:latin typeface="맑은 고딕"/>
                <a:ea typeface="맑은 고딕"/>
              </a:rPr>
              <a:t>정적 설정</a:t>
            </a:r>
          </a:p>
        </p:txBody>
      </p:sp>
      <p:sp>
        <p:nvSpPr>
          <p:cNvPr id="205" name="Rectangle 204"/>
          <p:cNvSpPr/>
          <p:nvPr/>
        </p:nvSpPr>
        <p:spPr>
          <a:xfrm>
            <a:off x="7452359"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6" name="Rectangle 205"/>
          <p:cNvSpPr/>
          <p:nvPr/>
        </p:nvSpPr>
        <p:spPr>
          <a:xfrm>
            <a:off x="7452359"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07" name="Rectangle 206"/>
          <p:cNvSpPr/>
          <p:nvPr/>
        </p:nvSpPr>
        <p:spPr>
          <a:xfrm>
            <a:off x="8385048" y="3803904"/>
            <a:ext cx="1280160"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C State Store</a:t>
            </a:r>
          </a:p>
          <a:p>
            <a:pPr algn="ctr"/>
            <a:r>
              <a:rPr sz="650" b="0">
                <a:solidFill>
                  <a:srgbClr val="000000"/>
                </a:solidFill>
                <a:latin typeface="맑은 고딕"/>
                <a:ea typeface="맑은 고딕"/>
              </a:rPr>
              <a:t>KV Index (tier 인지)</a:t>
            </a:r>
          </a:p>
          <a:p>
            <a:pPr algn="ctr"/>
            <a:r>
              <a:rPr sz="650" b="0">
                <a:solidFill>
                  <a:srgbClr val="000000"/>
                </a:solidFill>
                <a:latin typeface="맑은 고딕"/>
                <a:ea typeface="맑은 고딕"/>
              </a:rPr>
              <a:t>Metrics Snapshot</a:t>
            </a:r>
          </a:p>
          <a:p>
            <a:pPr algn="ctr"/>
            <a:r>
              <a:rPr sz="650" b="0">
                <a:solidFill>
                  <a:srgbClr val="000000"/>
                </a:solidFill>
                <a:latin typeface="맑은 고딕"/>
                <a:ea typeface="맑은 고딕"/>
              </a:rPr>
              <a:t>Cost Model (BW·점유)</a:t>
            </a:r>
          </a:p>
        </p:txBody>
      </p:sp>
      <p:sp>
        <p:nvSpPr>
          <p:cNvPr id="208" name="Rectangle 207"/>
          <p:cNvSpPr/>
          <p:nvPr/>
        </p:nvSpPr>
        <p:spPr>
          <a:xfrm>
            <a:off x="8339327"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9" name="Rectangle 208"/>
          <p:cNvSpPr/>
          <p:nvPr/>
        </p:nvSpPr>
        <p:spPr>
          <a:xfrm>
            <a:off x="8339327"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10" name="Rectangle 209"/>
          <p:cNvSpPr/>
          <p:nvPr/>
        </p:nvSpPr>
        <p:spPr>
          <a:xfrm>
            <a:off x="9802368" y="3803904"/>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Event Subscriber</a:t>
            </a:r>
          </a:p>
        </p:txBody>
      </p:sp>
      <p:sp>
        <p:nvSpPr>
          <p:cNvPr id="211" name="Rectangle 210"/>
          <p:cNvSpPr/>
          <p:nvPr/>
        </p:nvSpPr>
        <p:spPr>
          <a:xfrm>
            <a:off x="9756648" y="3862425"/>
            <a:ext cx="91440" cy="54864"/>
          </a:xfrm>
          <a:prstGeom prst="rect">
            <a:avLst/>
          </a:prstGeom>
          <a:solidFill>
            <a:srgbClr val="FBE5D6"/>
          </a:solidFill>
          <a:ln w="9525">
            <a:solidFill>
              <a:srgbClr val="C55A11"/>
            </a:solidFill>
          </a:ln>
          <a:effectLst/>
        </p:spPr>
        <p:txBody>
          <a:bodyPr rtlCol="0" anchor="ctr"/>
          <a:lstStyle/>
          <a:p>
            <a:pPr algn="ctr"/>
          </a:p>
        </p:txBody>
      </p:sp>
      <p:sp>
        <p:nvSpPr>
          <p:cNvPr id="212" name="Rectangle 211"/>
          <p:cNvSpPr/>
          <p:nvPr/>
        </p:nvSpPr>
        <p:spPr>
          <a:xfrm>
            <a:off x="9756648" y="3950208"/>
            <a:ext cx="91440" cy="54864"/>
          </a:xfrm>
          <a:prstGeom prst="rect">
            <a:avLst/>
          </a:prstGeom>
          <a:solidFill>
            <a:srgbClr val="FBE5D6"/>
          </a:solidFill>
          <a:ln w="9525">
            <a:solidFill>
              <a:srgbClr val="C55A11"/>
            </a:solidFill>
          </a:ln>
          <a:effectLst/>
        </p:spPr>
        <p:txBody>
          <a:bodyPr rtlCol="0" anchor="ctr"/>
          <a:lstStyle/>
          <a:p>
            <a:pPr algn="ctr"/>
          </a:p>
        </p:txBody>
      </p:sp>
      <p:sp>
        <p:nvSpPr>
          <p:cNvPr id="213" name="Rectangle 212"/>
          <p:cNvSpPr/>
          <p:nvPr/>
        </p:nvSpPr>
        <p:spPr>
          <a:xfrm>
            <a:off x="9802368" y="4151376"/>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Poller</a:t>
            </a:r>
          </a:p>
        </p:txBody>
      </p:sp>
      <p:sp>
        <p:nvSpPr>
          <p:cNvPr id="214" name="Rectangle 213"/>
          <p:cNvSpPr/>
          <p:nvPr/>
        </p:nvSpPr>
        <p:spPr>
          <a:xfrm>
            <a:off x="9756648" y="4209897"/>
            <a:ext cx="91440" cy="54864"/>
          </a:xfrm>
          <a:prstGeom prst="rect">
            <a:avLst/>
          </a:prstGeom>
          <a:solidFill>
            <a:srgbClr val="FBE5D6"/>
          </a:solidFill>
          <a:ln w="9525">
            <a:solidFill>
              <a:srgbClr val="C55A11"/>
            </a:solidFill>
          </a:ln>
          <a:effectLst/>
        </p:spPr>
        <p:txBody>
          <a:bodyPr rtlCol="0" anchor="ctr"/>
          <a:lstStyle/>
          <a:p>
            <a:pPr algn="ctr"/>
          </a:p>
        </p:txBody>
      </p:sp>
      <p:sp>
        <p:nvSpPr>
          <p:cNvPr id="215" name="Rectangle 214"/>
          <p:cNvSpPr/>
          <p:nvPr/>
        </p:nvSpPr>
        <p:spPr>
          <a:xfrm>
            <a:off x="9756648" y="4297680"/>
            <a:ext cx="91440" cy="54864"/>
          </a:xfrm>
          <a:prstGeom prst="rect">
            <a:avLst/>
          </a:prstGeom>
          <a:solidFill>
            <a:srgbClr val="FBE5D6"/>
          </a:solidFill>
          <a:ln w="9525">
            <a:solidFill>
              <a:srgbClr val="C55A11"/>
            </a:solidFill>
          </a:ln>
          <a:effectLst/>
        </p:spPr>
        <p:txBody>
          <a:bodyPr rtlCol="0" anchor="ctr"/>
          <a:lstStyle/>
          <a:p>
            <a:pPr algn="ctr"/>
          </a:p>
        </p:txBody>
      </p:sp>
      <p:cxnSp>
        <p:nvCxnSpPr>
          <p:cNvPr id="216" name="Connector 215"/>
          <p:cNvCxnSpPr/>
          <p:nvPr/>
        </p:nvCxnSpPr>
        <p:spPr>
          <a:xfrm>
            <a:off x="8211312" y="4123944"/>
            <a:ext cx="128016" cy="0"/>
          </a:xfrm>
          <a:prstGeom prst="line">
            <a:avLst/>
          </a:prstGeom>
          <a:ln w="15875">
            <a:solidFill>
              <a:srgbClr val="C55A11"/>
            </a:solidFill>
            <a:prstDash val="dash"/>
            <a:tailEnd type="triangle"/>
          </a:ln>
        </p:spPr>
      </p:cxnSp>
      <p:sp>
        <p:nvSpPr>
          <p:cNvPr id="217" name="Oval 216"/>
          <p:cNvSpPr/>
          <p:nvPr/>
        </p:nvSpPr>
        <p:spPr>
          <a:xfrm>
            <a:off x="8197596" y="39090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cxnSp>
        <p:nvCxnSpPr>
          <p:cNvPr id="218" name="Connector 217"/>
          <p:cNvCxnSpPr/>
          <p:nvPr/>
        </p:nvCxnSpPr>
        <p:spPr>
          <a:xfrm flipH="1">
            <a:off x="9665208" y="3950208"/>
            <a:ext cx="91440" cy="0"/>
          </a:xfrm>
          <a:prstGeom prst="line">
            <a:avLst/>
          </a:prstGeom>
          <a:ln w="15875">
            <a:solidFill>
              <a:srgbClr val="C55A11"/>
            </a:solidFill>
            <a:tailEnd type="triangle"/>
          </a:ln>
        </p:spPr>
      </p:cxnSp>
      <p:cxnSp>
        <p:nvCxnSpPr>
          <p:cNvPr id="219" name="Connector 218"/>
          <p:cNvCxnSpPr/>
          <p:nvPr/>
        </p:nvCxnSpPr>
        <p:spPr>
          <a:xfrm flipH="1">
            <a:off x="9665208" y="4297680"/>
            <a:ext cx="91440" cy="0"/>
          </a:xfrm>
          <a:prstGeom prst="line">
            <a:avLst/>
          </a:prstGeom>
          <a:ln w="15875">
            <a:solidFill>
              <a:srgbClr val="C55A11"/>
            </a:solidFill>
            <a:tailEnd type="triangle"/>
          </a:ln>
        </p:spPr>
      </p:cxnSp>
      <p:cxnSp>
        <p:nvCxnSpPr>
          <p:cNvPr id="220" name="Connector 219"/>
          <p:cNvCxnSpPr/>
          <p:nvPr/>
        </p:nvCxnSpPr>
        <p:spPr>
          <a:xfrm flipV="1">
            <a:off x="9025128" y="3456432"/>
            <a:ext cx="0" cy="347472"/>
          </a:xfrm>
          <a:prstGeom prst="line">
            <a:avLst/>
          </a:prstGeom>
          <a:ln w="15875">
            <a:solidFill>
              <a:srgbClr val="C55A11"/>
            </a:solidFill>
            <a:tailEnd type="triangle"/>
          </a:ln>
        </p:spPr>
      </p:cxnSp>
      <p:sp>
        <p:nvSpPr>
          <p:cNvPr id="221" name="Oval 220"/>
          <p:cNvSpPr/>
          <p:nvPr/>
        </p:nvSpPr>
        <p:spPr>
          <a:xfrm>
            <a:off x="8983980" y="3589020"/>
            <a:ext cx="82296" cy="82296"/>
          </a:xfrm>
          <a:prstGeom prst="ellipse">
            <a:avLst/>
          </a:prstGeom>
          <a:solidFill>
            <a:srgbClr val="FFFFFF"/>
          </a:solidFill>
          <a:ln w="12700">
            <a:solidFill>
              <a:srgbClr val="C55A11"/>
            </a:solidFill>
          </a:ln>
          <a:effectLst/>
        </p:spPr>
        <p:txBody>
          <a:bodyPr rtlCol="0" anchor="ctr"/>
          <a:lstStyle/>
          <a:p>
            <a:pPr algn="ctr"/>
          </a:p>
        </p:txBody>
      </p:sp>
      <p:sp>
        <p:nvSpPr>
          <p:cNvPr id="222" name="TextBox 221"/>
          <p:cNvSpPr txBox="1"/>
          <p:nvPr/>
        </p:nvSpPr>
        <p:spPr>
          <a:xfrm>
            <a:off x="9098280" y="3575304"/>
            <a:ext cx="822960" cy="109728"/>
          </a:xfrm>
          <a:prstGeom prst="rect">
            <a:avLst/>
          </a:prstGeom>
          <a:noFill/>
        </p:spPr>
        <p:txBody>
          <a:bodyPr wrap="square" anchor="t" lIns="0" tIns="0" rIns="0" bIns="0">
            <a:spAutoFit/>
          </a:bodyPr>
          <a:lstStyle/>
          <a:p>
            <a:pPr algn="l"/>
            <a:r>
              <a:rPr sz="650" b="0">
                <a:solidFill>
                  <a:srgbClr val="C55A11"/>
                </a:solidFill>
                <a:latin typeface="맑은 고딕"/>
                <a:ea typeface="맑은 고딕"/>
              </a:rPr>
              <a:t>StateView(읽기)</a:t>
            </a:r>
          </a:p>
        </p:txBody>
      </p:sp>
      <p:sp>
        <p:nvSpPr>
          <p:cNvPr id="223" name="Oval 222"/>
          <p:cNvSpPr/>
          <p:nvPr/>
        </p:nvSpPr>
        <p:spPr>
          <a:xfrm>
            <a:off x="8700515" y="363474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24" name="Connector 223"/>
          <p:cNvCxnSpPr/>
          <p:nvPr/>
        </p:nvCxnSpPr>
        <p:spPr>
          <a:xfrm flipH="1">
            <a:off x="7223760" y="4288536"/>
            <a:ext cx="274319" cy="0"/>
          </a:xfrm>
          <a:prstGeom prst="line">
            <a:avLst/>
          </a:prstGeom>
          <a:ln w="15875">
            <a:solidFill>
              <a:srgbClr val="C55A11"/>
            </a:solidFill>
            <a:prstDash val="dash"/>
            <a:tailEnd type="triangle"/>
          </a:ln>
        </p:spPr>
      </p:cxnSp>
      <p:sp>
        <p:nvSpPr>
          <p:cNvPr id="225" name="Rectangle 224"/>
          <p:cNvSpPr/>
          <p:nvPr/>
        </p:nvSpPr>
        <p:spPr>
          <a:xfrm>
            <a:off x="10927080" y="1700784"/>
            <a:ext cx="1005840" cy="1261872"/>
          </a:xfrm>
          <a:prstGeom prst="rect">
            <a:avLst/>
          </a:prstGeom>
          <a:solidFill>
            <a:srgbClr val="FFFFFF"/>
          </a:solidFill>
          <a:ln w="15875">
            <a:solidFill>
              <a:srgbClr val="7F7F7F"/>
            </a:solidFill>
          </a:ln>
          <a:effectLst/>
        </p:spPr>
        <p:txBody>
          <a:bodyPr rtlCol="0" anchor="ctr"/>
          <a:lstStyle/>
          <a:p>
            <a:pPr algn="ctr"/>
          </a:p>
        </p:txBody>
      </p:sp>
      <p:sp>
        <p:nvSpPr>
          <p:cNvPr id="226" name="Rectangle 225"/>
          <p:cNvSpPr/>
          <p:nvPr/>
        </p:nvSpPr>
        <p:spPr>
          <a:xfrm>
            <a:off x="10927080" y="170078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7" name="Rectangle 226"/>
          <p:cNvSpPr/>
          <p:nvPr/>
        </p:nvSpPr>
        <p:spPr>
          <a:xfrm>
            <a:off x="10991088" y="1947672"/>
            <a:ext cx="877824"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28" name="Rectangle 227"/>
          <p:cNvSpPr/>
          <p:nvPr/>
        </p:nvSpPr>
        <p:spPr>
          <a:xfrm>
            <a:off x="10927080" y="3163824"/>
            <a:ext cx="1005840" cy="1325880"/>
          </a:xfrm>
          <a:prstGeom prst="rect">
            <a:avLst/>
          </a:prstGeom>
          <a:solidFill>
            <a:srgbClr val="FFFFFF"/>
          </a:solidFill>
          <a:ln w="15875">
            <a:solidFill>
              <a:srgbClr val="7F7F7F"/>
            </a:solidFill>
          </a:ln>
          <a:effectLst/>
        </p:spPr>
        <p:txBody>
          <a:bodyPr rtlCol="0" anchor="ctr"/>
          <a:lstStyle/>
          <a:p>
            <a:pPr algn="ctr"/>
          </a:p>
        </p:txBody>
      </p:sp>
      <p:sp>
        <p:nvSpPr>
          <p:cNvPr id="229" name="Rectangle 228"/>
          <p:cNvSpPr/>
          <p:nvPr/>
        </p:nvSpPr>
        <p:spPr>
          <a:xfrm>
            <a:off x="10927080" y="316382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30" name="Rectangle 229"/>
          <p:cNvSpPr/>
          <p:nvPr/>
        </p:nvSpPr>
        <p:spPr>
          <a:xfrm>
            <a:off x="10991088" y="3410712"/>
            <a:ext cx="877824" cy="1005840"/>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31" name="Connector 230"/>
          <p:cNvCxnSpPr/>
          <p:nvPr/>
        </p:nvCxnSpPr>
        <p:spPr>
          <a:xfrm>
            <a:off x="11731752" y="2889504"/>
            <a:ext cx="0" cy="521208"/>
          </a:xfrm>
          <a:prstGeom prst="line">
            <a:avLst/>
          </a:prstGeom>
          <a:ln w="15875">
            <a:solidFill>
              <a:srgbClr val="404040"/>
            </a:solidFill>
            <a:headEnd type="triangle"/>
            <a:tailEnd type="triangle"/>
          </a:ln>
        </p:spPr>
      </p:cxnSp>
      <p:sp>
        <p:nvSpPr>
          <p:cNvPr id="232" name="Oval 231"/>
          <p:cNvSpPr/>
          <p:nvPr/>
        </p:nvSpPr>
        <p:spPr>
          <a:xfrm>
            <a:off x="11397995" y="2985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33" name="Connector 232"/>
          <p:cNvCxnSpPr/>
          <p:nvPr/>
        </p:nvCxnSpPr>
        <p:spPr>
          <a:xfrm flipV="1">
            <a:off x="10680192" y="2295144"/>
            <a:ext cx="310896" cy="502920"/>
          </a:xfrm>
          <a:prstGeom prst="line">
            <a:avLst/>
          </a:prstGeom>
          <a:ln w="15875">
            <a:solidFill>
              <a:srgbClr val="404040"/>
            </a:solidFill>
            <a:tailEnd type="triangle"/>
          </a:ln>
        </p:spPr>
      </p:cxnSp>
      <p:sp>
        <p:nvSpPr>
          <p:cNvPr id="234" name="Oval 233"/>
          <p:cNvSpPr/>
          <p:nvPr/>
        </p:nvSpPr>
        <p:spPr>
          <a:xfrm>
            <a:off x="10730484" y="25191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35" name="Connector 234"/>
          <p:cNvCxnSpPr/>
          <p:nvPr/>
        </p:nvCxnSpPr>
        <p:spPr>
          <a:xfrm flipH="1">
            <a:off x="10680192" y="4032504"/>
            <a:ext cx="310896" cy="0"/>
          </a:xfrm>
          <a:prstGeom prst="line">
            <a:avLst/>
          </a:prstGeom>
          <a:ln w="15875">
            <a:solidFill>
              <a:srgbClr val="404040"/>
            </a:solidFill>
            <a:prstDash val="dash"/>
            <a:tailEnd type="triangle"/>
          </a:ln>
        </p:spPr>
      </p:cxnSp>
      <p:sp>
        <p:nvSpPr>
          <p:cNvPr id="236" name="Oval 235"/>
          <p:cNvSpPr/>
          <p:nvPr/>
        </p:nvSpPr>
        <p:spPr>
          <a:xfrm>
            <a:off x="10767059" y="379018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37" name="Rectangle 236"/>
          <p:cNvSpPr/>
          <p:nvPr/>
        </p:nvSpPr>
        <p:spPr>
          <a:xfrm>
            <a:off x="6583680" y="4626864"/>
            <a:ext cx="1554480" cy="1554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8" name="Rectangle 237"/>
          <p:cNvSpPr/>
          <p:nvPr/>
        </p:nvSpPr>
        <p:spPr>
          <a:xfrm>
            <a:off x="8211312" y="4626864"/>
            <a:ext cx="1554480" cy="155448"/>
          </a:xfrm>
          <a:prstGeom prst="rect">
            <a:avLst/>
          </a:prstGeom>
          <a:solidFill>
            <a:srgbClr val="FFFFFF"/>
          </a:solidFill>
          <a:ln w="1270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 인터페이스(SPI / StateView)</a:t>
            </a:r>
          </a:p>
        </p:txBody>
      </p:sp>
      <p:sp>
        <p:nvSpPr>
          <p:cNvPr id="239" name="Rectangle 238"/>
          <p:cNvSpPr/>
          <p:nvPr/>
        </p:nvSpPr>
        <p:spPr>
          <a:xfrm>
            <a:off x="9838944" y="4626864"/>
            <a:ext cx="1005840" cy="155448"/>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40" name="TextBox 239"/>
          <p:cNvSpPr txBox="1"/>
          <p:nvPr/>
        </p:nvSpPr>
        <p:spPr>
          <a:xfrm>
            <a:off x="6583680" y="4809744"/>
            <a:ext cx="534924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프로세스 내부 호출(원격 호출 없음) ③ Prefill/Decode 요청 + kv_transfer_params 직접 조립 ④ 서버 간 KV 전송(NIXL) ⑤ KV 이벤트(ZMQ)·/metrics(두 pod 공통) ⑥ 상태 조회 ⑦ 서버 발견. 레플리카 간 index sync는 옵션</a:t>
            </a:r>
          </a:p>
        </p:txBody>
      </p:sp>
      <p:sp>
        <p:nvSpPr>
          <p:cNvPr id="241" name="Rectangle 240"/>
          <p:cNvSpPr/>
          <p:nvPr/>
        </p:nvSpPr>
        <p:spPr>
          <a:xfrm>
            <a:off x="246888" y="5138928"/>
            <a:ext cx="868680" cy="109728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핵심 설계 결정</a:t>
            </a:r>
          </a:p>
          <a:p>
            <a:pPr algn="ctr"/>
            <a:r>
              <a:rPr sz="700" b="0">
                <a:solidFill>
                  <a:srgbClr val="7F7F7F"/>
                </a:solidFill>
                <a:latin typeface="맑은 고딕"/>
                <a:ea typeface="맑은 고딕"/>
              </a:rPr>
              <a:t>(→ 다음 장 Tradeoff)</a:t>
            </a:r>
          </a:p>
        </p:txBody>
      </p:sp>
      <p:sp>
        <p:nvSpPr>
          <p:cNvPr id="242" name="Rectangle 241"/>
          <p:cNvSpPr/>
          <p:nvPr/>
        </p:nvSpPr>
        <p:spPr>
          <a:xfrm>
            <a:off x="1115568" y="5138928"/>
            <a:ext cx="5394960" cy="1097280"/>
          </a:xfrm>
          <a:prstGeom prst="rect">
            <a:avLst/>
          </a:prstGeom>
          <a:solidFill>
            <a:srgbClr val="FFFFFF"/>
          </a:solidFill>
          <a:ln w="6350">
            <a:solidFill>
              <a:srgbClr val="BFBFBF"/>
            </a:solidFill>
          </a:ln>
          <a:effectLst/>
        </p:spPr>
        <p:txBody>
          <a:bodyPr rtlCol="0" anchor="ctr"/>
          <a:lstStyle/>
          <a:p>
            <a:pPr algn="ctr"/>
          </a:p>
        </p:txBody>
      </p:sp>
      <p:sp>
        <p:nvSpPr>
          <p:cNvPr id="243" name="Rectangle 242"/>
          <p:cNvSpPr/>
          <p:nvPr/>
        </p:nvSpPr>
        <p:spPr>
          <a:xfrm>
            <a:off x="6510528" y="5138928"/>
            <a:ext cx="5486399" cy="1097280"/>
          </a:xfrm>
          <a:prstGeom prst="rect">
            <a:avLst/>
          </a:prstGeom>
          <a:solidFill>
            <a:srgbClr val="FFFFFF"/>
          </a:solidFill>
          <a:ln w="6350">
            <a:solidFill>
              <a:srgbClr val="BFBFBF"/>
            </a:solidFill>
          </a:ln>
          <a:effectLst/>
        </p:spPr>
        <p:txBody>
          <a:bodyPr rtlCol="0" anchor="ctr"/>
          <a:lstStyle/>
          <a:p>
            <a:pPr algn="ctr"/>
          </a:p>
        </p:txBody>
      </p:sp>
      <p:sp>
        <p:nvSpPr>
          <p:cNvPr id="244" name="Rectangle 243"/>
          <p:cNvSpPr/>
          <p:nvPr/>
        </p:nvSpPr>
        <p:spPr>
          <a:xfrm>
            <a:off x="1170432" y="5193792"/>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5" name="Rectangle 244"/>
          <p:cNvSpPr/>
          <p:nvPr/>
        </p:nvSpPr>
        <p:spPr>
          <a:xfrm>
            <a:off x="2084832" y="5193792"/>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별도 프로세스 (프록시 → Router 원격 호출 1회)</a:t>
            </a:r>
          </a:p>
        </p:txBody>
      </p:sp>
      <p:sp>
        <p:nvSpPr>
          <p:cNvPr id="246" name="Rectangle 245"/>
          <p:cNvSpPr/>
          <p:nvPr/>
        </p:nvSpPr>
        <p:spPr>
          <a:xfrm>
            <a:off x="6565392" y="5193792"/>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7" name="Rectangle 246"/>
          <p:cNvSpPr/>
          <p:nvPr/>
        </p:nvSpPr>
        <p:spPr>
          <a:xfrm>
            <a:off x="7479792" y="5193792"/>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프로세스 내부 호출 (원격 호출 없음) - 필요한 건 LLM 기능뿐이라 범용 프록시 분리가 불필요</a:t>
            </a:r>
          </a:p>
        </p:txBody>
      </p:sp>
      <p:sp>
        <p:nvSpPr>
          <p:cNvPr id="248" name="Rectangle 247"/>
          <p:cNvSpPr/>
          <p:nvPr/>
        </p:nvSpPr>
        <p:spPr>
          <a:xfrm>
            <a:off x="1170432" y="5532120"/>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49" name="Rectangle 248"/>
          <p:cNvSpPr/>
          <p:nvPr/>
        </p:nvSpPr>
        <p:spPr>
          <a:xfrm>
            <a:off x="2084832" y="5532120"/>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분산: decode 서버 옆 P/D 보조 프로세스 (Router는 데이터 경로 밖)</a:t>
            </a:r>
          </a:p>
        </p:txBody>
      </p:sp>
      <p:sp>
        <p:nvSpPr>
          <p:cNvPr id="250" name="Rectangle 249"/>
          <p:cNvSpPr/>
          <p:nvPr/>
        </p:nvSpPr>
        <p:spPr>
          <a:xfrm>
            <a:off x="6565392" y="5532120"/>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51" name="Rectangle 250"/>
          <p:cNvSpPr/>
          <p:nvPr/>
        </p:nvSpPr>
        <p:spPr>
          <a:xfrm>
            <a:off x="7479792" y="5532120"/>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중앙: Router 내부 PD Orchestrator (Router가 경로 안)</a:t>
            </a:r>
          </a:p>
        </p:txBody>
      </p:sp>
      <p:sp>
        <p:nvSpPr>
          <p:cNvPr id="252" name="Rectangle 251"/>
          <p:cNvSpPr/>
          <p:nvPr/>
        </p:nvSpPr>
        <p:spPr>
          <a:xfrm>
            <a:off x="1170432" y="5870448"/>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3" name="Rectangle 252"/>
          <p:cNvSpPr/>
          <p:nvPr/>
        </p:nvSpPr>
        <p:spPr>
          <a:xfrm>
            <a:off x="2084832" y="5870448"/>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OSS 재사용 + 확장 (우리 소유 블록 3/6: B·C 확장, E 수정)</a:t>
            </a:r>
          </a:p>
        </p:txBody>
      </p:sp>
      <p:sp>
        <p:nvSpPr>
          <p:cNvPr id="254" name="Rectangle 253"/>
          <p:cNvSpPr/>
          <p:nvPr/>
        </p:nvSpPr>
        <p:spPr>
          <a:xfrm>
            <a:off x="6565392" y="5870448"/>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5" name="Rectangle 254"/>
          <p:cNvSpPr/>
          <p:nvPr/>
        </p:nvSpPr>
        <p:spPr>
          <a:xfrm>
            <a:off x="7479792" y="5870448"/>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전부 직접 소유 (6/6) + 레플리카·etcd 직접 구성</a:t>
            </a:r>
          </a:p>
        </p:txBody>
      </p:sp>
      <p:sp>
        <p:nvSpPr>
          <p:cNvPr id="256" name="TextBox 255"/>
          <p:cNvSpPr txBox="1"/>
          <p:nvPr/>
        </p:nvSpPr>
        <p:spPr>
          <a:xfrm>
            <a:off x="246888" y="6428232"/>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지시를 받아 실행하는 쪽은 vLLM(엔진)이며 두 안 공통 선결이다(C5 접점 계약, 사용자 fork에는 수신부 없음). P/D 보조 프로세스는 엔진이 아니라 오케스트레이션 소프트웨어다</a:t>
            </a:r>
          </a:p>
        </p:txBody>
      </p:sp>
      <p:sp>
        <p:nvSpPr>
          <p:cNvPr id="257" name="TextBox 256"/>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후보 2는 설계안이며 구현되지 않았다(구현량·성능은 추정). 근거 수준 [C] 구조 논증, [A] = llm-d 합성 백엔드 실행. 용어: P/D = Prefill(입력 처리)/Decode(응답 생성) 분리 · plugin = 기존 코드를 안 고치고 끼우는 확장 모듈</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Policy SPI의 Score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Policy SPI의 PlanPD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Q3 변경·유지 용이성 동등</a:t>
            </a:r>
          </a:p>
          <a:p>
            <a:pPr algn="ctr"/>
            <a:r>
              <a:rPr sz="850" b="0">
                <a:solidFill>
                  <a:srgbClr val="000000"/>
                </a:solidFill>
                <a:latin typeface="맑은 고딕"/>
                <a:ea typeface="맑은 고딕"/>
              </a:rPr>
              <a:t>1안 ●●○  /  2안 ●●○  (성격만 다름)</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가중치는 정하지 않았다.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동등(3 대 3): S1·S5·S6은 1안(흡수), S2·S3·S4는 2안(통제). 앞 장 S1~S6</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통제(2안)로 동등하다.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
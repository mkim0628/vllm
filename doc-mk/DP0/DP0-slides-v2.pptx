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700" r:id="rId13"/>
    <p:sldId id="699" r:id="rId12"/>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5.xml"/><Relationship Id="rId1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세 가지 패턴으로 갈아 끼웁니다. 각각 1안의 문제와 연결됩니다. Strategy는 점수·P/D 정책을 구현체 교체로 바꾸게 해서 1안의 plugin 역할을 합니다. Decorator는 노드 지시(P5)를 한 겹씩 덧붙여서 1안에서 보조 프로세스가 지시를 덮어쓰던 문제를 없앱니다. Adapter는 vLLM 계약을 한곳에 가둬서 1안에서 우리 확장이 OSS 내부 동작에 기대던 문제를 줄입니다.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P5 범위: 도식의 P5는 지시의 송신(오케스트레이션)입니다. 지시를 받아 실행하는 쪽은 vLLM(엔진)이고 두 안 공통 선결이며, P/D 보조 프로세스는 엔진이 아니라 오케스트레이션 소프트웨어입니다.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- 2안 확장성 보완(서버 샤딩)]</a:t>
            </a:r>
          </a:p>
          <a:p>
            <a:r>
              <a:t>왼쪽은 지금 2안입니다. 레플리카가 상태를 공유하지 않아서 각 레플리카가 전체 서버의 KV 이벤트와 메트릭을 전부 처리합니다. 서버가 N배가 되면 레플리카마다 처리량이 N배가 되어 결정이 느려지고 상태가 낡아 서버 확장성 별이 낮습니다.</a:t>
            </a:r>
          </a:p>
          <a:p>
            <a:r>
              <a:t>오른쪽은 보완안입니다. 서버를 샤드로 나눠 샤드마다 Shard Router가 담당 서버의 상태만 처리하고, 앞단의 무상태 Front Router는 샤드별 요약만 보고 샤드를 고릅니다. 샤드끼리는 부하와 prefix 요약만 교환합니다. 샤드 안의 구조와 디자인 패턴은 지금 2안 그대로 재사용합니다.</a:t>
            </a:r>
          </a:p>
          <a:p>
            <a:r>
              <a:t>효과는 가설입니다. 확장성은 올라갈 가능성이 있지만 hop과 요약 지연이 생겨 지연 경계와 구현 부담은 커집니다. 그래서 별 합계가 오른다고 단정하지 않고, 서버 수별 Goodput(E4)과 Front Router hop(E1)으로 확인합니다.</a:t>
            </a:r>
          </a:p>
          <a:p>
            <a:r>
              <a:t>이 방향은 DP0-1의 S2 두 단계 위임과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변경 용이성(Q3) 시나리오 S1~S6]</a:t>
            </a:r>
          </a:p>
          <a:p>
            <a:r>
              <a:t>변경 용이성은 요구가 바뀔 때 무엇을 얼마나 바꿔야 하는지로 잽니다. 변경 시나리오 6개를 두 안에 대어 봤습니다.</a:t>
            </a:r>
          </a:p>
          <a:p>
            <a:r>
              <a:t>1안이 앞서는 것은 S1(새 메모리 종류 추가: 설정 표에 이름만 추가), S5(vLLM·NIXL 계약 변경: 오픈소스가 대신 따라감), S6(신규 기능: 오픈소스가 제공)입니다. 환경 변화와 신기능을 오픈소스가 흡수해 주는 쪽입니다.</a:t>
            </a:r>
          </a:p>
          <a:p>
            <a:r>
              <a:t>2안이 앞서는 것은 S2(비용 함수 교체), S3(P/D 정책 교체), S4(노드 지시 추가)입니다. 우리 로직을 한 코드베이스에서 Strategy 구현체 교체로 바꾸기 때문에 오픈소스 구조의 제약(기존 모듈 동작 의존, 보조 프로세스 수정, 별도 이미지)을 받지 않습니다. 통제하는 쪽입니다.</a:t>
            </a:r>
          </a:p>
          <a:p>
            <a:r>
              <a:t>그래서 시나리오 승수는 3 대 3입니다. 다만 이 연구에서 자주 바뀌는 것은 정책(S2~S4)이라 가중 2를 주면 평균 변경 module이 1안 3.2, 2안 1.9가 되어 별은 1안 ●●○, 2안 ●●●입니다. 가중을 같게 두면 둘 다 ●●○입니다(가정). 업스트림 추종(S5)과 신기능 확보(S6)는 변경·유지 용이성의 일부이므로 QA 안에 넣었고, 구현 부담과 증거 수준은 QA 밖 제약·리스크로 따로 둡니다.</a:t>
            </a:r>
          </a:p>
          <a:p>
            <a:r>
              <a:t>S4는 오케스트레이션 측 변경만 비교합니다. 새 지시 키를 vLLM이 이해하게 하는 변경은 어느 안이든 똑같이 필요한 공통 선결입니다.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2안을 최소 구성으로 그려서 1안이 사실상 지배하는 구조였습니다. 2안을 레플리카·etcd·흐름 제어를 포함한 같은 노력 수준으로 다시 설계했고, 변경 용이성은 원래 정의(S1~S6, 변경·유지 용이성)로 고정했습니다. 구현 부담·증거 수준 같은 제약·리스크는 QA가 아니라 별도로 병기합니다. 품질 속성은 완성된 시스템의 성질이고 비용은 그것을 만드는 자원이며, 증거 수준은 별점과 독립이라는 규칙이 있고, 유지 부담은 이미 변경 용이성 안에 있기 때문입니다. 별 경계와 QA 지표, 공통 QA 문서는 바꾸지 않았습니다.</a:t>
            </a:r>
          </a:p>
          <a:p>
            <a:r>
              <a:t>왼쪽은 설계 결정 세 개가 무엇을 얻고 잃는지입니다. D1 결정 위치는 지연 대 확장성, D2 P/D 조율 위치는 노드 지시·전역 시야 대 병목 회피, D3 기능 소유는 통제 대 흡수와 구현 부담입니다.</a:t>
            </a:r>
          </a:p>
          <a:p>
            <a:r>
              <a:t>오른쪽 QA 4개는 9 대 9 동점입니다. 처리량은 동등, 지연은 2안, 변경·유지 용이성은 동등(3 대 3), 확장성은 1안입니다. 동점이면 QA 우선순위가 정합니다. 우선순위는 Q1 처리량, Q2 지연, Q3 변경 용이성, Q4 확장성 순이고, 처음으로 갈리는 Q2 지연에서 2안이 앞서 2안을 선택합니다. 우선순위가 확장성 우선으로 뒤집히면 1안입니다.</a:t>
            </a:r>
          </a:p>
          <a:p>
            <a:r>
              <a:t>다만 지연 차이의 크기는 측정하지 못했습니다. 그래서 선택은 E1 확인 후 확정합니다. 1안에서 원격 호출 hop 증분을 재서 잡음 수준이면 지연이 동률이 되어 1안으로 돌아갑니다. 2안의 구현 부담(6/6)과 증거 수준(설계안)은 QA 밖이지만 표에 남기고 알고 감수합니다. 1안은 실행 확인된 경로라 fallback으로 유지합니다.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설계 - 구조·장단점</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 (2안은 디자인 패턴 적용)</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438912"/>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438912"/>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438912"/>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0704"/>
            <a:ext cx="521208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280160"/>
            <a:ext cx="521208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0704"/>
            <a:ext cx="530352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디자인 패턴 · 레플리카 확장)</a:t>
            </a:r>
          </a:p>
        </p:txBody>
      </p:sp>
      <p:sp>
        <p:nvSpPr>
          <p:cNvPr id="108" name="TextBox 107"/>
          <p:cNvSpPr txBox="1"/>
          <p:nvPr/>
        </p:nvSpPr>
        <p:spPr>
          <a:xfrm>
            <a:off x="6583680" y="1280160"/>
            <a:ext cx="534924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“결정·상태·P/D 조율을 한 프로세스에 모으고, 정책은 디자인 패턴으로 갈아 끼우는 구조”</a:t>
            </a:r>
          </a:p>
        </p:txBody>
      </p:sp>
      <p:sp>
        <p:nvSpPr>
          <p:cNvPr id="109" name="Rectangle 108"/>
          <p:cNvSpPr/>
          <p:nvPr/>
        </p:nvSpPr>
        <p:spPr>
          <a:xfrm>
            <a:off x="246888" y="1481328"/>
            <a:ext cx="868680" cy="329184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481328"/>
            <a:ext cx="5394960" cy="3291840"/>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481328"/>
            <a:ext cx="5486399" cy="3291840"/>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587752"/>
            <a:ext cx="2971800" cy="0"/>
          </a:xfrm>
          <a:prstGeom prst="line">
            <a:avLst/>
          </a:prstGeom>
          <a:ln w="12700">
            <a:solidFill>
              <a:srgbClr val="404040"/>
            </a:solidFill>
            <a:tailEnd type="triangle"/>
          </a:ln>
        </p:spPr>
      </p:cxnSp>
      <p:sp>
        <p:nvSpPr>
          <p:cNvPr id="113" name="Rectangle 112"/>
          <p:cNvSpPr/>
          <p:nvPr/>
        </p:nvSpPr>
        <p:spPr>
          <a:xfrm>
            <a:off x="123444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039112"/>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03911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28600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377440"/>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514600"/>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547872"/>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54787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79476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3886200"/>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023360"/>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581912"/>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581912"/>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828800"/>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020824"/>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828800"/>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020824"/>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020824"/>
            <a:ext cx="73152" cy="0"/>
          </a:xfrm>
          <a:prstGeom prst="line">
            <a:avLst/>
          </a:prstGeom>
          <a:ln w="15875">
            <a:solidFill>
              <a:srgbClr val="404040"/>
            </a:solidFill>
            <a:tailEnd type="triangle"/>
          </a:ln>
        </p:spPr>
      </p:cxnSp>
      <p:sp>
        <p:nvSpPr>
          <p:cNvPr id="133" name="Rectangle 132"/>
          <p:cNvSpPr/>
          <p:nvPr/>
        </p:nvSpPr>
        <p:spPr>
          <a:xfrm>
            <a:off x="2468880" y="2359152"/>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359152"/>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542032"/>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679192"/>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090672"/>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611880"/>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지시 송신</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212848"/>
            <a:ext cx="0" cy="146304"/>
          </a:xfrm>
          <a:prstGeom prst="line">
            <a:avLst/>
          </a:prstGeom>
          <a:ln w="15875">
            <a:solidFill>
              <a:srgbClr val="404040"/>
            </a:solidFill>
            <a:tailEnd type="triangle"/>
          </a:ln>
        </p:spPr>
      </p:cxnSp>
      <p:sp>
        <p:nvSpPr>
          <p:cNvPr id="140" name="Rectangle 139"/>
          <p:cNvSpPr/>
          <p:nvPr/>
        </p:nvSpPr>
        <p:spPr>
          <a:xfrm>
            <a:off x="4023360" y="2359152"/>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359152"/>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587752"/>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16382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730752"/>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2999232"/>
            <a:ext cx="128016" cy="0"/>
          </a:xfrm>
          <a:prstGeom prst="line">
            <a:avLst/>
          </a:prstGeom>
          <a:ln w="15875">
            <a:solidFill>
              <a:srgbClr val="404040"/>
            </a:solidFill>
            <a:tailEnd type="triangle"/>
          </a:ln>
        </p:spPr>
      </p:cxnSp>
      <p:sp>
        <p:nvSpPr>
          <p:cNvPr id="146" name="Oval 145"/>
          <p:cNvSpPr/>
          <p:nvPr/>
        </p:nvSpPr>
        <p:spPr>
          <a:xfrm>
            <a:off x="3881628" y="2784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581912"/>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5819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810512"/>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810512"/>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029968"/>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지시 송신</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724912"/>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410712"/>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4107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639312"/>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810512"/>
            <a:ext cx="0" cy="228600"/>
          </a:xfrm>
          <a:prstGeom prst="line">
            <a:avLst/>
          </a:prstGeom>
          <a:ln w="15875">
            <a:solidFill>
              <a:srgbClr val="404040"/>
            </a:solidFill>
            <a:tailEnd type="triangle"/>
          </a:ln>
        </p:spPr>
      </p:cxnSp>
      <p:sp>
        <p:nvSpPr>
          <p:cNvPr id="157" name="Oval 156"/>
          <p:cNvSpPr/>
          <p:nvPr/>
        </p:nvSpPr>
        <p:spPr>
          <a:xfrm>
            <a:off x="1275588" y="185166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020824"/>
            <a:ext cx="438912" cy="384048"/>
          </a:xfrm>
          <a:prstGeom prst="line">
            <a:avLst/>
          </a:prstGeom>
          <a:ln w="15875">
            <a:solidFill>
              <a:srgbClr val="404040"/>
            </a:solidFill>
            <a:headEnd type="triangle"/>
            <a:tailEnd type="triangle"/>
          </a:ln>
        </p:spPr>
      </p:cxnSp>
      <p:sp>
        <p:nvSpPr>
          <p:cNvPr id="159" name="Oval 158"/>
          <p:cNvSpPr/>
          <p:nvPr/>
        </p:nvSpPr>
        <p:spPr>
          <a:xfrm>
            <a:off x="2208276" y="206197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5100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072384"/>
            <a:ext cx="0" cy="566928"/>
          </a:xfrm>
          <a:prstGeom prst="line">
            <a:avLst/>
          </a:prstGeom>
          <a:ln w="15875">
            <a:solidFill>
              <a:srgbClr val="404040"/>
            </a:solidFill>
            <a:headEnd type="triangle"/>
            <a:tailEnd type="triangle"/>
          </a:ln>
        </p:spPr>
      </p:cxnSp>
      <p:sp>
        <p:nvSpPr>
          <p:cNvPr id="162" name="Oval 161"/>
          <p:cNvSpPr/>
          <p:nvPr/>
        </p:nvSpPr>
        <p:spPr>
          <a:xfrm>
            <a:off x="579272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005072"/>
            <a:ext cx="338328" cy="0"/>
          </a:xfrm>
          <a:prstGeom prst="line">
            <a:avLst/>
          </a:prstGeom>
          <a:ln w="15875">
            <a:solidFill>
              <a:srgbClr val="404040"/>
            </a:solidFill>
            <a:tailEnd type="triangle"/>
          </a:ln>
        </p:spPr>
      </p:cxnSp>
      <p:sp>
        <p:nvSpPr>
          <p:cNvPr id="165" name="Oval 164"/>
          <p:cNvSpPr/>
          <p:nvPr/>
        </p:nvSpPr>
        <p:spPr>
          <a:xfrm>
            <a:off x="4823460" y="376275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023360"/>
            <a:ext cx="246888" cy="0"/>
          </a:xfrm>
          <a:prstGeom prst="line">
            <a:avLst/>
          </a:prstGeom>
          <a:ln w="15875">
            <a:solidFill>
              <a:srgbClr val="404040"/>
            </a:solidFill>
            <a:prstDash val="dash"/>
            <a:tailEnd type="triangle"/>
          </a:ln>
        </p:spPr>
      </p:cxnSp>
      <p:sp>
        <p:nvSpPr>
          <p:cNvPr id="167" name="Oval 166"/>
          <p:cNvSpPr/>
          <p:nvPr/>
        </p:nvSpPr>
        <p:spPr>
          <a:xfrm>
            <a:off x="2199132" y="379018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658368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69" name="Rectangle 168"/>
          <p:cNvSpPr/>
          <p:nvPr/>
        </p:nvSpPr>
        <p:spPr>
          <a:xfrm>
            <a:off x="6583680" y="203911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0" name="Connector 169"/>
          <p:cNvCxnSpPr/>
          <p:nvPr/>
        </p:nvCxnSpPr>
        <p:spPr>
          <a:xfrm>
            <a:off x="6867144" y="1810512"/>
            <a:ext cx="0" cy="228600"/>
          </a:xfrm>
          <a:prstGeom prst="line">
            <a:avLst/>
          </a:prstGeom>
          <a:ln w="15875">
            <a:solidFill>
              <a:srgbClr val="404040"/>
            </a:solidFill>
            <a:tailEnd type="triangle"/>
          </a:ln>
        </p:spPr>
      </p:cxnSp>
      <p:sp>
        <p:nvSpPr>
          <p:cNvPr id="171" name="Oval 170"/>
          <p:cNvSpPr/>
          <p:nvPr/>
        </p:nvSpPr>
        <p:spPr>
          <a:xfrm>
            <a:off x="6643116" y="1842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2" name="Rectangle 171"/>
          <p:cNvSpPr/>
          <p:nvPr/>
        </p:nvSpPr>
        <p:spPr>
          <a:xfrm>
            <a:off x="6583680" y="377647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00" b="0">
                <a:solidFill>
                  <a:srgbClr val="404040"/>
                </a:solidFill>
                <a:latin typeface="맑은 고딕"/>
                <a:ea typeface="맑은 고딕"/>
              </a:rPr>
              <a:t>Registry 저장소</a:t>
            </a:r>
          </a:p>
        </p:txBody>
      </p:sp>
      <p:sp>
        <p:nvSpPr>
          <p:cNvPr id="173" name="Rectangle 172"/>
          <p:cNvSpPr/>
          <p:nvPr/>
        </p:nvSpPr>
        <p:spPr>
          <a:xfrm>
            <a:off x="7242048" y="1536192"/>
            <a:ext cx="3566160" cy="2834640"/>
          </a:xfrm>
          <a:prstGeom prst="rect">
            <a:avLst/>
          </a:prstGeom>
          <a:solidFill>
            <a:srgbClr val="FFFFFF"/>
          </a:solidFill>
          <a:ln w="19050">
            <a:solidFill>
              <a:srgbClr val="C55A11"/>
            </a:solidFill>
          </a:ln>
          <a:effectLst/>
        </p:spPr>
        <p:txBody>
          <a:bodyPr rtlCol="0" anchor="ctr"/>
          <a:lstStyle/>
          <a:p>
            <a:pPr algn="ctr"/>
          </a:p>
        </p:txBody>
      </p:sp>
      <p:sp>
        <p:nvSpPr>
          <p:cNvPr id="174" name="Rectangle 173"/>
          <p:cNvSpPr/>
          <p:nvPr/>
        </p:nvSpPr>
        <p:spPr>
          <a:xfrm>
            <a:off x="7242048" y="1536192"/>
            <a:ext cx="3566160" cy="164592"/>
          </a:xfrm>
          <a:prstGeom prst="rect">
            <a:avLst/>
          </a:prstGeom>
          <a:solidFill>
            <a:srgbClr val="C55A11"/>
          </a:solidFill>
          <a:ln w="12700">
            <a:solidFill>
              <a:srgbClr val="C55A11"/>
            </a:solidFill>
          </a:ln>
          <a:effectLst/>
        </p:spPr>
        <p:txBody>
          <a:bodyPr rtlCol="0" anchor="ctr" wrap="square" lIns="45720" tIns="0" rIns="0" bIns="0"/>
          <a:lstStyle/>
          <a:p>
            <a:pPr algn="l"/>
            <a:r>
              <a:rPr sz="700" b="1">
                <a:solidFill>
                  <a:srgbClr val="FFFFFF"/>
                </a:solidFill>
                <a:latin typeface="맑은 고딕"/>
                <a:ea typeface="맑은 고딕"/>
              </a:rPr>
              <a:t>«process» Own Router 레플리카 1개 (한 프로세스)</a:t>
            </a:r>
          </a:p>
        </p:txBody>
      </p:sp>
      <p:cxnSp>
        <p:nvCxnSpPr>
          <p:cNvPr id="175" name="Connector 174"/>
          <p:cNvCxnSpPr/>
          <p:nvPr/>
        </p:nvCxnSpPr>
        <p:spPr>
          <a:xfrm flipV="1">
            <a:off x="7150608" y="1993392"/>
            <a:ext cx="164592" cy="237744"/>
          </a:xfrm>
          <a:prstGeom prst="line">
            <a:avLst/>
          </a:prstGeom>
          <a:ln w="12700">
            <a:solidFill>
              <a:srgbClr val="404040"/>
            </a:solidFill>
            <a:tailEnd type="triangle"/>
          </a:ln>
        </p:spPr>
      </p:cxnSp>
      <p:sp>
        <p:nvSpPr>
          <p:cNvPr id="176" name="Rectangle 175"/>
          <p:cNvSpPr/>
          <p:nvPr/>
        </p:nvSpPr>
        <p:spPr>
          <a:xfrm>
            <a:off x="7333488" y="1755648"/>
            <a:ext cx="3383280" cy="2743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A Ingress / API   요청 파싱 · 스트리밍 중계</a:t>
            </a:r>
          </a:p>
        </p:txBody>
      </p:sp>
      <p:sp>
        <p:nvSpPr>
          <p:cNvPr id="177" name="Rectangle 176"/>
          <p:cNvSpPr/>
          <p:nvPr/>
        </p:nvSpPr>
        <p:spPr>
          <a:xfrm>
            <a:off x="7333488" y="2240280"/>
            <a:ext cx="86868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D Admission</a:t>
            </a:r>
          </a:p>
        </p:txBody>
      </p:sp>
      <p:sp>
        <p:nvSpPr>
          <p:cNvPr id="178" name="Rectangle 177"/>
          <p:cNvSpPr/>
          <p:nvPr/>
        </p:nvSpPr>
        <p:spPr>
          <a:xfrm>
            <a:off x="8321040" y="2240280"/>
            <a:ext cx="105156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B Selector</a:t>
            </a:r>
          </a:p>
        </p:txBody>
      </p:sp>
      <p:sp>
        <p:nvSpPr>
          <p:cNvPr id="179" name="Rectangle 178"/>
          <p:cNvSpPr/>
          <p:nvPr/>
        </p:nvSpPr>
        <p:spPr>
          <a:xfrm>
            <a:off x="9491472" y="2240280"/>
            <a:ext cx="1225296"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E Dispatcher</a:t>
            </a:r>
          </a:p>
        </p:txBody>
      </p:sp>
      <p:cxnSp>
        <p:nvCxnSpPr>
          <p:cNvPr id="180" name="Connector 179"/>
          <p:cNvCxnSpPr/>
          <p:nvPr/>
        </p:nvCxnSpPr>
        <p:spPr>
          <a:xfrm>
            <a:off x="8202168" y="2359152"/>
            <a:ext cx="118872" cy="0"/>
          </a:xfrm>
          <a:prstGeom prst="line">
            <a:avLst/>
          </a:prstGeom>
          <a:ln w="15875">
            <a:solidFill>
              <a:srgbClr val="C55A11"/>
            </a:solidFill>
            <a:tailEnd type="triangle"/>
          </a:ln>
        </p:spPr>
      </p:cxnSp>
      <p:cxnSp>
        <p:nvCxnSpPr>
          <p:cNvPr id="181" name="Connector 180"/>
          <p:cNvCxnSpPr/>
          <p:nvPr/>
        </p:nvCxnSpPr>
        <p:spPr>
          <a:xfrm>
            <a:off x="9372600" y="2359152"/>
            <a:ext cx="118872" cy="0"/>
          </a:xfrm>
          <a:prstGeom prst="line">
            <a:avLst/>
          </a:prstGeom>
          <a:ln w="15875">
            <a:solidFill>
              <a:srgbClr val="C55A11"/>
            </a:solidFill>
            <a:tailEnd type="triangle"/>
          </a:ln>
        </p:spPr>
      </p:cxnSp>
      <p:cxnSp>
        <p:nvCxnSpPr>
          <p:cNvPr id="182" name="Connector 181"/>
          <p:cNvCxnSpPr/>
          <p:nvPr/>
        </p:nvCxnSpPr>
        <p:spPr>
          <a:xfrm>
            <a:off x="7635240" y="2029968"/>
            <a:ext cx="0" cy="210312"/>
          </a:xfrm>
          <a:prstGeom prst="line">
            <a:avLst/>
          </a:prstGeom>
          <a:ln w="15875">
            <a:solidFill>
              <a:srgbClr val="C55A11"/>
            </a:solidFill>
            <a:tailEnd type="triangle"/>
          </a:ln>
        </p:spPr>
      </p:cxnSp>
      <p:sp>
        <p:nvSpPr>
          <p:cNvPr id="183" name="Oval 182"/>
          <p:cNvSpPr/>
          <p:nvPr/>
        </p:nvSpPr>
        <p:spPr>
          <a:xfrm>
            <a:off x="7712963" y="20619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84" name="Rectangle 183"/>
          <p:cNvSpPr/>
          <p:nvPr/>
        </p:nvSpPr>
        <p:spPr>
          <a:xfrm>
            <a:off x="7333488" y="2523744"/>
            <a:ext cx="16002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점수 정책 ↔ 1안 plugin 대응</a:t>
            </a:r>
          </a:p>
        </p:txBody>
      </p:sp>
      <p:sp>
        <p:nvSpPr>
          <p:cNvPr id="185" name="Rectangle 184"/>
          <p:cNvSpPr/>
          <p:nvPr/>
        </p:nvSpPr>
        <p:spPr>
          <a:xfrm>
            <a:off x="7333488" y="2679192"/>
            <a:ext cx="1783080" cy="713232"/>
          </a:xfrm>
          <a:prstGeom prst="rect">
            <a:avLst/>
          </a:prstGeom>
          <a:solidFill>
            <a:srgbClr val="FFFFFF"/>
          </a:solidFill>
          <a:ln w="15875">
            <a:solidFill>
              <a:srgbClr val="5E35B1"/>
            </a:solidFill>
          </a:ln>
          <a:effectLst/>
        </p:spPr>
        <p:txBody>
          <a:bodyPr rtlCol="0" anchor="ctr"/>
          <a:lstStyle/>
          <a:p>
            <a:pPr algn="ctr"/>
          </a:p>
        </p:txBody>
      </p:sp>
      <p:sp>
        <p:nvSpPr>
          <p:cNvPr id="186" name="TextBox 185"/>
          <p:cNvSpPr txBox="1"/>
          <p:nvPr/>
        </p:nvSpPr>
        <p:spPr>
          <a:xfrm>
            <a:off x="7370064" y="2697480"/>
            <a:ext cx="173736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ScoreStrategy</a:t>
            </a:r>
          </a:p>
        </p:txBody>
      </p:sp>
      <p:sp>
        <p:nvSpPr>
          <p:cNvPr id="187" name="Rectangle 186"/>
          <p:cNvSpPr/>
          <p:nvPr/>
        </p:nvSpPr>
        <p:spPr>
          <a:xfrm>
            <a:off x="7388352" y="2834640"/>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P1 TierWeightScorer</a:t>
            </a:r>
          </a:p>
        </p:txBody>
      </p:sp>
      <p:sp>
        <p:nvSpPr>
          <p:cNvPr id="188" name="Rectangle 187"/>
          <p:cNvSpPr/>
          <p:nvPr/>
        </p:nvSpPr>
        <p:spPr>
          <a:xfrm>
            <a:off x="7388352" y="3008376"/>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P2 LiveStateScorer</a:t>
            </a:r>
          </a:p>
        </p:txBody>
      </p:sp>
      <p:sp>
        <p:nvSpPr>
          <p:cNvPr id="189" name="Rectangle 188"/>
          <p:cNvSpPr/>
          <p:nvPr/>
        </p:nvSpPr>
        <p:spPr>
          <a:xfrm>
            <a:off x="7388352" y="3182112"/>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P3 CostBasedScorer</a:t>
            </a:r>
          </a:p>
        </p:txBody>
      </p:sp>
      <p:cxnSp>
        <p:nvCxnSpPr>
          <p:cNvPr id="190" name="Connector 189"/>
          <p:cNvCxnSpPr/>
          <p:nvPr/>
        </p:nvCxnSpPr>
        <p:spPr>
          <a:xfrm>
            <a:off x="8823960" y="2478024"/>
            <a:ext cx="0" cy="201168"/>
          </a:xfrm>
          <a:prstGeom prst="line">
            <a:avLst/>
          </a:prstGeom>
          <a:ln w="15875">
            <a:solidFill>
              <a:srgbClr val="5E35B1"/>
            </a:solidFill>
            <a:tailEnd type="triangle"/>
          </a:ln>
        </p:spPr>
      </p:cxnSp>
      <p:sp>
        <p:nvSpPr>
          <p:cNvPr id="191" name="Rectangle 190"/>
          <p:cNvSpPr/>
          <p:nvPr/>
        </p:nvSpPr>
        <p:spPr>
          <a:xfrm>
            <a:off x="9217152" y="2523744"/>
            <a:ext cx="9144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P/D 정책</a:t>
            </a:r>
          </a:p>
        </p:txBody>
      </p:sp>
      <p:sp>
        <p:nvSpPr>
          <p:cNvPr id="192" name="Rectangle 191"/>
          <p:cNvSpPr/>
          <p:nvPr/>
        </p:nvSpPr>
        <p:spPr>
          <a:xfrm>
            <a:off x="9217152" y="2679192"/>
            <a:ext cx="1536192" cy="365760"/>
          </a:xfrm>
          <a:prstGeom prst="rect">
            <a:avLst/>
          </a:prstGeom>
          <a:solidFill>
            <a:srgbClr val="FFFFFF"/>
          </a:solidFill>
          <a:ln w="15875">
            <a:solidFill>
              <a:srgbClr val="5E35B1"/>
            </a:solidFill>
          </a:ln>
          <a:effectLst/>
        </p:spPr>
        <p:txBody>
          <a:bodyPr rtlCol="0" anchor="ctr"/>
          <a:lstStyle/>
          <a:p>
            <a:pPr algn="ctr"/>
          </a:p>
        </p:txBody>
      </p:sp>
      <p:sp>
        <p:nvSpPr>
          <p:cNvPr id="193" name="TextBox 192"/>
          <p:cNvSpPr txBox="1"/>
          <p:nvPr/>
        </p:nvSpPr>
        <p:spPr>
          <a:xfrm>
            <a:off x="9253728" y="2697480"/>
            <a:ext cx="146304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PDPlanStrategy</a:t>
            </a:r>
          </a:p>
        </p:txBody>
      </p:sp>
      <p:sp>
        <p:nvSpPr>
          <p:cNvPr id="194" name="Rectangle 193"/>
          <p:cNvSpPr/>
          <p:nvPr/>
        </p:nvSpPr>
        <p:spPr>
          <a:xfrm>
            <a:off x="9272016" y="2852928"/>
            <a:ext cx="1426464"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P4 CostPDPlanner</a:t>
            </a:r>
          </a:p>
        </p:txBody>
      </p:sp>
      <p:cxnSp>
        <p:nvCxnSpPr>
          <p:cNvPr id="195" name="Connector 194"/>
          <p:cNvCxnSpPr/>
          <p:nvPr/>
        </p:nvCxnSpPr>
        <p:spPr>
          <a:xfrm>
            <a:off x="10104120" y="2478024"/>
            <a:ext cx="0" cy="201168"/>
          </a:xfrm>
          <a:prstGeom prst="line">
            <a:avLst/>
          </a:prstGeom>
          <a:ln w="15875">
            <a:solidFill>
              <a:srgbClr val="5E35B1"/>
            </a:solidFill>
            <a:tailEnd type="triangle"/>
          </a:ln>
        </p:spPr>
      </p:cxnSp>
      <p:sp>
        <p:nvSpPr>
          <p:cNvPr id="196" name="Rectangle 195"/>
          <p:cNvSpPr/>
          <p:nvPr/>
        </p:nvSpPr>
        <p:spPr>
          <a:xfrm>
            <a:off x="9217152" y="3090672"/>
            <a:ext cx="1536192"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«Decorator» P5 ↔ 1안 덮어쓰기 해결</a:t>
            </a:r>
          </a:p>
        </p:txBody>
      </p:sp>
      <p:sp>
        <p:nvSpPr>
          <p:cNvPr id="197" name="Rectangle 196"/>
          <p:cNvSpPr/>
          <p:nvPr/>
        </p:nvSpPr>
        <p:spPr>
          <a:xfrm>
            <a:off x="9217152" y="3236976"/>
            <a:ext cx="1536192" cy="1828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0">
                <a:solidFill>
                  <a:srgbClr val="000000"/>
                </a:solidFill>
                <a:latin typeface="맑은 고딕"/>
                <a:ea typeface="맑은 고딕"/>
              </a:rPr>
              <a:t>기본 ▸ +계층 ▸ +토큰 한도</a:t>
            </a:r>
          </a:p>
        </p:txBody>
      </p:sp>
      <p:sp>
        <p:nvSpPr>
          <p:cNvPr id="198" name="Rectangle 197"/>
          <p:cNvSpPr/>
          <p:nvPr/>
        </p:nvSpPr>
        <p:spPr>
          <a:xfrm>
            <a:off x="7333488" y="3657600"/>
            <a:ext cx="77724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Event</a:t>
            </a:r>
          </a:p>
          <a:p>
            <a:pPr algn="ctr"/>
            <a:r>
              <a:rPr sz="700" b="1">
                <a:solidFill>
                  <a:srgbClr val="000000"/>
                </a:solidFill>
                <a:latin typeface="맑은 고딕"/>
                <a:ea typeface="맑은 고딕"/>
              </a:rPr>
              <a:t>Subscriber</a:t>
            </a:r>
          </a:p>
        </p:txBody>
      </p:sp>
      <p:sp>
        <p:nvSpPr>
          <p:cNvPr id="199" name="Rectangle 198"/>
          <p:cNvSpPr/>
          <p:nvPr/>
        </p:nvSpPr>
        <p:spPr>
          <a:xfrm>
            <a:off x="8229600" y="3657600"/>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KV Index 갱신</a:t>
            </a:r>
          </a:p>
        </p:txBody>
      </p:sp>
      <p:cxnSp>
        <p:nvCxnSpPr>
          <p:cNvPr id="200" name="Connector 199"/>
          <p:cNvCxnSpPr/>
          <p:nvPr/>
        </p:nvCxnSpPr>
        <p:spPr>
          <a:xfrm flipV="1">
            <a:off x="8110728" y="3758184"/>
            <a:ext cx="118872" cy="64007"/>
          </a:xfrm>
          <a:prstGeom prst="line">
            <a:avLst/>
          </a:prstGeom>
          <a:ln w="12700">
            <a:solidFill>
              <a:srgbClr val="C55A11"/>
            </a:solidFill>
            <a:tailEnd type="triangle"/>
          </a:ln>
        </p:spPr>
      </p:cxnSp>
      <p:sp>
        <p:nvSpPr>
          <p:cNvPr id="201" name="Rectangle 200"/>
          <p:cNvSpPr/>
          <p:nvPr/>
        </p:nvSpPr>
        <p:spPr>
          <a:xfrm>
            <a:off x="8229600" y="3904487"/>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스냅샷</a:t>
            </a:r>
          </a:p>
        </p:txBody>
      </p:sp>
      <p:cxnSp>
        <p:nvCxnSpPr>
          <p:cNvPr id="202" name="Connector 201"/>
          <p:cNvCxnSpPr/>
          <p:nvPr/>
        </p:nvCxnSpPr>
        <p:spPr>
          <a:xfrm>
            <a:off x="8110728" y="3959352"/>
            <a:ext cx="118872" cy="45720"/>
          </a:xfrm>
          <a:prstGeom prst="line">
            <a:avLst/>
          </a:prstGeom>
          <a:ln w="12700">
            <a:solidFill>
              <a:srgbClr val="C55A11"/>
            </a:solidFill>
            <a:tailEnd type="triangle"/>
          </a:ln>
        </p:spPr>
      </p:cxnSp>
      <p:sp>
        <p:nvSpPr>
          <p:cNvPr id="203" name="Rectangle 202"/>
          <p:cNvSpPr/>
          <p:nvPr/>
        </p:nvSpPr>
        <p:spPr>
          <a:xfrm>
            <a:off x="9217152" y="3657600"/>
            <a:ext cx="73152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StateView</a:t>
            </a:r>
          </a:p>
          <a:p>
            <a:pPr algn="ctr"/>
            <a:r>
              <a:rPr sz="600" b="0">
                <a:solidFill>
                  <a:srgbClr val="404040"/>
                </a:solidFill>
                <a:latin typeface="맑은 고딕"/>
                <a:ea typeface="맑은 고딕"/>
              </a:rPr>
              <a:t>읽기 전용 조회</a:t>
            </a:r>
          </a:p>
        </p:txBody>
      </p:sp>
      <p:cxnSp>
        <p:nvCxnSpPr>
          <p:cNvPr id="204" name="Connector 203"/>
          <p:cNvCxnSpPr/>
          <p:nvPr/>
        </p:nvCxnSpPr>
        <p:spPr>
          <a:xfrm>
            <a:off x="9098280" y="3877056"/>
            <a:ext cx="118872" cy="0"/>
          </a:xfrm>
          <a:prstGeom prst="line">
            <a:avLst/>
          </a:prstGeom>
          <a:ln w="12700">
            <a:solidFill>
              <a:srgbClr val="C55A11"/>
            </a:solidFill>
            <a:tailEnd type="triangle"/>
          </a:ln>
        </p:spPr>
      </p:cxnSp>
      <p:cxnSp>
        <p:nvCxnSpPr>
          <p:cNvPr id="205" name="Connector 204"/>
          <p:cNvCxnSpPr/>
          <p:nvPr/>
        </p:nvCxnSpPr>
        <p:spPr>
          <a:xfrm flipH="1" flipV="1">
            <a:off x="8961120" y="3392424"/>
            <a:ext cx="548640" cy="265176"/>
          </a:xfrm>
          <a:prstGeom prst="line">
            <a:avLst/>
          </a:prstGeom>
          <a:ln w="15875">
            <a:solidFill>
              <a:srgbClr val="C55A11"/>
            </a:solidFill>
            <a:tailEnd type="triangle"/>
          </a:ln>
        </p:spPr>
      </p:cxnSp>
      <p:sp>
        <p:nvSpPr>
          <p:cNvPr id="206" name="Oval 205"/>
          <p:cNvSpPr/>
          <p:nvPr/>
        </p:nvSpPr>
        <p:spPr>
          <a:xfrm>
            <a:off x="9203436" y="34518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07" name="Connector 206"/>
          <p:cNvCxnSpPr/>
          <p:nvPr/>
        </p:nvCxnSpPr>
        <p:spPr>
          <a:xfrm flipV="1">
            <a:off x="9784080" y="3419856"/>
            <a:ext cx="0" cy="237744"/>
          </a:xfrm>
          <a:prstGeom prst="line">
            <a:avLst/>
          </a:prstGeom>
          <a:ln w="15875">
            <a:solidFill>
              <a:srgbClr val="C55A11"/>
            </a:solidFill>
            <a:tailEnd type="triangle"/>
          </a:ln>
        </p:spPr>
      </p:cxnSp>
      <p:sp>
        <p:nvSpPr>
          <p:cNvPr id="208" name="Rectangle 207"/>
          <p:cNvSpPr/>
          <p:nvPr/>
        </p:nvSpPr>
        <p:spPr>
          <a:xfrm>
            <a:off x="10021824" y="3657600"/>
            <a:ext cx="694944"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F Registry</a:t>
            </a:r>
          </a:p>
          <a:p>
            <a:pPr algn="ctr"/>
            <a:r>
              <a:rPr sz="600" b="0">
                <a:solidFill>
                  <a:srgbClr val="404040"/>
                </a:solidFill>
                <a:latin typeface="맑은 고딕"/>
                <a:ea typeface="맑은 고딕"/>
              </a:rPr>
              <a:t>etcd watch</a:t>
            </a:r>
          </a:p>
        </p:txBody>
      </p:sp>
      <p:cxnSp>
        <p:nvCxnSpPr>
          <p:cNvPr id="209" name="Connector 208"/>
          <p:cNvCxnSpPr/>
          <p:nvPr/>
        </p:nvCxnSpPr>
        <p:spPr>
          <a:xfrm>
            <a:off x="7150608" y="4165091"/>
            <a:ext cx="2999232" cy="0"/>
          </a:xfrm>
          <a:prstGeom prst="line">
            <a:avLst/>
          </a:prstGeom>
          <a:ln w="12700">
            <a:solidFill>
              <a:srgbClr val="C55A11"/>
            </a:solidFill>
            <a:prstDash val="dash"/>
          </a:ln>
        </p:spPr>
      </p:cxnSp>
      <p:cxnSp>
        <p:nvCxnSpPr>
          <p:cNvPr id="210" name="Connector 209"/>
          <p:cNvCxnSpPr/>
          <p:nvPr/>
        </p:nvCxnSpPr>
        <p:spPr>
          <a:xfrm flipV="1">
            <a:off x="10149840" y="4114800"/>
            <a:ext cx="0" cy="50291"/>
          </a:xfrm>
          <a:prstGeom prst="line">
            <a:avLst/>
          </a:prstGeom>
          <a:ln w="12700">
            <a:solidFill>
              <a:srgbClr val="C55A11"/>
            </a:solidFill>
            <a:tailEnd type="triangle"/>
          </a:ln>
        </p:spPr>
      </p:cxnSp>
      <p:sp>
        <p:nvSpPr>
          <p:cNvPr id="211" name="Oval 210"/>
          <p:cNvSpPr/>
          <p:nvPr/>
        </p:nvSpPr>
        <p:spPr>
          <a:xfrm>
            <a:off x="7109460" y="392734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212" name="Rectangle 211"/>
          <p:cNvSpPr/>
          <p:nvPr/>
        </p:nvSpPr>
        <p:spPr>
          <a:xfrm>
            <a:off x="7333488" y="4215384"/>
            <a:ext cx="141732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«Adapter» ↔ 1안 OSS 의존 해결</a:t>
            </a:r>
          </a:p>
        </p:txBody>
      </p:sp>
      <p:sp>
        <p:nvSpPr>
          <p:cNvPr id="213" name="Rectangle 212"/>
          <p:cNvSpPr/>
          <p:nvPr/>
        </p:nvSpPr>
        <p:spPr>
          <a:xfrm>
            <a:off x="8796528" y="4215384"/>
            <a:ext cx="1920240" cy="137160"/>
          </a:xfrm>
          <a:prstGeom prst="rect">
            <a:avLst/>
          </a:prstGeom>
          <a:solidFill>
            <a:srgbClr val="FFFFFF"/>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vLLM 계약: KV 이벤트 · /metrics · kv_params</a:t>
            </a:r>
          </a:p>
        </p:txBody>
      </p:sp>
      <p:sp>
        <p:nvSpPr>
          <p:cNvPr id="214" name="Rectangle 213"/>
          <p:cNvSpPr/>
          <p:nvPr/>
        </p:nvSpPr>
        <p:spPr>
          <a:xfrm>
            <a:off x="10954512" y="1536192"/>
            <a:ext cx="914400" cy="1234440"/>
          </a:xfrm>
          <a:prstGeom prst="rect">
            <a:avLst/>
          </a:prstGeom>
          <a:solidFill>
            <a:srgbClr val="FFFFFF"/>
          </a:solidFill>
          <a:ln w="15875">
            <a:solidFill>
              <a:srgbClr val="7F7F7F"/>
            </a:solidFill>
          </a:ln>
          <a:effectLst/>
        </p:spPr>
        <p:txBody>
          <a:bodyPr rtlCol="0" anchor="ctr"/>
          <a:lstStyle/>
          <a:p>
            <a:pPr algn="ctr"/>
          </a:p>
        </p:txBody>
      </p:sp>
      <p:sp>
        <p:nvSpPr>
          <p:cNvPr id="215" name="Rectangle 214"/>
          <p:cNvSpPr/>
          <p:nvPr/>
        </p:nvSpPr>
        <p:spPr>
          <a:xfrm>
            <a:off x="10954512" y="153619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16" name="Rectangle 215"/>
          <p:cNvSpPr/>
          <p:nvPr/>
        </p:nvSpPr>
        <p:spPr>
          <a:xfrm>
            <a:off x="11009376" y="1764792"/>
            <a:ext cx="804672"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17" name="Rectangle 216"/>
          <p:cNvSpPr/>
          <p:nvPr/>
        </p:nvSpPr>
        <p:spPr>
          <a:xfrm>
            <a:off x="10954512" y="2999232"/>
            <a:ext cx="914400" cy="1371600"/>
          </a:xfrm>
          <a:prstGeom prst="rect">
            <a:avLst/>
          </a:prstGeom>
          <a:solidFill>
            <a:srgbClr val="FFFFFF"/>
          </a:solidFill>
          <a:ln w="15875">
            <a:solidFill>
              <a:srgbClr val="7F7F7F"/>
            </a:solidFill>
          </a:ln>
          <a:effectLst/>
        </p:spPr>
        <p:txBody>
          <a:bodyPr rtlCol="0" anchor="ctr"/>
          <a:lstStyle/>
          <a:p>
            <a:pPr algn="ctr"/>
          </a:p>
        </p:txBody>
      </p:sp>
      <p:sp>
        <p:nvSpPr>
          <p:cNvPr id="218" name="Rectangle 217"/>
          <p:cNvSpPr/>
          <p:nvPr/>
        </p:nvSpPr>
        <p:spPr>
          <a:xfrm>
            <a:off x="10954512" y="299923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19" name="Rectangle 218"/>
          <p:cNvSpPr/>
          <p:nvPr/>
        </p:nvSpPr>
        <p:spPr>
          <a:xfrm>
            <a:off x="11009376" y="3227832"/>
            <a:ext cx="804672" cy="107899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20" name="Connector 219"/>
          <p:cNvCxnSpPr/>
          <p:nvPr/>
        </p:nvCxnSpPr>
        <p:spPr>
          <a:xfrm>
            <a:off x="11411712" y="2770632"/>
            <a:ext cx="0" cy="457200"/>
          </a:xfrm>
          <a:prstGeom prst="line">
            <a:avLst/>
          </a:prstGeom>
          <a:ln w="15875">
            <a:solidFill>
              <a:srgbClr val="404040"/>
            </a:solidFill>
            <a:headEnd type="triangle"/>
            <a:tailEnd type="triangle"/>
          </a:ln>
        </p:spPr>
      </p:cxnSp>
      <p:sp>
        <p:nvSpPr>
          <p:cNvPr id="221" name="Oval 220"/>
          <p:cNvSpPr/>
          <p:nvPr/>
        </p:nvSpPr>
        <p:spPr>
          <a:xfrm>
            <a:off x="11553443" y="279349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22" name="Connector 221"/>
          <p:cNvCxnSpPr/>
          <p:nvPr/>
        </p:nvCxnSpPr>
        <p:spPr>
          <a:xfrm flipV="1">
            <a:off x="10716767" y="2194560"/>
            <a:ext cx="292609" cy="164592"/>
          </a:xfrm>
          <a:prstGeom prst="line">
            <a:avLst/>
          </a:prstGeom>
          <a:ln w="15875">
            <a:solidFill>
              <a:srgbClr val="404040"/>
            </a:solidFill>
            <a:tailEnd type="triangle"/>
          </a:ln>
        </p:spPr>
      </p:cxnSp>
      <p:sp>
        <p:nvSpPr>
          <p:cNvPr id="223" name="Oval 222"/>
          <p:cNvSpPr/>
          <p:nvPr/>
        </p:nvSpPr>
        <p:spPr>
          <a:xfrm>
            <a:off x="10785347" y="202539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24" name="Connector 223"/>
          <p:cNvCxnSpPr/>
          <p:nvPr/>
        </p:nvCxnSpPr>
        <p:spPr>
          <a:xfrm flipH="1">
            <a:off x="10716767" y="3822191"/>
            <a:ext cx="292609" cy="0"/>
          </a:xfrm>
          <a:prstGeom prst="line">
            <a:avLst/>
          </a:prstGeom>
          <a:ln w="15875">
            <a:solidFill>
              <a:srgbClr val="404040"/>
            </a:solidFill>
            <a:prstDash val="dash"/>
            <a:tailEnd type="triangle"/>
          </a:ln>
        </p:spPr>
      </p:cxnSp>
      <p:sp>
        <p:nvSpPr>
          <p:cNvPr id="225" name="Oval 224"/>
          <p:cNvSpPr/>
          <p:nvPr/>
        </p:nvSpPr>
        <p:spPr>
          <a:xfrm>
            <a:off x="10785347" y="3598163"/>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26" name="Rectangle 225"/>
          <p:cNvSpPr/>
          <p:nvPr/>
        </p:nvSpPr>
        <p:spPr>
          <a:xfrm>
            <a:off x="1188720" y="4471416"/>
            <a:ext cx="1261872" cy="146304"/>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227" name="Rectangle 226"/>
          <p:cNvSpPr/>
          <p:nvPr/>
        </p:nvSpPr>
        <p:spPr>
          <a:xfrm>
            <a:off x="2505456" y="4471416"/>
            <a:ext cx="1261872" cy="146304"/>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228" name="Rectangle 227"/>
          <p:cNvSpPr/>
          <p:nvPr/>
        </p:nvSpPr>
        <p:spPr>
          <a:xfrm>
            <a:off x="3822191" y="4471416"/>
            <a:ext cx="1261872" cy="146304"/>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229" name="Rectangle 228"/>
          <p:cNvSpPr/>
          <p:nvPr/>
        </p:nvSpPr>
        <p:spPr>
          <a:xfrm>
            <a:off x="5138928" y="4471416"/>
            <a:ext cx="1261872" cy="146304"/>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230" name="Rectangle 229"/>
          <p:cNvSpPr/>
          <p:nvPr/>
        </p:nvSpPr>
        <p:spPr>
          <a:xfrm>
            <a:off x="6583680" y="4471416"/>
            <a:ext cx="1554480" cy="14630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1" name="Rectangle 230"/>
          <p:cNvSpPr/>
          <p:nvPr/>
        </p:nvSpPr>
        <p:spPr>
          <a:xfrm>
            <a:off x="8211312" y="4471416"/>
            <a:ext cx="2697480" cy="146304"/>
          </a:xfrm>
          <a:prstGeom prst="rect">
            <a:avLst/>
          </a:prstGeom>
          <a:solidFill>
            <a:srgbClr val="EDE7F6"/>
          </a:solidFill>
          <a:ln w="12700">
            <a:solidFill>
              <a:srgbClr val="5E35B1"/>
            </a:solidFill>
          </a:ln>
          <a:effectLst/>
        </p:spPr>
        <p:txBody>
          <a:bodyPr rtlCol="0" anchor="ctr" wrap="square" lIns="36576" tIns="18288" rIns="36576" bIns="18288"/>
          <a:lstStyle/>
          <a:p>
            <a:pPr algn="ctr"/>
            <a:r>
              <a:rPr sz="650" b="1">
                <a:solidFill>
                  <a:srgbClr val="5E35B1"/>
                </a:solidFill>
                <a:latin typeface="맑은 고딕"/>
                <a:ea typeface="맑은 고딕"/>
              </a:rPr>
              <a:t>디자인 패턴 3개: 1안 문제에 대응 (Strategy·Decorator·Adapter)</a:t>
            </a:r>
          </a:p>
        </p:txBody>
      </p:sp>
      <p:sp>
        <p:nvSpPr>
          <p:cNvPr id="232" name="Rectangle 231"/>
          <p:cNvSpPr/>
          <p:nvPr/>
        </p:nvSpPr>
        <p:spPr>
          <a:xfrm>
            <a:off x="10972800" y="4471416"/>
            <a:ext cx="868680" cy="146304"/>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33" name="TextBox 232"/>
          <p:cNvSpPr txBox="1"/>
          <p:nvPr/>
        </p:nvSpPr>
        <p:spPr>
          <a:xfrm>
            <a:off x="1188720" y="4636008"/>
            <a:ext cx="10698480" cy="128016"/>
          </a:xfrm>
          <a:prstGeom prst="rect">
            <a:avLst/>
          </a:prstGeom>
          <a:noFill/>
        </p:spPr>
        <p:txBody>
          <a:bodyPr wrap="square" anchor="t" lIns="0" tIns="0" rIns="0" bIns="0">
            <a:spAutoFit/>
          </a:bodyPr>
          <a:lstStyle/>
          <a:p>
            <a:pPr algn="l"/>
            <a:r>
              <a:rPr sz="650" b="0">
                <a:solidFill>
                  <a:srgbClr val="404040"/>
                </a:solidFill>
                <a:latin typeface="맑은 고딕"/>
                <a:ea typeface="맑은 고딕"/>
              </a:rPr>
              <a:t>① 요청 ② 결정 요청(1안: 프록시 → Router 원격 호출 1회 / 2안: 프로세스 내부 호출) ③ 선택·P/D 전달 ④ 서버 간 KV 전송(NIXL) ⑤ KV 이벤트·메트릭 ⑥ 상태 조회 ⑦ 서버 발견</a:t>
            </a:r>
          </a:p>
        </p:txBody>
      </p:sp>
      <p:sp>
        <p:nvSpPr>
          <p:cNvPr id="234" name="Rectangle 233"/>
          <p:cNvSpPr/>
          <p:nvPr/>
        </p:nvSpPr>
        <p:spPr>
          <a:xfrm>
            <a:off x="246888" y="4800600"/>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548235"/>
                </a:solidFill>
                <a:latin typeface="맑은 고딕"/>
                <a:ea typeface="맑은 고딕"/>
              </a:rPr>
              <a:t>장점</a:t>
            </a:r>
          </a:p>
        </p:txBody>
      </p:sp>
      <p:sp>
        <p:nvSpPr>
          <p:cNvPr id="235" name="Rectangle 234"/>
          <p:cNvSpPr/>
          <p:nvPr/>
        </p:nvSpPr>
        <p:spPr>
          <a:xfrm>
            <a:off x="1115568" y="4800600"/>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검증된 OSS 재사용: 요청 경로·KV 인덱스·흐름 제어 (P1~P4 plugin 실행 확인 [A])</a:t>
            </a:r>
          </a:p>
          <a:p>
            <a:pPr algn="l"/>
            <a:r>
              <a:rPr sz="750" b="0">
                <a:solidFill>
                  <a:srgbClr val="000000"/>
                </a:solidFill>
                <a:latin typeface="맑은 고딕"/>
                <a:ea typeface="맑은 고딕"/>
              </a:rPr>
              <a:t>▪ 서버 풀 자동 발견·복제로 서버 증설에 유리 (K8s)</a:t>
            </a:r>
          </a:p>
          <a:p>
            <a:pPr algn="l"/>
            <a:r>
              <a:rPr sz="750" b="0">
                <a:solidFill>
                  <a:srgbClr val="000000"/>
                </a:solidFill>
                <a:latin typeface="맑은 고딕"/>
                <a:ea typeface="맑은 고딕"/>
              </a:rPr>
              <a:t>▪ 구현·유지 부담 적음: 우리 소유 3/6 블록, 계약·신기능은 OSS가 추종</a:t>
            </a:r>
          </a:p>
        </p:txBody>
      </p:sp>
      <p:sp>
        <p:nvSpPr>
          <p:cNvPr id="236" name="Rectangle 235"/>
          <p:cNvSpPr/>
          <p:nvPr/>
        </p:nvSpPr>
        <p:spPr>
          <a:xfrm>
            <a:off x="6510528" y="4800600"/>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한 프로세스 내부 호출: 원격 호출·보조 프로세스 경유 없음 (지연 유리, 가설)</a:t>
            </a:r>
          </a:p>
          <a:p>
            <a:pPr algn="l"/>
            <a:r>
              <a:rPr sz="750" b="0">
                <a:solidFill>
                  <a:srgbClr val="000000"/>
                </a:solidFill>
                <a:latin typeface="맑은 고딕"/>
                <a:ea typeface="맑은 고딕"/>
              </a:rPr>
              <a:t>▪ Strategy·Decorator로 정책·지시를 갈아 끼움: 비용 함수·P/D 정책·노드 지시를 한 코드베이스에서 변경, P/D 경로 P5도 덮어쓰기 없이 전달</a:t>
            </a:r>
          </a:p>
          <a:p>
            <a:pPr algn="l"/>
            <a:r>
              <a:rPr sz="750" b="0">
                <a:solidFill>
                  <a:srgbClr val="000000"/>
                </a:solidFill>
                <a:latin typeface="맑은 고딕"/>
                <a:ea typeface="맑은 고딕"/>
              </a:rPr>
              <a:t>▪ Adapter로 vLLM 계약 변경을 격리, OSS 내부 동작 의존 없음, K8s·프록시 불필요</a:t>
            </a:r>
          </a:p>
        </p:txBody>
      </p:sp>
      <p:sp>
        <p:nvSpPr>
          <p:cNvPr id="237" name="Rectangle 236"/>
          <p:cNvSpPr/>
          <p:nvPr/>
        </p:nvSpPr>
        <p:spPr>
          <a:xfrm>
            <a:off x="246888" y="5404104"/>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C00000"/>
                </a:solidFill>
                <a:latin typeface="맑은 고딕"/>
                <a:ea typeface="맑은 고딕"/>
              </a:rPr>
              <a:t>단점</a:t>
            </a:r>
          </a:p>
        </p:txBody>
      </p:sp>
      <p:sp>
        <p:nvSpPr>
          <p:cNvPr id="238" name="Rectangle 237"/>
          <p:cNvSpPr/>
          <p:nvPr/>
        </p:nvSpPr>
        <p:spPr>
          <a:xfrm>
            <a:off x="1115568" y="5404104"/>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프록시 → Router 원격 호출 1회 + 보조 프로세스 경유 → TTFT 증가 (가설)</a:t>
            </a:r>
          </a:p>
          <a:p>
            <a:pPr algn="l"/>
            <a:r>
              <a:rPr sz="750" b="0">
                <a:solidFill>
                  <a:srgbClr val="000000"/>
                </a:solidFill>
                <a:latin typeface="맑은 고딕"/>
                <a:ea typeface="맑은 고딕"/>
              </a:rPr>
              <a:t>▪ P/D 경로 노드 지시(P5)는 보조 프로세스 수정(patch), wrapper는 OSS 동작에 의존</a:t>
            </a:r>
          </a:p>
          <a:p>
            <a:pPr algn="l"/>
            <a:r>
              <a:rPr sz="750" b="0">
                <a:solidFill>
                  <a:srgbClr val="000000"/>
                </a:solidFill>
                <a:latin typeface="맑은 고딕"/>
                <a:ea typeface="맑은 고딕"/>
              </a:rPr>
              <a:t>▪ K8s·프록시·자체 Router 이미지 운영 부담</a:t>
            </a:r>
          </a:p>
        </p:txBody>
      </p:sp>
      <p:sp>
        <p:nvSpPr>
          <p:cNvPr id="239" name="Rectangle 238"/>
          <p:cNvSpPr/>
          <p:nvPr/>
        </p:nvSpPr>
        <p:spPr>
          <a:xfrm>
            <a:off x="6510528" y="5404104"/>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6개 블록 전부 직접 구현·유지 (레플리카·LB·HA·흐름 제어 포함), 설계안뿐</a:t>
            </a:r>
          </a:p>
          <a:p>
            <a:pPr algn="l"/>
            <a:r>
              <a:rPr sz="750" b="0">
                <a:solidFill>
                  <a:srgbClr val="000000"/>
                </a:solidFill>
                <a:latin typeface="맑은 고딕"/>
                <a:ea typeface="맑은 고딕"/>
              </a:rPr>
              <a:t>▪ vLLM·NIXL 계약 추종·신기능은 우리 몫 (Adapter는 격리일 뿐 대신해 주지 않음)</a:t>
            </a:r>
          </a:p>
          <a:p>
            <a:pPr algn="l"/>
            <a:r>
              <a:rPr sz="750" b="0">
                <a:solidFill>
                  <a:srgbClr val="000000"/>
                </a:solidFill>
                <a:latin typeface="맑은 고딕"/>
                <a:ea typeface="맑은 고딕"/>
              </a:rPr>
              <a:t>▪ Router가 P/D 경로 안 → 병목·SPOF 위험, 확장성은 직접 구축·미검증</a:t>
            </a:r>
          </a:p>
        </p:txBody>
      </p:sp>
      <p:sp>
        <p:nvSpPr>
          <p:cNvPr id="240" name="TextBox 239"/>
          <p:cNvSpPr txBox="1"/>
          <p:nvPr/>
        </p:nvSpPr>
        <p:spPr>
          <a:xfrm>
            <a:off x="246888" y="6044184"/>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2안은 설계안이며 구현되지 않았다(구현량·성능은 추정). 근거 수준 [C] 구조 논증, [A] = llm-d 합성 백엔드 실행. 용어: P/D = Prefill(입력 처리)/Decode(응답 생성) 분리 · plugin = 기존 코드를 안 고치고 끼우는 확장 모듈</a:t>
            </a:r>
          </a:p>
        </p:txBody>
      </p:sp>
      <p:sp>
        <p:nvSpPr>
          <p:cNvPr id="241" name="TextBox 240"/>
          <p:cNvSpPr txBox="1"/>
          <p:nvPr/>
        </p:nvSpPr>
        <p:spPr>
          <a:xfrm>
            <a:off x="246888" y="617220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★P5 = 지시의 '송신'(오케스트레이션 범위). 수신·실행은 vLLM(엔진) 공통 선결(C5 접점 계약). P/D 보조 프로세스는 엔진이 아니라 오케스트레이션 소프트웨어다. 디자인 패턴(1안 문제와 연결): Strategy = 정책 교체(1안 plugin에 대응), Decorator = P5 지시 조립(1안 P/D 경로 덮어쓰기 해결), Adapter = vLLM 계약 격리(1안 OSS 동작 의존 해결). 박스는 프로세스가 아니라 한 프로세스 안의 모듈이고, 프로세스 경계는 굵은 바깥 박스.</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변경 용이성 (Q3) 시나리오 S1~S6</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요구가 바뀔 때 무엇을 바꾸는가: 흡수(1안) 대 통제(2안)</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228600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시나리오</a:t>
            </a:r>
          </a:p>
        </p:txBody>
      </p:sp>
      <p:sp>
        <p:nvSpPr>
          <p:cNvPr id="103" name="Rectangle 102"/>
          <p:cNvSpPr/>
          <p:nvPr/>
        </p:nvSpPr>
        <p:spPr>
          <a:xfrm>
            <a:off x="2532888" y="1042415"/>
            <a:ext cx="4023360" cy="274320"/>
          </a:xfrm>
          <a:prstGeom prst="rect">
            <a:avLst/>
          </a:prstGeom>
          <a:solidFill>
            <a:srgbClr val="2F5597"/>
          </a:solidFill>
          <a:ln w="12700">
            <a:solidFill>
              <a:srgbClr val="2F5597"/>
            </a:solidFill>
          </a:ln>
          <a:effectLst/>
        </p:spPr>
        <p:txBody>
          <a:bodyPr rtlCol="0" anchor="ctr" wrap="square" lIns="36576" tIns="18288" rIns="36576" bIns="18288"/>
          <a:lstStyle/>
          <a:p>
            <a:pPr algn="ctr"/>
            <a:r>
              <a:rPr sz="900" b="1">
                <a:solidFill>
                  <a:srgbClr val="FFFFFF"/>
                </a:solidFill>
                <a:latin typeface="맑은 고딕"/>
                <a:ea typeface="맑은 고딕"/>
              </a:rPr>
              <a:t>(1안) OSS 확장: 무엇을 바꾸나</a:t>
            </a:r>
          </a:p>
        </p:txBody>
      </p:sp>
      <p:sp>
        <p:nvSpPr>
          <p:cNvPr id="104" name="Rectangle 103"/>
          <p:cNvSpPr/>
          <p:nvPr/>
        </p:nvSpPr>
        <p:spPr>
          <a:xfrm>
            <a:off x="6556248" y="1042415"/>
            <a:ext cx="4023360" cy="274320"/>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(2안) 자체 구현: 무엇을 바꾸나</a:t>
            </a:r>
          </a:p>
        </p:txBody>
      </p:sp>
      <p:sp>
        <p:nvSpPr>
          <p:cNvPr id="105" name="Rectangle 104"/>
          <p:cNvSpPr/>
          <p:nvPr/>
        </p:nvSpPr>
        <p:spPr>
          <a:xfrm>
            <a:off x="10579608" y="1042415"/>
            <a:ext cx="141732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변경 비용 우위</a:t>
            </a:r>
          </a:p>
        </p:txBody>
      </p:sp>
      <p:sp>
        <p:nvSpPr>
          <p:cNvPr id="106" name="Rectangle 105"/>
          <p:cNvSpPr/>
          <p:nvPr/>
        </p:nvSpPr>
        <p:spPr>
          <a:xfrm>
            <a:off x="246888" y="1316736"/>
            <a:ext cx="2286000" cy="585216"/>
          </a:xfrm>
          <a:prstGeom prst="rect">
            <a:avLst/>
          </a:prstGeom>
          <a:solidFill>
            <a:srgbClr val="F2F2F2"/>
          </a:solidFill>
          <a:ln w="6350">
            <a:solidFill>
              <a:srgbClr val="BFBFBF"/>
            </a:solidFill>
          </a:ln>
          <a:effectLst/>
        </p:spPr>
        <p:txBody>
          <a:bodyPr rtlCol="0" anchor="ctr"/>
          <a:lstStyle/>
          <a:p>
            <a:pPr algn="ctr"/>
          </a:p>
        </p:txBody>
      </p:sp>
      <p:sp>
        <p:nvSpPr>
          <p:cNvPr id="107" name="TextBox 106"/>
          <p:cNvSpPr txBox="1"/>
          <p:nvPr/>
        </p:nvSpPr>
        <p:spPr>
          <a:xfrm>
            <a:off x="320040" y="138074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S1</a:t>
            </a:r>
          </a:p>
        </p:txBody>
      </p:sp>
      <p:sp>
        <p:nvSpPr>
          <p:cNvPr id="108" name="TextBox 107"/>
          <p:cNvSpPr txBox="1"/>
          <p:nvPr/>
        </p:nvSpPr>
        <p:spPr>
          <a:xfrm>
            <a:off x="749808" y="138988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새 tier 매체 추가</a:t>
            </a:r>
          </a:p>
          <a:p>
            <a:pPr algn="l"/>
            <a:r>
              <a:rPr sz="750" b="0">
                <a:solidFill>
                  <a:srgbClr val="404040"/>
                </a:solidFill>
                <a:latin typeface="맑은 고딕"/>
                <a:ea typeface="맑은 고딕"/>
              </a:rPr>
              <a:t>예: CXL·HBF를 점수에 반영</a:t>
            </a:r>
          </a:p>
        </p:txBody>
      </p:sp>
      <p:sp>
        <p:nvSpPr>
          <p:cNvPr id="109" name="Rectangle 108"/>
          <p:cNvSpPr/>
          <p:nvPr/>
        </p:nvSpPr>
        <p:spPr>
          <a:xfrm>
            <a:off x="253288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0" name="Rectangle 109"/>
          <p:cNvSpPr/>
          <p:nvPr/>
        </p:nvSpPr>
        <p:spPr>
          <a:xfrm>
            <a:off x="2606040" y="1380744"/>
            <a:ext cx="749808" cy="182880"/>
          </a:xfrm>
          <a:prstGeom prst="rect">
            <a:avLst/>
          </a:prstGeom>
          <a:solidFill>
            <a:srgbClr val="FFF2CC"/>
          </a:solidFill>
          <a:ln w="15875">
            <a:solidFill>
              <a:srgbClr val="BF9000"/>
            </a:solidFill>
            <a:prstDash val="dash"/>
          </a:ln>
          <a:effectLst/>
        </p:spPr>
        <p:txBody>
          <a:bodyPr rtlCol="0" anchor="ctr" wrap="square" lIns="18288" tIns="0" rIns="18288" bIns="0"/>
          <a:lstStyle/>
          <a:p>
            <a:pPr algn="ctr"/>
            <a:r>
              <a:rPr sz="750" b="1">
                <a:solidFill>
                  <a:srgbClr val="000000"/>
                </a:solidFill>
                <a:latin typeface="맑은 고딕"/>
                <a:ea typeface="맑은 고딕"/>
              </a:rPr>
              <a:t>설정</a:t>
            </a:r>
          </a:p>
        </p:txBody>
      </p:sp>
      <p:sp>
        <p:nvSpPr>
          <p:cNvPr id="111" name="TextBox 110"/>
          <p:cNvSpPr txBox="1"/>
          <p:nvPr/>
        </p:nvSpPr>
        <p:spPr>
          <a:xfrm>
            <a:off x="342900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메모리 종류 가중치 표에 이름·값만 추가. 재빌드 불필요 (기본 목록 밖 이름은 가중치 설정 필요)</a:t>
            </a:r>
          </a:p>
        </p:txBody>
      </p:sp>
      <p:sp>
        <p:nvSpPr>
          <p:cNvPr id="112" name="Rectangle 111"/>
          <p:cNvSpPr/>
          <p:nvPr/>
        </p:nvSpPr>
        <p:spPr>
          <a:xfrm>
            <a:off x="655624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3" name="Rectangle 112"/>
          <p:cNvSpPr/>
          <p:nvPr/>
        </p:nvSpPr>
        <p:spPr>
          <a:xfrm>
            <a:off x="6629400" y="138074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14" name="TextBox 113"/>
          <p:cNvSpPr txBox="1"/>
          <p:nvPr/>
        </p:nvSpPr>
        <p:spPr>
          <a:xfrm>
            <a:off x="745236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Store 가중치 테이블 + Scorer 코드 수정, 재배포 (소규모)</a:t>
            </a:r>
          </a:p>
        </p:txBody>
      </p:sp>
      <p:sp>
        <p:nvSpPr>
          <p:cNvPr id="115" name="Rectangle 114"/>
          <p:cNvSpPr/>
          <p:nvPr/>
        </p:nvSpPr>
        <p:spPr>
          <a:xfrm>
            <a:off x="10579608" y="131673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(설정만)</a:t>
            </a:r>
          </a:p>
        </p:txBody>
      </p:sp>
      <p:sp>
        <p:nvSpPr>
          <p:cNvPr id="116" name="Rectangle 115"/>
          <p:cNvSpPr/>
          <p:nvPr/>
        </p:nvSpPr>
        <p:spPr>
          <a:xfrm>
            <a:off x="246888" y="1901952"/>
            <a:ext cx="2286000" cy="585216"/>
          </a:xfrm>
          <a:prstGeom prst="rect">
            <a:avLst/>
          </a:prstGeom>
          <a:solidFill>
            <a:srgbClr val="F2F2F2"/>
          </a:solidFill>
          <a:ln w="6350">
            <a:solidFill>
              <a:srgbClr val="BFBFBF"/>
            </a:solidFill>
          </a:ln>
          <a:effectLst/>
        </p:spPr>
        <p:txBody>
          <a:bodyPr rtlCol="0" anchor="ctr"/>
          <a:lstStyle/>
          <a:p>
            <a:pPr algn="ctr"/>
          </a:p>
        </p:txBody>
      </p:sp>
      <p:sp>
        <p:nvSpPr>
          <p:cNvPr id="117" name="TextBox 116"/>
          <p:cNvSpPr txBox="1"/>
          <p:nvPr/>
        </p:nvSpPr>
        <p:spPr>
          <a:xfrm>
            <a:off x="320040" y="1965960"/>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S2</a:t>
            </a:r>
          </a:p>
        </p:txBody>
      </p:sp>
      <p:sp>
        <p:nvSpPr>
          <p:cNvPr id="118" name="TextBox 117"/>
          <p:cNvSpPr txBox="1"/>
          <p:nvPr/>
        </p:nvSpPr>
        <p:spPr>
          <a:xfrm>
            <a:off x="749808" y="1975104"/>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비용 함수 교체</a:t>
            </a:r>
          </a:p>
          <a:p>
            <a:pPr algn="l"/>
            <a:r>
              <a:rPr sz="750" b="0">
                <a:solidFill>
                  <a:srgbClr val="404040"/>
                </a:solidFill>
                <a:latin typeface="맑은 고딕"/>
                <a:ea typeface="맑은 고딕"/>
              </a:rPr>
              <a:t>재계산 비용 대 tier 전송 비용</a:t>
            </a:r>
          </a:p>
        </p:txBody>
      </p:sp>
      <p:sp>
        <p:nvSpPr>
          <p:cNvPr id="119" name="Rectangle 118"/>
          <p:cNvSpPr/>
          <p:nvPr/>
        </p:nvSpPr>
        <p:spPr>
          <a:xfrm>
            <a:off x="253288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0" name="Rectangle 119"/>
          <p:cNvSpPr/>
          <p:nvPr/>
        </p:nvSpPr>
        <p:spPr>
          <a:xfrm>
            <a:off x="2606040" y="1965960"/>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21" name="TextBox 120"/>
          <p:cNvSpPr txBox="1"/>
          <p:nvPr/>
        </p:nvSpPr>
        <p:spPr>
          <a:xfrm>
            <a:off x="342900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Scorer 플러그인 교체. 별도 Router 이미지를 빌드·배포해야 함</a:t>
            </a:r>
          </a:p>
        </p:txBody>
      </p:sp>
      <p:sp>
        <p:nvSpPr>
          <p:cNvPr id="122" name="Rectangle 121"/>
          <p:cNvSpPr/>
          <p:nvPr/>
        </p:nvSpPr>
        <p:spPr>
          <a:xfrm>
            <a:off x="655624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3" name="Rectangle 122"/>
          <p:cNvSpPr/>
          <p:nvPr/>
        </p:nvSpPr>
        <p:spPr>
          <a:xfrm>
            <a:off x="6629400" y="1965960"/>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24" name="TextBox 123"/>
          <p:cNvSpPr txBox="1"/>
          <p:nvPr/>
        </p:nvSpPr>
        <p:spPr>
          <a:xfrm>
            <a:off x="745236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 Strategy 구현체 교체. 한 저장소·한 배포</a:t>
            </a:r>
          </a:p>
        </p:txBody>
      </p:sp>
      <p:sp>
        <p:nvSpPr>
          <p:cNvPr id="125" name="Rectangle 124"/>
          <p:cNvSpPr/>
          <p:nvPr/>
        </p:nvSpPr>
        <p:spPr>
          <a:xfrm>
            <a:off x="10579608" y="1901952"/>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 (소폭)</a:t>
            </a:r>
          </a:p>
        </p:txBody>
      </p:sp>
      <p:sp>
        <p:nvSpPr>
          <p:cNvPr id="126" name="Rectangle 125"/>
          <p:cNvSpPr/>
          <p:nvPr/>
        </p:nvSpPr>
        <p:spPr>
          <a:xfrm>
            <a:off x="246888" y="2487168"/>
            <a:ext cx="2286000" cy="585216"/>
          </a:xfrm>
          <a:prstGeom prst="rect">
            <a:avLst/>
          </a:prstGeom>
          <a:solidFill>
            <a:srgbClr val="F2F2F2"/>
          </a:solidFill>
          <a:ln w="6350">
            <a:solidFill>
              <a:srgbClr val="BFBFBF"/>
            </a:solidFill>
          </a:ln>
          <a:effectLst/>
        </p:spPr>
        <p:txBody>
          <a:bodyPr rtlCol="0" anchor="ctr"/>
          <a:lstStyle/>
          <a:p>
            <a:pPr algn="ctr"/>
          </a:p>
        </p:txBody>
      </p:sp>
      <p:sp>
        <p:nvSpPr>
          <p:cNvPr id="127" name="TextBox 126"/>
          <p:cNvSpPr txBox="1"/>
          <p:nvPr/>
        </p:nvSpPr>
        <p:spPr>
          <a:xfrm>
            <a:off x="320040" y="2551176"/>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S3</a:t>
            </a:r>
          </a:p>
        </p:txBody>
      </p:sp>
      <p:sp>
        <p:nvSpPr>
          <p:cNvPr id="128" name="TextBox 127"/>
          <p:cNvSpPr txBox="1"/>
          <p:nvPr/>
        </p:nvSpPr>
        <p:spPr>
          <a:xfrm>
            <a:off x="749808" y="2560320"/>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P/D 결정 정책 교체</a:t>
            </a:r>
          </a:p>
          <a:p>
            <a:pPr algn="l"/>
            <a:r>
              <a:rPr sz="750" b="0">
                <a:solidFill>
                  <a:srgbClr val="404040"/>
                </a:solidFill>
                <a:latin typeface="맑은 고딕"/>
                <a:ea typeface="맑은 고딕"/>
              </a:rPr>
              <a:t>prefill/decode 분리 기준 변경</a:t>
            </a:r>
          </a:p>
        </p:txBody>
      </p:sp>
      <p:sp>
        <p:nvSpPr>
          <p:cNvPr id="129" name="Rectangle 128"/>
          <p:cNvSpPr/>
          <p:nvPr/>
        </p:nvSpPr>
        <p:spPr>
          <a:xfrm>
            <a:off x="253288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2606040" y="2551176"/>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31" name="TextBox 130"/>
          <p:cNvSpPr txBox="1"/>
          <p:nvPr/>
        </p:nvSpPr>
        <p:spPr>
          <a:xfrm>
            <a:off x="342900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 판단 wrapper 교체. 기존 모듈의 동작에 의존 → 업스트림 변경 시 깨질 수 있음</a:t>
            </a:r>
          </a:p>
        </p:txBody>
      </p:sp>
      <p:sp>
        <p:nvSpPr>
          <p:cNvPr id="132" name="Rectangle 131"/>
          <p:cNvSpPr/>
          <p:nvPr/>
        </p:nvSpPr>
        <p:spPr>
          <a:xfrm>
            <a:off x="655624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3" name="Rectangle 132"/>
          <p:cNvSpPr/>
          <p:nvPr/>
        </p:nvSpPr>
        <p:spPr>
          <a:xfrm>
            <a:off x="6629400" y="2551176"/>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34" name="TextBox 133"/>
          <p:cNvSpPr txBox="1"/>
          <p:nvPr/>
        </p:nvSpPr>
        <p:spPr>
          <a:xfrm>
            <a:off x="745236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PDPlan Strategy 구현체 교체</a:t>
            </a:r>
          </a:p>
        </p:txBody>
      </p:sp>
      <p:sp>
        <p:nvSpPr>
          <p:cNvPr id="135" name="Rectangle 134"/>
          <p:cNvSpPr/>
          <p:nvPr/>
        </p:nvSpPr>
        <p:spPr>
          <a:xfrm>
            <a:off x="10579608" y="2487168"/>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36" name="Rectangle 135"/>
          <p:cNvSpPr/>
          <p:nvPr/>
        </p:nvSpPr>
        <p:spPr>
          <a:xfrm>
            <a:off x="246888" y="3072384"/>
            <a:ext cx="2286000" cy="585216"/>
          </a:xfrm>
          <a:prstGeom prst="rect">
            <a:avLst/>
          </a:prstGeom>
          <a:solidFill>
            <a:srgbClr val="F2F2F2"/>
          </a:solidFill>
          <a:ln w="6350">
            <a:solidFill>
              <a:srgbClr val="BFBFBF"/>
            </a:solidFill>
          </a:ln>
          <a:effectLst/>
        </p:spPr>
        <p:txBody>
          <a:bodyPr rtlCol="0" anchor="ctr"/>
          <a:lstStyle/>
          <a:p>
            <a:pPr algn="ctr"/>
          </a:p>
        </p:txBody>
      </p:sp>
      <p:sp>
        <p:nvSpPr>
          <p:cNvPr id="137" name="TextBox 136"/>
          <p:cNvSpPr txBox="1"/>
          <p:nvPr/>
        </p:nvSpPr>
        <p:spPr>
          <a:xfrm>
            <a:off x="320040" y="3136392"/>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S4</a:t>
            </a:r>
          </a:p>
        </p:txBody>
      </p:sp>
      <p:sp>
        <p:nvSpPr>
          <p:cNvPr id="138" name="TextBox 137"/>
          <p:cNvSpPr txBox="1"/>
          <p:nvPr/>
        </p:nvSpPr>
        <p:spPr>
          <a:xfrm>
            <a:off x="749808" y="3145536"/>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노드 지시 항목 추가</a:t>
            </a:r>
          </a:p>
          <a:p>
            <a:pPr algn="l"/>
            <a:r>
              <a:rPr sz="750" b="0">
                <a:solidFill>
                  <a:srgbClr val="404040"/>
                </a:solidFill>
                <a:latin typeface="맑은 고딕"/>
                <a:ea typeface="맑은 고딕"/>
              </a:rPr>
              <a:t>예: 새 지시 키를 vLLM에 전달</a:t>
            </a:r>
          </a:p>
        </p:txBody>
      </p:sp>
      <p:sp>
        <p:nvSpPr>
          <p:cNvPr id="139" name="Rectangle 138"/>
          <p:cNvSpPr/>
          <p:nvPr/>
        </p:nvSpPr>
        <p:spPr>
          <a:xfrm>
            <a:off x="253288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0" name="Rectangle 139"/>
          <p:cNvSpPr/>
          <p:nvPr/>
        </p:nvSpPr>
        <p:spPr>
          <a:xfrm>
            <a:off x="2606040" y="3136392"/>
            <a:ext cx="749808" cy="182880"/>
          </a:xfrm>
          <a:prstGeom prst="rect">
            <a:avLst/>
          </a:prstGeom>
          <a:solidFill>
            <a:srgbClr val="FFFFFF"/>
          </a:solidFill>
          <a:ln w="19050">
            <a:solidFill>
              <a:srgbClr val="C00000"/>
            </a:solidFill>
          </a:ln>
          <a:effectLst/>
        </p:spPr>
        <p:txBody>
          <a:bodyPr rtlCol="0" anchor="ctr" wrap="square" lIns="18288" tIns="0" rIns="18288" bIns="0"/>
          <a:lstStyle/>
          <a:p>
            <a:pPr algn="ctr"/>
            <a:r>
              <a:rPr sz="750" b="1">
                <a:solidFill>
                  <a:srgbClr val="000000"/>
                </a:solidFill>
                <a:latin typeface="맑은 고딕"/>
                <a:ea typeface="맑은 고딕"/>
              </a:rPr>
              <a:t>수정</a:t>
            </a:r>
          </a:p>
        </p:txBody>
      </p:sp>
      <p:sp>
        <p:nvSpPr>
          <p:cNvPr id="141" name="TextBox 140"/>
          <p:cNvSpPr txBox="1"/>
          <p:nvPr/>
        </p:nvSpPr>
        <p:spPr>
          <a:xfrm>
            <a:off x="342900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일반 경로는 plugin, P/D 경로는 P/D 보조 프로세스를 수정(patch)해야 함</a:t>
            </a:r>
          </a:p>
        </p:txBody>
      </p:sp>
      <p:sp>
        <p:nvSpPr>
          <p:cNvPr id="142" name="Rectangle 141"/>
          <p:cNvSpPr/>
          <p:nvPr/>
        </p:nvSpPr>
        <p:spPr>
          <a:xfrm>
            <a:off x="655624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3" name="Rectangle 142"/>
          <p:cNvSpPr/>
          <p:nvPr/>
        </p:nvSpPr>
        <p:spPr>
          <a:xfrm>
            <a:off x="6629400" y="3136392"/>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44" name="TextBox 143"/>
          <p:cNvSpPr txBox="1"/>
          <p:nvPr/>
        </p:nvSpPr>
        <p:spPr>
          <a:xfrm>
            <a:off x="745236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Directive Builder에 항목 추가 (경로 구분 없음)</a:t>
            </a:r>
          </a:p>
        </p:txBody>
      </p:sp>
      <p:sp>
        <p:nvSpPr>
          <p:cNvPr id="145" name="Rectangle 144"/>
          <p:cNvSpPr/>
          <p:nvPr/>
        </p:nvSpPr>
        <p:spPr>
          <a:xfrm>
            <a:off x="10579608" y="3072384"/>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46" name="Rectangle 145"/>
          <p:cNvSpPr/>
          <p:nvPr/>
        </p:nvSpPr>
        <p:spPr>
          <a:xfrm>
            <a:off x="246888" y="3657600"/>
            <a:ext cx="2286000" cy="585216"/>
          </a:xfrm>
          <a:prstGeom prst="rect">
            <a:avLst/>
          </a:prstGeom>
          <a:solidFill>
            <a:srgbClr val="F2F2F2"/>
          </a:solidFill>
          <a:ln w="6350">
            <a:solidFill>
              <a:srgbClr val="BFBFBF"/>
            </a:solidFill>
          </a:ln>
          <a:effectLst/>
        </p:spPr>
        <p:txBody>
          <a:bodyPr rtlCol="0" anchor="ctr"/>
          <a:lstStyle/>
          <a:p>
            <a:pPr algn="ctr"/>
          </a:p>
        </p:txBody>
      </p:sp>
      <p:sp>
        <p:nvSpPr>
          <p:cNvPr id="147" name="TextBox 146"/>
          <p:cNvSpPr txBox="1"/>
          <p:nvPr/>
        </p:nvSpPr>
        <p:spPr>
          <a:xfrm>
            <a:off x="320040" y="3721608"/>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S5</a:t>
            </a:r>
          </a:p>
        </p:txBody>
      </p:sp>
      <p:sp>
        <p:nvSpPr>
          <p:cNvPr id="148" name="TextBox 147"/>
          <p:cNvSpPr txBox="1"/>
          <p:nvPr/>
        </p:nvSpPr>
        <p:spPr>
          <a:xfrm>
            <a:off x="749808" y="3730752"/>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vLLM·NIXL 계약 변경 대응</a:t>
            </a:r>
          </a:p>
          <a:p>
            <a:pPr algn="l"/>
            <a:r>
              <a:rPr sz="750" b="0">
                <a:solidFill>
                  <a:srgbClr val="404040"/>
                </a:solidFill>
                <a:latin typeface="맑은 고딕"/>
                <a:ea typeface="맑은 고딕"/>
              </a:rPr>
              <a:t>이벤트·메트릭·전송 정보 형식이 바뀜</a:t>
            </a:r>
          </a:p>
        </p:txBody>
      </p:sp>
      <p:sp>
        <p:nvSpPr>
          <p:cNvPr id="149" name="Rectangle 148"/>
          <p:cNvSpPr/>
          <p:nvPr/>
        </p:nvSpPr>
        <p:spPr>
          <a:xfrm>
            <a:off x="253288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0" name="Rectangle 149"/>
          <p:cNvSpPr/>
          <p:nvPr/>
        </p:nvSpPr>
        <p:spPr>
          <a:xfrm>
            <a:off x="2606040" y="3721608"/>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51" name="TextBox 150"/>
          <p:cNvSpPr txBox="1"/>
          <p:nvPr/>
        </p:nvSpPr>
        <p:spPr>
          <a:xfrm>
            <a:off x="342900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상태 계층·보조 프로세스를 추종. 우리 plugin·수정분만 재적용·재검증</a:t>
            </a:r>
          </a:p>
        </p:txBody>
      </p:sp>
      <p:sp>
        <p:nvSpPr>
          <p:cNvPr id="152" name="Rectangle 151"/>
          <p:cNvSpPr/>
          <p:nvPr/>
        </p:nvSpPr>
        <p:spPr>
          <a:xfrm>
            <a:off x="655624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3" name="Rectangle 152"/>
          <p:cNvSpPr/>
          <p:nvPr/>
        </p:nvSpPr>
        <p:spPr>
          <a:xfrm>
            <a:off x="6629400" y="3721608"/>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54" name="TextBox 153"/>
          <p:cNvSpPr txBox="1"/>
          <p:nvPr/>
        </p:nvSpPr>
        <p:spPr>
          <a:xfrm>
            <a:off x="745236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Plane·Dispatcher를 우리가 직접 추종</a:t>
            </a:r>
          </a:p>
        </p:txBody>
      </p:sp>
      <p:sp>
        <p:nvSpPr>
          <p:cNvPr id="155" name="Rectangle 154"/>
          <p:cNvSpPr/>
          <p:nvPr/>
        </p:nvSpPr>
        <p:spPr>
          <a:xfrm>
            <a:off x="10579608" y="3657600"/>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(부분)</a:t>
            </a:r>
          </a:p>
        </p:txBody>
      </p:sp>
      <p:sp>
        <p:nvSpPr>
          <p:cNvPr id="156" name="Rectangle 155"/>
          <p:cNvSpPr/>
          <p:nvPr/>
        </p:nvSpPr>
        <p:spPr>
          <a:xfrm>
            <a:off x="246888" y="4242816"/>
            <a:ext cx="2286000" cy="585216"/>
          </a:xfrm>
          <a:prstGeom prst="rect">
            <a:avLst/>
          </a:prstGeom>
          <a:solidFill>
            <a:srgbClr val="F2F2F2"/>
          </a:solidFill>
          <a:ln w="6350">
            <a:solidFill>
              <a:srgbClr val="BFBFBF"/>
            </a:solidFill>
          </a:ln>
          <a:effectLst/>
        </p:spPr>
        <p:txBody>
          <a:bodyPr rtlCol="0" anchor="ctr"/>
          <a:lstStyle/>
          <a:p>
            <a:pPr algn="ctr"/>
          </a:p>
        </p:txBody>
      </p:sp>
      <p:sp>
        <p:nvSpPr>
          <p:cNvPr id="157" name="TextBox 156"/>
          <p:cNvSpPr txBox="1"/>
          <p:nvPr/>
        </p:nvSpPr>
        <p:spPr>
          <a:xfrm>
            <a:off x="320040" y="430682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S6</a:t>
            </a:r>
          </a:p>
        </p:txBody>
      </p:sp>
      <p:sp>
        <p:nvSpPr>
          <p:cNvPr id="158" name="TextBox 157"/>
          <p:cNvSpPr txBox="1"/>
          <p:nvPr/>
        </p:nvSpPr>
        <p:spPr>
          <a:xfrm>
            <a:off x="749808" y="431596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신규 기능 추가</a:t>
            </a:r>
          </a:p>
          <a:p>
            <a:pPr algn="l"/>
            <a:r>
              <a:rPr sz="750" b="0">
                <a:solidFill>
                  <a:srgbClr val="404040"/>
                </a:solidFill>
                <a:latin typeface="맑은 고딕"/>
                <a:ea typeface="맑은 고딕"/>
              </a:rPr>
              <a:t>예: 흐름 제어 고도화, multi-cluster</a:t>
            </a:r>
          </a:p>
        </p:txBody>
      </p:sp>
      <p:sp>
        <p:nvSpPr>
          <p:cNvPr id="159" name="Rectangle 158"/>
          <p:cNvSpPr/>
          <p:nvPr/>
        </p:nvSpPr>
        <p:spPr>
          <a:xfrm>
            <a:off x="253288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0" name="Rectangle 159"/>
          <p:cNvSpPr/>
          <p:nvPr/>
        </p:nvSpPr>
        <p:spPr>
          <a:xfrm>
            <a:off x="2606040" y="4306824"/>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61" name="TextBox 160"/>
          <p:cNvSpPr txBox="1"/>
          <p:nvPr/>
        </p:nvSpPr>
        <p:spPr>
          <a:xfrm>
            <a:off x="342900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제공하는 기능을 설정으로 사용</a:t>
            </a:r>
          </a:p>
        </p:txBody>
      </p:sp>
      <p:sp>
        <p:nvSpPr>
          <p:cNvPr id="162" name="Rectangle 161"/>
          <p:cNvSpPr/>
          <p:nvPr/>
        </p:nvSpPr>
        <p:spPr>
          <a:xfrm>
            <a:off x="655624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3" name="Rectangle 162"/>
          <p:cNvSpPr/>
          <p:nvPr/>
        </p:nvSpPr>
        <p:spPr>
          <a:xfrm>
            <a:off x="6629400" y="430682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64" name="TextBox 163"/>
          <p:cNvSpPr txBox="1"/>
          <p:nvPr/>
        </p:nvSpPr>
        <p:spPr>
          <a:xfrm>
            <a:off x="745236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직접 구현</a:t>
            </a:r>
          </a:p>
        </p:txBody>
      </p:sp>
      <p:sp>
        <p:nvSpPr>
          <p:cNvPr id="165" name="Rectangle 164"/>
          <p:cNvSpPr/>
          <p:nvPr/>
        </p:nvSpPr>
        <p:spPr>
          <a:xfrm>
            <a:off x="10579608" y="424281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a:t>
            </a:r>
          </a:p>
        </p:txBody>
      </p:sp>
      <p:sp>
        <p:nvSpPr>
          <p:cNvPr id="166" name="Rectangle 165"/>
          <p:cNvSpPr/>
          <p:nvPr/>
        </p:nvSpPr>
        <p:spPr>
          <a:xfrm>
            <a:off x="246888" y="4937759"/>
            <a:ext cx="3794760" cy="502920"/>
          </a:xfrm>
          <a:prstGeom prst="rect">
            <a:avLst/>
          </a:prstGeom>
          <a:solidFill>
            <a:srgbClr val="DAE3F3"/>
          </a:solidFill>
          <a:ln w="15875">
            <a:solidFill>
              <a:srgbClr val="2F5597"/>
            </a:solidFill>
          </a:ln>
          <a:effectLst/>
        </p:spPr>
        <p:txBody>
          <a:bodyPr rtlCol="0" anchor="ctr" wrap="square" lIns="36576" tIns="18288" rIns="36576" bIns="18288"/>
          <a:lstStyle/>
          <a:p>
            <a:pPr algn="ctr"/>
            <a:r>
              <a:rPr sz="1000" b="1">
                <a:solidFill>
                  <a:srgbClr val="2F5597"/>
                </a:solidFill>
                <a:latin typeface="맑은 고딕"/>
                <a:ea typeface="맑은 고딕"/>
              </a:rPr>
              <a:t>1안 우위: S1 · S5 · S6</a:t>
            </a:r>
          </a:p>
          <a:p>
            <a:pPr algn="ctr"/>
            <a:r>
              <a:rPr sz="850" b="0">
                <a:solidFill>
                  <a:srgbClr val="000000"/>
                </a:solidFill>
                <a:latin typeface="맑은 고딕"/>
                <a:ea typeface="맑은 고딕"/>
              </a:rPr>
              <a:t>환경 변화·신기능을 OSS가 흡수</a:t>
            </a:r>
          </a:p>
        </p:txBody>
      </p:sp>
      <p:sp>
        <p:nvSpPr>
          <p:cNvPr id="167" name="Rectangle 166"/>
          <p:cNvSpPr/>
          <p:nvPr/>
        </p:nvSpPr>
        <p:spPr>
          <a:xfrm>
            <a:off x="4224527" y="4937759"/>
            <a:ext cx="3794760" cy="502920"/>
          </a:xfrm>
          <a:prstGeom prst="rect">
            <a:avLst/>
          </a:prstGeom>
          <a:solidFill>
            <a:srgbClr val="FBE5D6"/>
          </a:solidFill>
          <a:ln w="15875">
            <a:solidFill>
              <a:srgbClr val="C55A11"/>
            </a:solidFill>
          </a:ln>
          <a:effectLst/>
        </p:spPr>
        <p:txBody>
          <a:bodyPr rtlCol="0" anchor="ctr" wrap="square" lIns="36576" tIns="18288" rIns="36576" bIns="18288"/>
          <a:lstStyle/>
          <a:p>
            <a:pPr algn="ctr"/>
            <a:r>
              <a:rPr sz="1000" b="1">
                <a:solidFill>
                  <a:srgbClr val="C55A11"/>
                </a:solidFill>
                <a:latin typeface="맑은 고딕"/>
                <a:ea typeface="맑은 고딕"/>
              </a:rPr>
              <a:t>2안 우위: S2 · S3 · S4</a:t>
            </a:r>
          </a:p>
          <a:p>
            <a:pPr algn="ctr"/>
            <a:r>
              <a:rPr sz="850" b="0">
                <a:solidFill>
                  <a:srgbClr val="000000"/>
                </a:solidFill>
                <a:latin typeface="맑은 고딕"/>
                <a:ea typeface="맑은 고딕"/>
              </a:rPr>
              <a:t>우리 로직(비용 함수·P/D 정책·노드 지시)을 통제</a:t>
            </a:r>
          </a:p>
        </p:txBody>
      </p:sp>
      <p:sp>
        <p:nvSpPr>
          <p:cNvPr id="168" name="Rectangle 167"/>
          <p:cNvSpPr/>
          <p:nvPr/>
        </p:nvSpPr>
        <p:spPr>
          <a:xfrm>
            <a:off x="8202167" y="4937759"/>
            <a:ext cx="3794760" cy="502920"/>
          </a:xfrm>
          <a:prstGeom prst="rect">
            <a:avLst/>
          </a:prstGeom>
          <a:solidFill>
            <a:srgbClr val="FFFBEA"/>
          </a:solidFill>
          <a:ln w="15875">
            <a:solidFill>
              <a:srgbClr val="BF9000"/>
            </a:solidFill>
          </a:ln>
          <a:effectLst/>
        </p:spPr>
        <p:txBody>
          <a:bodyPr rtlCol="0" anchor="ctr" wrap="square" lIns="36576" tIns="18288" rIns="36576" bIns="18288"/>
          <a:lstStyle/>
          <a:p>
            <a:pPr algn="ctr"/>
            <a:r>
              <a:rPr sz="1000" b="1">
                <a:solidFill>
                  <a:srgbClr val="C00000"/>
                </a:solidFill>
                <a:latin typeface="맑은 고딕"/>
                <a:ea typeface="맑은 고딕"/>
              </a:rPr>
              <a:t>3 대 3 + 정책 변경 가중 → 2안 우세(가정)</a:t>
            </a:r>
          </a:p>
          <a:p>
            <a:pPr algn="ctr"/>
            <a:r>
              <a:rPr sz="850" b="0">
                <a:solidFill>
                  <a:srgbClr val="000000"/>
                </a:solidFill>
                <a:latin typeface="맑은 고딕"/>
                <a:ea typeface="맑은 고딕"/>
              </a:rPr>
              <a:t>1안 ●●○  /  2안 ●●●  (같은 가중이면 ●●○ 동등)</a:t>
            </a:r>
          </a:p>
        </p:txBody>
      </p:sp>
      <p:sp>
        <p:nvSpPr>
          <p:cNvPr id="169" name="Rectangle 168"/>
          <p:cNvSpPr/>
          <p:nvPr/>
        </p:nvSpPr>
        <p:spPr>
          <a:xfrm>
            <a:off x="246888" y="5559551"/>
            <a:ext cx="11750040" cy="566928"/>
          </a:xfrm>
          <a:prstGeom prst="rect">
            <a:avLst/>
          </a:prstGeom>
          <a:solidFill>
            <a:srgbClr val="FFFFFF"/>
          </a:solidFill>
          <a:ln w="9525">
            <a:solidFill>
              <a:srgbClr val="7F7F7F"/>
            </a:solidFill>
          </a:ln>
          <a:effectLst/>
        </p:spPr>
        <p:txBody>
          <a:bodyPr rtlCol="0" anchor="ctr"/>
          <a:lstStyle/>
          <a:p>
            <a:pPr algn="ctr"/>
          </a:p>
        </p:txBody>
      </p:sp>
      <p:sp>
        <p:nvSpPr>
          <p:cNvPr id="170" name="TextBox 169"/>
          <p:cNvSpPr txBox="1"/>
          <p:nvPr/>
        </p:nvSpPr>
        <p:spPr>
          <a:xfrm>
            <a:off x="338328" y="5605271"/>
            <a:ext cx="11567160" cy="50292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S4의 범위  </a:t>
            </a:r>
            <a:r>
              <a:rPr sz="850" b="0">
                <a:solidFill>
                  <a:srgbClr val="000000"/>
                </a:solidFill>
                <a:latin typeface="맑은 고딕"/>
                <a:ea typeface="맑은 고딕"/>
              </a:rPr>
              <a:t>비교는 오케스트레이션 측 변경만 센다. 새 지시 키를 vLLM(엔진)이 이해·실행하게 하는 변경은 어느 안을 택해도 똑같이 필요한 공통 선결(C5 접점 계약)이라 후보를 가르지 않는다.</a:t>
            </a:r>
          </a:p>
          <a:p>
            <a:pPr algn="l"/>
            <a:r>
              <a:rPr sz="850" b="1">
                <a:solidFill>
                  <a:srgbClr val="C00000"/>
                </a:solidFill>
                <a:latin typeface="맑은 고딕"/>
                <a:ea typeface="맑은 고딕"/>
              </a:rPr>
              <a:t>유지 부담은 Q3 안에  </a:t>
            </a:r>
            <a:r>
              <a:rPr sz="850" b="0">
                <a:solidFill>
                  <a:srgbClr val="000000"/>
                </a:solidFill>
                <a:latin typeface="맑은 고딕"/>
                <a:ea typeface="맑은 고딕"/>
              </a:rPr>
              <a:t>업스트림 추종(S5)과 신기능 확보(S6)는 변경·유지 용이성의 일부라 Q3에 포함한다. 구현 부담·증거 수준은 QA 밖 제약·리스크로 따로 둔다.</a:t>
            </a:r>
          </a:p>
        </p:txBody>
      </p:sp>
      <p:sp>
        <p:nvSpPr>
          <p:cNvPr id="171" name="TextBox 170"/>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가설 [C] (일부 [A]: P1~P4 plugin은 합성 백엔드로 끝단 실행). 시나리오 가중치: 정책 변경 S2~S4 = 2, 나머지 1 (가정). 용어: plugin = 기존 코드를 안 고치고 끼우는 확장 모듈 · patch = 기존 모듈 수정</a:t>
            </a:r>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제약·리스크를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Q3·제약 </a:t>
            </a:r>
            <a:r>
              <a:rPr sz="850" b="0">
                <a:solidFill>
                  <a:srgbClr val="000000"/>
                </a:solidFill>
                <a:latin typeface="맑은 고딕"/>
                <a:ea typeface="맑은 고딕"/>
              </a:rPr>
              <a:t>S1·S5·S6: 설정만, 계약·신기능은 OSS가 흡수. 구현 부담↓,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Q3·제약 </a:t>
            </a:r>
            <a:r>
              <a:rPr sz="850" b="0">
                <a:solidFill>
                  <a:srgbClr val="000000"/>
                </a:solidFill>
                <a:latin typeface="맑은 고딕"/>
                <a:ea typeface="맑은 고딕"/>
              </a:rPr>
              <a:t>S1·S5·S6 직접 부담, 6/6 직접 구현,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제약·리스크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변경·유지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시나리오는 3 대 3이나 정책 변경(S2~S4)을 가중 2로 보면 2안 ≤2 module. 같은 가중이면 동등(●●○)</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 검증됨. 2안: 레플리카가 상태 비공유라 갱신 부하 ∝N, SE(16) 64% 예상. 외삽</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우선순위로 Q2에서 갈림 → 2안</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제약 · 리스크 (QA 밖, 별 합계에 넣지 않음, 우위만 표시)</a:t>
            </a:r>
          </a:p>
        </p:txBody>
      </p:sp>
      <p:sp>
        <p:nvSpPr>
          <p:cNvPr id="160" name="Rectangle 159"/>
          <p:cNvSpPr/>
          <p:nvPr/>
        </p:nvSpPr>
        <p:spPr>
          <a:xfrm>
            <a:off x="6492240" y="3685032"/>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41064"/>
            <a:ext cx="530352" cy="256032"/>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41064"/>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67" name="Rectangle 166"/>
          <p:cNvSpPr/>
          <p:nvPr/>
        </p:nvSpPr>
        <p:spPr>
          <a:xfrm>
            <a:off x="7799831" y="3941064"/>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68" name="Rectangle 167"/>
          <p:cNvSpPr/>
          <p:nvPr/>
        </p:nvSpPr>
        <p:spPr>
          <a:xfrm>
            <a:off x="9555480" y="3941064"/>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69" name="Rectangle 168"/>
          <p:cNvSpPr/>
          <p:nvPr/>
        </p:nvSpPr>
        <p:spPr>
          <a:xfrm>
            <a:off x="11292840" y="3941064"/>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0" name="Rectangle 169"/>
          <p:cNvSpPr/>
          <p:nvPr/>
        </p:nvSpPr>
        <p:spPr>
          <a:xfrm>
            <a:off x="6492240" y="4197096"/>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1" name="Rectangle 170"/>
          <p:cNvSpPr/>
          <p:nvPr/>
        </p:nvSpPr>
        <p:spPr>
          <a:xfrm>
            <a:off x="7022592" y="4197096"/>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2" name="Rectangle 171"/>
          <p:cNvSpPr/>
          <p:nvPr/>
        </p:nvSpPr>
        <p:spPr>
          <a:xfrm>
            <a:off x="7799831" y="4197096"/>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3" name="Rectangle 172"/>
          <p:cNvSpPr/>
          <p:nvPr/>
        </p:nvSpPr>
        <p:spPr>
          <a:xfrm>
            <a:off x="9555480" y="4197096"/>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4" name="Rectangle 173"/>
          <p:cNvSpPr/>
          <p:nvPr/>
        </p:nvSpPr>
        <p:spPr>
          <a:xfrm>
            <a:off x="11292840" y="4197096"/>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5" name="Rectangle 174"/>
          <p:cNvSpPr/>
          <p:nvPr/>
        </p:nvSpPr>
        <p:spPr>
          <a:xfrm>
            <a:off x="6492240" y="4453128"/>
            <a:ext cx="530352" cy="256032"/>
          </a:xfrm>
          <a:prstGeom prst="rect">
            <a:avLst/>
          </a:prstGeom>
          <a:solidFill>
            <a:srgbClr val="F2F2F2"/>
          </a:solidFill>
          <a:ln w="6350">
            <a:solidFill>
              <a:srgbClr val="BFBFBF"/>
            </a:solidFill>
          </a:ln>
          <a:effectLst/>
        </p:spPr>
        <p:txBody>
          <a:bodyPr rtlCol="0" anchor="ctr"/>
          <a:lstStyle/>
          <a:p>
            <a:pPr algn="ctr"/>
          </a:p>
        </p:txBody>
      </p:sp>
      <p:sp>
        <p:nvSpPr>
          <p:cNvPr id="176" name="Rectangle 175"/>
          <p:cNvSpPr/>
          <p:nvPr/>
        </p:nvSpPr>
        <p:spPr>
          <a:xfrm>
            <a:off x="7022592" y="4453128"/>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77" name="Rectangle 176"/>
          <p:cNvSpPr/>
          <p:nvPr/>
        </p:nvSpPr>
        <p:spPr>
          <a:xfrm>
            <a:off x="7799831" y="4453128"/>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78" name="Rectangle 177"/>
          <p:cNvSpPr/>
          <p:nvPr/>
        </p:nvSpPr>
        <p:spPr>
          <a:xfrm>
            <a:off x="9555480" y="4453128"/>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79" name="Rectangle 178"/>
          <p:cNvSpPr/>
          <p:nvPr/>
        </p:nvSpPr>
        <p:spPr>
          <a:xfrm>
            <a:off x="11292840" y="4453128"/>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0" name="Rectangle 179"/>
          <p:cNvSpPr/>
          <p:nvPr/>
        </p:nvSpPr>
        <p:spPr>
          <a:xfrm>
            <a:off x="6492240" y="4709160"/>
            <a:ext cx="530352" cy="256032"/>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09160"/>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2" name="Rectangle 181"/>
          <p:cNvSpPr/>
          <p:nvPr/>
        </p:nvSpPr>
        <p:spPr>
          <a:xfrm>
            <a:off x="7799831" y="4709160"/>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3" name="Rectangle 182"/>
          <p:cNvSpPr/>
          <p:nvPr/>
        </p:nvSpPr>
        <p:spPr>
          <a:xfrm>
            <a:off x="9555480" y="4709160"/>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4" name="Rectangle 183"/>
          <p:cNvSpPr/>
          <p:nvPr/>
        </p:nvSpPr>
        <p:spPr>
          <a:xfrm>
            <a:off x="11292840" y="4709160"/>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5" name="Rectangle 184"/>
          <p:cNvSpPr/>
          <p:nvPr/>
        </p:nvSpPr>
        <p:spPr>
          <a:xfrm>
            <a:off x="6492240" y="5020056"/>
            <a:ext cx="5504688" cy="329184"/>
          </a:xfrm>
          <a:prstGeom prst="rect">
            <a:avLst/>
          </a:prstGeom>
          <a:solidFill>
            <a:srgbClr val="FFFBEA"/>
          </a:solidFill>
          <a:ln w="12700">
            <a:solidFill>
              <a:srgbClr val="BF9000"/>
            </a:solidFill>
          </a:ln>
          <a:effectLst/>
        </p:spPr>
        <p:txBody>
          <a:bodyPr rtlCol="0" anchor="ctr" wrap="square" lIns="64008" tIns="18288" rIns="45720" bIns="18288"/>
          <a:lstStyle/>
          <a:p>
            <a:pPr algn="l"/>
            <a:r>
              <a:rPr sz="800" b="1">
                <a:solidFill>
                  <a:srgbClr val="C00000"/>
                </a:solidFill>
                <a:latin typeface="맑은 고딕"/>
                <a:ea typeface="맑은 고딕"/>
              </a:rPr>
              <a:t>선택 규칙  </a:t>
            </a:r>
            <a:r>
              <a:rPr sz="750" b="0">
                <a:solidFill>
                  <a:srgbClr val="000000"/>
                </a:solidFill>
                <a:latin typeface="맑은 고딕"/>
                <a:ea typeface="맑은 고딕"/>
              </a:rPr>
              <a:t>① 별 합계 → ② 동점이면 QA 우선순위(Q1&gt;Q2&gt;Q3&gt;Q4)로 처음 갈리는 QA → Q2 지연에서 갈림 → 2안 (우선순위가 Q4&gt;Q2면 1안)</a:t>
            </a:r>
          </a:p>
        </p:txBody>
      </p:sp>
      <p:sp>
        <p:nvSpPr>
          <p:cNvPr id="186" name="Rectangle 185"/>
          <p:cNvSpPr/>
          <p:nvPr/>
        </p:nvSpPr>
        <p:spPr>
          <a:xfrm>
            <a:off x="246888" y="5468112"/>
            <a:ext cx="11750040" cy="804672"/>
          </a:xfrm>
          <a:prstGeom prst="rect">
            <a:avLst/>
          </a:prstGeom>
          <a:solidFill>
            <a:srgbClr val="FFFBEA"/>
          </a:solidFill>
          <a:ln w="12700">
            <a:solidFill>
              <a:srgbClr val="BF9000"/>
            </a:solidFill>
          </a:ln>
          <a:effectLst/>
        </p:spPr>
        <p:txBody>
          <a:bodyPr rtlCol="0" anchor="ctr"/>
          <a:lstStyle/>
          <a:p>
            <a:pPr algn="ctr"/>
          </a:p>
        </p:txBody>
      </p:sp>
      <p:sp>
        <p:nvSpPr>
          <p:cNvPr id="187" name="TextBox 186"/>
          <p:cNvSpPr txBox="1"/>
          <p:nvPr/>
        </p:nvSpPr>
        <p:spPr>
          <a:xfrm>
            <a:off x="338328" y="5504688"/>
            <a:ext cx="11567160" cy="74980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4개는 9 대 9 동점이고(2안 변경 용이성 ●●●, 확장성 ●○○) 제약·리스크는 1안이 우위다. 동점은 QA 우선순위가 정하므로 Q2 지연에서 갈려 2안(자체 구현)을 선택한다.</a:t>
            </a:r>
          </a:p>
          <a:p>
            <a:pPr algn="l"/>
            <a:r>
              <a:rPr sz="850" b="0">
                <a:solidFill>
                  <a:srgbClr val="000000"/>
                </a:solidFill>
                <a:latin typeface="맑은 고딕"/>
                <a:ea typeface="맑은 고딕"/>
              </a:rPr>
              <a:t>· 직접 개발(2안)은 지연을, OSS 확장(1안)은 확장성을 얻고, 변경·유지 용이성은 흡수(1안) 대 통제(2안)이고 정책 변경 가중에서 2안이 앞선다.</a:t>
            </a:r>
          </a:p>
          <a:p>
            <a:pPr algn="l"/>
            <a:r>
              <a:rPr sz="850" b="0">
                <a:solidFill>
                  <a:srgbClr val="000000"/>
                </a:solidFill>
                <a:latin typeface="맑은 고딕"/>
                <a:ea typeface="맑은 고딕"/>
              </a:rPr>
              <a:t>· 선택 조건: 지연 우위는 측정 전 가설이므로 E1(1안에서 hop 증분 측정)을 먼저 한다. hop이 잡음 수준이면 Q2가 동률이 되어 1안으로 돌아간다.</a:t>
            </a:r>
          </a:p>
          <a:p>
            <a:pPr algn="l"/>
            <a:r>
              <a:rPr sz="850" b="0">
                <a:solidFill>
                  <a:srgbClr val="000000"/>
                </a:solidFill>
                <a:latin typeface="맑은 고딕"/>
                <a:ea typeface="맑은 고딕"/>
              </a:rPr>
              <a:t>· 감수하는 비용: 구현 부담(6/6)·증거 수준(설계안)은 QA 밖이지만 표에 남기고, 1안(P1~P4 실행 확인)을 fallback으로 유지한다.</a:t>
            </a:r>
          </a:p>
        </p:txBody>
      </p:sp>
      <p:sp>
        <p:nvSpPr>
          <p:cNvPr id="188" name="TextBox 187"/>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제약·리스크는 별 합계에 넣지 않는다. 이전 평가와의 차이·사유는 설계 문서 §7.4.2, 선택 규칙은 §7.4.4.</a:t>
            </a:r>
          </a:p>
        </p:txBody>
      </p:sp>
    </p:spTree>
    <p:extLst>
      <p:ext uri="{BB962C8B-B14F-4D97-AF65-F5344CB8AC3E}">
        <p14:creationId xmlns:p14="http://schemas.microsoft.com/office/powerpoint/2010/main" val="3392401571"/>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제목 2"/>
          <p:cNvSpPr>
            <a:spLocks noGrp="1"/>
          </p:cNvSpPr>
          <p:nvPr>
            <p:ph type="title"/>
          </p:nvPr>
        </p:nvSpPr>
        <p:spPr>
          <a:xfrm>
            <a:off x="234949" y="137379"/>
            <a:ext cx="7631530" cy="365125"/>
          </a:xfrm>
        </p:spPr>
        <p:txBody>
          <a:bodyPr/>
          <a:lstStyle/>
          <a:p>
            <a:r>
              <a:rPr lang="en-US" altLang="ko-KR" dirty="0"/>
              <a:t>DP0. 2안 확장성 보완 설계 - 서버 샤딩</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담당 분할(샤딩)로 레플리카당 상태 처리량을 줄인다 (보완안, 별점 미반영)</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4480560" cy="274320"/>
          </a:xfrm>
          <a:prstGeom prst="rect">
            <a:avLst/>
          </a:prstGeom>
          <a:solidFill>
            <a:srgbClr val="404040"/>
          </a:solidFill>
          <a:ln w="6350">
            <a:solidFill>
              <a:srgbClr val="404040"/>
            </a:solidFill>
          </a:ln>
          <a:effectLst/>
        </p:spPr>
        <p:txBody>
          <a:bodyPr rtlCol="0" anchor="ctr" wrap="square" lIns="64008" tIns="27432" rIns="45720" bIns="27432"/>
          <a:lstStyle/>
          <a:p>
            <a:pPr algn="l"/>
            <a:r>
              <a:rPr sz="950" b="1">
                <a:solidFill>
                  <a:srgbClr val="FFFFFF"/>
                </a:solidFill>
                <a:latin typeface="맑은 고딕"/>
                <a:ea typeface="맑은 고딕"/>
              </a:rPr>
              <a:t>현재 2안 (보완 전): 레플리카 상태 비공유</a:t>
            </a:r>
          </a:p>
        </p:txBody>
      </p:sp>
      <p:sp>
        <p:nvSpPr>
          <p:cNvPr id="103" name="Rectangle 102"/>
          <p:cNvSpPr/>
          <p:nvPr/>
        </p:nvSpPr>
        <p:spPr>
          <a:xfrm>
            <a:off x="246888" y="1316736"/>
            <a:ext cx="4480560" cy="2743200"/>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384048" y="2103120"/>
            <a:ext cx="822960" cy="384048"/>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L4 LB</a:t>
            </a:r>
          </a:p>
        </p:txBody>
      </p:sp>
      <p:sp>
        <p:nvSpPr>
          <p:cNvPr id="105" name="Rectangle 104"/>
          <p:cNvSpPr/>
          <p:nvPr/>
        </p:nvSpPr>
        <p:spPr>
          <a:xfrm>
            <a:off x="1572768" y="1572768"/>
            <a:ext cx="1325880" cy="566928"/>
          </a:xfrm>
          <a:prstGeom prst="rect">
            <a:avLst/>
          </a:prstGeom>
          <a:solidFill>
            <a:srgbClr val="FBE5D6"/>
          </a:solidFill>
          <a:ln w="15875">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Router 레플리카 1</a:t>
            </a:r>
          </a:p>
          <a:p>
            <a:pPr algn="ctr"/>
            <a:r>
              <a:rPr sz="700" b="0">
                <a:solidFill>
                  <a:srgbClr val="404040"/>
                </a:solidFill>
                <a:latin typeface="맑은 고딕"/>
                <a:ea typeface="맑은 고딕"/>
              </a:rPr>
              <a:t>전체 서버 N대의</a:t>
            </a:r>
          </a:p>
          <a:p>
            <a:pPr algn="ctr"/>
            <a:r>
              <a:rPr sz="700" b="0">
                <a:solidFill>
                  <a:srgbClr val="C00000"/>
                </a:solidFill>
                <a:latin typeface="맑은 고딕"/>
                <a:ea typeface="맑은 고딕"/>
              </a:rPr>
              <a:t>이벤트·메트릭 전부 처리</a:t>
            </a:r>
          </a:p>
        </p:txBody>
      </p:sp>
      <p:cxnSp>
        <p:nvCxnSpPr>
          <p:cNvPr id="106" name="Connector 105"/>
          <p:cNvCxnSpPr/>
          <p:nvPr/>
        </p:nvCxnSpPr>
        <p:spPr>
          <a:xfrm flipV="1">
            <a:off x="1207008" y="1856231"/>
            <a:ext cx="365760" cy="438913"/>
          </a:xfrm>
          <a:prstGeom prst="line">
            <a:avLst/>
          </a:prstGeom>
          <a:ln w="12700">
            <a:solidFill>
              <a:srgbClr val="404040"/>
            </a:solidFill>
            <a:tailEnd type="triangle"/>
          </a:ln>
        </p:spPr>
      </p:cxnSp>
      <p:sp>
        <p:nvSpPr>
          <p:cNvPr id="107" name="Rectangle 106"/>
          <p:cNvSpPr/>
          <p:nvPr/>
        </p:nvSpPr>
        <p:spPr>
          <a:xfrm>
            <a:off x="1572768" y="2578608"/>
            <a:ext cx="1325880" cy="566928"/>
          </a:xfrm>
          <a:prstGeom prst="rect">
            <a:avLst/>
          </a:prstGeom>
          <a:solidFill>
            <a:srgbClr val="FBE5D6"/>
          </a:solidFill>
          <a:ln w="15875">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Router 레플리카 2</a:t>
            </a:r>
          </a:p>
          <a:p>
            <a:pPr algn="ctr"/>
            <a:r>
              <a:rPr sz="700" b="0">
                <a:solidFill>
                  <a:srgbClr val="404040"/>
                </a:solidFill>
                <a:latin typeface="맑은 고딕"/>
                <a:ea typeface="맑은 고딕"/>
              </a:rPr>
              <a:t>전체 서버 N대의</a:t>
            </a:r>
          </a:p>
          <a:p>
            <a:pPr algn="ctr"/>
            <a:r>
              <a:rPr sz="700" b="0">
                <a:solidFill>
                  <a:srgbClr val="C00000"/>
                </a:solidFill>
                <a:latin typeface="맑은 고딕"/>
                <a:ea typeface="맑은 고딕"/>
              </a:rPr>
              <a:t>이벤트·메트릭 전부 처리</a:t>
            </a:r>
          </a:p>
        </p:txBody>
      </p:sp>
      <p:cxnSp>
        <p:nvCxnSpPr>
          <p:cNvPr id="108" name="Connector 107"/>
          <p:cNvCxnSpPr/>
          <p:nvPr/>
        </p:nvCxnSpPr>
        <p:spPr>
          <a:xfrm>
            <a:off x="1207008" y="2295144"/>
            <a:ext cx="365760" cy="566928"/>
          </a:xfrm>
          <a:prstGeom prst="line">
            <a:avLst/>
          </a:prstGeom>
          <a:ln w="12700">
            <a:solidFill>
              <a:srgbClr val="404040"/>
            </a:solidFill>
            <a:tailEnd type="triangle"/>
          </a:ln>
        </p:spPr>
      </p:cxnSp>
      <p:sp>
        <p:nvSpPr>
          <p:cNvPr id="109" name="Rectangle 108"/>
          <p:cNvSpPr/>
          <p:nvPr/>
        </p:nvSpPr>
        <p:spPr>
          <a:xfrm>
            <a:off x="3630168" y="1481328"/>
            <a:ext cx="868680" cy="310896"/>
          </a:xfrm>
          <a:prstGeom prst="rect">
            <a:avLst/>
          </a:prstGeom>
          <a:solidFill>
            <a:srgbClr val="D9D9D9"/>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vLLM 1</a:t>
            </a:r>
          </a:p>
        </p:txBody>
      </p:sp>
      <p:sp>
        <p:nvSpPr>
          <p:cNvPr id="110" name="Rectangle 109"/>
          <p:cNvSpPr/>
          <p:nvPr/>
        </p:nvSpPr>
        <p:spPr>
          <a:xfrm>
            <a:off x="3630168" y="1920240"/>
            <a:ext cx="868680" cy="310896"/>
          </a:xfrm>
          <a:prstGeom prst="rect">
            <a:avLst/>
          </a:prstGeom>
          <a:solidFill>
            <a:srgbClr val="D9D9D9"/>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vLLM 2</a:t>
            </a:r>
          </a:p>
        </p:txBody>
      </p:sp>
      <p:sp>
        <p:nvSpPr>
          <p:cNvPr id="111" name="Rectangle 110"/>
          <p:cNvSpPr/>
          <p:nvPr/>
        </p:nvSpPr>
        <p:spPr>
          <a:xfrm>
            <a:off x="3630168" y="2359152"/>
            <a:ext cx="868680" cy="310896"/>
          </a:xfrm>
          <a:prstGeom prst="rect">
            <a:avLst/>
          </a:prstGeom>
          <a:solidFill>
            <a:srgbClr val="D9D9D9"/>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a:t>
            </a:r>
          </a:p>
        </p:txBody>
      </p:sp>
      <p:sp>
        <p:nvSpPr>
          <p:cNvPr id="112" name="Rectangle 111"/>
          <p:cNvSpPr/>
          <p:nvPr/>
        </p:nvSpPr>
        <p:spPr>
          <a:xfrm>
            <a:off x="3630168" y="2798064"/>
            <a:ext cx="868680" cy="310896"/>
          </a:xfrm>
          <a:prstGeom prst="rect">
            <a:avLst/>
          </a:prstGeom>
          <a:solidFill>
            <a:srgbClr val="D9D9D9"/>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vLLM N-1</a:t>
            </a:r>
          </a:p>
        </p:txBody>
      </p:sp>
      <p:sp>
        <p:nvSpPr>
          <p:cNvPr id="113" name="Rectangle 112"/>
          <p:cNvSpPr/>
          <p:nvPr/>
        </p:nvSpPr>
        <p:spPr>
          <a:xfrm>
            <a:off x="3630168" y="3236976"/>
            <a:ext cx="868680" cy="310896"/>
          </a:xfrm>
          <a:prstGeom prst="rect">
            <a:avLst/>
          </a:prstGeom>
          <a:solidFill>
            <a:srgbClr val="D9D9D9"/>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vLLM N</a:t>
            </a:r>
          </a:p>
        </p:txBody>
      </p:sp>
      <p:cxnSp>
        <p:nvCxnSpPr>
          <p:cNvPr id="114" name="Connector 113"/>
          <p:cNvCxnSpPr/>
          <p:nvPr/>
        </p:nvCxnSpPr>
        <p:spPr>
          <a:xfrm flipV="1">
            <a:off x="2898648" y="1636776"/>
            <a:ext cx="731520" cy="219455"/>
          </a:xfrm>
          <a:prstGeom prst="line">
            <a:avLst/>
          </a:prstGeom>
          <a:ln w="7620">
            <a:solidFill>
              <a:srgbClr val="C9A58A"/>
            </a:solidFill>
            <a:tailEnd type="triangle"/>
          </a:ln>
        </p:spPr>
      </p:cxnSp>
      <p:cxnSp>
        <p:nvCxnSpPr>
          <p:cNvPr id="115" name="Connector 114"/>
          <p:cNvCxnSpPr/>
          <p:nvPr/>
        </p:nvCxnSpPr>
        <p:spPr>
          <a:xfrm>
            <a:off x="2898648" y="1856231"/>
            <a:ext cx="731520" cy="219457"/>
          </a:xfrm>
          <a:prstGeom prst="line">
            <a:avLst/>
          </a:prstGeom>
          <a:ln w="7620">
            <a:solidFill>
              <a:srgbClr val="C9A58A"/>
            </a:solidFill>
            <a:tailEnd type="triangle"/>
          </a:ln>
        </p:spPr>
      </p:cxnSp>
      <p:cxnSp>
        <p:nvCxnSpPr>
          <p:cNvPr id="116" name="Connector 115"/>
          <p:cNvCxnSpPr/>
          <p:nvPr/>
        </p:nvCxnSpPr>
        <p:spPr>
          <a:xfrm>
            <a:off x="2898648" y="1856231"/>
            <a:ext cx="731520" cy="658369"/>
          </a:xfrm>
          <a:prstGeom prst="line">
            <a:avLst/>
          </a:prstGeom>
          <a:ln w="7620">
            <a:solidFill>
              <a:srgbClr val="C9A58A"/>
            </a:solidFill>
            <a:tailEnd type="triangle"/>
          </a:ln>
        </p:spPr>
      </p:cxnSp>
      <p:cxnSp>
        <p:nvCxnSpPr>
          <p:cNvPr id="117" name="Connector 116"/>
          <p:cNvCxnSpPr/>
          <p:nvPr/>
        </p:nvCxnSpPr>
        <p:spPr>
          <a:xfrm>
            <a:off x="2898648" y="1856231"/>
            <a:ext cx="731520" cy="1097281"/>
          </a:xfrm>
          <a:prstGeom prst="line">
            <a:avLst/>
          </a:prstGeom>
          <a:ln w="7620">
            <a:solidFill>
              <a:srgbClr val="C9A58A"/>
            </a:solidFill>
            <a:tailEnd type="triangle"/>
          </a:ln>
        </p:spPr>
      </p:cxnSp>
      <p:cxnSp>
        <p:nvCxnSpPr>
          <p:cNvPr id="118" name="Connector 117"/>
          <p:cNvCxnSpPr/>
          <p:nvPr/>
        </p:nvCxnSpPr>
        <p:spPr>
          <a:xfrm>
            <a:off x="2898648" y="1856231"/>
            <a:ext cx="731520" cy="1536193"/>
          </a:xfrm>
          <a:prstGeom prst="line">
            <a:avLst/>
          </a:prstGeom>
          <a:ln w="7620">
            <a:solidFill>
              <a:srgbClr val="C9A58A"/>
            </a:solidFill>
            <a:tailEnd type="triangle"/>
          </a:ln>
        </p:spPr>
      </p:cxnSp>
      <p:cxnSp>
        <p:nvCxnSpPr>
          <p:cNvPr id="119" name="Connector 118"/>
          <p:cNvCxnSpPr/>
          <p:nvPr/>
        </p:nvCxnSpPr>
        <p:spPr>
          <a:xfrm flipV="1">
            <a:off x="2898648" y="1636776"/>
            <a:ext cx="731520" cy="1225296"/>
          </a:xfrm>
          <a:prstGeom prst="line">
            <a:avLst/>
          </a:prstGeom>
          <a:ln w="7620">
            <a:solidFill>
              <a:srgbClr val="C9A58A"/>
            </a:solidFill>
            <a:tailEnd type="triangle"/>
          </a:ln>
        </p:spPr>
      </p:cxnSp>
      <p:cxnSp>
        <p:nvCxnSpPr>
          <p:cNvPr id="120" name="Connector 119"/>
          <p:cNvCxnSpPr/>
          <p:nvPr/>
        </p:nvCxnSpPr>
        <p:spPr>
          <a:xfrm flipV="1">
            <a:off x="2898648" y="2075688"/>
            <a:ext cx="731520" cy="786384"/>
          </a:xfrm>
          <a:prstGeom prst="line">
            <a:avLst/>
          </a:prstGeom>
          <a:ln w="7620">
            <a:solidFill>
              <a:srgbClr val="C9A58A"/>
            </a:solidFill>
            <a:tailEnd type="triangle"/>
          </a:ln>
        </p:spPr>
      </p:cxnSp>
      <p:cxnSp>
        <p:nvCxnSpPr>
          <p:cNvPr id="121" name="Connector 120"/>
          <p:cNvCxnSpPr/>
          <p:nvPr/>
        </p:nvCxnSpPr>
        <p:spPr>
          <a:xfrm flipV="1">
            <a:off x="2898648" y="2514600"/>
            <a:ext cx="731520" cy="347472"/>
          </a:xfrm>
          <a:prstGeom prst="line">
            <a:avLst/>
          </a:prstGeom>
          <a:ln w="7620">
            <a:solidFill>
              <a:srgbClr val="C9A58A"/>
            </a:solidFill>
            <a:tailEnd type="triangle"/>
          </a:ln>
        </p:spPr>
      </p:cxnSp>
      <p:cxnSp>
        <p:nvCxnSpPr>
          <p:cNvPr id="122" name="Connector 121"/>
          <p:cNvCxnSpPr/>
          <p:nvPr/>
        </p:nvCxnSpPr>
        <p:spPr>
          <a:xfrm>
            <a:off x="2898648" y="2862072"/>
            <a:ext cx="731520" cy="91440"/>
          </a:xfrm>
          <a:prstGeom prst="line">
            <a:avLst/>
          </a:prstGeom>
          <a:ln w="7620">
            <a:solidFill>
              <a:srgbClr val="C9A58A"/>
            </a:solidFill>
            <a:tailEnd type="triangle"/>
          </a:ln>
        </p:spPr>
      </p:cxnSp>
      <p:cxnSp>
        <p:nvCxnSpPr>
          <p:cNvPr id="123" name="Connector 122"/>
          <p:cNvCxnSpPr/>
          <p:nvPr/>
        </p:nvCxnSpPr>
        <p:spPr>
          <a:xfrm>
            <a:off x="2898648" y="2862072"/>
            <a:ext cx="731520" cy="530352"/>
          </a:xfrm>
          <a:prstGeom prst="line">
            <a:avLst/>
          </a:prstGeom>
          <a:ln w="7620">
            <a:solidFill>
              <a:srgbClr val="C9A58A"/>
            </a:solidFill>
            <a:tailEnd type="triangle"/>
          </a:ln>
        </p:spPr>
      </p:cxnSp>
      <p:sp>
        <p:nvSpPr>
          <p:cNvPr id="124" name="TextBox 123"/>
          <p:cNvSpPr txBox="1"/>
          <p:nvPr/>
        </p:nvSpPr>
        <p:spPr>
          <a:xfrm>
            <a:off x="338328" y="3474720"/>
            <a:ext cx="4297680" cy="54864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레플리카당 갱신 부하 ∝ N</a:t>
            </a:r>
          </a:p>
          <a:p>
            <a:pPr algn="l"/>
            <a:r>
              <a:rPr sz="750" b="0">
                <a:solidFill>
                  <a:srgbClr val="000000"/>
                </a:solidFill>
                <a:latin typeface="맑은 고딕"/>
                <a:ea typeface="맑은 고딕"/>
              </a:rPr>
              <a:t>서버가 N배가 되면 레플리카마다 이벤트·메트릭을 N배 처리 → 결정 지연·상태 낡음 → goodput 포화 (SE(16) ≈ 64%, ★)</a:t>
            </a:r>
          </a:p>
        </p:txBody>
      </p:sp>
      <p:sp>
        <p:nvSpPr>
          <p:cNvPr id="125" name="Rectangle 124"/>
          <p:cNvSpPr/>
          <p:nvPr/>
        </p:nvSpPr>
        <p:spPr>
          <a:xfrm>
            <a:off x="4892040" y="1042415"/>
            <a:ext cx="7104888" cy="274320"/>
          </a:xfrm>
          <a:prstGeom prst="rect">
            <a:avLst/>
          </a:prstGeom>
          <a:solidFill>
            <a:srgbClr val="C55A11"/>
          </a:solidFill>
          <a:ln w="6350">
            <a:solidFill>
              <a:srgbClr val="C55A11"/>
            </a:solidFill>
          </a:ln>
          <a:effectLst/>
        </p:spPr>
        <p:txBody>
          <a:bodyPr rtlCol="0" anchor="ctr" wrap="square" lIns="64008" tIns="27432" rIns="45720" bIns="27432"/>
          <a:lstStyle/>
          <a:p>
            <a:pPr algn="l"/>
            <a:r>
              <a:rPr sz="950" b="1">
                <a:solidFill>
                  <a:srgbClr val="FFFFFF"/>
                </a:solidFill>
                <a:latin typeface="맑은 고딕"/>
                <a:ea typeface="맑은 고딕"/>
              </a:rPr>
              <a:t>보완 설계: 서버 샤딩 (Front Router + Shard Router)</a:t>
            </a:r>
          </a:p>
        </p:txBody>
      </p:sp>
      <p:sp>
        <p:nvSpPr>
          <p:cNvPr id="126" name="Rectangle 125"/>
          <p:cNvSpPr/>
          <p:nvPr/>
        </p:nvSpPr>
        <p:spPr>
          <a:xfrm>
            <a:off x="4892040" y="1316736"/>
            <a:ext cx="7104888" cy="2743200"/>
          </a:xfrm>
          <a:prstGeom prst="rect">
            <a:avLst/>
          </a:prstGeom>
          <a:solidFill>
            <a:srgbClr val="FFFFFF"/>
          </a:solidFill>
          <a:ln w="6350">
            <a:solidFill>
              <a:srgbClr val="BFBFBF"/>
            </a:solidFill>
          </a:ln>
          <a:effectLst/>
        </p:spPr>
        <p:txBody>
          <a:bodyPr rtlCol="0" anchor="ctr"/>
          <a:lstStyle/>
          <a:p>
            <a:pPr algn="ctr"/>
          </a:p>
        </p:txBody>
      </p:sp>
      <p:sp>
        <p:nvSpPr>
          <p:cNvPr id="127" name="Rectangle 126"/>
          <p:cNvSpPr/>
          <p:nvPr/>
        </p:nvSpPr>
        <p:spPr>
          <a:xfrm>
            <a:off x="4983479" y="2103120"/>
            <a:ext cx="566928" cy="310896"/>
          </a:xfrm>
          <a:prstGeom prst="rect">
            <a:avLst/>
          </a:prstGeom>
          <a:solidFill>
            <a:srgbClr val="FFFFFF"/>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Client</a:t>
            </a:r>
          </a:p>
        </p:txBody>
      </p:sp>
      <p:sp>
        <p:nvSpPr>
          <p:cNvPr id="128" name="Rectangle 127"/>
          <p:cNvSpPr/>
          <p:nvPr/>
        </p:nvSpPr>
        <p:spPr>
          <a:xfrm>
            <a:off x="5715000" y="2103120"/>
            <a:ext cx="566928" cy="310896"/>
          </a:xfrm>
          <a:prstGeom prst="rect">
            <a:avLst/>
          </a:prstGeom>
          <a:solidFill>
            <a:srgbClr val="FFFFFF"/>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L4 LB</a:t>
            </a:r>
          </a:p>
        </p:txBody>
      </p:sp>
      <p:cxnSp>
        <p:nvCxnSpPr>
          <p:cNvPr id="129" name="Connector 128"/>
          <p:cNvCxnSpPr/>
          <p:nvPr/>
        </p:nvCxnSpPr>
        <p:spPr>
          <a:xfrm>
            <a:off x="5550407" y="2258568"/>
            <a:ext cx="164593" cy="0"/>
          </a:xfrm>
          <a:prstGeom prst="line">
            <a:avLst/>
          </a:prstGeom>
          <a:ln w="15875">
            <a:solidFill>
              <a:srgbClr val="404040"/>
            </a:solidFill>
            <a:tailEnd type="triangle"/>
          </a:ln>
        </p:spPr>
      </p:cxnSp>
      <p:sp>
        <p:nvSpPr>
          <p:cNvPr id="130" name="Rectangle 129"/>
          <p:cNvSpPr/>
          <p:nvPr/>
        </p:nvSpPr>
        <p:spPr>
          <a:xfrm>
            <a:off x="6492240" y="1463040"/>
            <a:ext cx="1783080" cy="1600200"/>
          </a:xfrm>
          <a:prstGeom prst="rect">
            <a:avLst/>
          </a:prstGeom>
          <a:solidFill>
            <a:srgbClr val="FFFFFF"/>
          </a:solidFill>
          <a:ln w="15875">
            <a:solidFill>
              <a:srgbClr val="C55A11"/>
            </a:solidFill>
          </a:ln>
          <a:effectLst/>
        </p:spPr>
        <p:txBody>
          <a:bodyPr rtlCol="0" anchor="ctr"/>
          <a:lstStyle/>
          <a:p>
            <a:pPr algn="ctr"/>
          </a:p>
        </p:txBody>
      </p:sp>
      <p:sp>
        <p:nvSpPr>
          <p:cNvPr id="131" name="Rectangle 130"/>
          <p:cNvSpPr/>
          <p:nvPr/>
        </p:nvSpPr>
        <p:spPr>
          <a:xfrm>
            <a:off x="6492240" y="1463040"/>
            <a:ext cx="1783080" cy="173736"/>
          </a:xfrm>
          <a:prstGeom prst="rect">
            <a:avLst/>
          </a:prstGeom>
          <a:solidFill>
            <a:srgbClr val="C55A11"/>
          </a:solidFill>
          <a:ln w="12700">
            <a:solidFill>
              <a:srgbClr val="C55A11"/>
            </a:solidFill>
          </a:ln>
          <a:effectLst/>
        </p:spPr>
        <p:txBody>
          <a:bodyPr rtlCol="0" anchor="ctr" wrap="square" lIns="45720" tIns="0" rIns="18288" bIns="0"/>
          <a:lstStyle/>
          <a:p>
            <a:pPr algn="l"/>
            <a:r>
              <a:rPr sz="800" b="1">
                <a:solidFill>
                  <a:srgbClr val="FFFFFF"/>
                </a:solidFill>
                <a:latin typeface="맑은 고딕"/>
                <a:ea typeface="맑은 고딕"/>
              </a:rPr>
              <a:t>«process» Front Router ×K</a:t>
            </a:r>
          </a:p>
        </p:txBody>
      </p:sp>
      <p:sp>
        <p:nvSpPr>
          <p:cNvPr id="132" name="Rectangle 131"/>
          <p:cNvSpPr/>
          <p:nvPr/>
        </p:nvSpPr>
        <p:spPr>
          <a:xfrm>
            <a:off x="6629400" y="1783080"/>
            <a:ext cx="1508760" cy="45720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Shard Selector</a:t>
            </a:r>
          </a:p>
          <a:p>
            <a:pPr algn="ctr"/>
            <a:r>
              <a:rPr sz="650" b="0">
                <a:solidFill>
                  <a:srgbClr val="000000"/>
                </a:solidFill>
                <a:latin typeface="맑은 고딕"/>
                <a:ea typeface="맑은 고딕"/>
              </a:rPr>
              <a:t>요약 테이블만 보고 샤드 선택</a:t>
            </a:r>
          </a:p>
        </p:txBody>
      </p:sp>
      <p:sp>
        <p:nvSpPr>
          <p:cNvPr id="133" name="Rectangle 132"/>
          <p:cNvSpPr/>
          <p:nvPr/>
        </p:nvSpPr>
        <p:spPr>
          <a:xfrm>
            <a:off x="6583680" y="1874519"/>
            <a:ext cx="91440" cy="54864"/>
          </a:xfrm>
          <a:prstGeom prst="rect">
            <a:avLst/>
          </a:prstGeom>
          <a:solidFill>
            <a:srgbClr val="FBE5D6"/>
          </a:solidFill>
          <a:ln w="9525">
            <a:solidFill>
              <a:srgbClr val="C55A11"/>
            </a:solidFill>
          </a:ln>
          <a:effectLst/>
        </p:spPr>
        <p:txBody>
          <a:bodyPr rtlCol="0" anchor="ctr"/>
          <a:lstStyle/>
          <a:p>
            <a:pPr algn="ctr"/>
          </a:p>
        </p:txBody>
      </p:sp>
      <p:sp>
        <p:nvSpPr>
          <p:cNvPr id="134" name="Rectangle 133"/>
          <p:cNvSpPr/>
          <p:nvPr/>
        </p:nvSpPr>
        <p:spPr>
          <a:xfrm>
            <a:off x="6583680" y="2011680"/>
            <a:ext cx="91440" cy="54864"/>
          </a:xfrm>
          <a:prstGeom prst="rect">
            <a:avLst/>
          </a:prstGeom>
          <a:solidFill>
            <a:srgbClr val="FBE5D6"/>
          </a:solidFill>
          <a:ln w="9525">
            <a:solidFill>
              <a:srgbClr val="C55A11"/>
            </a:solidFill>
          </a:ln>
          <a:effectLst/>
        </p:spPr>
        <p:txBody>
          <a:bodyPr rtlCol="0" anchor="ctr"/>
          <a:lstStyle/>
          <a:p>
            <a:pPr algn="ctr"/>
          </a:p>
        </p:txBody>
      </p:sp>
      <p:sp>
        <p:nvSpPr>
          <p:cNvPr id="135" name="Rectangle 134"/>
          <p:cNvSpPr/>
          <p:nvPr/>
        </p:nvSpPr>
        <p:spPr>
          <a:xfrm>
            <a:off x="6629400" y="2377440"/>
            <a:ext cx="1508760" cy="54864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요약 테이블</a:t>
            </a:r>
          </a:p>
          <a:p>
            <a:pPr algn="ctr"/>
            <a:r>
              <a:rPr sz="650" b="0">
                <a:solidFill>
                  <a:srgbClr val="000000"/>
                </a:solidFill>
                <a:latin typeface="맑은 고딕"/>
                <a:ea typeface="맑은 고딕"/>
              </a:rPr>
              <a:t>샤드별 부하 · prefix sketch</a:t>
            </a:r>
          </a:p>
          <a:p>
            <a:pPr algn="ctr"/>
            <a:r>
              <a:rPr sz="650" b="0">
                <a:solidFill>
                  <a:srgbClr val="000000"/>
                </a:solidFill>
                <a:latin typeface="맑은 고딕"/>
                <a:ea typeface="맑은 고딕"/>
              </a:rPr>
              <a:t>(~1 s 주기로 갱신)</a:t>
            </a:r>
          </a:p>
        </p:txBody>
      </p:sp>
      <p:sp>
        <p:nvSpPr>
          <p:cNvPr id="136" name="Rectangle 135"/>
          <p:cNvSpPr/>
          <p:nvPr/>
        </p:nvSpPr>
        <p:spPr>
          <a:xfrm>
            <a:off x="6583680" y="2487168"/>
            <a:ext cx="91440" cy="54864"/>
          </a:xfrm>
          <a:prstGeom prst="rect">
            <a:avLst/>
          </a:prstGeom>
          <a:solidFill>
            <a:srgbClr val="FBE5D6"/>
          </a:solidFill>
          <a:ln w="9525">
            <a:solidFill>
              <a:srgbClr val="C55A11"/>
            </a:solidFill>
          </a:ln>
          <a:effectLst/>
        </p:spPr>
        <p:txBody>
          <a:bodyPr rtlCol="0" anchor="ctr"/>
          <a:lstStyle/>
          <a:p>
            <a:pPr algn="ctr"/>
          </a:p>
        </p:txBody>
      </p:sp>
      <p:sp>
        <p:nvSpPr>
          <p:cNvPr id="137" name="Rectangle 136"/>
          <p:cNvSpPr/>
          <p:nvPr/>
        </p:nvSpPr>
        <p:spPr>
          <a:xfrm>
            <a:off x="6583680" y="2651760"/>
            <a:ext cx="91440" cy="54864"/>
          </a:xfrm>
          <a:prstGeom prst="rect">
            <a:avLst/>
          </a:prstGeom>
          <a:solidFill>
            <a:srgbClr val="FBE5D6"/>
          </a:solidFill>
          <a:ln w="9525">
            <a:solidFill>
              <a:srgbClr val="C55A11"/>
            </a:solidFill>
          </a:ln>
          <a:effectLst/>
        </p:spPr>
        <p:txBody>
          <a:bodyPr rtlCol="0" anchor="ctr"/>
          <a:lstStyle/>
          <a:p>
            <a:pPr algn="ctr"/>
          </a:p>
        </p:txBody>
      </p:sp>
      <p:cxnSp>
        <p:nvCxnSpPr>
          <p:cNvPr id="138" name="Connector 137"/>
          <p:cNvCxnSpPr/>
          <p:nvPr/>
        </p:nvCxnSpPr>
        <p:spPr>
          <a:xfrm>
            <a:off x="6281927" y="2258568"/>
            <a:ext cx="210313" cy="0"/>
          </a:xfrm>
          <a:prstGeom prst="line">
            <a:avLst/>
          </a:prstGeom>
          <a:ln w="15875">
            <a:solidFill>
              <a:srgbClr val="404040"/>
            </a:solidFill>
            <a:tailEnd type="triangle"/>
          </a:ln>
        </p:spPr>
      </p:cxnSp>
      <p:sp>
        <p:nvSpPr>
          <p:cNvPr id="139" name="Rectangle 138"/>
          <p:cNvSpPr/>
          <p:nvPr/>
        </p:nvSpPr>
        <p:spPr>
          <a:xfrm>
            <a:off x="8641080" y="1417320"/>
            <a:ext cx="2011680" cy="1188720"/>
          </a:xfrm>
          <a:prstGeom prst="rect">
            <a:avLst/>
          </a:prstGeom>
          <a:solidFill>
            <a:srgbClr val="FFFFFF"/>
          </a:solidFill>
          <a:ln w="15875">
            <a:solidFill>
              <a:srgbClr val="C55A11"/>
            </a:solidFill>
          </a:ln>
          <a:effectLst/>
        </p:spPr>
        <p:txBody>
          <a:bodyPr rtlCol="0" anchor="ctr"/>
          <a:lstStyle/>
          <a:p>
            <a:pPr algn="ctr"/>
          </a:p>
        </p:txBody>
      </p:sp>
      <p:sp>
        <p:nvSpPr>
          <p:cNvPr id="140" name="Rectangle 139"/>
          <p:cNvSpPr/>
          <p:nvPr/>
        </p:nvSpPr>
        <p:spPr>
          <a:xfrm>
            <a:off x="8641080" y="1417320"/>
            <a:ext cx="2011680" cy="173736"/>
          </a:xfrm>
          <a:prstGeom prst="rect">
            <a:avLst/>
          </a:prstGeom>
          <a:solidFill>
            <a:srgbClr val="C55A11"/>
          </a:solidFill>
          <a:ln w="12700">
            <a:solidFill>
              <a:srgbClr val="C55A11"/>
            </a:solidFill>
          </a:ln>
          <a:effectLst/>
        </p:spPr>
        <p:txBody>
          <a:bodyPr rtlCol="0" anchor="ctr" wrap="square" lIns="45720" tIns="0" rIns="18288" bIns="0"/>
          <a:lstStyle/>
          <a:p>
            <a:pPr algn="l"/>
            <a:r>
              <a:rPr sz="800" b="1">
                <a:solidFill>
                  <a:srgbClr val="FFFFFF"/>
                </a:solidFill>
                <a:latin typeface="맑은 고딕"/>
                <a:ea typeface="맑은 고딕"/>
              </a:rPr>
              <a:t>«process» Shard Router A</a:t>
            </a:r>
          </a:p>
        </p:txBody>
      </p:sp>
      <p:sp>
        <p:nvSpPr>
          <p:cNvPr id="141" name="Rectangle 140"/>
          <p:cNvSpPr/>
          <p:nvPr/>
        </p:nvSpPr>
        <p:spPr>
          <a:xfrm>
            <a:off x="8750808" y="1691640"/>
            <a:ext cx="914400"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Pipeline</a:t>
            </a:r>
          </a:p>
          <a:p>
            <a:pPr algn="ctr"/>
            <a:r>
              <a:rPr sz="650" b="0">
                <a:solidFill>
                  <a:srgbClr val="000000"/>
                </a:solidFill>
                <a:latin typeface="맑은 고딕"/>
                <a:ea typeface="맑은 고딕"/>
              </a:rPr>
              <a:t>Admission · Selector</a:t>
            </a:r>
          </a:p>
          <a:p>
            <a:pPr algn="ctr"/>
            <a:r>
              <a:rPr sz="650" b="0">
                <a:solidFill>
                  <a:srgbClr val="000000"/>
                </a:solidFill>
                <a:latin typeface="맑은 고딕"/>
                <a:ea typeface="맑은 고딕"/>
              </a:rPr>
              <a:t>Dispatcher</a:t>
            </a:r>
          </a:p>
        </p:txBody>
      </p:sp>
      <p:sp>
        <p:nvSpPr>
          <p:cNvPr id="142" name="Rectangle 141"/>
          <p:cNvSpPr/>
          <p:nvPr/>
        </p:nvSpPr>
        <p:spPr>
          <a:xfrm>
            <a:off x="8705088" y="1768449"/>
            <a:ext cx="91440" cy="54864"/>
          </a:xfrm>
          <a:prstGeom prst="rect">
            <a:avLst/>
          </a:prstGeom>
          <a:solidFill>
            <a:srgbClr val="FBE5D6"/>
          </a:solidFill>
          <a:ln w="9525">
            <a:solidFill>
              <a:srgbClr val="C55A11"/>
            </a:solidFill>
          </a:ln>
          <a:effectLst/>
        </p:spPr>
        <p:txBody>
          <a:bodyPr rtlCol="0" anchor="ctr"/>
          <a:lstStyle/>
          <a:p>
            <a:pPr algn="ctr"/>
          </a:p>
        </p:txBody>
      </p:sp>
      <p:sp>
        <p:nvSpPr>
          <p:cNvPr id="143" name="Rectangle 142"/>
          <p:cNvSpPr/>
          <p:nvPr/>
        </p:nvSpPr>
        <p:spPr>
          <a:xfrm>
            <a:off x="8705088" y="1883664"/>
            <a:ext cx="91440" cy="54864"/>
          </a:xfrm>
          <a:prstGeom prst="rect">
            <a:avLst/>
          </a:prstGeom>
          <a:solidFill>
            <a:srgbClr val="FBE5D6"/>
          </a:solidFill>
          <a:ln w="9525">
            <a:solidFill>
              <a:srgbClr val="C55A11"/>
            </a:solidFill>
          </a:ln>
          <a:effectLst/>
        </p:spPr>
        <p:txBody>
          <a:bodyPr rtlCol="0" anchor="ctr"/>
          <a:lstStyle/>
          <a:p>
            <a:pPr algn="ctr"/>
          </a:p>
        </p:txBody>
      </p:sp>
      <p:sp>
        <p:nvSpPr>
          <p:cNvPr id="144" name="Rectangle 143"/>
          <p:cNvSpPr/>
          <p:nvPr/>
        </p:nvSpPr>
        <p:spPr>
          <a:xfrm>
            <a:off x="9720072" y="1691640"/>
            <a:ext cx="84124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State Plane</a:t>
            </a:r>
          </a:p>
          <a:p>
            <a:pPr algn="ctr"/>
            <a:r>
              <a:rPr sz="650" b="0">
                <a:solidFill>
                  <a:srgbClr val="000000"/>
                </a:solidFill>
                <a:latin typeface="맑은 고딕"/>
                <a:ea typeface="맑은 고딕"/>
              </a:rPr>
              <a:t>담당 서버만</a:t>
            </a:r>
          </a:p>
        </p:txBody>
      </p:sp>
      <p:sp>
        <p:nvSpPr>
          <p:cNvPr id="145" name="Rectangle 144"/>
          <p:cNvSpPr/>
          <p:nvPr/>
        </p:nvSpPr>
        <p:spPr>
          <a:xfrm>
            <a:off x="9674351" y="1768449"/>
            <a:ext cx="91440" cy="54864"/>
          </a:xfrm>
          <a:prstGeom prst="rect">
            <a:avLst/>
          </a:prstGeom>
          <a:solidFill>
            <a:srgbClr val="FBE5D6"/>
          </a:solidFill>
          <a:ln w="9525">
            <a:solidFill>
              <a:srgbClr val="C55A11"/>
            </a:solidFill>
          </a:ln>
          <a:effectLst/>
        </p:spPr>
        <p:txBody>
          <a:bodyPr rtlCol="0" anchor="ctr"/>
          <a:lstStyle/>
          <a:p>
            <a:pPr algn="ctr"/>
          </a:p>
        </p:txBody>
      </p:sp>
      <p:sp>
        <p:nvSpPr>
          <p:cNvPr id="146" name="Rectangle 145"/>
          <p:cNvSpPr/>
          <p:nvPr/>
        </p:nvSpPr>
        <p:spPr>
          <a:xfrm>
            <a:off x="9674351" y="1883664"/>
            <a:ext cx="91440" cy="54864"/>
          </a:xfrm>
          <a:prstGeom prst="rect">
            <a:avLst/>
          </a:prstGeom>
          <a:solidFill>
            <a:srgbClr val="FBE5D6"/>
          </a:solidFill>
          <a:ln w="9525">
            <a:solidFill>
              <a:srgbClr val="C55A11"/>
            </a:solidFill>
          </a:ln>
          <a:effectLst/>
        </p:spPr>
        <p:txBody>
          <a:bodyPr rtlCol="0" anchor="ctr"/>
          <a:lstStyle/>
          <a:p>
            <a:pPr algn="ctr"/>
          </a:p>
        </p:txBody>
      </p:sp>
      <p:sp>
        <p:nvSpPr>
          <p:cNvPr id="147" name="TextBox 146"/>
          <p:cNvSpPr txBox="1"/>
          <p:nvPr/>
        </p:nvSpPr>
        <p:spPr>
          <a:xfrm>
            <a:off x="8732520" y="2130552"/>
            <a:ext cx="1828800" cy="457200"/>
          </a:xfrm>
          <a:prstGeom prst="rect">
            <a:avLst/>
          </a:prstGeom>
          <a:noFill/>
        </p:spPr>
        <p:txBody>
          <a:bodyPr wrap="square" anchor="t" lIns="0" tIns="0" rIns="0" bIns="0">
            <a:spAutoFit/>
          </a:bodyPr>
          <a:lstStyle/>
          <a:p>
            <a:pPr algn="l"/>
            <a:r>
              <a:rPr sz="650" b="1">
                <a:solidFill>
                  <a:srgbClr val="000000"/>
                </a:solidFill>
                <a:latin typeface="맑은 고딕"/>
                <a:ea typeface="맑은 고딕"/>
              </a:rPr>
              <a:t>담당 서버 1 ~ N/2</a:t>
            </a:r>
          </a:p>
          <a:p>
            <a:pPr algn="l"/>
            <a:r>
              <a:rPr sz="650" b="0">
                <a:solidFill>
                  <a:srgbClr val="5E35B1"/>
                </a:solidFill>
                <a:latin typeface="맑은 고딕"/>
                <a:ea typeface="맑은 고딕"/>
              </a:rPr>
              <a:t>패턴(Strategy·Decorator·Adapter)은 샤드 안에서 그대로 재사용</a:t>
            </a:r>
          </a:p>
        </p:txBody>
      </p:sp>
      <p:sp>
        <p:nvSpPr>
          <p:cNvPr id="148" name="Rectangle 147"/>
          <p:cNvSpPr/>
          <p:nvPr/>
        </p:nvSpPr>
        <p:spPr>
          <a:xfrm>
            <a:off x="10972800" y="1508760"/>
            <a:ext cx="713232" cy="1005840"/>
          </a:xfrm>
          <a:prstGeom prst="rect">
            <a:avLst/>
          </a:prstGeom>
          <a:solidFill>
            <a:srgbClr val="D9D9D9"/>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vLLM</a:t>
            </a:r>
          </a:p>
          <a:p>
            <a:pPr algn="ctr"/>
            <a:r>
              <a:rPr sz="700" b="0">
                <a:solidFill>
                  <a:srgbClr val="404040"/>
                </a:solidFill>
                <a:latin typeface="맑은 고딕"/>
                <a:ea typeface="맑은 고딕"/>
              </a:rPr>
              <a:t>담당 서버</a:t>
            </a:r>
          </a:p>
          <a:p>
            <a:pPr algn="ctr"/>
            <a:r>
              <a:rPr sz="650" b="0">
                <a:solidFill>
                  <a:srgbClr val="404040"/>
                </a:solidFill>
                <a:latin typeface="맑은 고딕"/>
                <a:ea typeface="맑은 고딕"/>
              </a:rPr>
              <a:t>KV 이벤트·</a:t>
            </a:r>
          </a:p>
          <a:p>
            <a:pPr algn="ctr"/>
            <a:r>
              <a:rPr sz="650" b="0">
                <a:solidFill>
                  <a:srgbClr val="404040"/>
                </a:solidFill>
                <a:latin typeface="맑은 고딕"/>
                <a:ea typeface="맑은 고딕"/>
              </a:rPr>
              <a:t>/metrics는</a:t>
            </a:r>
          </a:p>
          <a:p>
            <a:pPr algn="ctr"/>
            <a:r>
              <a:rPr sz="650" b="0">
                <a:solidFill>
                  <a:srgbClr val="C00000"/>
                </a:solidFill>
                <a:latin typeface="맑은 고딕"/>
                <a:ea typeface="맑은 고딕"/>
              </a:rPr>
              <a:t>이 샤드로만</a:t>
            </a:r>
          </a:p>
        </p:txBody>
      </p:sp>
      <p:cxnSp>
        <p:nvCxnSpPr>
          <p:cNvPr id="149" name="Connector 148"/>
          <p:cNvCxnSpPr/>
          <p:nvPr/>
        </p:nvCxnSpPr>
        <p:spPr>
          <a:xfrm>
            <a:off x="10652759" y="2011680"/>
            <a:ext cx="320041" cy="0"/>
          </a:xfrm>
          <a:prstGeom prst="line">
            <a:avLst/>
          </a:prstGeom>
          <a:ln w="15875">
            <a:solidFill>
              <a:srgbClr val="404040"/>
            </a:solidFill>
            <a:headEnd type="triangle"/>
            <a:tailEnd type="triangle"/>
          </a:ln>
        </p:spPr>
      </p:cxnSp>
      <p:sp>
        <p:nvSpPr>
          <p:cNvPr id="150" name="Rectangle 149"/>
          <p:cNvSpPr/>
          <p:nvPr/>
        </p:nvSpPr>
        <p:spPr>
          <a:xfrm>
            <a:off x="8641080" y="2788920"/>
            <a:ext cx="2011680" cy="1188720"/>
          </a:xfrm>
          <a:prstGeom prst="rect">
            <a:avLst/>
          </a:prstGeom>
          <a:solidFill>
            <a:srgbClr val="FFFFFF"/>
          </a:solidFill>
          <a:ln w="15875">
            <a:solidFill>
              <a:srgbClr val="C55A11"/>
            </a:solidFill>
          </a:ln>
          <a:effectLst/>
        </p:spPr>
        <p:txBody>
          <a:bodyPr rtlCol="0" anchor="ctr"/>
          <a:lstStyle/>
          <a:p>
            <a:pPr algn="ctr"/>
          </a:p>
        </p:txBody>
      </p:sp>
      <p:sp>
        <p:nvSpPr>
          <p:cNvPr id="151" name="Rectangle 150"/>
          <p:cNvSpPr/>
          <p:nvPr/>
        </p:nvSpPr>
        <p:spPr>
          <a:xfrm>
            <a:off x="8641080" y="2788920"/>
            <a:ext cx="2011680" cy="173736"/>
          </a:xfrm>
          <a:prstGeom prst="rect">
            <a:avLst/>
          </a:prstGeom>
          <a:solidFill>
            <a:srgbClr val="C55A11"/>
          </a:solidFill>
          <a:ln w="12700">
            <a:solidFill>
              <a:srgbClr val="C55A11"/>
            </a:solidFill>
          </a:ln>
          <a:effectLst/>
        </p:spPr>
        <p:txBody>
          <a:bodyPr rtlCol="0" anchor="ctr" wrap="square" lIns="45720" tIns="0" rIns="18288" bIns="0"/>
          <a:lstStyle/>
          <a:p>
            <a:pPr algn="l"/>
            <a:r>
              <a:rPr sz="800" b="1">
                <a:solidFill>
                  <a:srgbClr val="FFFFFF"/>
                </a:solidFill>
                <a:latin typeface="맑은 고딕"/>
                <a:ea typeface="맑은 고딕"/>
              </a:rPr>
              <a:t>«process» Shard Router B</a:t>
            </a:r>
          </a:p>
        </p:txBody>
      </p:sp>
      <p:sp>
        <p:nvSpPr>
          <p:cNvPr id="152" name="Rectangle 151"/>
          <p:cNvSpPr/>
          <p:nvPr/>
        </p:nvSpPr>
        <p:spPr>
          <a:xfrm>
            <a:off x="8750808" y="3063239"/>
            <a:ext cx="914400"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Pipeline</a:t>
            </a:r>
          </a:p>
          <a:p>
            <a:pPr algn="ctr"/>
            <a:r>
              <a:rPr sz="650" b="0">
                <a:solidFill>
                  <a:srgbClr val="000000"/>
                </a:solidFill>
                <a:latin typeface="맑은 고딕"/>
                <a:ea typeface="맑은 고딕"/>
              </a:rPr>
              <a:t>Admission · Selector</a:t>
            </a:r>
          </a:p>
          <a:p>
            <a:pPr algn="ctr"/>
            <a:r>
              <a:rPr sz="650" b="0">
                <a:solidFill>
                  <a:srgbClr val="000000"/>
                </a:solidFill>
                <a:latin typeface="맑은 고딕"/>
                <a:ea typeface="맑은 고딕"/>
              </a:rPr>
              <a:t>Dispatcher</a:t>
            </a:r>
          </a:p>
        </p:txBody>
      </p:sp>
      <p:sp>
        <p:nvSpPr>
          <p:cNvPr id="153" name="Rectangle 152"/>
          <p:cNvSpPr/>
          <p:nvPr/>
        </p:nvSpPr>
        <p:spPr>
          <a:xfrm>
            <a:off x="8705088" y="3140049"/>
            <a:ext cx="91440" cy="54864"/>
          </a:xfrm>
          <a:prstGeom prst="rect">
            <a:avLst/>
          </a:prstGeom>
          <a:solidFill>
            <a:srgbClr val="FBE5D6"/>
          </a:solidFill>
          <a:ln w="9525">
            <a:solidFill>
              <a:srgbClr val="C55A11"/>
            </a:solidFill>
          </a:ln>
          <a:effectLst/>
        </p:spPr>
        <p:txBody>
          <a:bodyPr rtlCol="0" anchor="ctr"/>
          <a:lstStyle/>
          <a:p>
            <a:pPr algn="ctr"/>
          </a:p>
        </p:txBody>
      </p:sp>
      <p:sp>
        <p:nvSpPr>
          <p:cNvPr id="154" name="Rectangle 153"/>
          <p:cNvSpPr/>
          <p:nvPr/>
        </p:nvSpPr>
        <p:spPr>
          <a:xfrm>
            <a:off x="8705088" y="3255263"/>
            <a:ext cx="91440" cy="54864"/>
          </a:xfrm>
          <a:prstGeom prst="rect">
            <a:avLst/>
          </a:prstGeom>
          <a:solidFill>
            <a:srgbClr val="FBE5D6"/>
          </a:solidFill>
          <a:ln w="9525">
            <a:solidFill>
              <a:srgbClr val="C55A11"/>
            </a:solidFill>
          </a:ln>
          <a:effectLst/>
        </p:spPr>
        <p:txBody>
          <a:bodyPr rtlCol="0" anchor="ctr"/>
          <a:lstStyle/>
          <a:p>
            <a:pPr algn="ctr"/>
          </a:p>
        </p:txBody>
      </p:sp>
      <p:sp>
        <p:nvSpPr>
          <p:cNvPr id="155" name="Rectangle 154"/>
          <p:cNvSpPr/>
          <p:nvPr/>
        </p:nvSpPr>
        <p:spPr>
          <a:xfrm>
            <a:off x="9720072" y="3063239"/>
            <a:ext cx="84124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State Plane</a:t>
            </a:r>
          </a:p>
          <a:p>
            <a:pPr algn="ctr"/>
            <a:r>
              <a:rPr sz="650" b="0">
                <a:solidFill>
                  <a:srgbClr val="000000"/>
                </a:solidFill>
                <a:latin typeface="맑은 고딕"/>
                <a:ea typeface="맑은 고딕"/>
              </a:rPr>
              <a:t>담당 서버만</a:t>
            </a:r>
          </a:p>
        </p:txBody>
      </p:sp>
      <p:sp>
        <p:nvSpPr>
          <p:cNvPr id="156" name="Rectangle 155"/>
          <p:cNvSpPr/>
          <p:nvPr/>
        </p:nvSpPr>
        <p:spPr>
          <a:xfrm>
            <a:off x="9674351" y="3140049"/>
            <a:ext cx="91440" cy="54864"/>
          </a:xfrm>
          <a:prstGeom prst="rect">
            <a:avLst/>
          </a:prstGeom>
          <a:solidFill>
            <a:srgbClr val="FBE5D6"/>
          </a:solidFill>
          <a:ln w="9525">
            <a:solidFill>
              <a:srgbClr val="C55A11"/>
            </a:solidFill>
          </a:ln>
          <a:effectLst/>
        </p:spPr>
        <p:txBody>
          <a:bodyPr rtlCol="0" anchor="ctr"/>
          <a:lstStyle/>
          <a:p>
            <a:pPr algn="ctr"/>
          </a:p>
        </p:txBody>
      </p:sp>
      <p:sp>
        <p:nvSpPr>
          <p:cNvPr id="157" name="Rectangle 156"/>
          <p:cNvSpPr/>
          <p:nvPr/>
        </p:nvSpPr>
        <p:spPr>
          <a:xfrm>
            <a:off x="9674351" y="3255263"/>
            <a:ext cx="91440" cy="54864"/>
          </a:xfrm>
          <a:prstGeom prst="rect">
            <a:avLst/>
          </a:prstGeom>
          <a:solidFill>
            <a:srgbClr val="FBE5D6"/>
          </a:solidFill>
          <a:ln w="9525">
            <a:solidFill>
              <a:srgbClr val="C55A11"/>
            </a:solidFill>
          </a:ln>
          <a:effectLst/>
        </p:spPr>
        <p:txBody>
          <a:bodyPr rtlCol="0" anchor="ctr"/>
          <a:lstStyle/>
          <a:p>
            <a:pPr algn="ctr"/>
          </a:p>
        </p:txBody>
      </p:sp>
      <p:sp>
        <p:nvSpPr>
          <p:cNvPr id="158" name="TextBox 157"/>
          <p:cNvSpPr txBox="1"/>
          <p:nvPr/>
        </p:nvSpPr>
        <p:spPr>
          <a:xfrm>
            <a:off x="8732520" y="3502152"/>
            <a:ext cx="1828800" cy="457200"/>
          </a:xfrm>
          <a:prstGeom prst="rect">
            <a:avLst/>
          </a:prstGeom>
          <a:noFill/>
        </p:spPr>
        <p:txBody>
          <a:bodyPr wrap="square" anchor="t" lIns="0" tIns="0" rIns="0" bIns="0">
            <a:spAutoFit/>
          </a:bodyPr>
          <a:lstStyle/>
          <a:p>
            <a:pPr algn="l"/>
            <a:r>
              <a:rPr sz="650" b="1">
                <a:solidFill>
                  <a:srgbClr val="000000"/>
                </a:solidFill>
                <a:latin typeface="맑은 고딕"/>
                <a:ea typeface="맑은 고딕"/>
              </a:rPr>
              <a:t>담당 서버 N/2+1 ~ N</a:t>
            </a:r>
          </a:p>
          <a:p>
            <a:pPr algn="l"/>
            <a:r>
              <a:rPr sz="650" b="0">
                <a:solidFill>
                  <a:srgbClr val="5E35B1"/>
                </a:solidFill>
                <a:latin typeface="맑은 고딕"/>
                <a:ea typeface="맑은 고딕"/>
              </a:rPr>
              <a:t>패턴(Strategy·Decorator·Adapter)은 샤드 안에서 그대로 재사용</a:t>
            </a:r>
          </a:p>
        </p:txBody>
      </p:sp>
      <p:sp>
        <p:nvSpPr>
          <p:cNvPr id="159" name="Rectangle 158"/>
          <p:cNvSpPr/>
          <p:nvPr/>
        </p:nvSpPr>
        <p:spPr>
          <a:xfrm>
            <a:off x="10972800" y="2880360"/>
            <a:ext cx="713232" cy="1005840"/>
          </a:xfrm>
          <a:prstGeom prst="rect">
            <a:avLst/>
          </a:prstGeom>
          <a:solidFill>
            <a:srgbClr val="D9D9D9"/>
          </a:solidFill>
          <a:ln w="12700">
            <a:solidFill>
              <a:srgbClr val="7F7F7F"/>
            </a:solidFill>
          </a:ln>
          <a:effectLst/>
        </p:spPr>
        <p:txBody>
          <a:bodyPr rtlCol="0" anchor="ctr" wrap="square" lIns="36576" tIns="18288" rIns="36576" bIns="18288"/>
          <a:lstStyle/>
          <a:p>
            <a:pPr algn="ctr"/>
            <a:r>
              <a:rPr sz="750" b="1">
                <a:solidFill>
                  <a:srgbClr val="000000"/>
                </a:solidFill>
                <a:latin typeface="맑은 고딕"/>
                <a:ea typeface="맑은 고딕"/>
              </a:rPr>
              <a:t>vLLM</a:t>
            </a:r>
          </a:p>
          <a:p>
            <a:pPr algn="ctr"/>
            <a:r>
              <a:rPr sz="700" b="0">
                <a:solidFill>
                  <a:srgbClr val="404040"/>
                </a:solidFill>
                <a:latin typeface="맑은 고딕"/>
                <a:ea typeface="맑은 고딕"/>
              </a:rPr>
              <a:t>담당 서버</a:t>
            </a:r>
          </a:p>
          <a:p>
            <a:pPr algn="ctr"/>
            <a:r>
              <a:rPr sz="650" b="0">
                <a:solidFill>
                  <a:srgbClr val="404040"/>
                </a:solidFill>
                <a:latin typeface="맑은 고딕"/>
                <a:ea typeface="맑은 고딕"/>
              </a:rPr>
              <a:t>KV 이벤트·</a:t>
            </a:r>
          </a:p>
          <a:p>
            <a:pPr algn="ctr"/>
            <a:r>
              <a:rPr sz="650" b="0">
                <a:solidFill>
                  <a:srgbClr val="404040"/>
                </a:solidFill>
                <a:latin typeface="맑은 고딕"/>
                <a:ea typeface="맑은 고딕"/>
              </a:rPr>
              <a:t>/metrics는</a:t>
            </a:r>
          </a:p>
          <a:p>
            <a:pPr algn="ctr"/>
            <a:r>
              <a:rPr sz="650" b="0">
                <a:solidFill>
                  <a:srgbClr val="C00000"/>
                </a:solidFill>
                <a:latin typeface="맑은 고딕"/>
                <a:ea typeface="맑은 고딕"/>
              </a:rPr>
              <a:t>이 샤드로만</a:t>
            </a:r>
          </a:p>
        </p:txBody>
      </p:sp>
      <p:cxnSp>
        <p:nvCxnSpPr>
          <p:cNvPr id="160" name="Connector 159"/>
          <p:cNvCxnSpPr/>
          <p:nvPr/>
        </p:nvCxnSpPr>
        <p:spPr>
          <a:xfrm>
            <a:off x="10652759" y="3383279"/>
            <a:ext cx="320041" cy="0"/>
          </a:xfrm>
          <a:prstGeom prst="line">
            <a:avLst/>
          </a:prstGeom>
          <a:ln w="15875">
            <a:solidFill>
              <a:srgbClr val="404040"/>
            </a:solidFill>
            <a:headEnd type="triangle"/>
            <a:tailEnd type="triangle"/>
          </a:ln>
        </p:spPr>
      </p:cxnSp>
      <p:cxnSp>
        <p:nvCxnSpPr>
          <p:cNvPr id="161" name="Connector 160"/>
          <p:cNvCxnSpPr/>
          <p:nvPr/>
        </p:nvCxnSpPr>
        <p:spPr>
          <a:xfrm flipV="1">
            <a:off x="8275320" y="1828800"/>
            <a:ext cx="365760" cy="182880"/>
          </a:xfrm>
          <a:prstGeom prst="line">
            <a:avLst/>
          </a:prstGeom>
          <a:ln w="15875">
            <a:solidFill>
              <a:srgbClr val="404040"/>
            </a:solidFill>
            <a:tailEnd type="triangle"/>
          </a:ln>
        </p:spPr>
      </p:cxnSp>
      <p:cxnSp>
        <p:nvCxnSpPr>
          <p:cNvPr id="162" name="Connector 161"/>
          <p:cNvCxnSpPr/>
          <p:nvPr/>
        </p:nvCxnSpPr>
        <p:spPr>
          <a:xfrm>
            <a:off x="8275320" y="2514600"/>
            <a:ext cx="365760" cy="868680"/>
          </a:xfrm>
          <a:prstGeom prst="line">
            <a:avLst/>
          </a:prstGeom>
          <a:ln w="15875">
            <a:solidFill>
              <a:srgbClr val="404040"/>
            </a:solidFill>
            <a:tailEnd type="triangle"/>
          </a:ln>
        </p:spPr>
      </p:cxnSp>
      <p:cxnSp>
        <p:nvCxnSpPr>
          <p:cNvPr id="163" name="Connector 162"/>
          <p:cNvCxnSpPr/>
          <p:nvPr/>
        </p:nvCxnSpPr>
        <p:spPr>
          <a:xfrm>
            <a:off x="9646920" y="2606040"/>
            <a:ext cx="0" cy="182880"/>
          </a:xfrm>
          <a:prstGeom prst="line">
            <a:avLst/>
          </a:prstGeom>
          <a:ln w="19050">
            <a:solidFill>
              <a:srgbClr val="C00000"/>
            </a:solidFill>
            <a:headEnd type="triangle"/>
            <a:tailEnd type="triangle"/>
          </a:ln>
        </p:spPr>
      </p:cxnSp>
      <p:sp>
        <p:nvSpPr>
          <p:cNvPr id="164" name="TextBox 163"/>
          <p:cNvSpPr txBox="1"/>
          <p:nvPr/>
        </p:nvSpPr>
        <p:spPr>
          <a:xfrm>
            <a:off x="8366759" y="2624328"/>
            <a:ext cx="1188720" cy="128016"/>
          </a:xfrm>
          <a:prstGeom prst="rect">
            <a:avLst/>
          </a:prstGeom>
          <a:noFill/>
        </p:spPr>
        <p:txBody>
          <a:bodyPr wrap="square" anchor="t" lIns="0" tIns="0" rIns="0" bIns="0">
            <a:spAutoFit/>
          </a:bodyPr>
          <a:lstStyle/>
          <a:p>
            <a:pPr algn="r"/>
            <a:r>
              <a:rPr sz="700" b="1">
                <a:solidFill>
                  <a:srgbClr val="C00000"/>
                </a:solidFill>
                <a:latin typeface="맑은 고딕"/>
                <a:ea typeface="맑은 고딕"/>
              </a:rPr>
              <a:t>샤드 요약 교환</a:t>
            </a:r>
          </a:p>
        </p:txBody>
      </p:sp>
      <p:sp>
        <p:nvSpPr>
          <p:cNvPr id="165" name="Rectangle 164"/>
          <p:cNvSpPr/>
          <p:nvPr/>
        </p:nvSpPr>
        <p:spPr>
          <a:xfrm>
            <a:off x="6492240" y="3200400"/>
            <a:ext cx="1783080" cy="731520"/>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700" b="0">
                <a:solidFill>
                  <a:srgbClr val="404040"/>
                </a:solidFill>
                <a:latin typeface="맑은 고딕"/>
                <a:ea typeface="맑은 고딕"/>
              </a:rPr>
              <a:t>서버 → 샤드 배정(lease)</a:t>
            </a:r>
          </a:p>
          <a:p>
            <a:pPr algn="ctr"/>
            <a:r>
              <a:rPr sz="650" b="0">
                <a:solidFill>
                  <a:srgbClr val="404040"/>
                </a:solidFill>
                <a:latin typeface="맑은 고딕"/>
                <a:ea typeface="맑은 고딕"/>
              </a:rPr>
              <a:t>샤드 장애 시 lease 만료 후</a:t>
            </a:r>
          </a:p>
          <a:p>
            <a:pPr algn="ctr"/>
            <a:r>
              <a:rPr sz="650" b="0">
                <a:solidFill>
                  <a:srgbClr val="404040"/>
                </a:solidFill>
                <a:latin typeface="맑은 고딕"/>
                <a:ea typeface="맑은 고딕"/>
              </a:rPr>
              <a:t>이웃 샤드가 인수</a:t>
            </a:r>
          </a:p>
        </p:txBody>
      </p:sp>
      <p:cxnSp>
        <p:nvCxnSpPr>
          <p:cNvPr id="166" name="Connector 165"/>
          <p:cNvCxnSpPr/>
          <p:nvPr/>
        </p:nvCxnSpPr>
        <p:spPr>
          <a:xfrm>
            <a:off x="8275320" y="3611880"/>
            <a:ext cx="365760" cy="45720"/>
          </a:xfrm>
          <a:prstGeom prst="line">
            <a:avLst/>
          </a:prstGeom>
          <a:ln w="12700">
            <a:solidFill>
              <a:srgbClr val="404040"/>
            </a:solidFill>
            <a:prstDash val="dash"/>
            <a:tailEnd type="triangle"/>
          </a:ln>
        </p:spPr>
      </p:cxnSp>
      <p:cxnSp>
        <p:nvCxnSpPr>
          <p:cNvPr id="167" name="Connector 166"/>
          <p:cNvCxnSpPr/>
          <p:nvPr/>
        </p:nvCxnSpPr>
        <p:spPr>
          <a:xfrm flipV="1">
            <a:off x="8275320" y="2514600"/>
            <a:ext cx="365760" cy="777240"/>
          </a:xfrm>
          <a:prstGeom prst="line">
            <a:avLst/>
          </a:prstGeom>
          <a:ln w="12700">
            <a:solidFill>
              <a:srgbClr val="404040"/>
            </a:solidFill>
            <a:prstDash val="dash"/>
            <a:tailEnd type="triangle"/>
          </a:ln>
        </p:spPr>
      </p:cxnSp>
      <p:sp>
        <p:nvSpPr>
          <p:cNvPr id="168" name="Oval 167"/>
          <p:cNvSpPr/>
          <p:nvPr/>
        </p:nvSpPr>
        <p:spPr>
          <a:xfrm>
            <a:off x="8060435" y="170535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69" name="Oval 168"/>
          <p:cNvSpPr/>
          <p:nvPr/>
        </p:nvSpPr>
        <p:spPr>
          <a:xfrm>
            <a:off x="8581643" y="188823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70" name="Oval 169"/>
          <p:cNvSpPr/>
          <p:nvPr/>
        </p:nvSpPr>
        <p:spPr>
          <a:xfrm>
            <a:off x="11580876" y="143103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sp>
        <p:nvSpPr>
          <p:cNvPr id="171" name="Oval 170"/>
          <p:cNvSpPr/>
          <p:nvPr/>
        </p:nvSpPr>
        <p:spPr>
          <a:xfrm>
            <a:off x="9569196" y="261975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72" name="TextBox 171"/>
          <p:cNvSpPr txBox="1"/>
          <p:nvPr/>
        </p:nvSpPr>
        <p:spPr>
          <a:xfrm>
            <a:off x="246888" y="4160520"/>
            <a:ext cx="11750040" cy="182880"/>
          </a:xfrm>
          <a:prstGeom prst="rect">
            <a:avLst/>
          </a:prstGeom>
          <a:noFill/>
        </p:spPr>
        <p:txBody>
          <a:bodyPr wrap="square" anchor="t" lIns="0" tIns="0" rIns="0" bIns="0">
            <a:spAutoFit/>
          </a:bodyPr>
          <a:lstStyle/>
          <a:p>
            <a:pPr algn="l"/>
            <a:r>
              <a:rPr sz="1000" b="1">
                <a:solidFill>
                  <a:srgbClr val="000000"/>
                </a:solidFill>
                <a:latin typeface="맑은 고딕"/>
                <a:ea typeface="맑은 고딕"/>
              </a:rPr>
              <a:t>동작 규칙</a:t>
            </a:r>
          </a:p>
        </p:txBody>
      </p:sp>
      <p:sp>
        <p:nvSpPr>
          <p:cNvPr id="173" name="Rectangle 172"/>
          <p:cNvSpPr/>
          <p:nvPr/>
        </p:nvSpPr>
        <p:spPr>
          <a:xfrm>
            <a:off x="246888" y="4361688"/>
            <a:ext cx="274320" cy="246888"/>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①</a:t>
            </a:r>
          </a:p>
        </p:txBody>
      </p:sp>
      <p:sp>
        <p:nvSpPr>
          <p:cNvPr id="174" name="TextBox 173"/>
          <p:cNvSpPr txBox="1"/>
          <p:nvPr/>
        </p:nvSpPr>
        <p:spPr>
          <a:xfrm>
            <a:off x="594360" y="4370831"/>
            <a:ext cx="5577840" cy="246888"/>
          </a:xfrm>
          <a:prstGeom prst="rect">
            <a:avLst/>
          </a:prstGeom>
          <a:noFill/>
        </p:spPr>
        <p:txBody>
          <a:bodyPr wrap="square" anchor="ctr" lIns="0" tIns="0" rIns="0" bIns="0">
            <a:spAutoFit/>
          </a:bodyPr>
          <a:lstStyle/>
          <a:p>
            <a:pPr algn="l"/>
            <a:r>
              <a:rPr sz="720" b="0">
                <a:solidFill>
                  <a:srgbClr val="000000"/>
                </a:solidFill>
                <a:latin typeface="맑은 고딕"/>
                <a:ea typeface="맑은 고딕"/>
              </a:rPr>
              <a:t>요청은 Front Router의 Shard Selector가 요약 테이블만 보고 샤드를 고른다. Front Router는 상태를 갖지 않아 몇 개든 늘릴 수 있다</a:t>
            </a:r>
          </a:p>
        </p:txBody>
      </p:sp>
      <p:sp>
        <p:nvSpPr>
          <p:cNvPr id="175" name="Rectangle 174"/>
          <p:cNvSpPr/>
          <p:nvPr/>
        </p:nvSpPr>
        <p:spPr>
          <a:xfrm>
            <a:off x="246888" y="4690872"/>
            <a:ext cx="274320" cy="246888"/>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②</a:t>
            </a:r>
          </a:p>
        </p:txBody>
      </p:sp>
      <p:sp>
        <p:nvSpPr>
          <p:cNvPr id="176" name="TextBox 175"/>
          <p:cNvSpPr txBox="1"/>
          <p:nvPr/>
        </p:nvSpPr>
        <p:spPr>
          <a:xfrm>
            <a:off x="594360" y="4700016"/>
            <a:ext cx="5577840" cy="246888"/>
          </a:xfrm>
          <a:prstGeom prst="rect">
            <a:avLst/>
          </a:prstGeom>
          <a:noFill/>
        </p:spPr>
        <p:txBody>
          <a:bodyPr wrap="square" anchor="ctr" lIns="0" tIns="0" rIns="0" bIns="0">
            <a:spAutoFit/>
          </a:bodyPr>
          <a:lstStyle/>
          <a:p>
            <a:pPr algn="l"/>
            <a:r>
              <a:rPr sz="720" b="0">
                <a:solidFill>
                  <a:srgbClr val="000000"/>
                </a:solidFill>
                <a:latin typeface="맑은 고딕"/>
                <a:ea typeface="맑은 고딕"/>
              </a:rPr>
              <a:t>선택된 Shard Router가 담당 서버의 상세 상태로 서버를 고르고 P/D 조율·지시(P5)를 한다. 샤드 안 구조는 현재 2안과 같아 코드를 재사용한다</a:t>
            </a:r>
          </a:p>
        </p:txBody>
      </p:sp>
      <p:sp>
        <p:nvSpPr>
          <p:cNvPr id="177" name="Rectangle 176"/>
          <p:cNvSpPr/>
          <p:nvPr/>
        </p:nvSpPr>
        <p:spPr>
          <a:xfrm>
            <a:off x="246888" y="5020056"/>
            <a:ext cx="274320" cy="246888"/>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③</a:t>
            </a:r>
          </a:p>
        </p:txBody>
      </p:sp>
      <p:sp>
        <p:nvSpPr>
          <p:cNvPr id="178" name="TextBox 177"/>
          <p:cNvSpPr txBox="1"/>
          <p:nvPr/>
        </p:nvSpPr>
        <p:spPr>
          <a:xfrm>
            <a:off x="594360" y="5029200"/>
            <a:ext cx="5577840" cy="246888"/>
          </a:xfrm>
          <a:prstGeom prst="rect">
            <a:avLst/>
          </a:prstGeom>
          <a:noFill/>
        </p:spPr>
        <p:txBody>
          <a:bodyPr wrap="square" anchor="ctr" lIns="0" tIns="0" rIns="0" bIns="0">
            <a:spAutoFit/>
          </a:bodyPr>
          <a:lstStyle/>
          <a:p>
            <a:pPr algn="l"/>
            <a:r>
              <a:rPr sz="720" b="0">
                <a:solidFill>
                  <a:srgbClr val="000000"/>
                </a:solidFill>
                <a:latin typeface="맑은 고딕"/>
                <a:ea typeface="맑은 고딕"/>
              </a:rPr>
              <a:t>서버는 한 샤드에만 속해 이벤트·메트릭 처리량이 N ÷ 샤드 수로 줄고, 샤드 수를 서버에 비례해 늘리면 레플리카당 부하가 일정하다 (SE 개선의 근거)</a:t>
            </a:r>
          </a:p>
        </p:txBody>
      </p:sp>
      <p:sp>
        <p:nvSpPr>
          <p:cNvPr id="179" name="Rectangle 178"/>
          <p:cNvSpPr/>
          <p:nvPr/>
        </p:nvSpPr>
        <p:spPr>
          <a:xfrm>
            <a:off x="246888" y="5349240"/>
            <a:ext cx="274320" cy="246888"/>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④</a:t>
            </a:r>
          </a:p>
        </p:txBody>
      </p:sp>
      <p:sp>
        <p:nvSpPr>
          <p:cNvPr id="180" name="TextBox 179"/>
          <p:cNvSpPr txBox="1"/>
          <p:nvPr/>
        </p:nvSpPr>
        <p:spPr>
          <a:xfrm>
            <a:off x="594360" y="5358384"/>
            <a:ext cx="5577840" cy="246888"/>
          </a:xfrm>
          <a:prstGeom prst="rect">
            <a:avLst/>
          </a:prstGeom>
          <a:noFill/>
        </p:spPr>
        <p:txBody>
          <a:bodyPr wrap="square" anchor="ctr" lIns="0" tIns="0" rIns="0" bIns="0">
            <a:spAutoFit/>
          </a:bodyPr>
          <a:lstStyle/>
          <a:p>
            <a:pPr algn="l"/>
            <a:r>
              <a:rPr sz="720" b="0">
                <a:solidFill>
                  <a:srgbClr val="000000"/>
                </a:solidFill>
                <a:latin typeface="맑은 고딕"/>
                <a:ea typeface="맑은 고딕"/>
              </a:rPr>
              <a:t>샤드끼리는 부하·prefix sketch 요약만 교환한다. 요약은 최대 ~1 s 낡을 수 있어 캐시 인지 라우팅 정확도가 일부 떨어진다 (DP0-1의 S2 '2단 위임'과 같은 방향)</a:t>
            </a:r>
          </a:p>
        </p:txBody>
      </p:sp>
      <p:sp>
        <p:nvSpPr>
          <p:cNvPr id="181" name="Rectangle 180"/>
          <p:cNvSpPr/>
          <p:nvPr/>
        </p:nvSpPr>
        <p:spPr>
          <a:xfrm>
            <a:off x="6400800" y="4160520"/>
            <a:ext cx="777240" cy="219456"/>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82" name="Rectangle 181"/>
          <p:cNvSpPr/>
          <p:nvPr/>
        </p:nvSpPr>
        <p:spPr>
          <a:xfrm>
            <a:off x="7178040" y="4160520"/>
            <a:ext cx="1097280" cy="219456"/>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현재 2안</a:t>
            </a:r>
          </a:p>
        </p:txBody>
      </p:sp>
      <p:sp>
        <p:nvSpPr>
          <p:cNvPr id="183" name="Rectangle 182"/>
          <p:cNvSpPr/>
          <p:nvPr/>
        </p:nvSpPr>
        <p:spPr>
          <a:xfrm>
            <a:off x="8275319" y="4160520"/>
            <a:ext cx="1371600" cy="219456"/>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보완 후 (예상)</a:t>
            </a:r>
          </a:p>
        </p:txBody>
      </p:sp>
      <p:sp>
        <p:nvSpPr>
          <p:cNvPr id="184" name="Rectangle 183"/>
          <p:cNvSpPr/>
          <p:nvPr/>
        </p:nvSpPr>
        <p:spPr>
          <a:xfrm>
            <a:off x="9646919" y="4160520"/>
            <a:ext cx="2350008" cy="219456"/>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이유 · 비용</a:t>
            </a:r>
          </a:p>
        </p:txBody>
      </p:sp>
      <p:sp>
        <p:nvSpPr>
          <p:cNvPr id="185" name="Rectangle 184"/>
          <p:cNvSpPr/>
          <p:nvPr/>
        </p:nvSpPr>
        <p:spPr>
          <a:xfrm>
            <a:off x="6400800" y="4379976"/>
            <a:ext cx="7772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700" b="1">
                <a:solidFill>
                  <a:srgbClr val="000000"/>
                </a:solidFill>
                <a:latin typeface="맑은 고딕"/>
                <a:ea typeface="맑은 고딕"/>
              </a:rPr>
              <a:t>Q4 확장성</a:t>
            </a:r>
          </a:p>
        </p:txBody>
      </p:sp>
      <p:sp>
        <p:nvSpPr>
          <p:cNvPr id="186" name="Rectangle 185"/>
          <p:cNvSpPr/>
          <p:nvPr/>
        </p:nvSpPr>
        <p:spPr>
          <a:xfrm>
            <a:off x="7178040" y="4379976"/>
            <a:ext cx="1097280"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SE(16) 64% ★</a:t>
            </a:r>
          </a:p>
        </p:txBody>
      </p:sp>
      <p:sp>
        <p:nvSpPr>
          <p:cNvPr id="187" name="Rectangle 186"/>
          <p:cNvSpPr/>
          <p:nvPr/>
        </p:nvSpPr>
        <p:spPr>
          <a:xfrm>
            <a:off x="8275319" y="4379976"/>
            <a:ext cx="1371600"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 80% ★★ (가설)</a:t>
            </a:r>
          </a:p>
        </p:txBody>
      </p:sp>
      <p:sp>
        <p:nvSpPr>
          <p:cNvPr id="188" name="Rectangle 187"/>
          <p:cNvSpPr/>
          <p:nvPr/>
        </p:nvSpPr>
        <p:spPr>
          <a:xfrm>
            <a:off x="9646919" y="4379976"/>
            <a:ext cx="235000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상태 갱신 부하 ∝ N → 일정. 70% 경계 통과 여부는 E4/시뮬로 확인</a:t>
            </a:r>
          </a:p>
        </p:txBody>
      </p:sp>
      <p:sp>
        <p:nvSpPr>
          <p:cNvPr id="189" name="Rectangle 188"/>
          <p:cNvSpPr/>
          <p:nvPr/>
        </p:nvSpPr>
        <p:spPr>
          <a:xfrm>
            <a:off x="6400800" y="4709160"/>
            <a:ext cx="7772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700" b="1">
                <a:solidFill>
                  <a:srgbClr val="000000"/>
                </a:solidFill>
                <a:latin typeface="맑은 고딕"/>
                <a:ea typeface="맑은 고딕"/>
              </a:rPr>
              <a:t>Q2 지연</a:t>
            </a:r>
          </a:p>
        </p:txBody>
      </p:sp>
      <p:sp>
        <p:nvSpPr>
          <p:cNvPr id="190" name="Rectangle 189"/>
          <p:cNvSpPr/>
          <p:nvPr/>
        </p:nvSpPr>
        <p:spPr>
          <a:xfrm>
            <a:off x="7178040" y="4709160"/>
            <a:ext cx="1097280"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TTFT 1,940 ms ★★★</a:t>
            </a:r>
          </a:p>
        </p:txBody>
      </p:sp>
      <p:sp>
        <p:nvSpPr>
          <p:cNvPr id="191" name="Rectangle 190"/>
          <p:cNvSpPr/>
          <p:nvPr/>
        </p:nvSpPr>
        <p:spPr>
          <a:xfrm>
            <a:off x="8275319" y="4709160"/>
            <a:ext cx="1371600"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+30~60 ms, 2 s 경계</a:t>
            </a:r>
          </a:p>
        </p:txBody>
      </p:sp>
      <p:sp>
        <p:nvSpPr>
          <p:cNvPr id="192" name="Rectangle 191"/>
          <p:cNvSpPr/>
          <p:nvPr/>
        </p:nvSpPr>
        <p:spPr>
          <a:xfrm>
            <a:off x="9646919" y="4709160"/>
            <a:ext cx="235000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Front Router hop 약 10 ms + 요약 낡음으로 캐시 적중 손실. ★★★ 유지 불확실</a:t>
            </a:r>
          </a:p>
        </p:txBody>
      </p:sp>
      <p:sp>
        <p:nvSpPr>
          <p:cNvPr id="193" name="Rectangle 192"/>
          <p:cNvSpPr/>
          <p:nvPr/>
        </p:nvSpPr>
        <p:spPr>
          <a:xfrm>
            <a:off x="6400800" y="5038344"/>
            <a:ext cx="7772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700" b="1">
                <a:solidFill>
                  <a:srgbClr val="000000"/>
                </a:solidFill>
                <a:latin typeface="맑은 고딕"/>
                <a:ea typeface="맑은 고딕"/>
              </a:rPr>
              <a:t>Q3 변경</a:t>
            </a:r>
          </a:p>
        </p:txBody>
      </p:sp>
      <p:sp>
        <p:nvSpPr>
          <p:cNvPr id="194" name="Rectangle 193"/>
          <p:cNvSpPr/>
          <p:nvPr/>
        </p:nvSpPr>
        <p:spPr>
          <a:xfrm>
            <a:off x="7178040" y="5038344"/>
            <a:ext cx="1097280"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module 1.9 ★★★</a:t>
            </a:r>
          </a:p>
        </p:txBody>
      </p:sp>
      <p:sp>
        <p:nvSpPr>
          <p:cNvPr id="195" name="Rectangle 194"/>
          <p:cNvSpPr/>
          <p:nvPr/>
        </p:nvSpPr>
        <p:spPr>
          <a:xfrm>
            <a:off x="8275319" y="5038344"/>
            <a:ext cx="1371600"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+1~2 module</a:t>
            </a:r>
          </a:p>
        </p:txBody>
      </p:sp>
      <p:sp>
        <p:nvSpPr>
          <p:cNvPr id="196" name="Rectangle 195"/>
          <p:cNvSpPr/>
          <p:nvPr/>
        </p:nvSpPr>
        <p:spPr>
          <a:xfrm>
            <a:off x="9646919" y="5038344"/>
            <a:ext cx="235000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Front Router · 샤드 배정(etcd) 추가. 정책 교체(S2~S4)는 샤드 안이라 영향 작음</a:t>
            </a:r>
          </a:p>
        </p:txBody>
      </p:sp>
      <p:sp>
        <p:nvSpPr>
          <p:cNvPr id="197" name="Rectangle 196"/>
          <p:cNvSpPr/>
          <p:nvPr/>
        </p:nvSpPr>
        <p:spPr>
          <a:xfrm>
            <a:off x="6400800" y="5367528"/>
            <a:ext cx="7772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700" b="1">
                <a:solidFill>
                  <a:srgbClr val="000000"/>
                </a:solidFill>
                <a:latin typeface="맑은 고딕"/>
                <a:ea typeface="맑은 고딕"/>
              </a:rPr>
              <a:t>구현 부담</a:t>
            </a:r>
          </a:p>
        </p:txBody>
      </p:sp>
      <p:sp>
        <p:nvSpPr>
          <p:cNvPr id="198" name="Rectangle 197"/>
          <p:cNvSpPr/>
          <p:nvPr/>
        </p:nvSpPr>
        <p:spPr>
          <a:xfrm>
            <a:off x="7178040" y="5367528"/>
            <a:ext cx="1097280"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6/6 직접 구현</a:t>
            </a:r>
          </a:p>
        </p:txBody>
      </p:sp>
      <p:sp>
        <p:nvSpPr>
          <p:cNvPr id="199" name="Rectangle 198"/>
          <p:cNvSpPr/>
          <p:nvPr/>
        </p:nvSpPr>
        <p:spPr>
          <a:xfrm>
            <a:off x="8275319" y="5367528"/>
            <a:ext cx="1371600"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더 증가</a:t>
            </a:r>
          </a:p>
        </p:txBody>
      </p:sp>
      <p:sp>
        <p:nvSpPr>
          <p:cNvPr id="200" name="Rectangle 199"/>
          <p:cNvSpPr/>
          <p:nvPr/>
        </p:nvSpPr>
        <p:spPr>
          <a:xfrm>
            <a:off x="9646919" y="5367528"/>
            <a:ext cx="235000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700" b="0">
                <a:solidFill>
                  <a:srgbClr val="000000"/>
                </a:solidFill>
                <a:latin typeface="맑은 고딕"/>
                <a:ea typeface="맑은 고딕"/>
              </a:rPr>
              <a:t>Front Router, 요약 교환, 샤드 인수 로직. QA 밖 비용으로 병기</a:t>
            </a:r>
          </a:p>
        </p:txBody>
      </p:sp>
      <p:sp>
        <p:nvSpPr>
          <p:cNvPr id="201" name="Rectangle 200"/>
          <p:cNvSpPr/>
          <p:nvPr/>
        </p:nvSpPr>
        <p:spPr>
          <a:xfrm>
            <a:off x="246888" y="5760720"/>
            <a:ext cx="11750040" cy="475488"/>
          </a:xfrm>
          <a:prstGeom prst="rect">
            <a:avLst/>
          </a:prstGeom>
          <a:solidFill>
            <a:srgbClr val="FFFBEA"/>
          </a:solidFill>
          <a:ln w="12700">
            <a:solidFill>
              <a:srgbClr val="BF9000"/>
            </a:solidFill>
          </a:ln>
          <a:effectLst/>
        </p:spPr>
        <p:txBody>
          <a:bodyPr rtlCol="0" anchor="ctr"/>
          <a:lstStyle/>
          <a:p>
            <a:pPr algn="ctr"/>
          </a:p>
        </p:txBody>
      </p:sp>
      <p:sp>
        <p:nvSpPr>
          <p:cNvPr id="202" name="TextBox 201"/>
          <p:cNvSpPr txBox="1"/>
          <p:nvPr/>
        </p:nvSpPr>
        <p:spPr>
          <a:xfrm>
            <a:off x="338328" y="5788152"/>
            <a:ext cx="11567160" cy="438912"/>
          </a:xfrm>
          <a:prstGeom prst="rect">
            <a:avLst/>
          </a:prstGeom>
          <a:noFill/>
        </p:spPr>
        <p:txBody>
          <a:bodyPr wrap="square" anchor="t" lIns="0" tIns="0" rIns="0" bIns="0">
            <a:spAutoFit/>
          </a:bodyPr>
          <a:lstStyle/>
          <a:p>
            <a:pPr algn="l"/>
            <a:r>
              <a:rPr sz="900" b="1">
                <a:solidFill>
                  <a:srgbClr val="C00000"/>
                </a:solidFill>
                <a:latin typeface="맑은 고딕"/>
                <a:ea typeface="맑은 고딕"/>
              </a:rPr>
              <a:t>정리  </a:t>
            </a:r>
            <a:r>
              <a:rPr sz="850" b="0">
                <a:solidFill>
                  <a:srgbClr val="000000"/>
                </a:solidFill>
                <a:latin typeface="맑은 고딕"/>
                <a:ea typeface="맑은 고딕"/>
              </a:rPr>
              <a:t>샤딩은 Q4를 ★에서 ★★로 올릴 가능성이 있지만 Q2(경계)와 구현 부담을 키운다. 별 합계로는 +1(Q4) 대신 Q2 ★★★ 유지가 불확실해 합계가 오른다고 단정할 수 없다. 이 장은 가설이며 확정은 E4(서버 수별 Goodput)와 E1(Front Router hop)로 한다.</a:t>
            </a:r>
          </a:p>
        </p:txBody>
      </p:sp>
      <p:sp>
        <p:nvSpPr>
          <p:cNvPr id="203" name="TextBox 202"/>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보완 설계안(미구현). 효과 수치는 모두 가설 [C]. 소유자 확정 별점(Q4 ★)은 보완 전 현재 설계 기준이며 이 장으로 바꾸지 않았다.</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
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03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8E92C5-ED7E-4875-B274-95F23C2CE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1C1181-5137-4A59-849E-EF429916B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A24972-B43D-4BFB-B22B-EAD3863A1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C32921-8B0B-4240-B78F-BE51A423D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772B79-6A32-4330-A7F4-FC3D5E72D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674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36A0DD-8E60-47F4-9843-7878E35CB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CFFE95-324D-4A9B-BB47-730AF6C5F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DD69E4-CE98-474A-B4A4-DE527B875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0422FE-50AB-4528-BA32-748D2BE5C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CF3FD6-A665-4323-934B-A4D8C9C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187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A6054-7008-4B47-AFBB-FD1265B6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9AAAB9-A6AF-4BB9-98A2-7D28B926F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0C2101-9FC7-48B4-B49B-A48DA9100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3104BD-C87F-415E-B98B-C8414AEF6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6E5F6B-13C3-48F7-82EF-66F0CEDE7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963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8448FB-4345-4203-9C0B-4E92F0BA3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F8ED0C-F7F0-434C-8964-1EA661FB51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9D6865-ADF3-49A0-B648-900E822CC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B1A3AA-FC14-46C9-90FC-AD15710A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7D8DC6-9ED2-425C-ADC2-E5B687B6A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DBE30C-DBE2-4B5A-A411-2D6C59EEF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76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39F96D-D0DB-4FE8-BEA4-262662E59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C76505-FFE7-41B5-9D5F-F4D305B50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F74824-FF95-4859-B7A5-C35D512F4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1F40A1-90E3-4B3B-98C7-51DB44CCE5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32B02B-3242-4673-8095-9BF70E683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CFD10D9-086C-4D17-9235-D791D0E0B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A9C1E53-F41E-4F65-8E4E-C760B3CA2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EF15AA-38C2-4C19-A259-97FB63F1B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111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D705F1-F4A1-496F-B807-2EF9BB10F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9175092-548C-4318-B0CC-2453DE170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3E8A59-3054-45C6-9459-FD1161E00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40DE3BC-28AC-47CC-827C-484564F4C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274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34A590C-E83E-4F61-AED3-F70B1F1B1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39C82E-0B76-481E-A0F1-7C561AB12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7E542-9FD8-4008-BDA5-86516F1A9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846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571994-CC03-4E80-B4C2-DD695E36F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BDB054-5802-49E2-981B-A497A7599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F6B05F-0F3C-4AA5-AB0B-C8045D3AC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107CAC-A703-4AD2-9678-330AE604E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7A0BB8-291B-486F-8F41-F1975A0BC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94767A-A762-4644-B746-3494E11F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17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53291-DC6B-4836-B88A-C5A95AD9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69F4547-3CEA-4C51-973C-4372F7BA34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2984F6-ECBB-4279-8D8F-72C2D30FF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9EEE63-CEC3-4DA3-9215-35012ADC6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0E1EE8-56ED-4B6F-BBD7-66D5835A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5F57F4-7924-490B-9306-9ABA2924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889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5F96D5-8AE9-4C38-8DEF-EBAF997D0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FAEA51-C168-44DE-9DE4-EBC81676A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6998F5-57A0-4E13-8C65-B6ACFDF9A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6EBBAF-4F0D-41C3-84D1-4C0C69917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B48A8B-AD22-4092-B971-7ECD6E00D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537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08D06EF-29EE-4375-A26F-AC8426666A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97E908-7C85-4FD7-A4DE-1CFACACAF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146172-F96A-4922-B82A-3FCB079F8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285D2D-7C12-41A7-97AB-B3BB86267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30C980-B384-40E1-8C20-697ABE923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472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요구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3362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2ABE4C-3010-41F0-A5B4-75F310189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1EE271-FEA3-441B-8976-599BE3FB0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1D6435-F383-4D1E-9B4B-F73E4ED22A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03CAF-3915-481D-ADE8-B1FC5DC199FE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E0076D-A9D6-4EAF-81EE-8FAB519DDD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5E12E2-2E98-4625-8B2B-DC3B9CBDB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CADFC-0F0A-44E4-90CA-0FB62FAFA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589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Baseline </a:t>
            </a:r>
            <a:r>
              <a:rPr lang="ko-KR" altLang="en-US" dirty="0"/>
              <a:t>시스템 </a:t>
            </a:r>
            <a:r>
              <a:rPr lang="en-US" altLang="ko-KR" dirty="0"/>
              <a:t>vs Target </a:t>
            </a:r>
            <a:r>
              <a:rPr lang="ko-KR" altLang="en-US" dirty="0"/>
              <a:t>시스템</a:t>
            </a:r>
          </a:p>
        </p:txBody>
      </p:sp>
      <p:sp>
        <p:nvSpPr>
          <p:cNvPr id="119" name="Rectangle 3"/>
          <p:cNvSpPr/>
          <p:nvPr/>
        </p:nvSpPr>
        <p:spPr>
          <a:xfrm>
            <a:off x="365760" y="694944"/>
            <a:ext cx="11521440" cy="1828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61950" y="804672"/>
            <a:ext cx="1524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08080"/>
                </a:solidFill>
                <a:latin typeface="맑은 고딕"/>
                <a:ea typeface="맑은 고딕"/>
              </a:rPr>
              <a:t>구성  (1노드 · ×4노드)</a:t>
            </a:r>
          </a:p>
        </p:txBody>
      </p:sp>
      <p:sp>
        <p:nvSpPr>
          <p:cNvPr id="121" name="Rectangle 5"/>
          <p:cNvSpPr/>
          <p:nvPr/>
        </p:nvSpPr>
        <p:spPr>
          <a:xfrm>
            <a:off x="1885950" y="804672"/>
            <a:ext cx="1809750" cy="29260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Baseline</a:t>
            </a:r>
          </a:p>
          <a:p>
            <a:pPr algn="ctr">
              <a:lnSpc>
                <a:spcPct val="95000"/>
              </a:lnSpc>
            </a:pPr>
            <a:r>
              <a:rPr sz="800" b="0" i="0">
                <a:solidFill>
                  <a:srgbClr val="FFFFFF"/>
                </a:solidFill>
                <a:latin typeface="맑은 고딕"/>
                <a:ea typeface="맑은 고딕"/>
              </a:rPr>
              <a:t>H100 × 8</a:t>
            </a:r>
          </a:p>
        </p:txBody>
      </p:sp>
      <p:sp>
        <p:nvSpPr>
          <p:cNvPr id="236" name="Rectangle 6"/>
          <p:cNvSpPr/>
          <p:nvPr/>
        </p:nvSpPr>
        <p:spPr>
          <a:xfrm>
            <a:off x="3752850" y="804672"/>
            <a:ext cx="1809750" cy="29260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Target 1</a:t>
            </a:r>
          </a:p>
          <a:p>
            <a:pPr algn="ctr">
              <a:lnSpc>
                <a:spcPct val="95000"/>
              </a:lnSpc>
            </a:pPr>
            <a:r>
              <a:rPr sz="800" b="0" i="0">
                <a:solidFill>
                  <a:srgbClr val="FFFFFF"/>
                </a:solidFill>
                <a:latin typeface="맑은 고딕"/>
                <a:ea typeface="맑은 고딕"/>
              </a:rPr>
              <a:t>H100 × 4 + CXL-PNM × 4</a:t>
            </a:r>
          </a:p>
        </p:txBody>
      </p:sp>
      <p:sp>
        <p:nvSpPr>
          <p:cNvPr id="237" name="Rectangle 7"/>
          <p:cNvSpPr/>
          <p:nvPr/>
        </p:nvSpPr>
        <p:spPr>
          <a:xfrm>
            <a:off x="5619750" y="804672"/>
            <a:ext cx="1809750" cy="29260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Target 2</a:t>
            </a:r>
          </a:p>
          <a:p>
            <a:pPr algn="ctr">
              <a:lnSpc>
                <a:spcPct val="95000"/>
              </a:lnSpc>
            </a:pPr>
            <a:r>
              <a:rPr sz="800" b="0" i="0">
                <a:solidFill>
                  <a:srgbClr val="FFFFFF"/>
                </a:solidFill>
                <a:latin typeface="맑은 고딕"/>
                <a:ea typeface="맑은 고딕"/>
              </a:rPr>
              <a:t>Target 1 + HBM 절반 → HBF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61950" y="1181100"/>
            <a:ext cx="15240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08080"/>
                </a:solidFill>
                <a:latin typeface="맑은 고딕"/>
                <a:ea typeface="맑은 고딕"/>
              </a:rPr>
              <a:t>가속기  상단 4슬롯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08080"/>
                </a:solidFill>
                <a:latin typeface="맑은 고딕"/>
                <a:ea typeface="맑은 고딕"/>
              </a:rPr>
              <a:t>연산 + 고대역 메모리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361950" y="17526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08080"/>
                </a:solidFill>
                <a:latin typeface="맑은 고딕"/>
                <a:ea typeface="맑은 고딕"/>
              </a:rPr>
              <a:t>CPU  2소켓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361950" y="2181225"/>
            <a:ext cx="15240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08080"/>
                </a:solidFill>
                <a:latin typeface="맑은 고딕"/>
                <a:ea typeface="맑은 고딕"/>
              </a:rPr>
              <a:t>가속기  하단 4슬롯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361950" y="2762250"/>
            <a:ext cx="15240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08080"/>
                </a:solidFill>
                <a:latin typeface="맑은 고딕"/>
                <a:ea typeface="맑은 고딕"/>
              </a:rPr>
              <a:t>스토리지</a:t>
            </a:r>
          </a:p>
        </p:txBody>
      </p:sp>
      <p:sp>
        <p:nvSpPr>
          <p:cNvPr id="242" name="Rectangle 12"/>
          <p:cNvSpPr/>
          <p:nvPr/>
        </p:nvSpPr>
        <p:spPr>
          <a:xfrm>
            <a:off x="1885950" y="1133475"/>
            <a:ext cx="1809750" cy="1933575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243" name="Rectangle 13"/>
          <p:cNvSpPr/>
          <p:nvPr/>
        </p:nvSpPr>
        <p:spPr>
          <a:xfrm>
            <a:off x="1943100" y="1181100"/>
            <a:ext cx="39052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GPU0</a:t>
            </a:r>
          </a:p>
        </p:txBody>
      </p:sp>
      <p:sp>
        <p:nvSpPr>
          <p:cNvPr id="244" name="Rectangle 14"/>
          <p:cNvSpPr/>
          <p:nvPr/>
        </p:nvSpPr>
        <p:spPr>
          <a:xfrm>
            <a:off x="1943100" y="1409700"/>
            <a:ext cx="39052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45" name="Rectangle 15"/>
          <p:cNvSpPr/>
          <p:nvPr/>
        </p:nvSpPr>
        <p:spPr>
          <a:xfrm>
            <a:off x="2366962" y="1181100"/>
            <a:ext cx="39052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GPU1</a:t>
            </a:r>
          </a:p>
        </p:txBody>
      </p:sp>
      <p:sp>
        <p:nvSpPr>
          <p:cNvPr id="246" name="Rectangle 16"/>
          <p:cNvSpPr/>
          <p:nvPr/>
        </p:nvSpPr>
        <p:spPr>
          <a:xfrm>
            <a:off x="2366962" y="1409700"/>
            <a:ext cx="39052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47" name="Rectangle 17"/>
          <p:cNvSpPr/>
          <p:nvPr/>
        </p:nvSpPr>
        <p:spPr>
          <a:xfrm>
            <a:off x="2790825" y="1181100"/>
            <a:ext cx="39052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GPU2</a:t>
            </a:r>
          </a:p>
        </p:txBody>
      </p:sp>
      <p:sp>
        <p:nvSpPr>
          <p:cNvPr id="248" name="Rectangle 18"/>
          <p:cNvSpPr/>
          <p:nvPr/>
        </p:nvSpPr>
        <p:spPr>
          <a:xfrm>
            <a:off x="2790825" y="1409700"/>
            <a:ext cx="39052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49" name="Rectangle 19"/>
          <p:cNvSpPr/>
          <p:nvPr/>
        </p:nvSpPr>
        <p:spPr>
          <a:xfrm>
            <a:off x="3214688" y="1181100"/>
            <a:ext cx="39052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GPU3</a:t>
            </a:r>
          </a:p>
        </p:txBody>
      </p:sp>
      <p:sp>
        <p:nvSpPr>
          <p:cNvPr id="250" name="Rectangle 20"/>
          <p:cNvSpPr/>
          <p:nvPr/>
        </p:nvSpPr>
        <p:spPr>
          <a:xfrm>
            <a:off x="3214688" y="1409700"/>
            <a:ext cx="39052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51" name="Rectangle 21"/>
          <p:cNvSpPr/>
          <p:nvPr/>
        </p:nvSpPr>
        <p:spPr>
          <a:xfrm>
            <a:off x="1943100" y="1752600"/>
            <a:ext cx="814388" cy="381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62626"/>
                </a:solidFill>
                <a:latin typeface="맑은 고딕"/>
                <a:ea typeface="맑은 고딕"/>
              </a:rPr>
              <a:t>CPU0</a:t>
            </a:r>
          </a:p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62626"/>
                </a:solidFill>
                <a:latin typeface="맑은 고딕"/>
                <a:ea typeface="맑은 고딕"/>
              </a:rPr>
              <a:t>56C · DDR 512GB</a:t>
            </a:r>
          </a:p>
        </p:txBody>
      </p:sp>
      <p:sp>
        <p:nvSpPr>
          <p:cNvPr id="252" name="Rectangle 22"/>
          <p:cNvSpPr/>
          <p:nvPr/>
        </p:nvSpPr>
        <p:spPr>
          <a:xfrm>
            <a:off x="2790825" y="1752600"/>
            <a:ext cx="814388" cy="381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62626"/>
                </a:solidFill>
                <a:latin typeface="맑은 고딕"/>
                <a:ea typeface="맑은 고딕"/>
              </a:rPr>
              <a:t>CPU1</a:t>
            </a:r>
          </a:p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62626"/>
                </a:solidFill>
                <a:latin typeface="맑은 고딕"/>
                <a:ea typeface="맑은 고딕"/>
              </a:rPr>
              <a:t>56C · DDR 512GB</a:t>
            </a:r>
          </a:p>
        </p:txBody>
      </p:sp>
      <p:sp>
        <p:nvSpPr>
          <p:cNvPr id="253" name="Rectangle 23"/>
          <p:cNvSpPr/>
          <p:nvPr/>
        </p:nvSpPr>
        <p:spPr>
          <a:xfrm>
            <a:off x="1943100" y="2181225"/>
            <a:ext cx="39052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GPU4</a:t>
            </a:r>
          </a:p>
        </p:txBody>
      </p:sp>
      <p:sp>
        <p:nvSpPr>
          <p:cNvPr id="254" name="Rectangle 24"/>
          <p:cNvSpPr/>
          <p:nvPr/>
        </p:nvSpPr>
        <p:spPr>
          <a:xfrm>
            <a:off x="1943100" y="2409825"/>
            <a:ext cx="39052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55" name="Rectangle 25"/>
          <p:cNvSpPr/>
          <p:nvPr/>
        </p:nvSpPr>
        <p:spPr>
          <a:xfrm>
            <a:off x="2366962" y="2181225"/>
            <a:ext cx="39052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GPU5</a:t>
            </a:r>
          </a:p>
        </p:txBody>
      </p:sp>
      <p:sp>
        <p:nvSpPr>
          <p:cNvPr id="256" name="Rectangle 26"/>
          <p:cNvSpPr/>
          <p:nvPr/>
        </p:nvSpPr>
        <p:spPr>
          <a:xfrm>
            <a:off x="2366962" y="2409825"/>
            <a:ext cx="39052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57" name="Rectangle 27"/>
          <p:cNvSpPr/>
          <p:nvPr/>
        </p:nvSpPr>
        <p:spPr>
          <a:xfrm>
            <a:off x="2790825" y="2181225"/>
            <a:ext cx="39052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GPU6</a:t>
            </a:r>
          </a:p>
        </p:txBody>
      </p:sp>
      <p:sp>
        <p:nvSpPr>
          <p:cNvPr id="258" name="Rectangle 28"/>
          <p:cNvSpPr/>
          <p:nvPr/>
        </p:nvSpPr>
        <p:spPr>
          <a:xfrm>
            <a:off x="2790825" y="2409825"/>
            <a:ext cx="39052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59" name="Rectangle 29"/>
          <p:cNvSpPr/>
          <p:nvPr/>
        </p:nvSpPr>
        <p:spPr>
          <a:xfrm>
            <a:off x="3214688" y="2181225"/>
            <a:ext cx="39052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GPU7</a:t>
            </a:r>
          </a:p>
        </p:txBody>
      </p:sp>
      <p:sp>
        <p:nvSpPr>
          <p:cNvPr id="260" name="Rectangle 30"/>
          <p:cNvSpPr/>
          <p:nvPr/>
        </p:nvSpPr>
        <p:spPr>
          <a:xfrm>
            <a:off x="3214688" y="2409825"/>
            <a:ext cx="39052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61" name="Rectangle 31"/>
          <p:cNvSpPr/>
          <p:nvPr/>
        </p:nvSpPr>
        <p:spPr>
          <a:xfrm>
            <a:off x="1943100" y="2762250"/>
            <a:ext cx="1662112" cy="24765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50" b="1" i="0">
                <a:solidFill>
                  <a:srgbClr val="262626"/>
                </a:solidFill>
                <a:latin typeface="맑은 고딕"/>
                <a:ea typeface="맑은 고딕"/>
              </a:rPr>
              <a:t>NVMe SSD  16TB</a:t>
            </a:r>
          </a:p>
        </p:txBody>
      </p:sp>
      <p:sp>
        <p:nvSpPr>
          <p:cNvPr id="262" name="Rectangle 32"/>
          <p:cNvSpPr/>
          <p:nvPr/>
        </p:nvSpPr>
        <p:spPr>
          <a:xfrm>
            <a:off x="3752850" y="1133475"/>
            <a:ext cx="1809750" cy="1933575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263" name="Rectangle 33"/>
          <p:cNvSpPr/>
          <p:nvPr/>
        </p:nvSpPr>
        <p:spPr>
          <a:xfrm>
            <a:off x="3810000" y="1181100"/>
            <a:ext cx="39052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GPU0</a:t>
            </a:r>
          </a:p>
        </p:txBody>
      </p:sp>
      <p:sp>
        <p:nvSpPr>
          <p:cNvPr id="264" name="Rectangle 34"/>
          <p:cNvSpPr/>
          <p:nvPr/>
        </p:nvSpPr>
        <p:spPr>
          <a:xfrm>
            <a:off x="3810000" y="1409700"/>
            <a:ext cx="39052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65" name="Rectangle 35"/>
          <p:cNvSpPr/>
          <p:nvPr/>
        </p:nvSpPr>
        <p:spPr>
          <a:xfrm>
            <a:off x="4233862" y="1181100"/>
            <a:ext cx="39052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GPU1</a:t>
            </a:r>
          </a:p>
        </p:txBody>
      </p:sp>
      <p:sp>
        <p:nvSpPr>
          <p:cNvPr id="266" name="Rectangle 36"/>
          <p:cNvSpPr/>
          <p:nvPr/>
        </p:nvSpPr>
        <p:spPr>
          <a:xfrm>
            <a:off x="4233862" y="1409700"/>
            <a:ext cx="39052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67" name="Rectangle 37"/>
          <p:cNvSpPr/>
          <p:nvPr/>
        </p:nvSpPr>
        <p:spPr>
          <a:xfrm>
            <a:off x="4657725" y="1181100"/>
            <a:ext cx="39052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GPU2</a:t>
            </a:r>
          </a:p>
        </p:txBody>
      </p:sp>
      <p:sp>
        <p:nvSpPr>
          <p:cNvPr id="268" name="Rectangle 38"/>
          <p:cNvSpPr/>
          <p:nvPr/>
        </p:nvSpPr>
        <p:spPr>
          <a:xfrm>
            <a:off x="4657725" y="1409700"/>
            <a:ext cx="39052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69" name="Rectangle 39"/>
          <p:cNvSpPr/>
          <p:nvPr/>
        </p:nvSpPr>
        <p:spPr>
          <a:xfrm>
            <a:off x="5081588" y="1181100"/>
            <a:ext cx="39052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GPU3</a:t>
            </a:r>
          </a:p>
        </p:txBody>
      </p:sp>
      <p:sp>
        <p:nvSpPr>
          <p:cNvPr id="270" name="Rectangle 40"/>
          <p:cNvSpPr/>
          <p:nvPr/>
        </p:nvSpPr>
        <p:spPr>
          <a:xfrm>
            <a:off x="5081588" y="1409700"/>
            <a:ext cx="390525" cy="3048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F6FB5"/>
                </a:solidFill>
                <a:latin typeface="맑은 고딕"/>
                <a:ea typeface="맑은 고딕"/>
              </a:rPr>
              <a:t>HBM 80GB</a:t>
            </a:r>
          </a:p>
        </p:txBody>
      </p:sp>
      <p:sp>
        <p:nvSpPr>
          <p:cNvPr id="271" name="Rectangle 41"/>
          <p:cNvSpPr/>
          <p:nvPr/>
        </p:nvSpPr>
        <p:spPr>
          <a:xfrm>
            <a:off x="3810000" y="1752600"/>
            <a:ext cx="814388" cy="381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62626"/>
                </a:solidFill>
                <a:latin typeface="맑은 고딕"/>
                <a:ea typeface="맑은 고딕"/>
              </a:rPr>
              <a:t>CPU0</a:t>
            </a:r>
          </a:p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62626"/>
                </a:solidFill>
                <a:latin typeface="맑은 고딕"/>
                <a:ea typeface="맑은 고딕"/>
              </a:rPr>
              <a:t>56C · DDR 512GB</a:t>
            </a:r>
          </a:p>
        </p:txBody>
      </p:sp>
      <p:sp>
        <p:nvSpPr>
          <p:cNvPr id="272" name="Rectangle 42"/>
          <p:cNvSpPr/>
          <p:nvPr/>
        </p:nvSpPr>
        <p:spPr>
          <a:xfrm>
            <a:off x="4657725" y="1752600"/>
            <a:ext cx="814388" cy="381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62626"/>
                </a:solidFill>
                <a:latin typeface="맑은 고딕"/>
                <a:ea typeface="맑은 고딕"/>
              </a:rPr>
              <a:t>CPU1</a:t>
            </a:r>
          </a:p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62626"/>
                </a:solidFill>
                <a:latin typeface="맑은 고딕"/>
                <a:ea typeface="맑은 고딕"/>
              </a:rPr>
              <a:t>56C · DDR 512GB</a:t>
            </a:r>
          </a:p>
        </p:txBody>
      </p:sp>
      <p:sp>
        <p:nvSpPr>
          <p:cNvPr id="273" name="Rectangle 43"/>
          <p:cNvSpPr/>
          <p:nvPr/>
        </p:nvSpPr>
        <p:spPr>
          <a:xfrm>
            <a:off x="3810000" y="2181225"/>
            <a:ext cx="390525" cy="20955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PNM0</a:t>
            </a:r>
          </a:p>
        </p:txBody>
      </p:sp>
      <p:sp>
        <p:nvSpPr>
          <p:cNvPr id="274" name="Rectangle 44"/>
          <p:cNvSpPr/>
          <p:nvPr/>
        </p:nvSpPr>
        <p:spPr>
          <a:xfrm>
            <a:off x="3810000" y="2409825"/>
            <a:ext cx="390525" cy="304800"/>
          </a:xfrm>
          <a:prstGeom prst="rect">
            <a:avLst/>
          </a:prstGeom>
          <a:solidFill>
            <a:srgbClr val="FFF2CC"/>
          </a:solidFill>
          <a:ln w="95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7F5F00"/>
                </a:solidFill>
                <a:latin typeface="맑은 고딕"/>
                <a:ea typeface="맑은 고딕"/>
              </a:rPr>
              <a:t>DDR 128GB</a:t>
            </a:r>
          </a:p>
        </p:txBody>
      </p:sp>
      <p:sp>
        <p:nvSpPr>
          <p:cNvPr id="275" name="Rectangle 45"/>
          <p:cNvSpPr/>
          <p:nvPr/>
        </p:nvSpPr>
        <p:spPr>
          <a:xfrm>
            <a:off x="4233862" y="2181225"/>
            <a:ext cx="390525" cy="20955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PNM1</a:t>
            </a:r>
          </a:p>
        </p:txBody>
      </p:sp>
      <p:sp>
        <p:nvSpPr>
          <p:cNvPr id="276" name="Rectangle 46"/>
          <p:cNvSpPr/>
          <p:nvPr/>
        </p:nvSpPr>
        <p:spPr>
          <a:xfrm>
            <a:off x="4233862" y="2409825"/>
            <a:ext cx="390525" cy="304800"/>
          </a:xfrm>
          <a:prstGeom prst="rect">
            <a:avLst/>
          </a:prstGeom>
          <a:solidFill>
            <a:srgbClr val="FFF2CC"/>
          </a:solidFill>
          <a:ln w="95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7F5F00"/>
                </a:solidFill>
                <a:latin typeface="맑은 고딕"/>
                <a:ea typeface="맑은 고딕"/>
              </a:rPr>
              <a:t>DDR 128GB</a:t>
            </a:r>
          </a:p>
        </p:txBody>
      </p:sp>
      <p:sp>
        <p:nvSpPr>
          <p:cNvPr id="277" name="Rectangle 47"/>
          <p:cNvSpPr/>
          <p:nvPr/>
        </p:nvSpPr>
        <p:spPr>
          <a:xfrm>
            <a:off x="4657725" y="2181225"/>
            <a:ext cx="390525" cy="20955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PNM2</a:t>
            </a:r>
          </a:p>
        </p:txBody>
      </p:sp>
      <p:sp>
        <p:nvSpPr>
          <p:cNvPr id="278" name="Rectangle 48"/>
          <p:cNvSpPr/>
          <p:nvPr/>
        </p:nvSpPr>
        <p:spPr>
          <a:xfrm>
            <a:off x="4657725" y="2409825"/>
            <a:ext cx="390525" cy="304800"/>
          </a:xfrm>
          <a:prstGeom prst="rect">
            <a:avLst/>
          </a:prstGeom>
          <a:solidFill>
            <a:srgbClr val="FFF2CC"/>
          </a:solidFill>
          <a:ln w="95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7F5F00"/>
                </a:solidFill>
                <a:latin typeface="맑은 고딕"/>
                <a:ea typeface="맑은 고딕"/>
              </a:rPr>
              <a:t>DDR 128GB</a:t>
            </a:r>
          </a:p>
        </p:txBody>
      </p:sp>
      <p:sp>
        <p:nvSpPr>
          <p:cNvPr id="279" name="Rectangle 49"/>
          <p:cNvSpPr/>
          <p:nvPr/>
        </p:nvSpPr>
        <p:spPr>
          <a:xfrm>
            <a:off x="5081588" y="2181225"/>
            <a:ext cx="390525" cy="20955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PNM3</a:t>
            </a:r>
          </a:p>
        </p:txBody>
      </p:sp>
      <p:sp>
        <p:nvSpPr>
          <p:cNvPr id="280" name="Rectangle 50"/>
          <p:cNvSpPr/>
          <p:nvPr/>
        </p:nvSpPr>
        <p:spPr>
          <a:xfrm>
            <a:off x="5081588" y="2409825"/>
            <a:ext cx="390525" cy="304800"/>
          </a:xfrm>
          <a:prstGeom prst="rect">
            <a:avLst/>
          </a:prstGeom>
          <a:solidFill>
            <a:srgbClr val="FFF2CC"/>
          </a:solidFill>
          <a:ln w="95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7F5F00"/>
                </a:solidFill>
                <a:latin typeface="맑은 고딕"/>
                <a:ea typeface="맑은 고딕"/>
              </a:rPr>
              <a:t>DDR 128GB</a:t>
            </a:r>
          </a:p>
        </p:txBody>
      </p:sp>
      <p:sp>
        <p:nvSpPr>
          <p:cNvPr id="281" name="Rectangle 51"/>
          <p:cNvSpPr/>
          <p:nvPr/>
        </p:nvSpPr>
        <p:spPr>
          <a:xfrm>
            <a:off x="3810000" y="2762250"/>
            <a:ext cx="814388" cy="24765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50" b="1" i="0">
                <a:solidFill>
                  <a:srgbClr val="262626"/>
                </a:solidFill>
                <a:latin typeface="맑은 고딕"/>
                <a:ea typeface="맑은 고딕"/>
              </a:rPr>
              <a:t>NVMe SSD  16TB</a:t>
            </a:r>
          </a:p>
        </p:txBody>
      </p:sp>
      <p:sp>
        <p:nvSpPr>
          <p:cNvPr id="282" name="Rectangle 52"/>
          <p:cNvSpPr/>
          <p:nvPr/>
        </p:nvSpPr>
        <p:spPr>
          <a:xfrm>
            <a:off x="4657725" y="2762250"/>
            <a:ext cx="814388" cy="247650"/>
          </a:xfrm>
          <a:prstGeom prst="rect">
            <a:avLst/>
          </a:prstGeom>
          <a:solidFill>
            <a:srgbClr val="E2EFDA"/>
          </a:solidFill>
          <a:ln w="95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50" b="1" i="0">
                <a:solidFill>
                  <a:srgbClr val="375623"/>
                </a:solidFill>
                <a:latin typeface="맑은 고딕"/>
                <a:ea typeface="맑은 고딕"/>
              </a:rPr>
              <a:t>PIM-SSD  16TB</a:t>
            </a:r>
          </a:p>
        </p:txBody>
      </p:sp>
      <p:sp>
        <p:nvSpPr>
          <p:cNvPr id="283" name="Rectangle 53"/>
          <p:cNvSpPr/>
          <p:nvPr/>
        </p:nvSpPr>
        <p:spPr>
          <a:xfrm>
            <a:off x="5619750" y="1133475"/>
            <a:ext cx="1809750" cy="1933575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284" name="Rectangle 54"/>
          <p:cNvSpPr/>
          <p:nvPr/>
        </p:nvSpPr>
        <p:spPr>
          <a:xfrm>
            <a:off x="5676900" y="1181100"/>
            <a:ext cx="39052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GPU0</a:t>
            </a:r>
          </a:p>
        </p:txBody>
      </p:sp>
      <p:sp>
        <p:nvSpPr>
          <p:cNvPr id="285" name="Rectangle 55"/>
          <p:cNvSpPr/>
          <p:nvPr/>
        </p:nvSpPr>
        <p:spPr>
          <a:xfrm>
            <a:off x="5676900" y="1409700"/>
            <a:ext cx="390525" cy="1524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550" b="1" i="0">
                <a:solidFill>
                  <a:srgbClr val="1F6FB5"/>
                </a:solidFill>
                <a:latin typeface="맑은 고딕"/>
                <a:ea typeface="맑은 고딕"/>
              </a:rPr>
              <a:t>HBM 40GB</a:t>
            </a:r>
          </a:p>
        </p:txBody>
      </p:sp>
      <p:sp>
        <p:nvSpPr>
          <p:cNvPr id="286" name="Rectangle 56"/>
          <p:cNvSpPr/>
          <p:nvPr/>
        </p:nvSpPr>
        <p:spPr>
          <a:xfrm>
            <a:off x="5676900" y="1562100"/>
            <a:ext cx="390525" cy="152400"/>
          </a:xfrm>
          <a:prstGeom prst="rect">
            <a:avLst/>
          </a:prstGeom>
          <a:solidFill>
            <a:srgbClr val="E7DEF2"/>
          </a:solidFill>
          <a:ln w="9525">
            <a:solidFill>
              <a:srgbClr val="7B5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550" b="1" i="0">
                <a:solidFill>
                  <a:srgbClr val="4A2E73"/>
                </a:solidFill>
                <a:latin typeface="맑은 고딕"/>
                <a:ea typeface="맑은 고딕"/>
              </a:rPr>
              <a:t>HBF 320GB</a:t>
            </a:r>
          </a:p>
        </p:txBody>
      </p:sp>
      <p:sp>
        <p:nvSpPr>
          <p:cNvPr id="287" name="Rectangle 57"/>
          <p:cNvSpPr/>
          <p:nvPr/>
        </p:nvSpPr>
        <p:spPr>
          <a:xfrm>
            <a:off x="6100762" y="1181100"/>
            <a:ext cx="39052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GPU1</a:t>
            </a:r>
          </a:p>
        </p:txBody>
      </p:sp>
      <p:sp>
        <p:nvSpPr>
          <p:cNvPr id="288" name="Rectangle 58"/>
          <p:cNvSpPr/>
          <p:nvPr/>
        </p:nvSpPr>
        <p:spPr>
          <a:xfrm>
            <a:off x="6100762" y="1409700"/>
            <a:ext cx="390525" cy="1524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550" b="1" i="0">
                <a:solidFill>
                  <a:srgbClr val="1F6FB5"/>
                </a:solidFill>
                <a:latin typeface="맑은 고딕"/>
                <a:ea typeface="맑은 고딕"/>
              </a:rPr>
              <a:t>HBM 40GB</a:t>
            </a:r>
          </a:p>
        </p:txBody>
      </p:sp>
      <p:sp>
        <p:nvSpPr>
          <p:cNvPr id="289" name="Rectangle 59"/>
          <p:cNvSpPr/>
          <p:nvPr/>
        </p:nvSpPr>
        <p:spPr>
          <a:xfrm>
            <a:off x="6100762" y="1562100"/>
            <a:ext cx="390525" cy="152400"/>
          </a:xfrm>
          <a:prstGeom prst="rect">
            <a:avLst/>
          </a:prstGeom>
          <a:solidFill>
            <a:srgbClr val="E7DEF2"/>
          </a:solidFill>
          <a:ln w="9525">
            <a:solidFill>
              <a:srgbClr val="7B5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550" b="1" i="0">
                <a:solidFill>
                  <a:srgbClr val="4A2E73"/>
                </a:solidFill>
                <a:latin typeface="맑은 고딕"/>
                <a:ea typeface="맑은 고딕"/>
              </a:rPr>
              <a:t>HBF 320GB</a:t>
            </a:r>
          </a:p>
        </p:txBody>
      </p:sp>
      <p:sp>
        <p:nvSpPr>
          <p:cNvPr id="290" name="Rectangle 60"/>
          <p:cNvSpPr/>
          <p:nvPr/>
        </p:nvSpPr>
        <p:spPr>
          <a:xfrm>
            <a:off x="6524625" y="1181100"/>
            <a:ext cx="39052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GPU2</a:t>
            </a:r>
          </a:p>
        </p:txBody>
      </p:sp>
      <p:sp>
        <p:nvSpPr>
          <p:cNvPr id="291" name="Rectangle 61"/>
          <p:cNvSpPr/>
          <p:nvPr/>
        </p:nvSpPr>
        <p:spPr>
          <a:xfrm>
            <a:off x="6524625" y="1409700"/>
            <a:ext cx="390525" cy="1524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550" b="1" i="0">
                <a:solidFill>
                  <a:srgbClr val="1F6FB5"/>
                </a:solidFill>
                <a:latin typeface="맑은 고딕"/>
                <a:ea typeface="맑은 고딕"/>
              </a:rPr>
              <a:t>HBM 40GB</a:t>
            </a:r>
          </a:p>
        </p:txBody>
      </p:sp>
      <p:sp>
        <p:nvSpPr>
          <p:cNvPr id="292" name="Rectangle 62"/>
          <p:cNvSpPr/>
          <p:nvPr/>
        </p:nvSpPr>
        <p:spPr>
          <a:xfrm>
            <a:off x="6524625" y="1562100"/>
            <a:ext cx="390525" cy="152400"/>
          </a:xfrm>
          <a:prstGeom prst="rect">
            <a:avLst/>
          </a:prstGeom>
          <a:solidFill>
            <a:srgbClr val="E7DEF2"/>
          </a:solidFill>
          <a:ln w="9525">
            <a:solidFill>
              <a:srgbClr val="7B5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550" b="1" i="0">
                <a:solidFill>
                  <a:srgbClr val="4A2E73"/>
                </a:solidFill>
                <a:latin typeface="맑은 고딕"/>
                <a:ea typeface="맑은 고딕"/>
              </a:rPr>
              <a:t>HBF 320GB</a:t>
            </a:r>
          </a:p>
        </p:txBody>
      </p:sp>
      <p:sp>
        <p:nvSpPr>
          <p:cNvPr id="293" name="Rectangle 63"/>
          <p:cNvSpPr/>
          <p:nvPr/>
        </p:nvSpPr>
        <p:spPr>
          <a:xfrm>
            <a:off x="6948488" y="1181100"/>
            <a:ext cx="390525" cy="2095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GPU3</a:t>
            </a:r>
          </a:p>
        </p:txBody>
      </p:sp>
      <p:sp>
        <p:nvSpPr>
          <p:cNvPr id="294" name="Rectangle 64"/>
          <p:cNvSpPr/>
          <p:nvPr/>
        </p:nvSpPr>
        <p:spPr>
          <a:xfrm>
            <a:off x="6948488" y="1409700"/>
            <a:ext cx="390525" cy="152400"/>
          </a:xfrm>
          <a:prstGeom prst="rect">
            <a:avLst/>
          </a:prstGeom>
          <a:solidFill>
            <a:srgbClr val="DAE8F6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550" b="1" i="0">
                <a:solidFill>
                  <a:srgbClr val="1F6FB5"/>
                </a:solidFill>
                <a:latin typeface="맑은 고딕"/>
                <a:ea typeface="맑은 고딕"/>
              </a:rPr>
              <a:t>HBM 40GB</a:t>
            </a:r>
          </a:p>
        </p:txBody>
      </p:sp>
      <p:sp>
        <p:nvSpPr>
          <p:cNvPr id="295" name="Rectangle 65"/>
          <p:cNvSpPr/>
          <p:nvPr/>
        </p:nvSpPr>
        <p:spPr>
          <a:xfrm>
            <a:off x="6948488" y="1562100"/>
            <a:ext cx="390525" cy="152400"/>
          </a:xfrm>
          <a:prstGeom prst="rect">
            <a:avLst/>
          </a:prstGeom>
          <a:solidFill>
            <a:srgbClr val="E7DEF2"/>
          </a:solidFill>
          <a:ln w="9525">
            <a:solidFill>
              <a:srgbClr val="7B5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550" b="1" i="0">
                <a:solidFill>
                  <a:srgbClr val="4A2E73"/>
                </a:solidFill>
                <a:latin typeface="맑은 고딕"/>
                <a:ea typeface="맑은 고딕"/>
              </a:rPr>
              <a:t>HBF 320GB</a:t>
            </a:r>
          </a:p>
        </p:txBody>
      </p:sp>
      <p:sp>
        <p:nvSpPr>
          <p:cNvPr id="296" name="Rectangle 66"/>
          <p:cNvSpPr/>
          <p:nvPr/>
        </p:nvSpPr>
        <p:spPr>
          <a:xfrm>
            <a:off x="5676900" y="1752600"/>
            <a:ext cx="814388" cy="381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62626"/>
                </a:solidFill>
                <a:latin typeface="맑은 고딕"/>
                <a:ea typeface="맑은 고딕"/>
              </a:rPr>
              <a:t>CPU0</a:t>
            </a:r>
          </a:p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62626"/>
                </a:solidFill>
                <a:latin typeface="맑은 고딕"/>
                <a:ea typeface="맑은 고딕"/>
              </a:rPr>
              <a:t>56C · DDR 512GB</a:t>
            </a:r>
          </a:p>
        </p:txBody>
      </p:sp>
      <p:sp>
        <p:nvSpPr>
          <p:cNvPr id="297" name="Rectangle 67"/>
          <p:cNvSpPr/>
          <p:nvPr/>
        </p:nvSpPr>
        <p:spPr>
          <a:xfrm>
            <a:off x="6524625" y="1752600"/>
            <a:ext cx="814388" cy="381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62626"/>
                </a:solidFill>
                <a:latin typeface="맑은 고딕"/>
                <a:ea typeface="맑은 고딕"/>
              </a:rPr>
              <a:t>CPU1</a:t>
            </a:r>
          </a:p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62626"/>
                </a:solidFill>
                <a:latin typeface="맑은 고딕"/>
                <a:ea typeface="맑은 고딕"/>
              </a:rPr>
              <a:t>56C · DDR 512GB</a:t>
            </a:r>
          </a:p>
        </p:txBody>
      </p:sp>
      <p:sp>
        <p:nvSpPr>
          <p:cNvPr id="298" name="Rectangle 68"/>
          <p:cNvSpPr/>
          <p:nvPr/>
        </p:nvSpPr>
        <p:spPr>
          <a:xfrm>
            <a:off x="5676900" y="2181225"/>
            <a:ext cx="390525" cy="20955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PNM0</a:t>
            </a:r>
          </a:p>
        </p:txBody>
      </p:sp>
      <p:sp>
        <p:nvSpPr>
          <p:cNvPr id="299" name="Rectangle 69"/>
          <p:cNvSpPr/>
          <p:nvPr/>
        </p:nvSpPr>
        <p:spPr>
          <a:xfrm>
            <a:off x="5676900" y="2409825"/>
            <a:ext cx="390525" cy="304800"/>
          </a:xfrm>
          <a:prstGeom prst="rect">
            <a:avLst/>
          </a:prstGeom>
          <a:solidFill>
            <a:srgbClr val="FFF2CC"/>
          </a:solidFill>
          <a:ln w="95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7F5F00"/>
                </a:solidFill>
                <a:latin typeface="맑은 고딕"/>
                <a:ea typeface="맑은 고딕"/>
              </a:rPr>
              <a:t>DDR 128GB</a:t>
            </a:r>
          </a:p>
        </p:txBody>
      </p:sp>
      <p:sp>
        <p:nvSpPr>
          <p:cNvPr id="300" name="Rectangle 70"/>
          <p:cNvSpPr/>
          <p:nvPr/>
        </p:nvSpPr>
        <p:spPr>
          <a:xfrm>
            <a:off x="6100762" y="2181225"/>
            <a:ext cx="390525" cy="20955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PNM1</a:t>
            </a:r>
          </a:p>
        </p:txBody>
      </p:sp>
      <p:sp>
        <p:nvSpPr>
          <p:cNvPr id="301" name="Rectangle 71"/>
          <p:cNvSpPr/>
          <p:nvPr/>
        </p:nvSpPr>
        <p:spPr>
          <a:xfrm>
            <a:off x="6100762" y="2409825"/>
            <a:ext cx="390525" cy="304800"/>
          </a:xfrm>
          <a:prstGeom prst="rect">
            <a:avLst/>
          </a:prstGeom>
          <a:solidFill>
            <a:srgbClr val="FFF2CC"/>
          </a:solidFill>
          <a:ln w="95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7F5F00"/>
                </a:solidFill>
                <a:latin typeface="맑은 고딕"/>
                <a:ea typeface="맑은 고딕"/>
              </a:rPr>
              <a:t>DDR 128GB</a:t>
            </a:r>
          </a:p>
        </p:txBody>
      </p:sp>
      <p:sp>
        <p:nvSpPr>
          <p:cNvPr id="302" name="Rectangle 72"/>
          <p:cNvSpPr/>
          <p:nvPr/>
        </p:nvSpPr>
        <p:spPr>
          <a:xfrm>
            <a:off x="6524625" y="2181225"/>
            <a:ext cx="390525" cy="20955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PNM2</a:t>
            </a:r>
          </a:p>
        </p:txBody>
      </p:sp>
      <p:sp>
        <p:nvSpPr>
          <p:cNvPr id="303" name="Rectangle 73"/>
          <p:cNvSpPr/>
          <p:nvPr/>
        </p:nvSpPr>
        <p:spPr>
          <a:xfrm>
            <a:off x="6524625" y="2409825"/>
            <a:ext cx="390525" cy="304800"/>
          </a:xfrm>
          <a:prstGeom prst="rect">
            <a:avLst/>
          </a:prstGeom>
          <a:solidFill>
            <a:srgbClr val="FFF2CC"/>
          </a:solidFill>
          <a:ln w="95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7F5F00"/>
                </a:solidFill>
                <a:latin typeface="맑은 고딕"/>
                <a:ea typeface="맑은 고딕"/>
              </a:rPr>
              <a:t>DDR 128GB</a:t>
            </a:r>
          </a:p>
        </p:txBody>
      </p:sp>
      <p:sp>
        <p:nvSpPr>
          <p:cNvPr id="304" name="Rectangle 74"/>
          <p:cNvSpPr/>
          <p:nvPr/>
        </p:nvSpPr>
        <p:spPr>
          <a:xfrm>
            <a:off x="6948488" y="2181225"/>
            <a:ext cx="390525" cy="20955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PNM3</a:t>
            </a:r>
          </a:p>
        </p:txBody>
      </p:sp>
      <p:sp>
        <p:nvSpPr>
          <p:cNvPr id="305" name="Rectangle 75"/>
          <p:cNvSpPr/>
          <p:nvPr/>
        </p:nvSpPr>
        <p:spPr>
          <a:xfrm>
            <a:off x="6948488" y="2409825"/>
            <a:ext cx="390525" cy="304800"/>
          </a:xfrm>
          <a:prstGeom prst="rect">
            <a:avLst/>
          </a:prstGeom>
          <a:solidFill>
            <a:srgbClr val="FFF2CC"/>
          </a:solidFill>
          <a:ln w="95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7F5F00"/>
                </a:solidFill>
                <a:latin typeface="맑은 고딕"/>
                <a:ea typeface="맑은 고딕"/>
              </a:rPr>
              <a:t>DDR 128GB</a:t>
            </a:r>
          </a:p>
        </p:txBody>
      </p:sp>
      <p:sp>
        <p:nvSpPr>
          <p:cNvPr id="306" name="Rectangle 76"/>
          <p:cNvSpPr/>
          <p:nvPr/>
        </p:nvSpPr>
        <p:spPr>
          <a:xfrm>
            <a:off x="5676900" y="2762250"/>
            <a:ext cx="814388" cy="24765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50" b="1" i="0">
                <a:solidFill>
                  <a:srgbClr val="262626"/>
                </a:solidFill>
                <a:latin typeface="맑은 고딕"/>
                <a:ea typeface="맑은 고딕"/>
              </a:rPr>
              <a:t>NVMe SSD  16TB</a:t>
            </a:r>
          </a:p>
        </p:txBody>
      </p:sp>
      <p:sp>
        <p:nvSpPr>
          <p:cNvPr id="307" name="Rectangle 77"/>
          <p:cNvSpPr/>
          <p:nvPr/>
        </p:nvSpPr>
        <p:spPr>
          <a:xfrm>
            <a:off x="6524625" y="2762250"/>
            <a:ext cx="814388" cy="247650"/>
          </a:xfrm>
          <a:prstGeom prst="rect">
            <a:avLst/>
          </a:prstGeom>
          <a:solidFill>
            <a:srgbClr val="E2EFDA"/>
          </a:solidFill>
          <a:ln w="95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50" b="1" i="0">
                <a:solidFill>
                  <a:srgbClr val="375623"/>
                </a:solidFill>
                <a:latin typeface="맑은 고딕"/>
                <a:ea typeface="맑은 고딕"/>
              </a:rPr>
              <a:t>PIM-SSD  16TB</a:t>
            </a:r>
          </a:p>
        </p:txBody>
      </p:sp>
      <p:sp>
        <p:nvSpPr>
          <p:cNvPr id="308" name="Rectangle 78"/>
          <p:cNvSpPr/>
          <p:nvPr/>
        </p:nvSpPr>
        <p:spPr>
          <a:xfrm>
            <a:off x="361950" y="3124200"/>
            <a:ext cx="11515725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361950" y="3171825"/>
            <a:ext cx="247650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 i="0">
                <a:solidFill>
                  <a:srgbClr val="808080"/>
                </a:solidFill>
                <a:latin typeface="맑은 고딕"/>
                <a:ea typeface="맑은 고딕"/>
              </a:rPr>
              <a:t>계층별  용량  ·  대역폭  (1노드 기준)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361950" y="3333750"/>
            <a:ext cx="15240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맑은 고딕"/>
                <a:ea typeface="맑은 고딕"/>
              </a:rPr>
              <a:t>HBM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885950" y="3333750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640 GB  ·  26.8 TB/s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3752850" y="3333750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320 GB  ·  13.4 TB/s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5619750" y="3333750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160 GB  ·  6.7 TB/s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361950" y="3533775"/>
            <a:ext cx="15240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맑은 고딕"/>
                <a:ea typeface="맑은 고딕"/>
              </a:rPr>
              <a:t>HBF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1885950" y="3533775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3752850" y="3533775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5619750" y="3533775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1,280 GB  ·  6.7 TB/s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361950" y="3733800"/>
            <a:ext cx="15240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맑은 고딕"/>
                <a:ea typeface="맑은 고딕"/>
              </a:rPr>
              <a:t>CXL-PNM (DDR)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1885950" y="3733800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3752850" y="3733800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512 GB  ·  800 GB/s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5619750" y="3733800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512 GB  ·  800 GB/s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361950" y="3933825"/>
            <a:ext cx="15240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맑은 고딕"/>
                <a:ea typeface="맑은 고딕"/>
              </a:rPr>
              <a:t>CPU DDR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1885950" y="3933825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1,024 GB  ·  350 GB/s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3752850" y="3933825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1,024 GB  ·  350 GB/s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5619750" y="3933825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1,024 GB  ·  350 GB/s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361950" y="4133850"/>
            <a:ext cx="15240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맑은 고딕"/>
                <a:ea typeface="맑은 고딕"/>
              </a:rPr>
              <a:t>NVMe SSD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885950" y="4133850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16,000 GB  ·  28 GB/s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3752850" y="4133850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16,000 GB  ·  28 GB/s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5619750" y="4133850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16,000 GB  ·  28 GB/s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361950" y="4333875"/>
            <a:ext cx="15240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맑은 고딕"/>
                <a:ea typeface="맑은 고딕"/>
              </a:rPr>
              <a:t>PIM-SSD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885950" y="4333875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3752850" y="4333875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16,000 GB  ·  28 GB/s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5619750" y="4333875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16,000 GB  ·  28 GB/s</a:t>
            </a:r>
          </a:p>
        </p:txBody>
      </p:sp>
      <p:sp>
        <p:nvSpPr>
          <p:cNvPr id="334" name="Rectangle 104"/>
          <p:cNvSpPr/>
          <p:nvPr/>
        </p:nvSpPr>
        <p:spPr>
          <a:xfrm>
            <a:off x="361950" y="4572000"/>
            <a:ext cx="11515725" cy="200025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335" name="TextBox 334"/>
          <p:cNvSpPr txBox="1"/>
          <p:nvPr/>
        </p:nvSpPr>
        <p:spPr>
          <a:xfrm>
            <a:off x="419100" y="4572000"/>
            <a:ext cx="14668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62626"/>
                </a:solidFill>
                <a:latin typeface="맑은 고딕"/>
                <a:ea typeface="맑은 고딕"/>
              </a:rPr>
              <a:t>가속기측 고대역 용량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1885950" y="4572000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640 GB  (1.00×)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3752850" y="4572000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832 GB  (1.30×)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5619750" y="4572000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1,952 GB  (3.05×)</a:t>
            </a:r>
          </a:p>
        </p:txBody>
      </p:sp>
      <p:sp>
        <p:nvSpPr>
          <p:cNvPr id="339" name="Rectangle 109"/>
          <p:cNvSpPr/>
          <p:nvPr/>
        </p:nvSpPr>
        <p:spPr>
          <a:xfrm>
            <a:off x="361950" y="4772025"/>
            <a:ext cx="11515725" cy="200025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340" name="TextBox 339"/>
          <p:cNvSpPr txBox="1"/>
          <p:nvPr/>
        </p:nvSpPr>
        <p:spPr>
          <a:xfrm>
            <a:off x="419100" y="4772025"/>
            <a:ext cx="14668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62626"/>
                </a:solidFill>
                <a:latin typeface="맑은 고딕"/>
                <a:ea typeface="맑은 고딕"/>
              </a:rPr>
              <a:t>가속기측 고대역 대역폭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1885950" y="4772025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26.8 TB/s  (1.00×)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3752850" y="4772025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14.2 TB/s  (0.53×)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5619750" y="4772025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14.2 TB/s  (0.53×)</a:t>
            </a:r>
          </a:p>
        </p:txBody>
      </p:sp>
      <p:sp>
        <p:nvSpPr>
          <p:cNvPr id="344" name="Rectangle 114"/>
          <p:cNvSpPr/>
          <p:nvPr/>
        </p:nvSpPr>
        <p:spPr>
          <a:xfrm>
            <a:off x="361950" y="4972050"/>
            <a:ext cx="11515725" cy="200025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345" name="TextBox 344"/>
          <p:cNvSpPr txBox="1"/>
          <p:nvPr/>
        </p:nvSpPr>
        <p:spPr>
          <a:xfrm>
            <a:off x="419100" y="4972050"/>
            <a:ext cx="14668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62626"/>
                </a:solidFill>
                <a:latin typeface="맑은 고딕"/>
                <a:ea typeface="맑은 고딕"/>
              </a:rPr>
              <a:t>총 메모리 용량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1885950" y="4972050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17,664 GB  (1.00×)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3752850" y="4972050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33,856 GB  (1.92×)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5619750" y="4972050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34,976 GB  (1.98×)</a:t>
            </a:r>
          </a:p>
        </p:txBody>
      </p:sp>
      <p:sp>
        <p:nvSpPr>
          <p:cNvPr id="349" name="Rectangle 119"/>
          <p:cNvSpPr/>
          <p:nvPr/>
        </p:nvSpPr>
        <p:spPr>
          <a:xfrm>
            <a:off x="361950" y="5572125"/>
            <a:ext cx="11515725" cy="200025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350" name="TextBox 349"/>
          <p:cNvSpPr txBox="1"/>
          <p:nvPr/>
        </p:nvSpPr>
        <p:spPr>
          <a:xfrm>
            <a:off x="419100" y="5572125"/>
            <a:ext cx="14668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총 비용 (4노드)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1885950" y="5572125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$1,132K  (1.00×)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3752850" y="5572125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$777K  (0.69×)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5619750" y="5572125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$775K  (0.68×)</a:t>
            </a:r>
          </a:p>
        </p:txBody>
      </p:sp>
      <p:sp>
        <p:nvSpPr>
          <p:cNvPr id="354" name="Rectangle 124"/>
          <p:cNvSpPr/>
          <p:nvPr/>
        </p:nvSpPr>
        <p:spPr>
          <a:xfrm>
            <a:off x="365760" y="5829300"/>
            <a:ext cx="11521440" cy="36195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F5F00"/>
                </a:solidFill>
                <a:latin typeface="맑은 고딕"/>
                <a:ea typeface="맑은 고딕"/>
              </a:rPr>
              <a:t>집계 대역폭 0.53×는 슬롯당 대역폭이 낮아진 게 아니라 GPU가 4대 줄어든 몫이다 — 슬롯당 HBM(+HBF) 3.35 TB/s는 세 구성 모두 같고, decode attention이 묶이는 것은 슬롯당 대역폭이다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F5F00"/>
                </a:solidFill>
                <a:latin typeface="맑은 고딕"/>
                <a:ea typeface="맑은 고딕"/>
              </a:rPr>
              <a:t>매체 지연 : HBM ~100 ns · CXL-PNM ~300 ns · HBF ~10 μs급(NAND) · NVMe ~100 μs → HBF는 read-dominant 계층(weight · cold KV)이고, KV 상주 계층은 HBM · CXL-PNM이 맡는다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365760" y="6248400"/>
            <a:ext cx="115214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808080"/>
                </a:solidFill>
                <a:latin typeface="맑은 고딕"/>
                <a:ea typeface="맑은 고딕"/>
              </a:rPr>
              <a:t>※ GPU = H100 SXM5 (132 SM · HBM3 80GB · 3.35 TB/s) · CPU DDR 175 GB/s × 2소켓 · CXL-PNM(Structera A) 200 GB/s × 4카드. Target 2는 HBM 절반을 HBF로 교체 — HBM급 BW · 8× 용량 전제(SanDisk 주장).</a:t>
            </a:r>
          </a:p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808080"/>
                </a:solidFill>
                <a:latin typeface="맑은 고딕"/>
                <a:ea typeface="맑은 고딕"/>
              </a:rPr>
              <a:t>※ 신품 단가(2026.10) H100 $30K(HBM $1,350 포함) · HBF $1.75/GB(Goldman 예시, 가격 미공개) · DDR5 $35/GB · NVMe·PIM-SSD $0.45/GB · PNM 카드 $1.5K(가정). 4노드 합계, CPU·보드·전원 제외.</a:t>
            </a:r>
          </a:p>
        </p:txBody>
      </p:sp>
      <p:sp>
        <p:nvSpPr>
          <p:cNvPr id="356" name="Rectangle FH"/>
          <p:cNvSpPr/>
          <p:nvPr/>
        </p:nvSpPr>
        <p:spPr>
          <a:xfrm>
            <a:off x="7486650" y="804672"/>
            <a:ext cx="4391025" cy="29260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산출식  ·  제품 (세대 / 타입)</a:t>
            </a:r>
          </a:p>
        </p:txBody>
      </p:sp>
      <p:sp>
        <p:nvSpPr>
          <p:cNvPr id="357" name="Legend box"/>
          <p:cNvSpPr/>
          <p:nvPr/>
        </p:nvSpPr>
        <p:spPr>
          <a:xfrm>
            <a:off x="7486650" y="1133475"/>
            <a:ext cx="4391025" cy="1933575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82296" bIns="0" rtlCol="0" anchor="t"/>
          <a:lstStyle/>
          <a:p>
            <a:pPr algn="l">
              <a:lnSpc>
                <a:spcPct val="112000"/>
              </a:lnSpc>
              <a:spcAft>
                <a:spcPts val="250"/>
              </a:spcAft>
            </a:pPr>
            <a:r>
              <a:rPr sz="750" b="1" i="0">
                <a:solidFill>
                  <a:srgbClr val="1F4E79"/>
                </a:solidFill>
                <a:latin typeface="맑은 고딕"/>
                <a:ea typeface="맑은 고딕"/>
              </a:rPr>
              <a:t>GPU  </a:t>
            </a:r>
            <a:r>
              <a:rPr sz="750" b="0" i="0">
                <a:solidFill>
                  <a:srgbClr val="262626"/>
                </a:solidFill>
                <a:latin typeface="맑은 고딕"/>
                <a:ea typeface="맑은 고딕"/>
              </a:rPr>
              <a:t>NVIDIA H100 SXM5 80GB · HBM3 5-stack · 3.35 TB/s · 132 SM — 신품 $30K/장 (그중 HBM 약 $1,350 = $16.9/GB, Silicon Analysts 원가 추정)</a:t>
            </a:r>
          </a:p>
          <a:p>
            <a:pPr algn="l">
              <a:lnSpc>
                <a:spcPct val="112000"/>
              </a:lnSpc>
              <a:spcAft>
                <a:spcPts val="250"/>
              </a:spcAft>
            </a:pPr>
            <a:r>
              <a:rPr sz="750" b="1" i="0">
                <a:solidFill>
                  <a:srgbClr val="1F4E79"/>
                </a:solidFill>
                <a:latin typeface="맑은 고딕"/>
                <a:ea typeface="맑은 고딕"/>
              </a:rPr>
              <a:t>HBF  </a:t>
            </a:r>
            <a:r>
              <a:rPr sz="750" b="0" i="0">
                <a:solidFill>
                  <a:srgbClr val="262626"/>
                </a:solidFill>
                <a:latin typeface="맑은 고딕"/>
                <a:ea typeface="맑은 고딕"/>
              </a:rPr>
              <a:t>High Bandwidth Flash (SanDisk · SK hynix OCP 규격). 가격 미공개 → Goldman 모델 예시값 $1.75/GB 사용 (모델 범위 $0.25~2.50). SanDisk 주장 "HBM 스택과 유사 비용 · 8~16× 용량" = HBM÷8~16 ≈ $1.05~2.11/GB</a:t>
            </a:r>
          </a:p>
          <a:p>
            <a:pPr algn="l">
              <a:lnSpc>
                <a:spcPct val="112000"/>
              </a:lnSpc>
              <a:spcAft>
                <a:spcPts val="250"/>
              </a:spcAft>
            </a:pPr>
            <a:r>
              <a:rPr sz="750" b="1" i="0">
                <a:solidFill>
                  <a:srgbClr val="1F4E79"/>
                </a:solidFill>
                <a:latin typeface="맑은 고딕"/>
                <a:ea typeface="맑은 고딕"/>
              </a:rPr>
              <a:t>Target 2  </a:t>
            </a:r>
            <a:r>
              <a:rPr sz="750" b="0" i="0">
                <a:solidFill>
                  <a:srgbClr val="262626"/>
                </a:solidFill>
                <a:latin typeface="맑은 고딕"/>
                <a:ea typeface="맑은 고딕"/>
              </a:rPr>
              <a:t>GPU당 HBM 80→40GB (−$675) + HBF 320GB (+$560) → 카드 $29,885/장. 두 값이 같은 게 아니라 거의 비슷할 뿐 (4노드 합계 차이 $1.8K)</a:t>
            </a:r>
          </a:p>
          <a:p>
            <a:pPr algn="l">
              <a:lnSpc>
                <a:spcPct val="112000"/>
              </a:lnSpc>
              <a:spcAft>
                <a:spcPts val="250"/>
              </a:spcAft>
            </a:pPr>
            <a:r>
              <a:rPr sz="750" b="1" i="0">
                <a:solidFill>
                  <a:srgbClr val="1F4E79"/>
                </a:solidFill>
                <a:latin typeface="맑은 고딕"/>
                <a:ea typeface="맑은 고딕"/>
              </a:rPr>
              <a:t>CPU  </a:t>
            </a:r>
            <a:r>
              <a:rPr sz="750" b="0" i="0">
                <a:solidFill>
                  <a:srgbClr val="262626"/>
                </a:solidFill>
                <a:latin typeface="맑은 고딕"/>
                <a:ea typeface="맑은 고딕"/>
              </a:rPr>
              <a:t>Xeon Platinum 8480+급 56C × 2소켓 · DDR5-4800 8ch × 64GB RDIMM = 512GB/소켓 — 신품 $35/GB</a:t>
            </a:r>
          </a:p>
          <a:p>
            <a:pPr algn="l">
              <a:lnSpc>
                <a:spcPct val="112000"/>
              </a:lnSpc>
              <a:spcAft>
                <a:spcPts val="250"/>
              </a:spcAft>
            </a:pPr>
            <a:r>
              <a:rPr sz="750" b="1" i="0">
                <a:solidFill>
                  <a:srgbClr val="1F4E79"/>
                </a:solidFill>
                <a:latin typeface="맑은 고딕"/>
                <a:ea typeface="맑은 고딕"/>
              </a:rPr>
              <a:t>CXL-PNM  </a:t>
            </a:r>
            <a:r>
              <a:rPr sz="750" b="0" i="0">
                <a:solidFill>
                  <a:srgbClr val="262626"/>
                </a:solidFill>
                <a:latin typeface="맑은 고딕"/>
                <a:ea typeface="맑은 고딕"/>
              </a:rPr>
              <a:t>Marvell Structera A 2504 (CXL Type-3 · Arm Neoverse V2 16코어) · DDR5-6400 4ch × 32GB = 128GB/카드 — 카드 $1.5K (가정)</a:t>
            </a:r>
          </a:p>
          <a:p>
            <a:pPr algn="l">
              <a:lnSpc>
                <a:spcPct val="112000"/>
              </a:lnSpc>
              <a:spcAft>
                <a:spcPts val="250"/>
              </a:spcAft>
            </a:pPr>
            <a:r>
              <a:rPr sz="750" b="1" i="0">
                <a:solidFill>
                  <a:srgbClr val="1F4E79"/>
                </a:solidFill>
                <a:latin typeface="맑은 고딕"/>
                <a:ea typeface="맑은 고딕"/>
              </a:rPr>
              <a:t>SSD  </a:t>
            </a:r>
            <a:r>
              <a:rPr sz="750" b="0" i="0">
                <a:solidFill>
                  <a:srgbClr val="262626"/>
                </a:solidFill>
                <a:latin typeface="맑은 고딕"/>
                <a:ea typeface="맑은 고딕"/>
              </a:rPr>
              <a:t>NVMe: 엔터프라이즈 PCIe Gen4 U.3 TLC (Micron 7450 PRO급) 4TB×4, 7 GB/s×4 = 28 GB/s — $0.45/GB. PIM-SSD는 NVMe와 동일 사양 · 단가 가정</a:t>
            </a:r>
          </a:p>
        </p:txBody>
      </p:sp>
      <p:sp>
        <p:nvSpPr>
          <p:cNvPr id="358" name="F TextBox 312"/>
          <p:cNvSpPr txBox="1"/>
          <p:nvPr/>
        </p:nvSpPr>
        <p:spPr>
          <a:xfrm>
            <a:off x="7543800" y="3333750"/>
            <a:ext cx="433387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</a:rPr>
              <a:t>H100 HBM3 3.35 TB/s — 8×80 / 4×80 / 4×40 GB ;  8×3.35 / 4×3.35 / 4×1.675 TB/s</a:t>
            </a:r>
          </a:p>
        </p:txBody>
      </p:sp>
      <p:sp>
        <p:nvSpPr>
          <p:cNvPr id="359" name="F TextBox 316"/>
          <p:cNvSpPr txBox="1"/>
          <p:nvPr/>
        </p:nvSpPr>
        <p:spPr>
          <a:xfrm>
            <a:off x="7543800" y="3533775"/>
            <a:ext cx="433387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</a:rPr>
              <a:t>Target 2 : HBM 절반을 HBF로 — 4대 × 320GB = 1,280GB, BW 4×1.675 = 6.7 TB/s</a:t>
            </a:r>
          </a:p>
        </p:txBody>
      </p:sp>
      <p:sp>
        <p:nvSpPr>
          <p:cNvPr id="360" name="F TextBox 320"/>
          <p:cNvSpPr txBox="1"/>
          <p:nvPr/>
        </p:nvSpPr>
        <p:spPr>
          <a:xfrm>
            <a:off x="7543800" y="3733800"/>
            <a:ext cx="433387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</a:rPr>
              <a:t>Structera A 2504 · DDR5-6400 4ch×32GB = 128GB, ≈200 GB/s — 4카드: 4×128, 4×200</a:t>
            </a:r>
          </a:p>
        </p:txBody>
      </p:sp>
      <p:sp>
        <p:nvSpPr>
          <p:cNvPr id="361" name="F TextBox 324"/>
          <p:cNvSpPr txBox="1"/>
          <p:nvPr/>
        </p:nvSpPr>
        <p:spPr>
          <a:xfrm>
            <a:off x="7543800" y="3933825"/>
            <a:ext cx="433387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</a:rPr>
              <a:t>Xeon 8480+급 56C×2 · DDR5-4800 8ch×64GB = 512GB, 175 GB/s/소켓 — 2×512, 2×175</a:t>
            </a:r>
          </a:p>
        </p:txBody>
      </p:sp>
      <p:sp>
        <p:nvSpPr>
          <p:cNvPr id="362" name="F TextBox 328"/>
          <p:cNvSpPr txBox="1"/>
          <p:nvPr/>
        </p:nvSpPr>
        <p:spPr>
          <a:xfrm>
            <a:off x="7543800" y="4133850"/>
            <a:ext cx="433387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</a:rPr>
              <a:t>NVMe PCIe Gen4 U.3 TLC · 4TB×4 = 16TB, 7 GB/s×4 = 28 GB/s</a:t>
            </a:r>
          </a:p>
        </p:txBody>
      </p:sp>
      <p:sp>
        <p:nvSpPr>
          <p:cNvPr id="363" name="F TextBox 332"/>
          <p:cNvSpPr txBox="1"/>
          <p:nvPr/>
        </p:nvSpPr>
        <p:spPr>
          <a:xfrm>
            <a:off x="7543800" y="4333875"/>
            <a:ext cx="433387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</a:rPr>
              <a:t>PIM(연산 내장) SSD · NVMe와 동일 용량 · 대역폭 · 단가 가정 — 16TB, 28 GB/s</a:t>
            </a:r>
          </a:p>
        </p:txBody>
      </p:sp>
      <p:sp>
        <p:nvSpPr>
          <p:cNvPr id="364" name="F TextBox 337"/>
          <p:cNvSpPr txBox="1"/>
          <p:nvPr/>
        </p:nvSpPr>
        <p:spPr>
          <a:xfrm>
            <a:off x="7543800" y="4572000"/>
            <a:ext cx="433387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  <a:latin typeface="맑은 고딕"/>
                <a:ea typeface="맑은 고딕"/>
              </a:rPr>
              <a:t>HBM+HBF+PNM : 640 / 320+512 = 832 / 160+1,280+512 = 1,952 GB</a:t>
            </a:r>
          </a:p>
        </p:txBody>
      </p:sp>
      <p:sp>
        <p:nvSpPr>
          <p:cNvPr id="365" name="F TextBox 342"/>
          <p:cNvSpPr txBox="1"/>
          <p:nvPr/>
        </p:nvSpPr>
        <p:spPr>
          <a:xfrm>
            <a:off x="7543800" y="4772025"/>
            <a:ext cx="433387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  <a:latin typeface="맑은 고딕"/>
                <a:ea typeface="맑은 고딕"/>
              </a:rPr>
              <a:t>HBM+HBF+PNM : 8×3.35 = 26.8 / 13.4+0.8 = 14.2 / 6.7+6.7+0.8 = 14.2 TB/s</a:t>
            </a:r>
          </a:p>
        </p:txBody>
      </p:sp>
      <p:sp>
        <p:nvSpPr>
          <p:cNvPr id="366" name="F TextBox 347"/>
          <p:cNvSpPr txBox="1"/>
          <p:nvPr/>
        </p:nvSpPr>
        <p:spPr>
          <a:xfrm>
            <a:off x="7543800" y="4972050"/>
            <a:ext cx="433387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  <a:latin typeface="맑은 고딕"/>
                <a:ea typeface="맑은 고딕"/>
              </a:rPr>
              <a:t>위 + CPU DDR 1,024 + NVMe 16,000 (+ PIM 16,000) : 17,664 / 33,856 / 34,976</a:t>
            </a:r>
          </a:p>
        </p:txBody>
      </p:sp>
      <p:sp>
        <p:nvSpPr>
          <p:cNvPr id="367" name="Rectangle N1"/>
          <p:cNvSpPr/>
          <p:nvPr/>
        </p:nvSpPr>
        <p:spPr>
          <a:xfrm>
            <a:off x="361950" y="5172075"/>
            <a:ext cx="11515725" cy="200025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368" name="TextBox N1_0"/>
          <p:cNvSpPr txBox="1"/>
          <p:nvPr/>
        </p:nvSpPr>
        <p:spPr>
          <a:xfrm>
            <a:off x="419100" y="5172075"/>
            <a:ext cx="14668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62626"/>
                </a:solidFill>
                <a:latin typeface="맑은 고딕"/>
                <a:ea typeface="맑은 고딕"/>
              </a:rPr>
              <a:t>메모리·SSD (4노드)</a:t>
            </a:r>
          </a:p>
        </p:txBody>
      </p:sp>
      <p:sp>
        <p:nvSpPr>
          <p:cNvPr id="369" name="TextBox N1_1"/>
          <p:cNvSpPr txBox="1"/>
          <p:nvPr/>
        </p:nvSpPr>
        <p:spPr>
          <a:xfrm>
            <a:off x="1885950" y="5172075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$172K  (1.00×)</a:t>
            </a:r>
          </a:p>
        </p:txBody>
      </p:sp>
      <p:sp>
        <p:nvSpPr>
          <p:cNvPr id="370" name="TextBox N1_2"/>
          <p:cNvSpPr txBox="1"/>
          <p:nvPr/>
        </p:nvSpPr>
        <p:spPr>
          <a:xfrm>
            <a:off x="3752850" y="5172075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$273K  (1.58×)</a:t>
            </a:r>
          </a:p>
        </p:txBody>
      </p:sp>
      <p:sp>
        <p:nvSpPr>
          <p:cNvPr id="371" name="TextBox N1_3"/>
          <p:cNvSpPr txBox="1"/>
          <p:nvPr/>
        </p:nvSpPr>
        <p:spPr>
          <a:xfrm>
            <a:off x="5619750" y="5172075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$273K  (1.58×)</a:t>
            </a:r>
          </a:p>
        </p:txBody>
      </p:sp>
      <p:sp>
        <p:nvSpPr>
          <p:cNvPr id="372" name="F TextBox N1_3"/>
          <p:cNvSpPr txBox="1"/>
          <p:nvPr/>
        </p:nvSpPr>
        <p:spPr>
          <a:xfrm>
            <a:off x="7543800" y="5172075"/>
            <a:ext cx="433387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  <a:latin typeface="맑은 고딕"/>
                <a:ea typeface="맑은 고딕"/>
              </a:rPr>
              <a:t>Base 4×[1,024×$35 + 16,000×$0.45] / Target 4×[1,536×$35 + 32,000×$0.45]  (GB×$/GB)</a:t>
            </a:r>
          </a:p>
        </p:txBody>
      </p:sp>
      <p:sp>
        <p:nvSpPr>
          <p:cNvPr id="373" name="Rectangle N2"/>
          <p:cNvSpPr/>
          <p:nvPr/>
        </p:nvSpPr>
        <p:spPr>
          <a:xfrm>
            <a:off x="361950" y="5372100"/>
            <a:ext cx="11515725" cy="200025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374" name="TextBox N2_0"/>
          <p:cNvSpPr txBox="1"/>
          <p:nvPr/>
        </p:nvSpPr>
        <p:spPr>
          <a:xfrm>
            <a:off x="419100" y="5372100"/>
            <a:ext cx="14668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62626"/>
                </a:solidFill>
                <a:latin typeface="맑은 고딕"/>
                <a:ea typeface="맑은 고딕"/>
              </a:rPr>
              <a:t>카드 비용 (4노드)</a:t>
            </a:r>
          </a:p>
        </p:txBody>
      </p:sp>
      <p:sp>
        <p:nvSpPr>
          <p:cNvPr id="375" name="TextBox N2_1"/>
          <p:cNvSpPr txBox="1"/>
          <p:nvPr/>
        </p:nvSpPr>
        <p:spPr>
          <a:xfrm>
            <a:off x="1885950" y="5372100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$960K  (1.00×)</a:t>
            </a:r>
          </a:p>
        </p:txBody>
      </p:sp>
      <p:sp>
        <p:nvSpPr>
          <p:cNvPr id="376" name="TextBox N2_2"/>
          <p:cNvSpPr txBox="1"/>
          <p:nvPr/>
        </p:nvSpPr>
        <p:spPr>
          <a:xfrm>
            <a:off x="3752850" y="5372100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$504K  (0.53×)</a:t>
            </a:r>
          </a:p>
        </p:txBody>
      </p:sp>
      <p:sp>
        <p:nvSpPr>
          <p:cNvPr id="377" name="TextBox N2_3"/>
          <p:cNvSpPr txBox="1"/>
          <p:nvPr/>
        </p:nvSpPr>
        <p:spPr>
          <a:xfrm>
            <a:off x="5619750" y="5372100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62626"/>
                </a:solidFill>
                <a:latin typeface="맑은 고딕"/>
                <a:ea typeface="맑은 고딕"/>
              </a:rPr>
              <a:t>$502K  (0.52×)</a:t>
            </a:r>
          </a:p>
        </p:txBody>
      </p:sp>
      <p:sp>
        <p:nvSpPr>
          <p:cNvPr id="378" name="F TextBox N2_3"/>
          <p:cNvSpPr txBox="1"/>
          <p:nvPr/>
        </p:nvSpPr>
        <p:spPr>
          <a:xfrm>
            <a:off x="7543800" y="5372100"/>
            <a:ext cx="433387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  <a:latin typeface="맑은 고딕"/>
                <a:ea typeface="맑은 고딕"/>
              </a:rPr>
              <a:t>4×(8×30K) / 4×(4×30K + 4×1.5K) / 4×(4×29.9K + 4×1.5K) — T2 GPU: 30K −675 +560</a:t>
            </a:r>
          </a:p>
        </p:txBody>
      </p:sp>
      <p:sp>
        <p:nvSpPr>
          <p:cNvPr id="379" name="F TextBox 352"/>
          <p:cNvSpPr txBox="1"/>
          <p:nvPr/>
        </p:nvSpPr>
        <p:spPr>
          <a:xfrm>
            <a:off x="7543800" y="5572125"/>
            <a:ext cx="433387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맑은 고딕"/>
                <a:ea typeface="맑은 고딕"/>
              </a:rPr>
              <a:t>메모리·SSD + 카드 : 172+960 / 273+504 / 273+502  ($K, CPU·보드·전원 제외)</a:t>
            </a:r>
          </a:p>
        </p:txBody>
      </p:sp>
    </p:spTree>
    <p:extLst>
      <p:ext uri="{BB962C8B-B14F-4D97-AF65-F5344CB8AC3E}">
        <p14:creationId xmlns:p14="http://schemas.microsoft.com/office/powerpoint/2010/main" val="4223400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</Words>
  <Application>Microsoft Office PowerPoint</Application>
  <PresentationFormat>와이드스크린</PresentationFormat>
  <Paragraphs>124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Baseline 시스템 vs Target 시스템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Baseline 시스템 vs Target 시스템</dc:title>
  <dc:creator>Myeong Woo Kim</dc:creator>
  <cp:lastModifiedBy>Myeong Woo Kim</cp:lastModifiedBy>
  <cp:revision>1</cp:revision>
  <dcterms:created xsi:type="dcterms:W3CDTF">2026-10-28T13:22:18Z</dcterms:created>
  <dcterms:modified xsi:type="dcterms:W3CDTF">2026-10-28T13:22:27Z</dcterms:modified>
</cp:coreProperties>
</file>
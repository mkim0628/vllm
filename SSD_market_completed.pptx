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BE67B-AC6D-4A48-93D5-63A5D394E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811E0-2C0C-42A2-BADA-D2E16921E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05FB0E-EAED-4617-ABFB-291613EA7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112E-27D3-47A0-967D-997BC95060FA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638450-4371-40EE-82BA-EA78A588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6B43B-C427-40D5-A88C-44E96E2D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F6F4-6761-48B9-B618-5889A562A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856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F9AC1-C2C1-42B9-B452-3F4BD811B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56646F-A242-4550-99C3-5AF81A017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E5C278-A1F7-4720-872B-A88BC1F41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112E-27D3-47A0-967D-997BC95060FA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E00957-65C9-410F-B041-F69E30A4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C47DB-A6C0-4A27-ADB1-8FDE73BF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F6F4-6761-48B9-B618-5889A562A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954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DB471-41EC-461B-91FA-EB475B2B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89FF03-466C-4775-A648-63BDABB64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BBD6C3-9D24-46E2-A12A-3DAF43A5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112E-27D3-47A0-967D-997BC95060FA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F5E74A-3B31-4383-91CE-62A13AFC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46D0FE-F6A5-4DFE-A233-9265FEAD3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F6F4-6761-48B9-B618-5889A562A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785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DE551F-0886-4D39-A83C-6A819B584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AAEC17-6465-4DD6-8E6A-41DBAD77CB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865615-8FBE-44BB-A9B0-3959711D1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B1D462-C080-4852-A953-A3F937DE4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112E-27D3-47A0-967D-997BC95060FA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77B142-BA96-4BCD-8504-49B420B1F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87420-94F0-42E9-A2BC-AE8D4D3AE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F6F4-6761-48B9-B618-5889A562A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103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FB3C0-4F88-400C-8A22-878AA0C6C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314D42-D429-4AC9-873A-2178E5B50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A69902-63E0-4B23-B51E-73A1533D8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AAA403-FBA5-4484-BEF8-83CD926FC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CC69B1-113F-4A95-8255-884363A6B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29CCC73-9254-443B-911B-9A7DC8604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112E-27D3-47A0-967D-997BC95060FA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CD5BFD1-4712-4A35-B4D0-F56FEAF62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EE1CD0-51F4-41D7-A536-0EE2F6EE1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F6F4-6761-48B9-B618-5889A562A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72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8B3DD7-FC20-4252-9A1C-1401665F7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318E09-627E-473A-8086-528F60813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112E-27D3-47A0-967D-997BC95060FA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11A00B-9701-4B56-A8EC-D509198C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29C0CC-F680-4A98-99A8-E4016AADC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F6F4-6761-48B9-B618-5889A562A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804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334C107-8D2A-4993-878D-B53F4353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112E-27D3-47A0-967D-997BC95060FA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94648BD-3910-4ABC-A7A3-A5F7C9B4D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336985-3004-4751-B504-2E6D41545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F6F4-6761-48B9-B618-5889A562A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574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4885E-032C-4C08-88A4-DF1509DE4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0FF848-C5E4-4644-8A9A-FDF3AC1E6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5C00BB-3326-4869-9B3B-710E5890D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BF2A77-258B-4BE1-A5CC-1A0DB27BB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112E-27D3-47A0-967D-997BC95060FA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17B930-8CD5-45CA-B3B3-59FC78F1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959B63-BFEE-40C1-A7BA-09A1B29B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F6F4-6761-48B9-B618-5889A562A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798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501F9-CC3C-4D7A-9FCE-A530AA4E2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3850B2-4EBC-4257-97E1-99DB1BB1B5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B0F552-8596-499E-87CF-2F430FA45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29F649-E4B2-4BF5-8D51-85CC3F2C5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112E-27D3-47A0-967D-997BC95060FA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B82892-6530-467D-A4DC-7045FDD50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78EBAA-5B09-4F45-A858-F7A761C2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F6F4-6761-48B9-B618-5889A562A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12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491D20-6AB6-4C4B-9C66-73052858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45DD2F-A60C-481D-A99B-69CB719AE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2BF42C-8387-433C-BD22-60F113D8E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112E-27D3-47A0-967D-997BC95060FA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6C7C7A-2A68-42EF-9BA9-DEAC13E98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D221D5-F4C4-4291-B053-139C5832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F6F4-6761-48B9-B618-5889A562A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12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701438-E920-4F21-AA2F-00F98DD72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C6CE98-F7BE-43F8-BF76-7212BE716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CA2857-2A88-4FA0-AFDA-3B9AF31CD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0112E-27D3-47A0-967D-997BC95060FA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064B58-7B64-4A90-BCDE-E48BC7E17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607BEB-FB76-400A-97E9-121ABA5B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F6F4-6761-48B9-B618-5889A562A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60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5389E49-14A0-44CD-9A67-071ABFBE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1DE709-522E-4B6D-AC30-7CB696010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E4FE85-962E-4620-AF0A-7A831982D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0112E-27D3-47A0-967D-997BC95060FA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6F8BF2-D291-47A2-925F-E78A98ED8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0C2644-5268-402F-A85A-D8318B674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7F6F4-6761-48B9-B618-5889A562AB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91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E41E2B69-8C5A-4656-ABA8-567F816E2344}"/>
              </a:ext>
            </a:extLst>
          </p:cNvPr>
          <p:cNvGrpSpPr/>
          <p:nvPr/>
        </p:nvGrpSpPr>
        <p:grpSpPr>
          <a:xfrm>
            <a:off x="6441483" y="349617"/>
            <a:ext cx="5294376" cy="1463040"/>
            <a:chOff x="7230565" y="2855924"/>
            <a:chExt cx="5294376" cy="1463040"/>
          </a:xfrm>
        </p:grpSpPr>
        <p:sp>
          <p:nvSpPr>
            <p:cNvPr id="5" name="Rounded Rectangle 3">
              <a:extLst>
                <a:ext uri="{FF2B5EF4-FFF2-40B4-BE49-F238E27FC236}">
                  <a16:creationId xmlns:a16="http://schemas.microsoft.com/office/drawing/2014/main" id="{1BE2E645-139E-4072-9D22-630302ACC51F}"/>
                </a:ext>
              </a:extLst>
            </p:cNvPr>
            <p:cNvSpPr/>
            <p:nvPr/>
          </p:nvSpPr>
          <p:spPr>
            <a:xfrm>
              <a:off x="7230565" y="2855924"/>
              <a:ext cx="2331720" cy="1463040"/>
            </a:xfrm>
            <a:prstGeom prst="roundRect">
              <a:avLst/>
            </a:prstGeom>
            <a:solidFill>
              <a:srgbClr val="F4F7FC"/>
            </a:solidFill>
            <a:ln w="9525">
              <a:solidFill>
                <a:srgbClr val="DCE6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2F1364B-FA3D-4F77-B158-4F09F205E5B0}"/>
                </a:ext>
              </a:extLst>
            </p:cNvPr>
            <p:cNvSpPr txBox="1"/>
            <p:nvPr/>
          </p:nvSpPr>
          <p:spPr>
            <a:xfrm>
              <a:off x="7230565" y="2892500"/>
              <a:ext cx="2331720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50" b="1" i="0">
                  <a:solidFill>
                    <a:srgbClr val="262626"/>
                  </a:solidFill>
                  <a:latin typeface="맑은 고딕"/>
                  <a:ea typeface="맑은 고딕"/>
                </a:rPr>
                <a:t>HBM · eSSD 시장 규모 ($B)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FAE1559A-4535-4333-9B8C-8DFDD1EC6196}"/>
                </a:ext>
              </a:extLst>
            </p:cNvPr>
            <p:cNvSpPr/>
            <p:nvPr/>
          </p:nvSpPr>
          <p:spPr>
            <a:xfrm>
              <a:off x="7792413" y="3166820"/>
              <a:ext cx="118872" cy="118872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2CFCBA-4205-463A-8C42-64D3C4EFD581}"/>
                </a:ext>
              </a:extLst>
            </p:cNvPr>
            <p:cNvSpPr txBox="1"/>
            <p:nvPr/>
          </p:nvSpPr>
          <p:spPr>
            <a:xfrm>
              <a:off x="7957005" y="3148532"/>
              <a:ext cx="295656" cy="1554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595959"/>
                  </a:solidFill>
                  <a:latin typeface="맑은 고딕"/>
                  <a:ea typeface="맑은 고딕"/>
                </a:rPr>
                <a:t>HBM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FF68EBD4-AC57-40EA-8D71-A2AD16D730ED}"/>
                </a:ext>
              </a:extLst>
            </p:cNvPr>
            <p:cNvSpPr/>
            <p:nvPr/>
          </p:nvSpPr>
          <p:spPr>
            <a:xfrm>
              <a:off x="8453829" y="3166820"/>
              <a:ext cx="118872" cy="118872"/>
            </a:xfrm>
            <a:prstGeom prst="rect">
              <a:avLst/>
            </a:prstGeom>
            <a:solidFill>
              <a:srgbClr val="9DC3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0AC4F19-E352-4CB7-8A82-9A0FF523402E}"/>
                </a:ext>
              </a:extLst>
            </p:cNvPr>
            <p:cNvSpPr txBox="1"/>
            <p:nvPr/>
          </p:nvSpPr>
          <p:spPr>
            <a:xfrm>
              <a:off x="8618421" y="3148532"/>
              <a:ext cx="382016" cy="1554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595959"/>
                  </a:solidFill>
                  <a:latin typeface="맑은 고딕"/>
                  <a:ea typeface="맑은 고딕"/>
                </a:rPr>
                <a:t>eSSD</a:t>
              </a: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E5464415-4D9D-4216-A45E-94CCE9ACB4FD}"/>
                </a:ext>
              </a:extLst>
            </p:cNvPr>
            <p:cNvSpPr/>
            <p:nvPr/>
          </p:nvSpPr>
          <p:spPr>
            <a:xfrm>
              <a:off x="7485834" y="3788246"/>
              <a:ext cx="182880" cy="64373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6EE518D-6052-46FF-81CA-B7CE96DCE582}"/>
                </a:ext>
              </a:extLst>
            </p:cNvPr>
            <p:cNvSpPr txBox="1"/>
            <p:nvPr/>
          </p:nvSpPr>
          <p:spPr>
            <a:xfrm>
              <a:off x="7339530" y="3614510"/>
              <a:ext cx="475488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50" b="1" i="0">
                  <a:solidFill>
                    <a:srgbClr val="262626"/>
                  </a:solidFill>
                  <a:latin typeface="맑은 고딕"/>
                  <a:ea typeface="맑은 고딕"/>
                </a:rPr>
                <a:t>16</a:t>
              </a: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296D9BB1-7EB5-4AA3-B3AE-920B220B88B3}"/>
                </a:ext>
              </a:extLst>
            </p:cNvPr>
            <p:cNvSpPr/>
            <p:nvPr/>
          </p:nvSpPr>
          <p:spPr>
            <a:xfrm>
              <a:off x="7691574" y="3756059"/>
              <a:ext cx="182880" cy="96561"/>
            </a:xfrm>
            <a:prstGeom prst="rect">
              <a:avLst/>
            </a:prstGeom>
            <a:solidFill>
              <a:srgbClr val="9DC3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4379973-ACF6-4D33-B1D8-663B2249E549}"/>
                </a:ext>
              </a:extLst>
            </p:cNvPr>
            <p:cNvSpPr txBox="1"/>
            <p:nvPr/>
          </p:nvSpPr>
          <p:spPr>
            <a:xfrm>
              <a:off x="7545270" y="3582323"/>
              <a:ext cx="475488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50" b="1" i="0">
                  <a:solidFill>
                    <a:srgbClr val="262626"/>
                  </a:solidFill>
                  <a:latin typeface="맑은 고딕"/>
                  <a:ea typeface="맑은 고딕"/>
                </a:rPr>
                <a:t>≈24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53E4F9C-7D33-4EC4-8159-447EA6D63845}"/>
                </a:ext>
              </a:extLst>
            </p:cNvPr>
            <p:cNvSpPr txBox="1"/>
            <p:nvPr/>
          </p:nvSpPr>
          <p:spPr>
            <a:xfrm>
              <a:off x="7322005" y="3880052"/>
              <a:ext cx="716279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595959"/>
                  </a:solidFill>
                  <a:latin typeface="맑은 고딕"/>
                  <a:ea typeface="맑은 고딕"/>
                </a:rPr>
                <a:t>2024</a:t>
              </a: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8BF1A70D-D344-47C3-B166-BC9486DC3694}"/>
                </a:ext>
              </a:extLst>
            </p:cNvPr>
            <p:cNvSpPr/>
            <p:nvPr/>
          </p:nvSpPr>
          <p:spPr>
            <a:xfrm>
              <a:off x="8202114" y="3711802"/>
              <a:ext cx="182880" cy="14081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B5348B6-7896-49DC-AF3E-26D1EF6B56F8}"/>
                </a:ext>
              </a:extLst>
            </p:cNvPr>
            <p:cNvSpPr txBox="1"/>
            <p:nvPr/>
          </p:nvSpPr>
          <p:spPr>
            <a:xfrm>
              <a:off x="8055810" y="3538066"/>
              <a:ext cx="475488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50" b="1" i="0">
                  <a:solidFill>
                    <a:srgbClr val="262626"/>
                  </a:solidFill>
                  <a:latin typeface="맑은 고딕"/>
                  <a:ea typeface="맑은 고딕"/>
                </a:rPr>
                <a:t>35</a:t>
              </a: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B079E792-4533-4CB8-90D4-ECC49F915687}"/>
                </a:ext>
              </a:extLst>
            </p:cNvPr>
            <p:cNvSpPr/>
            <p:nvPr/>
          </p:nvSpPr>
          <p:spPr>
            <a:xfrm>
              <a:off x="8407854" y="3748013"/>
              <a:ext cx="182880" cy="104607"/>
            </a:xfrm>
            <a:prstGeom prst="rect">
              <a:avLst/>
            </a:prstGeom>
            <a:solidFill>
              <a:srgbClr val="9DC3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6899944-F3E3-4C20-8E2D-80B8F75CE82F}"/>
                </a:ext>
              </a:extLst>
            </p:cNvPr>
            <p:cNvSpPr txBox="1"/>
            <p:nvPr/>
          </p:nvSpPr>
          <p:spPr>
            <a:xfrm>
              <a:off x="8261550" y="3574277"/>
              <a:ext cx="475488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50" b="1" i="0">
                  <a:solidFill>
                    <a:srgbClr val="262626"/>
                  </a:solidFill>
                  <a:latin typeface="맑은 고딕"/>
                  <a:ea typeface="맑은 고딕"/>
                </a:rPr>
                <a:t>≈26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FFD817-07FC-463E-96AE-83225EB53E7C}"/>
                </a:ext>
              </a:extLst>
            </p:cNvPr>
            <p:cNvSpPr txBox="1"/>
            <p:nvPr/>
          </p:nvSpPr>
          <p:spPr>
            <a:xfrm>
              <a:off x="8038284" y="3880052"/>
              <a:ext cx="716279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595959"/>
                  </a:solidFill>
                  <a:latin typeface="맑은 고딕"/>
                  <a:ea typeface="맑은 고딕"/>
                </a:rPr>
                <a:t>2025</a:t>
              </a: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9D87A0C7-78B8-4F01-8AA6-0B1E95A6AEC4}"/>
                </a:ext>
              </a:extLst>
            </p:cNvPr>
            <p:cNvSpPr/>
            <p:nvPr/>
          </p:nvSpPr>
          <p:spPr>
            <a:xfrm>
              <a:off x="8918395" y="3450284"/>
              <a:ext cx="182880" cy="402336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852FB0F-10F3-41B8-8BEB-9EA6421FD151}"/>
                </a:ext>
              </a:extLst>
            </p:cNvPr>
            <p:cNvSpPr txBox="1"/>
            <p:nvPr/>
          </p:nvSpPr>
          <p:spPr>
            <a:xfrm>
              <a:off x="8772091" y="3276548"/>
              <a:ext cx="475488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50" b="1" i="0">
                  <a:solidFill>
                    <a:srgbClr val="262626"/>
                  </a:solidFill>
                  <a:latin typeface="맑은 고딕"/>
                  <a:ea typeface="맑은 고딕"/>
                </a:rPr>
                <a:t>≈100</a:t>
              </a:r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AE910B93-9702-4213-8A7D-F2A9C602C994}"/>
                </a:ext>
              </a:extLst>
            </p:cNvPr>
            <p:cNvSpPr/>
            <p:nvPr/>
          </p:nvSpPr>
          <p:spPr>
            <a:xfrm>
              <a:off x="9124135" y="3669740"/>
              <a:ext cx="182880" cy="1828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A6A6A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A086112-F310-4C1A-838E-DE9463A21592}"/>
                </a:ext>
              </a:extLst>
            </p:cNvPr>
            <p:cNvSpPr txBox="1"/>
            <p:nvPr/>
          </p:nvSpPr>
          <p:spPr>
            <a:xfrm>
              <a:off x="8977830" y="3496004"/>
              <a:ext cx="475488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50" b="1" i="0">
                  <a:solidFill>
                    <a:srgbClr val="262626"/>
                  </a:solidFill>
                  <a:latin typeface="맑은 고딕"/>
                  <a:ea typeface="맑은 고딕"/>
                </a:rPr>
                <a:t>n/a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EF2E952-C9F6-4D27-BCCF-CBB18DA0032E}"/>
                </a:ext>
              </a:extLst>
            </p:cNvPr>
            <p:cNvSpPr txBox="1"/>
            <p:nvPr/>
          </p:nvSpPr>
          <p:spPr>
            <a:xfrm>
              <a:off x="8754565" y="3880052"/>
              <a:ext cx="716279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595959"/>
                  </a:solidFill>
                  <a:latin typeface="맑은 고딕"/>
                  <a:ea typeface="맑은 고딕"/>
                </a:rPr>
                <a:t>2028E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C0C9360-9814-497F-9F49-04F17C562DE5}"/>
                </a:ext>
              </a:extLst>
            </p:cNvPr>
            <p:cNvSpPr txBox="1"/>
            <p:nvPr/>
          </p:nvSpPr>
          <p:spPr>
            <a:xfrm>
              <a:off x="7340293" y="4090364"/>
              <a:ext cx="2112263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 b="1" i="0">
                  <a:solidFill>
                    <a:srgbClr val="1F4E79"/>
                  </a:solidFill>
                  <a:latin typeface="맑은 고딕"/>
                  <a:ea typeface="맑은 고딕"/>
                </a:rPr>
                <a:t>HBM CAGR ≈42%  ·  eSSD n/a</a:t>
              </a:r>
            </a:p>
          </p:txBody>
        </p:sp>
        <p:sp>
          <p:nvSpPr>
            <p:cNvPr id="27" name="Rounded Rectangle 25">
              <a:extLst>
                <a:ext uri="{FF2B5EF4-FFF2-40B4-BE49-F238E27FC236}">
                  <a16:creationId xmlns:a16="http://schemas.microsoft.com/office/drawing/2014/main" id="{171651D6-B04E-4F9C-AE59-804B815E5969}"/>
                </a:ext>
              </a:extLst>
            </p:cNvPr>
            <p:cNvSpPr/>
            <p:nvPr/>
          </p:nvSpPr>
          <p:spPr>
            <a:xfrm>
              <a:off x="9626293" y="2855924"/>
              <a:ext cx="2898648" cy="1463040"/>
            </a:xfrm>
            <a:prstGeom prst="roundRect">
              <a:avLst/>
            </a:prstGeom>
            <a:solidFill>
              <a:srgbClr val="F4F7FC"/>
            </a:solidFill>
            <a:ln w="9525">
              <a:solidFill>
                <a:srgbClr val="DCE6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677ACB0-EF0C-4922-8D1A-F00AE8B67740}"/>
                </a:ext>
              </a:extLst>
            </p:cNvPr>
            <p:cNvSpPr txBox="1"/>
            <p:nvPr/>
          </p:nvSpPr>
          <p:spPr>
            <a:xfrm>
              <a:off x="9626293" y="2892500"/>
              <a:ext cx="2898648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50" b="1" i="0">
                  <a:solidFill>
                    <a:srgbClr val="262626"/>
                  </a:solidFill>
                  <a:latin typeface="맑은 고딕"/>
                  <a:ea typeface="맑은 고딕"/>
                </a:rPr>
                <a:t>DRAM · NAND 계약가 지수 (4Q25=100)</a:t>
              </a:r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E57D0EE3-94E3-44CC-AAB1-1C3D9B9AD9AF}"/>
                </a:ext>
              </a:extLst>
            </p:cNvPr>
            <p:cNvSpPr/>
            <p:nvPr/>
          </p:nvSpPr>
          <p:spPr>
            <a:xfrm>
              <a:off x="10428425" y="3166820"/>
              <a:ext cx="118872" cy="118872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54E483A-7334-4F28-8352-BE82E9468FC3}"/>
                </a:ext>
              </a:extLst>
            </p:cNvPr>
            <p:cNvSpPr txBox="1"/>
            <p:nvPr/>
          </p:nvSpPr>
          <p:spPr>
            <a:xfrm>
              <a:off x="10593017" y="3148532"/>
              <a:ext cx="382016" cy="1554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595959"/>
                  </a:solidFill>
                  <a:latin typeface="맑은 고딕"/>
                  <a:ea typeface="맑은 고딕"/>
                </a:rPr>
                <a:t>DRAM</a:t>
              </a: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22D2AC2-7ED3-4103-BE0B-2D24EC75B79D}"/>
                </a:ext>
              </a:extLst>
            </p:cNvPr>
            <p:cNvSpPr/>
            <p:nvPr/>
          </p:nvSpPr>
          <p:spPr>
            <a:xfrm>
              <a:off x="11176201" y="3166820"/>
              <a:ext cx="118872" cy="11887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9C4C501-64AC-4F35-ADDD-09A6A7519A44}"/>
                </a:ext>
              </a:extLst>
            </p:cNvPr>
            <p:cNvSpPr txBox="1"/>
            <p:nvPr/>
          </p:nvSpPr>
          <p:spPr>
            <a:xfrm>
              <a:off x="11340793" y="3148532"/>
              <a:ext cx="382016" cy="1554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50" b="0" i="0">
                  <a:solidFill>
                    <a:srgbClr val="595959"/>
                  </a:solidFill>
                  <a:latin typeface="맑은 고딕"/>
                  <a:ea typeface="맑은 고딕"/>
                </a:rPr>
                <a:t>NAND</a:t>
              </a: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F20DB81A-6914-41B5-8194-DF670248333C}"/>
                </a:ext>
              </a:extLst>
            </p:cNvPr>
            <p:cNvSpPr/>
            <p:nvPr/>
          </p:nvSpPr>
          <p:spPr>
            <a:xfrm>
              <a:off x="9798639" y="3752286"/>
              <a:ext cx="179240" cy="100333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43F97F7-323F-4D15-BFCC-19C2E0A0184F}"/>
                </a:ext>
              </a:extLst>
            </p:cNvPr>
            <p:cNvSpPr txBox="1"/>
            <p:nvPr/>
          </p:nvSpPr>
          <p:spPr>
            <a:xfrm>
              <a:off x="9600515" y="3578550"/>
              <a:ext cx="475488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1" i="0">
                  <a:solidFill>
                    <a:srgbClr val="262626"/>
                  </a:solidFill>
                  <a:latin typeface="맑은 고딕"/>
                  <a:ea typeface="맑은 고딕"/>
                </a:rPr>
                <a:t>100</a:t>
              </a:r>
            </a:p>
          </p:txBody>
        </p:sp>
        <p:sp>
          <p:nvSpPr>
            <p:cNvPr id="35" name="Rectangle 33">
              <a:extLst>
                <a:ext uri="{FF2B5EF4-FFF2-40B4-BE49-F238E27FC236}">
                  <a16:creationId xmlns:a16="http://schemas.microsoft.com/office/drawing/2014/main" id="{C97DA736-C619-4B08-BDC2-8A1E0FC6AB8A}"/>
                </a:ext>
              </a:extLst>
            </p:cNvPr>
            <p:cNvSpPr/>
            <p:nvPr/>
          </p:nvSpPr>
          <p:spPr>
            <a:xfrm>
              <a:off x="10000739" y="3752287"/>
              <a:ext cx="179240" cy="100333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582A9BA-DFD4-4295-8EA1-E361687AA84E}"/>
                </a:ext>
              </a:extLst>
            </p:cNvPr>
            <p:cNvSpPr txBox="1"/>
            <p:nvPr/>
          </p:nvSpPr>
          <p:spPr>
            <a:xfrm>
              <a:off x="9902616" y="3578551"/>
              <a:ext cx="475488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1" i="0">
                  <a:solidFill>
                    <a:srgbClr val="262626"/>
                  </a:solidFill>
                  <a:latin typeface="맑은 고딕"/>
                  <a:ea typeface="맑은 고딕"/>
                </a:rPr>
                <a:t>100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4FF6221-3B5B-4DE2-B47A-3BA6C018E1B1}"/>
                </a:ext>
              </a:extLst>
            </p:cNvPr>
            <p:cNvSpPr txBox="1"/>
            <p:nvPr/>
          </p:nvSpPr>
          <p:spPr>
            <a:xfrm>
              <a:off x="9717732" y="3880052"/>
              <a:ext cx="543153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595959"/>
                  </a:solidFill>
                  <a:latin typeface="맑은 고딕"/>
                  <a:ea typeface="맑은 고딕"/>
                </a:rPr>
                <a:t>4Q25</a:t>
              </a:r>
            </a:p>
          </p:txBody>
        </p:sp>
        <p:sp>
          <p:nvSpPr>
            <p:cNvPr id="38" name="Rectangle 36">
              <a:extLst>
                <a:ext uri="{FF2B5EF4-FFF2-40B4-BE49-F238E27FC236}">
                  <a16:creationId xmlns:a16="http://schemas.microsoft.com/office/drawing/2014/main" id="{E56A098D-CA41-473A-A50D-7A92CBB4039B}"/>
                </a:ext>
              </a:extLst>
            </p:cNvPr>
            <p:cNvSpPr/>
            <p:nvPr/>
          </p:nvSpPr>
          <p:spPr>
            <a:xfrm>
              <a:off x="10341792" y="3658976"/>
              <a:ext cx="179240" cy="193643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BBB3191-5F8A-4EFD-9B3B-9BC31EE46463}"/>
                </a:ext>
              </a:extLst>
            </p:cNvPr>
            <p:cNvSpPr txBox="1"/>
            <p:nvPr/>
          </p:nvSpPr>
          <p:spPr>
            <a:xfrm>
              <a:off x="10143669" y="3485240"/>
              <a:ext cx="475488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1" i="0">
                  <a:solidFill>
                    <a:srgbClr val="262626"/>
                  </a:solidFill>
                  <a:latin typeface="맑은 고딕"/>
                  <a:ea typeface="맑은 고딕"/>
                </a:rPr>
                <a:t>193</a:t>
              </a:r>
            </a:p>
          </p:txBody>
        </p:sp>
        <p:sp>
          <p:nvSpPr>
            <p:cNvPr id="40" name="Rectangle 38">
              <a:extLst>
                <a:ext uri="{FF2B5EF4-FFF2-40B4-BE49-F238E27FC236}">
                  <a16:creationId xmlns:a16="http://schemas.microsoft.com/office/drawing/2014/main" id="{BADF6180-189E-41FE-B061-D733CD160AFD}"/>
                </a:ext>
              </a:extLst>
            </p:cNvPr>
            <p:cNvSpPr/>
            <p:nvPr/>
          </p:nvSpPr>
          <p:spPr>
            <a:xfrm>
              <a:off x="10543893" y="3694094"/>
              <a:ext cx="179240" cy="158526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7FE497A-010E-498B-B60F-BA3162152F49}"/>
                </a:ext>
              </a:extLst>
            </p:cNvPr>
            <p:cNvSpPr txBox="1"/>
            <p:nvPr/>
          </p:nvSpPr>
          <p:spPr>
            <a:xfrm>
              <a:off x="10445769" y="3520358"/>
              <a:ext cx="475488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1" i="0">
                  <a:solidFill>
                    <a:srgbClr val="262626"/>
                  </a:solidFill>
                  <a:latin typeface="맑은 고딕"/>
                  <a:ea typeface="맑은 고딕"/>
                </a:rPr>
                <a:t>158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DF3F236-30FD-4F03-850C-9BE431FA69E6}"/>
                </a:ext>
              </a:extLst>
            </p:cNvPr>
            <p:cNvSpPr txBox="1"/>
            <p:nvPr/>
          </p:nvSpPr>
          <p:spPr>
            <a:xfrm>
              <a:off x="10260886" y="3880052"/>
              <a:ext cx="543153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595959"/>
                  </a:solidFill>
                  <a:latin typeface="맑은 고딕"/>
                  <a:ea typeface="맑은 고딕"/>
                </a:rPr>
                <a:t>1Q26</a:t>
              </a:r>
            </a:p>
          </p:txBody>
        </p:sp>
        <p:sp>
          <p:nvSpPr>
            <p:cNvPr id="43" name="Rectangle 41">
              <a:extLst>
                <a:ext uri="{FF2B5EF4-FFF2-40B4-BE49-F238E27FC236}">
                  <a16:creationId xmlns:a16="http://schemas.microsoft.com/office/drawing/2014/main" id="{66238550-3E4D-4350-BC07-3F13E8E4F07D}"/>
                </a:ext>
              </a:extLst>
            </p:cNvPr>
            <p:cNvSpPr/>
            <p:nvPr/>
          </p:nvSpPr>
          <p:spPr>
            <a:xfrm>
              <a:off x="10884946" y="3542590"/>
              <a:ext cx="179240" cy="310029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44228C0-4602-4CFD-8BA1-0AE65A17D6A3}"/>
                </a:ext>
              </a:extLst>
            </p:cNvPr>
            <p:cNvSpPr txBox="1"/>
            <p:nvPr/>
          </p:nvSpPr>
          <p:spPr>
            <a:xfrm>
              <a:off x="10686822" y="3368854"/>
              <a:ext cx="475488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1" i="0">
                  <a:solidFill>
                    <a:srgbClr val="262626"/>
                  </a:solidFill>
                  <a:latin typeface="맑은 고딕"/>
                  <a:ea typeface="맑은 고딕"/>
                </a:rPr>
                <a:t>309</a:t>
              </a:r>
            </a:p>
          </p:txBody>
        </p:sp>
        <p:sp>
          <p:nvSpPr>
            <p:cNvPr id="45" name="Rectangle 43">
              <a:extLst>
                <a:ext uri="{FF2B5EF4-FFF2-40B4-BE49-F238E27FC236}">
                  <a16:creationId xmlns:a16="http://schemas.microsoft.com/office/drawing/2014/main" id="{123754C3-C763-420F-8FEF-0231DA9000C4}"/>
                </a:ext>
              </a:extLst>
            </p:cNvPr>
            <p:cNvSpPr/>
            <p:nvPr/>
          </p:nvSpPr>
          <p:spPr>
            <a:xfrm>
              <a:off x="11087047" y="3579714"/>
              <a:ext cx="179240" cy="272906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8469AD0-14F5-4770-B8C9-3A20D9A5F048}"/>
                </a:ext>
              </a:extLst>
            </p:cNvPr>
            <p:cNvSpPr txBox="1"/>
            <p:nvPr/>
          </p:nvSpPr>
          <p:spPr>
            <a:xfrm>
              <a:off x="10988923" y="3405978"/>
              <a:ext cx="475488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1" i="0">
                  <a:solidFill>
                    <a:srgbClr val="262626"/>
                  </a:solidFill>
                  <a:latin typeface="맑은 고딕"/>
                  <a:ea typeface="맑은 고딕"/>
                </a:rPr>
                <a:t>272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09242C7-14D6-4033-B984-BD0BBB690BC8}"/>
                </a:ext>
              </a:extLst>
            </p:cNvPr>
            <p:cNvSpPr txBox="1"/>
            <p:nvPr/>
          </p:nvSpPr>
          <p:spPr>
            <a:xfrm>
              <a:off x="10804040" y="3880052"/>
              <a:ext cx="543153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595959"/>
                  </a:solidFill>
                  <a:latin typeface="맑은 고딕"/>
                  <a:ea typeface="맑은 고딕"/>
                </a:rPr>
                <a:t>2Q26</a:t>
              </a:r>
            </a:p>
          </p:txBody>
        </p:sp>
        <p:sp>
          <p:nvSpPr>
            <p:cNvPr id="48" name="Rectangle 46">
              <a:extLst>
                <a:ext uri="{FF2B5EF4-FFF2-40B4-BE49-F238E27FC236}">
                  <a16:creationId xmlns:a16="http://schemas.microsoft.com/office/drawing/2014/main" id="{C8E38DB8-DD50-4A5A-B302-BDB90333F0A7}"/>
                </a:ext>
              </a:extLst>
            </p:cNvPr>
            <p:cNvSpPr/>
            <p:nvPr/>
          </p:nvSpPr>
          <p:spPr>
            <a:xfrm>
              <a:off x="11428099" y="3494430"/>
              <a:ext cx="179240" cy="358189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DEDDE5C-8FD6-40EF-8CAB-94AB30A84267}"/>
                </a:ext>
              </a:extLst>
            </p:cNvPr>
            <p:cNvSpPr txBox="1"/>
            <p:nvPr/>
          </p:nvSpPr>
          <p:spPr>
            <a:xfrm>
              <a:off x="11229976" y="3320694"/>
              <a:ext cx="475488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1" i="0">
                  <a:solidFill>
                    <a:srgbClr val="262626"/>
                  </a:solidFill>
                  <a:latin typeface="맑은 고딕"/>
                  <a:ea typeface="맑은 고딕"/>
                </a:rPr>
                <a:t>357</a:t>
              </a:r>
            </a:p>
          </p:txBody>
        </p:sp>
        <p:sp>
          <p:nvSpPr>
            <p:cNvPr id="50" name="Rectangle 48">
              <a:extLst>
                <a:ext uri="{FF2B5EF4-FFF2-40B4-BE49-F238E27FC236}">
                  <a16:creationId xmlns:a16="http://schemas.microsoft.com/office/drawing/2014/main" id="{87E9713C-C387-414F-9CE6-D42E3A5361D7}"/>
                </a:ext>
              </a:extLst>
            </p:cNvPr>
            <p:cNvSpPr/>
            <p:nvPr/>
          </p:nvSpPr>
          <p:spPr>
            <a:xfrm>
              <a:off x="11630200" y="3545601"/>
              <a:ext cx="179240" cy="307019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868E719-CE26-4366-B864-FCA8ADF67E24}"/>
                </a:ext>
              </a:extLst>
            </p:cNvPr>
            <p:cNvSpPr txBox="1"/>
            <p:nvPr/>
          </p:nvSpPr>
          <p:spPr>
            <a:xfrm>
              <a:off x="11532076" y="3371865"/>
              <a:ext cx="475488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1" i="0">
                  <a:solidFill>
                    <a:srgbClr val="262626"/>
                  </a:solidFill>
                  <a:latin typeface="맑은 고딕"/>
                  <a:ea typeface="맑은 고딕"/>
                </a:rPr>
                <a:t>306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E785A52-45DA-4FAE-A7BD-69C63BF52259}"/>
                </a:ext>
              </a:extLst>
            </p:cNvPr>
            <p:cNvSpPr txBox="1"/>
            <p:nvPr/>
          </p:nvSpPr>
          <p:spPr>
            <a:xfrm>
              <a:off x="11347193" y="3880052"/>
              <a:ext cx="543153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595959"/>
                  </a:solidFill>
                  <a:latin typeface="맑은 고딕"/>
                  <a:ea typeface="맑은 고딕"/>
                </a:rPr>
                <a:t>3Q26</a:t>
              </a:r>
            </a:p>
          </p:txBody>
        </p:sp>
        <p:sp>
          <p:nvSpPr>
            <p:cNvPr id="53" name="Rectangle 51">
              <a:extLst>
                <a:ext uri="{FF2B5EF4-FFF2-40B4-BE49-F238E27FC236}">
                  <a16:creationId xmlns:a16="http://schemas.microsoft.com/office/drawing/2014/main" id="{CAE943B8-EB7B-4F78-A851-13FEC78D15A3}"/>
                </a:ext>
              </a:extLst>
            </p:cNvPr>
            <p:cNvSpPr/>
            <p:nvPr/>
          </p:nvSpPr>
          <p:spPr>
            <a:xfrm>
              <a:off x="11971253" y="3450284"/>
              <a:ext cx="179240" cy="402336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241AC4F-1E03-43F7-B96C-FA6495F4A896}"/>
                </a:ext>
              </a:extLst>
            </p:cNvPr>
            <p:cNvSpPr txBox="1"/>
            <p:nvPr/>
          </p:nvSpPr>
          <p:spPr>
            <a:xfrm>
              <a:off x="11773129" y="3276548"/>
              <a:ext cx="475488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1" i="0">
                  <a:solidFill>
                    <a:srgbClr val="262626"/>
                  </a:solidFill>
                  <a:latin typeface="맑은 고딕"/>
                  <a:ea typeface="맑은 고딕"/>
                </a:rPr>
                <a:t>≈401</a:t>
              </a:r>
            </a:p>
          </p:txBody>
        </p:sp>
        <p:sp>
          <p:nvSpPr>
            <p:cNvPr id="55" name="Rectangle 53">
              <a:extLst>
                <a:ext uri="{FF2B5EF4-FFF2-40B4-BE49-F238E27FC236}">
                  <a16:creationId xmlns:a16="http://schemas.microsoft.com/office/drawing/2014/main" id="{355D2B79-F352-45EB-A788-7CCCD68F5941}"/>
                </a:ext>
              </a:extLst>
            </p:cNvPr>
            <p:cNvSpPr/>
            <p:nvPr/>
          </p:nvSpPr>
          <p:spPr>
            <a:xfrm>
              <a:off x="12173354" y="3492424"/>
              <a:ext cx="179240" cy="360196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3B6FD8A-3AA9-48E0-BC2D-7070AB5DD561}"/>
                </a:ext>
              </a:extLst>
            </p:cNvPr>
            <p:cNvSpPr txBox="1"/>
            <p:nvPr/>
          </p:nvSpPr>
          <p:spPr>
            <a:xfrm>
              <a:off x="12075230" y="3318688"/>
              <a:ext cx="475488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1" i="0">
                  <a:solidFill>
                    <a:srgbClr val="262626"/>
                  </a:solidFill>
                  <a:latin typeface="맑은 고딕"/>
                  <a:ea typeface="맑은 고딕"/>
                </a:rPr>
                <a:t>359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4408F38-6FB3-472E-B483-A66CD7A5A39C}"/>
                </a:ext>
              </a:extLst>
            </p:cNvPr>
            <p:cNvSpPr txBox="1"/>
            <p:nvPr/>
          </p:nvSpPr>
          <p:spPr>
            <a:xfrm>
              <a:off x="11890347" y="3880052"/>
              <a:ext cx="543153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50" b="0" i="0">
                  <a:solidFill>
                    <a:srgbClr val="595959"/>
                  </a:solidFill>
                  <a:latin typeface="맑은 고딕"/>
                  <a:ea typeface="맑은 고딕"/>
                </a:rPr>
                <a:t>4Q26E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242CD95-39D6-4002-A279-9F91C6E0E8D8}"/>
                </a:ext>
              </a:extLst>
            </p:cNvPr>
            <p:cNvSpPr txBox="1"/>
            <p:nvPr/>
          </p:nvSpPr>
          <p:spPr>
            <a:xfrm>
              <a:off x="9736020" y="4090364"/>
              <a:ext cx="2679191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000" b="1" i="0">
                  <a:solidFill>
                    <a:srgbClr val="C55A11"/>
                  </a:solidFill>
                  <a:latin typeface="맑은 고딕"/>
                  <a:ea typeface="맑은 고딕"/>
                </a:rPr>
                <a:t>DRAM · NAND 계약가 동반 상승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5845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와이드스크린</PresentationFormat>
  <Paragraphs>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Myeong Woo Kim</dc:creator>
  <cp:lastModifiedBy>Myeong Woo Kim</cp:lastModifiedBy>
  <cp:revision>1</cp:revision>
  <dcterms:created xsi:type="dcterms:W3CDTF">2026-10-28T13:21:44Z</dcterms:created>
  <dcterms:modified xsi:type="dcterms:W3CDTF">2026-10-28T13:21:55Z</dcterms:modified>
</cp:coreProperties>
</file>